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200400"/>
            <a:ext cx="1199692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&amp;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Sensitivities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 Reference for Derivatives &amp; Risk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Knowledge Repository — Module 0 (Reference)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2025  |  CC BY-NC 4.0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53035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091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Vanilla European Equity 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S=K=100, σ=20%, r=5%, T=1yr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663440"/>
            <a:ext cx="57607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47091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Interest Rate Cap (Caplet)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F=K=5%, σ_IR=30%, T=1yr, τ=0.25, N=€1M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Greeks?  |  The Sourcing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583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Greeks?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are sensitivity measures quantifying how a financial instrument's value changes in response to shifts in underlying market parameters.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from the Black-Scholes framework (1973), they have since extended to exotic derivatives, portfolios, and regulatory capital.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uses: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30352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38528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Delta/Gamma-neutral portfolios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27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0352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Limits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38528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Desk-level exposure controls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30352" y="35753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38528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≈ Δ·ΔS + ½Γ·(ΔS)² + ν·Δσ + Θ·Δt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96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0352" y="4059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38528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Sensitivity-Based Method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58114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81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30352" y="4544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Management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38528" y="4544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CVA/FVA delta &amp; vega hedging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506577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5065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0352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38528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impact across the portfolio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640080"/>
            <a:ext cx="603504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640080"/>
            <a:ext cx="6035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6583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Framework — Where Do Greek Numbers Come From?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114300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143000"/>
            <a:ext cx="10972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117957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(Closed-Form)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99632" y="141732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partial derivative of pricing formula. Fast &amp; precise. E.g. Black-Scholes Delta, Black-76 Vega.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35040" y="210312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2103120"/>
            <a:ext cx="109728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21396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(Finite Diff.)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237744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input by ε, compute ΔV/ε. Used where no closed form exists. Standard in production systems.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35040" y="306324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063240"/>
            <a:ext cx="109728" cy="841248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099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(Monte Carlo)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99632" y="333756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as path expectations. Used for CVA delta, portfolio-level xVA sensitivities.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402336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4023360"/>
            <a:ext cx="109728" cy="841248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405993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99632" y="429768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observed market prices. Vol surface calibrated to market; Greeks read off the model.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35040" y="498348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983480"/>
            <a:ext cx="109728" cy="841248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9632" y="50200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Vendor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525780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front-office pricing library (e.g. Bloomberg DLIB, Murex MX.3) or risk platform (e.g. Numerix, MSCI RiskManager).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Greeks — Delta &amp; Vega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 |  ∂V/∂S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option value changes per $1 move in underlying.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Call: 0→+1  |  Put: −1→0  |  ATM ≈ ±0.5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Δ = 0.6368 (ATM, S=K=100)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DV01 ≈ €25.3 per bp of forward rate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Hedge: sell Δ units of underlying (dynamic rebalancing needed)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1868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Δ_call = e^(−qT) · N(d₁)   where  d₁ = [ln(S/K)+(r−q+σ²/2)T] / σ√T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Sensitivity  |  ∂V/∂σ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change per 1% move in implied vol. Always positive for long options.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hedge with underlying — requires other options.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ν = 0.3793 per unit vol  →  $0.003793 per 1bp vol move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Caplet Vega ≈ €2,303 per unit IR vol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FRTB: Vega bucketed by option maturity (0.5y, 1y, 3y, 5y, 10y)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21868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21868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S · e^(−qT) · n(d₁) · √T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566160"/>
            <a:ext cx="11795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566160"/>
            <a:ext cx="11795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75304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Comparison — Eq-1 vs IR-1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950208"/>
            <a:ext cx="2560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50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88920" y="3950208"/>
            <a:ext cx="29260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950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 (Equity Call)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3950208"/>
            <a:ext cx="29260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950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 (Caplet)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641080" y="3950208"/>
            <a:ext cx="3200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950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242816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428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DV01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88920" y="4242816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2428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0.6368 (share-equivalent)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15000" y="4242816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2428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DV01 ≈ €25.3 per bp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641080" y="4242816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4242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uses shares; IR uses bps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4718304"/>
            <a:ext cx="25603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18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88920" y="4718304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4718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≈ 0.3793 (/$unit vol)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15000" y="4718304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4718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ν_IR ≈ €2,303 (per unit vol)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641080" y="4718304"/>
            <a:ext cx="3200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7183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notional amplifies vega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" y="5193792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5193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instrument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88920" y="5193792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4640" y="5193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equity or futures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715000" y="5193792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5193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futures or swap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641080" y="5193792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5193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hedge markets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28600" y="5669280"/>
            <a:ext cx="25603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bucket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88920" y="5669280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34640" y="5669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delta (spot)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15000" y="5669280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5669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delta (tenor bucket)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641080" y="5669280"/>
            <a:ext cx="3200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0" y="5669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risk classes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Greeks — Theta &amp; Rho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  |  ∂V/∂t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lost per calendar day from time passage alone.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negative for long options (the 'rent' of holding options).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Θ ≈ −$0.0243/day  →  −$0.121 over 5 trading days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Gamma-Theta trade-off: Long gamma (benefit from moves) always costs theta (daily bleed)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2724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[−S·e^(−qT)·n(d₁)·σ/(2√T) − r·K·e^(−rT)·N(d₂) + q·S·e^(−qT)·N(d₁)] / 365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Sensitivity  |  ∂V/∂r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change per 1bp move in interest rates.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Calls: positive rho (higher rates increase call value).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Puts: negative rho.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ρ ≈ $0.000053/bp → modest for short-dated equity options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DV01 ≈ €25.3/bp (primary risk metric for rate derivatives)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FRTB: IR delta bucketed across 10 tenor points per currency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12724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12724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ρ_call = K · T · e^(−rT) · N(d₂) / 10,000  (per basis point)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474720"/>
            <a:ext cx="11795760" cy="1280160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474720"/>
            <a:ext cx="109728" cy="128016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Gamma-Theta Trade-Off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822192"/>
            <a:ext cx="11521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options → Positive Gamma (you profit from large moves in either direction) + Negative Theta (daily time decay cost).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tension is fundamental to options trading. On quiet days, the theta bleeds value. On volatile days, the gamma earns it back.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from spot move: ΔV ≈ Δ·ΔS + ½·Γ·(ΔS)²  →  The gamma term is always positive for long options — the 'free convexity' that theta pays for.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846320"/>
            <a:ext cx="11795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4846320"/>
            <a:ext cx="11795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64608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 Phi / Foreign Rho  —  Dividend / Foreign Rate Sensitivity  |  ∂V/∂q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5230368"/>
            <a:ext cx="114300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the dividend yield (equity options) or foreign risk-free rate (FX options). Calls have negative Phi — higher dividends reduce the forward price and hence call value. Formula: Φ_call = −T · S · e^(−qT) · N(d₁).  Sourcing: Analytic; dividend forecasts from equity research or consensus data providers.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Greeks — Gamma &amp; Vanna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Convexity  |  ∂²V/∂S²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Delta. Always positive for long options.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Maximised ATM near expiry. Same for calls and puts (put-call parity).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Γ = 0.01887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$5 spot move: Gamma P&amp;L = ½ × 0.01887 × 25 = $0.236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Total P&amp;L: Δ×5 + Gamma P&amp;L ≈ $3.42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Curvature risk proxies for Gamma risk.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31012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e^(−qT) · n(d₁) / (S · σ · √T)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Delta-Vol Cross Sensitivity  |  ∂Δ/∂σ = ∂ν/∂S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changes when vol moves (or equivalently, how Vega changes when spot moves).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for OTM calls / ITM puts; negative for ITM calls / OTM puts; ~zero ATM.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Vanna ≈ −0.0047  (small because d₂ ≈ 0.05 near ATM)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 grows as option moves away from ATM.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FX smile risk and CVA vol-spot correlation hedging.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31012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31012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 = −e^(−qT) · n(d₁) · d₂ / σ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657600"/>
            <a:ext cx="11795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657600"/>
            <a:ext cx="11795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75888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Decomposition — Gamma in Action (Eq-1, $5 move)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041648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404164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71800" y="4041648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404164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86600" y="4041648"/>
            <a:ext cx="2286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1464" y="404164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72600" y="4041648"/>
            <a:ext cx="3383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27464" y="4041648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517136"/>
            <a:ext cx="27432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4517136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P&amp;L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71800" y="4517136"/>
            <a:ext cx="41148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451713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× ΔS = 0.6368 × 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86600" y="4517136"/>
            <a:ext cx="2286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1464" y="451713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$3.184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372600" y="4517136"/>
            <a:ext cx="33832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27464" y="4517136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direction-sensitive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499262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4992624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P&amp;L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71800" y="499262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26664" y="4992624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× Γ × (ΔS)² = ½ × 0.01887 × 25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86600" y="499262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41464" y="499262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$0.236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72600" y="4992624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27464" y="499262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Convex, always positive for long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5468112"/>
            <a:ext cx="27432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(Δ+Γ)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71800" y="5468112"/>
            <a:ext cx="41148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26664" y="5468112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above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86600" y="5468112"/>
            <a:ext cx="2286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41464" y="54681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$3.420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372600" y="5468112"/>
            <a:ext cx="33832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27464" y="546811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pure delta by $0.236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594360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" y="594360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971800" y="59436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26664" y="594360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reprice − Taylor approx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86600" y="5943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41464" y="5943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372600" y="594360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27464" y="594360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(Speed etc.) — small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Greeks — Volga, Charm &amp; Veta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58368"/>
            <a:ext cx="374904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58368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42416"/>
            <a:ext cx="3749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676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Volga / Vomma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8869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Convexity  |  ∂ν/∂σ = ∂²V/∂σ²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1115568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of option value w.r.t. volatility — the 'Gamma of Vol'.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positive for long options; maximised OTM.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Volga ≈ 0.0019 (small ATM — grows as option moves OTM)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 stochastic vol models (Heston, SABR) and Vanna-Volga FX pricing.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S·e^(−qT)·n(d₁)·√T·d₁·d₂/σ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5925312"/>
            <a:ext cx="3566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59344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VV pricing; vol-of-vol model calibration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0" y="658368"/>
            <a:ext cx="374904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658368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042416"/>
            <a:ext cx="3749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676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24528" y="8869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Decay  |  ∂Δ/∂t = ∂²V/(∂S·∂t)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06240" y="1115568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drifts overnight from time passage alone.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much your delta hedge needs adjusting each morning.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Charm ≈ −0.0000024/day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Weekend drift (×3): ≈ −0.0000071 Δ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10,000 options: delta position drifts by ~0.071 shares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near expiry. Critical for options market-makers.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0" y="5925312"/>
            <a:ext cx="3566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59344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production systems for end-of-day delta attribution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046720" y="658368"/>
            <a:ext cx="393192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658368"/>
            <a:ext cx="3931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042416"/>
            <a:ext cx="3931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676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8869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Decay  |  ∂ν/∂t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138160" y="1115568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Vega decays over time as the option approaches expiry.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negative (vega shrinks as time runs out).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accelerates near expiry.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Vega book carry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CVA vol hedge P&amp;L attribution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FRTB Vega roll-down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0" y="5925312"/>
            <a:ext cx="37490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5934456"/>
            <a:ext cx="3712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sophisticated options platforms output veta as standard Greek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 Greeks — Speed, Color, Zomma &amp; Ultima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11795760" cy="457200"/>
          </a:xfrm>
          <a:prstGeom prst="rect">
            <a:avLst/>
          </a:prstGeom>
          <a:solidFill>
            <a:srgbClr val="DEE3ED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0080"/>
            <a:ext cx="1161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 Greeks measure how second-order Greeks themselves change. Rarely hedged explicitly — monitored to understand hedge stability in complex books.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70432"/>
            <a:ext cx="109728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17043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207008"/>
            <a:ext cx="2286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12070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∂Γ/∂S = ∂³V/∂S³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157276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with the underlying price. High Speed means gamma hedges decay quickly as S moves. Positive for OTM options, negative deep ITM. Monitored by structured product desks with large gamma positions.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41985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985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available in sophisticated options analytics platforms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17920" y="117043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70432"/>
            <a:ext cx="109728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7043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1207008"/>
            <a:ext cx="2286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12070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∂Γ/∂t = ∂²Δ/(∂S²·∂t)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82512" y="157276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over time — the 'Charm of Gamma'. Tells you how your gamma hedge will drift overnight. Important for long-dated options and exotic books where gamma drift is material across weekends and roll periods.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82512" y="341985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41985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long-dated options and exotics analytics engines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86791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867912"/>
            <a:ext cx="109728" cy="2560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86791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Zomma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3904488"/>
            <a:ext cx="2286000" cy="274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3904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∂Γ/∂σ = ∂Vanna/∂S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" y="427024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with respect to volatility. High Zomma means gamma is very sensitive to vol moves — important in stress scenarios where vol spikes. Used in model risk assessment for volatile market regimes.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611733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11733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stress testing; model risk quantification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386791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867912"/>
            <a:ext cx="109728" cy="256032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86791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3904488"/>
            <a:ext cx="2286000" cy="27432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10928" y="3904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∂Volga/∂σ = ∂³V/∂σ³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2512" y="427024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derivative of option value with respect to volatility. Measures how Volga itself changes as vol moves — the curvature of vol curvature. Rarely used in daily risk management but relevant in vol-of-vol model calibration and deep OTM option pricing.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82512" y="611733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611733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vol-of-vol model calibration; tail risk analytics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Sensitivity Definitions — Regulatory Greeks (Module 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11795760" cy="438912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008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FRTB definitions are regulatory prescriptions. They may differ from trading desk definitions. See Module 2 for full treatment.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70432"/>
            <a:ext cx="5852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Delta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426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by tenor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49040" y="123444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23444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s_k = ∂V/∂r_k × 0.0001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68249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a 1bp parallel shift in a specific tenor bucket of the risk-free curve. 10 tenor buckets: 0.25y, 0.5y, 1y, 2y, 3y, 5y, 10y, 15y, 20y, 30y. Computed separately per currency and curve (OIS, LIBOR replacement).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7355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IR-1 Caplet: DV01 at 1y tenor bucket ≈ €25.3/bp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17920" y="117043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70432"/>
            <a:ext cx="5852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Vega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426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by option maturity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784080" y="123444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123444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VR_k = ∂V/∂σ_k × σ_k × 0.01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a 1% relative shift in implied vol at a specific option maturity bucket. Maturity buckets: 0.5y, 1y, 3y, 5y, 10y. Defined relative to vol level (not absolute) — differs from trading desk vega.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327355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27355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IR-1: Vega at 1y bucket ≈ €2,303 per unit; FRTB VR = €23.03 (1% relative)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77647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776472"/>
            <a:ext cx="5852160" cy="4572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13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0325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proxy (full reprice)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49040" y="384048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84048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CVR_k = max(up shock P&amp;L − delta adj., down shock P&amp;L − delta adj.)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28853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gamma-equivalent risk not covered by delta. Computed as worst-case P&amp;L from a full factor shock (± RW_k), minus the first-order delta adjustment. Proxies convexity for all non-linear instruments.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587959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587959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Eq-1: Curvature from ±15% EQ shock captures Γ contribution of ~$2.36 per option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377647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776472"/>
            <a:ext cx="5852160" cy="45720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813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Delta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0325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 bucketed by tenor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784080" y="384048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2368" y="384048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CS01_k = ∂V/∂cs_k × 0.0001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428853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1bp move in credit spread at a specific tenor. Used for CDS, CLN, CVA positions. Tenor buckets: 0.5y, 1y, 3y, 5y, 10y per reference name. Basis risk between CDS and bond spreads handled separately.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587959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587959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CVA Delta: CS01 aggregated across all counterparty credit curve buckets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Sensitivities — CVA, FVA, MVA, KVA Greeks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603504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Greeks share names with standard Greeks but are computed at portfolio level, often via Monte Carlo simulation. See Modules 3–5 for full treatment.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005840"/>
            <a:ext cx="1920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Greek / Module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03120" y="1005840"/>
            <a:ext cx="22860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8912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&amp; Sourcing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69264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Practitioner Note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371600"/>
            <a:ext cx="914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426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Delta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" y="1737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03120" y="137160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7984" y="14173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CVA to a 1bp move in the counterparty's CDS spread.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38912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Δ = −LGD × ∫ E[EE(t)] · dPD(t)/dcs · 0.0001 dt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04088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9574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simulation; CS01 of expected exposure profile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69264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hedge ratio for CVA desks. Hedge via CDS on the counterparty.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340864"/>
            <a:ext cx="1920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2340864"/>
            <a:ext cx="91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Vega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" y="270662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2340864"/>
            <a:ext cx="2286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7984" y="2386584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CVA to changes in implied vol of underlying trades (IR vol, FX vol).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8912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ν = ∂CVA/∂σ_market  (computed via vol surface bumping in exposure model)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4088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Simulation-based; requires bumping vol surface in the exposure engine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69264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750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convexity of exposure profile. Harder to hedge than CVA delta.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" y="331012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3310128"/>
            <a:ext cx="91440" cy="9144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Delta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10896" y="36758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103120" y="331012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57984" y="335584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FVA to a 1bp move in the bank's own funding spread.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8912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398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Δ ≈ ∂FVA/∂s_fund = ∫ E[EFN(t)] · ∂df_fund(t)/∂s · dt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04088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9574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or semi-analytic using expected funding need profile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69264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4750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hedge trades in the bank's own funding market (bonds, repos).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" y="4279392"/>
            <a:ext cx="1920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4279392"/>
            <a:ext cx="91440" cy="91440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43342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Delta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10896" y="46451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103120" y="4279392"/>
            <a:ext cx="2286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57984" y="4325112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MVA to a move in initial margin requirements (driven by SIMM sensitivities).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4398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Δ ≈ ∂MVA/∂SIMM  (highly model-dependent; nested Monte Carlo or regression)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04088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9574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Monte Carlo or regression-based SIMM approximation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69264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4750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computationally intensive xVA Greek. Regulatory mandate (UMR) drives importance.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" y="5248656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" y="5248656"/>
            <a:ext cx="91440" cy="91440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5303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 Sensitivity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10896" y="56144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103120" y="5248656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57984" y="5294376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KVA to changes in regulatory capital requirements (SA-CCR, CVA capital charge).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8912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4398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 Δ ≈ CoC × ∂K(t)/∂risk_factor  where CoC = cost of capital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04088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9574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engine; SA-CCR add-on calculations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69264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4750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cost of capital as a Greek. Increasingly important post-Basel IV.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Interactions &amp; P&amp;L Attribution Decomposition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77724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21792"/>
            <a:ext cx="7772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30936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 &amp; Key Interactions (Long Call)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182880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00584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57400" y="1005840"/>
            <a:ext cx="164592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00584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292608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100584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Interaction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118872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00584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Regime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" y="150876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50876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(Δ)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57400" y="150876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12264" y="150876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(0→1)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03320" y="150876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50876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with S (Gamma); decays with time (Charm)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29400" y="150876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150876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moves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01168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(Γ)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57400" y="201168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12264" y="201168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03320" y="201168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58184" y="201168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 Theta; amplified near expiry ATM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201168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4264" y="201168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spot moves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51460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251460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(ν)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57400" y="251460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12264" y="251460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03320" y="251460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58184" y="251460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 with S (Vanna); decays with time (Veta)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629400" y="251460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251460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regime changes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301752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301752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(Θ)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57400" y="301752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12264" y="301752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always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703320" y="301752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58184" y="301752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Theta-Gamma trade-off; steepens near expiry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29400" y="301752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301752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Quiet, low-vol markets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" y="352044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352044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(ρ)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57400" y="352044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12264" y="352044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for calls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703320" y="352044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58184" y="352044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for long-dated / high-strike options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629400" y="352044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84264" y="352044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cycle turning points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28600" y="402336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3464" y="402336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057400" y="402336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12264" y="402336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+OTM, −ITM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703320" y="402336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58184" y="402336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changes with vol; key for smile risk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29400" y="402336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84264" y="402336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 moves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28600" y="452628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" y="452628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Volga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057400" y="452628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12264" y="452628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703320" y="452628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58184" y="452628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convexity; largest OTM; VV pricing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29400" y="452628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452628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vol-of-vol environments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28600" y="502920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502920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057400" y="502920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12264" y="502920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approx.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03320" y="502920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58184" y="502920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drift overnight; largest near expiry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629400" y="502920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84264" y="502920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approaching expiry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138160" y="621792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138160" y="62179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29600" y="630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29600" y="1005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expansion of option P&amp;L: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229600" y="13258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0" y="1325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Δ·ΔS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64692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P&amp;L (linear, directional)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229600" y="17830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29600" y="1783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½·Γ·(ΔS)²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964692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P&amp;L (convex, always +ve long)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229600" y="22402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29600" y="2240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ν·Δσ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646920" y="2240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P&amp;L (vol move impact)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229600" y="26974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29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Θ·Δt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646920" y="2697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decay (negative, daily bleed)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229600" y="31546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29600" y="3154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ρ·Δr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964692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(rate move impact)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8229600" y="36118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29600" y="3611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Vanna·ΔS·Δσ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646920" y="3611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term: spot × vol move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8229600" y="40690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0" y="4069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½·Volga·(Δσ)²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9646920" y="4069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convexity P&amp;L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8229600" y="45262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29600" y="4526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…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9646920" y="4526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terms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8138160" y="5102352"/>
            <a:ext cx="3840480" cy="804672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38160" y="5102352"/>
            <a:ext cx="91440" cy="804672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75320" y="5120640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P&amp;L = Actual − Sum of Greek contributions. Large residuals signal model risk or missing higher-order terms.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82880" y="6144768"/>
            <a:ext cx="1179576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2880" y="6144768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65760" y="616305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20-60-20 Collaboration Principle: 20% human prompting &amp; instruction  |  60% AI generation  |  20% mandatory human review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without human review is not professional-grade content — it is a liability.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Greeks &amp; Sensitivities — Practitioner Reference</dc:title>
  <dc:subject>PptxGenJS Presentation</dc:subject>
  <dc:creator>Sarthaka Nanda</dc:creator>
  <cp:lastModifiedBy>Sarthaka Nanda</cp:lastModifiedBy>
  <cp:revision>1</cp:revision>
  <dcterms:created xsi:type="dcterms:W3CDTF">2026-04-02T15:03:51Z</dcterms:created>
  <dcterms:modified xsi:type="dcterms:W3CDTF">2026-04-02T15:03:51Z</dcterms:modified>
</cp:coreProperties>
</file>