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682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18430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" y="3200400"/>
            <a:ext cx="11996928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&amp;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Sensitivities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33375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Practitioner Reference for Derivatives &amp; Risk Management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8862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 Knowledge Repository — Module 0 (Reference)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217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2025  |  CC BY-NC 4.0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4663440"/>
            <a:ext cx="53035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4709160"/>
            <a:ext cx="5120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Vanilla European Equity Call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S=K=100, σ=20%, r=5%, T=1yr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43600" y="4663440"/>
            <a:ext cx="5760720" cy="7772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4709160"/>
            <a:ext cx="5577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Interest Rate Cap (Caplet)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F=K=5%, σ_IR=30%, T=1yr, τ=0.25, N=€1M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Greeks?  |  The Sourcing Framework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11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583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Greeks?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097280"/>
            <a:ext cx="5394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are sensitivity measures quantifying how a financial instrument's value changes in response to shifts in underlying market parameters.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Originating from the Black-Scholes framework (1973), they have since extended to exotic derivatives, portfolios, and regulatory capital.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core uses: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64261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4261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30352" y="26060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38528" y="2606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Delta/Gamma-neutral portfolios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12724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530352" y="309067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Limits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38528" y="30906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Desk-level exposure controls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4320" y="3611880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61188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30352" y="357530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38528" y="3575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ΔV ≈ Δ·ΔS + ½Γ·(ΔS)² + ν·Δσ + Θ·Δt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096512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096512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30352" y="405993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938528" y="405993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Sensitivity-Based Method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4581144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581144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530352" y="45445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Management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38528" y="45445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CVA/FVA delta &amp; vega hedging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74320" y="5065776"/>
            <a:ext cx="201168" cy="201168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506577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530352" y="5029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Testing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938528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impact across the portfolio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943600" y="640080"/>
            <a:ext cx="6035040" cy="571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943600" y="640080"/>
            <a:ext cx="603504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658368"/>
            <a:ext cx="5852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Framework — Where Do Greek Numbers Come From?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035040" y="114300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035040" y="1143000"/>
            <a:ext cx="109728" cy="84124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99632" y="117957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 (Closed-Form)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199632" y="141732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partial derivative of pricing formula. Fast &amp; precise. E.g. Black-Scholes Delta, Black-76 Vega.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035040" y="210312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035040" y="2103120"/>
            <a:ext cx="109728" cy="8412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99632" y="213969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(Finite Diff.)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199632" y="237744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input by ε, compute ΔV/ε. Used where no closed form exists. Standard in production systems.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035040" y="306324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035040" y="3063240"/>
            <a:ext cx="109728" cy="841248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99632" y="309981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(Monte Carlo)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199632" y="333756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Greeks as path expectations. Used for CVA delta, portfolio-level xVA sensitivities.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6035040" y="402336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035040" y="4023360"/>
            <a:ext cx="109728" cy="841248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99632" y="405993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Market-Implied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199632" y="429768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observed market prices. Vol surface calibrated to market; Greeks read off the model.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035040" y="4983480"/>
            <a:ext cx="5760720" cy="841248"/>
          </a:xfrm>
          <a:prstGeom prst="rect">
            <a:avLst/>
          </a:prstGeom>
          <a:solidFill>
            <a:srgbClr val="F5F7FA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035040" y="4983480"/>
            <a:ext cx="109728" cy="841248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199632" y="5020056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Vendor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199632" y="5257800"/>
            <a:ext cx="5486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of front-office pricing library (e.g. Bloomberg DLIB, Murex MX.3) or risk platform (e.g. Numerix, MSCI RiskManager).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Greeks — Delta &amp; Vega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97280"/>
            <a:ext cx="5577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94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886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Sensitivity  |  ∂V/∂S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188720"/>
            <a:ext cx="53949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the option value changes per $1 move in underlying.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Call: 0→+1  |  Put: −1→0  |  ATM ≈ ±0.5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Δ = 0.6368 (ATM, S=K=100)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DV01 ≈ €25.3 per bp of forward rate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Hedge: sell Δ units of underlying (dynamic rebalancing needed)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218688"/>
            <a:ext cx="53949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21868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Δ_call = e^(−qT) · N(d₁)   where  d₁ = [ln(S/K)+(r−q+σ²/2)T] / σ√T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640080"/>
            <a:ext cx="60350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640080"/>
            <a:ext cx="6035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097280"/>
            <a:ext cx="6035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6949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886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Volatility Sensitivity  |  ∂V/∂σ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585216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change per 1% move in implied vol. Always positive for long options.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hedge with underlying — requires other options.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ν = 0.3793 per unit vol  →  $0.003793 per 1bp vol move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Caplet Vega ≈ €2,303 per unit IR vol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FRTB: Vega bucketed by option maturity (0.5y, 1y, 3y, 5y, 10y)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218688"/>
            <a:ext cx="58521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218688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= S · e^(−qT) · n(d₁) · √T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566160"/>
            <a:ext cx="117957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566160"/>
            <a:ext cx="11795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575304"/>
            <a:ext cx="11521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Comparison — Eq-1 vs IR-1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3950208"/>
            <a:ext cx="25603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4320" y="395020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788920" y="3950208"/>
            <a:ext cx="29260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834640" y="3950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 (Equity Call)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5715000" y="3950208"/>
            <a:ext cx="292608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60720" y="39502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 (Caplet)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641080" y="3950208"/>
            <a:ext cx="32004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686800" y="39502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242816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4320" y="4242816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/ DV01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2788920" y="4242816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834640" y="42428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= 0.6368 (share-equivalent)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715000" y="4242816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242816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DV01 ≈ €25.3 per bp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8641080" y="4242816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686800" y="4242816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uses shares; IR uses bps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28600" y="4718304"/>
            <a:ext cx="25603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74320" y="4718304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2788920" y="4718304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834640" y="4718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 ≈ 0.3793 (/$unit vol)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5715000" y="4718304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60720" y="4718304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ν_IR ≈ €2,303 (per unit vol)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8641080" y="4718304"/>
            <a:ext cx="3200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686800" y="4718304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notional amplifies vega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28600" y="5193792"/>
            <a:ext cx="25603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5193792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Hedge instrument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2788920" y="5193792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834640" y="5193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Underlying equity or futures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5715000" y="5193792"/>
            <a:ext cx="29260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760720" y="5193792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futures or swap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8641080" y="5193792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686800" y="519379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hedge markets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228600" y="5669280"/>
            <a:ext cx="256032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74320" y="56692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bucket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2788920" y="5669280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834640" y="5669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 delta (spot)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5715000" y="5669280"/>
            <a:ext cx="29260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760720" y="5669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delta (tenor bucket)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8641080" y="5669280"/>
            <a:ext cx="32004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686800" y="56692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risk classes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First-Order Greeks — Theta &amp; Rho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97280"/>
            <a:ext cx="5577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94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886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Decay  |  ∂V/∂t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188720"/>
            <a:ext cx="53949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lost per calendar day from time passage alone.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negative for long options (the 'rent' of holding options).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Θ ≈ −$0.0243/day  →  −$0.121 over 5 trading days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Gamma-Theta trade-off: Long gamma (benefit from moves) always costs theta (daily bleed)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127248"/>
            <a:ext cx="53949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12724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[−S·e^(−qT)·n(d₁)·σ/(2√T) − r·K·e^(−rT)·N(d₂) + q·S·e^(−qT)·N(d₁)] / 365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640080"/>
            <a:ext cx="60350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640080"/>
            <a:ext cx="6035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097280"/>
            <a:ext cx="6035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6949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886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Sensitivity  |  ∂V/∂r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585216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change per 1bp move in interest rates.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Calls: positive rho (higher rates increase call value).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Puts: negative rho.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ρ ≈ $0.000053/bp → modest for short-dated equity options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IR-1: DV01 ≈ €25.3/bp (primary risk metric for rate derivatives)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FRTB: IR delta bucketed across 10 tenor points per currency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127248"/>
            <a:ext cx="58521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127248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ρ_call = K · T · e^(−rT) · N(d₂) / 10,000  (per basis point)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474720"/>
            <a:ext cx="11795760" cy="1280160"/>
          </a:xfrm>
          <a:prstGeom prst="rect">
            <a:avLst/>
          </a:prstGeom>
          <a:solidFill>
            <a:srgbClr val="FFF8E7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" y="3474720"/>
            <a:ext cx="109728" cy="128016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352044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The Gamma-Theta Trade-Off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3822192"/>
            <a:ext cx="115214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options → Positive Gamma (you profit from large moves in either direction) + Negative Theta (daily time decay cost).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tension is fundamental to options trading. On quiet days, the theta bleeds value. On volatile days, the gamma earns it back.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from spot move: ΔV ≈ Δ·ΔS + ½·Γ·(ΔS)²  →  The gamma term is always positive for long options — the 'free convexity' that theta pays for.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182880" y="4846320"/>
            <a:ext cx="117957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4846320"/>
            <a:ext cx="11795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864608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 Phi / Foreign Rho  —  Dividend / Foreign Rate Sensitivity  |  ∂V/∂q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5230368"/>
            <a:ext cx="11430000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the dividend yield (equity options) or foreign risk-free rate (FX options). Calls have negative Phi — higher dividends reduce the forward price and hence call value. Formula: Φ_call = −T · S · e^(−qT) · N(d₁).  Sourcing: Analytic; dividend forecasts from equity research or consensus data providers.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Greeks — Gamma &amp; Vanna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40080"/>
            <a:ext cx="55778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40080"/>
            <a:ext cx="5577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97280"/>
            <a:ext cx="5577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" y="694944"/>
            <a:ext cx="5029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" y="88696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Convexity  |  ∂²V/∂S²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188720"/>
            <a:ext cx="53949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Delta. Always positive for long options.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Maximised ATM near expiry. Same for calls and puts (put-call parity).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Γ = 0.01887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$5 spot move: Gamma P&amp;L = ½ × 0.01887 × 25 = $0.236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Total P&amp;L: Δ×5 + Gamma P&amp;L ≈ $3.42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Curvature risk proxies for Gamma risk.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3310128"/>
            <a:ext cx="53949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3310128"/>
            <a:ext cx="53583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Γ = e^(−qT) · n(d₁) / (S · σ · √T)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943600" y="640080"/>
            <a:ext cx="6035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640080"/>
            <a:ext cx="60350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0" y="1097280"/>
            <a:ext cx="6035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016752" y="694944"/>
            <a:ext cx="329184" cy="32918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16752" y="69494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419088" y="694944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19088" y="886968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Delta-Vol Cross Sensitivity  |  ∂Δ/∂σ = ∂ν/∂S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6035040" y="1188720"/>
            <a:ext cx="5852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Delta changes when vol moves (or equivalently, how Vega changes when spot moves).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for OTM calls / ITM puts; negative for ITM calls / OTM puts; ~zero ATM.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Vanna ≈ −0.0047  (small because d₂ ≈ 0.05 near ATM)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 grows as option moves away from ATM.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for FX smile risk and CVA vol-spot correlation hedging.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035040" y="3310128"/>
            <a:ext cx="5852160" cy="20116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53328" y="3310128"/>
            <a:ext cx="58155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 = −e^(−qT) · n(d₁) · d₂ / σ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657600"/>
            <a:ext cx="1179576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657600"/>
            <a:ext cx="117957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3675888"/>
            <a:ext cx="11430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Decomposition — Gamma in Action (Eq-1, $5 move)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28600" y="4041648"/>
            <a:ext cx="2743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3464" y="4041648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971800" y="4041648"/>
            <a:ext cx="41148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26664" y="4041648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7086600" y="4041648"/>
            <a:ext cx="22860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41464" y="4041648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9372600" y="4041648"/>
            <a:ext cx="33832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427464" y="4041648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28600" y="4517136"/>
            <a:ext cx="27432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464" y="4517136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P&amp;L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971800" y="4517136"/>
            <a:ext cx="41148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26664" y="4517136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× ΔS = 0.6368 × 5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086600" y="4517136"/>
            <a:ext cx="2286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41464" y="4517136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$3.184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9372600" y="4517136"/>
            <a:ext cx="33832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427464" y="4517136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Linear, direction-sensitive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228600" y="4992624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83464" y="4992624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P&amp;L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2971800" y="4992624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26664" y="4992624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 × Γ × (ΔS)² = ½ × 0.01887 × 25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086600" y="4992624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41464" y="4992624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$0.236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9372600" y="4992624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27464" y="4992624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Convex, always positive for long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228600" y="5468112"/>
            <a:ext cx="27432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83464" y="546811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(Δ+Γ)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971800" y="5468112"/>
            <a:ext cx="41148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26664" y="5468112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above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7086600" y="5468112"/>
            <a:ext cx="228600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41464" y="5468112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$3.420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9372600" y="5468112"/>
            <a:ext cx="3383280" cy="4572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427464" y="5468112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pure delta by $0.236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228600" y="594360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83464" y="5943600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2971800" y="5943600"/>
            <a:ext cx="41148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026664" y="5943600"/>
            <a:ext cx="4005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reprice − Taylor approx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7086600" y="5943600"/>
            <a:ext cx="22860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41464" y="5943600"/>
            <a:ext cx="21762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~$0.01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9372600" y="5943600"/>
            <a:ext cx="3383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27464" y="5943600"/>
            <a:ext cx="3273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(Speed etc.) — small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Second-Order Greeks — Volga, Charm &amp; Veta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58368"/>
            <a:ext cx="374904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58368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2880" y="1042416"/>
            <a:ext cx="3749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6766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Volga / Vomma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92608" y="8869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Convexity  |  ∂ν/∂σ = ∂²V/∂σ²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1115568"/>
            <a:ext cx="3566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Convexity of option value w.r.t. volatility — the 'Gamma of Vol'.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positive for long options; maximised OTM.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Volga ≈ 0.0019 (small ATM — grows as option moves OTM)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 stochastic vol models (Heston, SABR) and Vanna-Volga FX pricing.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Formula: S·e^(−qT)·n(d₁)·√T·d₁·d₂/σ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5925312"/>
            <a:ext cx="3566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2608" y="59344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VV pricing; vol-of-vol model calibration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114800" y="658368"/>
            <a:ext cx="374904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0" y="658368"/>
            <a:ext cx="3749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042416"/>
            <a:ext cx="37490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676656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24528" y="886968"/>
            <a:ext cx="35661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Decay  |  ∂Δ/∂t = ∂²V/(∂S·∂t)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206240" y="1115568"/>
            <a:ext cx="35661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Delta drifts overnight from time passage alone.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you how much your delta hedge needs adjusting each morning.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Eq-1: Charm ≈ −0.0000024/day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Weekend drift (×3): ≈ −0.0000071 Δ units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10,000 options: delta position drifts by ~0.071 shares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near expiry. Critical for options market-makers.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0" y="5925312"/>
            <a:ext cx="3566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24528" y="5934456"/>
            <a:ext cx="35295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production systems for end-of-day delta attribution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046720" y="658368"/>
            <a:ext cx="3931920" cy="5669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046720" y="658368"/>
            <a:ext cx="39319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46720" y="1042416"/>
            <a:ext cx="393192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56448" y="676656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56448" y="886968"/>
            <a:ext cx="37490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Decay  |  ∂ν/∂t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8138160" y="1115568"/>
            <a:ext cx="374904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Vega decays over time as the option approaches expiry.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negative (vega shrinks as time runs out).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Decay accelerates near expiry.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for: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Vega book carry management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CVA vol hedge P&amp;L attribution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FRTB Vega roll-down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138160" y="5925312"/>
            <a:ext cx="374904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56448" y="5934456"/>
            <a:ext cx="371246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sophisticated options platforms output veta as standard Greek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Third-Order Greeks — Speed, Color, Zomma &amp; Ultima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11795760" cy="457200"/>
          </a:xfrm>
          <a:prstGeom prst="rect">
            <a:avLst/>
          </a:prstGeom>
          <a:solidFill>
            <a:srgbClr val="DEE3ED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0080"/>
            <a:ext cx="116128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Third-order Greeks measure how second-order Greeks themselves change. Rarely hedged explicitly — monitored to understand hedge stability in complex books.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70432"/>
            <a:ext cx="109728" cy="2560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" y="117043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0" y="1207008"/>
            <a:ext cx="22860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75888" y="12070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∂Γ/∂S = ∂³V/∂S³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47472" y="157276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Gamma with the underlying price. High Speed means gamma hedges decay quickly as S moves. Positive for OTM options, negative deep ITM. Monitored by structured product desks with large gamma positions.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341985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41985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available in sophisticated options analytics platforms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17920" y="117043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70432"/>
            <a:ext cx="109728" cy="2560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117043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692640" y="1207008"/>
            <a:ext cx="228600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710928" y="120700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∂Γ/∂t = ∂²Δ/(∂S²·∂t)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82512" y="157276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Gamma over time — the 'Charm of Gamma'. Tells you how your gamma hedge will drift overnight. Important for long-dated options and exotic books where gamma drift is material across weekends and roll periods.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82512" y="341985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341985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long-dated options and exotics analytics engines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86791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867912"/>
            <a:ext cx="109728" cy="25603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80" y="386791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Zomma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0" y="3904488"/>
            <a:ext cx="2286000" cy="27432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5888" y="390448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∂Γ/∂σ = ∂Vanna/∂S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7472" y="427024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Gamma with respect to volatility. High Zomma means gamma is very sensitive to vol moves — important in stress scenarios where vol spikes. Used in model risk assessment for volatile market regimes.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611733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611733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stress testing; model risk quantification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3867912"/>
            <a:ext cx="58521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867912"/>
            <a:ext cx="109728" cy="256032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217920" y="3867912"/>
            <a:ext cx="5852160" cy="34747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82512" y="39044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92640" y="3904488"/>
            <a:ext cx="2286000" cy="27432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10928" y="3904488"/>
            <a:ext cx="22494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∂Volga/∂σ = ∂³V/∂σ³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382512" y="4270248"/>
            <a:ext cx="55961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 derivative of option value with respect to volatility. Measures how Volga itself changes as vol moves — the curvature of vol curvature. Rarely used in daily risk management but relevant in vol-of-vol model calibration and deep OTM option pricing.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82512" y="6117336"/>
            <a:ext cx="5596128" cy="2560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0" y="6117336"/>
            <a:ext cx="55595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Analytic; vol-of-vol model calibration; tail risk analytics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FRTB Sensitivity Definitions — Regulatory Greeks (Module 2)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11795760" cy="438912"/>
          </a:xfrm>
          <a:prstGeom prst="rect">
            <a:avLst/>
          </a:prstGeom>
          <a:solidFill>
            <a:srgbClr val="FFF8E7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640080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FRTB definitions are regulatory prescriptions. They may differ from trading desk definitions. See Module 2 for full treatment.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2880" y="117043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82880" y="1170432"/>
            <a:ext cx="58521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Delta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" y="14264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by tenor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49040" y="123444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67328" y="123444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s_k = ∂V/∂r_k × 0.0001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274320" y="168249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a 1bp parallel shift in a specific tenor bucket of the risk-free curve. 10 tenor buckets: 0.25y, 0.5y, 1y, 2y, 3y, 5y, 10y, 15y, 20y, 30y. Computed separately per currency and curve (OIS, LIBOR replacement).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27355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2608" y="327355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IR-1 Caplet: DV01 at 1y tenor bucket ≈ €25.3/bp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217920" y="117043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170432"/>
            <a:ext cx="58521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120700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Vega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42646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Bucketed by option maturity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9784080" y="123444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02368" y="123444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VR_k = ∂V/∂σ_k × σ_k × 0.01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309360" y="168249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a 1% relative shift in implied vol at a specific option maturity bucket. Maturity buckets: 0.5y, 1y, 3y, 5y, 10y. Defined relative to vol level (not absolute) — differs from trading desk vega.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309360" y="327355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27648" y="327355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IR-1: Vega at 1y bucket ≈ €2,303 per unit; FRTB VR = €23.03 (1% relative)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182880" y="377647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182880" y="3776472"/>
            <a:ext cx="5852160" cy="4572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3813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Curvature Risk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40325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proxy (full reprice)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749040" y="384048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767328" y="384048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CVR_k = max(up shock P&amp;L − delta adj., down shock P&amp;L − delta adj.)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4320" y="428853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gamma-equivalent risk not covered by delta. Computed as worst-case P&amp;L from a full factor shock (± RW_k), minus the first-order delta adjustment. Proxies convexity for all non-linear instruments.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274320" y="587959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" y="587959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Eq-1: Curvature from ±15% EQ shock captures Γ contribution of ~$2.36 per option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217920" y="3776472"/>
            <a:ext cx="58521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217920" y="3776472"/>
            <a:ext cx="5852160" cy="45720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381304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Delta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309360" y="403250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CS01 bucketed by tenor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784080" y="3840480"/>
            <a:ext cx="21945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02368" y="3840480"/>
            <a:ext cx="21579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CS01_k = ∂V/∂cs_k × 0.0001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6309360" y="4288536"/>
            <a:ext cx="56692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to 1bp move in credit spread at a specific tenor. Used for CDS, CLN, CVA positions. Tenor buckets: 0.5y, 1y, 3y, 5y, 10y per reference name. Basis risk between CDS and bond spreads handled separately.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09360" y="5879592"/>
            <a:ext cx="5669280" cy="292608"/>
          </a:xfrm>
          <a:prstGeom prst="rect">
            <a:avLst/>
          </a:prstGeom>
          <a:solidFill>
            <a:srgbClr val="F5F7FA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27648" y="5879592"/>
            <a:ext cx="56327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CVA Delta: CS01 aggregated across all counterparty credit curve buckets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Sensitivities — CVA, FVA, MVA, KVA Greeks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82880" y="603504"/>
            <a:ext cx="1179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Greeks share names with standard Greeks but are computed at portfolio level, often via Monte Carlo simulation. See Modules 3–5 for full treatment.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82880" y="1005840"/>
            <a:ext cx="192024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0584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xVA Greek / Module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103120" y="1005840"/>
            <a:ext cx="22860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48840" y="10058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389120" y="100584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3484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&amp; Sourcing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7040880" y="100584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8660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9692640" y="1005840"/>
            <a:ext cx="26517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738360" y="10058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Practitioner Note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82880" y="1371600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1371600"/>
            <a:ext cx="91440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0896" y="142646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Delta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10896" y="1737360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103120" y="1371600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57984" y="1417320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CVA to a 1bp move in the counterparty's CDS spread.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38912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43984" y="141732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Δ = −LGD × ∫ E[EE(t)] · dPD(t)/dcs · 0.0001 dt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04088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95744" y="141732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Carlo simulation; CS01 of expected exposure profile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9692640" y="1371600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47504" y="1417320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hedge ratio for CVA desks. Hedge via CDS on the counterparty.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82880" y="2340864"/>
            <a:ext cx="1920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80" y="2340864"/>
            <a:ext cx="9144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0896" y="23957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Vega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0896" y="2706624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103120" y="2340864"/>
            <a:ext cx="2286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157984" y="2386584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CVA to changes in implied vol of underlying trades (IR vol, FX vol).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389120" y="2340864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43984" y="238658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 ν = ∂CVA/∂σ_market  (computed via vol surface bumping in exposure model)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40880" y="2340864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95744" y="238658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Simulation-based; requires bumping vol surface in the exposure engine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692640" y="2340864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747504" y="2386584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convexity of exposure profile. Harder to hedge than CVA delta.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182880" y="3310128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82880" y="3310128"/>
            <a:ext cx="91440" cy="914400"/>
          </a:xfrm>
          <a:prstGeom prst="rect">
            <a:avLst/>
          </a:prstGeom>
          <a:solidFill>
            <a:srgbClr val="6B2D8B"/>
          </a:solidFill>
          <a:ln w="12700">
            <a:solidFill>
              <a:srgbClr val="6B2D8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" y="336499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Delta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310896" y="3675888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2103120" y="3310128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57984" y="3355848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FVA to a 1bp move in the bank's own funding spread.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438912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43984" y="33558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FVA Δ ≈ ∂FVA/∂s_fund = ∫ E[EFN(t)] · ∂df_fund(t)/∂s · dt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04088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95744" y="33558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or semi-analytic using expected funding need profile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9692640" y="3310128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747504" y="3355848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hedge trades in the bank's own funding market (bonds, repos).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182880" y="4279392"/>
            <a:ext cx="192024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" y="4279392"/>
            <a:ext cx="91440" cy="914400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0896" y="433425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Delta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310896" y="4645152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103120" y="4279392"/>
            <a:ext cx="228600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57984" y="4325112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MVA to a move in initial margin requirements (driven by SIMM sensitivities).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389120" y="4279392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443984" y="4325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MVA Δ ≈ ∂MVA/∂SIMM  (highly model-dependent; nested Monte Carlo or regression)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7040880" y="4279392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095744" y="4325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Monte Carlo or regression-based SIMM approximation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692640" y="4279392"/>
            <a:ext cx="2651760" cy="91440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47504" y="4325112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computationally intensive xVA Greek. Regulatory mandate (UMR) drives importance.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182880" y="5248656"/>
            <a:ext cx="19202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82880" y="5248656"/>
            <a:ext cx="91440" cy="914400"/>
          </a:xfrm>
          <a:prstGeom prst="rect">
            <a:avLst/>
          </a:prstGeom>
          <a:solidFill>
            <a:srgbClr val="8B2D2D"/>
          </a:solidFill>
          <a:ln w="12700">
            <a:solidFill>
              <a:srgbClr val="8B2D2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10896" y="53035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8B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 Sensitivity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310896" y="5614416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103120" y="5248656"/>
            <a:ext cx="22860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157984" y="5294376"/>
            <a:ext cx="217627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Sensitivity of KVA to changes in regulatory capital requirements (SA-CCR, CVA capital charge).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4389120" y="52486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43984" y="5294376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KVA Δ ≈ CoC × ∂K(t)/∂risk_factor  where CoC = cost of capital</a:t>
            </a:r>
            <a:endParaRPr lang="en-US" sz="700" dirty="0"/>
          </a:p>
        </p:txBody>
      </p:sp>
      <p:sp>
        <p:nvSpPr>
          <p:cNvPr id="76" name="Shape 74"/>
          <p:cNvSpPr/>
          <p:nvPr/>
        </p:nvSpPr>
        <p:spPr>
          <a:xfrm>
            <a:off x="7040880" y="52486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095744" y="5294376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capital engine; SA-CCR add-on calculations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9692640" y="5248656"/>
            <a:ext cx="26517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747504" y="5294376"/>
            <a:ext cx="254203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cost of capital as a Greek. Increasingly important post-Basel IV.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6152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2920"/>
            <a:ext cx="121615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6510528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Sarthaka Nanda (with Anthropic Claude)  |  Greeks &amp; Sensitivities — Module 0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515600" y="6510528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 BY-NC 4.0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73152"/>
            <a:ext cx="11612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 Interactions &amp; P&amp;L Attribution Decomposition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2880" y="621792"/>
            <a:ext cx="777240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82880" y="621792"/>
            <a:ext cx="77724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630936"/>
            <a:ext cx="7589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Convention &amp; Key Interactions (Long Call)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005840"/>
            <a:ext cx="182880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" y="100584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057400" y="1005840"/>
            <a:ext cx="164592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12264" y="100584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03320" y="1005840"/>
            <a:ext cx="292608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8184" y="100584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Interaction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629400" y="1005840"/>
            <a:ext cx="1188720" cy="484632"/>
          </a:xfrm>
          <a:prstGeom prst="rect">
            <a:avLst/>
          </a:prstGeom>
          <a:solidFill>
            <a:srgbClr val="1E2761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84264" y="100584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Regime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228600" y="150876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3464" y="150876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(Δ)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057400" y="150876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12264" y="150876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(0→1)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03320" y="150876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58184" y="150876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Increases with S (Gamma); decays with time (Charm)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629400" y="150876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84264" y="150876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moves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228600" y="201168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464" y="201168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(Γ)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2057400" y="201168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12264" y="201168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always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703320" y="201168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58184" y="201168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Opposes Theta; amplified near expiry ATM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629400" y="201168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84264" y="201168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spot moves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228600" y="251460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83464" y="251460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(ν)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2057400" y="251460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12264" y="251460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always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03320" y="251460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58184" y="251460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Cross-sens with S (Vanna); decays with time (Veta)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6629400" y="251460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84264" y="251460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regime changes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28600" y="301752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83464" y="301752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(Θ)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2057400" y="301752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12264" y="301752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always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3703320" y="301752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58184" y="301752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Theta-Gamma trade-off; steepens near expiry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6629400" y="301752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84264" y="301752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Quiet, low-vol markets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228600" y="352044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83464" y="352044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(ρ)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2057400" y="352044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12264" y="352044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for calls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703320" y="352044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758184" y="352044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for long-dated / high-strike options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629400" y="352044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84264" y="352044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cycle turning points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28600" y="402336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83464" y="402336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2057400" y="402336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112264" y="402336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+OTM, −ITM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3703320" y="402336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758184" y="402336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changes with vol; key for smile risk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6629400" y="402336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84264" y="402336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surface moves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228600" y="4526280"/>
            <a:ext cx="182880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83464" y="452628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Volga</a:t>
            </a:r>
            <a:endParaRPr lang="en-US" sz="750" dirty="0"/>
          </a:p>
        </p:txBody>
      </p:sp>
      <p:sp>
        <p:nvSpPr>
          <p:cNvPr id="70" name="Shape 68"/>
          <p:cNvSpPr/>
          <p:nvPr/>
        </p:nvSpPr>
        <p:spPr>
          <a:xfrm>
            <a:off x="2057400" y="4526280"/>
            <a:ext cx="16459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112264" y="452628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always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703320" y="4526280"/>
            <a:ext cx="292608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758184" y="452628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convexity; largest OTM; VV pricing</a:t>
            </a:r>
            <a:endParaRPr lang="en-US" sz="750" dirty="0"/>
          </a:p>
        </p:txBody>
      </p:sp>
      <p:sp>
        <p:nvSpPr>
          <p:cNvPr id="74" name="Shape 72"/>
          <p:cNvSpPr/>
          <p:nvPr/>
        </p:nvSpPr>
        <p:spPr>
          <a:xfrm>
            <a:off x="6629400" y="4526280"/>
            <a:ext cx="1188720" cy="484632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684264" y="452628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vol-of-vol environments</a:t>
            </a:r>
            <a:endParaRPr lang="en-US" sz="750" dirty="0"/>
          </a:p>
        </p:txBody>
      </p:sp>
      <p:sp>
        <p:nvSpPr>
          <p:cNvPr id="76" name="Shape 74"/>
          <p:cNvSpPr/>
          <p:nvPr/>
        </p:nvSpPr>
        <p:spPr>
          <a:xfrm>
            <a:off x="228600" y="5029200"/>
            <a:ext cx="182880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83464" y="5029200"/>
            <a:ext cx="171907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Charm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2057400" y="5029200"/>
            <a:ext cx="16459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112264" y="5029200"/>
            <a:ext cx="15361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 approx.</a:t>
            </a:r>
            <a:endParaRPr lang="en-US" sz="750" dirty="0"/>
          </a:p>
        </p:txBody>
      </p:sp>
      <p:sp>
        <p:nvSpPr>
          <p:cNvPr id="80" name="Shape 78"/>
          <p:cNvSpPr/>
          <p:nvPr/>
        </p:nvSpPr>
        <p:spPr>
          <a:xfrm>
            <a:off x="3703320" y="5029200"/>
            <a:ext cx="292608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58184" y="5029200"/>
            <a:ext cx="281635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drift overnight; largest near expiry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6629400" y="5029200"/>
            <a:ext cx="1188720" cy="48463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684264" y="5029200"/>
            <a:ext cx="1078992" cy="48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approaching expiry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8138160" y="621792"/>
            <a:ext cx="38404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3ED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5" name="Shape 83"/>
          <p:cNvSpPr/>
          <p:nvPr/>
        </p:nvSpPr>
        <p:spPr>
          <a:xfrm>
            <a:off x="8138160" y="621792"/>
            <a:ext cx="384048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229600" y="6309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Attribution</a:t>
            </a:r>
            <a:endParaRPr lang="en-US" sz="1000" dirty="0"/>
          </a:p>
        </p:txBody>
      </p:sp>
      <p:sp>
        <p:nvSpPr>
          <p:cNvPr id="87" name="Text 85"/>
          <p:cNvSpPr/>
          <p:nvPr/>
        </p:nvSpPr>
        <p:spPr>
          <a:xfrm>
            <a:off x="8229600" y="10058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Taylor expansion of option P&amp;L: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8229600" y="13258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229600" y="1325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Δ·ΔS</a:t>
            </a:r>
            <a:endParaRPr lang="en-US" sz="800" dirty="0"/>
          </a:p>
        </p:txBody>
      </p:sp>
      <p:sp>
        <p:nvSpPr>
          <p:cNvPr id="90" name="Text 88"/>
          <p:cNvSpPr/>
          <p:nvPr/>
        </p:nvSpPr>
        <p:spPr>
          <a:xfrm>
            <a:off x="9646920" y="1325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P&amp;L (linear, directional)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8229600" y="17830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229600" y="1783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½·Γ·(ΔS)²</a:t>
            </a:r>
            <a:endParaRPr lang="en-US" sz="800" dirty="0"/>
          </a:p>
        </p:txBody>
      </p:sp>
      <p:sp>
        <p:nvSpPr>
          <p:cNvPr id="93" name="Text 91"/>
          <p:cNvSpPr/>
          <p:nvPr/>
        </p:nvSpPr>
        <p:spPr>
          <a:xfrm>
            <a:off x="9646920" y="1783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P&amp;L (convex, always +ve long)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8229600" y="22402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229600" y="2240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ν·Δσ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9646920" y="2240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Vega P&amp;L (vol move impact)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8229600" y="26974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8229600" y="26974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Θ·Δt</a:t>
            </a:r>
            <a:endParaRPr lang="en-US" sz="800" dirty="0"/>
          </a:p>
        </p:txBody>
      </p:sp>
      <p:sp>
        <p:nvSpPr>
          <p:cNvPr id="99" name="Text 97"/>
          <p:cNvSpPr/>
          <p:nvPr/>
        </p:nvSpPr>
        <p:spPr>
          <a:xfrm>
            <a:off x="9646920" y="26974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 decay (negative, daily bleed)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8229600" y="31546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8229600" y="31546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ρ·Δr</a:t>
            </a:r>
            <a:endParaRPr lang="en-US" sz="800" dirty="0"/>
          </a:p>
        </p:txBody>
      </p:sp>
      <p:sp>
        <p:nvSpPr>
          <p:cNvPr id="102" name="Text 100"/>
          <p:cNvSpPr/>
          <p:nvPr/>
        </p:nvSpPr>
        <p:spPr>
          <a:xfrm>
            <a:off x="9646920" y="31546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 (rate move impact)</a:t>
            </a:r>
            <a:endParaRPr lang="en-US" sz="750" dirty="0"/>
          </a:p>
        </p:txBody>
      </p:sp>
      <p:sp>
        <p:nvSpPr>
          <p:cNvPr id="103" name="Shape 101"/>
          <p:cNvSpPr/>
          <p:nvPr/>
        </p:nvSpPr>
        <p:spPr>
          <a:xfrm>
            <a:off x="8229600" y="36118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229600" y="3611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Vanna·ΔS·Δσ</a:t>
            </a:r>
            <a:endParaRPr lang="en-US" sz="800" dirty="0"/>
          </a:p>
        </p:txBody>
      </p:sp>
      <p:sp>
        <p:nvSpPr>
          <p:cNvPr id="105" name="Text 103"/>
          <p:cNvSpPr/>
          <p:nvPr/>
        </p:nvSpPr>
        <p:spPr>
          <a:xfrm>
            <a:off x="9646920" y="36118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 term: spot × vol move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8229600" y="40690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229600" y="40690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½·Volga·(Δσ)²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9646920" y="40690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 convexity P&amp;L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8229600" y="4526280"/>
            <a:ext cx="137160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8229600" y="45262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…</a:t>
            </a:r>
            <a:endParaRPr lang="en-US" sz="800" dirty="0"/>
          </a:p>
        </p:txBody>
      </p:sp>
      <p:sp>
        <p:nvSpPr>
          <p:cNvPr id="111" name="Text 109"/>
          <p:cNvSpPr/>
          <p:nvPr/>
        </p:nvSpPr>
        <p:spPr>
          <a:xfrm>
            <a:off x="9646920" y="452628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Higher-order terms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8138160" y="5102352"/>
            <a:ext cx="3840480" cy="804672"/>
          </a:xfrm>
          <a:prstGeom prst="rect">
            <a:avLst/>
          </a:prstGeom>
          <a:solidFill>
            <a:srgbClr val="FFF8E7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8138160" y="5102352"/>
            <a:ext cx="91440" cy="804672"/>
          </a:xfrm>
          <a:prstGeom prst="rect">
            <a:avLst/>
          </a:prstGeom>
          <a:solidFill>
            <a:srgbClr val="E8960C"/>
          </a:solidFill>
          <a:ln w="12700">
            <a:solidFill>
              <a:srgbClr val="E8960C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8275320" y="5120640"/>
            <a:ext cx="3639312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Unexplained P&amp;L = Actual − Sum of Greek contributions. Large residuals signal model risk or missing higher-order terms.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82880" y="6144768"/>
            <a:ext cx="11795760" cy="594360"/>
          </a:xfrm>
          <a:prstGeom prst="rect">
            <a:avLst/>
          </a:prstGeom>
          <a:solidFill>
            <a:srgbClr val="F5F7FA"/>
          </a:solidFill>
          <a:ln w="12700">
            <a:solidFill>
              <a:srgbClr val="DEE3ED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182880" y="6144768"/>
            <a:ext cx="109728" cy="59436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365760" y="6163056"/>
            <a:ext cx="11430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20-60-20 Collaboration Principle: 20% human prompting &amp; instruction  |  60% AI generation  |  20% mandatory human review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 without human review is not professional-grade content — it is a liability.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E6C5843-938B-480A-9902-72212DC64471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b5471c0a-9080-4b4b-bbe0-dda880bbec35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3173</Words>
  <Application>Microsoft Office PowerPoint</Application>
  <PresentationFormat>Widescreen</PresentationFormat>
  <Paragraphs>357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Greeks &amp; Sensitivities — Practitioner Reference</dc:title>
  <dc:subject>PptxGenJS Presentation</dc:subject>
  <dc:creator>Sarthaka Nanda</dc:creator>
  <cp:lastModifiedBy>Vicky Nanda</cp:lastModifiedBy>
  <cp:revision>2</cp:revision>
  <dcterms:created xsi:type="dcterms:W3CDTF">2026-04-02T15:03:51Z</dcterms:created>
  <dcterms:modified xsi:type="dcterms:W3CDTF">2026-04-04T03:05:31Z</dcterms:modified>
</cp:coreProperties>
</file>