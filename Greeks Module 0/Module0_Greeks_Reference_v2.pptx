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1" d="100"/>
          <a:sy n="121" d="100"/>
        </p:scale>
        <p:origin x="485"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678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E2761"/>
          </a:solidFill>
          <a:ln w="12700">
            <a:solidFill>
              <a:srgbClr val="1E2761"/>
            </a:solidFill>
            <a:prstDash val="solid"/>
          </a:ln>
        </p:spPr>
      </p:sp>
      <p:sp>
        <p:nvSpPr>
          <p:cNvPr id="3" name="Shape 1"/>
          <p:cNvSpPr/>
          <p:nvPr/>
        </p:nvSpPr>
        <p:spPr>
          <a:xfrm>
            <a:off x="0" y="0"/>
            <a:ext cx="182880" cy="6858000"/>
          </a:xfrm>
          <a:prstGeom prst="rect">
            <a:avLst/>
          </a:prstGeom>
          <a:solidFill>
            <a:srgbClr val="C9A84C"/>
          </a:solidFill>
          <a:ln w="12700">
            <a:solidFill>
              <a:srgbClr val="C9A84C"/>
            </a:solidFill>
            <a:prstDash val="solid"/>
          </a:ln>
        </p:spPr>
      </p:sp>
      <p:sp>
        <p:nvSpPr>
          <p:cNvPr id="4" name="Shape 2"/>
          <p:cNvSpPr/>
          <p:nvPr/>
        </p:nvSpPr>
        <p:spPr>
          <a:xfrm>
            <a:off x="182880" y="3291840"/>
            <a:ext cx="11978640" cy="45720"/>
          </a:xfrm>
          <a:prstGeom prst="rect">
            <a:avLst/>
          </a:prstGeom>
          <a:solidFill>
            <a:srgbClr val="C9A84C"/>
          </a:solidFill>
          <a:ln w="12700">
            <a:solidFill>
              <a:srgbClr val="C9A84C"/>
            </a:solidFill>
            <a:prstDash val="solid"/>
          </a:ln>
        </p:spPr>
      </p:sp>
      <p:sp>
        <p:nvSpPr>
          <p:cNvPr id="5" name="Text 3"/>
          <p:cNvSpPr/>
          <p:nvPr/>
        </p:nvSpPr>
        <p:spPr>
          <a:xfrm>
            <a:off x="457200" y="1005840"/>
            <a:ext cx="10972800" cy="1005840"/>
          </a:xfrm>
          <a:prstGeom prst="rect">
            <a:avLst/>
          </a:prstGeom>
          <a:noFill/>
          <a:ln/>
        </p:spPr>
        <p:txBody>
          <a:bodyPr wrap="square"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Greeks &amp;</a:t>
            </a:r>
            <a:endParaRPr lang="en-US" sz="5600" dirty="0"/>
          </a:p>
        </p:txBody>
      </p:sp>
      <p:sp>
        <p:nvSpPr>
          <p:cNvPr id="6" name="Text 4"/>
          <p:cNvSpPr/>
          <p:nvPr/>
        </p:nvSpPr>
        <p:spPr>
          <a:xfrm>
            <a:off x="457200" y="1920240"/>
            <a:ext cx="10972800" cy="1005840"/>
          </a:xfrm>
          <a:prstGeom prst="rect">
            <a:avLst/>
          </a:prstGeom>
          <a:noFill/>
          <a:ln/>
        </p:spPr>
        <p:txBody>
          <a:bodyPr wrap="square" rtlCol="0" anchor="ctr"/>
          <a:lstStyle/>
          <a:p>
            <a:pPr marL="0" indent="0">
              <a:buNone/>
            </a:pPr>
            <a:r>
              <a:rPr lang="en-US" sz="5600" b="1" dirty="0">
                <a:solidFill>
                  <a:srgbClr val="C9A84C"/>
                </a:solidFill>
                <a:latin typeface="Calibri" pitchFamily="34" charset="0"/>
                <a:ea typeface="Calibri" pitchFamily="34" charset="-122"/>
                <a:cs typeface="Calibri" pitchFamily="34" charset="-120"/>
              </a:rPr>
              <a:t>Sensitivities</a:t>
            </a:r>
            <a:endParaRPr lang="en-US" sz="5600" dirty="0"/>
          </a:p>
        </p:txBody>
      </p:sp>
      <p:sp>
        <p:nvSpPr>
          <p:cNvPr id="7" name="Text 5"/>
          <p:cNvSpPr/>
          <p:nvPr/>
        </p:nvSpPr>
        <p:spPr>
          <a:xfrm>
            <a:off x="457200" y="3429000"/>
            <a:ext cx="10972800" cy="411480"/>
          </a:xfrm>
          <a:prstGeom prst="rect">
            <a:avLst/>
          </a:prstGeom>
          <a:noFill/>
          <a:ln/>
        </p:spPr>
        <p:txBody>
          <a:bodyPr wrap="square" rtlCol="0" anchor="ctr"/>
          <a:lstStyle/>
          <a:p>
            <a:pPr marL="0" indent="0">
              <a:buNone/>
            </a:pPr>
            <a:r>
              <a:rPr lang="en-US" sz="1500" dirty="0">
                <a:solidFill>
                  <a:srgbClr val="CADCFC"/>
                </a:solidFill>
                <a:latin typeface="Calibri" pitchFamily="34" charset="0"/>
                <a:ea typeface="Calibri" pitchFamily="34" charset="-122"/>
                <a:cs typeface="Calibri" pitchFamily="34" charset="-120"/>
              </a:rPr>
              <a:t>A Practitioner Reference for Derivatives &amp; Risk Management</a:t>
            </a:r>
            <a:endParaRPr lang="en-US" sz="1500" dirty="0"/>
          </a:p>
        </p:txBody>
      </p:sp>
      <p:sp>
        <p:nvSpPr>
          <p:cNvPr id="8" name="Text 6"/>
          <p:cNvSpPr/>
          <p:nvPr/>
        </p:nvSpPr>
        <p:spPr>
          <a:xfrm>
            <a:off x="457200" y="3913632"/>
            <a:ext cx="10972800" cy="292608"/>
          </a:xfrm>
          <a:prstGeom prst="rect">
            <a:avLst/>
          </a:prstGeom>
          <a:noFill/>
          <a:ln/>
        </p:spPr>
        <p:txBody>
          <a:bodyPr wrap="square" rtlCol="0" anchor="ctr"/>
          <a:lstStyle/>
          <a:p>
            <a:pPr marL="0" indent="0">
              <a:buNone/>
            </a:pPr>
            <a:r>
              <a:rPr lang="en-US" sz="1000" dirty="0">
                <a:solidFill>
                  <a:srgbClr val="C9A84C"/>
                </a:solidFill>
                <a:latin typeface="Calibri" pitchFamily="34" charset="0"/>
                <a:ea typeface="Calibri" pitchFamily="34" charset="-122"/>
                <a:cs typeface="Calibri" pitchFamily="34" charset="-120"/>
              </a:rPr>
              <a:t>Practitioner Knowledge Repository — Module 0 (Reference)</a:t>
            </a:r>
            <a:endParaRPr lang="en-US" sz="1000" dirty="0"/>
          </a:p>
        </p:txBody>
      </p:sp>
      <p:sp>
        <p:nvSpPr>
          <p:cNvPr id="9" name="Shape 7"/>
          <p:cNvSpPr/>
          <p:nvPr/>
        </p:nvSpPr>
        <p:spPr>
          <a:xfrm>
            <a:off x="457200" y="4572000"/>
            <a:ext cx="5669280" cy="777240"/>
          </a:xfrm>
          <a:prstGeom prst="rect">
            <a:avLst/>
          </a:prstGeom>
          <a:solidFill>
            <a:srgbClr val="028090"/>
          </a:solidFill>
          <a:ln w="12700">
            <a:solidFill>
              <a:srgbClr val="028090"/>
            </a:solidFill>
            <a:prstDash val="solid"/>
          </a:ln>
        </p:spPr>
      </p:sp>
      <p:sp>
        <p:nvSpPr>
          <p:cNvPr id="10" name="Text 8"/>
          <p:cNvSpPr/>
          <p:nvPr/>
        </p:nvSpPr>
        <p:spPr>
          <a:xfrm>
            <a:off x="566928" y="4626864"/>
            <a:ext cx="5449824"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Eq-1: Vanilla European Equity Call</a:t>
            </a:r>
            <a:endParaRPr lang="en-US" sz="1000" dirty="0"/>
          </a:p>
        </p:txBody>
      </p:sp>
      <p:sp>
        <p:nvSpPr>
          <p:cNvPr id="11" name="Text 9"/>
          <p:cNvSpPr/>
          <p:nvPr/>
        </p:nvSpPr>
        <p:spPr>
          <a:xfrm>
            <a:off x="566928" y="4956048"/>
            <a:ext cx="5449824" cy="320040"/>
          </a:xfrm>
          <a:prstGeom prst="rect">
            <a:avLst/>
          </a:prstGeom>
          <a:noFill/>
          <a:ln/>
        </p:spPr>
        <p:txBody>
          <a:bodyPr wrap="square" rtlCol="0" anchor="ctr"/>
          <a:lstStyle/>
          <a:p>
            <a:pPr marL="0" indent="0">
              <a:buNone/>
            </a:pPr>
            <a:r>
              <a:rPr lang="en-US" sz="900" dirty="0">
                <a:solidFill>
                  <a:srgbClr val="CADCFC"/>
                </a:solidFill>
                <a:latin typeface="Calibri" pitchFamily="34" charset="0"/>
                <a:ea typeface="Calibri" pitchFamily="34" charset="-122"/>
                <a:cs typeface="Calibri" pitchFamily="34" charset="-120"/>
              </a:rPr>
              <a:t>S=K=100, σ=20%, r=5%, T=1yr</a:t>
            </a:r>
            <a:endParaRPr lang="en-US" sz="900" dirty="0"/>
          </a:p>
        </p:txBody>
      </p:sp>
      <p:sp>
        <p:nvSpPr>
          <p:cNvPr id="12" name="Shape 10"/>
          <p:cNvSpPr/>
          <p:nvPr/>
        </p:nvSpPr>
        <p:spPr>
          <a:xfrm>
            <a:off x="6309360" y="4572000"/>
            <a:ext cx="5669280" cy="777240"/>
          </a:xfrm>
          <a:prstGeom prst="rect">
            <a:avLst/>
          </a:prstGeom>
          <a:solidFill>
            <a:srgbClr val="028090"/>
          </a:solidFill>
          <a:ln w="12700">
            <a:solidFill>
              <a:srgbClr val="028090"/>
            </a:solidFill>
            <a:prstDash val="solid"/>
          </a:ln>
        </p:spPr>
      </p:sp>
      <p:sp>
        <p:nvSpPr>
          <p:cNvPr id="13" name="Text 11"/>
          <p:cNvSpPr/>
          <p:nvPr/>
        </p:nvSpPr>
        <p:spPr>
          <a:xfrm>
            <a:off x="6419088" y="4626864"/>
            <a:ext cx="5449824"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IR-1: Interest Rate Cap (Caplet)</a:t>
            </a:r>
            <a:endParaRPr lang="en-US" sz="1000" dirty="0"/>
          </a:p>
        </p:txBody>
      </p:sp>
      <p:sp>
        <p:nvSpPr>
          <p:cNvPr id="14" name="Text 12"/>
          <p:cNvSpPr/>
          <p:nvPr/>
        </p:nvSpPr>
        <p:spPr>
          <a:xfrm>
            <a:off x="6419088" y="4956048"/>
            <a:ext cx="5449824" cy="320040"/>
          </a:xfrm>
          <a:prstGeom prst="rect">
            <a:avLst/>
          </a:prstGeom>
          <a:noFill/>
          <a:ln/>
        </p:spPr>
        <p:txBody>
          <a:bodyPr wrap="square" rtlCol="0" anchor="ctr"/>
          <a:lstStyle/>
          <a:p>
            <a:pPr marL="0" indent="0">
              <a:buNone/>
            </a:pPr>
            <a:r>
              <a:rPr lang="en-US" sz="900" dirty="0">
                <a:solidFill>
                  <a:srgbClr val="CADCFC"/>
                </a:solidFill>
                <a:latin typeface="Calibri" pitchFamily="34" charset="0"/>
                <a:ea typeface="Calibri" pitchFamily="34" charset="-122"/>
                <a:cs typeface="Calibri" pitchFamily="34" charset="-120"/>
              </a:rPr>
              <a:t>F=K=5%, σ_IR=30%, T=1yr, τ=0.25, N=€1M</a:t>
            </a:r>
            <a:endParaRPr lang="en-US" sz="900" dirty="0"/>
          </a:p>
        </p:txBody>
      </p:sp>
      <p:sp>
        <p:nvSpPr>
          <p:cNvPr id="15" name="Text 13"/>
          <p:cNvSpPr/>
          <p:nvPr/>
        </p:nvSpPr>
        <p:spPr>
          <a:xfrm>
            <a:off x="457200" y="6263640"/>
            <a:ext cx="10972800" cy="274320"/>
          </a:xfrm>
          <a:prstGeom prst="rect">
            <a:avLst/>
          </a:prstGeom>
          <a:noFill/>
          <a:ln/>
        </p:spPr>
        <p:txBody>
          <a:bodyPr wrap="square" rtlCol="0" anchor="ctr"/>
          <a:lstStyle/>
          <a:p>
            <a:pPr marL="0" indent="0">
              <a:buNone/>
            </a:pPr>
            <a:r>
              <a:rPr lang="en-US" sz="900" dirty="0">
                <a:solidFill>
                  <a:srgbClr val="CADCFC"/>
                </a:solidFill>
                <a:latin typeface="Calibri" pitchFamily="34" charset="0"/>
                <a:ea typeface="Calibri" pitchFamily="34" charset="-122"/>
                <a:cs typeface="Calibri" pitchFamily="34" charset="-120"/>
              </a:rPr>
              <a:t>Curated by Sarthaka Nanda (with Anthropic Claude)  |  2026  |  CC BY-NC 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7FA"/>
          </a:solidFill>
          <a:ln w="12700">
            <a:solidFill>
              <a:srgbClr val="F5F7FA"/>
            </a:solidFill>
            <a:prstDash val="solid"/>
          </a:ln>
        </p:spPr>
      </p:sp>
      <p:sp>
        <p:nvSpPr>
          <p:cNvPr id="3" name="Shape 1"/>
          <p:cNvSpPr/>
          <p:nvPr/>
        </p:nvSpPr>
        <p:spPr>
          <a:xfrm>
            <a:off x="0" y="0"/>
            <a:ext cx="12161520" cy="475488"/>
          </a:xfrm>
          <a:prstGeom prst="rect">
            <a:avLst/>
          </a:prstGeom>
          <a:solidFill>
            <a:srgbClr val="1E2761"/>
          </a:solidFill>
          <a:ln w="12700">
            <a:solidFill>
              <a:srgbClr val="1E2761"/>
            </a:solidFill>
            <a:prstDash val="solid"/>
          </a:ln>
        </p:spPr>
      </p:sp>
      <p:sp>
        <p:nvSpPr>
          <p:cNvPr id="4" name="Shape 2"/>
          <p:cNvSpPr/>
          <p:nvPr/>
        </p:nvSpPr>
        <p:spPr>
          <a:xfrm>
            <a:off x="0" y="475488"/>
            <a:ext cx="12161520" cy="45720"/>
          </a:xfrm>
          <a:prstGeom prst="rect">
            <a:avLst/>
          </a:prstGeom>
          <a:solidFill>
            <a:srgbClr val="C9A84C"/>
          </a:solidFill>
          <a:ln w="12700">
            <a:solidFill>
              <a:srgbClr val="C9A84C"/>
            </a:solidFill>
            <a:prstDash val="solid"/>
          </a:ln>
        </p:spPr>
      </p:sp>
      <p:sp>
        <p:nvSpPr>
          <p:cNvPr id="5" name="Shape 3"/>
          <p:cNvSpPr/>
          <p:nvPr/>
        </p:nvSpPr>
        <p:spPr>
          <a:xfrm>
            <a:off x="0" y="6492240"/>
            <a:ext cx="12161520" cy="365760"/>
          </a:xfrm>
          <a:prstGeom prst="rect">
            <a:avLst/>
          </a:prstGeom>
          <a:solidFill>
            <a:srgbClr val="1E2761"/>
          </a:solidFill>
          <a:ln w="12700">
            <a:solidFill>
              <a:srgbClr val="1E2761"/>
            </a:solidFill>
            <a:prstDash val="solid"/>
          </a:ln>
        </p:spPr>
      </p:sp>
      <p:sp>
        <p:nvSpPr>
          <p:cNvPr id="6" name="Text 4"/>
          <p:cNvSpPr/>
          <p:nvPr/>
        </p:nvSpPr>
        <p:spPr>
          <a:xfrm>
            <a:off x="182880" y="6510528"/>
            <a:ext cx="8229600" cy="228600"/>
          </a:xfrm>
          <a:prstGeom prst="rect">
            <a:avLst/>
          </a:prstGeom>
          <a:noFill/>
          <a:ln/>
        </p:spPr>
        <p:txBody>
          <a:bodyPr wrap="square" rtlCol="0" anchor="ctr"/>
          <a:lstStyle/>
          <a:p>
            <a:pPr marL="0" indent="0">
              <a:buNone/>
            </a:pPr>
            <a:r>
              <a:rPr lang="en-US" sz="750" dirty="0">
                <a:solidFill>
                  <a:srgbClr val="CADCFC"/>
                </a:solidFill>
                <a:latin typeface="Calibri" pitchFamily="34" charset="0"/>
                <a:ea typeface="Calibri" pitchFamily="34" charset="-122"/>
                <a:cs typeface="Calibri" pitchFamily="34" charset="-120"/>
              </a:rPr>
              <a:t>Curated by Sarthaka Nanda (with Anthropic Claude)  |  Greeks &amp; Sensitivities — Module 0</a:t>
            </a:r>
            <a:endParaRPr lang="en-US" sz="750" dirty="0"/>
          </a:p>
        </p:txBody>
      </p:sp>
      <p:sp>
        <p:nvSpPr>
          <p:cNvPr id="7" name="Text 5"/>
          <p:cNvSpPr/>
          <p:nvPr/>
        </p:nvSpPr>
        <p:spPr>
          <a:xfrm>
            <a:off x="10515600" y="6510528"/>
            <a:ext cx="1463040" cy="228600"/>
          </a:xfrm>
          <a:prstGeom prst="rect">
            <a:avLst/>
          </a:prstGeom>
          <a:noFill/>
          <a:ln/>
        </p:spPr>
        <p:txBody>
          <a:bodyPr wrap="square" rtlCol="0" anchor="ctr"/>
          <a:lstStyle/>
          <a:p>
            <a:pPr marL="0" indent="0" algn="r">
              <a:buNone/>
            </a:pPr>
            <a:r>
              <a:rPr lang="en-US" sz="750" dirty="0">
                <a:solidFill>
                  <a:srgbClr val="C9A84C"/>
                </a:solidFill>
                <a:latin typeface="Calibri" pitchFamily="34" charset="0"/>
                <a:ea typeface="Calibri" pitchFamily="34" charset="-122"/>
                <a:cs typeface="Calibri" pitchFamily="34" charset="-120"/>
              </a:rPr>
              <a:t>CC BY-NC 4.0</a:t>
            </a:r>
            <a:endParaRPr lang="en-US" sz="750" dirty="0"/>
          </a:p>
        </p:txBody>
      </p:sp>
      <p:sp>
        <p:nvSpPr>
          <p:cNvPr id="8" name="Text 6"/>
          <p:cNvSpPr/>
          <p:nvPr/>
        </p:nvSpPr>
        <p:spPr>
          <a:xfrm>
            <a:off x="274320" y="64008"/>
            <a:ext cx="1161288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Are Greeks?  |  The Car Journey Metaphor</a:t>
            </a:r>
            <a:endParaRPr lang="en-US" sz="1500" dirty="0"/>
          </a:p>
        </p:txBody>
      </p:sp>
      <p:sp>
        <p:nvSpPr>
          <p:cNvPr id="9" name="Shape 7"/>
          <p:cNvSpPr/>
          <p:nvPr/>
        </p:nvSpPr>
        <p:spPr>
          <a:xfrm>
            <a:off x="182880" y="640080"/>
            <a:ext cx="5486400" cy="5715000"/>
          </a:xfrm>
          <a:prstGeom prst="rect">
            <a:avLst/>
          </a:prstGeom>
          <a:solidFill>
            <a:srgbClr val="FFFFFF"/>
          </a:solidFill>
          <a:ln w="12700">
            <a:solidFill>
              <a:srgbClr val="DEE3ED"/>
            </a:solidFill>
            <a:prstDash val="solid"/>
          </a:ln>
          <a:effectLst>
            <a:outerShdw blurRad="63500" dist="25400" dir="8100000" algn="bl" rotWithShape="0">
              <a:srgbClr val="000000">
                <a:alpha val="10000"/>
              </a:srgbClr>
            </a:outerShdw>
          </a:effectLst>
        </p:spPr>
      </p:sp>
      <p:sp>
        <p:nvSpPr>
          <p:cNvPr id="10" name="Shape 8"/>
          <p:cNvSpPr/>
          <p:nvPr/>
        </p:nvSpPr>
        <p:spPr>
          <a:xfrm>
            <a:off x="182880" y="640080"/>
            <a:ext cx="5486400" cy="384048"/>
          </a:xfrm>
          <a:prstGeom prst="rect">
            <a:avLst/>
          </a:prstGeom>
          <a:solidFill>
            <a:srgbClr val="028090"/>
          </a:solidFill>
          <a:ln w="12700">
            <a:solidFill>
              <a:srgbClr val="028090"/>
            </a:solidFill>
            <a:prstDash val="solid"/>
          </a:ln>
        </p:spPr>
      </p:sp>
      <p:sp>
        <p:nvSpPr>
          <p:cNvPr id="11" name="Text 9"/>
          <p:cNvSpPr/>
          <p:nvPr/>
        </p:nvSpPr>
        <p:spPr>
          <a:xfrm>
            <a:off x="292608" y="658368"/>
            <a:ext cx="530352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Derivatives Dashboard</a:t>
            </a:r>
            <a:endParaRPr lang="en-US" sz="1200" dirty="0"/>
          </a:p>
        </p:txBody>
      </p:sp>
      <p:sp>
        <p:nvSpPr>
          <p:cNvPr id="12" name="Text 10"/>
          <p:cNvSpPr/>
          <p:nvPr/>
        </p:nvSpPr>
        <p:spPr>
          <a:xfrm>
            <a:off x="292608" y="1078992"/>
            <a:ext cx="5266944" cy="1371600"/>
          </a:xfrm>
          <a:prstGeom prst="rect">
            <a:avLst/>
          </a:prstGeom>
          <a:noFill/>
          <a:ln/>
        </p:spPr>
        <p:txBody>
          <a:bodyPr wrap="square" rtlCol="0" anchor="t"/>
          <a:lstStyle/>
          <a:p>
            <a:pPr marL="0" indent="0">
              <a:buNone/>
            </a:pPr>
            <a:r>
              <a:rPr lang="en-US" sz="950" dirty="0">
                <a:solidFill>
                  <a:srgbClr val="1A1A1A"/>
                </a:solidFill>
                <a:latin typeface="Calibri" pitchFamily="34" charset="0"/>
                <a:ea typeface="Calibri" pitchFamily="34" charset="-122"/>
                <a:cs typeface="Calibri" pitchFamily="34" charset="-120"/>
              </a:rPr>
              <a:t>Greeks measure how a derivative's value changes when market parameters move.</a:t>
            </a:r>
            <a:endParaRPr lang="en-US" sz="950" dirty="0"/>
          </a:p>
          <a:p>
            <a:pPr marL="0" indent="0">
              <a:buNone/>
            </a:pP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Think of your portfolio as a car on a motorway. Every number on your dashboard has a Greek equivalent:</a:t>
            </a:r>
            <a:endParaRPr lang="en-US" sz="950" dirty="0"/>
          </a:p>
        </p:txBody>
      </p:sp>
      <p:sp>
        <p:nvSpPr>
          <p:cNvPr id="13" name="Shape 11"/>
          <p:cNvSpPr/>
          <p:nvPr/>
        </p:nvSpPr>
        <p:spPr>
          <a:xfrm>
            <a:off x="292608" y="2578608"/>
            <a:ext cx="237744" cy="237744"/>
          </a:xfrm>
          <a:prstGeom prst="ellipse">
            <a:avLst/>
          </a:prstGeom>
          <a:solidFill>
            <a:srgbClr val="028090"/>
          </a:solidFill>
          <a:ln w="12700">
            <a:solidFill>
              <a:srgbClr val="028090"/>
            </a:solidFill>
            <a:prstDash val="solid"/>
          </a:ln>
        </p:spPr>
      </p:sp>
      <p:sp>
        <p:nvSpPr>
          <p:cNvPr id="14" name="Text 12"/>
          <p:cNvSpPr/>
          <p:nvPr/>
        </p:nvSpPr>
        <p:spPr>
          <a:xfrm>
            <a:off x="585216" y="2523744"/>
            <a:ext cx="1463040" cy="347472"/>
          </a:xfrm>
          <a:prstGeom prst="rect">
            <a:avLst/>
          </a:prstGeom>
          <a:noFill/>
          <a:ln/>
        </p:spPr>
        <p:txBody>
          <a:bodyPr wrap="square"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Delta Δ</a:t>
            </a:r>
            <a:endParaRPr lang="en-US" sz="850" dirty="0"/>
          </a:p>
        </p:txBody>
      </p:sp>
      <p:sp>
        <p:nvSpPr>
          <p:cNvPr id="15" name="Text 13"/>
          <p:cNvSpPr/>
          <p:nvPr/>
        </p:nvSpPr>
        <p:spPr>
          <a:xfrm>
            <a:off x="2084832" y="2523744"/>
            <a:ext cx="3401568" cy="34747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Speedometer — how fast value moves with market</a:t>
            </a:r>
            <a:endParaRPr lang="en-US" sz="800" dirty="0"/>
          </a:p>
        </p:txBody>
      </p:sp>
      <p:sp>
        <p:nvSpPr>
          <p:cNvPr id="16" name="Shape 14"/>
          <p:cNvSpPr/>
          <p:nvPr/>
        </p:nvSpPr>
        <p:spPr>
          <a:xfrm>
            <a:off x="292608" y="3072384"/>
            <a:ext cx="237744" cy="237744"/>
          </a:xfrm>
          <a:prstGeom prst="ellipse">
            <a:avLst/>
          </a:prstGeom>
          <a:solidFill>
            <a:srgbClr val="B45309"/>
          </a:solidFill>
          <a:ln w="12700">
            <a:solidFill>
              <a:srgbClr val="B45309"/>
            </a:solidFill>
            <a:prstDash val="solid"/>
          </a:ln>
        </p:spPr>
      </p:sp>
      <p:sp>
        <p:nvSpPr>
          <p:cNvPr id="17" name="Text 15"/>
          <p:cNvSpPr/>
          <p:nvPr/>
        </p:nvSpPr>
        <p:spPr>
          <a:xfrm>
            <a:off x="585216" y="3017520"/>
            <a:ext cx="1463040" cy="347472"/>
          </a:xfrm>
          <a:prstGeom prst="rect">
            <a:avLst/>
          </a:prstGeom>
          <a:noFill/>
          <a:ln/>
        </p:spPr>
        <p:txBody>
          <a:bodyPr wrap="square" rtlCol="0" anchor="ctr"/>
          <a:lstStyle/>
          <a:p>
            <a:pPr marL="0" indent="0">
              <a:buNone/>
            </a:pPr>
            <a:r>
              <a:rPr lang="en-US" sz="850" b="1" dirty="0">
                <a:solidFill>
                  <a:srgbClr val="B45309"/>
                </a:solidFill>
                <a:latin typeface="Calibri" pitchFamily="34" charset="0"/>
                <a:ea typeface="Calibri" pitchFamily="34" charset="-122"/>
                <a:cs typeface="Calibri" pitchFamily="34" charset="-120"/>
              </a:rPr>
              <a:t>Gamma Γ</a:t>
            </a:r>
            <a:endParaRPr lang="en-US" sz="850" dirty="0"/>
          </a:p>
        </p:txBody>
      </p:sp>
      <p:sp>
        <p:nvSpPr>
          <p:cNvPr id="18" name="Text 16"/>
          <p:cNvSpPr/>
          <p:nvPr/>
        </p:nvSpPr>
        <p:spPr>
          <a:xfrm>
            <a:off x="2084832" y="3017520"/>
            <a:ext cx="3401568" cy="34747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Accelerator — how quickly speed changes</a:t>
            </a:r>
            <a:endParaRPr lang="en-US" sz="800" dirty="0"/>
          </a:p>
        </p:txBody>
      </p:sp>
      <p:sp>
        <p:nvSpPr>
          <p:cNvPr id="19" name="Shape 17"/>
          <p:cNvSpPr/>
          <p:nvPr/>
        </p:nvSpPr>
        <p:spPr>
          <a:xfrm>
            <a:off x="292608" y="3566160"/>
            <a:ext cx="237744" cy="237744"/>
          </a:xfrm>
          <a:prstGeom prst="ellipse">
            <a:avLst/>
          </a:prstGeom>
          <a:solidFill>
            <a:srgbClr val="B91C1C"/>
          </a:solidFill>
          <a:ln w="12700">
            <a:solidFill>
              <a:srgbClr val="B91C1C"/>
            </a:solidFill>
            <a:prstDash val="solid"/>
          </a:ln>
        </p:spPr>
      </p:sp>
      <p:sp>
        <p:nvSpPr>
          <p:cNvPr id="20" name="Text 18"/>
          <p:cNvSpPr/>
          <p:nvPr/>
        </p:nvSpPr>
        <p:spPr>
          <a:xfrm>
            <a:off x="585216" y="3511296"/>
            <a:ext cx="1463040" cy="347472"/>
          </a:xfrm>
          <a:prstGeom prst="rect">
            <a:avLst/>
          </a:prstGeom>
          <a:noFill/>
          <a:ln/>
        </p:spPr>
        <p:txBody>
          <a:bodyPr wrap="square" rtlCol="0" anchor="ctr"/>
          <a:lstStyle/>
          <a:p>
            <a:pPr marL="0" indent="0">
              <a:buNone/>
            </a:pPr>
            <a:r>
              <a:rPr lang="en-US" sz="850" b="1" dirty="0">
                <a:solidFill>
                  <a:srgbClr val="B91C1C"/>
                </a:solidFill>
                <a:latin typeface="Calibri" pitchFamily="34" charset="0"/>
                <a:ea typeface="Calibri" pitchFamily="34" charset="-122"/>
                <a:cs typeface="Calibri" pitchFamily="34" charset="-120"/>
              </a:rPr>
              <a:t>Theta Θ</a:t>
            </a:r>
            <a:endParaRPr lang="en-US" sz="850" dirty="0"/>
          </a:p>
        </p:txBody>
      </p:sp>
      <p:sp>
        <p:nvSpPr>
          <p:cNvPr id="21" name="Text 19"/>
          <p:cNvSpPr/>
          <p:nvPr/>
        </p:nvSpPr>
        <p:spPr>
          <a:xfrm>
            <a:off x="2084832" y="3511296"/>
            <a:ext cx="3401568" cy="34747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Parking meter — fuel burning while parked</a:t>
            </a:r>
            <a:endParaRPr lang="en-US" sz="800" dirty="0"/>
          </a:p>
        </p:txBody>
      </p:sp>
      <p:sp>
        <p:nvSpPr>
          <p:cNvPr id="22" name="Shape 20"/>
          <p:cNvSpPr/>
          <p:nvPr/>
        </p:nvSpPr>
        <p:spPr>
          <a:xfrm>
            <a:off x="292608" y="4059936"/>
            <a:ext cx="237744" cy="237744"/>
          </a:xfrm>
          <a:prstGeom prst="ellipse">
            <a:avLst/>
          </a:prstGeom>
          <a:solidFill>
            <a:srgbClr val="5B21B6"/>
          </a:solidFill>
          <a:ln w="12700">
            <a:solidFill>
              <a:srgbClr val="5B21B6"/>
            </a:solidFill>
            <a:prstDash val="solid"/>
          </a:ln>
        </p:spPr>
      </p:sp>
      <p:sp>
        <p:nvSpPr>
          <p:cNvPr id="23" name="Text 21"/>
          <p:cNvSpPr/>
          <p:nvPr/>
        </p:nvSpPr>
        <p:spPr>
          <a:xfrm>
            <a:off x="585216" y="4005072"/>
            <a:ext cx="1463040" cy="347472"/>
          </a:xfrm>
          <a:prstGeom prst="rect">
            <a:avLst/>
          </a:prstGeom>
          <a:noFill/>
          <a:ln/>
        </p:spPr>
        <p:txBody>
          <a:bodyPr wrap="square" rtlCol="0" anchor="ctr"/>
          <a:lstStyle/>
          <a:p>
            <a:pPr marL="0" indent="0">
              <a:buNone/>
            </a:pPr>
            <a:r>
              <a:rPr lang="en-US" sz="850" b="1" dirty="0">
                <a:solidFill>
                  <a:srgbClr val="5B21B6"/>
                </a:solidFill>
                <a:latin typeface="Calibri" pitchFamily="34" charset="0"/>
                <a:ea typeface="Calibri" pitchFamily="34" charset="-122"/>
                <a:cs typeface="Calibri" pitchFamily="34" charset="-120"/>
              </a:rPr>
              <a:t>Vega ν</a:t>
            </a:r>
            <a:endParaRPr lang="en-US" sz="850" dirty="0"/>
          </a:p>
        </p:txBody>
      </p:sp>
      <p:sp>
        <p:nvSpPr>
          <p:cNvPr id="24" name="Text 22"/>
          <p:cNvSpPr/>
          <p:nvPr/>
        </p:nvSpPr>
        <p:spPr>
          <a:xfrm>
            <a:off x="2084832" y="4005072"/>
            <a:ext cx="3401568" cy="34747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Weather — storm changes everything</a:t>
            </a:r>
            <a:endParaRPr lang="en-US" sz="800" dirty="0"/>
          </a:p>
        </p:txBody>
      </p:sp>
      <p:sp>
        <p:nvSpPr>
          <p:cNvPr id="25" name="Shape 23"/>
          <p:cNvSpPr/>
          <p:nvPr/>
        </p:nvSpPr>
        <p:spPr>
          <a:xfrm>
            <a:off x="292608" y="4553712"/>
            <a:ext cx="237744" cy="237744"/>
          </a:xfrm>
          <a:prstGeom prst="ellipse">
            <a:avLst/>
          </a:prstGeom>
          <a:solidFill>
            <a:srgbClr val="1A7A4A"/>
          </a:solidFill>
          <a:ln w="12700">
            <a:solidFill>
              <a:srgbClr val="1A7A4A"/>
            </a:solidFill>
            <a:prstDash val="solid"/>
          </a:ln>
        </p:spPr>
      </p:sp>
      <p:sp>
        <p:nvSpPr>
          <p:cNvPr id="26" name="Text 24"/>
          <p:cNvSpPr/>
          <p:nvPr/>
        </p:nvSpPr>
        <p:spPr>
          <a:xfrm>
            <a:off x="585216" y="4498848"/>
            <a:ext cx="1463040" cy="347472"/>
          </a:xfrm>
          <a:prstGeom prst="rect">
            <a:avLst/>
          </a:prstGeom>
          <a:noFill/>
          <a:ln/>
        </p:spPr>
        <p:txBody>
          <a:bodyPr wrap="square" rtlCol="0" anchor="ctr"/>
          <a:lstStyle/>
          <a:p>
            <a:pPr marL="0" indent="0">
              <a:buNone/>
            </a:pPr>
            <a:r>
              <a:rPr lang="en-US" sz="850" b="1" dirty="0">
                <a:solidFill>
                  <a:srgbClr val="1A7A4A"/>
                </a:solidFill>
                <a:latin typeface="Calibri" pitchFamily="34" charset="0"/>
                <a:ea typeface="Calibri" pitchFamily="34" charset="-122"/>
                <a:cs typeface="Calibri" pitchFamily="34" charset="-120"/>
              </a:rPr>
              <a:t>Rho ρ</a:t>
            </a:r>
            <a:endParaRPr lang="en-US" sz="850" dirty="0"/>
          </a:p>
        </p:txBody>
      </p:sp>
      <p:sp>
        <p:nvSpPr>
          <p:cNvPr id="27" name="Text 25"/>
          <p:cNvSpPr/>
          <p:nvPr/>
        </p:nvSpPr>
        <p:spPr>
          <a:xfrm>
            <a:off x="2084832" y="4498848"/>
            <a:ext cx="3401568" cy="34747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Road incline — rates change the gradient</a:t>
            </a:r>
            <a:endParaRPr lang="en-US" sz="800" dirty="0"/>
          </a:p>
        </p:txBody>
      </p:sp>
      <p:sp>
        <p:nvSpPr>
          <p:cNvPr id="28" name="Shape 26"/>
          <p:cNvSpPr/>
          <p:nvPr/>
        </p:nvSpPr>
        <p:spPr>
          <a:xfrm>
            <a:off x="292608" y="5047488"/>
            <a:ext cx="237744" cy="237744"/>
          </a:xfrm>
          <a:prstGeom prst="ellipse">
            <a:avLst/>
          </a:prstGeom>
          <a:solidFill>
            <a:srgbClr val="7E22CE"/>
          </a:solidFill>
          <a:ln w="12700">
            <a:solidFill>
              <a:srgbClr val="7E22CE"/>
            </a:solidFill>
            <a:prstDash val="solid"/>
          </a:ln>
        </p:spPr>
      </p:sp>
      <p:sp>
        <p:nvSpPr>
          <p:cNvPr id="29" name="Text 27"/>
          <p:cNvSpPr/>
          <p:nvPr/>
        </p:nvSpPr>
        <p:spPr>
          <a:xfrm>
            <a:off x="585216" y="4992624"/>
            <a:ext cx="1463040" cy="347472"/>
          </a:xfrm>
          <a:prstGeom prst="rect">
            <a:avLst/>
          </a:prstGeom>
          <a:noFill/>
          <a:ln/>
        </p:spPr>
        <p:txBody>
          <a:bodyPr wrap="square" rtlCol="0" anchor="ctr"/>
          <a:lstStyle/>
          <a:p>
            <a:pPr marL="0" indent="0">
              <a:buNone/>
            </a:pPr>
            <a:r>
              <a:rPr lang="en-US" sz="850" b="1" dirty="0">
                <a:solidFill>
                  <a:srgbClr val="7E22CE"/>
                </a:solidFill>
                <a:latin typeface="Calibri" pitchFamily="34" charset="0"/>
                <a:ea typeface="Calibri" pitchFamily="34" charset="-122"/>
                <a:cs typeface="Calibri" pitchFamily="34" charset="-120"/>
              </a:rPr>
              <a:t>Vanna</a:t>
            </a:r>
            <a:endParaRPr lang="en-US" sz="850" dirty="0"/>
          </a:p>
        </p:txBody>
      </p:sp>
      <p:sp>
        <p:nvSpPr>
          <p:cNvPr id="30" name="Text 28"/>
          <p:cNvSpPr/>
          <p:nvPr/>
        </p:nvSpPr>
        <p:spPr>
          <a:xfrm>
            <a:off x="2084832" y="4992624"/>
            <a:ext cx="3401568" cy="34747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Steering in rain — delta changes in storms</a:t>
            </a:r>
            <a:endParaRPr lang="en-US" sz="800" dirty="0"/>
          </a:p>
        </p:txBody>
      </p:sp>
      <p:sp>
        <p:nvSpPr>
          <p:cNvPr id="31" name="Shape 29"/>
          <p:cNvSpPr/>
          <p:nvPr/>
        </p:nvSpPr>
        <p:spPr>
          <a:xfrm>
            <a:off x="5852160" y="640080"/>
            <a:ext cx="6126480" cy="5715000"/>
          </a:xfrm>
          <a:prstGeom prst="rect">
            <a:avLst/>
          </a:prstGeom>
          <a:solidFill>
            <a:srgbClr val="FFFFFF"/>
          </a:solidFill>
          <a:ln w="12700">
            <a:solidFill>
              <a:srgbClr val="DEE3ED"/>
            </a:solidFill>
            <a:prstDash val="solid"/>
          </a:ln>
          <a:effectLst>
            <a:outerShdw blurRad="63500" dist="25400" dir="8100000" algn="bl" rotWithShape="0">
              <a:srgbClr val="000000">
                <a:alpha val="10000"/>
              </a:srgbClr>
            </a:outerShdw>
          </a:effectLst>
        </p:spPr>
      </p:sp>
      <p:sp>
        <p:nvSpPr>
          <p:cNvPr id="32" name="Shape 30"/>
          <p:cNvSpPr/>
          <p:nvPr/>
        </p:nvSpPr>
        <p:spPr>
          <a:xfrm>
            <a:off x="5852160" y="640080"/>
            <a:ext cx="6126480" cy="384048"/>
          </a:xfrm>
          <a:prstGeom prst="rect">
            <a:avLst/>
          </a:prstGeom>
          <a:solidFill>
            <a:srgbClr val="1E2761"/>
          </a:solidFill>
          <a:ln w="12700">
            <a:solidFill>
              <a:srgbClr val="1E2761"/>
            </a:solidFill>
            <a:prstDash val="solid"/>
          </a:ln>
        </p:spPr>
      </p:sp>
      <p:sp>
        <p:nvSpPr>
          <p:cNvPr id="33" name="Text 31"/>
          <p:cNvSpPr/>
          <p:nvPr/>
        </p:nvSpPr>
        <p:spPr>
          <a:xfrm>
            <a:off x="5961888" y="658368"/>
            <a:ext cx="594360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Where Do Greek Numbers Come From?</a:t>
            </a:r>
            <a:endParaRPr lang="en-US" sz="1200" dirty="0"/>
          </a:p>
        </p:txBody>
      </p:sp>
      <p:sp>
        <p:nvSpPr>
          <p:cNvPr id="34" name="Shape 32"/>
          <p:cNvSpPr/>
          <p:nvPr/>
        </p:nvSpPr>
        <p:spPr>
          <a:xfrm>
            <a:off x="5943600" y="1097280"/>
            <a:ext cx="5943600" cy="877824"/>
          </a:xfrm>
          <a:prstGeom prst="rect">
            <a:avLst/>
          </a:prstGeom>
          <a:solidFill>
            <a:srgbClr val="F5F7FA"/>
          </a:solidFill>
          <a:ln w="12700">
            <a:solidFill>
              <a:srgbClr val="028090"/>
            </a:solidFill>
            <a:prstDash val="solid"/>
          </a:ln>
        </p:spPr>
      </p:sp>
      <p:sp>
        <p:nvSpPr>
          <p:cNvPr id="35" name="Shape 33"/>
          <p:cNvSpPr/>
          <p:nvPr/>
        </p:nvSpPr>
        <p:spPr>
          <a:xfrm>
            <a:off x="5943600" y="1097280"/>
            <a:ext cx="109728" cy="877824"/>
          </a:xfrm>
          <a:prstGeom prst="rect">
            <a:avLst/>
          </a:prstGeom>
          <a:solidFill>
            <a:srgbClr val="028090"/>
          </a:solidFill>
          <a:ln w="12700">
            <a:solidFill>
              <a:srgbClr val="028090"/>
            </a:solidFill>
            <a:prstDash val="solid"/>
          </a:ln>
        </p:spPr>
      </p:sp>
      <p:sp>
        <p:nvSpPr>
          <p:cNvPr id="36" name="Text 34"/>
          <p:cNvSpPr/>
          <p:nvPr/>
        </p:nvSpPr>
        <p:spPr>
          <a:xfrm>
            <a:off x="6108192" y="1152144"/>
            <a:ext cx="5669280" cy="237744"/>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Analytic (Closed-Form)</a:t>
            </a:r>
            <a:endParaRPr lang="en-US" sz="950" dirty="0"/>
          </a:p>
        </p:txBody>
      </p:sp>
      <p:sp>
        <p:nvSpPr>
          <p:cNvPr id="37" name="Text 35"/>
          <p:cNvSpPr/>
          <p:nvPr/>
        </p:nvSpPr>
        <p:spPr>
          <a:xfrm>
            <a:off x="6108192" y="1408176"/>
            <a:ext cx="5669280" cy="53035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Exact partial derivative. Black-Scholes Delta/Gamma/Vega, Black-76 for caps/floors.</a:t>
            </a:r>
            <a:endParaRPr lang="en-US" sz="800" dirty="0"/>
          </a:p>
        </p:txBody>
      </p:sp>
      <p:sp>
        <p:nvSpPr>
          <p:cNvPr id="38" name="Shape 36"/>
          <p:cNvSpPr/>
          <p:nvPr/>
        </p:nvSpPr>
        <p:spPr>
          <a:xfrm>
            <a:off x="5943600" y="2066544"/>
            <a:ext cx="5943600" cy="877824"/>
          </a:xfrm>
          <a:prstGeom prst="rect">
            <a:avLst/>
          </a:prstGeom>
          <a:solidFill>
            <a:srgbClr val="F5F7FA"/>
          </a:solidFill>
          <a:ln w="12700">
            <a:solidFill>
              <a:srgbClr val="1E2761"/>
            </a:solidFill>
            <a:prstDash val="solid"/>
          </a:ln>
        </p:spPr>
      </p:sp>
      <p:sp>
        <p:nvSpPr>
          <p:cNvPr id="39" name="Shape 37"/>
          <p:cNvSpPr/>
          <p:nvPr/>
        </p:nvSpPr>
        <p:spPr>
          <a:xfrm>
            <a:off x="5943600" y="2066544"/>
            <a:ext cx="109728" cy="877824"/>
          </a:xfrm>
          <a:prstGeom prst="rect">
            <a:avLst/>
          </a:prstGeom>
          <a:solidFill>
            <a:srgbClr val="1E2761"/>
          </a:solidFill>
          <a:ln w="12700">
            <a:solidFill>
              <a:srgbClr val="1E2761"/>
            </a:solidFill>
            <a:prstDash val="solid"/>
          </a:ln>
        </p:spPr>
      </p:sp>
      <p:sp>
        <p:nvSpPr>
          <p:cNvPr id="40" name="Text 38"/>
          <p:cNvSpPr/>
          <p:nvPr/>
        </p:nvSpPr>
        <p:spPr>
          <a:xfrm>
            <a:off x="6108192" y="2121408"/>
            <a:ext cx="5669280" cy="237744"/>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Numerical (Finite Diff.)</a:t>
            </a:r>
            <a:endParaRPr lang="en-US" sz="950" dirty="0"/>
          </a:p>
        </p:txBody>
      </p:sp>
      <p:sp>
        <p:nvSpPr>
          <p:cNvPr id="41" name="Text 39"/>
          <p:cNvSpPr/>
          <p:nvPr/>
        </p:nvSpPr>
        <p:spPr>
          <a:xfrm>
            <a:off x="6108192" y="2377440"/>
            <a:ext cx="5669280" cy="53035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Bump input by ε, compute ΔV/ε. Standard bump-and-reprice in production systems.</a:t>
            </a:r>
            <a:endParaRPr lang="en-US" sz="800" dirty="0"/>
          </a:p>
        </p:txBody>
      </p:sp>
      <p:sp>
        <p:nvSpPr>
          <p:cNvPr id="42" name="Shape 40"/>
          <p:cNvSpPr/>
          <p:nvPr/>
        </p:nvSpPr>
        <p:spPr>
          <a:xfrm>
            <a:off x="5943600" y="3035808"/>
            <a:ext cx="5943600" cy="877824"/>
          </a:xfrm>
          <a:prstGeom prst="rect">
            <a:avLst/>
          </a:prstGeom>
          <a:solidFill>
            <a:srgbClr val="F5F7FA"/>
          </a:solidFill>
          <a:ln w="12700">
            <a:solidFill>
              <a:srgbClr val="5B21B6"/>
            </a:solidFill>
            <a:prstDash val="solid"/>
          </a:ln>
        </p:spPr>
      </p:sp>
      <p:sp>
        <p:nvSpPr>
          <p:cNvPr id="43" name="Shape 41"/>
          <p:cNvSpPr/>
          <p:nvPr/>
        </p:nvSpPr>
        <p:spPr>
          <a:xfrm>
            <a:off x="5943600" y="3035808"/>
            <a:ext cx="109728" cy="877824"/>
          </a:xfrm>
          <a:prstGeom prst="rect">
            <a:avLst/>
          </a:prstGeom>
          <a:solidFill>
            <a:srgbClr val="5B21B6"/>
          </a:solidFill>
          <a:ln w="12700">
            <a:solidFill>
              <a:srgbClr val="5B21B6"/>
            </a:solidFill>
            <a:prstDash val="solid"/>
          </a:ln>
        </p:spPr>
      </p:sp>
      <p:sp>
        <p:nvSpPr>
          <p:cNvPr id="44" name="Text 42"/>
          <p:cNvSpPr/>
          <p:nvPr/>
        </p:nvSpPr>
        <p:spPr>
          <a:xfrm>
            <a:off x="6108192" y="3090672"/>
            <a:ext cx="5669280" cy="237744"/>
          </a:xfrm>
          <a:prstGeom prst="rect">
            <a:avLst/>
          </a:prstGeom>
          <a:noFill/>
          <a:ln/>
        </p:spPr>
        <p:txBody>
          <a:bodyPr wrap="square" rtlCol="0" anchor="ctr"/>
          <a:lstStyle/>
          <a:p>
            <a:pPr marL="0" indent="0">
              <a:buNone/>
            </a:pPr>
            <a:r>
              <a:rPr lang="en-US" sz="950" b="1" dirty="0">
                <a:solidFill>
                  <a:srgbClr val="5B21B6"/>
                </a:solidFill>
                <a:latin typeface="Calibri" pitchFamily="34" charset="0"/>
                <a:ea typeface="Calibri" pitchFamily="34" charset="-122"/>
                <a:cs typeface="Calibri" pitchFamily="34" charset="-120"/>
              </a:rPr>
              <a:t>Monte Carlo Simulation</a:t>
            </a:r>
            <a:endParaRPr lang="en-US" sz="950" dirty="0"/>
          </a:p>
        </p:txBody>
      </p:sp>
      <p:sp>
        <p:nvSpPr>
          <p:cNvPr id="45" name="Text 43"/>
          <p:cNvSpPr/>
          <p:nvPr/>
        </p:nvSpPr>
        <p:spPr>
          <a:xfrm>
            <a:off x="6108192" y="3346704"/>
            <a:ext cx="5669280" cy="53035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Greeks as path expectations. CVA delta, xVA portfolio sensitivities.</a:t>
            </a:r>
            <a:endParaRPr lang="en-US" sz="800" dirty="0"/>
          </a:p>
        </p:txBody>
      </p:sp>
      <p:sp>
        <p:nvSpPr>
          <p:cNvPr id="46" name="Shape 44"/>
          <p:cNvSpPr/>
          <p:nvPr/>
        </p:nvSpPr>
        <p:spPr>
          <a:xfrm>
            <a:off x="5943600" y="4005072"/>
            <a:ext cx="5943600" cy="877824"/>
          </a:xfrm>
          <a:prstGeom prst="rect">
            <a:avLst/>
          </a:prstGeom>
          <a:solidFill>
            <a:srgbClr val="F5F7FA"/>
          </a:solidFill>
          <a:ln w="12700">
            <a:solidFill>
              <a:srgbClr val="E8960C"/>
            </a:solidFill>
            <a:prstDash val="solid"/>
          </a:ln>
        </p:spPr>
      </p:sp>
      <p:sp>
        <p:nvSpPr>
          <p:cNvPr id="47" name="Shape 45"/>
          <p:cNvSpPr/>
          <p:nvPr/>
        </p:nvSpPr>
        <p:spPr>
          <a:xfrm>
            <a:off x="5943600" y="4005072"/>
            <a:ext cx="109728" cy="877824"/>
          </a:xfrm>
          <a:prstGeom prst="rect">
            <a:avLst/>
          </a:prstGeom>
          <a:solidFill>
            <a:srgbClr val="E8960C"/>
          </a:solidFill>
          <a:ln w="12700">
            <a:solidFill>
              <a:srgbClr val="E8960C"/>
            </a:solidFill>
            <a:prstDash val="solid"/>
          </a:ln>
        </p:spPr>
      </p:sp>
      <p:sp>
        <p:nvSpPr>
          <p:cNvPr id="48" name="Text 46"/>
          <p:cNvSpPr/>
          <p:nvPr/>
        </p:nvSpPr>
        <p:spPr>
          <a:xfrm>
            <a:off x="6108192" y="4059936"/>
            <a:ext cx="5669280" cy="237744"/>
          </a:xfrm>
          <a:prstGeom prst="rect">
            <a:avLst/>
          </a:prstGeom>
          <a:noFill/>
          <a:ln/>
        </p:spPr>
        <p:txBody>
          <a:bodyPr wrap="square" rtlCol="0" anchor="ctr"/>
          <a:lstStyle/>
          <a:p>
            <a:pPr marL="0" indent="0">
              <a:buNone/>
            </a:pPr>
            <a:r>
              <a:rPr lang="en-US" sz="950" b="1" dirty="0">
                <a:solidFill>
                  <a:srgbClr val="E8960C"/>
                </a:solidFill>
                <a:latin typeface="Calibri" pitchFamily="34" charset="0"/>
                <a:ea typeface="Calibri" pitchFamily="34" charset="-122"/>
                <a:cs typeface="Calibri" pitchFamily="34" charset="-120"/>
              </a:rPr>
              <a:t>Market-Implied</a:t>
            </a:r>
            <a:endParaRPr lang="en-US" sz="950" dirty="0"/>
          </a:p>
        </p:txBody>
      </p:sp>
      <p:sp>
        <p:nvSpPr>
          <p:cNvPr id="49" name="Text 47"/>
          <p:cNvSpPr/>
          <p:nvPr/>
        </p:nvSpPr>
        <p:spPr>
          <a:xfrm>
            <a:off x="6108192" y="4315968"/>
            <a:ext cx="5669280" cy="53035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From calibrated vol surface. Smile-adjusted delta, implied vol surface Greeks.</a:t>
            </a:r>
            <a:endParaRPr lang="en-US" sz="800" dirty="0"/>
          </a:p>
        </p:txBody>
      </p:sp>
      <p:sp>
        <p:nvSpPr>
          <p:cNvPr id="50" name="Shape 48"/>
          <p:cNvSpPr/>
          <p:nvPr/>
        </p:nvSpPr>
        <p:spPr>
          <a:xfrm>
            <a:off x="5943600" y="4974336"/>
            <a:ext cx="5943600" cy="877824"/>
          </a:xfrm>
          <a:prstGeom prst="rect">
            <a:avLst/>
          </a:prstGeom>
          <a:solidFill>
            <a:srgbClr val="F5F7FA"/>
          </a:solidFill>
          <a:ln w="12700">
            <a:solidFill>
              <a:srgbClr val="B91C1C"/>
            </a:solidFill>
            <a:prstDash val="solid"/>
          </a:ln>
        </p:spPr>
      </p:sp>
      <p:sp>
        <p:nvSpPr>
          <p:cNvPr id="51" name="Shape 49"/>
          <p:cNvSpPr/>
          <p:nvPr/>
        </p:nvSpPr>
        <p:spPr>
          <a:xfrm>
            <a:off x="5943600" y="4974336"/>
            <a:ext cx="109728" cy="877824"/>
          </a:xfrm>
          <a:prstGeom prst="rect">
            <a:avLst/>
          </a:prstGeom>
          <a:solidFill>
            <a:srgbClr val="B91C1C"/>
          </a:solidFill>
          <a:ln w="12700">
            <a:solidFill>
              <a:srgbClr val="B91C1C"/>
            </a:solidFill>
            <a:prstDash val="solid"/>
          </a:ln>
        </p:spPr>
      </p:sp>
      <p:sp>
        <p:nvSpPr>
          <p:cNvPr id="52" name="Text 50"/>
          <p:cNvSpPr/>
          <p:nvPr/>
        </p:nvSpPr>
        <p:spPr>
          <a:xfrm>
            <a:off x="6108192" y="5029200"/>
            <a:ext cx="5669280" cy="237744"/>
          </a:xfrm>
          <a:prstGeom prst="rect">
            <a:avLst/>
          </a:prstGeom>
          <a:noFill/>
          <a:ln/>
        </p:spPr>
        <p:txBody>
          <a:bodyPr wrap="square" rtlCol="0" anchor="ctr"/>
          <a:lstStyle/>
          <a:p>
            <a:pPr marL="0" indent="0">
              <a:buNone/>
            </a:pPr>
            <a:r>
              <a:rPr lang="en-US" sz="950" b="1" dirty="0">
                <a:solidFill>
                  <a:srgbClr val="B91C1C"/>
                </a:solidFill>
                <a:latin typeface="Calibri" pitchFamily="34" charset="0"/>
                <a:ea typeface="Calibri" pitchFamily="34" charset="-122"/>
                <a:cs typeface="Calibri" pitchFamily="34" charset="-120"/>
              </a:rPr>
              <a:t>System / Vendor</a:t>
            </a:r>
            <a:endParaRPr lang="en-US" sz="950" dirty="0"/>
          </a:p>
        </p:txBody>
      </p:sp>
      <p:sp>
        <p:nvSpPr>
          <p:cNvPr id="53" name="Text 51"/>
          <p:cNvSpPr/>
          <p:nvPr/>
        </p:nvSpPr>
        <p:spPr>
          <a:xfrm>
            <a:off x="6108192" y="5285232"/>
            <a:ext cx="5669280" cy="53035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Front-office pricing library (e.g. Bloomberg DLIB, Murex MX.3); risk platform (e.g. Numerix, MSCI RiskManager, Finastra Kondor).</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7FA"/>
          </a:solidFill>
          <a:ln w="12700">
            <a:solidFill>
              <a:srgbClr val="F5F7FA"/>
            </a:solidFill>
            <a:prstDash val="solid"/>
          </a:ln>
        </p:spPr>
      </p:sp>
      <p:sp>
        <p:nvSpPr>
          <p:cNvPr id="3" name="Shape 1"/>
          <p:cNvSpPr/>
          <p:nvPr/>
        </p:nvSpPr>
        <p:spPr>
          <a:xfrm>
            <a:off x="0" y="0"/>
            <a:ext cx="12161520" cy="475488"/>
          </a:xfrm>
          <a:prstGeom prst="rect">
            <a:avLst/>
          </a:prstGeom>
          <a:solidFill>
            <a:srgbClr val="1E2761"/>
          </a:solidFill>
          <a:ln w="12700">
            <a:solidFill>
              <a:srgbClr val="1E2761"/>
            </a:solidFill>
            <a:prstDash val="solid"/>
          </a:ln>
        </p:spPr>
      </p:sp>
      <p:sp>
        <p:nvSpPr>
          <p:cNvPr id="4" name="Shape 2"/>
          <p:cNvSpPr/>
          <p:nvPr/>
        </p:nvSpPr>
        <p:spPr>
          <a:xfrm>
            <a:off x="0" y="475488"/>
            <a:ext cx="12161520" cy="45720"/>
          </a:xfrm>
          <a:prstGeom prst="rect">
            <a:avLst/>
          </a:prstGeom>
          <a:solidFill>
            <a:srgbClr val="C9A84C"/>
          </a:solidFill>
          <a:ln w="12700">
            <a:solidFill>
              <a:srgbClr val="C9A84C"/>
            </a:solidFill>
            <a:prstDash val="solid"/>
          </a:ln>
        </p:spPr>
      </p:sp>
      <p:sp>
        <p:nvSpPr>
          <p:cNvPr id="5" name="Shape 3"/>
          <p:cNvSpPr/>
          <p:nvPr/>
        </p:nvSpPr>
        <p:spPr>
          <a:xfrm>
            <a:off x="0" y="6492240"/>
            <a:ext cx="12161520" cy="365760"/>
          </a:xfrm>
          <a:prstGeom prst="rect">
            <a:avLst/>
          </a:prstGeom>
          <a:solidFill>
            <a:srgbClr val="1E2761"/>
          </a:solidFill>
          <a:ln w="12700">
            <a:solidFill>
              <a:srgbClr val="1E2761"/>
            </a:solidFill>
            <a:prstDash val="solid"/>
          </a:ln>
        </p:spPr>
      </p:sp>
      <p:sp>
        <p:nvSpPr>
          <p:cNvPr id="6" name="Text 4"/>
          <p:cNvSpPr/>
          <p:nvPr/>
        </p:nvSpPr>
        <p:spPr>
          <a:xfrm>
            <a:off x="182880" y="6510528"/>
            <a:ext cx="8229600" cy="228600"/>
          </a:xfrm>
          <a:prstGeom prst="rect">
            <a:avLst/>
          </a:prstGeom>
          <a:noFill/>
          <a:ln/>
        </p:spPr>
        <p:txBody>
          <a:bodyPr wrap="square" rtlCol="0" anchor="ctr"/>
          <a:lstStyle/>
          <a:p>
            <a:pPr marL="0" indent="0">
              <a:buNone/>
            </a:pPr>
            <a:r>
              <a:rPr lang="en-US" sz="750" dirty="0">
                <a:solidFill>
                  <a:srgbClr val="CADCFC"/>
                </a:solidFill>
                <a:latin typeface="Calibri" pitchFamily="34" charset="0"/>
                <a:ea typeface="Calibri" pitchFamily="34" charset="-122"/>
                <a:cs typeface="Calibri" pitchFamily="34" charset="-120"/>
              </a:rPr>
              <a:t>Curated by Sarthaka Nanda (with Anthropic Claude)  |  Greeks &amp; Sensitivities — Module 0</a:t>
            </a:r>
            <a:endParaRPr lang="en-US" sz="750" dirty="0"/>
          </a:p>
        </p:txBody>
      </p:sp>
      <p:sp>
        <p:nvSpPr>
          <p:cNvPr id="7" name="Text 5"/>
          <p:cNvSpPr/>
          <p:nvPr/>
        </p:nvSpPr>
        <p:spPr>
          <a:xfrm>
            <a:off x="10515600" y="6510528"/>
            <a:ext cx="1463040" cy="228600"/>
          </a:xfrm>
          <a:prstGeom prst="rect">
            <a:avLst/>
          </a:prstGeom>
          <a:noFill/>
          <a:ln/>
        </p:spPr>
        <p:txBody>
          <a:bodyPr wrap="square" rtlCol="0" anchor="ctr"/>
          <a:lstStyle/>
          <a:p>
            <a:pPr marL="0" indent="0" algn="r">
              <a:buNone/>
            </a:pPr>
            <a:r>
              <a:rPr lang="en-US" sz="750" dirty="0">
                <a:solidFill>
                  <a:srgbClr val="C9A84C"/>
                </a:solidFill>
                <a:latin typeface="Calibri" pitchFamily="34" charset="0"/>
                <a:ea typeface="Calibri" pitchFamily="34" charset="-122"/>
                <a:cs typeface="Calibri" pitchFamily="34" charset="-120"/>
              </a:rPr>
              <a:t>CC BY-NC 4.0</a:t>
            </a:r>
            <a:endParaRPr lang="en-US" sz="750" dirty="0"/>
          </a:p>
        </p:txBody>
      </p:sp>
      <p:sp>
        <p:nvSpPr>
          <p:cNvPr id="8" name="Text 6"/>
          <p:cNvSpPr/>
          <p:nvPr/>
        </p:nvSpPr>
        <p:spPr>
          <a:xfrm>
            <a:off x="274320" y="64008"/>
            <a:ext cx="1161288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First-Order Greeks — Delta</a:t>
            </a:r>
            <a:endParaRPr lang="en-US" sz="1500" dirty="0"/>
          </a:p>
        </p:txBody>
      </p:sp>
      <p:sp>
        <p:nvSpPr>
          <p:cNvPr id="9" name="Shape 7"/>
          <p:cNvSpPr/>
          <p:nvPr/>
        </p:nvSpPr>
        <p:spPr>
          <a:xfrm>
            <a:off x="182880" y="621792"/>
            <a:ext cx="11795760" cy="475488"/>
          </a:xfrm>
          <a:prstGeom prst="rect">
            <a:avLst/>
          </a:prstGeom>
          <a:solidFill>
            <a:srgbClr val="1E2761"/>
          </a:solidFill>
          <a:ln w="12700">
            <a:solidFill>
              <a:srgbClr val="1E2761"/>
            </a:solidFill>
            <a:prstDash val="solid"/>
          </a:ln>
        </p:spPr>
      </p:sp>
      <p:sp>
        <p:nvSpPr>
          <p:cNvPr id="10" name="Shape 8"/>
          <p:cNvSpPr/>
          <p:nvPr/>
        </p:nvSpPr>
        <p:spPr>
          <a:xfrm>
            <a:off x="182880" y="1097280"/>
            <a:ext cx="11795760" cy="36576"/>
          </a:xfrm>
          <a:prstGeom prst="rect">
            <a:avLst/>
          </a:prstGeom>
          <a:solidFill>
            <a:srgbClr val="C9A84C"/>
          </a:solidFill>
          <a:ln w="12700">
            <a:solidFill>
              <a:srgbClr val="C9A84C"/>
            </a:solidFill>
            <a:prstDash val="solid"/>
          </a:ln>
        </p:spPr>
      </p:sp>
      <p:sp>
        <p:nvSpPr>
          <p:cNvPr id="11" name="Shape 9"/>
          <p:cNvSpPr/>
          <p:nvPr/>
        </p:nvSpPr>
        <p:spPr>
          <a:xfrm>
            <a:off x="274320" y="694944"/>
            <a:ext cx="329184" cy="329184"/>
          </a:xfrm>
          <a:prstGeom prst="ellipse">
            <a:avLst/>
          </a:prstGeom>
          <a:solidFill>
            <a:srgbClr val="028090"/>
          </a:solidFill>
          <a:ln w="12700">
            <a:solidFill>
              <a:srgbClr val="028090"/>
            </a:solidFill>
            <a:prstDash val="solid"/>
          </a:ln>
        </p:spPr>
      </p:sp>
      <p:sp>
        <p:nvSpPr>
          <p:cNvPr id="12" name="Text 10"/>
          <p:cNvSpPr/>
          <p:nvPr/>
        </p:nvSpPr>
        <p:spPr>
          <a:xfrm>
            <a:off x="274320" y="694944"/>
            <a:ext cx="329184" cy="32918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Δ</a:t>
            </a:r>
            <a:endParaRPr lang="en-US" sz="1400" dirty="0"/>
          </a:p>
        </p:txBody>
      </p:sp>
      <p:sp>
        <p:nvSpPr>
          <p:cNvPr id="13" name="Text 11"/>
          <p:cNvSpPr/>
          <p:nvPr/>
        </p:nvSpPr>
        <p:spPr>
          <a:xfrm>
            <a:off x="676656" y="694944"/>
            <a:ext cx="11210544" cy="20116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Delta</a:t>
            </a:r>
            <a:endParaRPr lang="en-US" sz="1200" dirty="0"/>
          </a:p>
        </p:txBody>
      </p:sp>
      <p:sp>
        <p:nvSpPr>
          <p:cNvPr id="14" name="Text 12"/>
          <p:cNvSpPr/>
          <p:nvPr/>
        </p:nvSpPr>
        <p:spPr>
          <a:xfrm>
            <a:off x="676656" y="896112"/>
            <a:ext cx="11210544" cy="164592"/>
          </a:xfrm>
          <a:prstGeom prst="rect">
            <a:avLst/>
          </a:prstGeom>
          <a:noFill/>
          <a:ln/>
        </p:spPr>
        <p:txBody>
          <a:bodyPr wrap="square" rtlCol="0" anchor="ctr"/>
          <a:lstStyle/>
          <a:p>
            <a:pPr marL="0" indent="0">
              <a:buNone/>
            </a:pPr>
            <a:r>
              <a:rPr lang="en-US" sz="800" dirty="0">
                <a:solidFill>
                  <a:srgbClr val="CADCFC"/>
                </a:solidFill>
                <a:latin typeface="Calibri" pitchFamily="34" charset="0"/>
                <a:ea typeface="Calibri" pitchFamily="34" charset="-122"/>
                <a:cs typeface="Calibri" pitchFamily="34" charset="-120"/>
              </a:rPr>
              <a:t>1st Order  |  Speedometer  |  Price Sensitivity</a:t>
            </a:r>
            <a:endParaRPr lang="en-US" sz="800" dirty="0"/>
          </a:p>
        </p:txBody>
      </p:sp>
      <p:sp>
        <p:nvSpPr>
          <p:cNvPr id="15" name="Shape 13"/>
          <p:cNvSpPr/>
          <p:nvPr/>
        </p:nvSpPr>
        <p:spPr>
          <a:xfrm>
            <a:off x="182880" y="1188720"/>
            <a:ext cx="5861304" cy="256032"/>
          </a:xfrm>
          <a:prstGeom prst="rect">
            <a:avLst/>
          </a:prstGeom>
          <a:solidFill>
            <a:srgbClr val="028090"/>
          </a:solidFill>
          <a:ln w="12700">
            <a:solidFill>
              <a:srgbClr val="028090"/>
            </a:solidFill>
            <a:prstDash val="solid"/>
          </a:ln>
        </p:spPr>
      </p:sp>
      <p:sp>
        <p:nvSpPr>
          <p:cNvPr id="16" name="Text 14"/>
          <p:cNvSpPr/>
          <p:nvPr/>
        </p:nvSpPr>
        <p:spPr>
          <a:xfrm>
            <a:off x="256032" y="1188720"/>
            <a:ext cx="5769864" cy="25603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CAR ANALOGY</a:t>
            </a:r>
            <a:endParaRPr lang="en-US" sz="800" dirty="0"/>
          </a:p>
        </p:txBody>
      </p:sp>
      <p:sp>
        <p:nvSpPr>
          <p:cNvPr id="17" name="Shape 15"/>
          <p:cNvSpPr/>
          <p:nvPr/>
        </p:nvSpPr>
        <p:spPr>
          <a:xfrm>
            <a:off x="182880" y="1444752"/>
            <a:ext cx="5861304" cy="1097280"/>
          </a:xfrm>
          <a:prstGeom prst="rect">
            <a:avLst/>
          </a:prstGeom>
          <a:solidFill>
            <a:srgbClr val="E6F7F4"/>
          </a:solidFill>
          <a:ln w="12700">
            <a:solidFill>
              <a:srgbClr val="028090"/>
            </a:solidFill>
            <a:prstDash val="solid"/>
          </a:ln>
        </p:spPr>
      </p:sp>
      <p:sp>
        <p:nvSpPr>
          <p:cNvPr id="18" name="Text 16"/>
          <p:cNvSpPr/>
          <p:nvPr/>
        </p:nvSpPr>
        <p:spPr>
          <a:xfrm>
            <a:off x="256032" y="1463040"/>
            <a:ext cx="5715000" cy="1042416"/>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Delta is your speedometer. If the market moves $1, how fast does your portfolio value move? Delta of 0.64 = travelling at 64% of market speed. Delta 1.0 = full pace. Delta 0 = parked.</a:t>
            </a:r>
            <a:endParaRPr lang="en-US" sz="850" dirty="0"/>
          </a:p>
        </p:txBody>
      </p:sp>
      <p:sp>
        <p:nvSpPr>
          <p:cNvPr id="19" name="Shape 17"/>
          <p:cNvSpPr/>
          <p:nvPr/>
        </p:nvSpPr>
        <p:spPr>
          <a:xfrm>
            <a:off x="6099048" y="1188720"/>
            <a:ext cx="5861304" cy="256032"/>
          </a:xfrm>
          <a:prstGeom prst="rect">
            <a:avLst/>
          </a:prstGeom>
          <a:solidFill>
            <a:srgbClr val="E8960C"/>
          </a:solidFill>
          <a:ln w="12700">
            <a:solidFill>
              <a:srgbClr val="E8960C"/>
            </a:solidFill>
            <a:prstDash val="solid"/>
          </a:ln>
        </p:spPr>
      </p:sp>
      <p:sp>
        <p:nvSpPr>
          <p:cNvPr id="20" name="Text 18"/>
          <p:cNvSpPr/>
          <p:nvPr/>
        </p:nvSpPr>
        <p:spPr>
          <a:xfrm>
            <a:off x="6172200" y="1188720"/>
            <a:ext cx="5769864" cy="25603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INSURANCE ANALOGY</a:t>
            </a:r>
            <a:endParaRPr lang="en-US" sz="800" dirty="0"/>
          </a:p>
        </p:txBody>
      </p:sp>
      <p:sp>
        <p:nvSpPr>
          <p:cNvPr id="21" name="Shape 19"/>
          <p:cNvSpPr/>
          <p:nvPr/>
        </p:nvSpPr>
        <p:spPr>
          <a:xfrm>
            <a:off x="6099048" y="1444752"/>
            <a:ext cx="5861304" cy="1097280"/>
          </a:xfrm>
          <a:prstGeom prst="rect">
            <a:avLst/>
          </a:prstGeom>
          <a:solidFill>
            <a:srgbClr val="FFF8E7"/>
          </a:solidFill>
          <a:ln w="12700">
            <a:solidFill>
              <a:srgbClr val="E8960C"/>
            </a:solidFill>
            <a:prstDash val="solid"/>
          </a:ln>
        </p:spPr>
      </p:sp>
      <p:sp>
        <p:nvSpPr>
          <p:cNvPr id="22" name="Text 20"/>
          <p:cNvSpPr/>
          <p:nvPr/>
        </p:nvSpPr>
        <p:spPr>
          <a:xfrm>
            <a:off x="6172200" y="1463040"/>
            <a:ext cx="5715000" cy="1042416"/>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If the car suffers $100 damage and your payout is $64, your policy delta is 0.64. Full cover = delta 1. Large excess clauses reduce your delta below 1.</a:t>
            </a:r>
            <a:endParaRPr lang="en-US" sz="850" dirty="0"/>
          </a:p>
        </p:txBody>
      </p:sp>
      <p:sp>
        <p:nvSpPr>
          <p:cNvPr id="23" name="Shape 21"/>
          <p:cNvSpPr/>
          <p:nvPr/>
        </p:nvSpPr>
        <p:spPr>
          <a:xfrm>
            <a:off x="182880" y="2633472"/>
            <a:ext cx="11777472" cy="256032"/>
          </a:xfrm>
          <a:prstGeom prst="rect">
            <a:avLst/>
          </a:prstGeom>
          <a:solidFill>
            <a:srgbClr val="D97706"/>
          </a:solidFill>
          <a:ln w="12700">
            <a:solidFill>
              <a:srgbClr val="E8960C"/>
            </a:solidFill>
            <a:prstDash val="solid"/>
          </a:ln>
        </p:spPr>
      </p:sp>
      <p:sp>
        <p:nvSpPr>
          <p:cNvPr id="24" name="Text 22"/>
          <p:cNvSpPr/>
          <p:nvPr/>
        </p:nvSpPr>
        <p:spPr>
          <a:xfrm>
            <a:off x="256032" y="2633472"/>
            <a:ext cx="11686032" cy="25603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WHAT-IF BOX</a:t>
            </a:r>
            <a:endParaRPr lang="en-US" sz="800" dirty="0"/>
          </a:p>
        </p:txBody>
      </p:sp>
      <p:sp>
        <p:nvSpPr>
          <p:cNvPr id="25" name="Shape 23"/>
          <p:cNvSpPr/>
          <p:nvPr/>
        </p:nvSpPr>
        <p:spPr>
          <a:xfrm>
            <a:off x="182880" y="2889504"/>
            <a:ext cx="11777472" cy="731520"/>
          </a:xfrm>
          <a:prstGeom prst="rect">
            <a:avLst/>
          </a:prstGeom>
          <a:solidFill>
            <a:srgbClr val="FFF8E7"/>
          </a:solidFill>
          <a:ln w="12700">
            <a:solidFill>
              <a:srgbClr val="E8960C"/>
            </a:solidFill>
            <a:prstDash val="solid"/>
          </a:ln>
        </p:spPr>
      </p:sp>
      <p:sp>
        <p:nvSpPr>
          <p:cNvPr id="26" name="Text 24"/>
          <p:cNvSpPr/>
          <p:nvPr/>
        </p:nvSpPr>
        <p:spPr>
          <a:xfrm>
            <a:off x="256032" y="2907792"/>
            <a:ext cx="11631168" cy="685800"/>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Stock moves $100→$105 (+$5). With Δ=0.64, option gains ≈$3.20. If stock falls to $95, option loses ≈$3.20. Delta is not constant — it rises as spot rises (captured by Gamma), which is why hedges need daily rebalancing.</a:t>
            </a:r>
            <a:endParaRPr lang="en-US" sz="850" dirty="0"/>
          </a:p>
        </p:txBody>
      </p:sp>
      <p:sp>
        <p:nvSpPr>
          <p:cNvPr id="27" name="Shape 25"/>
          <p:cNvSpPr/>
          <p:nvPr/>
        </p:nvSpPr>
        <p:spPr>
          <a:xfrm>
            <a:off x="182880" y="3511296"/>
            <a:ext cx="11777472" cy="274320"/>
          </a:xfrm>
          <a:prstGeom prst="rect">
            <a:avLst/>
          </a:prstGeom>
          <a:solidFill>
            <a:srgbClr val="F5F7FA"/>
          </a:solidFill>
          <a:ln w="12700">
            <a:solidFill>
              <a:srgbClr val="028090"/>
            </a:solidFill>
            <a:prstDash val="solid"/>
          </a:ln>
        </p:spPr>
      </p:sp>
      <p:sp>
        <p:nvSpPr>
          <p:cNvPr id="28" name="Text 26"/>
          <p:cNvSpPr/>
          <p:nvPr/>
        </p:nvSpPr>
        <p:spPr>
          <a:xfrm>
            <a:off x="274320" y="3511296"/>
            <a:ext cx="11594592" cy="274320"/>
          </a:xfrm>
          <a:prstGeom prst="rect">
            <a:avLst/>
          </a:prstGeom>
          <a:noFill/>
          <a:ln/>
        </p:spPr>
        <p:txBody>
          <a:bodyPr wrap="square" rtlCol="0" anchor="ctr"/>
          <a:lstStyle/>
          <a:p>
            <a:pPr marL="0" indent="0">
              <a:buNone/>
            </a:pPr>
            <a:r>
              <a:rPr lang="en-US" sz="900" i="1" dirty="0">
                <a:solidFill>
                  <a:srgbClr val="1E2761"/>
                </a:solidFill>
                <a:latin typeface="Calibri" pitchFamily="34" charset="0"/>
                <a:ea typeface="Calibri" pitchFamily="34" charset="-122"/>
                <a:cs typeface="Calibri" pitchFamily="34" charset="-120"/>
              </a:rPr>
              <a:t>Δ_call = e^(−qT) · N(d₁)    where d₁ = [ln(S/K)+(r−q+σ²/2)T] / σ√T</a:t>
            </a:r>
            <a:endParaRPr lang="en-US" sz="900" dirty="0"/>
          </a:p>
        </p:txBody>
      </p:sp>
      <p:sp>
        <p:nvSpPr>
          <p:cNvPr id="29" name="Shape 27"/>
          <p:cNvSpPr/>
          <p:nvPr/>
        </p:nvSpPr>
        <p:spPr>
          <a:xfrm>
            <a:off x="182880" y="3877056"/>
            <a:ext cx="2194560" cy="329184"/>
          </a:xfrm>
          <a:prstGeom prst="rect">
            <a:avLst/>
          </a:prstGeom>
          <a:solidFill>
            <a:srgbClr val="F5F7FA"/>
          </a:solidFill>
          <a:ln w="12700">
            <a:solidFill>
              <a:srgbClr val="DEE3ED"/>
            </a:solidFill>
            <a:prstDash val="solid"/>
          </a:ln>
        </p:spPr>
      </p:sp>
      <p:sp>
        <p:nvSpPr>
          <p:cNvPr id="30" name="Text 28"/>
          <p:cNvSpPr/>
          <p:nvPr/>
        </p:nvSpPr>
        <p:spPr>
          <a:xfrm>
            <a:off x="237744" y="3877056"/>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Formal Def.</a:t>
            </a:r>
            <a:endParaRPr lang="en-US" sz="800" dirty="0"/>
          </a:p>
        </p:txBody>
      </p:sp>
      <p:sp>
        <p:nvSpPr>
          <p:cNvPr id="31" name="Shape 29"/>
          <p:cNvSpPr/>
          <p:nvPr/>
        </p:nvSpPr>
        <p:spPr>
          <a:xfrm>
            <a:off x="2377440" y="3877056"/>
            <a:ext cx="9582912" cy="329184"/>
          </a:xfrm>
          <a:prstGeom prst="rect">
            <a:avLst/>
          </a:prstGeom>
          <a:solidFill>
            <a:srgbClr val="FFFFFF"/>
          </a:solidFill>
          <a:ln w="12700">
            <a:solidFill>
              <a:srgbClr val="DEE3ED"/>
            </a:solidFill>
            <a:prstDash val="solid"/>
          </a:ln>
        </p:spPr>
      </p:sp>
      <p:sp>
        <p:nvSpPr>
          <p:cNvPr id="32" name="Text 30"/>
          <p:cNvSpPr/>
          <p:nvPr/>
        </p:nvSpPr>
        <p:spPr>
          <a:xfrm>
            <a:off x="2432304" y="3877056"/>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Δ = ∂V/∂S — first partial derivative with respect to underlying price S</a:t>
            </a:r>
            <a:endParaRPr lang="en-US" sz="800" dirty="0"/>
          </a:p>
        </p:txBody>
      </p:sp>
      <p:sp>
        <p:nvSpPr>
          <p:cNvPr id="33" name="Shape 31"/>
          <p:cNvSpPr/>
          <p:nvPr/>
        </p:nvSpPr>
        <p:spPr>
          <a:xfrm>
            <a:off x="182880" y="4224528"/>
            <a:ext cx="2194560" cy="329184"/>
          </a:xfrm>
          <a:prstGeom prst="rect">
            <a:avLst/>
          </a:prstGeom>
          <a:solidFill>
            <a:srgbClr val="F5F7FA"/>
          </a:solidFill>
          <a:ln w="12700">
            <a:solidFill>
              <a:srgbClr val="DEE3ED"/>
            </a:solidFill>
            <a:prstDash val="solid"/>
          </a:ln>
        </p:spPr>
      </p:sp>
      <p:sp>
        <p:nvSpPr>
          <p:cNvPr id="34" name="Text 32"/>
          <p:cNvSpPr/>
          <p:nvPr/>
        </p:nvSpPr>
        <p:spPr>
          <a:xfrm>
            <a:off x="237744" y="4224528"/>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Range</a:t>
            </a:r>
            <a:endParaRPr lang="en-US" sz="800" dirty="0"/>
          </a:p>
        </p:txBody>
      </p:sp>
      <p:sp>
        <p:nvSpPr>
          <p:cNvPr id="35" name="Shape 33"/>
          <p:cNvSpPr/>
          <p:nvPr/>
        </p:nvSpPr>
        <p:spPr>
          <a:xfrm>
            <a:off x="2377440" y="4224528"/>
            <a:ext cx="9582912" cy="329184"/>
          </a:xfrm>
          <a:prstGeom prst="rect">
            <a:avLst/>
          </a:prstGeom>
          <a:solidFill>
            <a:srgbClr val="F5F7FA"/>
          </a:solidFill>
          <a:ln w="12700">
            <a:solidFill>
              <a:srgbClr val="DEE3ED"/>
            </a:solidFill>
            <a:prstDash val="solid"/>
          </a:ln>
        </p:spPr>
      </p:sp>
      <p:sp>
        <p:nvSpPr>
          <p:cNvPr id="36" name="Text 34"/>
          <p:cNvSpPr/>
          <p:nvPr/>
        </p:nvSpPr>
        <p:spPr>
          <a:xfrm>
            <a:off x="2432304" y="4224528"/>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Call: 0→+1  |  Put: −1→0  |  ATM ≈ ±0.50</a:t>
            </a:r>
            <a:endParaRPr lang="en-US" sz="800" dirty="0"/>
          </a:p>
        </p:txBody>
      </p:sp>
      <p:sp>
        <p:nvSpPr>
          <p:cNvPr id="37" name="Shape 35"/>
          <p:cNvSpPr/>
          <p:nvPr/>
        </p:nvSpPr>
        <p:spPr>
          <a:xfrm>
            <a:off x="182880" y="4572000"/>
            <a:ext cx="2194560" cy="329184"/>
          </a:xfrm>
          <a:prstGeom prst="rect">
            <a:avLst/>
          </a:prstGeom>
          <a:solidFill>
            <a:srgbClr val="F5F7FA"/>
          </a:solidFill>
          <a:ln w="12700">
            <a:solidFill>
              <a:srgbClr val="DEE3ED"/>
            </a:solidFill>
            <a:prstDash val="solid"/>
          </a:ln>
        </p:spPr>
      </p:sp>
      <p:sp>
        <p:nvSpPr>
          <p:cNvPr id="38" name="Text 36"/>
          <p:cNvSpPr/>
          <p:nvPr/>
        </p:nvSpPr>
        <p:spPr>
          <a:xfrm>
            <a:off x="237744" y="4572000"/>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Hedge</a:t>
            </a:r>
            <a:endParaRPr lang="en-US" sz="800" dirty="0"/>
          </a:p>
        </p:txBody>
      </p:sp>
      <p:sp>
        <p:nvSpPr>
          <p:cNvPr id="39" name="Shape 37"/>
          <p:cNvSpPr/>
          <p:nvPr/>
        </p:nvSpPr>
        <p:spPr>
          <a:xfrm>
            <a:off x="2377440" y="4572000"/>
            <a:ext cx="9582912" cy="329184"/>
          </a:xfrm>
          <a:prstGeom prst="rect">
            <a:avLst/>
          </a:prstGeom>
          <a:solidFill>
            <a:srgbClr val="FFFFFF"/>
          </a:solidFill>
          <a:ln w="12700">
            <a:solidFill>
              <a:srgbClr val="DEE3ED"/>
            </a:solidFill>
            <a:prstDash val="solid"/>
          </a:ln>
        </p:spPr>
      </p:sp>
      <p:sp>
        <p:nvSpPr>
          <p:cNvPr id="40" name="Text 38"/>
          <p:cNvSpPr/>
          <p:nvPr/>
        </p:nvSpPr>
        <p:spPr>
          <a:xfrm>
            <a:off x="2432304" y="4572000"/>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−Δ units of underlying per option. Dynamic rebalancing required.</a:t>
            </a:r>
            <a:endParaRPr lang="en-US" sz="800" dirty="0"/>
          </a:p>
        </p:txBody>
      </p:sp>
      <p:sp>
        <p:nvSpPr>
          <p:cNvPr id="41" name="Shape 39"/>
          <p:cNvSpPr/>
          <p:nvPr/>
        </p:nvSpPr>
        <p:spPr>
          <a:xfrm>
            <a:off x="182880" y="4919472"/>
            <a:ext cx="2194560" cy="329184"/>
          </a:xfrm>
          <a:prstGeom prst="rect">
            <a:avLst/>
          </a:prstGeom>
          <a:solidFill>
            <a:srgbClr val="F5F7FA"/>
          </a:solidFill>
          <a:ln w="12700">
            <a:solidFill>
              <a:srgbClr val="DEE3ED"/>
            </a:solidFill>
            <a:prstDash val="solid"/>
          </a:ln>
        </p:spPr>
      </p:sp>
      <p:sp>
        <p:nvSpPr>
          <p:cNvPr id="42" name="Text 40"/>
          <p:cNvSpPr/>
          <p:nvPr/>
        </p:nvSpPr>
        <p:spPr>
          <a:xfrm>
            <a:off x="237744" y="4919472"/>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Source</a:t>
            </a:r>
            <a:endParaRPr lang="en-US" sz="800" dirty="0"/>
          </a:p>
        </p:txBody>
      </p:sp>
      <p:sp>
        <p:nvSpPr>
          <p:cNvPr id="43" name="Shape 41"/>
          <p:cNvSpPr/>
          <p:nvPr/>
        </p:nvSpPr>
        <p:spPr>
          <a:xfrm>
            <a:off x="2377440" y="4919472"/>
            <a:ext cx="9582912" cy="329184"/>
          </a:xfrm>
          <a:prstGeom prst="rect">
            <a:avLst/>
          </a:prstGeom>
          <a:solidFill>
            <a:srgbClr val="F5F7FA"/>
          </a:solidFill>
          <a:ln w="12700">
            <a:solidFill>
              <a:srgbClr val="DEE3ED"/>
            </a:solidFill>
            <a:prstDash val="solid"/>
          </a:ln>
        </p:spPr>
      </p:sp>
      <p:sp>
        <p:nvSpPr>
          <p:cNvPr id="44" name="Text 42"/>
          <p:cNvSpPr/>
          <p:nvPr/>
        </p:nvSpPr>
        <p:spPr>
          <a:xfrm>
            <a:off x="2432304" y="4919472"/>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Analytic (N(d₁)); smile-adjusted from vol surface; bump-and-reprice in production</a:t>
            </a:r>
            <a:endParaRPr lang="en-US" sz="800" dirty="0"/>
          </a:p>
        </p:txBody>
      </p:sp>
      <p:sp>
        <p:nvSpPr>
          <p:cNvPr id="45" name="Shape 43"/>
          <p:cNvSpPr/>
          <p:nvPr/>
        </p:nvSpPr>
        <p:spPr>
          <a:xfrm>
            <a:off x="182880" y="5266944"/>
            <a:ext cx="2194560" cy="329184"/>
          </a:xfrm>
          <a:prstGeom prst="rect">
            <a:avLst/>
          </a:prstGeom>
          <a:solidFill>
            <a:srgbClr val="F5F7FA"/>
          </a:solidFill>
          <a:ln w="12700">
            <a:solidFill>
              <a:srgbClr val="DEE3ED"/>
            </a:solidFill>
            <a:prstDash val="solid"/>
          </a:ln>
        </p:spPr>
      </p:sp>
      <p:sp>
        <p:nvSpPr>
          <p:cNvPr id="46" name="Text 44"/>
          <p:cNvSpPr/>
          <p:nvPr/>
        </p:nvSpPr>
        <p:spPr>
          <a:xfrm>
            <a:off x="237744" y="5266944"/>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Eq-1</a:t>
            </a:r>
            <a:endParaRPr lang="en-US" sz="800" dirty="0"/>
          </a:p>
        </p:txBody>
      </p:sp>
      <p:sp>
        <p:nvSpPr>
          <p:cNvPr id="47" name="Shape 45"/>
          <p:cNvSpPr/>
          <p:nvPr/>
        </p:nvSpPr>
        <p:spPr>
          <a:xfrm>
            <a:off x="2377440" y="5266944"/>
            <a:ext cx="9582912" cy="329184"/>
          </a:xfrm>
          <a:prstGeom prst="rect">
            <a:avLst/>
          </a:prstGeom>
          <a:solidFill>
            <a:srgbClr val="FFFFFF"/>
          </a:solidFill>
          <a:ln w="12700">
            <a:solidFill>
              <a:srgbClr val="DEE3ED"/>
            </a:solidFill>
            <a:prstDash val="solid"/>
          </a:ln>
        </p:spPr>
      </p:sp>
      <p:sp>
        <p:nvSpPr>
          <p:cNvPr id="48" name="Text 46"/>
          <p:cNvSpPr/>
          <p:nvPr/>
        </p:nvSpPr>
        <p:spPr>
          <a:xfrm>
            <a:off x="2432304" y="5266944"/>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Δ = 0.6368 (ATM, S=K=100)</a:t>
            </a:r>
            <a:endParaRPr lang="en-US" sz="800" dirty="0"/>
          </a:p>
        </p:txBody>
      </p:sp>
      <p:sp>
        <p:nvSpPr>
          <p:cNvPr id="49" name="Shape 47"/>
          <p:cNvSpPr/>
          <p:nvPr/>
        </p:nvSpPr>
        <p:spPr>
          <a:xfrm>
            <a:off x="182880" y="5614416"/>
            <a:ext cx="2194560" cy="329184"/>
          </a:xfrm>
          <a:prstGeom prst="rect">
            <a:avLst/>
          </a:prstGeom>
          <a:solidFill>
            <a:srgbClr val="F5F7FA"/>
          </a:solidFill>
          <a:ln w="12700">
            <a:solidFill>
              <a:srgbClr val="DEE3ED"/>
            </a:solidFill>
            <a:prstDash val="solid"/>
          </a:ln>
        </p:spPr>
      </p:sp>
      <p:sp>
        <p:nvSpPr>
          <p:cNvPr id="50" name="Text 48"/>
          <p:cNvSpPr/>
          <p:nvPr/>
        </p:nvSpPr>
        <p:spPr>
          <a:xfrm>
            <a:off x="237744" y="5614416"/>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IR-1</a:t>
            </a:r>
            <a:endParaRPr lang="en-US" sz="800" dirty="0"/>
          </a:p>
        </p:txBody>
      </p:sp>
      <p:sp>
        <p:nvSpPr>
          <p:cNvPr id="51" name="Shape 49"/>
          <p:cNvSpPr/>
          <p:nvPr/>
        </p:nvSpPr>
        <p:spPr>
          <a:xfrm>
            <a:off x="2377440" y="5614416"/>
            <a:ext cx="9582912" cy="329184"/>
          </a:xfrm>
          <a:prstGeom prst="rect">
            <a:avLst/>
          </a:prstGeom>
          <a:solidFill>
            <a:srgbClr val="F5F7FA"/>
          </a:solidFill>
          <a:ln w="12700">
            <a:solidFill>
              <a:srgbClr val="DEE3ED"/>
            </a:solidFill>
            <a:prstDash val="solid"/>
          </a:ln>
        </p:spPr>
      </p:sp>
      <p:sp>
        <p:nvSpPr>
          <p:cNvPr id="52" name="Text 50"/>
          <p:cNvSpPr/>
          <p:nvPr/>
        </p:nvSpPr>
        <p:spPr>
          <a:xfrm>
            <a:off x="2432304" y="5614416"/>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DV01 ≈ €25.3 per bp of forward rate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7FA"/>
          </a:solidFill>
          <a:ln w="12700">
            <a:solidFill>
              <a:srgbClr val="F5F7FA"/>
            </a:solidFill>
            <a:prstDash val="solid"/>
          </a:ln>
        </p:spPr>
      </p:sp>
      <p:sp>
        <p:nvSpPr>
          <p:cNvPr id="3" name="Shape 1"/>
          <p:cNvSpPr/>
          <p:nvPr/>
        </p:nvSpPr>
        <p:spPr>
          <a:xfrm>
            <a:off x="0" y="0"/>
            <a:ext cx="12161520" cy="475488"/>
          </a:xfrm>
          <a:prstGeom prst="rect">
            <a:avLst/>
          </a:prstGeom>
          <a:solidFill>
            <a:srgbClr val="1E2761"/>
          </a:solidFill>
          <a:ln w="12700">
            <a:solidFill>
              <a:srgbClr val="1E2761"/>
            </a:solidFill>
            <a:prstDash val="solid"/>
          </a:ln>
        </p:spPr>
      </p:sp>
      <p:sp>
        <p:nvSpPr>
          <p:cNvPr id="4" name="Shape 2"/>
          <p:cNvSpPr/>
          <p:nvPr/>
        </p:nvSpPr>
        <p:spPr>
          <a:xfrm>
            <a:off x="0" y="475488"/>
            <a:ext cx="12161520" cy="45720"/>
          </a:xfrm>
          <a:prstGeom prst="rect">
            <a:avLst/>
          </a:prstGeom>
          <a:solidFill>
            <a:srgbClr val="C9A84C"/>
          </a:solidFill>
          <a:ln w="12700">
            <a:solidFill>
              <a:srgbClr val="C9A84C"/>
            </a:solidFill>
            <a:prstDash val="solid"/>
          </a:ln>
        </p:spPr>
      </p:sp>
      <p:sp>
        <p:nvSpPr>
          <p:cNvPr id="5" name="Shape 3"/>
          <p:cNvSpPr/>
          <p:nvPr/>
        </p:nvSpPr>
        <p:spPr>
          <a:xfrm>
            <a:off x="0" y="6492240"/>
            <a:ext cx="12161520" cy="365760"/>
          </a:xfrm>
          <a:prstGeom prst="rect">
            <a:avLst/>
          </a:prstGeom>
          <a:solidFill>
            <a:srgbClr val="1E2761"/>
          </a:solidFill>
          <a:ln w="12700">
            <a:solidFill>
              <a:srgbClr val="1E2761"/>
            </a:solidFill>
            <a:prstDash val="solid"/>
          </a:ln>
        </p:spPr>
      </p:sp>
      <p:sp>
        <p:nvSpPr>
          <p:cNvPr id="6" name="Text 4"/>
          <p:cNvSpPr/>
          <p:nvPr/>
        </p:nvSpPr>
        <p:spPr>
          <a:xfrm>
            <a:off x="182880" y="6510528"/>
            <a:ext cx="8229600" cy="228600"/>
          </a:xfrm>
          <a:prstGeom prst="rect">
            <a:avLst/>
          </a:prstGeom>
          <a:noFill/>
          <a:ln/>
        </p:spPr>
        <p:txBody>
          <a:bodyPr wrap="square" rtlCol="0" anchor="ctr"/>
          <a:lstStyle/>
          <a:p>
            <a:pPr marL="0" indent="0">
              <a:buNone/>
            </a:pPr>
            <a:r>
              <a:rPr lang="en-US" sz="750" dirty="0">
                <a:solidFill>
                  <a:srgbClr val="CADCFC"/>
                </a:solidFill>
                <a:latin typeface="Calibri" pitchFamily="34" charset="0"/>
                <a:ea typeface="Calibri" pitchFamily="34" charset="-122"/>
                <a:cs typeface="Calibri" pitchFamily="34" charset="-120"/>
              </a:rPr>
              <a:t>Curated by Sarthaka Nanda (with Anthropic Claude)  |  Greeks &amp; Sensitivities — Module 0</a:t>
            </a:r>
            <a:endParaRPr lang="en-US" sz="750" dirty="0"/>
          </a:p>
        </p:txBody>
      </p:sp>
      <p:sp>
        <p:nvSpPr>
          <p:cNvPr id="7" name="Text 5"/>
          <p:cNvSpPr/>
          <p:nvPr/>
        </p:nvSpPr>
        <p:spPr>
          <a:xfrm>
            <a:off x="10515600" y="6510528"/>
            <a:ext cx="1463040" cy="228600"/>
          </a:xfrm>
          <a:prstGeom prst="rect">
            <a:avLst/>
          </a:prstGeom>
          <a:noFill/>
          <a:ln/>
        </p:spPr>
        <p:txBody>
          <a:bodyPr wrap="square" rtlCol="0" anchor="ctr"/>
          <a:lstStyle/>
          <a:p>
            <a:pPr marL="0" indent="0" algn="r">
              <a:buNone/>
            </a:pPr>
            <a:r>
              <a:rPr lang="en-US" sz="750" dirty="0">
                <a:solidFill>
                  <a:srgbClr val="C9A84C"/>
                </a:solidFill>
                <a:latin typeface="Calibri" pitchFamily="34" charset="0"/>
                <a:ea typeface="Calibri" pitchFamily="34" charset="-122"/>
                <a:cs typeface="Calibri" pitchFamily="34" charset="-120"/>
              </a:rPr>
              <a:t>CC BY-NC 4.0</a:t>
            </a:r>
            <a:endParaRPr lang="en-US" sz="750" dirty="0"/>
          </a:p>
        </p:txBody>
      </p:sp>
      <p:sp>
        <p:nvSpPr>
          <p:cNvPr id="8" name="Text 6"/>
          <p:cNvSpPr/>
          <p:nvPr/>
        </p:nvSpPr>
        <p:spPr>
          <a:xfrm>
            <a:off x="274320" y="64008"/>
            <a:ext cx="1161288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First-Order Greeks — Vega</a:t>
            </a:r>
            <a:endParaRPr lang="en-US" sz="1500" dirty="0"/>
          </a:p>
        </p:txBody>
      </p:sp>
      <p:sp>
        <p:nvSpPr>
          <p:cNvPr id="9" name="Shape 7"/>
          <p:cNvSpPr/>
          <p:nvPr/>
        </p:nvSpPr>
        <p:spPr>
          <a:xfrm>
            <a:off x="182880" y="621792"/>
            <a:ext cx="11795760" cy="475488"/>
          </a:xfrm>
          <a:prstGeom prst="rect">
            <a:avLst/>
          </a:prstGeom>
          <a:solidFill>
            <a:srgbClr val="1E2761"/>
          </a:solidFill>
          <a:ln w="12700">
            <a:solidFill>
              <a:srgbClr val="1E2761"/>
            </a:solidFill>
            <a:prstDash val="solid"/>
          </a:ln>
        </p:spPr>
      </p:sp>
      <p:sp>
        <p:nvSpPr>
          <p:cNvPr id="10" name="Shape 8"/>
          <p:cNvSpPr/>
          <p:nvPr/>
        </p:nvSpPr>
        <p:spPr>
          <a:xfrm>
            <a:off x="182880" y="1097280"/>
            <a:ext cx="11795760" cy="36576"/>
          </a:xfrm>
          <a:prstGeom prst="rect">
            <a:avLst/>
          </a:prstGeom>
          <a:solidFill>
            <a:srgbClr val="C9A84C"/>
          </a:solidFill>
          <a:ln w="12700">
            <a:solidFill>
              <a:srgbClr val="C9A84C"/>
            </a:solidFill>
            <a:prstDash val="solid"/>
          </a:ln>
        </p:spPr>
      </p:sp>
      <p:sp>
        <p:nvSpPr>
          <p:cNvPr id="11" name="Shape 9"/>
          <p:cNvSpPr/>
          <p:nvPr/>
        </p:nvSpPr>
        <p:spPr>
          <a:xfrm>
            <a:off x="274320" y="694944"/>
            <a:ext cx="329184" cy="329184"/>
          </a:xfrm>
          <a:prstGeom prst="ellipse">
            <a:avLst/>
          </a:prstGeom>
          <a:solidFill>
            <a:srgbClr val="5B21B6"/>
          </a:solidFill>
          <a:ln w="12700">
            <a:solidFill>
              <a:srgbClr val="5B21B6"/>
            </a:solidFill>
            <a:prstDash val="solid"/>
          </a:ln>
        </p:spPr>
      </p:sp>
      <p:sp>
        <p:nvSpPr>
          <p:cNvPr id="12" name="Text 10"/>
          <p:cNvSpPr/>
          <p:nvPr/>
        </p:nvSpPr>
        <p:spPr>
          <a:xfrm>
            <a:off x="274320" y="694944"/>
            <a:ext cx="329184" cy="32918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ν</a:t>
            </a:r>
            <a:endParaRPr lang="en-US" sz="1400" dirty="0"/>
          </a:p>
        </p:txBody>
      </p:sp>
      <p:sp>
        <p:nvSpPr>
          <p:cNvPr id="13" name="Text 11"/>
          <p:cNvSpPr/>
          <p:nvPr/>
        </p:nvSpPr>
        <p:spPr>
          <a:xfrm>
            <a:off x="676656" y="694944"/>
            <a:ext cx="11210544" cy="20116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Vega</a:t>
            </a:r>
            <a:endParaRPr lang="en-US" sz="1200" dirty="0"/>
          </a:p>
        </p:txBody>
      </p:sp>
      <p:sp>
        <p:nvSpPr>
          <p:cNvPr id="14" name="Text 12"/>
          <p:cNvSpPr/>
          <p:nvPr/>
        </p:nvSpPr>
        <p:spPr>
          <a:xfrm>
            <a:off x="676656" y="896112"/>
            <a:ext cx="11210544" cy="164592"/>
          </a:xfrm>
          <a:prstGeom prst="rect">
            <a:avLst/>
          </a:prstGeom>
          <a:noFill/>
          <a:ln/>
        </p:spPr>
        <p:txBody>
          <a:bodyPr wrap="square" rtlCol="0" anchor="ctr"/>
          <a:lstStyle/>
          <a:p>
            <a:pPr marL="0" indent="0">
              <a:buNone/>
            </a:pPr>
            <a:r>
              <a:rPr lang="en-US" sz="800" dirty="0">
                <a:solidFill>
                  <a:srgbClr val="CADCFC"/>
                </a:solidFill>
                <a:latin typeface="Calibri" pitchFamily="34" charset="0"/>
                <a:ea typeface="Calibri" pitchFamily="34" charset="-122"/>
                <a:cs typeface="Calibri" pitchFamily="34" charset="-120"/>
              </a:rPr>
              <a:t>1st Order  |  Weather / Fear Factor  |  Vol Sensitivity</a:t>
            </a:r>
            <a:endParaRPr lang="en-US" sz="800" dirty="0"/>
          </a:p>
        </p:txBody>
      </p:sp>
      <p:sp>
        <p:nvSpPr>
          <p:cNvPr id="15" name="Shape 13"/>
          <p:cNvSpPr/>
          <p:nvPr/>
        </p:nvSpPr>
        <p:spPr>
          <a:xfrm>
            <a:off x="182880" y="1188720"/>
            <a:ext cx="5861304" cy="256032"/>
          </a:xfrm>
          <a:prstGeom prst="rect">
            <a:avLst/>
          </a:prstGeom>
          <a:solidFill>
            <a:srgbClr val="5B21B6"/>
          </a:solidFill>
          <a:ln w="12700">
            <a:solidFill>
              <a:srgbClr val="5B21B6"/>
            </a:solidFill>
            <a:prstDash val="solid"/>
          </a:ln>
        </p:spPr>
      </p:sp>
      <p:sp>
        <p:nvSpPr>
          <p:cNvPr id="16" name="Text 14"/>
          <p:cNvSpPr/>
          <p:nvPr/>
        </p:nvSpPr>
        <p:spPr>
          <a:xfrm>
            <a:off x="256032" y="1188720"/>
            <a:ext cx="5769864" cy="25603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CAR ANALOGY</a:t>
            </a:r>
            <a:endParaRPr lang="en-US" sz="800" dirty="0"/>
          </a:p>
        </p:txBody>
      </p:sp>
      <p:sp>
        <p:nvSpPr>
          <p:cNvPr id="17" name="Shape 15"/>
          <p:cNvSpPr/>
          <p:nvPr/>
        </p:nvSpPr>
        <p:spPr>
          <a:xfrm>
            <a:off x="182880" y="1444752"/>
            <a:ext cx="5861304" cy="1097280"/>
          </a:xfrm>
          <a:prstGeom prst="rect">
            <a:avLst/>
          </a:prstGeom>
          <a:solidFill>
            <a:srgbClr val="E6F7F4"/>
          </a:solidFill>
          <a:ln w="12700">
            <a:solidFill>
              <a:srgbClr val="5B21B6"/>
            </a:solidFill>
            <a:prstDash val="solid"/>
          </a:ln>
        </p:spPr>
      </p:sp>
      <p:sp>
        <p:nvSpPr>
          <p:cNvPr id="18" name="Text 16"/>
          <p:cNvSpPr/>
          <p:nvPr/>
        </p:nvSpPr>
        <p:spPr>
          <a:xfrm>
            <a:off x="256032" y="1463040"/>
            <a:ext cx="5715000" cy="1042416"/>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Vega is your weather forecast sensitivity — the fear factor. When storm warnings go out (vol spikes), your insurance premium rises immediately. Long options are always long the storm. You want bad weather.</a:t>
            </a:r>
            <a:endParaRPr lang="en-US" sz="850" dirty="0"/>
          </a:p>
        </p:txBody>
      </p:sp>
      <p:sp>
        <p:nvSpPr>
          <p:cNvPr id="19" name="Shape 17"/>
          <p:cNvSpPr/>
          <p:nvPr/>
        </p:nvSpPr>
        <p:spPr>
          <a:xfrm>
            <a:off x="6099048" y="1188720"/>
            <a:ext cx="5861304" cy="256032"/>
          </a:xfrm>
          <a:prstGeom prst="rect">
            <a:avLst/>
          </a:prstGeom>
          <a:solidFill>
            <a:srgbClr val="E8960C"/>
          </a:solidFill>
          <a:ln w="12700">
            <a:solidFill>
              <a:srgbClr val="E8960C"/>
            </a:solidFill>
            <a:prstDash val="solid"/>
          </a:ln>
        </p:spPr>
      </p:sp>
      <p:sp>
        <p:nvSpPr>
          <p:cNvPr id="20" name="Text 18"/>
          <p:cNvSpPr/>
          <p:nvPr/>
        </p:nvSpPr>
        <p:spPr>
          <a:xfrm>
            <a:off x="6172200" y="1188720"/>
            <a:ext cx="5769864" cy="25603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INSURANCE ANALOGY</a:t>
            </a:r>
            <a:endParaRPr lang="en-US" sz="800" dirty="0"/>
          </a:p>
        </p:txBody>
      </p:sp>
      <p:sp>
        <p:nvSpPr>
          <p:cNvPr id="21" name="Shape 19"/>
          <p:cNvSpPr/>
          <p:nvPr/>
        </p:nvSpPr>
        <p:spPr>
          <a:xfrm>
            <a:off x="6099048" y="1444752"/>
            <a:ext cx="5861304" cy="1097280"/>
          </a:xfrm>
          <a:prstGeom prst="rect">
            <a:avLst/>
          </a:prstGeom>
          <a:solidFill>
            <a:srgbClr val="FFF8E7"/>
          </a:solidFill>
          <a:ln w="12700">
            <a:solidFill>
              <a:srgbClr val="E8960C"/>
            </a:solidFill>
            <a:prstDash val="solid"/>
          </a:ln>
        </p:spPr>
      </p:sp>
      <p:sp>
        <p:nvSpPr>
          <p:cNvPr id="22" name="Text 20"/>
          <p:cNvSpPr/>
          <p:nvPr/>
        </p:nvSpPr>
        <p:spPr>
          <a:xfrm>
            <a:off x="6172200" y="1463040"/>
            <a:ext cx="5715000" cy="1042416"/>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If flood risk doubles, home insurance costs more today before any damage. That premium jump per unit of risk increase is your vega. More fear = more expensive protection, even if nothing has happened yet.</a:t>
            </a:r>
            <a:endParaRPr lang="en-US" sz="850" dirty="0"/>
          </a:p>
        </p:txBody>
      </p:sp>
      <p:sp>
        <p:nvSpPr>
          <p:cNvPr id="23" name="Shape 21"/>
          <p:cNvSpPr/>
          <p:nvPr/>
        </p:nvSpPr>
        <p:spPr>
          <a:xfrm>
            <a:off x="182880" y="2633472"/>
            <a:ext cx="11777472" cy="256032"/>
          </a:xfrm>
          <a:prstGeom prst="rect">
            <a:avLst/>
          </a:prstGeom>
          <a:solidFill>
            <a:srgbClr val="D97706"/>
          </a:solidFill>
          <a:ln w="12700">
            <a:solidFill>
              <a:srgbClr val="E8960C"/>
            </a:solidFill>
            <a:prstDash val="solid"/>
          </a:ln>
        </p:spPr>
      </p:sp>
      <p:sp>
        <p:nvSpPr>
          <p:cNvPr id="24" name="Text 22"/>
          <p:cNvSpPr/>
          <p:nvPr/>
        </p:nvSpPr>
        <p:spPr>
          <a:xfrm>
            <a:off x="256032" y="2633472"/>
            <a:ext cx="11686032" cy="25603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WHAT-IF BOX</a:t>
            </a:r>
            <a:endParaRPr lang="en-US" sz="800" dirty="0"/>
          </a:p>
        </p:txBody>
      </p:sp>
      <p:sp>
        <p:nvSpPr>
          <p:cNvPr id="25" name="Shape 23"/>
          <p:cNvSpPr/>
          <p:nvPr/>
        </p:nvSpPr>
        <p:spPr>
          <a:xfrm>
            <a:off x="182880" y="2889504"/>
            <a:ext cx="11777472" cy="731520"/>
          </a:xfrm>
          <a:prstGeom prst="rect">
            <a:avLst/>
          </a:prstGeom>
          <a:solidFill>
            <a:srgbClr val="FFF8E7"/>
          </a:solidFill>
          <a:ln w="12700">
            <a:solidFill>
              <a:srgbClr val="E8960C"/>
            </a:solidFill>
            <a:prstDash val="solid"/>
          </a:ln>
        </p:spPr>
      </p:sp>
      <p:sp>
        <p:nvSpPr>
          <p:cNvPr id="26" name="Text 24"/>
          <p:cNvSpPr/>
          <p:nvPr/>
        </p:nvSpPr>
        <p:spPr>
          <a:xfrm>
            <a:off x="256032" y="2907792"/>
            <a:ext cx="11631168" cy="685800"/>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Vol rises 20%→21% (+1%). With ν=0.3793, option gains ≈$0.003793. Portfolio of 10,000 options: vol spike P&amp;L ≈ $37,930. This is why earnings surprises move options portfolios even when the stock barely moves.</a:t>
            </a:r>
            <a:endParaRPr lang="en-US" sz="850" dirty="0"/>
          </a:p>
        </p:txBody>
      </p:sp>
      <p:sp>
        <p:nvSpPr>
          <p:cNvPr id="27" name="Shape 25"/>
          <p:cNvSpPr/>
          <p:nvPr/>
        </p:nvSpPr>
        <p:spPr>
          <a:xfrm>
            <a:off x="182880" y="3511296"/>
            <a:ext cx="11777472" cy="274320"/>
          </a:xfrm>
          <a:prstGeom prst="rect">
            <a:avLst/>
          </a:prstGeom>
          <a:solidFill>
            <a:srgbClr val="F5F7FA"/>
          </a:solidFill>
          <a:ln w="12700">
            <a:solidFill>
              <a:srgbClr val="028090"/>
            </a:solidFill>
            <a:prstDash val="solid"/>
          </a:ln>
        </p:spPr>
      </p:sp>
      <p:sp>
        <p:nvSpPr>
          <p:cNvPr id="28" name="Text 26"/>
          <p:cNvSpPr/>
          <p:nvPr/>
        </p:nvSpPr>
        <p:spPr>
          <a:xfrm>
            <a:off x="274320" y="3511296"/>
            <a:ext cx="11594592" cy="274320"/>
          </a:xfrm>
          <a:prstGeom prst="rect">
            <a:avLst/>
          </a:prstGeom>
          <a:noFill/>
          <a:ln/>
        </p:spPr>
        <p:txBody>
          <a:bodyPr wrap="square" rtlCol="0" anchor="ctr"/>
          <a:lstStyle/>
          <a:p>
            <a:pPr marL="0" indent="0">
              <a:buNone/>
            </a:pPr>
            <a:r>
              <a:rPr lang="en-US" sz="900" i="1" dirty="0">
                <a:solidFill>
                  <a:srgbClr val="1E2761"/>
                </a:solidFill>
                <a:latin typeface="Calibri" pitchFamily="34" charset="0"/>
                <a:ea typeface="Calibri" pitchFamily="34" charset="-122"/>
                <a:cs typeface="Calibri" pitchFamily="34" charset="-120"/>
              </a:rPr>
              <a:t>ν = S · e^(−qT) · n(d₁) · √T    (per unit vol = per 1.0 = per 100%)</a:t>
            </a:r>
            <a:endParaRPr lang="en-US" sz="900" dirty="0"/>
          </a:p>
        </p:txBody>
      </p:sp>
      <p:sp>
        <p:nvSpPr>
          <p:cNvPr id="29" name="Shape 27"/>
          <p:cNvSpPr/>
          <p:nvPr/>
        </p:nvSpPr>
        <p:spPr>
          <a:xfrm>
            <a:off x="182880" y="3877056"/>
            <a:ext cx="2194560" cy="329184"/>
          </a:xfrm>
          <a:prstGeom prst="rect">
            <a:avLst/>
          </a:prstGeom>
          <a:solidFill>
            <a:srgbClr val="F5F7FA"/>
          </a:solidFill>
          <a:ln w="12700">
            <a:solidFill>
              <a:srgbClr val="DEE3ED"/>
            </a:solidFill>
            <a:prstDash val="solid"/>
          </a:ln>
        </p:spPr>
      </p:sp>
      <p:sp>
        <p:nvSpPr>
          <p:cNvPr id="30" name="Text 28"/>
          <p:cNvSpPr/>
          <p:nvPr/>
        </p:nvSpPr>
        <p:spPr>
          <a:xfrm>
            <a:off x="237744" y="3877056"/>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Formal Def.</a:t>
            </a:r>
            <a:endParaRPr lang="en-US" sz="800" dirty="0"/>
          </a:p>
        </p:txBody>
      </p:sp>
      <p:sp>
        <p:nvSpPr>
          <p:cNvPr id="31" name="Shape 29"/>
          <p:cNvSpPr/>
          <p:nvPr/>
        </p:nvSpPr>
        <p:spPr>
          <a:xfrm>
            <a:off x="2377440" y="3877056"/>
            <a:ext cx="9582912" cy="329184"/>
          </a:xfrm>
          <a:prstGeom prst="rect">
            <a:avLst/>
          </a:prstGeom>
          <a:solidFill>
            <a:srgbClr val="FFFFFF"/>
          </a:solidFill>
          <a:ln w="12700">
            <a:solidFill>
              <a:srgbClr val="DEE3ED"/>
            </a:solidFill>
            <a:prstDash val="solid"/>
          </a:ln>
        </p:spPr>
      </p:sp>
      <p:sp>
        <p:nvSpPr>
          <p:cNvPr id="32" name="Text 30"/>
          <p:cNvSpPr/>
          <p:nvPr/>
        </p:nvSpPr>
        <p:spPr>
          <a:xfrm>
            <a:off x="2432304" y="3877056"/>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ν = ∂V/∂σ — first partial derivative with respect to implied volatility σ</a:t>
            </a:r>
            <a:endParaRPr lang="en-US" sz="800" dirty="0"/>
          </a:p>
        </p:txBody>
      </p:sp>
      <p:sp>
        <p:nvSpPr>
          <p:cNvPr id="33" name="Shape 31"/>
          <p:cNvSpPr/>
          <p:nvPr/>
        </p:nvSpPr>
        <p:spPr>
          <a:xfrm>
            <a:off x="182880" y="4224528"/>
            <a:ext cx="2194560" cy="329184"/>
          </a:xfrm>
          <a:prstGeom prst="rect">
            <a:avLst/>
          </a:prstGeom>
          <a:solidFill>
            <a:srgbClr val="F5F7FA"/>
          </a:solidFill>
          <a:ln w="12700">
            <a:solidFill>
              <a:srgbClr val="DEE3ED"/>
            </a:solidFill>
            <a:prstDash val="solid"/>
          </a:ln>
        </p:spPr>
      </p:sp>
      <p:sp>
        <p:nvSpPr>
          <p:cNvPr id="34" name="Text 32"/>
          <p:cNvSpPr/>
          <p:nvPr/>
        </p:nvSpPr>
        <p:spPr>
          <a:xfrm>
            <a:off x="237744" y="4224528"/>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Range</a:t>
            </a:r>
            <a:endParaRPr lang="en-US" sz="800" dirty="0"/>
          </a:p>
        </p:txBody>
      </p:sp>
      <p:sp>
        <p:nvSpPr>
          <p:cNvPr id="35" name="Shape 33"/>
          <p:cNvSpPr/>
          <p:nvPr/>
        </p:nvSpPr>
        <p:spPr>
          <a:xfrm>
            <a:off x="2377440" y="4224528"/>
            <a:ext cx="9582912" cy="329184"/>
          </a:xfrm>
          <a:prstGeom prst="rect">
            <a:avLst/>
          </a:prstGeom>
          <a:solidFill>
            <a:srgbClr val="F5F7FA"/>
          </a:solidFill>
          <a:ln w="12700">
            <a:solidFill>
              <a:srgbClr val="DEE3ED"/>
            </a:solidFill>
            <a:prstDash val="solid"/>
          </a:ln>
        </p:spPr>
      </p:sp>
      <p:sp>
        <p:nvSpPr>
          <p:cNvPr id="36" name="Text 34"/>
          <p:cNvSpPr/>
          <p:nvPr/>
        </p:nvSpPr>
        <p:spPr>
          <a:xfrm>
            <a:off x="2432304" y="4224528"/>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Always ≥ 0 for long options. Maximised ATM. Zero for forwards and futures.</a:t>
            </a:r>
            <a:endParaRPr lang="en-US" sz="800" dirty="0"/>
          </a:p>
        </p:txBody>
      </p:sp>
      <p:sp>
        <p:nvSpPr>
          <p:cNvPr id="37" name="Shape 35"/>
          <p:cNvSpPr/>
          <p:nvPr/>
        </p:nvSpPr>
        <p:spPr>
          <a:xfrm>
            <a:off x="182880" y="4572000"/>
            <a:ext cx="2194560" cy="329184"/>
          </a:xfrm>
          <a:prstGeom prst="rect">
            <a:avLst/>
          </a:prstGeom>
          <a:solidFill>
            <a:srgbClr val="F5F7FA"/>
          </a:solidFill>
          <a:ln w="12700">
            <a:solidFill>
              <a:srgbClr val="DEE3ED"/>
            </a:solidFill>
            <a:prstDash val="solid"/>
          </a:ln>
        </p:spPr>
      </p:sp>
      <p:sp>
        <p:nvSpPr>
          <p:cNvPr id="38" name="Text 36"/>
          <p:cNvSpPr/>
          <p:nvPr/>
        </p:nvSpPr>
        <p:spPr>
          <a:xfrm>
            <a:off x="237744" y="4572000"/>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Hedge</a:t>
            </a:r>
            <a:endParaRPr lang="en-US" sz="800" dirty="0"/>
          </a:p>
        </p:txBody>
      </p:sp>
      <p:sp>
        <p:nvSpPr>
          <p:cNvPr id="39" name="Shape 37"/>
          <p:cNvSpPr/>
          <p:nvPr/>
        </p:nvSpPr>
        <p:spPr>
          <a:xfrm>
            <a:off x="2377440" y="4572000"/>
            <a:ext cx="9582912" cy="329184"/>
          </a:xfrm>
          <a:prstGeom prst="rect">
            <a:avLst/>
          </a:prstGeom>
          <a:solidFill>
            <a:srgbClr val="FFFFFF"/>
          </a:solidFill>
          <a:ln w="12700">
            <a:solidFill>
              <a:srgbClr val="DEE3ED"/>
            </a:solidFill>
            <a:prstDash val="solid"/>
          </a:ln>
        </p:spPr>
      </p:sp>
      <p:sp>
        <p:nvSpPr>
          <p:cNvPr id="40" name="Text 38"/>
          <p:cNvSpPr/>
          <p:nvPr/>
        </p:nvSpPr>
        <p:spPr>
          <a:xfrm>
            <a:off x="2432304" y="4572000"/>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Vega-neutral requires other options. Cannot hedge with underlying alone.</a:t>
            </a:r>
            <a:endParaRPr lang="en-US" sz="800" dirty="0"/>
          </a:p>
        </p:txBody>
      </p:sp>
      <p:sp>
        <p:nvSpPr>
          <p:cNvPr id="41" name="Shape 39"/>
          <p:cNvSpPr/>
          <p:nvPr/>
        </p:nvSpPr>
        <p:spPr>
          <a:xfrm>
            <a:off x="182880" y="4919472"/>
            <a:ext cx="2194560" cy="329184"/>
          </a:xfrm>
          <a:prstGeom prst="rect">
            <a:avLst/>
          </a:prstGeom>
          <a:solidFill>
            <a:srgbClr val="F5F7FA"/>
          </a:solidFill>
          <a:ln w="12700">
            <a:solidFill>
              <a:srgbClr val="DEE3ED"/>
            </a:solidFill>
            <a:prstDash val="solid"/>
          </a:ln>
        </p:spPr>
      </p:sp>
      <p:sp>
        <p:nvSpPr>
          <p:cNvPr id="42" name="Text 40"/>
          <p:cNvSpPr/>
          <p:nvPr/>
        </p:nvSpPr>
        <p:spPr>
          <a:xfrm>
            <a:off x="237744" y="4919472"/>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Source</a:t>
            </a:r>
            <a:endParaRPr lang="en-US" sz="800" dirty="0"/>
          </a:p>
        </p:txBody>
      </p:sp>
      <p:sp>
        <p:nvSpPr>
          <p:cNvPr id="43" name="Shape 41"/>
          <p:cNvSpPr/>
          <p:nvPr/>
        </p:nvSpPr>
        <p:spPr>
          <a:xfrm>
            <a:off x="2377440" y="4919472"/>
            <a:ext cx="9582912" cy="329184"/>
          </a:xfrm>
          <a:prstGeom prst="rect">
            <a:avLst/>
          </a:prstGeom>
          <a:solidFill>
            <a:srgbClr val="F5F7FA"/>
          </a:solidFill>
          <a:ln w="12700">
            <a:solidFill>
              <a:srgbClr val="DEE3ED"/>
            </a:solidFill>
            <a:prstDash val="solid"/>
          </a:ln>
        </p:spPr>
      </p:sp>
      <p:sp>
        <p:nvSpPr>
          <p:cNvPr id="44" name="Text 42"/>
          <p:cNvSpPr/>
          <p:nvPr/>
        </p:nvSpPr>
        <p:spPr>
          <a:xfrm>
            <a:off x="2432304" y="4919472"/>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Analytic (S·e⁻ᵠᵀ·n(d₁)·√T); vol surface bump; risk aggregation platform</a:t>
            </a:r>
            <a:endParaRPr lang="en-US" sz="800" dirty="0"/>
          </a:p>
        </p:txBody>
      </p:sp>
      <p:sp>
        <p:nvSpPr>
          <p:cNvPr id="45" name="Shape 43"/>
          <p:cNvSpPr/>
          <p:nvPr/>
        </p:nvSpPr>
        <p:spPr>
          <a:xfrm>
            <a:off x="182880" y="5266944"/>
            <a:ext cx="2194560" cy="329184"/>
          </a:xfrm>
          <a:prstGeom prst="rect">
            <a:avLst/>
          </a:prstGeom>
          <a:solidFill>
            <a:srgbClr val="F5F7FA"/>
          </a:solidFill>
          <a:ln w="12700">
            <a:solidFill>
              <a:srgbClr val="DEE3ED"/>
            </a:solidFill>
            <a:prstDash val="solid"/>
          </a:ln>
        </p:spPr>
      </p:sp>
      <p:sp>
        <p:nvSpPr>
          <p:cNvPr id="46" name="Text 44"/>
          <p:cNvSpPr/>
          <p:nvPr/>
        </p:nvSpPr>
        <p:spPr>
          <a:xfrm>
            <a:off x="237744" y="5266944"/>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Eq-1</a:t>
            </a:r>
            <a:endParaRPr lang="en-US" sz="800" dirty="0"/>
          </a:p>
        </p:txBody>
      </p:sp>
      <p:sp>
        <p:nvSpPr>
          <p:cNvPr id="47" name="Shape 45"/>
          <p:cNvSpPr/>
          <p:nvPr/>
        </p:nvSpPr>
        <p:spPr>
          <a:xfrm>
            <a:off x="2377440" y="5266944"/>
            <a:ext cx="9582912" cy="329184"/>
          </a:xfrm>
          <a:prstGeom prst="rect">
            <a:avLst/>
          </a:prstGeom>
          <a:solidFill>
            <a:srgbClr val="FFFFFF"/>
          </a:solidFill>
          <a:ln w="12700">
            <a:solidFill>
              <a:srgbClr val="DEE3ED"/>
            </a:solidFill>
            <a:prstDash val="solid"/>
          </a:ln>
        </p:spPr>
      </p:sp>
      <p:sp>
        <p:nvSpPr>
          <p:cNvPr id="48" name="Text 46"/>
          <p:cNvSpPr/>
          <p:nvPr/>
        </p:nvSpPr>
        <p:spPr>
          <a:xfrm>
            <a:off x="2432304" y="5266944"/>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ν = 0.3793 per unit vol  ≈  $0.003793 per 1bp vol move</a:t>
            </a:r>
            <a:endParaRPr lang="en-US" sz="800" dirty="0"/>
          </a:p>
        </p:txBody>
      </p:sp>
      <p:sp>
        <p:nvSpPr>
          <p:cNvPr id="49" name="Shape 47"/>
          <p:cNvSpPr/>
          <p:nvPr/>
        </p:nvSpPr>
        <p:spPr>
          <a:xfrm>
            <a:off x="182880" y="5614416"/>
            <a:ext cx="2194560" cy="329184"/>
          </a:xfrm>
          <a:prstGeom prst="rect">
            <a:avLst/>
          </a:prstGeom>
          <a:solidFill>
            <a:srgbClr val="F5F7FA"/>
          </a:solidFill>
          <a:ln w="12700">
            <a:solidFill>
              <a:srgbClr val="DEE3ED"/>
            </a:solidFill>
            <a:prstDash val="solid"/>
          </a:ln>
        </p:spPr>
      </p:sp>
      <p:sp>
        <p:nvSpPr>
          <p:cNvPr id="50" name="Text 48"/>
          <p:cNvSpPr/>
          <p:nvPr/>
        </p:nvSpPr>
        <p:spPr>
          <a:xfrm>
            <a:off x="237744" y="5614416"/>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IR-1</a:t>
            </a:r>
            <a:endParaRPr lang="en-US" sz="800" dirty="0"/>
          </a:p>
        </p:txBody>
      </p:sp>
      <p:sp>
        <p:nvSpPr>
          <p:cNvPr id="51" name="Shape 49"/>
          <p:cNvSpPr/>
          <p:nvPr/>
        </p:nvSpPr>
        <p:spPr>
          <a:xfrm>
            <a:off x="2377440" y="5614416"/>
            <a:ext cx="9582912" cy="329184"/>
          </a:xfrm>
          <a:prstGeom prst="rect">
            <a:avLst/>
          </a:prstGeom>
          <a:solidFill>
            <a:srgbClr val="F5F7FA"/>
          </a:solidFill>
          <a:ln w="12700">
            <a:solidFill>
              <a:srgbClr val="DEE3ED"/>
            </a:solidFill>
            <a:prstDash val="solid"/>
          </a:ln>
        </p:spPr>
      </p:sp>
      <p:sp>
        <p:nvSpPr>
          <p:cNvPr id="52" name="Text 50"/>
          <p:cNvSpPr/>
          <p:nvPr/>
        </p:nvSpPr>
        <p:spPr>
          <a:xfrm>
            <a:off x="2432304" y="5614416"/>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Caplet Vega ≈ €2,303 per unit IR vol</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7FA"/>
          </a:solidFill>
          <a:ln w="12700">
            <a:solidFill>
              <a:srgbClr val="F5F7FA"/>
            </a:solidFill>
            <a:prstDash val="solid"/>
          </a:ln>
        </p:spPr>
      </p:sp>
      <p:sp>
        <p:nvSpPr>
          <p:cNvPr id="3" name="Shape 1"/>
          <p:cNvSpPr/>
          <p:nvPr/>
        </p:nvSpPr>
        <p:spPr>
          <a:xfrm>
            <a:off x="0" y="0"/>
            <a:ext cx="12161520" cy="475488"/>
          </a:xfrm>
          <a:prstGeom prst="rect">
            <a:avLst/>
          </a:prstGeom>
          <a:solidFill>
            <a:srgbClr val="1E2761"/>
          </a:solidFill>
          <a:ln w="12700">
            <a:solidFill>
              <a:srgbClr val="1E2761"/>
            </a:solidFill>
            <a:prstDash val="solid"/>
          </a:ln>
        </p:spPr>
      </p:sp>
      <p:sp>
        <p:nvSpPr>
          <p:cNvPr id="4" name="Shape 2"/>
          <p:cNvSpPr/>
          <p:nvPr/>
        </p:nvSpPr>
        <p:spPr>
          <a:xfrm>
            <a:off x="0" y="475488"/>
            <a:ext cx="12161520" cy="45720"/>
          </a:xfrm>
          <a:prstGeom prst="rect">
            <a:avLst/>
          </a:prstGeom>
          <a:solidFill>
            <a:srgbClr val="C9A84C"/>
          </a:solidFill>
          <a:ln w="12700">
            <a:solidFill>
              <a:srgbClr val="C9A84C"/>
            </a:solidFill>
            <a:prstDash val="solid"/>
          </a:ln>
        </p:spPr>
      </p:sp>
      <p:sp>
        <p:nvSpPr>
          <p:cNvPr id="5" name="Shape 3"/>
          <p:cNvSpPr/>
          <p:nvPr/>
        </p:nvSpPr>
        <p:spPr>
          <a:xfrm>
            <a:off x="0" y="6492240"/>
            <a:ext cx="12161520" cy="365760"/>
          </a:xfrm>
          <a:prstGeom prst="rect">
            <a:avLst/>
          </a:prstGeom>
          <a:solidFill>
            <a:srgbClr val="1E2761"/>
          </a:solidFill>
          <a:ln w="12700">
            <a:solidFill>
              <a:srgbClr val="1E2761"/>
            </a:solidFill>
            <a:prstDash val="solid"/>
          </a:ln>
        </p:spPr>
      </p:sp>
      <p:sp>
        <p:nvSpPr>
          <p:cNvPr id="6" name="Text 4"/>
          <p:cNvSpPr/>
          <p:nvPr/>
        </p:nvSpPr>
        <p:spPr>
          <a:xfrm>
            <a:off x="182880" y="6510528"/>
            <a:ext cx="8229600" cy="228600"/>
          </a:xfrm>
          <a:prstGeom prst="rect">
            <a:avLst/>
          </a:prstGeom>
          <a:noFill/>
          <a:ln/>
        </p:spPr>
        <p:txBody>
          <a:bodyPr wrap="square" rtlCol="0" anchor="ctr"/>
          <a:lstStyle/>
          <a:p>
            <a:pPr marL="0" indent="0">
              <a:buNone/>
            </a:pPr>
            <a:r>
              <a:rPr lang="en-US" sz="750" dirty="0">
                <a:solidFill>
                  <a:srgbClr val="CADCFC"/>
                </a:solidFill>
                <a:latin typeface="Calibri" pitchFamily="34" charset="0"/>
                <a:ea typeface="Calibri" pitchFamily="34" charset="-122"/>
                <a:cs typeface="Calibri" pitchFamily="34" charset="-120"/>
              </a:rPr>
              <a:t>Curated by Sarthaka Nanda (with Anthropic Claude)  |  Greeks &amp; Sensitivities — Module 0</a:t>
            </a:r>
            <a:endParaRPr lang="en-US" sz="750" dirty="0"/>
          </a:p>
        </p:txBody>
      </p:sp>
      <p:sp>
        <p:nvSpPr>
          <p:cNvPr id="7" name="Text 5"/>
          <p:cNvSpPr/>
          <p:nvPr/>
        </p:nvSpPr>
        <p:spPr>
          <a:xfrm>
            <a:off x="10515600" y="6510528"/>
            <a:ext cx="1463040" cy="228600"/>
          </a:xfrm>
          <a:prstGeom prst="rect">
            <a:avLst/>
          </a:prstGeom>
          <a:noFill/>
          <a:ln/>
        </p:spPr>
        <p:txBody>
          <a:bodyPr wrap="square" rtlCol="0" anchor="ctr"/>
          <a:lstStyle/>
          <a:p>
            <a:pPr marL="0" indent="0" algn="r">
              <a:buNone/>
            </a:pPr>
            <a:r>
              <a:rPr lang="en-US" sz="750" dirty="0">
                <a:solidFill>
                  <a:srgbClr val="C9A84C"/>
                </a:solidFill>
                <a:latin typeface="Calibri" pitchFamily="34" charset="0"/>
                <a:ea typeface="Calibri" pitchFamily="34" charset="-122"/>
                <a:cs typeface="Calibri" pitchFamily="34" charset="-120"/>
              </a:rPr>
              <a:t>CC BY-NC 4.0</a:t>
            </a:r>
            <a:endParaRPr lang="en-US" sz="750" dirty="0"/>
          </a:p>
        </p:txBody>
      </p:sp>
      <p:sp>
        <p:nvSpPr>
          <p:cNvPr id="8" name="Text 6"/>
          <p:cNvSpPr/>
          <p:nvPr/>
        </p:nvSpPr>
        <p:spPr>
          <a:xfrm>
            <a:off x="274320" y="64008"/>
            <a:ext cx="1161288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First-Order Greeks — Theta</a:t>
            </a:r>
            <a:endParaRPr lang="en-US" sz="1500" dirty="0"/>
          </a:p>
        </p:txBody>
      </p:sp>
      <p:sp>
        <p:nvSpPr>
          <p:cNvPr id="9" name="Shape 7"/>
          <p:cNvSpPr/>
          <p:nvPr/>
        </p:nvSpPr>
        <p:spPr>
          <a:xfrm>
            <a:off x="182880" y="621792"/>
            <a:ext cx="11795760" cy="475488"/>
          </a:xfrm>
          <a:prstGeom prst="rect">
            <a:avLst/>
          </a:prstGeom>
          <a:solidFill>
            <a:srgbClr val="1E2761"/>
          </a:solidFill>
          <a:ln w="12700">
            <a:solidFill>
              <a:srgbClr val="1E2761"/>
            </a:solidFill>
            <a:prstDash val="solid"/>
          </a:ln>
        </p:spPr>
      </p:sp>
      <p:sp>
        <p:nvSpPr>
          <p:cNvPr id="10" name="Shape 8"/>
          <p:cNvSpPr/>
          <p:nvPr/>
        </p:nvSpPr>
        <p:spPr>
          <a:xfrm>
            <a:off x="182880" y="1097280"/>
            <a:ext cx="11795760" cy="36576"/>
          </a:xfrm>
          <a:prstGeom prst="rect">
            <a:avLst/>
          </a:prstGeom>
          <a:solidFill>
            <a:srgbClr val="C9A84C"/>
          </a:solidFill>
          <a:ln w="12700">
            <a:solidFill>
              <a:srgbClr val="C9A84C"/>
            </a:solidFill>
            <a:prstDash val="solid"/>
          </a:ln>
        </p:spPr>
      </p:sp>
      <p:sp>
        <p:nvSpPr>
          <p:cNvPr id="11" name="Shape 9"/>
          <p:cNvSpPr/>
          <p:nvPr/>
        </p:nvSpPr>
        <p:spPr>
          <a:xfrm>
            <a:off x="274320" y="694944"/>
            <a:ext cx="329184" cy="329184"/>
          </a:xfrm>
          <a:prstGeom prst="ellipse">
            <a:avLst/>
          </a:prstGeom>
          <a:solidFill>
            <a:srgbClr val="B91C1C"/>
          </a:solidFill>
          <a:ln w="12700">
            <a:solidFill>
              <a:srgbClr val="B91C1C"/>
            </a:solidFill>
            <a:prstDash val="solid"/>
          </a:ln>
        </p:spPr>
      </p:sp>
      <p:sp>
        <p:nvSpPr>
          <p:cNvPr id="12" name="Text 10"/>
          <p:cNvSpPr/>
          <p:nvPr/>
        </p:nvSpPr>
        <p:spPr>
          <a:xfrm>
            <a:off x="274320" y="694944"/>
            <a:ext cx="329184" cy="32918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Θ</a:t>
            </a:r>
            <a:endParaRPr lang="en-US" sz="1400" dirty="0"/>
          </a:p>
        </p:txBody>
      </p:sp>
      <p:sp>
        <p:nvSpPr>
          <p:cNvPr id="13" name="Text 11"/>
          <p:cNvSpPr/>
          <p:nvPr/>
        </p:nvSpPr>
        <p:spPr>
          <a:xfrm>
            <a:off x="676656" y="694944"/>
            <a:ext cx="11210544" cy="20116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Theta</a:t>
            </a:r>
            <a:endParaRPr lang="en-US" sz="1200" dirty="0"/>
          </a:p>
        </p:txBody>
      </p:sp>
      <p:sp>
        <p:nvSpPr>
          <p:cNvPr id="14" name="Text 12"/>
          <p:cNvSpPr/>
          <p:nvPr/>
        </p:nvSpPr>
        <p:spPr>
          <a:xfrm>
            <a:off x="676656" y="896112"/>
            <a:ext cx="11210544" cy="164592"/>
          </a:xfrm>
          <a:prstGeom prst="rect">
            <a:avLst/>
          </a:prstGeom>
          <a:noFill/>
          <a:ln/>
        </p:spPr>
        <p:txBody>
          <a:bodyPr wrap="square" rtlCol="0" anchor="ctr"/>
          <a:lstStyle/>
          <a:p>
            <a:pPr marL="0" indent="0">
              <a:buNone/>
            </a:pPr>
            <a:r>
              <a:rPr lang="en-US" sz="800" dirty="0">
                <a:solidFill>
                  <a:srgbClr val="CADCFC"/>
                </a:solidFill>
                <a:latin typeface="Calibri" pitchFamily="34" charset="0"/>
                <a:ea typeface="Calibri" pitchFamily="34" charset="-122"/>
                <a:cs typeface="Calibri" pitchFamily="34" charset="-120"/>
              </a:rPr>
              <a:t>1st Order  |  Parking Meter  |  Time Decay</a:t>
            </a:r>
            <a:endParaRPr lang="en-US" sz="800" dirty="0"/>
          </a:p>
        </p:txBody>
      </p:sp>
      <p:sp>
        <p:nvSpPr>
          <p:cNvPr id="15" name="Shape 13"/>
          <p:cNvSpPr/>
          <p:nvPr/>
        </p:nvSpPr>
        <p:spPr>
          <a:xfrm>
            <a:off x="182880" y="1188720"/>
            <a:ext cx="5861304" cy="256032"/>
          </a:xfrm>
          <a:prstGeom prst="rect">
            <a:avLst/>
          </a:prstGeom>
          <a:solidFill>
            <a:srgbClr val="B91C1C"/>
          </a:solidFill>
          <a:ln w="12700">
            <a:solidFill>
              <a:srgbClr val="B91C1C"/>
            </a:solidFill>
            <a:prstDash val="solid"/>
          </a:ln>
        </p:spPr>
      </p:sp>
      <p:sp>
        <p:nvSpPr>
          <p:cNvPr id="16" name="Text 14"/>
          <p:cNvSpPr/>
          <p:nvPr/>
        </p:nvSpPr>
        <p:spPr>
          <a:xfrm>
            <a:off x="256032" y="1188720"/>
            <a:ext cx="5769864" cy="25603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CAR ANALOGY</a:t>
            </a:r>
            <a:endParaRPr lang="en-US" sz="800" dirty="0"/>
          </a:p>
        </p:txBody>
      </p:sp>
      <p:sp>
        <p:nvSpPr>
          <p:cNvPr id="17" name="Shape 15"/>
          <p:cNvSpPr/>
          <p:nvPr/>
        </p:nvSpPr>
        <p:spPr>
          <a:xfrm>
            <a:off x="182880" y="1444752"/>
            <a:ext cx="5861304" cy="1097280"/>
          </a:xfrm>
          <a:prstGeom prst="rect">
            <a:avLst/>
          </a:prstGeom>
          <a:solidFill>
            <a:srgbClr val="E6F7F4"/>
          </a:solidFill>
          <a:ln w="12700">
            <a:solidFill>
              <a:srgbClr val="B91C1C"/>
            </a:solidFill>
            <a:prstDash val="solid"/>
          </a:ln>
        </p:spPr>
      </p:sp>
      <p:sp>
        <p:nvSpPr>
          <p:cNvPr id="18" name="Text 16"/>
          <p:cNvSpPr/>
          <p:nvPr/>
        </p:nvSpPr>
        <p:spPr>
          <a:xfrm>
            <a:off x="256032" y="1463040"/>
            <a:ext cx="5715000" cy="1042416"/>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Theta is the parking meter running whether you drive or not. Every day your option sits, it loses value — regardless of market moves. Like paying £2/hour just for the spot, even when the car doesn't move.</a:t>
            </a:r>
            <a:endParaRPr lang="en-US" sz="850" dirty="0"/>
          </a:p>
        </p:txBody>
      </p:sp>
      <p:sp>
        <p:nvSpPr>
          <p:cNvPr id="19" name="Shape 17"/>
          <p:cNvSpPr/>
          <p:nvPr/>
        </p:nvSpPr>
        <p:spPr>
          <a:xfrm>
            <a:off x="6099048" y="1188720"/>
            <a:ext cx="5861304" cy="256032"/>
          </a:xfrm>
          <a:prstGeom prst="rect">
            <a:avLst/>
          </a:prstGeom>
          <a:solidFill>
            <a:srgbClr val="E8960C"/>
          </a:solidFill>
          <a:ln w="12700">
            <a:solidFill>
              <a:srgbClr val="E8960C"/>
            </a:solidFill>
            <a:prstDash val="solid"/>
          </a:ln>
        </p:spPr>
      </p:sp>
      <p:sp>
        <p:nvSpPr>
          <p:cNvPr id="20" name="Text 18"/>
          <p:cNvSpPr/>
          <p:nvPr/>
        </p:nvSpPr>
        <p:spPr>
          <a:xfrm>
            <a:off x="6172200" y="1188720"/>
            <a:ext cx="5769864" cy="25603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INSURANCE ANALOGY</a:t>
            </a:r>
            <a:endParaRPr lang="en-US" sz="800" dirty="0"/>
          </a:p>
        </p:txBody>
      </p:sp>
      <p:sp>
        <p:nvSpPr>
          <p:cNvPr id="21" name="Shape 19"/>
          <p:cNvSpPr/>
          <p:nvPr/>
        </p:nvSpPr>
        <p:spPr>
          <a:xfrm>
            <a:off x="6099048" y="1444752"/>
            <a:ext cx="5861304" cy="1097280"/>
          </a:xfrm>
          <a:prstGeom prst="rect">
            <a:avLst/>
          </a:prstGeom>
          <a:solidFill>
            <a:srgbClr val="FFF8E7"/>
          </a:solidFill>
          <a:ln w="12700">
            <a:solidFill>
              <a:srgbClr val="E8960C"/>
            </a:solidFill>
            <a:prstDash val="solid"/>
          </a:ln>
        </p:spPr>
      </p:sp>
      <p:sp>
        <p:nvSpPr>
          <p:cNvPr id="22" name="Text 20"/>
          <p:cNvSpPr/>
          <p:nvPr/>
        </p:nvSpPr>
        <p:spPr>
          <a:xfrm>
            <a:off x="6172200" y="1463040"/>
            <a:ext cx="5715000" cy="1042416"/>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Your insurance policy costs a premium every month, even if nothing happens. That monthly erosion is theta. Older policies erode faster — theta accelerates near expiry, just like the premium schedule steepens.</a:t>
            </a:r>
            <a:endParaRPr lang="en-US" sz="850" dirty="0"/>
          </a:p>
        </p:txBody>
      </p:sp>
      <p:sp>
        <p:nvSpPr>
          <p:cNvPr id="23" name="Shape 21"/>
          <p:cNvSpPr/>
          <p:nvPr/>
        </p:nvSpPr>
        <p:spPr>
          <a:xfrm>
            <a:off x="182880" y="2633472"/>
            <a:ext cx="11777472" cy="256032"/>
          </a:xfrm>
          <a:prstGeom prst="rect">
            <a:avLst/>
          </a:prstGeom>
          <a:solidFill>
            <a:srgbClr val="D97706"/>
          </a:solidFill>
          <a:ln w="12700">
            <a:solidFill>
              <a:srgbClr val="E8960C"/>
            </a:solidFill>
            <a:prstDash val="solid"/>
          </a:ln>
        </p:spPr>
      </p:sp>
      <p:sp>
        <p:nvSpPr>
          <p:cNvPr id="24" name="Text 22"/>
          <p:cNvSpPr/>
          <p:nvPr/>
        </p:nvSpPr>
        <p:spPr>
          <a:xfrm>
            <a:off x="256032" y="2633472"/>
            <a:ext cx="11686032" cy="25603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WHAT-IF BOX</a:t>
            </a:r>
            <a:endParaRPr lang="en-US" sz="800" dirty="0"/>
          </a:p>
        </p:txBody>
      </p:sp>
      <p:sp>
        <p:nvSpPr>
          <p:cNvPr id="25" name="Shape 23"/>
          <p:cNvSpPr/>
          <p:nvPr/>
        </p:nvSpPr>
        <p:spPr>
          <a:xfrm>
            <a:off x="182880" y="2889504"/>
            <a:ext cx="11777472" cy="731520"/>
          </a:xfrm>
          <a:prstGeom prst="rect">
            <a:avLst/>
          </a:prstGeom>
          <a:solidFill>
            <a:srgbClr val="FFF8E7"/>
          </a:solidFill>
          <a:ln w="12700">
            <a:solidFill>
              <a:srgbClr val="E8960C"/>
            </a:solidFill>
            <a:prstDash val="solid"/>
          </a:ln>
        </p:spPr>
      </p:sp>
      <p:sp>
        <p:nvSpPr>
          <p:cNvPr id="26" name="Text 24"/>
          <p:cNvSpPr/>
          <p:nvPr/>
        </p:nvSpPr>
        <p:spPr>
          <a:xfrm>
            <a:off x="256032" y="2907792"/>
            <a:ext cx="11631168" cy="685800"/>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Quiet week (5 days, no market moves). Θ ≈ −$0.0243/day. Weekly bleed: ≈ −$0.12 per option. Portfolio of 10,000 options: ≈ −$1,215/week in theta alone. This is the 'rent' that gamma earns back on big move days.</a:t>
            </a:r>
            <a:endParaRPr lang="en-US" sz="850" dirty="0"/>
          </a:p>
        </p:txBody>
      </p:sp>
      <p:sp>
        <p:nvSpPr>
          <p:cNvPr id="27" name="Shape 25"/>
          <p:cNvSpPr/>
          <p:nvPr/>
        </p:nvSpPr>
        <p:spPr>
          <a:xfrm>
            <a:off x="182880" y="3511296"/>
            <a:ext cx="11777472" cy="274320"/>
          </a:xfrm>
          <a:prstGeom prst="rect">
            <a:avLst/>
          </a:prstGeom>
          <a:solidFill>
            <a:srgbClr val="F5F7FA"/>
          </a:solidFill>
          <a:ln w="12700">
            <a:solidFill>
              <a:srgbClr val="028090"/>
            </a:solidFill>
            <a:prstDash val="solid"/>
          </a:ln>
        </p:spPr>
      </p:sp>
      <p:sp>
        <p:nvSpPr>
          <p:cNvPr id="28" name="Text 26"/>
          <p:cNvSpPr/>
          <p:nvPr/>
        </p:nvSpPr>
        <p:spPr>
          <a:xfrm>
            <a:off x="274320" y="3511296"/>
            <a:ext cx="11594592" cy="274320"/>
          </a:xfrm>
          <a:prstGeom prst="rect">
            <a:avLst/>
          </a:prstGeom>
          <a:noFill/>
          <a:ln/>
        </p:spPr>
        <p:txBody>
          <a:bodyPr wrap="square" rtlCol="0" anchor="ctr"/>
          <a:lstStyle/>
          <a:p>
            <a:pPr marL="0" indent="0">
              <a:buNone/>
            </a:pPr>
            <a:r>
              <a:rPr lang="en-US" sz="900" i="1" dirty="0">
                <a:solidFill>
                  <a:srgbClr val="1E2761"/>
                </a:solidFill>
                <a:latin typeface="Calibri" pitchFamily="34" charset="0"/>
                <a:ea typeface="Calibri" pitchFamily="34" charset="-122"/>
                <a:cs typeface="Calibri" pitchFamily="34" charset="-120"/>
              </a:rPr>
              <a:t>Θ = [−S·e^(−qT)·n(d₁)·σ/(2√T) − r·K·e^(−rT)·N(d₂) + q·S·e^(−qT)·N(d₁)] / 365</a:t>
            </a:r>
            <a:endParaRPr lang="en-US" sz="900" dirty="0"/>
          </a:p>
        </p:txBody>
      </p:sp>
      <p:sp>
        <p:nvSpPr>
          <p:cNvPr id="29" name="Shape 27"/>
          <p:cNvSpPr/>
          <p:nvPr/>
        </p:nvSpPr>
        <p:spPr>
          <a:xfrm>
            <a:off x="182880" y="3877056"/>
            <a:ext cx="2194560" cy="329184"/>
          </a:xfrm>
          <a:prstGeom prst="rect">
            <a:avLst/>
          </a:prstGeom>
          <a:solidFill>
            <a:srgbClr val="F5F7FA"/>
          </a:solidFill>
          <a:ln w="12700">
            <a:solidFill>
              <a:srgbClr val="DEE3ED"/>
            </a:solidFill>
            <a:prstDash val="solid"/>
          </a:ln>
        </p:spPr>
      </p:sp>
      <p:sp>
        <p:nvSpPr>
          <p:cNvPr id="30" name="Text 28"/>
          <p:cNvSpPr/>
          <p:nvPr/>
        </p:nvSpPr>
        <p:spPr>
          <a:xfrm>
            <a:off x="237744" y="3877056"/>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Formal Def.</a:t>
            </a:r>
            <a:endParaRPr lang="en-US" sz="800" dirty="0"/>
          </a:p>
        </p:txBody>
      </p:sp>
      <p:sp>
        <p:nvSpPr>
          <p:cNvPr id="31" name="Shape 29"/>
          <p:cNvSpPr/>
          <p:nvPr/>
        </p:nvSpPr>
        <p:spPr>
          <a:xfrm>
            <a:off x="2377440" y="3877056"/>
            <a:ext cx="9582912" cy="329184"/>
          </a:xfrm>
          <a:prstGeom prst="rect">
            <a:avLst/>
          </a:prstGeom>
          <a:solidFill>
            <a:srgbClr val="FFFFFF"/>
          </a:solidFill>
          <a:ln w="12700">
            <a:solidFill>
              <a:srgbClr val="DEE3ED"/>
            </a:solidFill>
            <a:prstDash val="solid"/>
          </a:ln>
        </p:spPr>
      </p:sp>
      <p:sp>
        <p:nvSpPr>
          <p:cNvPr id="32" name="Text 30"/>
          <p:cNvSpPr/>
          <p:nvPr/>
        </p:nvSpPr>
        <p:spPr>
          <a:xfrm>
            <a:off x="2432304" y="3877056"/>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Θ = ∂V/∂t — partial derivative with respect to time. Per calendar day.</a:t>
            </a:r>
            <a:endParaRPr lang="en-US" sz="800" dirty="0"/>
          </a:p>
        </p:txBody>
      </p:sp>
      <p:sp>
        <p:nvSpPr>
          <p:cNvPr id="33" name="Shape 31"/>
          <p:cNvSpPr/>
          <p:nvPr/>
        </p:nvSpPr>
        <p:spPr>
          <a:xfrm>
            <a:off x="182880" y="4224528"/>
            <a:ext cx="2194560" cy="329184"/>
          </a:xfrm>
          <a:prstGeom prst="rect">
            <a:avLst/>
          </a:prstGeom>
          <a:solidFill>
            <a:srgbClr val="F5F7FA"/>
          </a:solidFill>
          <a:ln w="12700">
            <a:solidFill>
              <a:srgbClr val="DEE3ED"/>
            </a:solidFill>
            <a:prstDash val="solid"/>
          </a:ln>
        </p:spPr>
      </p:sp>
      <p:sp>
        <p:nvSpPr>
          <p:cNvPr id="34" name="Text 32"/>
          <p:cNvSpPr/>
          <p:nvPr/>
        </p:nvSpPr>
        <p:spPr>
          <a:xfrm>
            <a:off x="237744" y="4224528"/>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Range</a:t>
            </a:r>
            <a:endParaRPr lang="en-US" sz="800" dirty="0"/>
          </a:p>
        </p:txBody>
      </p:sp>
      <p:sp>
        <p:nvSpPr>
          <p:cNvPr id="35" name="Shape 33"/>
          <p:cNvSpPr/>
          <p:nvPr/>
        </p:nvSpPr>
        <p:spPr>
          <a:xfrm>
            <a:off x="2377440" y="4224528"/>
            <a:ext cx="9582912" cy="329184"/>
          </a:xfrm>
          <a:prstGeom prst="rect">
            <a:avLst/>
          </a:prstGeom>
          <a:solidFill>
            <a:srgbClr val="F5F7FA"/>
          </a:solidFill>
          <a:ln w="12700">
            <a:solidFill>
              <a:srgbClr val="DEE3ED"/>
            </a:solidFill>
            <a:prstDash val="solid"/>
          </a:ln>
        </p:spPr>
      </p:sp>
      <p:sp>
        <p:nvSpPr>
          <p:cNvPr id="36" name="Text 34"/>
          <p:cNvSpPr/>
          <p:nvPr/>
        </p:nvSpPr>
        <p:spPr>
          <a:xfrm>
            <a:off x="2432304" y="4224528"/>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Typically negative for long options. Accelerates near expiry.</a:t>
            </a:r>
            <a:endParaRPr lang="en-US" sz="800" dirty="0"/>
          </a:p>
        </p:txBody>
      </p:sp>
      <p:sp>
        <p:nvSpPr>
          <p:cNvPr id="37" name="Shape 35"/>
          <p:cNvSpPr/>
          <p:nvPr/>
        </p:nvSpPr>
        <p:spPr>
          <a:xfrm>
            <a:off x="182880" y="4572000"/>
            <a:ext cx="2194560" cy="329184"/>
          </a:xfrm>
          <a:prstGeom prst="rect">
            <a:avLst/>
          </a:prstGeom>
          <a:solidFill>
            <a:srgbClr val="F5F7FA"/>
          </a:solidFill>
          <a:ln w="12700">
            <a:solidFill>
              <a:srgbClr val="DEE3ED"/>
            </a:solidFill>
            <a:prstDash val="solid"/>
          </a:ln>
        </p:spPr>
      </p:sp>
      <p:sp>
        <p:nvSpPr>
          <p:cNvPr id="38" name="Text 36"/>
          <p:cNvSpPr/>
          <p:nvPr/>
        </p:nvSpPr>
        <p:spPr>
          <a:xfrm>
            <a:off x="237744" y="4572000"/>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Gamma-Θ</a:t>
            </a:r>
            <a:endParaRPr lang="en-US" sz="800" dirty="0"/>
          </a:p>
        </p:txBody>
      </p:sp>
      <p:sp>
        <p:nvSpPr>
          <p:cNvPr id="39" name="Shape 37"/>
          <p:cNvSpPr/>
          <p:nvPr/>
        </p:nvSpPr>
        <p:spPr>
          <a:xfrm>
            <a:off x="2377440" y="4572000"/>
            <a:ext cx="9582912" cy="329184"/>
          </a:xfrm>
          <a:prstGeom prst="rect">
            <a:avLst/>
          </a:prstGeom>
          <a:solidFill>
            <a:srgbClr val="FFFFFF"/>
          </a:solidFill>
          <a:ln w="12700">
            <a:solidFill>
              <a:srgbClr val="DEE3ED"/>
            </a:solidFill>
            <a:prstDash val="solid"/>
          </a:ln>
        </p:spPr>
      </p:sp>
      <p:sp>
        <p:nvSpPr>
          <p:cNvPr id="40" name="Text 38"/>
          <p:cNvSpPr/>
          <p:nvPr/>
        </p:nvSpPr>
        <p:spPr>
          <a:xfrm>
            <a:off x="2432304" y="4572000"/>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Long option: positive Gamma (gains on moves) + negative Theta (daily cost). Fundamental tension.</a:t>
            </a:r>
            <a:endParaRPr lang="en-US" sz="800" dirty="0"/>
          </a:p>
        </p:txBody>
      </p:sp>
      <p:sp>
        <p:nvSpPr>
          <p:cNvPr id="41" name="Shape 39"/>
          <p:cNvSpPr/>
          <p:nvPr/>
        </p:nvSpPr>
        <p:spPr>
          <a:xfrm>
            <a:off x="182880" y="4919472"/>
            <a:ext cx="2194560" cy="329184"/>
          </a:xfrm>
          <a:prstGeom prst="rect">
            <a:avLst/>
          </a:prstGeom>
          <a:solidFill>
            <a:srgbClr val="F5F7FA"/>
          </a:solidFill>
          <a:ln w="12700">
            <a:solidFill>
              <a:srgbClr val="DEE3ED"/>
            </a:solidFill>
            <a:prstDash val="solid"/>
          </a:ln>
        </p:spPr>
      </p:sp>
      <p:sp>
        <p:nvSpPr>
          <p:cNvPr id="42" name="Text 40"/>
          <p:cNvSpPr/>
          <p:nvPr/>
        </p:nvSpPr>
        <p:spPr>
          <a:xfrm>
            <a:off x="237744" y="4919472"/>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Source</a:t>
            </a:r>
            <a:endParaRPr lang="en-US" sz="800" dirty="0"/>
          </a:p>
        </p:txBody>
      </p:sp>
      <p:sp>
        <p:nvSpPr>
          <p:cNvPr id="43" name="Shape 41"/>
          <p:cNvSpPr/>
          <p:nvPr/>
        </p:nvSpPr>
        <p:spPr>
          <a:xfrm>
            <a:off x="2377440" y="4919472"/>
            <a:ext cx="9582912" cy="329184"/>
          </a:xfrm>
          <a:prstGeom prst="rect">
            <a:avLst/>
          </a:prstGeom>
          <a:solidFill>
            <a:srgbClr val="F5F7FA"/>
          </a:solidFill>
          <a:ln w="12700">
            <a:solidFill>
              <a:srgbClr val="DEE3ED"/>
            </a:solidFill>
            <a:prstDash val="solid"/>
          </a:ln>
        </p:spPr>
      </p:sp>
      <p:sp>
        <p:nvSpPr>
          <p:cNvPr id="44" name="Text 42"/>
          <p:cNvSpPr/>
          <p:nvPr/>
        </p:nvSpPr>
        <p:spPr>
          <a:xfrm>
            <a:off x="2432304" y="4919472"/>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Analytic (closed-form); auto-reported in daily P&amp;L attribution by risk systems</a:t>
            </a:r>
            <a:endParaRPr lang="en-US" sz="800" dirty="0"/>
          </a:p>
        </p:txBody>
      </p:sp>
      <p:sp>
        <p:nvSpPr>
          <p:cNvPr id="45" name="Shape 43"/>
          <p:cNvSpPr/>
          <p:nvPr/>
        </p:nvSpPr>
        <p:spPr>
          <a:xfrm>
            <a:off x="182880" y="5266944"/>
            <a:ext cx="2194560" cy="329184"/>
          </a:xfrm>
          <a:prstGeom prst="rect">
            <a:avLst/>
          </a:prstGeom>
          <a:solidFill>
            <a:srgbClr val="F5F7FA"/>
          </a:solidFill>
          <a:ln w="12700">
            <a:solidFill>
              <a:srgbClr val="DEE3ED"/>
            </a:solidFill>
            <a:prstDash val="solid"/>
          </a:ln>
        </p:spPr>
      </p:sp>
      <p:sp>
        <p:nvSpPr>
          <p:cNvPr id="46" name="Text 44"/>
          <p:cNvSpPr/>
          <p:nvPr/>
        </p:nvSpPr>
        <p:spPr>
          <a:xfrm>
            <a:off x="237744" y="5266944"/>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Eq-1</a:t>
            </a:r>
            <a:endParaRPr lang="en-US" sz="800" dirty="0"/>
          </a:p>
        </p:txBody>
      </p:sp>
      <p:sp>
        <p:nvSpPr>
          <p:cNvPr id="47" name="Shape 45"/>
          <p:cNvSpPr/>
          <p:nvPr/>
        </p:nvSpPr>
        <p:spPr>
          <a:xfrm>
            <a:off x="2377440" y="5266944"/>
            <a:ext cx="9582912" cy="329184"/>
          </a:xfrm>
          <a:prstGeom prst="rect">
            <a:avLst/>
          </a:prstGeom>
          <a:solidFill>
            <a:srgbClr val="FFFFFF"/>
          </a:solidFill>
          <a:ln w="12700">
            <a:solidFill>
              <a:srgbClr val="DEE3ED"/>
            </a:solidFill>
            <a:prstDash val="solid"/>
          </a:ln>
        </p:spPr>
      </p:sp>
      <p:sp>
        <p:nvSpPr>
          <p:cNvPr id="48" name="Text 46"/>
          <p:cNvSpPr/>
          <p:nvPr/>
        </p:nvSpPr>
        <p:spPr>
          <a:xfrm>
            <a:off x="2432304" y="5266944"/>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Θ ≈ −$0.0243/day — accelerates dramatically near expiry</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7FA"/>
          </a:solidFill>
          <a:ln w="12700">
            <a:solidFill>
              <a:srgbClr val="F5F7FA"/>
            </a:solidFill>
            <a:prstDash val="solid"/>
          </a:ln>
        </p:spPr>
      </p:sp>
      <p:sp>
        <p:nvSpPr>
          <p:cNvPr id="3" name="Shape 1"/>
          <p:cNvSpPr/>
          <p:nvPr/>
        </p:nvSpPr>
        <p:spPr>
          <a:xfrm>
            <a:off x="0" y="0"/>
            <a:ext cx="12161520" cy="475488"/>
          </a:xfrm>
          <a:prstGeom prst="rect">
            <a:avLst/>
          </a:prstGeom>
          <a:solidFill>
            <a:srgbClr val="1E2761"/>
          </a:solidFill>
          <a:ln w="12700">
            <a:solidFill>
              <a:srgbClr val="1E2761"/>
            </a:solidFill>
            <a:prstDash val="solid"/>
          </a:ln>
        </p:spPr>
      </p:sp>
      <p:sp>
        <p:nvSpPr>
          <p:cNvPr id="4" name="Shape 2"/>
          <p:cNvSpPr/>
          <p:nvPr/>
        </p:nvSpPr>
        <p:spPr>
          <a:xfrm>
            <a:off x="0" y="475488"/>
            <a:ext cx="12161520" cy="45720"/>
          </a:xfrm>
          <a:prstGeom prst="rect">
            <a:avLst/>
          </a:prstGeom>
          <a:solidFill>
            <a:srgbClr val="C9A84C"/>
          </a:solidFill>
          <a:ln w="12700">
            <a:solidFill>
              <a:srgbClr val="C9A84C"/>
            </a:solidFill>
            <a:prstDash val="solid"/>
          </a:ln>
        </p:spPr>
      </p:sp>
      <p:sp>
        <p:nvSpPr>
          <p:cNvPr id="5" name="Shape 3"/>
          <p:cNvSpPr/>
          <p:nvPr/>
        </p:nvSpPr>
        <p:spPr>
          <a:xfrm>
            <a:off x="0" y="6492240"/>
            <a:ext cx="12161520" cy="365760"/>
          </a:xfrm>
          <a:prstGeom prst="rect">
            <a:avLst/>
          </a:prstGeom>
          <a:solidFill>
            <a:srgbClr val="1E2761"/>
          </a:solidFill>
          <a:ln w="12700">
            <a:solidFill>
              <a:srgbClr val="1E2761"/>
            </a:solidFill>
            <a:prstDash val="solid"/>
          </a:ln>
        </p:spPr>
      </p:sp>
      <p:sp>
        <p:nvSpPr>
          <p:cNvPr id="6" name="Text 4"/>
          <p:cNvSpPr/>
          <p:nvPr/>
        </p:nvSpPr>
        <p:spPr>
          <a:xfrm>
            <a:off x="182880" y="6510528"/>
            <a:ext cx="8229600" cy="228600"/>
          </a:xfrm>
          <a:prstGeom prst="rect">
            <a:avLst/>
          </a:prstGeom>
          <a:noFill/>
          <a:ln/>
        </p:spPr>
        <p:txBody>
          <a:bodyPr wrap="square" rtlCol="0" anchor="ctr"/>
          <a:lstStyle/>
          <a:p>
            <a:pPr marL="0" indent="0">
              <a:buNone/>
            </a:pPr>
            <a:r>
              <a:rPr lang="en-US" sz="750" dirty="0">
                <a:solidFill>
                  <a:srgbClr val="CADCFC"/>
                </a:solidFill>
                <a:latin typeface="Calibri" pitchFamily="34" charset="0"/>
                <a:ea typeface="Calibri" pitchFamily="34" charset="-122"/>
                <a:cs typeface="Calibri" pitchFamily="34" charset="-120"/>
              </a:rPr>
              <a:t>Curated by Sarthaka Nanda (with Anthropic Claude)  |  Greeks &amp; Sensitivities — Module 0</a:t>
            </a:r>
            <a:endParaRPr lang="en-US" sz="750" dirty="0"/>
          </a:p>
        </p:txBody>
      </p:sp>
      <p:sp>
        <p:nvSpPr>
          <p:cNvPr id="7" name="Text 5"/>
          <p:cNvSpPr/>
          <p:nvPr/>
        </p:nvSpPr>
        <p:spPr>
          <a:xfrm>
            <a:off x="10515600" y="6510528"/>
            <a:ext cx="1463040" cy="228600"/>
          </a:xfrm>
          <a:prstGeom prst="rect">
            <a:avLst/>
          </a:prstGeom>
          <a:noFill/>
          <a:ln/>
        </p:spPr>
        <p:txBody>
          <a:bodyPr wrap="square" rtlCol="0" anchor="ctr"/>
          <a:lstStyle/>
          <a:p>
            <a:pPr marL="0" indent="0" algn="r">
              <a:buNone/>
            </a:pPr>
            <a:r>
              <a:rPr lang="en-US" sz="750" dirty="0">
                <a:solidFill>
                  <a:srgbClr val="C9A84C"/>
                </a:solidFill>
                <a:latin typeface="Calibri" pitchFamily="34" charset="0"/>
                <a:ea typeface="Calibri" pitchFamily="34" charset="-122"/>
                <a:cs typeface="Calibri" pitchFamily="34" charset="-120"/>
              </a:rPr>
              <a:t>CC BY-NC 4.0</a:t>
            </a:r>
            <a:endParaRPr lang="en-US" sz="750" dirty="0"/>
          </a:p>
        </p:txBody>
      </p:sp>
      <p:sp>
        <p:nvSpPr>
          <p:cNvPr id="8" name="Text 6"/>
          <p:cNvSpPr/>
          <p:nvPr/>
        </p:nvSpPr>
        <p:spPr>
          <a:xfrm>
            <a:off x="274320" y="64008"/>
            <a:ext cx="1161288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First-Order Greeks — Rho</a:t>
            </a:r>
            <a:endParaRPr lang="en-US" sz="1500" dirty="0"/>
          </a:p>
        </p:txBody>
      </p:sp>
      <p:sp>
        <p:nvSpPr>
          <p:cNvPr id="9" name="Shape 7"/>
          <p:cNvSpPr/>
          <p:nvPr/>
        </p:nvSpPr>
        <p:spPr>
          <a:xfrm>
            <a:off x="182880" y="621792"/>
            <a:ext cx="11795760" cy="475488"/>
          </a:xfrm>
          <a:prstGeom prst="rect">
            <a:avLst/>
          </a:prstGeom>
          <a:solidFill>
            <a:srgbClr val="1E2761"/>
          </a:solidFill>
          <a:ln w="12700">
            <a:solidFill>
              <a:srgbClr val="1E2761"/>
            </a:solidFill>
            <a:prstDash val="solid"/>
          </a:ln>
        </p:spPr>
      </p:sp>
      <p:sp>
        <p:nvSpPr>
          <p:cNvPr id="10" name="Shape 8"/>
          <p:cNvSpPr/>
          <p:nvPr/>
        </p:nvSpPr>
        <p:spPr>
          <a:xfrm>
            <a:off x="182880" y="1097280"/>
            <a:ext cx="11795760" cy="36576"/>
          </a:xfrm>
          <a:prstGeom prst="rect">
            <a:avLst/>
          </a:prstGeom>
          <a:solidFill>
            <a:srgbClr val="C9A84C"/>
          </a:solidFill>
          <a:ln w="12700">
            <a:solidFill>
              <a:srgbClr val="C9A84C"/>
            </a:solidFill>
            <a:prstDash val="solid"/>
          </a:ln>
        </p:spPr>
      </p:sp>
      <p:sp>
        <p:nvSpPr>
          <p:cNvPr id="11" name="Shape 9"/>
          <p:cNvSpPr/>
          <p:nvPr/>
        </p:nvSpPr>
        <p:spPr>
          <a:xfrm>
            <a:off x="274320" y="694944"/>
            <a:ext cx="329184" cy="329184"/>
          </a:xfrm>
          <a:prstGeom prst="ellipse">
            <a:avLst/>
          </a:prstGeom>
          <a:solidFill>
            <a:srgbClr val="1A7A4A"/>
          </a:solidFill>
          <a:ln w="12700">
            <a:solidFill>
              <a:srgbClr val="1A7A4A"/>
            </a:solidFill>
            <a:prstDash val="solid"/>
          </a:ln>
        </p:spPr>
      </p:sp>
      <p:sp>
        <p:nvSpPr>
          <p:cNvPr id="12" name="Text 10"/>
          <p:cNvSpPr/>
          <p:nvPr/>
        </p:nvSpPr>
        <p:spPr>
          <a:xfrm>
            <a:off x="274320" y="694944"/>
            <a:ext cx="329184" cy="32918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ρ</a:t>
            </a:r>
            <a:endParaRPr lang="en-US" sz="1400" dirty="0"/>
          </a:p>
        </p:txBody>
      </p:sp>
      <p:sp>
        <p:nvSpPr>
          <p:cNvPr id="13" name="Text 11"/>
          <p:cNvSpPr/>
          <p:nvPr/>
        </p:nvSpPr>
        <p:spPr>
          <a:xfrm>
            <a:off x="676656" y="694944"/>
            <a:ext cx="11210544" cy="20116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Rho</a:t>
            </a:r>
            <a:endParaRPr lang="en-US" sz="1200" dirty="0"/>
          </a:p>
        </p:txBody>
      </p:sp>
      <p:sp>
        <p:nvSpPr>
          <p:cNvPr id="14" name="Text 12"/>
          <p:cNvSpPr/>
          <p:nvPr/>
        </p:nvSpPr>
        <p:spPr>
          <a:xfrm>
            <a:off x="676656" y="896112"/>
            <a:ext cx="11210544" cy="164592"/>
          </a:xfrm>
          <a:prstGeom prst="rect">
            <a:avLst/>
          </a:prstGeom>
          <a:noFill/>
          <a:ln/>
        </p:spPr>
        <p:txBody>
          <a:bodyPr wrap="square" rtlCol="0" anchor="ctr"/>
          <a:lstStyle/>
          <a:p>
            <a:pPr marL="0" indent="0">
              <a:buNone/>
            </a:pPr>
            <a:r>
              <a:rPr lang="en-US" sz="800" dirty="0">
                <a:solidFill>
                  <a:srgbClr val="CADCFC"/>
                </a:solidFill>
                <a:latin typeface="Calibri" pitchFamily="34" charset="0"/>
                <a:ea typeface="Calibri" pitchFamily="34" charset="-122"/>
                <a:cs typeface="Calibri" pitchFamily="34" charset="-120"/>
              </a:rPr>
              <a:t>1st Order  |  Road Incline  |  Interest Rate Sensitivity</a:t>
            </a:r>
            <a:endParaRPr lang="en-US" sz="800" dirty="0"/>
          </a:p>
        </p:txBody>
      </p:sp>
      <p:sp>
        <p:nvSpPr>
          <p:cNvPr id="15" name="Shape 13"/>
          <p:cNvSpPr/>
          <p:nvPr/>
        </p:nvSpPr>
        <p:spPr>
          <a:xfrm>
            <a:off x="182880" y="1188720"/>
            <a:ext cx="5861304" cy="256032"/>
          </a:xfrm>
          <a:prstGeom prst="rect">
            <a:avLst/>
          </a:prstGeom>
          <a:solidFill>
            <a:srgbClr val="1A7A4A"/>
          </a:solidFill>
          <a:ln w="12700">
            <a:solidFill>
              <a:srgbClr val="1A7A4A"/>
            </a:solidFill>
            <a:prstDash val="solid"/>
          </a:ln>
        </p:spPr>
      </p:sp>
      <p:sp>
        <p:nvSpPr>
          <p:cNvPr id="16" name="Text 14"/>
          <p:cNvSpPr/>
          <p:nvPr/>
        </p:nvSpPr>
        <p:spPr>
          <a:xfrm>
            <a:off x="256032" y="1188720"/>
            <a:ext cx="5769864" cy="25603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CAR ANALOGY</a:t>
            </a:r>
            <a:endParaRPr lang="en-US" sz="800" dirty="0"/>
          </a:p>
        </p:txBody>
      </p:sp>
      <p:sp>
        <p:nvSpPr>
          <p:cNvPr id="17" name="Shape 15"/>
          <p:cNvSpPr/>
          <p:nvPr/>
        </p:nvSpPr>
        <p:spPr>
          <a:xfrm>
            <a:off x="182880" y="1444752"/>
            <a:ext cx="5861304" cy="1097280"/>
          </a:xfrm>
          <a:prstGeom prst="rect">
            <a:avLst/>
          </a:prstGeom>
          <a:solidFill>
            <a:srgbClr val="E6F7F4"/>
          </a:solidFill>
          <a:ln w="12700">
            <a:solidFill>
              <a:srgbClr val="1A7A4A"/>
            </a:solidFill>
            <a:prstDash val="solid"/>
          </a:ln>
        </p:spPr>
      </p:sp>
      <p:sp>
        <p:nvSpPr>
          <p:cNvPr id="18" name="Text 16"/>
          <p:cNvSpPr/>
          <p:nvPr/>
        </p:nvSpPr>
        <p:spPr>
          <a:xfrm>
            <a:off x="256032" y="1463040"/>
            <a:ext cx="5715000" cy="1042416"/>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Rho is the gradient of the road. Higher rates = driving uphill, more fuel (financing cost). Calls gain (cheaper to own stock on leverage). Puts lose. Matters on long motorway journeys (long-dated options). Short trips feel little effect.</a:t>
            </a:r>
            <a:endParaRPr lang="en-US" sz="850" dirty="0"/>
          </a:p>
        </p:txBody>
      </p:sp>
      <p:sp>
        <p:nvSpPr>
          <p:cNvPr id="19" name="Shape 17"/>
          <p:cNvSpPr/>
          <p:nvPr/>
        </p:nvSpPr>
        <p:spPr>
          <a:xfrm>
            <a:off x="6099048" y="1188720"/>
            <a:ext cx="5861304" cy="256032"/>
          </a:xfrm>
          <a:prstGeom prst="rect">
            <a:avLst/>
          </a:prstGeom>
          <a:solidFill>
            <a:srgbClr val="E8960C"/>
          </a:solidFill>
          <a:ln w="12700">
            <a:solidFill>
              <a:srgbClr val="E8960C"/>
            </a:solidFill>
            <a:prstDash val="solid"/>
          </a:ln>
        </p:spPr>
      </p:sp>
      <p:sp>
        <p:nvSpPr>
          <p:cNvPr id="20" name="Text 18"/>
          <p:cNvSpPr/>
          <p:nvPr/>
        </p:nvSpPr>
        <p:spPr>
          <a:xfrm>
            <a:off x="6172200" y="1188720"/>
            <a:ext cx="5769864" cy="25603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INSURANCE ANALOGY</a:t>
            </a:r>
            <a:endParaRPr lang="en-US" sz="800" dirty="0"/>
          </a:p>
        </p:txBody>
      </p:sp>
      <p:sp>
        <p:nvSpPr>
          <p:cNvPr id="21" name="Shape 19"/>
          <p:cNvSpPr/>
          <p:nvPr/>
        </p:nvSpPr>
        <p:spPr>
          <a:xfrm>
            <a:off x="6099048" y="1444752"/>
            <a:ext cx="5861304" cy="1097280"/>
          </a:xfrm>
          <a:prstGeom prst="rect">
            <a:avLst/>
          </a:prstGeom>
          <a:solidFill>
            <a:srgbClr val="FFF8E7"/>
          </a:solidFill>
          <a:ln w="12700">
            <a:solidFill>
              <a:srgbClr val="E8960C"/>
            </a:solidFill>
            <a:prstDash val="solid"/>
          </a:ln>
        </p:spPr>
      </p:sp>
      <p:sp>
        <p:nvSpPr>
          <p:cNvPr id="22" name="Text 20"/>
          <p:cNvSpPr/>
          <p:nvPr/>
        </p:nvSpPr>
        <p:spPr>
          <a:xfrm>
            <a:off x="6172200" y="1463040"/>
            <a:ext cx="5715000" cy="1042416"/>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When base rates rise, insuring long-term assets costs more — like rising mortgage payments changing what your property is worth insuring. A background tilt that compounds over time and matters enormously for multi-year policies.</a:t>
            </a:r>
            <a:endParaRPr lang="en-US" sz="850" dirty="0"/>
          </a:p>
        </p:txBody>
      </p:sp>
      <p:sp>
        <p:nvSpPr>
          <p:cNvPr id="23" name="Shape 21"/>
          <p:cNvSpPr/>
          <p:nvPr/>
        </p:nvSpPr>
        <p:spPr>
          <a:xfrm>
            <a:off x="182880" y="2633472"/>
            <a:ext cx="11777472" cy="256032"/>
          </a:xfrm>
          <a:prstGeom prst="rect">
            <a:avLst/>
          </a:prstGeom>
          <a:solidFill>
            <a:srgbClr val="D97706"/>
          </a:solidFill>
          <a:ln w="12700">
            <a:solidFill>
              <a:srgbClr val="E8960C"/>
            </a:solidFill>
            <a:prstDash val="solid"/>
          </a:ln>
        </p:spPr>
      </p:sp>
      <p:sp>
        <p:nvSpPr>
          <p:cNvPr id="24" name="Text 22"/>
          <p:cNvSpPr/>
          <p:nvPr/>
        </p:nvSpPr>
        <p:spPr>
          <a:xfrm>
            <a:off x="256032" y="2633472"/>
            <a:ext cx="11686032" cy="25603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WHAT-IF BOX</a:t>
            </a:r>
            <a:endParaRPr lang="en-US" sz="800" dirty="0"/>
          </a:p>
        </p:txBody>
      </p:sp>
      <p:sp>
        <p:nvSpPr>
          <p:cNvPr id="25" name="Shape 23"/>
          <p:cNvSpPr/>
          <p:nvPr/>
        </p:nvSpPr>
        <p:spPr>
          <a:xfrm>
            <a:off x="182880" y="2889504"/>
            <a:ext cx="11777472" cy="731520"/>
          </a:xfrm>
          <a:prstGeom prst="rect">
            <a:avLst/>
          </a:prstGeom>
          <a:solidFill>
            <a:srgbClr val="FFF8E7"/>
          </a:solidFill>
          <a:ln w="12700">
            <a:solidFill>
              <a:srgbClr val="E8960C"/>
            </a:solidFill>
            <a:prstDash val="solid"/>
          </a:ln>
        </p:spPr>
      </p:sp>
      <p:sp>
        <p:nvSpPr>
          <p:cNvPr id="26" name="Text 24"/>
          <p:cNvSpPr/>
          <p:nvPr/>
        </p:nvSpPr>
        <p:spPr>
          <a:xfrm>
            <a:off x="256032" y="2907792"/>
            <a:ext cx="11631168" cy="685800"/>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Rates rise 25bp. Eq-1 ρ per bp ≈ $0.000053. P&amp;L from 25bp rise ≈ $0.0013 — very small for this 1yr equity call. But for a 10yr equity LEAP or rate derivative, rho dominates. IR-1 DV01 ≈ €25.3/bp.</a:t>
            </a:r>
            <a:endParaRPr lang="en-US" sz="850" dirty="0"/>
          </a:p>
        </p:txBody>
      </p:sp>
      <p:sp>
        <p:nvSpPr>
          <p:cNvPr id="27" name="Shape 25"/>
          <p:cNvSpPr/>
          <p:nvPr/>
        </p:nvSpPr>
        <p:spPr>
          <a:xfrm>
            <a:off x="182880" y="3511296"/>
            <a:ext cx="11777472" cy="274320"/>
          </a:xfrm>
          <a:prstGeom prst="rect">
            <a:avLst/>
          </a:prstGeom>
          <a:solidFill>
            <a:srgbClr val="F5F7FA"/>
          </a:solidFill>
          <a:ln w="12700">
            <a:solidFill>
              <a:srgbClr val="028090"/>
            </a:solidFill>
            <a:prstDash val="solid"/>
          </a:ln>
        </p:spPr>
      </p:sp>
      <p:sp>
        <p:nvSpPr>
          <p:cNvPr id="28" name="Text 26"/>
          <p:cNvSpPr/>
          <p:nvPr/>
        </p:nvSpPr>
        <p:spPr>
          <a:xfrm>
            <a:off x="274320" y="3511296"/>
            <a:ext cx="11594592" cy="274320"/>
          </a:xfrm>
          <a:prstGeom prst="rect">
            <a:avLst/>
          </a:prstGeom>
          <a:noFill/>
          <a:ln/>
        </p:spPr>
        <p:txBody>
          <a:bodyPr wrap="square" rtlCol="0" anchor="ctr"/>
          <a:lstStyle/>
          <a:p>
            <a:pPr marL="0" indent="0">
              <a:buNone/>
            </a:pPr>
            <a:r>
              <a:rPr lang="en-US" sz="900" i="1" dirty="0">
                <a:solidFill>
                  <a:srgbClr val="1E2761"/>
                </a:solidFill>
                <a:latin typeface="Calibri" pitchFamily="34" charset="0"/>
                <a:ea typeface="Calibri" pitchFamily="34" charset="-122"/>
                <a:cs typeface="Calibri" pitchFamily="34" charset="-120"/>
              </a:rPr>
              <a:t>ρ_call = K · T · e^(−rT) · N(d₂) / 10,000    (per basis point)</a:t>
            </a:r>
            <a:endParaRPr lang="en-US" sz="900" dirty="0"/>
          </a:p>
        </p:txBody>
      </p:sp>
      <p:sp>
        <p:nvSpPr>
          <p:cNvPr id="29" name="Shape 27"/>
          <p:cNvSpPr/>
          <p:nvPr/>
        </p:nvSpPr>
        <p:spPr>
          <a:xfrm>
            <a:off x="182880" y="3877056"/>
            <a:ext cx="2194560" cy="329184"/>
          </a:xfrm>
          <a:prstGeom prst="rect">
            <a:avLst/>
          </a:prstGeom>
          <a:solidFill>
            <a:srgbClr val="F5F7FA"/>
          </a:solidFill>
          <a:ln w="12700">
            <a:solidFill>
              <a:srgbClr val="DEE3ED"/>
            </a:solidFill>
            <a:prstDash val="solid"/>
          </a:ln>
        </p:spPr>
      </p:sp>
      <p:sp>
        <p:nvSpPr>
          <p:cNvPr id="30" name="Text 28"/>
          <p:cNvSpPr/>
          <p:nvPr/>
        </p:nvSpPr>
        <p:spPr>
          <a:xfrm>
            <a:off x="237744" y="3877056"/>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Formal Def.</a:t>
            </a:r>
            <a:endParaRPr lang="en-US" sz="800" dirty="0"/>
          </a:p>
        </p:txBody>
      </p:sp>
      <p:sp>
        <p:nvSpPr>
          <p:cNvPr id="31" name="Shape 29"/>
          <p:cNvSpPr/>
          <p:nvPr/>
        </p:nvSpPr>
        <p:spPr>
          <a:xfrm>
            <a:off x="2377440" y="3877056"/>
            <a:ext cx="9582912" cy="329184"/>
          </a:xfrm>
          <a:prstGeom prst="rect">
            <a:avLst/>
          </a:prstGeom>
          <a:solidFill>
            <a:srgbClr val="FFFFFF"/>
          </a:solidFill>
          <a:ln w="12700">
            <a:solidFill>
              <a:srgbClr val="DEE3ED"/>
            </a:solidFill>
            <a:prstDash val="solid"/>
          </a:ln>
        </p:spPr>
      </p:sp>
      <p:sp>
        <p:nvSpPr>
          <p:cNvPr id="32" name="Text 30"/>
          <p:cNvSpPr/>
          <p:nvPr/>
        </p:nvSpPr>
        <p:spPr>
          <a:xfrm>
            <a:off x="2432304" y="3877056"/>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ρ = ∂V/∂r — first partial derivative with respect to risk-free rate r</a:t>
            </a:r>
            <a:endParaRPr lang="en-US" sz="800" dirty="0"/>
          </a:p>
        </p:txBody>
      </p:sp>
      <p:sp>
        <p:nvSpPr>
          <p:cNvPr id="33" name="Shape 31"/>
          <p:cNvSpPr/>
          <p:nvPr/>
        </p:nvSpPr>
        <p:spPr>
          <a:xfrm>
            <a:off x="182880" y="4224528"/>
            <a:ext cx="2194560" cy="329184"/>
          </a:xfrm>
          <a:prstGeom prst="rect">
            <a:avLst/>
          </a:prstGeom>
          <a:solidFill>
            <a:srgbClr val="F5F7FA"/>
          </a:solidFill>
          <a:ln w="12700">
            <a:solidFill>
              <a:srgbClr val="DEE3ED"/>
            </a:solidFill>
            <a:prstDash val="solid"/>
          </a:ln>
        </p:spPr>
      </p:sp>
      <p:sp>
        <p:nvSpPr>
          <p:cNvPr id="34" name="Text 32"/>
          <p:cNvSpPr/>
          <p:nvPr/>
        </p:nvSpPr>
        <p:spPr>
          <a:xfrm>
            <a:off x="237744" y="4224528"/>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Range</a:t>
            </a:r>
            <a:endParaRPr lang="en-US" sz="800" dirty="0"/>
          </a:p>
        </p:txBody>
      </p:sp>
      <p:sp>
        <p:nvSpPr>
          <p:cNvPr id="35" name="Shape 33"/>
          <p:cNvSpPr/>
          <p:nvPr/>
        </p:nvSpPr>
        <p:spPr>
          <a:xfrm>
            <a:off x="2377440" y="4224528"/>
            <a:ext cx="9582912" cy="329184"/>
          </a:xfrm>
          <a:prstGeom prst="rect">
            <a:avLst/>
          </a:prstGeom>
          <a:solidFill>
            <a:srgbClr val="F5F7FA"/>
          </a:solidFill>
          <a:ln w="12700">
            <a:solidFill>
              <a:srgbClr val="DEE3ED"/>
            </a:solidFill>
            <a:prstDash val="solid"/>
          </a:ln>
        </p:spPr>
      </p:sp>
      <p:sp>
        <p:nvSpPr>
          <p:cNvPr id="36" name="Text 34"/>
          <p:cNvSpPr/>
          <p:nvPr/>
        </p:nvSpPr>
        <p:spPr>
          <a:xfrm>
            <a:off x="2432304" y="4224528"/>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Calls: positive ρ. Puts: negative ρ. Largest for long-dated, high-strike options.</a:t>
            </a:r>
            <a:endParaRPr lang="en-US" sz="800" dirty="0"/>
          </a:p>
        </p:txBody>
      </p:sp>
      <p:sp>
        <p:nvSpPr>
          <p:cNvPr id="37" name="Shape 35"/>
          <p:cNvSpPr/>
          <p:nvPr/>
        </p:nvSpPr>
        <p:spPr>
          <a:xfrm>
            <a:off x="182880" y="4572000"/>
            <a:ext cx="2194560" cy="329184"/>
          </a:xfrm>
          <a:prstGeom prst="rect">
            <a:avLst/>
          </a:prstGeom>
          <a:solidFill>
            <a:srgbClr val="F5F7FA"/>
          </a:solidFill>
          <a:ln w="12700">
            <a:solidFill>
              <a:srgbClr val="DEE3ED"/>
            </a:solidFill>
            <a:prstDash val="solid"/>
          </a:ln>
        </p:spPr>
      </p:sp>
      <p:sp>
        <p:nvSpPr>
          <p:cNvPr id="38" name="Text 36"/>
          <p:cNvSpPr/>
          <p:nvPr/>
        </p:nvSpPr>
        <p:spPr>
          <a:xfrm>
            <a:off x="237744" y="4572000"/>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Source</a:t>
            </a:r>
            <a:endParaRPr lang="en-US" sz="800" dirty="0"/>
          </a:p>
        </p:txBody>
      </p:sp>
      <p:sp>
        <p:nvSpPr>
          <p:cNvPr id="39" name="Shape 37"/>
          <p:cNvSpPr/>
          <p:nvPr/>
        </p:nvSpPr>
        <p:spPr>
          <a:xfrm>
            <a:off x="2377440" y="4572000"/>
            <a:ext cx="9582912" cy="329184"/>
          </a:xfrm>
          <a:prstGeom prst="rect">
            <a:avLst/>
          </a:prstGeom>
          <a:solidFill>
            <a:srgbClr val="FFFFFF"/>
          </a:solidFill>
          <a:ln w="12700">
            <a:solidFill>
              <a:srgbClr val="DEE3ED"/>
            </a:solidFill>
            <a:prstDash val="solid"/>
          </a:ln>
        </p:spPr>
      </p:sp>
      <p:sp>
        <p:nvSpPr>
          <p:cNvPr id="40" name="Text 38"/>
          <p:cNvSpPr/>
          <p:nvPr/>
        </p:nvSpPr>
        <p:spPr>
          <a:xfrm>
            <a:off x="2432304" y="4572000"/>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Analytic for vanilla; full yield curve DV01 bucketed by tenor for rate derivatives</a:t>
            </a:r>
            <a:endParaRPr lang="en-US" sz="800" dirty="0"/>
          </a:p>
        </p:txBody>
      </p:sp>
      <p:sp>
        <p:nvSpPr>
          <p:cNvPr id="41" name="Shape 39"/>
          <p:cNvSpPr/>
          <p:nvPr/>
        </p:nvSpPr>
        <p:spPr>
          <a:xfrm>
            <a:off x="182880" y="4919472"/>
            <a:ext cx="2194560" cy="329184"/>
          </a:xfrm>
          <a:prstGeom prst="rect">
            <a:avLst/>
          </a:prstGeom>
          <a:solidFill>
            <a:srgbClr val="F5F7FA"/>
          </a:solidFill>
          <a:ln w="12700">
            <a:solidFill>
              <a:srgbClr val="DEE3ED"/>
            </a:solidFill>
            <a:prstDash val="solid"/>
          </a:ln>
        </p:spPr>
      </p:sp>
      <p:sp>
        <p:nvSpPr>
          <p:cNvPr id="42" name="Text 40"/>
          <p:cNvSpPr/>
          <p:nvPr/>
        </p:nvSpPr>
        <p:spPr>
          <a:xfrm>
            <a:off x="237744" y="4919472"/>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Eq-1</a:t>
            </a:r>
            <a:endParaRPr lang="en-US" sz="800" dirty="0"/>
          </a:p>
        </p:txBody>
      </p:sp>
      <p:sp>
        <p:nvSpPr>
          <p:cNvPr id="43" name="Shape 41"/>
          <p:cNvSpPr/>
          <p:nvPr/>
        </p:nvSpPr>
        <p:spPr>
          <a:xfrm>
            <a:off x="2377440" y="4919472"/>
            <a:ext cx="9582912" cy="329184"/>
          </a:xfrm>
          <a:prstGeom prst="rect">
            <a:avLst/>
          </a:prstGeom>
          <a:solidFill>
            <a:srgbClr val="F5F7FA"/>
          </a:solidFill>
          <a:ln w="12700">
            <a:solidFill>
              <a:srgbClr val="DEE3ED"/>
            </a:solidFill>
            <a:prstDash val="solid"/>
          </a:ln>
        </p:spPr>
      </p:sp>
      <p:sp>
        <p:nvSpPr>
          <p:cNvPr id="44" name="Text 42"/>
          <p:cNvSpPr/>
          <p:nvPr/>
        </p:nvSpPr>
        <p:spPr>
          <a:xfrm>
            <a:off x="2432304" y="4919472"/>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ρ ≈ $0.000053/bp — modest for this 1yr ATM call</a:t>
            </a:r>
            <a:endParaRPr lang="en-US" sz="800" dirty="0"/>
          </a:p>
        </p:txBody>
      </p:sp>
      <p:sp>
        <p:nvSpPr>
          <p:cNvPr id="45" name="Shape 43"/>
          <p:cNvSpPr/>
          <p:nvPr/>
        </p:nvSpPr>
        <p:spPr>
          <a:xfrm>
            <a:off x="182880" y="5266944"/>
            <a:ext cx="2194560" cy="329184"/>
          </a:xfrm>
          <a:prstGeom prst="rect">
            <a:avLst/>
          </a:prstGeom>
          <a:solidFill>
            <a:srgbClr val="F5F7FA"/>
          </a:solidFill>
          <a:ln w="12700">
            <a:solidFill>
              <a:srgbClr val="DEE3ED"/>
            </a:solidFill>
            <a:prstDash val="solid"/>
          </a:ln>
        </p:spPr>
      </p:sp>
      <p:sp>
        <p:nvSpPr>
          <p:cNvPr id="46" name="Text 44"/>
          <p:cNvSpPr/>
          <p:nvPr/>
        </p:nvSpPr>
        <p:spPr>
          <a:xfrm>
            <a:off x="237744" y="5266944"/>
            <a:ext cx="2084832" cy="32918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IR-1</a:t>
            </a:r>
            <a:endParaRPr lang="en-US" sz="800" dirty="0"/>
          </a:p>
        </p:txBody>
      </p:sp>
      <p:sp>
        <p:nvSpPr>
          <p:cNvPr id="47" name="Shape 45"/>
          <p:cNvSpPr/>
          <p:nvPr/>
        </p:nvSpPr>
        <p:spPr>
          <a:xfrm>
            <a:off x="2377440" y="5266944"/>
            <a:ext cx="9582912" cy="329184"/>
          </a:xfrm>
          <a:prstGeom prst="rect">
            <a:avLst/>
          </a:prstGeom>
          <a:solidFill>
            <a:srgbClr val="FFFFFF"/>
          </a:solidFill>
          <a:ln w="12700">
            <a:solidFill>
              <a:srgbClr val="DEE3ED"/>
            </a:solidFill>
            <a:prstDash val="solid"/>
          </a:ln>
        </p:spPr>
      </p:sp>
      <p:sp>
        <p:nvSpPr>
          <p:cNvPr id="48" name="Text 46"/>
          <p:cNvSpPr/>
          <p:nvPr/>
        </p:nvSpPr>
        <p:spPr>
          <a:xfrm>
            <a:off x="2432304" y="5266944"/>
            <a:ext cx="9473184" cy="329184"/>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DV01 ≈ €25.3/bp — primary risk metric for rate derivatives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7FA"/>
          </a:solidFill>
          <a:ln w="12700">
            <a:solidFill>
              <a:srgbClr val="F5F7FA"/>
            </a:solidFill>
            <a:prstDash val="solid"/>
          </a:ln>
        </p:spPr>
      </p:sp>
      <p:sp>
        <p:nvSpPr>
          <p:cNvPr id="3" name="Shape 1"/>
          <p:cNvSpPr/>
          <p:nvPr/>
        </p:nvSpPr>
        <p:spPr>
          <a:xfrm>
            <a:off x="0" y="0"/>
            <a:ext cx="12161520" cy="475488"/>
          </a:xfrm>
          <a:prstGeom prst="rect">
            <a:avLst/>
          </a:prstGeom>
          <a:solidFill>
            <a:srgbClr val="1E2761"/>
          </a:solidFill>
          <a:ln w="12700">
            <a:solidFill>
              <a:srgbClr val="1E2761"/>
            </a:solidFill>
            <a:prstDash val="solid"/>
          </a:ln>
        </p:spPr>
      </p:sp>
      <p:sp>
        <p:nvSpPr>
          <p:cNvPr id="4" name="Shape 2"/>
          <p:cNvSpPr/>
          <p:nvPr/>
        </p:nvSpPr>
        <p:spPr>
          <a:xfrm>
            <a:off x="0" y="475488"/>
            <a:ext cx="12161520" cy="45720"/>
          </a:xfrm>
          <a:prstGeom prst="rect">
            <a:avLst/>
          </a:prstGeom>
          <a:solidFill>
            <a:srgbClr val="C9A84C"/>
          </a:solidFill>
          <a:ln w="12700">
            <a:solidFill>
              <a:srgbClr val="C9A84C"/>
            </a:solidFill>
            <a:prstDash val="solid"/>
          </a:ln>
        </p:spPr>
      </p:sp>
      <p:sp>
        <p:nvSpPr>
          <p:cNvPr id="5" name="Shape 3"/>
          <p:cNvSpPr/>
          <p:nvPr/>
        </p:nvSpPr>
        <p:spPr>
          <a:xfrm>
            <a:off x="0" y="6492240"/>
            <a:ext cx="12161520" cy="365760"/>
          </a:xfrm>
          <a:prstGeom prst="rect">
            <a:avLst/>
          </a:prstGeom>
          <a:solidFill>
            <a:srgbClr val="1E2761"/>
          </a:solidFill>
          <a:ln w="12700">
            <a:solidFill>
              <a:srgbClr val="1E2761"/>
            </a:solidFill>
            <a:prstDash val="solid"/>
          </a:ln>
        </p:spPr>
      </p:sp>
      <p:sp>
        <p:nvSpPr>
          <p:cNvPr id="6" name="Text 4"/>
          <p:cNvSpPr/>
          <p:nvPr/>
        </p:nvSpPr>
        <p:spPr>
          <a:xfrm>
            <a:off x="182880" y="6510528"/>
            <a:ext cx="8229600" cy="228600"/>
          </a:xfrm>
          <a:prstGeom prst="rect">
            <a:avLst/>
          </a:prstGeom>
          <a:noFill/>
          <a:ln/>
        </p:spPr>
        <p:txBody>
          <a:bodyPr wrap="square" rtlCol="0" anchor="ctr"/>
          <a:lstStyle/>
          <a:p>
            <a:pPr marL="0" indent="0">
              <a:buNone/>
            </a:pPr>
            <a:r>
              <a:rPr lang="en-US" sz="750" dirty="0">
                <a:solidFill>
                  <a:srgbClr val="CADCFC"/>
                </a:solidFill>
                <a:latin typeface="Calibri" pitchFamily="34" charset="0"/>
                <a:ea typeface="Calibri" pitchFamily="34" charset="-122"/>
                <a:cs typeface="Calibri" pitchFamily="34" charset="-120"/>
              </a:rPr>
              <a:t>Curated by Sarthaka Nanda (with Anthropic Claude)  |  Greeks &amp; Sensitivities — Module 0</a:t>
            </a:r>
            <a:endParaRPr lang="en-US" sz="750" dirty="0"/>
          </a:p>
        </p:txBody>
      </p:sp>
      <p:sp>
        <p:nvSpPr>
          <p:cNvPr id="7" name="Text 5"/>
          <p:cNvSpPr/>
          <p:nvPr/>
        </p:nvSpPr>
        <p:spPr>
          <a:xfrm>
            <a:off x="10515600" y="6510528"/>
            <a:ext cx="1463040" cy="228600"/>
          </a:xfrm>
          <a:prstGeom prst="rect">
            <a:avLst/>
          </a:prstGeom>
          <a:noFill/>
          <a:ln/>
        </p:spPr>
        <p:txBody>
          <a:bodyPr wrap="square" rtlCol="0" anchor="ctr"/>
          <a:lstStyle/>
          <a:p>
            <a:pPr marL="0" indent="0" algn="r">
              <a:buNone/>
            </a:pPr>
            <a:r>
              <a:rPr lang="en-US" sz="750" dirty="0">
                <a:solidFill>
                  <a:srgbClr val="C9A84C"/>
                </a:solidFill>
                <a:latin typeface="Calibri" pitchFamily="34" charset="0"/>
                <a:ea typeface="Calibri" pitchFamily="34" charset="-122"/>
                <a:cs typeface="Calibri" pitchFamily="34" charset="-120"/>
              </a:rPr>
              <a:t>CC BY-NC 4.0</a:t>
            </a:r>
            <a:endParaRPr lang="en-US" sz="750" dirty="0"/>
          </a:p>
        </p:txBody>
      </p:sp>
      <p:sp>
        <p:nvSpPr>
          <p:cNvPr id="8" name="Text 6"/>
          <p:cNvSpPr/>
          <p:nvPr/>
        </p:nvSpPr>
        <p:spPr>
          <a:xfrm>
            <a:off x="274320" y="64008"/>
            <a:ext cx="1161288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Second-Order Greeks — Gamma, Vanna, Volga, Charm</a:t>
            </a:r>
            <a:endParaRPr lang="en-US" sz="1500" dirty="0"/>
          </a:p>
        </p:txBody>
      </p:sp>
      <p:sp>
        <p:nvSpPr>
          <p:cNvPr id="9" name="Shape 7"/>
          <p:cNvSpPr/>
          <p:nvPr/>
        </p:nvSpPr>
        <p:spPr>
          <a:xfrm>
            <a:off x="182880" y="640080"/>
            <a:ext cx="5852160" cy="2880360"/>
          </a:xfrm>
          <a:prstGeom prst="rect">
            <a:avLst/>
          </a:prstGeom>
          <a:solidFill>
            <a:srgbClr val="FFFFFF"/>
          </a:solidFill>
          <a:ln w="12700">
            <a:solidFill>
              <a:srgbClr val="DEE3ED"/>
            </a:solidFill>
            <a:prstDash val="solid"/>
          </a:ln>
          <a:effectLst>
            <a:outerShdw blurRad="63500" dist="25400" dir="8100000" algn="bl" rotWithShape="0">
              <a:srgbClr val="000000">
                <a:alpha val="10000"/>
              </a:srgbClr>
            </a:outerShdw>
          </a:effectLst>
        </p:spPr>
      </p:sp>
      <p:sp>
        <p:nvSpPr>
          <p:cNvPr id="10" name="Shape 8"/>
          <p:cNvSpPr/>
          <p:nvPr/>
        </p:nvSpPr>
        <p:spPr>
          <a:xfrm>
            <a:off x="182880" y="640080"/>
            <a:ext cx="5852160" cy="347472"/>
          </a:xfrm>
          <a:prstGeom prst="rect">
            <a:avLst/>
          </a:prstGeom>
          <a:solidFill>
            <a:srgbClr val="1E2761"/>
          </a:solidFill>
          <a:ln w="12700">
            <a:solidFill>
              <a:srgbClr val="1E2761"/>
            </a:solidFill>
            <a:prstDash val="solid"/>
          </a:ln>
        </p:spPr>
      </p:sp>
      <p:sp>
        <p:nvSpPr>
          <p:cNvPr id="11" name="Shape 9"/>
          <p:cNvSpPr/>
          <p:nvPr/>
        </p:nvSpPr>
        <p:spPr>
          <a:xfrm>
            <a:off x="182880" y="987552"/>
            <a:ext cx="5852160" cy="27432"/>
          </a:xfrm>
          <a:prstGeom prst="rect">
            <a:avLst/>
          </a:prstGeom>
          <a:solidFill>
            <a:srgbClr val="C9A84C"/>
          </a:solidFill>
          <a:ln w="12700">
            <a:solidFill>
              <a:srgbClr val="C9A84C"/>
            </a:solidFill>
            <a:prstDash val="solid"/>
          </a:ln>
        </p:spPr>
      </p:sp>
      <p:sp>
        <p:nvSpPr>
          <p:cNvPr id="12" name="Shape 10"/>
          <p:cNvSpPr/>
          <p:nvPr/>
        </p:nvSpPr>
        <p:spPr>
          <a:xfrm>
            <a:off x="256032" y="685800"/>
            <a:ext cx="256032" cy="256032"/>
          </a:xfrm>
          <a:prstGeom prst="ellipse">
            <a:avLst/>
          </a:prstGeom>
          <a:solidFill>
            <a:srgbClr val="B45309"/>
          </a:solidFill>
          <a:ln w="12700">
            <a:solidFill>
              <a:srgbClr val="B45309"/>
            </a:solidFill>
            <a:prstDash val="solid"/>
          </a:ln>
        </p:spPr>
      </p:sp>
      <p:sp>
        <p:nvSpPr>
          <p:cNvPr id="13" name="Text 11"/>
          <p:cNvSpPr/>
          <p:nvPr/>
        </p:nvSpPr>
        <p:spPr>
          <a:xfrm>
            <a:off x="256032" y="68580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Γ</a:t>
            </a:r>
            <a:endParaRPr lang="en-US" sz="1100" dirty="0"/>
          </a:p>
        </p:txBody>
      </p:sp>
      <p:sp>
        <p:nvSpPr>
          <p:cNvPr id="14" name="Text 12"/>
          <p:cNvSpPr/>
          <p:nvPr/>
        </p:nvSpPr>
        <p:spPr>
          <a:xfrm>
            <a:off x="566928" y="694944"/>
            <a:ext cx="5376672"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Gamma — Accelerator</a:t>
            </a:r>
            <a:endParaRPr lang="en-US" sz="1000" dirty="0"/>
          </a:p>
        </p:txBody>
      </p:sp>
      <p:sp>
        <p:nvSpPr>
          <p:cNvPr id="15" name="Shape 13"/>
          <p:cNvSpPr/>
          <p:nvPr/>
        </p:nvSpPr>
        <p:spPr>
          <a:xfrm>
            <a:off x="228600" y="1051560"/>
            <a:ext cx="2880360" cy="182880"/>
          </a:xfrm>
          <a:prstGeom prst="rect">
            <a:avLst/>
          </a:prstGeom>
          <a:solidFill>
            <a:srgbClr val="B45309"/>
          </a:solidFill>
          <a:ln w="12700">
            <a:solidFill>
              <a:srgbClr val="B45309"/>
            </a:solidFill>
            <a:prstDash val="solid"/>
          </a:ln>
        </p:spPr>
      </p:sp>
      <p:sp>
        <p:nvSpPr>
          <p:cNvPr id="16" name="Text 14"/>
          <p:cNvSpPr/>
          <p:nvPr/>
        </p:nvSpPr>
        <p:spPr>
          <a:xfrm>
            <a:off x="246888" y="1051560"/>
            <a:ext cx="2843784" cy="182880"/>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Car</a:t>
            </a:r>
            <a:endParaRPr lang="en-US" sz="750" dirty="0"/>
          </a:p>
        </p:txBody>
      </p:sp>
      <p:sp>
        <p:nvSpPr>
          <p:cNvPr id="17" name="Shape 15"/>
          <p:cNvSpPr/>
          <p:nvPr/>
        </p:nvSpPr>
        <p:spPr>
          <a:xfrm>
            <a:off x="228600" y="1234440"/>
            <a:ext cx="2880360" cy="621792"/>
          </a:xfrm>
          <a:prstGeom prst="rect">
            <a:avLst/>
          </a:prstGeom>
          <a:solidFill>
            <a:srgbClr val="E6F7F4"/>
          </a:solidFill>
          <a:ln w="12700">
            <a:solidFill>
              <a:srgbClr val="B45309"/>
            </a:solidFill>
            <a:prstDash val="solid"/>
          </a:ln>
        </p:spPr>
      </p:sp>
      <p:sp>
        <p:nvSpPr>
          <p:cNvPr id="18" name="Text 16"/>
          <p:cNvSpPr/>
          <p:nvPr/>
        </p:nvSpPr>
        <p:spPr>
          <a:xfrm>
            <a:off x="256032" y="1252728"/>
            <a:ext cx="2825496" cy="585216"/>
          </a:xfrm>
          <a:prstGeom prst="rect">
            <a:avLst/>
          </a:prstGeom>
          <a:noFill/>
          <a:ln/>
        </p:spPr>
        <p:txBody>
          <a:bodyPr wrap="square" rtlCol="0" anchor="t"/>
          <a:lstStyle/>
          <a:p>
            <a:pPr marL="0" indent="0">
              <a:buNone/>
            </a:pPr>
            <a:r>
              <a:rPr lang="en-US" sz="750" dirty="0">
                <a:solidFill>
                  <a:srgbClr val="1A1A1A"/>
                </a:solidFill>
                <a:latin typeface="Calibri" pitchFamily="34" charset="0"/>
                <a:ea typeface="Calibri" pitchFamily="34" charset="-122"/>
                <a:cs typeface="Calibri" pitchFamily="34" charset="-120"/>
              </a:rPr>
              <a:t>How fast your speedometer needle moves when you accelerate. High gamma = urgent hedge rebalancing.</a:t>
            </a:r>
            <a:endParaRPr lang="en-US" sz="750" dirty="0"/>
          </a:p>
        </p:txBody>
      </p:sp>
      <p:sp>
        <p:nvSpPr>
          <p:cNvPr id="19" name="Shape 17"/>
          <p:cNvSpPr/>
          <p:nvPr/>
        </p:nvSpPr>
        <p:spPr>
          <a:xfrm>
            <a:off x="3154680" y="1051560"/>
            <a:ext cx="2880360" cy="182880"/>
          </a:xfrm>
          <a:prstGeom prst="rect">
            <a:avLst/>
          </a:prstGeom>
          <a:solidFill>
            <a:srgbClr val="E8960C"/>
          </a:solidFill>
          <a:ln w="12700">
            <a:solidFill>
              <a:srgbClr val="E8960C"/>
            </a:solidFill>
            <a:prstDash val="solid"/>
          </a:ln>
        </p:spPr>
      </p:sp>
      <p:sp>
        <p:nvSpPr>
          <p:cNvPr id="20" name="Text 18"/>
          <p:cNvSpPr/>
          <p:nvPr/>
        </p:nvSpPr>
        <p:spPr>
          <a:xfrm>
            <a:off x="3172968" y="1051560"/>
            <a:ext cx="2843784" cy="182880"/>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Insurance</a:t>
            </a:r>
            <a:endParaRPr lang="en-US" sz="750" dirty="0"/>
          </a:p>
        </p:txBody>
      </p:sp>
      <p:sp>
        <p:nvSpPr>
          <p:cNvPr id="21" name="Shape 19"/>
          <p:cNvSpPr/>
          <p:nvPr/>
        </p:nvSpPr>
        <p:spPr>
          <a:xfrm>
            <a:off x="3154680" y="1234440"/>
            <a:ext cx="2880360" cy="621792"/>
          </a:xfrm>
          <a:prstGeom prst="rect">
            <a:avLst/>
          </a:prstGeom>
          <a:solidFill>
            <a:srgbClr val="FFF8E7"/>
          </a:solidFill>
          <a:ln w="12700">
            <a:solidFill>
              <a:srgbClr val="E8960C"/>
            </a:solidFill>
            <a:prstDash val="solid"/>
          </a:ln>
        </p:spPr>
      </p:sp>
      <p:sp>
        <p:nvSpPr>
          <p:cNvPr id="22" name="Text 20"/>
          <p:cNvSpPr/>
          <p:nvPr/>
        </p:nvSpPr>
        <p:spPr>
          <a:xfrm>
            <a:off x="3182112" y="1252728"/>
            <a:ext cx="2825496" cy="585216"/>
          </a:xfrm>
          <a:prstGeom prst="rect">
            <a:avLst/>
          </a:prstGeom>
          <a:noFill/>
          <a:ln/>
        </p:spPr>
        <p:txBody>
          <a:bodyPr wrap="square" rtlCol="0" anchor="t"/>
          <a:lstStyle/>
          <a:p>
            <a:pPr marL="0" indent="0">
              <a:buNone/>
            </a:pPr>
            <a:r>
              <a:rPr lang="en-US" sz="750" dirty="0">
                <a:solidFill>
                  <a:srgbClr val="1A1A1A"/>
                </a:solidFill>
                <a:latin typeface="Calibri" pitchFamily="34" charset="0"/>
                <a:ea typeface="Calibri" pitchFamily="34" charset="-122"/>
                <a:cs typeface="Calibri" pitchFamily="34" charset="-120"/>
              </a:rPr>
              <a:t>Convex payout curve — bigger accident = proportionally bigger payout. That convexity is gamma.</a:t>
            </a:r>
            <a:endParaRPr lang="en-US" sz="750" dirty="0"/>
          </a:p>
        </p:txBody>
      </p:sp>
      <p:sp>
        <p:nvSpPr>
          <p:cNvPr id="23" name="Shape 21"/>
          <p:cNvSpPr/>
          <p:nvPr/>
        </p:nvSpPr>
        <p:spPr>
          <a:xfrm>
            <a:off x="228600" y="1892808"/>
            <a:ext cx="5760720" cy="146304"/>
          </a:xfrm>
          <a:prstGeom prst="rect">
            <a:avLst/>
          </a:prstGeom>
          <a:solidFill>
            <a:srgbClr val="D97706"/>
          </a:solidFill>
          <a:ln w="12700">
            <a:solidFill>
              <a:srgbClr val="E8960C"/>
            </a:solidFill>
            <a:prstDash val="solid"/>
          </a:ln>
        </p:spPr>
      </p:sp>
      <p:sp>
        <p:nvSpPr>
          <p:cNvPr id="24" name="Text 22"/>
          <p:cNvSpPr/>
          <p:nvPr/>
        </p:nvSpPr>
        <p:spPr>
          <a:xfrm>
            <a:off x="246888" y="1892808"/>
            <a:ext cx="5724144" cy="146304"/>
          </a:xfrm>
          <a:prstGeom prst="rect">
            <a:avLst/>
          </a:prstGeom>
          <a:noFill/>
          <a:ln/>
        </p:spPr>
        <p:txBody>
          <a:bodyPr wrap="square" rtlCol="0" anchor="ctr"/>
          <a:lstStyle/>
          <a:p>
            <a:pPr marL="0" indent="0">
              <a:buNone/>
            </a:pPr>
            <a:r>
              <a:rPr lang="en-US" sz="700" b="1" dirty="0">
                <a:solidFill>
                  <a:srgbClr val="FFFFFF"/>
                </a:solidFill>
                <a:latin typeface="Calibri" pitchFamily="34" charset="0"/>
                <a:ea typeface="Calibri" pitchFamily="34" charset="-122"/>
                <a:cs typeface="Calibri" pitchFamily="34" charset="-120"/>
              </a:rPr>
              <a:t>What-if</a:t>
            </a:r>
            <a:endParaRPr lang="en-US" sz="700" dirty="0"/>
          </a:p>
        </p:txBody>
      </p:sp>
      <p:sp>
        <p:nvSpPr>
          <p:cNvPr id="25" name="Shape 23"/>
          <p:cNvSpPr/>
          <p:nvPr/>
        </p:nvSpPr>
        <p:spPr>
          <a:xfrm>
            <a:off x="228600" y="2039112"/>
            <a:ext cx="5760720" cy="457200"/>
          </a:xfrm>
          <a:prstGeom prst="rect">
            <a:avLst/>
          </a:prstGeom>
          <a:solidFill>
            <a:srgbClr val="FFF8E7"/>
          </a:solidFill>
          <a:ln w="12700">
            <a:solidFill>
              <a:srgbClr val="E8960C"/>
            </a:solidFill>
            <a:prstDash val="solid"/>
          </a:ln>
        </p:spPr>
      </p:sp>
      <p:sp>
        <p:nvSpPr>
          <p:cNvPr id="26" name="Text 24"/>
          <p:cNvSpPr/>
          <p:nvPr/>
        </p:nvSpPr>
        <p:spPr>
          <a:xfrm>
            <a:off x="256032" y="2057400"/>
            <a:ext cx="5705856" cy="420624"/>
          </a:xfrm>
          <a:prstGeom prst="rect">
            <a:avLst/>
          </a:prstGeom>
          <a:noFill/>
          <a:ln/>
        </p:spPr>
        <p:txBody>
          <a:bodyPr wrap="square" rtlCol="0" anchor="t"/>
          <a:lstStyle/>
          <a:p>
            <a:pPr marL="0" indent="0">
              <a:buNone/>
            </a:pPr>
            <a:r>
              <a:rPr lang="en-US" sz="750" dirty="0">
                <a:solidFill>
                  <a:srgbClr val="1A1A1A"/>
                </a:solidFill>
                <a:latin typeface="Calibri" pitchFamily="34" charset="0"/>
                <a:ea typeface="Calibri" pitchFamily="34" charset="-122"/>
                <a:cs typeface="Calibri" pitchFamily="34" charset="-120"/>
              </a:rPr>
              <a:t>$5 move: Delta P&amp;L = $3.18 + Gamma bonus = ½×0.019×25 = $0.24. Total $3.42. The $0.24 is convexity — free gift of being long gamma.</a:t>
            </a:r>
            <a:endParaRPr lang="en-US" sz="750" dirty="0"/>
          </a:p>
        </p:txBody>
      </p:sp>
      <p:sp>
        <p:nvSpPr>
          <p:cNvPr id="27" name="Shape 25"/>
          <p:cNvSpPr/>
          <p:nvPr/>
        </p:nvSpPr>
        <p:spPr>
          <a:xfrm>
            <a:off x="228600" y="2542032"/>
            <a:ext cx="5760720" cy="256032"/>
          </a:xfrm>
          <a:prstGeom prst="rect">
            <a:avLst/>
          </a:prstGeom>
          <a:solidFill>
            <a:srgbClr val="F5F7FA"/>
          </a:solidFill>
          <a:ln w="12700">
            <a:solidFill>
              <a:srgbClr val="028090"/>
            </a:solidFill>
            <a:prstDash val="solid"/>
          </a:ln>
        </p:spPr>
      </p:sp>
      <p:sp>
        <p:nvSpPr>
          <p:cNvPr id="28" name="Text 26"/>
          <p:cNvSpPr/>
          <p:nvPr/>
        </p:nvSpPr>
        <p:spPr>
          <a:xfrm>
            <a:off x="256032" y="2551176"/>
            <a:ext cx="5705856" cy="237744"/>
          </a:xfrm>
          <a:prstGeom prst="rect">
            <a:avLst/>
          </a:prstGeom>
          <a:noFill/>
          <a:ln/>
        </p:spPr>
        <p:txBody>
          <a:bodyPr wrap="square" rtlCol="0" anchor="ctr"/>
          <a:lstStyle/>
          <a:p>
            <a:pPr marL="0" indent="0">
              <a:buNone/>
            </a:pPr>
            <a:r>
              <a:rPr lang="en-US" sz="750" i="1" dirty="0">
                <a:solidFill>
                  <a:srgbClr val="1E2761"/>
                </a:solidFill>
                <a:latin typeface="Calibri" pitchFamily="34" charset="0"/>
                <a:ea typeface="Calibri" pitchFamily="34" charset="-122"/>
                <a:cs typeface="Calibri" pitchFamily="34" charset="-120"/>
              </a:rPr>
              <a:t>Γ = e^(−qT)·n(d₁) / (S·σ·√T)  |  Eq-1: Γ = 0.0189  |  Always ≥ 0 long</a:t>
            </a:r>
            <a:endParaRPr lang="en-US" sz="750" dirty="0"/>
          </a:p>
        </p:txBody>
      </p:sp>
      <p:sp>
        <p:nvSpPr>
          <p:cNvPr id="29" name="Shape 27"/>
          <p:cNvSpPr/>
          <p:nvPr/>
        </p:nvSpPr>
        <p:spPr>
          <a:xfrm>
            <a:off x="6217920" y="640080"/>
            <a:ext cx="5852160" cy="2880360"/>
          </a:xfrm>
          <a:prstGeom prst="rect">
            <a:avLst/>
          </a:prstGeom>
          <a:solidFill>
            <a:srgbClr val="FFFFFF"/>
          </a:solidFill>
          <a:ln w="12700">
            <a:solidFill>
              <a:srgbClr val="DEE3ED"/>
            </a:solidFill>
            <a:prstDash val="solid"/>
          </a:ln>
          <a:effectLst>
            <a:outerShdw blurRad="63500" dist="25400" dir="8100000" algn="bl" rotWithShape="0">
              <a:srgbClr val="000000">
                <a:alpha val="10000"/>
              </a:srgbClr>
            </a:outerShdw>
          </a:effectLst>
        </p:spPr>
      </p:sp>
      <p:sp>
        <p:nvSpPr>
          <p:cNvPr id="30" name="Shape 28"/>
          <p:cNvSpPr/>
          <p:nvPr/>
        </p:nvSpPr>
        <p:spPr>
          <a:xfrm>
            <a:off x="6217920" y="640080"/>
            <a:ext cx="5852160" cy="347472"/>
          </a:xfrm>
          <a:prstGeom prst="rect">
            <a:avLst/>
          </a:prstGeom>
          <a:solidFill>
            <a:srgbClr val="1E2761"/>
          </a:solidFill>
          <a:ln w="12700">
            <a:solidFill>
              <a:srgbClr val="1E2761"/>
            </a:solidFill>
            <a:prstDash val="solid"/>
          </a:ln>
        </p:spPr>
      </p:sp>
      <p:sp>
        <p:nvSpPr>
          <p:cNvPr id="31" name="Shape 29"/>
          <p:cNvSpPr/>
          <p:nvPr/>
        </p:nvSpPr>
        <p:spPr>
          <a:xfrm>
            <a:off x="6217920" y="987552"/>
            <a:ext cx="5852160" cy="27432"/>
          </a:xfrm>
          <a:prstGeom prst="rect">
            <a:avLst/>
          </a:prstGeom>
          <a:solidFill>
            <a:srgbClr val="C9A84C"/>
          </a:solidFill>
          <a:ln w="12700">
            <a:solidFill>
              <a:srgbClr val="C9A84C"/>
            </a:solidFill>
            <a:prstDash val="solid"/>
          </a:ln>
        </p:spPr>
      </p:sp>
      <p:sp>
        <p:nvSpPr>
          <p:cNvPr id="32" name="Shape 30"/>
          <p:cNvSpPr/>
          <p:nvPr/>
        </p:nvSpPr>
        <p:spPr>
          <a:xfrm>
            <a:off x="6291072" y="685800"/>
            <a:ext cx="256032" cy="256032"/>
          </a:xfrm>
          <a:prstGeom prst="ellipse">
            <a:avLst/>
          </a:prstGeom>
          <a:solidFill>
            <a:srgbClr val="5B21B6"/>
          </a:solidFill>
          <a:ln w="12700">
            <a:solidFill>
              <a:srgbClr val="5B21B6"/>
            </a:solidFill>
            <a:prstDash val="solid"/>
          </a:ln>
        </p:spPr>
      </p:sp>
      <p:sp>
        <p:nvSpPr>
          <p:cNvPr id="33" name="Text 31"/>
          <p:cNvSpPr/>
          <p:nvPr/>
        </p:nvSpPr>
        <p:spPr>
          <a:xfrm>
            <a:off x="6291072" y="68580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4" name="Text 32"/>
          <p:cNvSpPr/>
          <p:nvPr/>
        </p:nvSpPr>
        <p:spPr>
          <a:xfrm>
            <a:off x="6601968" y="694944"/>
            <a:ext cx="5376672"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Vanna — Steering in Rain</a:t>
            </a:r>
            <a:endParaRPr lang="en-US" sz="1000" dirty="0"/>
          </a:p>
        </p:txBody>
      </p:sp>
      <p:sp>
        <p:nvSpPr>
          <p:cNvPr id="35" name="Shape 33"/>
          <p:cNvSpPr/>
          <p:nvPr/>
        </p:nvSpPr>
        <p:spPr>
          <a:xfrm>
            <a:off x="6263640" y="1051560"/>
            <a:ext cx="2880360" cy="182880"/>
          </a:xfrm>
          <a:prstGeom prst="rect">
            <a:avLst/>
          </a:prstGeom>
          <a:solidFill>
            <a:srgbClr val="5B21B6"/>
          </a:solidFill>
          <a:ln w="12700">
            <a:solidFill>
              <a:srgbClr val="5B21B6"/>
            </a:solidFill>
            <a:prstDash val="solid"/>
          </a:ln>
        </p:spPr>
      </p:sp>
      <p:sp>
        <p:nvSpPr>
          <p:cNvPr id="36" name="Text 34"/>
          <p:cNvSpPr/>
          <p:nvPr/>
        </p:nvSpPr>
        <p:spPr>
          <a:xfrm>
            <a:off x="6281928" y="1051560"/>
            <a:ext cx="2843784" cy="182880"/>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Car</a:t>
            </a:r>
            <a:endParaRPr lang="en-US" sz="750" dirty="0"/>
          </a:p>
        </p:txBody>
      </p:sp>
      <p:sp>
        <p:nvSpPr>
          <p:cNvPr id="37" name="Shape 35"/>
          <p:cNvSpPr/>
          <p:nvPr/>
        </p:nvSpPr>
        <p:spPr>
          <a:xfrm>
            <a:off x="6263640" y="1234440"/>
            <a:ext cx="2880360" cy="621792"/>
          </a:xfrm>
          <a:prstGeom prst="rect">
            <a:avLst/>
          </a:prstGeom>
          <a:solidFill>
            <a:srgbClr val="E6F7F4"/>
          </a:solidFill>
          <a:ln w="12700">
            <a:solidFill>
              <a:srgbClr val="5B21B6"/>
            </a:solidFill>
            <a:prstDash val="solid"/>
          </a:ln>
        </p:spPr>
      </p:sp>
      <p:sp>
        <p:nvSpPr>
          <p:cNvPr id="38" name="Text 36"/>
          <p:cNvSpPr/>
          <p:nvPr/>
        </p:nvSpPr>
        <p:spPr>
          <a:xfrm>
            <a:off x="6291072" y="1252728"/>
            <a:ext cx="2825496" cy="585216"/>
          </a:xfrm>
          <a:prstGeom prst="rect">
            <a:avLst/>
          </a:prstGeom>
          <a:noFill/>
          <a:ln/>
        </p:spPr>
        <p:txBody>
          <a:bodyPr wrap="square" rtlCol="0" anchor="t"/>
          <a:lstStyle/>
          <a:p>
            <a:pPr marL="0" indent="0">
              <a:buNone/>
            </a:pPr>
            <a:r>
              <a:rPr lang="en-US" sz="750" dirty="0">
                <a:solidFill>
                  <a:srgbClr val="1A1A1A"/>
                </a:solidFill>
                <a:latin typeface="Calibri" pitchFamily="34" charset="0"/>
                <a:ea typeface="Calibri" pitchFamily="34" charset="-122"/>
                <a:cs typeface="Calibri" pitchFamily="34" charset="-120"/>
              </a:rPr>
              <a:t>When vol rises (storm arrives), your delta response changes — like steering differently on wet roads.</a:t>
            </a:r>
            <a:endParaRPr lang="en-US" sz="750" dirty="0"/>
          </a:p>
        </p:txBody>
      </p:sp>
      <p:sp>
        <p:nvSpPr>
          <p:cNvPr id="39" name="Shape 37"/>
          <p:cNvSpPr/>
          <p:nvPr/>
        </p:nvSpPr>
        <p:spPr>
          <a:xfrm>
            <a:off x="9189720" y="1051560"/>
            <a:ext cx="2880360" cy="182880"/>
          </a:xfrm>
          <a:prstGeom prst="rect">
            <a:avLst/>
          </a:prstGeom>
          <a:solidFill>
            <a:srgbClr val="E8960C"/>
          </a:solidFill>
          <a:ln w="12700">
            <a:solidFill>
              <a:srgbClr val="E8960C"/>
            </a:solidFill>
            <a:prstDash val="solid"/>
          </a:ln>
        </p:spPr>
      </p:sp>
      <p:sp>
        <p:nvSpPr>
          <p:cNvPr id="40" name="Text 38"/>
          <p:cNvSpPr/>
          <p:nvPr/>
        </p:nvSpPr>
        <p:spPr>
          <a:xfrm>
            <a:off x="9208008" y="1051560"/>
            <a:ext cx="2843784" cy="182880"/>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Insurance</a:t>
            </a:r>
            <a:endParaRPr lang="en-US" sz="750" dirty="0"/>
          </a:p>
        </p:txBody>
      </p:sp>
      <p:sp>
        <p:nvSpPr>
          <p:cNvPr id="41" name="Shape 39"/>
          <p:cNvSpPr/>
          <p:nvPr/>
        </p:nvSpPr>
        <p:spPr>
          <a:xfrm>
            <a:off x="9189720" y="1234440"/>
            <a:ext cx="2880360" cy="621792"/>
          </a:xfrm>
          <a:prstGeom prst="rect">
            <a:avLst/>
          </a:prstGeom>
          <a:solidFill>
            <a:srgbClr val="FFF8E7"/>
          </a:solidFill>
          <a:ln w="12700">
            <a:solidFill>
              <a:srgbClr val="E8960C"/>
            </a:solidFill>
            <a:prstDash val="solid"/>
          </a:ln>
        </p:spPr>
      </p:sp>
      <p:sp>
        <p:nvSpPr>
          <p:cNvPr id="42" name="Text 40"/>
          <p:cNvSpPr/>
          <p:nvPr/>
        </p:nvSpPr>
        <p:spPr>
          <a:xfrm>
            <a:off x="9217152" y="1252728"/>
            <a:ext cx="2825496" cy="585216"/>
          </a:xfrm>
          <a:prstGeom prst="rect">
            <a:avLst/>
          </a:prstGeom>
          <a:noFill/>
          <a:ln/>
        </p:spPr>
        <p:txBody>
          <a:bodyPr wrap="square" rtlCol="0" anchor="t"/>
          <a:lstStyle/>
          <a:p>
            <a:pPr marL="0" indent="0">
              <a:buNone/>
            </a:pPr>
            <a:r>
              <a:rPr lang="en-US" sz="750" dirty="0">
                <a:solidFill>
                  <a:srgbClr val="1A1A1A"/>
                </a:solidFill>
                <a:latin typeface="Calibri" pitchFamily="34" charset="0"/>
                <a:ea typeface="Calibri" pitchFamily="34" charset="-122"/>
                <a:cs typeface="Calibri" pitchFamily="34" charset="-120"/>
              </a:rPr>
              <a:t>When fear spikes, the payout structure changes — same accident, different payout. Cross-effect of fear and direction.</a:t>
            </a:r>
            <a:endParaRPr lang="en-US" sz="750" dirty="0"/>
          </a:p>
        </p:txBody>
      </p:sp>
      <p:sp>
        <p:nvSpPr>
          <p:cNvPr id="43" name="Shape 41"/>
          <p:cNvSpPr/>
          <p:nvPr/>
        </p:nvSpPr>
        <p:spPr>
          <a:xfrm>
            <a:off x="6263640" y="1892808"/>
            <a:ext cx="5760720" cy="146304"/>
          </a:xfrm>
          <a:prstGeom prst="rect">
            <a:avLst/>
          </a:prstGeom>
          <a:solidFill>
            <a:srgbClr val="D97706"/>
          </a:solidFill>
          <a:ln w="12700">
            <a:solidFill>
              <a:srgbClr val="E8960C"/>
            </a:solidFill>
            <a:prstDash val="solid"/>
          </a:ln>
        </p:spPr>
      </p:sp>
      <p:sp>
        <p:nvSpPr>
          <p:cNvPr id="44" name="Text 42"/>
          <p:cNvSpPr/>
          <p:nvPr/>
        </p:nvSpPr>
        <p:spPr>
          <a:xfrm>
            <a:off x="6281928" y="1892808"/>
            <a:ext cx="5724144" cy="146304"/>
          </a:xfrm>
          <a:prstGeom prst="rect">
            <a:avLst/>
          </a:prstGeom>
          <a:noFill/>
          <a:ln/>
        </p:spPr>
        <p:txBody>
          <a:bodyPr wrap="square" rtlCol="0" anchor="ctr"/>
          <a:lstStyle/>
          <a:p>
            <a:pPr marL="0" indent="0">
              <a:buNone/>
            </a:pPr>
            <a:r>
              <a:rPr lang="en-US" sz="700" b="1" dirty="0">
                <a:solidFill>
                  <a:srgbClr val="FFFFFF"/>
                </a:solidFill>
                <a:latin typeface="Calibri" pitchFamily="34" charset="0"/>
                <a:ea typeface="Calibri" pitchFamily="34" charset="-122"/>
                <a:cs typeface="Calibri" pitchFamily="34" charset="-120"/>
              </a:rPr>
              <a:t>What-if</a:t>
            </a:r>
            <a:endParaRPr lang="en-US" sz="700" dirty="0"/>
          </a:p>
        </p:txBody>
      </p:sp>
      <p:sp>
        <p:nvSpPr>
          <p:cNvPr id="45" name="Shape 43"/>
          <p:cNvSpPr/>
          <p:nvPr/>
        </p:nvSpPr>
        <p:spPr>
          <a:xfrm>
            <a:off x="6263640" y="2039112"/>
            <a:ext cx="5760720" cy="457200"/>
          </a:xfrm>
          <a:prstGeom prst="rect">
            <a:avLst/>
          </a:prstGeom>
          <a:solidFill>
            <a:srgbClr val="FFF8E7"/>
          </a:solidFill>
          <a:ln w="12700">
            <a:solidFill>
              <a:srgbClr val="E8960C"/>
            </a:solidFill>
            <a:prstDash val="solid"/>
          </a:ln>
        </p:spPr>
      </p:sp>
      <p:sp>
        <p:nvSpPr>
          <p:cNvPr id="46" name="Text 44"/>
          <p:cNvSpPr/>
          <p:nvPr/>
        </p:nvSpPr>
        <p:spPr>
          <a:xfrm>
            <a:off x="6291072" y="2057400"/>
            <a:ext cx="5705856" cy="420624"/>
          </a:xfrm>
          <a:prstGeom prst="rect">
            <a:avLst/>
          </a:prstGeom>
          <a:noFill/>
          <a:ln/>
        </p:spPr>
        <p:txBody>
          <a:bodyPr wrap="square" rtlCol="0" anchor="t"/>
          <a:lstStyle/>
          <a:p>
            <a:pPr marL="0" indent="0">
              <a:buNone/>
            </a:pPr>
            <a:r>
              <a:rPr lang="en-US" sz="750" dirty="0">
                <a:solidFill>
                  <a:srgbClr val="1A1A1A"/>
                </a:solidFill>
                <a:latin typeface="Calibri" pitchFamily="34" charset="0"/>
                <a:ea typeface="Calibri" pitchFamily="34" charset="-122"/>
                <a:cs typeface="Calibri" pitchFamily="34" charset="-120"/>
              </a:rPr>
              <a:t>Near ATM (d₂ ≈ 0), Vanna ≈ −0.005 — small. Grows significantly as option moves OTM/ITM.</a:t>
            </a:r>
            <a:endParaRPr lang="en-US" sz="750" dirty="0"/>
          </a:p>
        </p:txBody>
      </p:sp>
      <p:sp>
        <p:nvSpPr>
          <p:cNvPr id="47" name="Shape 45"/>
          <p:cNvSpPr/>
          <p:nvPr/>
        </p:nvSpPr>
        <p:spPr>
          <a:xfrm>
            <a:off x="6263640" y="2542032"/>
            <a:ext cx="5760720" cy="256032"/>
          </a:xfrm>
          <a:prstGeom prst="rect">
            <a:avLst/>
          </a:prstGeom>
          <a:solidFill>
            <a:srgbClr val="F5F7FA"/>
          </a:solidFill>
          <a:ln w="12700">
            <a:solidFill>
              <a:srgbClr val="028090"/>
            </a:solidFill>
            <a:prstDash val="solid"/>
          </a:ln>
        </p:spPr>
      </p:sp>
      <p:sp>
        <p:nvSpPr>
          <p:cNvPr id="48" name="Text 46"/>
          <p:cNvSpPr/>
          <p:nvPr/>
        </p:nvSpPr>
        <p:spPr>
          <a:xfrm>
            <a:off x="6291072" y="2551176"/>
            <a:ext cx="5705856" cy="237744"/>
          </a:xfrm>
          <a:prstGeom prst="rect">
            <a:avLst/>
          </a:prstGeom>
          <a:noFill/>
          <a:ln/>
        </p:spPr>
        <p:txBody>
          <a:bodyPr wrap="square" rtlCol="0" anchor="ctr"/>
          <a:lstStyle/>
          <a:p>
            <a:pPr marL="0" indent="0">
              <a:buNone/>
            </a:pPr>
            <a:r>
              <a:rPr lang="en-US" sz="750" i="1" dirty="0">
                <a:solidFill>
                  <a:srgbClr val="1E2761"/>
                </a:solidFill>
                <a:latin typeface="Calibri" pitchFamily="34" charset="0"/>
                <a:ea typeface="Calibri" pitchFamily="34" charset="-122"/>
                <a:cs typeface="Calibri" pitchFamily="34" charset="-120"/>
              </a:rPr>
              <a:t>Vanna = −e^(−qT)·n(d₁)·d₂/σ  |  ∂Δ/∂σ = ∂ν/∂S  |  ±ve depending on moneyness</a:t>
            </a:r>
            <a:endParaRPr lang="en-US" sz="750" dirty="0"/>
          </a:p>
        </p:txBody>
      </p:sp>
      <p:sp>
        <p:nvSpPr>
          <p:cNvPr id="49" name="Shape 47"/>
          <p:cNvSpPr/>
          <p:nvPr/>
        </p:nvSpPr>
        <p:spPr>
          <a:xfrm>
            <a:off x="182880" y="3657600"/>
            <a:ext cx="5852160" cy="2880360"/>
          </a:xfrm>
          <a:prstGeom prst="rect">
            <a:avLst/>
          </a:prstGeom>
          <a:solidFill>
            <a:srgbClr val="FFFFFF"/>
          </a:solidFill>
          <a:ln w="12700">
            <a:solidFill>
              <a:srgbClr val="DEE3ED"/>
            </a:solidFill>
            <a:prstDash val="solid"/>
          </a:ln>
          <a:effectLst>
            <a:outerShdw blurRad="63500" dist="25400" dir="8100000" algn="bl" rotWithShape="0">
              <a:srgbClr val="000000">
                <a:alpha val="10000"/>
              </a:srgbClr>
            </a:outerShdw>
          </a:effectLst>
        </p:spPr>
      </p:sp>
      <p:sp>
        <p:nvSpPr>
          <p:cNvPr id="50" name="Shape 48"/>
          <p:cNvSpPr/>
          <p:nvPr/>
        </p:nvSpPr>
        <p:spPr>
          <a:xfrm>
            <a:off x="182880" y="3657600"/>
            <a:ext cx="5852160" cy="347472"/>
          </a:xfrm>
          <a:prstGeom prst="rect">
            <a:avLst/>
          </a:prstGeom>
          <a:solidFill>
            <a:srgbClr val="1E2761"/>
          </a:solidFill>
          <a:ln w="12700">
            <a:solidFill>
              <a:srgbClr val="1E2761"/>
            </a:solidFill>
            <a:prstDash val="solid"/>
          </a:ln>
        </p:spPr>
      </p:sp>
      <p:sp>
        <p:nvSpPr>
          <p:cNvPr id="51" name="Shape 49"/>
          <p:cNvSpPr/>
          <p:nvPr/>
        </p:nvSpPr>
        <p:spPr>
          <a:xfrm>
            <a:off x="182880" y="4005072"/>
            <a:ext cx="5852160" cy="27432"/>
          </a:xfrm>
          <a:prstGeom prst="rect">
            <a:avLst/>
          </a:prstGeom>
          <a:solidFill>
            <a:srgbClr val="C9A84C"/>
          </a:solidFill>
          <a:ln w="12700">
            <a:solidFill>
              <a:srgbClr val="C9A84C"/>
            </a:solidFill>
            <a:prstDash val="solid"/>
          </a:ln>
        </p:spPr>
      </p:sp>
      <p:sp>
        <p:nvSpPr>
          <p:cNvPr id="52" name="Shape 50"/>
          <p:cNvSpPr/>
          <p:nvPr/>
        </p:nvSpPr>
        <p:spPr>
          <a:xfrm>
            <a:off x="256032" y="3703320"/>
            <a:ext cx="256032" cy="256032"/>
          </a:xfrm>
          <a:prstGeom prst="ellipse">
            <a:avLst/>
          </a:prstGeom>
          <a:solidFill>
            <a:srgbClr val="B91C1C"/>
          </a:solidFill>
          <a:ln w="12700">
            <a:solidFill>
              <a:srgbClr val="B91C1C"/>
            </a:solidFill>
            <a:prstDash val="solid"/>
          </a:ln>
        </p:spPr>
      </p:sp>
      <p:sp>
        <p:nvSpPr>
          <p:cNvPr id="53" name="Text 51"/>
          <p:cNvSpPr/>
          <p:nvPr/>
        </p:nvSpPr>
        <p:spPr>
          <a:xfrm>
            <a:off x="256032" y="370332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4" name="Text 52"/>
          <p:cNvSpPr/>
          <p:nvPr/>
        </p:nvSpPr>
        <p:spPr>
          <a:xfrm>
            <a:off x="566928" y="3712464"/>
            <a:ext cx="5376672"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Volga — Storm Intensity</a:t>
            </a:r>
            <a:endParaRPr lang="en-US" sz="1000" dirty="0"/>
          </a:p>
        </p:txBody>
      </p:sp>
      <p:sp>
        <p:nvSpPr>
          <p:cNvPr id="55" name="Shape 53"/>
          <p:cNvSpPr/>
          <p:nvPr/>
        </p:nvSpPr>
        <p:spPr>
          <a:xfrm>
            <a:off x="228600" y="4069080"/>
            <a:ext cx="2880360" cy="182880"/>
          </a:xfrm>
          <a:prstGeom prst="rect">
            <a:avLst/>
          </a:prstGeom>
          <a:solidFill>
            <a:srgbClr val="B91C1C"/>
          </a:solidFill>
          <a:ln w="12700">
            <a:solidFill>
              <a:srgbClr val="B91C1C"/>
            </a:solidFill>
            <a:prstDash val="solid"/>
          </a:ln>
        </p:spPr>
      </p:sp>
      <p:sp>
        <p:nvSpPr>
          <p:cNvPr id="56" name="Text 54"/>
          <p:cNvSpPr/>
          <p:nvPr/>
        </p:nvSpPr>
        <p:spPr>
          <a:xfrm>
            <a:off x="246888" y="4069080"/>
            <a:ext cx="2843784" cy="182880"/>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Car</a:t>
            </a:r>
            <a:endParaRPr lang="en-US" sz="750" dirty="0"/>
          </a:p>
        </p:txBody>
      </p:sp>
      <p:sp>
        <p:nvSpPr>
          <p:cNvPr id="57" name="Shape 55"/>
          <p:cNvSpPr/>
          <p:nvPr/>
        </p:nvSpPr>
        <p:spPr>
          <a:xfrm>
            <a:off x="228600" y="4251960"/>
            <a:ext cx="2880360" cy="621792"/>
          </a:xfrm>
          <a:prstGeom prst="rect">
            <a:avLst/>
          </a:prstGeom>
          <a:solidFill>
            <a:srgbClr val="E6F7F4"/>
          </a:solidFill>
          <a:ln w="12700">
            <a:solidFill>
              <a:srgbClr val="B91C1C"/>
            </a:solidFill>
            <a:prstDash val="solid"/>
          </a:ln>
        </p:spPr>
      </p:sp>
      <p:sp>
        <p:nvSpPr>
          <p:cNvPr id="58" name="Text 56"/>
          <p:cNvSpPr/>
          <p:nvPr/>
        </p:nvSpPr>
        <p:spPr>
          <a:xfrm>
            <a:off x="256032" y="4270248"/>
            <a:ext cx="2825496" cy="585216"/>
          </a:xfrm>
          <a:prstGeom prst="rect">
            <a:avLst/>
          </a:prstGeom>
          <a:noFill/>
          <a:ln/>
        </p:spPr>
        <p:txBody>
          <a:bodyPr wrap="square" rtlCol="0" anchor="t"/>
          <a:lstStyle/>
          <a:p>
            <a:pPr marL="0" indent="0">
              <a:buNone/>
            </a:pPr>
            <a:r>
              <a:rPr lang="en-US" sz="750" dirty="0">
                <a:solidFill>
                  <a:srgbClr val="1A1A1A"/>
                </a:solidFill>
                <a:latin typeface="Calibri" pitchFamily="34" charset="0"/>
                <a:ea typeface="Calibri" pitchFamily="34" charset="-122"/>
                <a:cs typeface="Calibri" pitchFamily="34" charset="-120"/>
              </a:rPr>
              <a:t>How much worse does weather sensitivity get as conditions deteriorate? Vol-of-vol effect.</a:t>
            </a:r>
            <a:endParaRPr lang="en-US" sz="750" dirty="0"/>
          </a:p>
        </p:txBody>
      </p:sp>
      <p:sp>
        <p:nvSpPr>
          <p:cNvPr id="59" name="Shape 57"/>
          <p:cNvSpPr/>
          <p:nvPr/>
        </p:nvSpPr>
        <p:spPr>
          <a:xfrm>
            <a:off x="3154680" y="4069080"/>
            <a:ext cx="2880360" cy="182880"/>
          </a:xfrm>
          <a:prstGeom prst="rect">
            <a:avLst/>
          </a:prstGeom>
          <a:solidFill>
            <a:srgbClr val="E8960C"/>
          </a:solidFill>
          <a:ln w="12700">
            <a:solidFill>
              <a:srgbClr val="E8960C"/>
            </a:solidFill>
            <a:prstDash val="solid"/>
          </a:ln>
        </p:spPr>
      </p:sp>
      <p:sp>
        <p:nvSpPr>
          <p:cNvPr id="60" name="Text 58"/>
          <p:cNvSpPr/>
          <p:nvPr/>
        </p:nvSpPr>
        <p:spPr>
          <a:xfrm>
            <a:off x="3172968" y="4069080"/>
            <a:ext cx="2843784" cy="182880"/>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Insurance</a:t>
            </a:r>
            <a:endParaRPr lang="en-US" sz="750" dirty="0"/>
          </a:p>
        </p:txBody>
      </p:sp>
      <p:sp>
        <p:nvSpPr>
          <p:cNvPr id="61" name="Shape 59"/>
          <p:cNvSpPr/>
          <p:nvPr/>
        </p:nvSpPr>
        <p:spPr>
          <a:xfrm>
            <a:off x="3154680" y="4251960"/>
            <a:ext cx="2880360" cy="621792"/>
          </a:xfrm>
          <a:prstGeom prst="rect">
            <a:avLst/>
          </a:prstGeom>
          <a:solidFill>
            <a:srgbClr val="FFF8E7"/>
          </a:solidFill>
          <a:ln w="12700">
            <a:solidFill>
              <a:srgbClr val="E8960C"/>
            </a:solidFill>
            <a:prstDash val="solid"/>
          </a:ln>
        </p:spPr>
      </p:sp>
      <p:sp>
        <p:nvSpPr>
          <p:cNvPr id="62" name="Text 60"/>
          <p:cNvSpPr/>
          <p:nvPr/>
        </p:nvSpPr>
        <p:spPr>
          <a:xfrm>
            <a:off x="3182112" y="4270248"/>
            <a:ext cx="2825496" cy="585216"/>
          </a:xfrm>
          <a:prstGeom prst="rect">
            <a:avLst/>
          </a:prstGeom>
          <a:noFill/>
          <a:ln/>
        </p:spPr>
        <p:txBody>
          <a:bodyPr wrap="square" rtlCol="0" anchor="t"/>
          <a:lstStyle/>
          <a:p>
            <a:pPr marL="0" indent="0">
              <a:buNone/>
            </a:pPr>
            <a:r>
              <a:rPr lang="en-US" sz="750" dirty="0">
                <a:solidFill>
                  <a:srgbClr val="1A1A1A"/>
                </a:solidFill>
                <a:latin typeface="Calibri" pitchFamily="34" charset="0"/>
                <a:ea typeface="Calibri" pitchFamily="34" charset="-122"/>
                <a:cs typeface="Calibri" pitchFamily="34" charset="-120"/>
              </a:rPr>
              <a:t>How much more expensive does insurance get when risk goes from 'elevated' to 'severe'? Curvature of cost vs risk.</a:t>
            </a:r>
            <a:endParaRPr lang="en-US" sz="750" dirty="0"/>
          </a:p>
        </p:txBody>
      </p:sp>
      <p:sp>
        <p:nvSpPr>
          <p:cNvPr id="63" name="Shape 61"/>
          <p:cNvSpPr/>
          <p:nvPr/>
        </p:nvSpPr>
        <p:spPr>
          <a:xfrm>
            <a:off x="228600" y="4910328"/>
            <a:ext cx="5760720" cy="146304"/>
          </a:xfrm>
          <a:prstGeom prst="rect">
            <a:avLst/>
          </a:prstGeom>
          <a:solidFill>
            <a:srgbClr val="D97706"/>
          </a:solidFill>
          <a:ln w="12700">
            <a:solidFill>
              <a:srgbClr val="E8960C"/>
            </a:solidFill>
            <a:prstDash val="solid"/>
          </a:ln>
        </p:spPr>
      </p:sp>
      <p:sp>
        <p:nvSpPr>
          <p:cNvPr id="64" name="Text 62"/>
          <p:cNvSpPr/>
          <p:nvPr/>
        </p:nvSpPr>
        <p:spPr>
          <a:xfrm>
            <a:off x="246888" y="4910328"/>
            <a:ext cx="5724144" cy="146304"/>
          </a:xfrm>
          <a:prstGeom prst="rect">
            <a:avLst/>
          </a:prstGeom>
          <a:noFill/>
          <a:ln/>
        </p:spPr>
        <p:txBody>
          <a:bodyPr wrap="square" rtlCol="0" anchor="ctr"/>
          <a:lstStyle/>
          <a:p>
            <a:pPr marL="0" indent="0">
              <a:buNone/>
            </a:pPr>
            <a:r>
              <a:rPr lang="en-US" sz="700" b="1" dirty="0">
                <a:solidFill>
                  <a:srgbClr val="FFFFFF"/>
                </a:solidFill>
                <a:latin typeface="Calibri" pitchFamily="34" charset="0"/>
                <a:ea typeface="Calibri" pitchFamily="34" charset="-122"/>
                <a:cs typeface="Calibri" pitchFamily="34" charset="-120"/>
              </a:rPr>
              <a:t>What-if</a:t>
            </a:r>
            <a:endParaRPr lang="en-US" sz="700" dirty="0"/>
          </a:p>
        </p:txBody>
      </p:sp>
      <p:sp>
        <p:nvSpPr>
          <p:cNvPr id="65" name="Shape 63"/>
          <p:cNvSpPr/>
          <p:nvPr/>
        </p:nvSpPr>
        <p:spPr>
          <a:xfrm>
            <a:off x="228600" y="5056632"/>
            <a:ext cx="5760720" cy="457200"/>
          </a:xfrm>
          <a:prstGeom prst="rect">
            <a:avLst/>
          </a:prstGeom>
          <a:solidFill>
            <a:srgbClr val="FFF8E7"/>
          </a:solidFill>
          <a:ln w="12700">
            <a:solidFill>
              <a:srgbClr val="E8960C"/>
            </a:solidFill>
            <a:prstDash val="solid"/>
          </a:ln>
        </p:spPr>
      </p:sp>
      <p:sp>
        <p:nvSpPr>
          <p:cNvPr id="66" name="Text 64"/>
          <p:cNvSpPr/>
          <p:nvPr/>
        </p:nvSpPr>
        <p:spPr>
          <a:xfrm>
            <a:off x="256032" y="5074920"/>
            <a:ext cx="5705856" cy="420624"/>
          </a:xfrm>
          <a:prstGeom prst="rect">
            <a:avLst/>
          </a:prstGeom>
          <a:noFill/>
          <a:ln/>
        </p:spPr>
        <p:txBody>
          <a:bodyPr wrap="square" rtlCol="0" anchor="t"/>
          <a:lstStyle/>
          <a:p>
            <a:pPr marL="0" indent="0">
              <a:buNone/>
            </a:pPr>
            <a:r>
              <a:rPr lang="en-US" sz="750" dirty="0">
                <a:solidFill>
                  <a:srgbClr val="1A1A1A"/>
                </a:solidFill>
                <a:latin typeface="Calibri" pitchFamily="34" charset="0"/>
                <a:ea typeface="Calibri" pitchFamily="34" charset="-122"/>
                <a:cs typeface="Calibri" pitchFamily="34" charset="-120"/>
              </a:rPr>
              <a:t>Small near ATM. Grows dramatically OTM — capturing the expensive 'wings' of the vol smile.</a:t>
            </a:r>
            <a:endParaRPr lang="en-US" sz="750" dirty="0"/>
          </a:p>
        </p:txBody>
      </p:sp>
      <p:sp>
        <p:nvSpPr>
          <p:cNvPr id="67" name="Shape 65"/>
          <p:cNvSpPr/>
          <p:nvPr/>
        </p:nvSpPr>
        <p:spPr>
          <a:xfrm>
            <a:off x="228600" y="5559552"/>
            <a:ext cx="5760720" cy="256032"/>
          </a:xfrm>
          <a:prstGeom prst="rect">
            <a:avLst/>
          </a:prstGeom>
          <a:solidFill>
            <a:srgbClr val="F5F7FA"/>
          </a:solidFill>
          <a:ln w="12700">
            <a:solidFill>
              <a:srgbClr val="028090"/>
            </a:solidFill>
            <a:prstDash val="solid"/>
          </a:ln>
        </p:spPr>
      </p:sp>
      <p:sp>
        <p:nvSpPr>
          <p:cNvPr id="68" name="Text 66"/>
          <p:cNvSpPr/>
          <p:nvPr/>
        </p:nvSpPr>
        <p:spPr>
          <a:xfrm>
            <a:off x="256032" y="5568696"/>
            <a:ext cx="5705856" cy="237744"/>
          </a:xfrm>
          <a:prstGeom prst="rect">
            <a:avLst/>
          </a:prstGeom>
          <a:noFill/>
          <a:ln/>
        </p:spPr>
        <p:txBody>
          <a:bodyPr wrap="square" rtlCol="0" anchor="ctr"/>
          <a:lstStyle/>
          <a:p>
            <a:pPr marL="0" indent="0">
              <a:buNone/>
            </a:pPr>
            <a:r>
              <a:rPr lang="en-US" sz="750" i="1" dirty="0">
                <a:solidFill>
                  <a:srgbClr val="1E2761"/>
                </a:solidFill>
                <a:latin typeface="Calibri" pitchFamily="34" charset="0"/>
                <a:ea typeface="Calibri" pitchFamily="34" charset="-122"/>
                <a:cs typeface="Calibri" pitchFamily="34" charset="-120"/>
              </a:rPr>
              <a:t>Volga = S·e^(−qT)·n(d₁)·√T·d₁·d₂/σ  |  ∂ν/∂σ  |  Always +ve long</a:t>
            </a:r>
            <a:endParaRPr lang="en-US" sz="750" dirty="0"/>
          </a:p>
        </p:txBody>
      </p:sp>
      <p:sp>
        <p:nvSpPr>
          <p:cNvPr id="69" name="Shape 67"/>
          <p:cNvSpPr/>
          <p:nvPr/>
        </p:nvSpPr>
        <p:spPr>
          <a:xfrm>
            <a:off x="6217920" y="3657600"/>
            <a:ext cx="5852160" cy="2880360"/>
          </a:xfrm>
          <a:prstGeom prst="rect">
            <a:avLst/>
          </a:prstGeom>
          <a:solidFill>
            <a:srgbClr val="FFFFFF"/>
          </a:solidFill>
          <a:ln w="12700">
            <a:solidFill>
              <a:srgbClr val="DEE3ED"/>
            </a:solidFill>
            <a:prstDash val="solid"/>
          </a:ln>
          <a:effectLst>
            <a:outerShdw blurRad="63500" dist="25400" dir="8100000" algn="bl" rotWithShape="0">
              <a:srgbClr val="000000">
                <a:alpha val="10000"/>
              </a:srgbClr>
            </a:outerShdw>
          </a:effectLst>
        </p:spPr>
      </p:sp>
      <p:sp>
        <p:nvSpPr>
          <p:cNvPr id="70" name="Shape 68"/>
          <p:cNvSpPr/>
          <p:nvPr/>
        </p:nvSpPr>
        <p:spPr>
          <a:xfrm>
            <a:off x="6217920" y="3657600"/>
            <a:ext cx="5852160" cy="347472"/>
          </a:xfrm>
          <a:prstGeom prst="rect">
            <a:avLst/>
          </a:prstGeom>
          <a:solidFill>
            <a:srgbClr val="1E2761"/>
          </a:solidFill>
          <a:ln w="12700">
            <a:solidFill>
              <a:srgbClr val="1E2761"/>
            </a:solidFill>
            <a:prstDash val="solid"/>
          </a:ln>
        </p:spPr>
      </p:sp>
      <p:sp>
        <p:nvSpPr>
          <p:cNvPr id="71" name="Shape 69"/>
          <p:cNvSpPr/>
          <p:nvPr/>
        </p:nvSpPr>
        <p:spPr>
          <a:xfrm>
            <a:off x="6217920" y="4005072"/>
            <a:ext cx="5852160" cy="27432"/>
          </a:xfrm>
          <a:prstGeom prst="rect">
            <a:avLst/>
          </a:prstGeom>
          <a:solidFill>
            <a:srgbClr val="C9A84C"/>
          </a:solidFill>
          <a:ln w="12700">
            <a:solidFill>
              <a:srgbClr val="C9A84C"/>
            </a:solidFill>
            <a:prstDash val="solid"/>
          </a:ln>
        </p:spPr>
      </p:sp>
      <p:sp>
        <p:nvSpPr>
          <p:cNvPr id="72" name="Shape 70"/>
          <p:cNvSpPr/>
          <p:nvPr/>
        </p:nvSpPr>
        <p:spPr>
          <a:xfrm>
            <a:off x="6291072" y="3703320"/>
            <a:ext cx="256032" cy="256032"/>
          </a:xfrm>
          <a:prstGeom prst="ellipse">
            <a:avLst/>
          </a:prstGeom>
          <a:solidFill>
            <a:srgbClr val="7E22CE"/>
          </a:solidFill>
          <a:ln w="12700">
            <a:solidFill>
              <a:srgbClr val="7E22CE"/>
            </a:solidFill>
            <a:prstDash val="solid"/>
          </a:ln>
        </p:spPr>
      </p:sp>
      <p:sp>
        <p:nvSpPr>
          <p:cNvPr id="73" name="Text 71"/>
          <p:cNvSpPr/>
          <p:nvPr/>
        </p:nvSpPr>
        <p:spPr>
          <a:xfrm>
            <a:off x="6291072" y="370332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4" name="Text 72"/>
          <p:cNvSpPr/>
          <p:nvPr/>
        </p:nvSpPr>
        <p:spPr>
          <a:xfrm>
            <a:off x="6601968" y="3712464"/>
            <a:ext cx="5376672"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Charm — Parking Drift</a:t>
            </a:r>
            <a:endParaRPr lang="en-US" sz="1000" dirty="0"/>
          </a:p>
        </p:txBody>
      </p:sp>
      <p:sp>
        <p:nvSpPr>
          <p:cNvPr id="75" name="Shape 73"/>
          <p:cNvSpPr/>
          <p:nvPr/>
        </p:nvSpPr>
        <p:spPr>
          <a:xfrm>
            <a:off x="6263640" y="4069080"/>
            <a:ext cx="2880360" cy="182880"/>
          </a:xfrm>
          <a:prstGeom prst="rect">
            <a:avLst/>
          </a:prstGeom>
          <a:solidFill>
            <a:srgbClr val="7E22CE"/>
          </a:solidFill>
          <a:ln w="12700">
            <a:solidFill>
              <a:srgbClr val="7E22CE"/>
            </a:solidFill>
            <a:prstDash val="solid"/>
          </a:ln>
        </p:spPr>
      </p:sp>
      <p:sp>
        <p:nvSpPr>
          <p:cNvPr id="76" name="Text 74"/>
          <p:cNvSpPr/>
          <p:nvPr/>
        </p:nvSpPr>
        <p:spPr>
          <a:xfrm>
            <a:off x="6281928" y="4069080"/>
            <a:ext cx="2843784" cy="182880"/>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Car</a:t>
            </a:r>
            <a:endParaRPr lang="en-US" sz="750" dirty="0"/>
          </a:p>
        </p:txBody>
      </p:sp>
      <p:sp>
        <p:nvSpPr>
          <p:cNvPr id="77" name="Shape 75"/>
          <p:cNvSpPr/>
          <p:nvPr/>
        </p:nvSpPr>
        <p:spPr>
          <a:xfrm>
            <a:off x="6263640" y="4251960"/>
            <a:ext cx="2880360" cy="621792"/>
          </a:xfrm>
          <a:prstGeom prst="rect">
            <a:avLst/>
          </a:prstGeom>
          <a:solidFill>
            <a:srgbClr val="E6F7F4"/>
          </a:solidFill>
          <a:ln w="12700">
            <a:solidFill>
              <a:srgbClr val="7E22CE"/>
            </a:solidFill>
            <a:prstDash val="solid"/>
          </a:ln>
        </p:spPr>
      </p:sp>
      <p:sp>
        <p:nvSpPr>
          <p:cNvPr id="78" name="Text 76"/>
          <p:cNvSpPr/>
          <p:nvPr/>
        </p:nvSpPr>
        <p:spPr>
          <a:xfrm>
            <a:off x="6291072" y="4270248"/>
            <a:ext cx="2825496" cy="585216"/>
          </a:xfrm>
          <a:prstGeom prst="rect">
            <a:avLst/>
          </a:prstGeom>
          <a:noFill/>
          <a:ln/>
        </p:spPr>
        <p:txBody>
          <a:bodyPr wrap="square" rtlCol="0" anchor="t"/>
          <a:lstStyle/>
          <a:p>
            <a:pPr marL="0" indent="0">
              <a:buNone/>
            </a:pPr>
            <a:r>
              <a:rPr lang="en-US" sz="750" dirty="0">
                <a:solidFill>
                  <a:srgbClr val="1A1A1A"/>
                </a:solidFill>
                <a:latin typeface="Calibri" pitchFamily="34" charset="0"/>
                <a:ea typeface="Calibri" pitchFamily="34" charset="-122"/>
                <a:cs typeface="Calibri" pitchFamily="34" charset="-120"/>
              </a:rPr>
              <a:t>Steering alignment drifts while parked overnight — delta shifts even without market moves.</a:t>
            </a:r>
            <a:endParaRPr lang="en-US" sz="750" dirty="0"/>
          </a:p>
        </p:txBody>
      </p:sp>
      <p:sp>
        <p:nvSpPr>
          <p:cNvPr id="79" name="Shape 77"/>
          <p:cNvSpPr/>
          <p:nvPr/>
        </p:nvSpPr>
        <p:spPr>
          <a:xfrm>
            <a:off x="9189720" y="4069080"/>
            <a:ext cx="2880360" cy="182880"/>
          </a:xfrm>
          <a:prstGeom prst="rect">
            <a:avLst/>
          </a:prstGeom>
          <a:solidFill>
            <a:srgbClr val="E8960C"/>
          </a:solidFill>
          <a:ln w="12700">
            <a:solidFill>
              <a:srgbClr val="E8960C"/>
            </a:solidFill>
            <a:prstDash val="solid"/>
          </a:ln>
        </p:spPr>
      </p:sp>
      <p:sp>
        <p:nvSpPr>
          <p:cNvPr id="80" name="Text 78"/>
          <p:cNvSpPr/>
          <p:nvPr/>
        </p:nvSpPr>
        <p:spPr>
          <a:xfrm>
            <a:off x="9208008" y="4069080"/>
            <a:ext cx="2843784" cy="182880"/>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Insurance</a:t>
            </a:r>
            <a:endParaRPr lang="en-US" sz="750" dirty="0"/>
          </a:p>
        </p:txBody>
      </p:sp>
      <p:sp>
        <p:nvSpPr>
          <p:cNvPr id="81" name="Shape 79"/>
          <p:cNvSpPr/>
          <p:nvPr/>
        </p:nvSpPr>
        <p:spPr>
          <a:xfrm>
            <a:off x="9189720" y="4251960"/>
            <a:ext cx="2880360" cy="621792"/>
          </a:xfrm>
          <a:prstGeom prst="rect">
            <a:avLst/>
          </a:prstGeom>
          <a:solidFill>
            <a:srgbClr val="FFF8E7"/>
          </a:solidFill>
          <a:ln w="12700">
            <a:solidFill>
              <a:srgbClr val="E8960C"/>
            </a:solidFill>
            <a:prstDash val="solid"/>
          </a:ln>
        </p:spPr>
      </p:sp>
      <p:sp>
        <p:nvSpPr>
          <p:cNvPr id="82" name="Text 80"/>
          <p:cNvSpPr/>
          <p:nvPr/>
        </p:nvSpPr>
        <p:spPr>
          <a:xfrm>
            <a:off x="9217152" y="4270248"/>
            <a:ext cx="2825496" cy="585216"/>
          </a:xfrm>
          <a:prstGeom prst="rect">
            <a:avLst/>
          </a:prstGeom>
          <a:noFill/>
          <a:ln/>
        </p:spPr>
        <p:txBody>
          <a:bodyPr wrap="square" rtlCol="0" anchor="t"/>
          <a:lstStyle/>
          <a:p>
            <a:pPr marL="0" indent="0">
              <a:buNone/>
            </a:pPr>
            <a:r>
              <a:rPr lang="en-US" sz="750" dirty="0">
                <a:solidFill>
                  <a:srgbClr val="1A1A1A"/>
                </a:solidFill>
                <a:latin typeface="Calibri" pitchFamily="34" charset="0"/>
                <a:ea typeface="Calibri" pitchFamily="34" charset="-122"/>
                <a:cs typeface="Calibri" pitchFamily="34" charset="-120"/>
              </a:rPr>
              <a:t>Policy coverage formula quietly recalibrates each day as policy ages. Daily drift in directional exposure.</a:t>
            </a:r>
            <a:endParaRPr lang="en-US" sz="750" dirty="0"/>
          </a:p>
        </p:txBody>
      </p:sp>
      <p:sp>
        <p:nvSpPr>
          <p:cNvPr id="83" name="Shape 81"/>
          <p:cNvSpPr/>
          <p:nvPr/>
        </p:nvSpPr>
        <p:spPr>
          <a:xfrm>
            <a:off x="6263640" y="4910328"/>
            <a:ext cx="5760720" cy="146304"/>
          </a:xfrm>
          <a:prstGeom prst="rect">
            <a:avLst/>
          </a:prstGeom>
          <a:solidFill>
            <a:srgbClr val="D97706"/>
          </a:solidFill>
          <a:ln w="12700">
            <a:solidFill>
              <a:srgbClr val="E8960C"/>
            </a:solidFill>
            <a:prstDash val="solid"/>
          </a:ln>
        </p:spPr>
      </p:sp>
      <p:sp>
        <p:nvSpPr>
          <p:cNvPr id="84" name="Text 82"/>
          <p:cNvSpPr/>
          <p:nvPr/>
        </p:nvSpPr>
        <p:spPr>
          <a:xfrm>
            <a:off x="6281928" y="4910328"/>
            <a:ext cx="5724144" cy="146304"/>
          </a:xfrm>
          <a:prstGeom prst="rect">
            <a:avLst/>
          </a:prstGeom>
          <a:noFill/>
          <a:ln/>
        </p:spPr>
        <p:txBody>
          <a:bodyPr wrap="square" rtlCol="0" anchor="ctr"/>
          <a:lstStyle/>
          <a:p>
            <a:pPr marL="0" indent="0">
              <a:buNone/>
            </a:pPr>
            <a:r>
              <a:rPr lang="en-US" sz="700" b="1" dirty="0">
                <a:solidFill>
                  <a:srgbClr val="FFFFFF"/>
                </a:solidFill>
                <a:latin typeface="Calibri" pitchFamily="34" charset="0"/>
                <a:ea typeface="Calibri" pitchFamily="34" charset="-122"/>
                <a:cs typeface="Calibri" pitchFamily="34" charset="-120"/>
              </a:rPr>
              <a:t>What-if</a:t>
            </a:r>
            <a:endParaRPr lang="en-US" sz="700" dirty="0"/>
          </a:p>
        </p:txBody>
      </p:sp>
      <p:sp>
        <p:nvSpPr>
          <p:cNvPr id="85" name="Shape 83"/>
          <p:cNvSpPr/>
          <p:nvPr/>
        </p:nvSpPr>
        <p:spPr>
          <a:xfrm>
            <a:off x="6263640" y="5056632"/>
            <a:ext cx="5760720" cy="457200"/>
          </a:xfrm>
          <a:prstGeom prst="rect">
            <a:avLst/>
          </a:prstGeom>
          <a:solidFill>
            <a:srgbClr val="FFF8E7"/>
          </a:solidFill>
          <a:ln w="12700">
            <a:solidFill>
              <a:srgbClr val="E8960C"/>
            </a:solidFill>
            <a:prstDash val="solid"/>
          </a:ln>
        </p:spPr>
      </p:sp>
      <p:sp>
        <p:nvSpPr>
          <p:cNvPr id="86" name="Text 84"/>
          <p:cNvSpPr/>
          <p:nvPr/>
        </p:nvSpPr>
        <p:spPr>
          <a:xfrm>
            <a:off x="6291072" y="5074920"/>
            <a:ext cx="5705856" cy="420624"/>
          </a:xfrm>
          <a:prstGeom prst="rect">
            <a:avLst/>
          </a:prstGeom>
          <a:noFill/>
          <a:ln/>
        </p:spPr>
        <p:txBody>
          <a:bodyPr wrap="square" rtlCol="0" anchor="t"/>
          <a:lstStyle/>
          <a:p>
            <a:pPr marL="0" indent="0">
              <a:buNone/>
            </a:pPr>
            <a:r>
              <a:rPr lang="en-US" sz="750" dirty="0">
                <a:solidFill>
                  <a:srgbClr val="1A1A1A"/>
                </a:solidFill>
                <a:latin typeface="Calibri" pitchFamily="34" charset="0"/>
                <a:ea typeface="Calibri" pitchFamily="34" charset="-122"/>
                <a:cs typeface="Calibri" pitchFamily="34" charset="-120"/>
              </a:rPr>
              <a:t>Eq-1 Charm ≈ −0.0000024/day. Weekend drift (×3): delta shifts ≈ 0.000007. Matters near expiry.</a:t>
            </a:r>
            <a:endParaRPr lang="en-US" sz="750" dirty="0"/>
          </a:p>
        </p:txBody>
      </p:sp>
      <p:sp>
        <p:nvSpPr>
          <p:cNvPr id="87" name="Shape 85"/>
          <p:cNvSpPr/>
          <p:nvPr/>
        </p:nvSpPr>
        <p:spPr>
          <a:xfrm>
            <a:off x="6263640" y="5559552"/>
            <a:ext cx="5760720" cy="256032"/>
          </a:xfrm>
          <a:prstGeom prst="rect">
            <a:avLst/>
          </a:prstGeom>
          <a:solidFill>
            <a:srgbClr val="F5F7FA"/>
          </a:solidFill>
          <a:ln w="12700">
            <a:solidFill>
              <a:srgbClr val="028090"/>
            </a:solidFill>
            <a:prstDash val="solid"/>
          </a:ln>
        </p:spPr>
      </p:sp>
      <p:sp>
        <p:nvSpPr>
          <p:cNvPr id="88" name="Text 86"/>
          <p:cNvSpPr/>
          <p:nvPr/>
        </p:nvSpPr>
        <p:spPr>
          <a:xfrm>
            <a:off x="6291072" y="5568696"/>
            <a:ext cx="5705856" cy="237744"/>
          </a:xfrm>
          <a:prstGeom prst="rect">
            <a:avLst/>
          </a:prstGeom>
          <a:noFill/>
          <a:ln/>
        </p:spPr>
        <p:txBody>
          <a:bodyPr wrap="square" rtlCol="0" anchor="ctr"/>
          <a:lstStyle/>
          <a:p>
            <a:pPr marL="0" indent="0">
              <a:buNone/>
            </a:pPr>
            <a:r>
              <a:rPr lang="en-US" sz="750" i="1" dirty="0">
                <a:solidFill>
                  <a:srgbClr val="1E2761"/>
                </a:solidFill>
                <a:latin typeface="Calibri" pitchFamily="34" charset="0"/>
                <a:ea typeface="Calibri" pitchFamily="34" charset="-122"/>
                <a:cs typeface="Calibri" pitchFamily="34" charset="-120"/>
              </a:rPr>
              <a:t>Charm = e^(−qT)·[n(d₁)·((r−q)/(σ√T)−d₂/(2T))−q·N(d₁)] / 365  |  ∂Δ/∂t</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7FA"/>
          </a:solidFill>
          <a:ln w="12700">
            <a:solidFill>
              <a:srgbClr val="F5F7FA"/>
            </a:solidFill>
            <a:prstDash val="solid"/>
          </a:ln>
        </p:spPr>
      </p:sp>
      <p:sp>
        <p:nvSpPr>
          <p:cNvPr id="3" name="Shape 1"/>
          <p:cNvSpPr/>
          <p:nvPr/>
        </p:nvSpPr>
        <p:spPr>
          <a:xfrm>
            <a:off x="0" y="0"/>
            <a:ext cx="12161520" cy="475488"/>
          </a:xfrm>
          <a:prstGeom prst="rect">
            <a:avLst/>
          </a:prstGeom>
          <a:solidFill>
            <a:srgbClr val="1E2761"/>
          </a:solidFill>
          <a:ln w="12700">
            <a:solidFill>
              <a:srgbClr val="1E2761"/>
            </a:solidFill>
            <a:prstDash val="solid"/>
          </a:ln>
        </p:spPr>
      </p:sp>
      <p:sp>
        <p:nvSpPr>
          <p:cNvPr id="4" name="Shape 2"/>
          <p:cNvSpPr/>
          <p:nvPr/>
        </p:nvSpPr>
        <p:spPr>
          <a:xfrm>
            <a:off x="0" y="475488"/>
            <a:ext cx="12161520" cy="45720"/>
          </a:xfrm>
          <a:prstGeom prst="rect">
            <a:avLst/>
          </a:prstGeom>
          <a:solidFill>
            <a:srgbClr val="C9A84C"/>
          </a:solidFill>
          <a:ln w="12700">
            <a:solidFill>
              <a:srgbClr val="C9A84C"/>
            </a:solidFill>
            <a:prstDash val="solid"/>
          </a:ln>
        </p:spPr>
      </p:sp>
      <p:sp>
        <p:nvSpPr>
          <p:cNvPr id="5" name="Shape 3"/>
          <p:cNvSpPr/>
          <p:nvPr/>
        </p:nvSpPr>
        <p:spPr>
          <a:xfrm>
            <a:off x="0" y="6492240"/>
            <a:ext cx="12161520" cy="365760"/>
          </a:xfrm>
          <a:prstGeom prst="rect">
            <a:avLst/>
          </a:prstGeom>
          <a:solidFill>
            <a:srgbClr val="1E2761"/>
          </a:solidFill>
          <a:ln w="12700">
            <a:solidFill>
              <a:srgbClr val="1E2761"/>
            </a:solidFill>
            <a:prstDash val="solid"/>
          </a:ln>
        </p:spPr>
      </p:sp>
      <p:sp>
        <p:nvSpPr>
          <p:cNvPr id="6" name="Text 4"/>
          <p:cNvSpPr/>
          <p:nvPr/>
        </p:nvSpPr>
        <p:spPr>
          <a:xfrm>
            <a:off x="182880" y="6510528"/>
            <a:ext cx="8229600" cy="228600"/>
          </a:xfrm>
          <a:prstGeom prst="rect">
            <a:avLst/>
          </a:prstGeom>
          <a:noFill/>
          <a:ln/>
        </p:spPr>
        <p:txBody>
          <a:bodyPr wrap="square" rtlCol="0" anchor="ctr"/>
          <a:lstStyle/>
          <a:p>
            <a:pPr marL="0" indent="0">
              <a:buNone/>
            </a:pPr>
            <a:r>
              <a:rPr lang="en-US" sz="750" dirty="0">
                <a:solidFill>
                  <a:srgbClr val="CADCFC"/>
                </a:solidFill>
                <a:latin typeface="Calibri" pitchFamily="34" charset="0"/>
                <a:ea typeface="Calibri" pitchFamily="34" charset="-122"/>
                <a:cs typeface="Calibri" pitchFamily="34" charset="-120"/>
              </a:rPr>
              <a:t>Curated by Sarthaka Nanda (with Anthropic Claude)  |  Greeks &amp; Sensitivities — Module 0</a:t>
            </a:r>
            <a:endParaRPr lang="en-US" sz="750" dirty="0"/>
          </a:p>
        </p:txBody>
      </p:sp>
      <p:sp>
        <p:nvSpPr>
          <p:cNvPr id="7" name="Text 5"/>
          <p:cNvSpPr/>
          <p:nvPr/>
        </p:nvSpPr>
        <p:spPr>
          <a:xfrm>
            <a:off x="10515600" y="6510528"/>
            <a:ext cx="1463040" cy="228600"/>
          </a:xfrm>
          <a:prstGeom prst="rect">
            <a:avLst/>
          </a:prstGeom>
          <a:noFill/>
          <a:ln/>
        </p:spPr>
        <p:txBody>
          <a:bodyPr wrap="square" rtlCol="0" anchor="ctr"/>
          <a:lstStyle/>
          <a:p>
            <a:pPr marL="0" indent="0" algn="r">
              <a:buNone/>
            </a:pPr>
            <a:r>
              <a:rPr lang="en-US" sz="750" dirty="0">
                <a:solidFill>
                  <a:srgbClr val="C9A84C"/>
                </a:solidFill>
                <a:latin typeface="Calibri" pitchFamily="34" charset="0"/>
                <a:ea typeface="Calibri" pitchFamily="34" charset="-122"/>
                <a:cs typeface="Calibri" pitchFamily="34" charset="-120"/>
              </a:rPr>
              <a:t>CC BY-NC 4.0</a:t>
            </a:r>
            <a:endParaRPr lang="en-US" sz="750" dirty="0"/>
          </a:p>
        </p:txBody>
      </p:sp>
      <p:sp>
        <p:nvSpPr>
          <p:cNvPr id="8" name="Text 6"/>
          <p:cNvSpPr/>
          <p:nvPr/>
        </p:nvSpPr>
        <p:spPr>
          <a:xfrm>
            <a:off x="274320" y="64008"/>
            <a:ext cx="1161288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Third-Order Greeks — Speed, Color, Zomma, Ultima</a:t>
            </a:r>
            <a:endParaRPr lang="en-US" sz="1500" dirty="0"/>
          </a:p>
        </p:txBody>
      </p:sp>
      <p:sp>
        <p:nvSpPr>
          <p:cNvPr id="9" name="Shape 7"/>
          <p:cNvSpPr/>
          <p:nvPr/>
        </p:nvSpPr>
        <p:spPr>
          <a:xfrm>
            <a:off x="182880" y="621792"/>
            <a:ext cx="11795760" cy="384048"/>
          </a:xfrm>
          <a:prstGeom prst="rect">
            <a:avLst/>
          </a:prstGeom>
          <a:solidFill>
            <a:srgbClr val="F5F7FA"/>
          </a:solidFill>
          <a:ln w="12700">
            <a:solidFill>
              <a:srgbClr val="DEE3ED"/>
            </a:solidFill>
            <a:prstDash val="solid"/>
          </a:ln>
        </p:spPr>
      </p:sp>
      <p:sp>
        <p:nvSpPr>
          <p:cNvPr id="10" name="Text 8"/>
          <p:cNvSpPr/>
          <p:nvPr/>
        </p:nvSpPr>
        <p:spPr>
          <a:xfrm>
            <a:off x="292608" y="640080"/>
            <a:ext cx="11521440" cy="347472"/>
          </a:xfrm>
          <a:prstGeom prst="rect">
            <a:avLst/>
          </a:prstGeom>
          <a:noFill/>
          <a:ln/>
        </p:spPr>
        <p:txBody>
          <a:bodyPr wrap="square" rtlCol="0" anchor="ctr"/>
          <a:lstStyle/>
          <a:p>
            <a:pPr marL="0" indent="0">
              <a:buNone/>
            </a:pPr>
            <a:r>
              <a:rPr lang="en-US" sz="900" i="1" dirty="0">
                <a:solidFill>
                  <a:srgbClr val="1E2761"/>
                </a:solidFill>
                <a:latin typeface="Calibri" pitchFamily="34" charset="0"/>
                <a:ea typeface="Calibri" pitchFamily="34" charset="-122"/>
                <a:cs typeface="Calibri" pitchFamily="34" charset="-120"/>
              </a:rPr>
              <a:t>Rarely hedged explicitly — monitored to understand hedge stability in complex books and stress scenarios.</a:t>
            </a:r>
            <a:endParaRPr lang="en-US" sz="900" dirty="0"/>
          </a:p>
        </p:txBody>
      </p:sp>
      <p:sp>
        <p:nvSpPr>
          <p:cNvPr id="11" name="Shape 9"/>
          <p:cNvSpPr/>
          <p:nvPr/>
        </p:nvSpPr>
        <p:spPr>
          <a:xfrm>
            <a:off x="182880" y="1097280"/>
            <a:ext cx="5852160" cy="2487168"/>
          </a:xfrm>
          <a:prstGeom prst="rect">
            <a:avLst/>
          </a:prstGeom>
          <a:solidFill>
            <a:srgbClr val="FFFFFF"/>
          </a:solidFill>
          <a:ln w="12700">
            <a:solidFill>
              <a:srgbClr val="DEE3ED"/>
            </a:solidFill>
            <a:prstDash val="solid"/>
          </a:ln>
          <a:effectLst>
            <a:outerShdw blurRad="63500" dist="25400" dir="8100000" algn="bl" rotWithShape="0">
              <a:srgbClr val="000000">
                <a:alpha val="10000"/>
              </a:srgbClr>
            </a:outerShdw>
          </a:effectLst>
        </p:spPr>
      </p:sp>
      <p:sp>
        <p:nvSpPr>
          <p:cNvPr id="12" name="Shape 10"/>
          <p:cNvSpPr/>
          <p:nvPr/>
        </p:nvSpPr>
        <p:spPr>
          <a:xfrm>
            <a:off x="182880" y="1097280"/>
            <a:ext cx="109728" cy="2487168"/>
          </a:xfrm>
          <a:prstGeom prst="rect">
            <a:avLst/>
          </a:prstGeom>
          <a:solidFill>
            <a:srgbClr val="028090"/>
          </a:solidFill>
          <a:ln w="12700">
            <a:solidFill>
              <a:srgbClr val="028090"/>
            </a:solidFill>
            <a:prstDash val="solid"/>
          </a:ln>
        </p:spPr>
      </p:sp>
      <p:sp>
        <p:nvSpPr>
          <p:cNvPr id="13" name="Shape 11"/>
          <p:cNvSpPr/>
          <p:nvPr/>
        </p:nvSpPr>
        <p:spPr>
          <a:xfrm>
            <a:off x="182880" y="1097280"/>
            <a:ext cx="5852160" cy="329184"/>
          </a:xfrm>
          <a:prstGeom prst="rect">
            <a:avLst/>
          </a:prstGeom>
          <a:solidFill>
            <a:srgbClr val="F5F7FA"/>
          </a:solidFill>
          <a:ln w="12700">
            <a:solidFill>
              <a:srgbClr val="DEE3ED"/>
            </a:solidFill>
            <a:prstDash val="solid"/>
          </a:ln>
        </p:spPr>
      </p:sp>
      <p:sp>
        <p:nvSpPr>
          <p:cNvPr id="14" name="Text 12"/>
          <p:cNvSpPr/>
          <p:nvPr/>
        </p:nvSpPr>
        <p:spPr>
          <a:xfrm>
            <a:off x="365760" y="1133856"/>
            <a:ext cx="3200400" cy="256032"/>
          </a:xfrm>
          <a:prstGeom prst="rect">
            <a:avLst/>
          </a:prstGeom>
          <a:noFill/>
          <a:ln/>
        </p:spPr>
        <p:txBody>
          <a:bodyPr wrap="square"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Speed</a:t>
            </a:r>
            <a:endParaRPr lang="en-US" sz="1300" dirty="0"/>
          </a:p>
        </p:txBody>
      </p:sp>
      <p:sp>
        <p:nvSpPr>
          <p:cNvPr id="15" name="Shape 13"/>
          <p:cNvSpPr/>
          <p:nvPr/>
        </p:nvSpPr>
        <p:spPr>
          <a:xfrm>
            <a:off x="3840480" y="1133856"/>
            <a:ext cx="2103120" cy="256032"/>
          </a:xfrm>
          <a:prstGeom prst="rect">
            <a:avLst/>
          </a:prstGeom>
          <a:solidFill>
            <a:srgbClr val="028090"/>
          </a:solidFill>
          <a:ln w="12700">
            <a:solidFill>
              <a:srgbClr val="028090"/>
            </a:solidFill>
            <a:prstDash val="solid"/>
          </a:ln>
        </p:spPr>
      </p:sp>
      <p:sp>
        <p:nvSpPr>
          <p:cNvPr id="16" name="Text 14"/>
          <p:cNvSpPr/>
          <p:nvPr/>
        </p:nvSpPr>
        <p:spPr>
          <a:xfrm>
            <a:off x="3858768" y="1133856"/>
            <a:ext cx="2066544" cy="256032"/>
          </a:xfrm>
          <a:prstGeom prst="rect">
            <a:avLst/>
          </a:prstGeom>
          <a:noFill/>
          <a:ln/>
        </p:spPr>
        <p:txBody>
          <a:bodyPr wrap="square"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∂Γ/∂S = ∂³V/∂S³</a:t>
            </a:r>
            <a:endParaRPr lang="en-US" sz="900" dirty="0"/>
          </a:p>
        </p:txBody>
      </p:sp>
      <p:sp>
        <p:nvSpPr>
          <p:cNvPr id="17" name="Shape 15"/>
          <p:cNvSpPr/>
          <p:nvPr/>
        </p:nvSpPr>
        <p:spPr>
          <a:xfrm>
            <a:off x="347472" y="1481328"/>
            <a:ext cx="5596128" cy="164592"/>
          </a:xfrm>
          <a:prstGeom prst="rect">
            <a:avLst/>
          </a:prstGeom>
          <a:solidFill>
            <a:srgbClr val="028090"/>
          </a:solidFill>
          <a:ln w="12700">
            <a:solidFill>
              <a:srgbClr val="028090"/>
            </a:solidFill>
            <a:prstDash val="solid"/>
          </a:ln>
        </p:spPr>
      </p:sp>
      <p:sp>
        <p:nvSpPr>
          <p:cNvPr id="18" name="Text 16"/>
          <p:cNvSpPr/>
          <p:nvPr/>
        </p:nvSpPr>
        <p:spPr>
          <a:xfrm>
            <a:off x="365760" y="1481328"/>
            <a:ext cx="5559552" cy="164592"/>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Car analogy</a:t>
            </a:r>
            <a:endParaRPr lang="en-US" sz="750" dirty="0"/>
          </a:p>
        </p:txBody>
      </p:sp>
      <p:sp>
        <p:nvSpPr>
          <p:cNvPr id="19" name="Shape 17"/>
          <p:cNvSpPr/>
          <p:nvPr/>
        </p:nvSpPr>
        <p:spPr>
          <a:xfrm>
            <a:off x="347472" y="1645920"/>
            <a:ext cx="5596128" cy="1097280"/>
          </a:xfrm>
          <a:prstGeom prst="rect">
            <a:avLst/>
          </a:prstGeom>
          <a:solidFill>
            <a:srgbClr val="E6F7F4"/>
          </a:solidFill>
          <a:ln w="12700">
            <a:solidFill>
              <a:srgbClr val="028090"/>
            </a:solidFill>
            <a:prstDash val="solid"/>
          </a:ln>
        </p:spPr>
      </p:sp>
      <p:sp>
        <p:nvSpPr>
          <p:cNvPr id="20" name="Text 18"/>
          <p:cNvSpPr/>
          <p:nvPr/>
        </p:nvSpPr>
        <p:spPr>
          <a:xfrm>
            <a:off x="384048" y="1664208"/>
            <a:ext cx="5522976" cy="1060704"/>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Throttle Stability — Does the accelerator lurch suddenly or respond smoothly? High Speed = gamma collapses as spot moves. Like a car whose acceleration suddenly doubles at highway speeds.</a:t>
            </a:r>
            <a:endParaRPr lang="en-US" sz="850" dirty="0"/>
          </a:p>
        </p:txBody>
      </p:sp>
      <p:sp>
        <p:nvSpPr>
          <p:cNvPr id="21" name="Shape 19"/>
          <p:cNvSpPr/>
          <p:nvPr/>
        </p:nvSpPr>
        <p:spPr>
          <a:xfrm>
            <a:off x="347472" y="2798064"/>
            <a:ext cx="5596128" cy="694944"/>
          </a:xfrm>
          <a:prstGeom prst="rect">
            <a:avLst/>
          </a:prstGeom>
          <a:solidFill>
            <a:srgbClr val="F5F7FA"/>
          </a:solidFill>
          <a:ln w="12700">
            <a:solidFill>
              <a:srgbClr val="DEE3ED"/>
            </a:solidFill>
            <a:prstDash val="solid"/>
          </a:ln>
        </p:spPr>
      </p:sp>
      <p:sp>
        <p:nvSpPr>
          <p:cNvPr id="22" name="Text 20"/>
          <p:cNvSpPr/>
          <p:nvPr/>
        </p:nvSpPr>
        <p:spPr>
          <a:xfrm>
            <a:off x="384048" y="2816352"/>
            <a:ext cx="5522976" cy="658368"/>
          </a:xfrm>
          <a:prstGeom prst="rect">
            <a:avLst/>
          </a:prstGeom>
          <a:noFill/>
          <a:ln/>
        </p:spPr>
        <p:txBody>
          <a:bodyPr wrap="square" rtlCol="0" anchor="t"/>
          <a:lstStyle/>
          <a:p>
            <a:pPr marL="0" indent="0">
              <a:buNone/>
            </a:pPr>
            <a:r>
              <a:rPr lang="en-US" sz="800" i="1" dirty="0">
                <a:solidFill>
                  <a:srgbClr val="4A4A4A"/>
                </a:solidFill>
                <a:latin typeface="Calibri" pitchFamily="34" charset="0"/>
                <a:ea typeface="Calibri" pitchFamily="34" charset="-122"/>
                <a:cs typeface="Calibri" pitchFamily="34" charset="-120"/>
              </a:rPr>
              <a:t>Practical use: Hedge rebalancing cost analysis; monitoring gamma stability in structured product books.</a:t>
            </a:r>
            <a:endParaRPr lang="en-US" sz="800" dirty="0"/>
          </a:p>
        </p:txBody>
      </p:sp>
      <p:sp>
        <p:nvSpPr>
          <p:cNvPr id="23" name="Shape 21"/>
          <p:cNvSpPr/>
          <p:nvPr/>
        </p:nvSpPr>
        <p:spPr>
          <a:xfrm>
            <a:off x="6217920" y="1097280"/>
            <a:ext cx="5852160" cy="2487168"/>
          </a:xfrm>
          <a:prstGeom prst="rect">
            <a:avLst/>
          </a:prstGeom>
          <a:solidFill>
            <a:srgbClr val="FFFFFF"/>
          </a:solidFill>
          <a:ln w="12700">
            <a:solidFill>
              <a:srgbClr val="DEE3ED"/>
            </a:solidFill>
            <a:prstDash val="solid"/>
          </a:ln>
          <a:effectLst>
            <a:outerShdw blurRad="63500" dist="25400" dir="8100000" algn="bl" rotWithShape="0">
              <a:srgbClr val="000000">
                <a:alpha val="10000"/>
              </a:srgbClr>
            </a:outerShdw>
          </a:effectLst>
        </p:spPr>
      </p:sp>
      <p:sp>
        <p:nvSpPr>
          <p:cNvPr id="24" name="Shape 22"/>
          <p:cNvSpPr/>
          <p:nvPr/>
        </p:nvSpPr>
        <p:spPr>
          <a:xfrm>
            <a:off x="6217920" y="1097280"/>
            <a:ext cx="109728" cy="2487168"/>
          </a:xfrm>
          <a:prstGeom prst="rect">
            <a:avLst/>
          </a:prstGeom>
          <a:solidFill>
            <a:srgbClr val="1E2761"/>
          </a:solidFill>
          <a:ln w="12700">
            <a:solidFill>
              <a:srgbClr val="1E2761"/>
            </a:solidFill>
            <a:prstDash val="solid"/>
          </a:ln>
        </p:spPr>
      </p:sp>
      <p:sp>
        <p:nvSpPr>
          <p:cNvPr id="25" name="Shape 23"/>
          <p:cNvSpPr/>
          <p:nvPr/>
        </p:nvSpPr>
        <p:spPr>
          <a:xfrm>
            <a:off x="6217920" y="1097280"/>
            <a:ext cx="5852160" cy="329184"/>
          </a:xfrm>
          <a:prstGeom prst="rect">
            <a:avLst/>
          </a:prstGeom>
          <a:solidFill>
            <a:srgbClr val="F5F7FA"/>
          </a:solidFill>
          <a:ln w="12700">
            <a:solidFill>
              <a:srgbClr val="DEE3ED"/>
            </a:solidFill>
            <a:prstDash val="solid"/>
          </a:ln>
        </p:spPr>
      </p:sp>
      <p:sp>
        <p:nvSpPr>
          <p:cNvPr id="26" name="Text 24"/>
          <p:cNvSpPr/>
          <p:nvPr/>
        </p:nvSpPr>
        <p:spPr>
          <a:xfrm>
            <a:off x="6400800" y="1133856"/>
            <a:ext cx="320040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Color</a:t>
            </a:r>
            <a:endParaRPr lang="en-US" sz="1300" dirty="0"/>
          </a:p>
        </p:txBody>
      </p:sp>
      <p:sp>
        <p:nvSpPr>
          <p:cNvPr id="27" name="Shape 25"/>
          <p:cNvSpPr/>
          <p:nvPr/>
        </p:nvSpPr>
        <p:spPr>
          <a:xfrm>
            <a:off x="9875520" y="1133856"/>
            <a:ext cx="2103120" cy="256032"/>
          </a:xfrm>
          <a:prstGeom prst="rect">
            <a:avLst/>
          </a:prstGeom>
          <a:solidFill>
            <a:srgbClr val="1E2761"/>
          </a:solidFill>
          <a:ln w="12700">
            <a:solidFill>
              <a:srgbClr val="1E2761"/>
            </a:solidFill>
            <a:prstDash val="solid"/>
          </a:ln>
        </p:spPr>
      </p:sp>
      <p:sp>
        <p:nvSpPr>
          <p:cNvPr id="28" name="Text 26"/>
          <p:cNvSpPr/>
          <p:nvPr/>
        </p:nvSpPr>
        <p:spPr>
          <a:xfrm>
            <a:off x="9893808" y="1133856"/>
            <a:ext cx="2066544" cy="256032"/>
          </a:xfrm>
          <a:prstGeom prst="rect">
            <a:avLst/>
          </a:prstGeom>
          <a:noFill/>
          <a:ln/>
        </p:spPr>
        <p:txBody>
          <a:bodyPr wrap="square"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∂Γ/∂t</a:t>
            </a:r>
            <a:endParaRPr lang="en-US" sz="900" dirty="0"/>
          </a:p>
        </p:txBody>
      </p:sp>
      <p:sp>
        <p:nvSpPr>
          <p:cNvPr id="29" name="Shape 27"/>
          <p:cNvSpPr/>
          <p:nvPr/>
        </p:nvSpPr>
        <p:spPr>
          <a:xfrm>
            <a:off x="6382512" y="1481328"/>
            <a:ext cx="5596128" cy="164592"/>
          </a:xfrm>
          <a:prstGeom prst="rect">
            <a:avLst/>
          </a:prstGeom>
          <a:solidFill>
            <a:srgbClr val="028090"/>
          </a:solidFill>
          <a:ln w="12700">
            <a:solidFill>
              <a:srgbClr val="028090"/>
            </a:solidFill>
            <a:prstDash val="solid"/>
          </a:ln>
        </p:spPr>
      </p:sp>
      <p:sp>
        <p:nvSpPr>
          <p:cNvPr id="30" name="Text 28"/>
          <p:cNvSpPr/>
          <p:nvPr/>
        </p:nvSpPr>
        <p:spPr>
          <a:xfrm>
            <a:off x="6400800" y="1481328"/>
            <a:ext cx="5559552" cy="164592"/>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Car analogy</a:t>
            </a:r>
            <a:endParaRPr lang="en-US" sz="750" dirty="0"/>
          </a:p>
        </p:txBody>
      </p:sp>
      <p:sp>
        <p:nvSpPr>
          <p:cNvPr id="31" name="Shape 29"/>
          <p:cNvSpPr/>
          <p:nvPr/>
        </p:nvSpPr>
        <p:spPr>
          <a:xfrm>
            <a:off x="6382512" y="1645920"/>
            <a:ext cx="5596128" cy="1097280"/>
          </a:xfrm>
          <a:prstGeom prst="rect">
            <a:avLst/>
          </a:prstGeom>
          <a:solidFill>
            <a:srgbClr val="E6F7F4"/>
          </a:solidFill>
          <a:ln w="12700">
            <a:solidFill>
              <a:srgbClr val="028090"/>
            </a:solidFill>
            <a:prstDash val="solid"/>
          </a:ln>
        </p:spPr>
      </p:sp>
      <p:sp>
        <p:nvSpPr>
          <p:cNvPr id="32" name="Text 30"/>
          <p:cNvSpPr/>
          <p:nvPr/>
        </p:nvSpPr>
        <p:spPr>
          <a:xfrm>
            <a:off x="6419088" y="1664208"/>
            <a:ext cx="5522976" cy="1060704"/>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Overnight Gamma Drift — How your accelerator sensitivity changes while parked overnight. Your gamma hedge at 5pm differs from 9am the next day, even with zero market movement.</a:t>
            </a:r>
            <a:endParaRPr lang="en-US" sz="850" dirty="0"/>
          </a:p>
        </p:txBody>
      </p:sp>
      <p:sp>
        <p:nvSpPr>
          <p:cNvPr id="33" name="Shape 31"/>
          <p:cNvSpPr/>
          <p:nvPr/>
        </p:nvSpPr>
        <p:spPr>
          <a:xfrm>
            <a:off x="6382512" y="2798064"/>
            <a:ext cx="5596128" cy="694944"/>
          </a:xfrm>
          <a:prstGeom prst="rect">
            <a:avLst/>
          </a:prstGeom>
          <a:solidFill>
            <a:srgbClr val="F5F7FA"/>
          </a:solidFill>
          <a:ln w="12700">
            <a:solidFill>
              <a:srgbClr val="DEE3ED"/>
            </a:solidFill>
            <a:prstDash val="solid"/>
          </a:ln>
        </p:spPr>
      </p:sp>
      <p:sp>
        <p:nvSpPr>
          <p:cNvPr id="34" name="Text 32"/>
          <p:cNvSpPr/>
          <p:nvPr/>
        </p:nvSpPr>
        <p:spPr>
          <a:xfrm>
            <a:off x="6419088" y="2816352"/>
            <a:ext cx="5522976" cy="658368"/>
          </a:xfrm>
          <a:prstGeom prst="rect">
            <a:avLst/>
          </a:prstGeom>
          <a:noFill/>
          <a:ln/>
        </p:spPr>
        <p:txBody>
          <a:bodyPr wrap="square" rtlCol="0" anchor="t"/>
          <a:lstStyle/>
          <a:p>
            <a:pPr marL="0" indent="0">
              <a:buNone/>
            </a:pPr>
            <a:r>
              <a:rPr lang="en-US" sz="800" i="1" dirty="0">
                <a:solidFill>
                  <a:srgbClr val="4A4A4A"/>
                </a:solidFill>
                <a:latin typeface="Calibri" pitchFamily="34" charset="0"/>
                <a:ea typeface="Calibri" pitchFamily="34" charset="-122"/>
                <a:cs typeface="Calibri" pitchFamily="34" charset="-120"/>
              </a:rPr>
              <a:t>Practical use: Long-dated options and exotic books; material across weekends and roll periods.</a:t>
            </a:r>
            <a:endParaRPr lang="en-US" sz="800" dirty="0"/>
          </a:p>
        </p:txBody>
      </p:sp>
      <p:sp>
        <p:nvSpPr>
          <p:cNvPr id="35" name="Shape 33"/>
          <p:cNvSpPr/>
          <p:nvPr/>
        </p:nvSpPr>
        <p:spPr>
          <a:xfrm>
            <a:off x="182880" y="3730752"/>
            <a:ext cx="5852160" cy="2487168"/>
          </a:xfrm>
          <a:prstGeom prst="rect">
            <a:avLst/>
          </a:prstGeom>
          <a:solidFill>
            <a:srgbClr val="FFFFFF"/>
          </a:solidFill>
          <a:ln w="12700">
            <a:solidFill>
              <a:srgbClr val="DEE3ED"/>
            </a:solidFill>
            <a:prstDash val="solid"/>
          </a:ln>
          <a:effectLst>
            <a:outerShdw blurRad="63500" dist="25400" dir="8100000" algn="bl" rotWithShape="0">
              <a:srgbClr val="000000">
                <a:alpha val="10000"/>
              </a:srgbClr>
            </a:outerShdw>
          </a:effectLst>
        </p:spPr>
      </p:sp>
      <p:sp>
        <p:nvSpPr>
          <p:cNvPr id="36" name="Shape 34"/>
          <p:cNvSpPr/>
          <p:nvPr/>
        </p:nvSpPr>
        <p:spPr>
          <a:xfrm>
            <a:off x="182880" y="3730752"/>
            <a:ext cx="109728" cy="2487168"/>
          </a:xfrm>
          <a:prstGeom prst="rect">
            <a:avLst/>
          </a:prstGeom>
          <a:solidFill>
            <a:srgbClr val="7C3AED"/>
          </a:solidFill>
          <a:ln w="12700">
            <a:solidFill>
              <a:srgbClr val="7C3AED"/>
            </a:solidFill>
            <a:prstDash val="solid"/>
          </a:ln>
        </p:spPr>
      </p:sp>
      <p:sp>
        <p:nvSpPr>
          <p:cNvPr id="37" name="Shape 35"/>
          <p:cNvSpPr/>
          <p:nvPr/>
        </p:nvSpPr>
        <p:spPr>
          <a:xfrm>
            <a:off x="182880" y="3730752"/>
            <a:ext cx="5852160" cy="329184"/>
          </a:xfrm>
          <a:prstGeom prst="rect">
            <a:avLst/>
          </a:prstGeom>
          <a:solidFill>
            <a:srgbClr val="F5F7FA"/>
          </a:solidFill>
          <a:ln w="12700">
            <a:solidFill>
              <a:srgbClr val="DEE3ED"/>
            </a:solidFill>
            <a:prstDash val="solid"/>
          </a:ln>
        </p:spPr>
      </p:sp>
      <p:sp>
        <p:nvSpPr>
          <p:cNvPr id="38" name="Text 36"/>
          <p:cNvSpPr/>
          <p:nvPr/>
        </p:nvSpPr>
        <p:spPr>
          <a:xfrm>
            <a:off x="365760" y="3767328"/>
            <a:ext cx="3200400" cy="256032"/>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Zomma</a:t>
            </a:r>
            <a:endParaRPr lang="en-US" sz="1300" dirty="0"/>
          </a:p>
        </p:txBody>
      </p:sp>
      <p:sp>
        <p:nvSpPr>
          <p:cNvPr id="39" name="Shape 37"/>
          <p:cNvSpPr/>
          <p:nvPr/>
        </p:nvSpPr>
        <p:spPr>
          <a:xfrm>
            <a:off x="3840480" y="3767328"/>
            <a:ext cx="2103120" cy="256032"/>
          </a:xfrm>
          <a:prstGeom prst="rect">
            <a:avLst/>
          </a:prstGeom>
          <a:solidFill>
            <a:srgbClr val="7C3AED"/>
          </a:solidFill>
          <a:ln w="12700">
            <a:solidFill>
              <a:srgbClr val="7C3AED"/>
            </a:solidFill>
            <a:prstDash val="solid"/>
          </a:ln>
        </p:spPr>
      </p:sp>
      <p:sp>
        <p:nvSpPr>
          <p:cNvPr id="40" name="Text 38"/>
          <p:cNvSpPr/>
          <p:nvPr/>
        </p:nvSpPr>
        <p:spPr>
          <a:xfrm>
            <a:off x="3858768" y="3767328"/>
            <a:ext cx="2066544" cy="256032"/>
          </a:xfrm>
          <a:prstGeom prst="rect">
            <a:avLst/>
          </a:prstGeom>
          <a:noFill/>
          <a:ln/>
        </p:spPr>
        <p:txBody>
          <a:bodyPr wrap="square"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∂Γ/∂σ = ∂Vanna/∂S</a:t>
            </a:r>
            <a:endParaRPr lang="en-US" sz="900" dirty="0"/>
          </a:p>
        </p:txBody>
      </p:sp>
      <p:sp>
        <p:nvSpPr>
          <p:cNvPr id="41" name="Shape 39"/>
          <p:cNvSpPr/>
          <p:nvPr/>
        </p:nvSpPr>
        <p:spPr>
          <a:xfrm>
            <a:off x="347472" y="4114800"/>
            <a:ext cx="5596128" cy="164592"/>
          </a:xfrm>
          <a:prstGeom prst="rect">
            <a:avLst/>
          </a:prstGeom>
          <a:solidFill>
            <a:srgbClr val="028090"/>
          </a:solidFill>
          <a:ln w="12700">
            <a:solidFill>
              <a:srgbClr val="028090"/>
            </a:solidFill>
            <a:prstDash val="solid"/>
          </a:ln>
        </p:spPr>
      </p:sp>
      <p:sp>
        <p:nvSpPr>
          <p:cNvPr id="42" name="Text 40"/>
          <p:cNvSpPr/>
          <p:nvPr/>
        </p:nvSpPr>
        <p:spPr>
          <a:xfrm>
            <a:off x="365760" y="4114800"/>
            <a:ext cx="5559552" cy="164592"/>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Car analogy</a:t>
            </a:r>
            <a:endParaRPr lang="en-US" sz="750" dirty="0"/>
          </a:p>
        </p:txBody>
      </p:sp>
      <p:sp>
        <p:nvSpPr>
          <p:cNvPr id="43" name="Shape 41"/>
          <p:cNvSpPr/>
          <p:nvPr/>
        </p:nvSpPr>
        <p:spPr>
          <a:xfrm>
            <a:off x="347472" y="4279392"/>
            <a:ext cx="5596128" cy="1097280"/>
          </a:xfrm>
          <a:prstGeom prst="rect">
            <a:avLst/>
          </a:prstGeom>
          <a:solidFill>
            <a:srgbClr val="E6F7F4"/>
          </a:solidFill>
          <a:ln w="12700">
            <a:solidFill>
              <a:srgbClr val="028090"/>
            </a:solidFill>
            <a:prstDash val="solid"/>
          </a:ln>
        </p:spPr>
      </p:sp>
      <p:sp>
        <p:nvSpPr>
          <p:cNvPr id="44" name="Text 42"/>
          <p:cNvSpPr/>
          <p:nvPr/>
        </p:nvSpPr>
        <p:spPr>
          <a:xfrm>
            <a:off x="384048" y="4297680"/>
            <a:ext cx="5522976" cy="1060704"/>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Grip in a Crisis — Does your accelerator still work when the road is flooded? In market crashes, gamma and vol move together. Zomma tells you how much your convexity degrades when you need it most.</a:t>
            </a:r>
            <a:endParaRPr lang="en-US" sz="850" dirty="0"/>
          </a:p>
        </p:txBody>
      </p:sp>
      <p:sp>
        <p:nvSpPr>
          <p:cNvPr id="45" name="Shape 43"/>
          <p:cNvSpPr/>
          <p:nvPr/>
        </p:nvSpPr>
        <p:spPr>
          <a:xfrm>
            <a:off x="347472" y="5431536"/>
            <a:ext cx="5596128" cy="694944"/>
          </a:xfrm>
          <a:prstGeom prst="rect">
            <a:avLst/>
          </a:prstGeom>
          <a:solidFill>
            <a:srgbClr val="F5F7FA"/>
          </a:solidFill>
          <a:ln w="12700">
            <a:solidFill>
              <a:srgbClr val="DEE3ED"/>
            </a:solidFill>
            <a:prstDash val="solid"/>
          </a:ln>
        </p:spPr>
      </p:sp>
      <p:sp>
        <p:nvSpPr>
          <p:cNvPr id="46" name="Text 44"/>
          <p:cNvSpPr/>
          <p:nvPr/>
        </p:nvSpPr>
        <p:spPr>
          <a:xfrm>
            <a:off x="384048" y="5449824"/>
            <a:ext cx="5522976" cy="658368"/>
          </a:xfrm>
          <a:prstGeom prst="rect">
            <a:avLst/>
          </a:prstGeom>
          <a:noFill/>
          <a:ln/>
        </p:spPr>
        <p:txBody>
          <a:bodyPr wrap="square" rtlCol="0" anchor="t"/>
          <a:lstStyle/>
          <a:p>
            <a:pPr marL="0" indent="0">
              <a:buNone/>
            </a:pPr>
            <a:r>
              <a:rPr lang="en-US" sz="800" i="1" dirty="0">
                <a:solidFill>
                  <a:srgbClr val="4A4A4A"/>
                </a:solidFill>
                <a:latin typeface="Calibri" pitchFamily="34" charset="0"/>
                <a:ea typeface="Calibri" pitchFamily="34" charset="-122"/>
                <a:cs typeface="Calibri" pitchFamily="34" charset="-120"/>
              </a:rPr>
              <a:t>Practical use: Stress testing; model risk in volatile regimes; crisis scenario analysis.</a:t>
            </a:r>
            <a:endParaRPr lang="en-US" sz="800" dirty="0"/>
          </a:p>
        </p:txBody>
      </p:sp>
      <p:sp>
        <p:nvSpPr>
          <p:cNvPr id="47" name="Shape 45"/>
          <p:cNvSpPr/>
          <p:nvPr/>
        </p:nvSpPr>
        <p:spPr>
          <a:xfrm>
            <a:off x="6217920" y="3730752"/>
            <a:ext cx="5852160" cy="2487168"/>
          </a:xfrm>
          <a:prstGeom prst="rect">
            <a:avLst/>
          </a:prstGeom>
          <a:solidFill>
            <a:srgbClr val="FFFFFF"/>
          </a:solidFill>
          <a:ln w="12700">
            <a:solidFill>
              <a:srgbClr val="DEE3ED"/>
            </a:solidFill>
            <a:prstDash val="solid"/>
          </a:ln>
          <a:effectLst>
            <a:outerShdw blurRad="63500" dist="25400" dir="8100000" algn="bl" rotWithShape="0">
              <a:srgbClr val="000000">
                <a:alpha val="10000"/>
              </a:srgbClr>
            </a:outerShdw>
          </a:effectLst>
        </p:spPr>
      </p:sp>
      <p:sp>
        <p:nvSpPr>
          <p:cNvPr id="48" name="Shape 46"/>
          <p:cNvSpPr/>
          <p:nvPr/>
        </p:nvSpPr>
        <p:spPr>
          <a:xfrm>
            <a:off x="6217920" y="3730752"/>
            <a:ext cx="109728" cy="2487168"/>
          </a:xfrm>
          <a:prstGeom prst="rect">
            <a:avLst/>
          </a:prstGeom>
          <a:solidFill>
            <a:srgbClr val="B91C1C"/>
          </a:solidFill>
          <a:ln w="12700">
            <a:solidFill>
              <a:srgbClr val="B91C1C"/>
            </a:solidFill>
            <a:prstDash val="solid"/>
          </a:ln>
        </p:spPr>
      </p:sp>
      <p:sp>
        <p:nvSpPr>
          <p:cNvPr id="49" name="Shape 47"/>
          <p:cNvSpPr/>
          <p:nvPr/>
        </p:nvSpPr>
        <p:spPr>
          <a:xfrm>
            <a:off x="6217920" y="3730752"/>
            <a:ext cx="5852160" cy="329184"/>
          </a:xfrm>
          <a:prstGeom prst="rect">
            <a:avLst/>
          </a:prstGeom>
          <a:solidFill>
            <a:srgbClr val="F5F7FA"/>
          </a:solidFill>
          <a:ln w="12700">
            <a:solidFill>
              <a:srgbClr val="DEE3ED"/>
            </a:solidFill>
            <a:prstDash val="solid"/>
          </a:ln>
        </p:spPr>
      </p:sp>
      <p:sp>
        <p:nvSpPr>
          <p:cNvPr id="50" name="Text 48"/>
          <p:cNvSpPr/>
          <p:nvPr/>
        </p:nvSpPr>
        <p:spPr>
          <a:xfrm>
            <a:off x="6400800" y="3767328"/>
            <a:ext cx="3200400" cy="256032"/>
          </a:xfrm>
          <a:prstGeom prst="rect">
            <a:avLst/>
          </a:prstGeom>
          <a:noFill/>
          <a:ln/>
        </p:spPr>
        <p:txBody>
          <a:bodyPr wrap="square" rtlCol="0" anchor="ctr"/>
          <a:lstStyle/>
          <a:p>
            <a:pPr marL="0" indent="0">
              <a:buNone/>
            </a:pPr>
            <a:r>
              <a:rPr lang="en-US" sz="1300" b="1" dirty="0">
                <a:solidFill>
                  <a:srgbClr val="B91C1C"/>
                </a:solidFill>
                <a:latin typeface="Calibri" pitchFamily="34" charset="0"/>
                <a:ea typeface="Calibri" pitchFamily="34" charset="-122"/>
                <a:cs typeface="Calibri" pitchFamily="34" charset="-120"/>
              </a:rPr>
              <a:t>Ultima</a:t>
            </a:r>
            <a:endParaRPr lang="en-US" sz="1300" dirty="0"/>
          </a:p>
        </p:txBody>
      </p:sp>
      <p:sp>
        <p:nvSpPr>
          <p:cNvPr id="51" name="Shape 49"/>
          <p:cNvSpPr/>
          <p:nvPr/>
        </p:nvSpPr>
        <p:spPr>
          <a:xfrm>
            <a:off x="9875520" y="3767328"/>
            <a:ext cx="2103120" cy="256032"/>
          </a:xfrm>
          <a:prstGeom prst="rect">
            <a:avLst/>
          </a:prstGeom>
          <a:solidFill>
            <a:srgbClr val="B91C1C"/>
          </a:solidFill>
          <a:ln w="12700">
            <a:solidFill>
              <a:srgbClr val="B91C1C"/>
            </a:solidFill>
            <a:prstDash val="solid"/>
          </a:ln>
        </p:spPr>
      </p:sp>
      <p:sp>
        <p:nvSpPr>
          <p:cNvPr id="52" name="Text 50"/>
          <p:cNvSpPr/>
          <p:nvPr/>
        </p:nvSpPr>
        <p:spPr>
          <a:xfrm>
            <a:off x="9893808" y="3767328"/>
            <a:ext cx="2066544" cy="256032"/>
          </a:xfrm>
          <a:prstGeom prst="rect">
            <a:avLst/>
          </a:prstGeom>
          <a:noFill/>
          <a:ln/>
        </p:spPr>
        <p:txBody>
          <a:bodyPr wrap="square"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∂Volga/∂σ = ∂³V/∂σ³</a:t>
            </a:r>
            <a:endParaRPr lang="en-US" sz="900" dirty="0"/>
          </a:p>
        </p:txBody>
      </p:sp>
      <p:sp>
        <p:nvSpPr>
          <p:cNvPr id="53" name="Shape 51"/>
          <p:cNvSpPr/>
          <p:nvPr/>
        </p:nvSpPr>
        <p:spPr>
          <a:xfrm>
            <a:off x="6382512" y="4114800"/>
            <a:ext cx="5596128" cy="164592"/>
          </a:xfrm>
          <a:prstGeom prst="rect">
            <a:avLst/>
          </a:prstGeom>
          <a:solidFill>
            <a:srgbClr val="028090"/>
          </a:solidFill>
          <a:ln w="12700">
            <a:solidFill>
              <a:srgbClr val="028090"/>
            </a:solidFill>
            <a:prstDash val="solid"/>
          </a:ln>
        </p:spPr>
      </p:sp>
      <p:sp>
        <p:nvSpPr>
          <p:cNvPr id="54" name="Text 52"/>
          <p:cNvSpPr/>
          <p:nvPr/>
        </p:nvSpPr>
        <p:spPr>
          <a:xfrm>
            <a:off x="6400800" y="4114800"/>
            <a:ext cx="5559552" cy="164592"/>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Car analogy</a:t>
            </a:r>
            <a:endParaRPr lang="en-US" sz="750" dirty="0"/>
          </a:p>
        </p:txBody>
      </p:sp>
      <p:sp>
        <p:nvSpPr>
          <p:cNvPr id="55" name="Shape 53"/>
          <p:cNvSpPr/>
          <p:nvPr/>
        </p:nvSpPr>
        <p:spPr>
          <a:xfrm>
            <a:off x="6382512" y="4279392"/>
            <a:ext cx="5596128" cy="1097280"/>
          </a:xfrm>
          <a:prstGeom prst="rect">
            <a:avLst/>
          </a:prstGeom>
          <a:solidFill>
            <a:srgbClr val="E6F7F4"/>
          </a:solidFill>
          <a:ln w="12700">
            <a:solidFill>
              <a:srgbClr val="028090"/>
            </a:solidFill>
            <a:prstDash val="solid"/>
          </a:ln>
        </p:spPr>
      </p:sp>
      <p:sp>
        <p:nvSpPr>
          <p:cNvPr id="56" name="Text 54"/>
          <p:cNvSpPr/>
          <p:nvPr/>
        </p:nvSpPr>
        <p:spPr>
          <a:xfrm>
            <a:off x="6419088" y="4297680"/>
            <a:ext cx="5522976" cy="1060704"/>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Deep Turbulence Sensor — Measures how vol curvature itself behaves in extreme conditions. The diagnostic for Black Swan event modelling when everything else stops working reliably.</a:t>
            </a:r>
            <a:endParaRPr lang="en-US" sz="850" dirty="0"/>
          </a:p>
        </p:txBody>
      </p:sp>
      <p:sp>
        <p:nvSpPr>
          <p:cNvPr id="57" name="Shape 55"/>
          <p:cNvSpPr/>
          <p:nvPr/>
        </p:nvSpPr>
        <p:spPr>
          <a:xfrm>
            <a:off x="6382512" y="5431536"/>
            <a:ext cx="5596128" cy="694944"/>
          </a:xfrm>
          <a:prstGeom prst="rect">
            <a:avLst/>
          </a:prstGeom>
          <a:solidFill>
            <a:srgbClr val="F5F7FA"/>
          </a:solidFill>
          <a:ln w="12700">
            <a:solidFill>
              <a:srgbClr val="DEE3ED"/>
            </a:solidFill>
            <a:prstDash val="solid"/>
          </a:ln>
        </p:spPr>
      </p:sp>
      <p:sp>
        <p:nvSpPr>
          <p:cNvPr id="58" name="Text 56"/>
          <p:cNvSpPr/>
          <p:nvPr/>
        </p:nvSpPr>
        <p:spPr>
          <a:xfrm>
            <a:off x="6419088" y="5449824"/>
            <a:ext cx="5522976" cy="658368"/>
          </a:xfrm>
          <a:prstGeom prst="rect">
            <a:avLst/>
          </a:prstGeom>
          <a:noFill/>
          <a:ln/>
        </p:spPr>
        <p:txBody>
          <a:bodyPr wrap="square" rtlCol="0" anchor="t"/>
          <a:lstStyle/>
          <a:p>
            <a:pPr marL="0" indent="0">
              <a:buNone/>
            </a:pPr>
            <a:r>
              <a:rPr lang="en-US" sz="800" i="1" dirty="0">
                <a:solidFill>
                  <a:srgbClr val="4A4A4A"/>
                </a:solidFill>
                <a:latin typeface="Calibri" pitchFamily="34" charset="0"/>
                <a:ea typeface="Calibri" pitchFamily="34" charset="-122"/>
                <a:cs typeface="Calibri" pitchFamily="34" charset="-120"/>
              </a:rPr>
              <a:t>Practical use: Vol-of-vol model calibration; tail risk analytics; rare in daily risk management.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7FA"/>
          </a:solidFill>
          <a:ln w="12700">
            <a:solidFill>
              <a:srgbClr val="F5F7FA"/>
            </a:solidFill>
            <a:prstDash val="solid"/>
          </a:ln>
        </p:spPr>
      </p:sp>
      <p:sp>
        <p:nvSpPr>
          <p:cNvPr id="3" name="Shape 1"/>
          <p:cNvSpPr/>
          <p:nvPr/>
        </p:nvSpPr>
        <p:spPr>
          <a:xfrm>
            <a:off x="0" y="0"/>
            <a:ext cx="12161520" cy="475488"/>
          </a:xfrm>
          <a:prstGeom prst="rect">
            <a:avLst/>
          </a:prstGeom>
          <a:solidFill>
            <a:srgbClr val="1E2761"/>
          </a:solidFill>
          <a:ln w="12700">
            <a:solidFill>
              <a:srgbClr val="1E2761"/>
            </a:solidFill>
            <a:prstDash val="solid"/>
          </a:ln>
        </p:spPr>
      </p:sp>
      <p:sp>
        <p:nvSpPr>
          <p:cNvPr id="4" name="Shape 2"/>
          <p:cNvSpPr/>
          <p:nvPr/>
        </p:nvSpPr>
        <p:spPr>
          <a:xfrm>
            <a:off x="0" y="475488"/>
            <a:ext cx="12161520" cy="45720"/>
          </a:xfrm>
          <a:prstGeom prst="rect">
            <a:avLst/>
          </a:prstGeom>
          <a:solidFill>
            <a:srgbClr val="C9A84C"/>
          </a:solidFill>
          <a:ln w="12700">
            <a:solidFill>
              <a:srgbClr val="C9A84C"/>
            </a:solidFill>
            <a:prstDash val="solid"/>
          </a:ln>
        </p:spPr>
      </p:sp>
      <p:sp>
        <p:nvSpPr>
          <p:cNvPr id="5" name="Shape 3"/>
          <p:cNvSpPr/>
          <p:nvPr/>
        </p:nvSpPr>
        <p:spPr>
          <a:xfrm>
            <a:off x="0" y="6492240"/>
            <a:ext cx="12161520" cy="365760"/>
          </a:xfrm>
          <a:prstGeom prst="rect">
            <a:avLst/>
          </a:prstGeom>
          <a:solidFill>
            <a:srgbClr val="1E2761"/>
          </a:solidFill>
          <a:ln w="12700">
            <a:solidFill>
              <a:srgbClr val="1E2761"/>
            </a:solidFill>
            <a:prstDash val="solid"/>
          </a:ln>
        </p:spPr>
      </p:sp>
      <p:sp>
        <p:nvSpPr>
          <p:cNvPr id="6" name="Text 4"/>
          <p:cNvSpPr/>
          <p:nvPr/>
        </p:nvSpPr>
        <p:spPr>
          <a:xfrm>
            <a:off x="182880" y="6510528"/>
            <a:ext cx="8229600" cy="228600"/>
          </a:xfrm>
          <a:prstGeom prst="rect">
            <a:avLst/>
          </a:prstGeom>
          <a:noFill/>
          <a:ln/>
        </p:spPr>
        <p:txBody>
          <a:bodyPr wrap="square" rtlCol="0" anchor="ctr"/>
          <a:lstStyle/>
          <a:p>
            <a:pPr marL="0" indent="0">
              <a:buNone/>
            </a:pPr>
            <a:r>
              <a:rPr lang="en-US" sz="750" dirty="0">
                <a:solidFill>
                  <a:srgbClr val="CADCFC"/>
                </a:solidFill>
                <a:latin typeface="Calibri" pitchFamily="34" charset="0"/>
                <a:ea typeface="Calibri" pitchFamily="34" charset="-122"/>
                <a:cs typeface="Calibri" pitchFamily="34" charset="-120"/>
              </a:rPr>
              <a:t>Curated by Sarthaka Nanda (with Anthropic Claude)  |  Greeks &amp; Sensitivities — Module 0</a:t>
            </a:r>
            <a:endParaRPr lang="en-US" sz="750" dirty="0"/>
          </a:p>
        </p:txBody>
      </p:sp>
      <p:sp>
        <p:nvSpPr>
          <p:cNvPr id="7" name="Text 5"/>
          <p:cNvSpPr/>
          <p:nvPr/>
        </p:nvSpPr>
        <p:spPr>
          <a:xfrm>
            <a:off x="10515600" y="6510528"/>
            <a:ext cx="1463040" cy="228600"/>
          </a:xfrm>
          <a:prstGeom prst="rect">
            <a:avLst/>
          </a:prstGeom>
          <a:noFill/>
          <a:ln/>
        </p:spPr>
        <p:txBody>
          <a:bodyPr wrap="square" rtlCol="0" anchor="ctr"/>
          <a:lstStyle/>
          <a:p>
            <a:pPr marL="0" indent="0" algn="r">
              <a:buNone/>
            </a:pPr>
            <a:r>
              <a:rPr lang="en-US" sz="750" dirty="0">
                <a:solidFill>
                  <a:srgbClr val="C9A84C"/>
                </a:solidFill>
                <a:latin typeface="Calibri" pitchFamily="34" charset="0"/>
                <a:ea typeface="Calibri" pitchFamily="34" charset="-122"/>
                <a:cs typeface="Calibri" pitchFamily="34" charset="-120"/>
              </a:rPr>
              <a:t>CC BY-NC 4.0</a:t>
            </a:r>
            <a:endParaRPr lang="en-US" sz="750" dirty="0"/>
          </a:p>
        </p:txBody>
      </p:sp>
      <p:sp>
        <p:nvSpPr>
          <p:cNvPr id="8" name="Text 6"/>
          <p:cNvSpPr/>
          <p:nvPr/>
        </p:nvSpPr>
        <p:spPr>
          <a:xfrm>
            <a:off x="274320" y="64008"/>
            <a:ext cx="1161288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Sign Convention Cheat Sheet — Know Your Exposure at a Glance</a:t>
            </a:r>
            <a:endParaRPr lang="en-US" sz="1500" dirty="0"/>
          </a:p>
        </p:txBody>
      </p:sp>
      <p:sp>
        <p:nvSpPr>
          <p:cNvPr id="9" name="Shape 7"/>
          <p:cNvSpPr/>
          <p:nvPr/>
        </p:nvSpPr>
        <p:spPr>
          <a:xfrm>
            <a:off x="182880" y="621792"/>
            <a:ext cx="11795760" cy="475488"/>
          </a:xfrm>
          <a:prstGeom prst="rect">
            <a:avLst/>
          </a:prstGeom>
          <a:solidFill>
            <a:srgbClr val="FFF8E7"/>
          </a:solidFill>
          <a:ln w="12700">
            <a:solidFill>
              <a:srgbClr val="E8960C"/>
            </a:solidFill>
            <a:prstDash val="solid"/>
          </a:ln>
        </p:spPr>
      </p:sp>
      <p:sp>
        <p:nvSpPr>
          <p:cNvPr id="10" name="Shape 8"/>
          <p:cNvSpPr/>
          <p:nvPr/>
        </p:nvSpPr>
        <p:spPr>
          <a:xfrm>
            <a:off x="182880" y="621792"/>
            <a:ext cx="109728" cy="475488"/>
          </a:xfrm>
          <a:prstGeom prst="rect">
            <a:avLst/>
          </a:prstGeom>
          <a:solidFill>
            <a:srgbClr val="E8960C"/>
          </a:solidFill>
          <a:ln w="12700">
            <a:solidFill>
              <a:srgbClr val="E8960C"/>
            </a:solidFill>
            <a:prstDash val="solid"/>
          </a:ln>
        </p:spPr>
      </p:sp>
      <p:sp>
        <p:nvSpPr>
          <p:cNvPr id="11" name="Text 9"/>
          <p:cNvSpPr/>
          <p:nvPr/>
        </p:nvSpPr>
        <p:spPr>
          <a:xfrm>
            <a:off x="347472" y="640080"/>
            <a:ext cx="11521440" cy="438912"/>
          </a:xfrm>
          <a:prstGeom prst="rect">
            <a:avLst/>
          </a:prstGeom>
          <a:noFill/>
          <a:ln/>
        </p:spPr>
        <p:txBody>
          <a:bodyPr wrap="square" rtlCol="0" anchor="ctr"/>
          <a:lstStyle/>
          <a:p>
            <a:pPr marL="0" indent="0">
              <a:buNone/>
            </a:pPr>
            <a:r>
              <a:rPr lang="en-US" sz="900" dirty="0">
                <a:solidFill>
                  <a:srgbClr val="1A1A1A"/>
                </a:solidFill>
                <a:latin typeface="Calibri" pitchFamily="34" charset="0"/>
                <a:ea typeface="Calibri" pitchFamily="34" charset="-122"/>
                <a:cs typeface="Calibri" pitchFamily="34" charset="-120"/>
              </a:rPr>
              <a:t>Memory aid: Long call = foot on accelerator (Gamma+), heading uphill (Rho+), weather sensitivity on (Vega+), parking meter running (Theta−). Short call = opposite of all the above.</a:t>
            </a:r>
            <a:endParaRPr lang="en-US" sz="900" dirty="0"/>
          </a:p>
        </p:txBody>
      </p:sp>
      <p:sp>
        <p:nvSpPr>
          <p:cNvPr id="12" name="Shape 10"/>
          <p:cNvSpPr/>
          <p:nvPr/>
        </p:nvSpPr>
        <p:spPr>
          <a:xfrm>
            <a:off x="182880" y="1207008"/>
            <a:ext cx="2560320" cy="347472"/>
          </a:xfrm>
          <a:prstGeom prst="rect">
            <a:avLst/>
          </a:prstGeom>
          <a:solidFill>
            <a:srgbClr val="1E2761"/>
          </a:solidFill>
          <a:ln w="12700">
            <a:solidFill>
              <a:srgbClr val="1E2761"/>
            </a:solidFill>
            <a:prstDash val="solid"/>
          </a:ln>
        </p:spPr>
      </p:sp>
      <p:sp>
        <p:nvSpPr>
          <p:cNvPr id="13" name="Text 11"/>
          <p:cNvSpPr/>
          <p:nvPr/>
        </p:nvSpPr>
        <p:spPr>
          <a:xfrm>
            <a:off x="237744" y="1207008"/>
            <a:ext cx="2450592" cy="347472"/>
          </a:xfrm>
          <a:prstGeom prst="rect">
            <a:avLst/>
          </a:prstGeom>
          <a:noFill/>
          <a:ln/>
        </p:spPr>
        <p:txBody>
          <a:bodyPr wrap="square" rtlCol="0" anchor="ctr"/>
          <a:lstStyle/>
          <a:p>
            <a:pPr marL="0" indent="0" algn="l">
              <a:buNone/>
            </a:pPr>
            <a:r>
              <a:rPr lang="en-US" sz="900" b="1" dirty="0">
                <a:solidFill>
                  <a:srgbClr val="FFFFFF"/>
                </a:solidFill>
                <a:latin typeface="Calibri" pitchFamily="34" charset="0"/>
                <a:ea typeface="Calibri" pitchFamily="34" charset="-122"/>
                <a:cs typeface="Calibri" pitchFamily="34" charset="-120"/>
              </a:rPr>
              <a:t>Greek</a:t>
            </a:r>
            <a:endParaRPr lang="en-US" sz="900" dirty="0"/>
          </a:p>
        </p:txBody>
      </p:sp>
      <p:sp>
        <p:nvSpPr>
          <p:cNvPr id="14" name="Shape 12"/>
          <p:cNvSpPr/>
          <p:nvPr/>
        </p:nvSpPr>
        <p:spPr>
          <a:xfrm>
            <a:off x="2743200" y="1207008"/>
            <a:ext cx="2194560" cy="347472"/>
          </a:xfrm>
          <a:prstGeom prst="rect">
            <a:avLst/>
          </a:prstGeom>
          <a:solidFill>
            <a:srgbClr val="1E2761"/>
          </a:solidFill>
          <a:ln w="12700">
            <a:solidFill>
              <a:srgbClr val="1E2761"/>
            </a:solidFill>
            <a:prstDash val="solid"/>
          </a:ln>
        </p:spPr>
      </p:sp>
      <p:sp>
        <p:nvSpPr>
          <p:cNvPr id="15" name="Text 13"/>
          <p:cNvSpPr/>
          <p:nvPr/>
        </p:nvSpPr>
        <p:spPr>
          <a:xfrm>
            <a:off x="2798064" y="1207008"/>
            <a:ext cx="2084832"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Long Call</a:t>
            </a:r>
            <a:endParaRPr lang="en-US" sz="900" dirty="0"/>
          </a:p>
        </p:txBody>
      </p:sp>
      <p:sp>
        <p:nvSpPr>
          <p:cNvPr id="16" name="Shape 14"/>
          <p:cNvSpPr/>
          <p:nvPr/>
        </p:nvSpPr>
        <p:spPr>
          <a:xfrm>
            <a:off x="4937760" y="1207008"/>
            <a:ext cx="2194560" cy="347472"/>
          </a:xfrm>
          <a:prstGeom prst="rect">
            <a:avLst/>
          </a:prstGeom>
          <a:solidFill>
            <a:srgbClr val="1E2761"/>
          </a:solidFill>
          <a:ln w="12700">
            <a:solidFill>
              <a:srgbClr val="1E2761"/>
            </a:solidFill>
            <a:prstDash val="solid"/>
          </a:ln>
        </p:spPr>
      </p:sp>
      <p:sp>
        <p:nvSpPr>
          <p:cNvPr id="17" name="Text 15"/>
          <p:cNvSpPr/>
          <p:nvPr/>
        </p:nvSpPr>
        <p:spPr>
          <a:xfrm>
            <a:off x="4992624" y="1207008"/>
            <a:ext cx="2084832"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Long Put</a:t>
            </a:r>
            <a:endParaRPr lang="en-US" sz="900" dirty="0"/>
          </a:p>
        </p:txBody>
      </p:sp>
      <p:sp>
        <p:nvSpPr>
          <p:cNvPr id="18" name="Shape 16"/>
          <p:cNvSpPr/>
          <p:nvPr/>
        </p:nvSpPr>
        <p:spPr>
          <a:xfrm>
            <a:off x="7132320" y="1207008"/>
            <a:ext cx="2194560" cy="347472"/>
          </a:xfrm>
          <a:prstGeom prst="rect">
            <a:avLst/>
          </a:prstGeom>
          <a:solidFill>
            <a:srgbClr val="1E2761"/>
          </a:solidFill>
          <a:ln w="12700">
            <a:solidFill>
              <a:srgbClr val="1E2761"/>
            </a:solidFill>
            <a:prstDash val="solid"/>
          </a:ln>
        </p:spPr>
      </p:sp>
      <p:sp>
        <p:nvSpPr>
          <p:cNvPr id="19" name="Text 17"/>
          <p:cNvSpPr/>
          <p:nvPr/>
        </p:nvSpPr>
        <p:spPr>
          <a:xfrm>
            <a:off x="7187184" y="1207008"/>
            <a:ext cx="2084832"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Short Call</a:t>
            </a:r>
            <a:endParaRPr lang="en-US" sz="900" dirty="0"/>
          </a:p>
        </p:txBody>
      </p:sp>
      <p:sp>
        <p:nvSpPr>
          <p:cNvPr id="20" name="Shape 18"/>
          <p:cNvSpPr/>
          <p:nvPr/>
        </p:nvSpPr>
        <p:spPr>
          <a:xfrm>
            <a:off x="9326880" y="1207008"/>
            <a:ext cx="2194560" cy="347472"/>
          </a:xfrm>
          <a:prstGeom prst="rect">
            <a:avLst/>
          </a:prstGeom>
          <a:solidFill>
            <a:srgbClr val="1E2761"/>
          </a:solidFill>
          <a:ln w="12700">
            <a:solidFill>
              <a:srgbClr val="1E2761"/>
            </a:solidFill>
            <a:prstDash val="solid"/>
          </a:ln>
        </p:spPr>
      </p:sp>
      <p:sp>
        <p:nvSpPr>
          <p:cNvPr id="21" name="Text 19"/>
          <p:cNvSpPr/>
          <p:nvPr/>
        </p:nvSpPr>
        <p:spPr>
          <a:xfrm>
            <a:off x="9381744" y="1207008"/>
            <a:ext cx="2084832"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Short Put</a:t>
            </a:r>
            <a:endParaRPr lang="en-US" sz="900" dirty="0"/>
          </a:p>
        </p:txBody>
      </p:sp>
      <p:sp>
        <p:nvSpPr>
          <p:cNvPr id="22" name="Shape 20"/>
          <p:cNvSpPr/>
          <p:nvPr/>
        </p:nvSpPr>
        <p:spPr>
          <a:xfrm>
            <a:off x="182880" y="1572768"/>
            <a:ext cx="2560320" cy="457200"/>
          </a:xfrm>
          <a:prstGeom prst="rect">
            <a:avLst/>
          </a:prstGeom>
          <a:solidFill>
            <a:srgbClr val="FFFFFF"/>
          </a:solidFill>
          <a:ln w="12700">
            <a:solidFill>
              <a:srgbClr val="DEE3ED"/>
            </a:solidFill>
            <a:prstDash val="solid"/>
          </a:ln>
        </p:spPr>
      </p:sp>
      <p:sp>
        <p:nvSpPr>
          <p:cNvPr id="23" name="Text 21"/>
          <p:cNvSpPr/>
          <p:nvPr/>
        </p:nvSpPr>
        <p:spPr>
          <a:xfrm>
            <a:off x="237744" y="1572768"/>
            <a:ext cx="2450592" cy="457200"/>
          </a:xfrm>
          <a:prstGeom prst="rect">
            <a:avLst/>
          </a:prstGeom>
          <a:noFill/>
          <a:ln/>
        </p:spPr>
        <p:txBody>
          <a:bodyPr wrap="square"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Delta Δ</a:t>
            </a:r>
            <a:endParaRPr lang="en-US" sz="900" dirty="0"/>
          </a:p>
        </p:txBody>
      </p:sp>
      <p:sp>
        <p:nvSpPr>
          <p:cNvPr id="24" name="Shape 22"/>
          <p:cNvSpPr/>
          <p:nvPr/>
        </p:nvSpPr>
        <p:spPr>
          <a:xfrm>
            <a:off x="2743200" y="1572768"/>
            <a:ext cx="2194560" cy="457200"/>
          </a:xfrm>
          <a:prstGeom prst="rect">
            <a:avLst/>
          </a:prstGeom>
          <a:solidFill>
            <a:srgbClr val="E6F7EE"/>
          </a:solidFill>
          <a:ln w="12700">
            <a:solidFill>
              <a:srgbClr val="DEE3ED"/>
            </a:solidFill>
            <a:prstDash val="solid"/>
          </a:ln>
        </p:spPr>
      </p:sp>
      <p:sp>
        <p:nvSpPr>
          <p:cNvPr id="25" name="Text 23"/>
          <p:cNvSpPr/>
          <p:nvPr/>
        </p:nvSpPr>
        <p:spPr>
          <a:xfrm>
            <a:off x="2743200" y="1572768"/>
            <a:ext cx="2194560" cy="457200"/>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26" name="Shape 24"/>
          <p:cNvSpPr/>
          <p:nvPr/>
        </p:nvSpPr>
        <p:spPr>
          <a:xfrm>
            <a:off x="4937760" y="1572768"/>
            <a:ext cx="2194560" cy="457200"/>
          </a:xfrm>
          <a:prstGeom prst="rect">
            <a:avLst/>
          </a:prstGeom>
          <a:solidFill>
            <a:srgbClr val="FEE2E2"/>
          </a:solidFill>
          <a:ln w="12700">
            <a:solidFill>
              <a:srgbClr val="DEE3ED"/>
            </a:solidFill>
            <a:prstDash val="solid"/>
          </a:ln>
        </p:spPr>
      </p:sp>
      <p:sp>
        <p:nvSpPr>
          <p:cNvPr id="27" name="Text 25"/>
          <p:cNvSpPr/>
          <p:nvPr/>
        </p:nvSpPr>
        <p:spPr>
          <a:xfrm>
            <a:off x="4937760" y="1572768"/>
            <a:ext cx="2194560" cy="457200"/>
          </a:xfrm>
          <a:prstGeom prst="rect">
            <a:avLst/>
          </a:prstGeom>
          <a:noFill/>
          <a:ln/>
        </p:spPr>
        <p:txBody>
          <a:bodyPr wrap="square" rtlCol="0" anchor="ctr"/>
          <a:lstStyle/>
          <a:p>
            <a:pPr marL="0" indent="0" algn="ctr">
              <a:buNone/>
            </a:pPr>
            <a:r>
              <a:rPr lang="en-US" sz="1800" b="1" dirty="0">
                <a:solidFill>
                  <a:srgbClr val="B91C1C"/>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7132320" y="1572768"/>
            <a:ext cx="2194560" cy="457200"/>
          </a:xfrm>
          <a:prstGeom prst="rect">
            <a:avLst/>
          </a:prstGeom>
          <a:solidFill>
            <a:srgbClr val="FEE2E2"/>
          </a:solidFill>
          <a:ln w="12700">
            <a:solidFill>
              <a:srgbClr val="DEE3ED"/>
            </a:solidFill>
            <a:prstDash val="solid"/>
          </a:ln>
        </p:spPr>
      </p:sp>
      <p:sp>
        <p:nvSpPr>
          <p:cNvPr id="29" name="Text 27"/>
          <p:cNvSpPr/>
          <p:nvPr/>
        </p:nvSpPr>
        <p:spPr>
          <a:xfrm>
            <a:off x="7132320" y="1572768"/>
            <a:ext cx="2194560" cy="457200"/>
          </a:xfrm>
          <a:prstGeom prst="rect">
            <a:avLst/>
          </a:prstGeom>
          <a:noFill/>
          <a:ln/>
        </p:spPr>
        <p:txBody>
          <a:bodyPr wrap="square" rtlCol="0" anchor="ctr"/>
          <a:lstStyle/>
          <a:p>
            <a:pPr marL="0" indent="0" algn="ctr">
              <a:buNone/>
            </a:pPr>
            <a:r>
              <a:rPr lang="en-US" sz="1800" b="1" dirty="0">
                <a:solidFill>
                  <a:srgbClr val="B91C1C"/>
                </a:solidFill>
                <a:latin typeface="Calibri" pitchFamily="34" charset="0"/>
                <a:ea typeface="Calibri" pitchFamily="34" charset="-122"/>
                <a:cs typeface="Calibri" pitchFamily="34" charset="-120"/>
              </a:rPr>
              <a:t>−</a:t>
            </a:r>
            <a:endParaRPr lang="en-US" sz="1800" dirty="0"/>
          </a:p>
        </p:txBody>
      </p:sp>
      <p:sp>
        <p:nvSpPr>
          <p:cNvPr id="30" name="Shape 28"/>
          <p:cNvSpPr/>
          <p:nvPr/>
        </p:nvSpPr>
        <p:spPr>
          <a:xfrm>
            <a:off x="9326880" y="1572768"/>
            <a:ext cx="2194560" cy="457200"/>
          </a:xfrm>
          <a:prstGeom prst="rect">
            <a:avLst/>
          </a:prstGeom>
          <a:solidFill>
            <a:srgbClr val="E6F7EE"/>
          </a:solidFill>
          <a:ln w="12700">
            <a:solidFill>
              <a:srgbClr val="DEE3ED"/>
            </a:solidFill>
            <a:prstDash val="solid"/>
          </a:ln>
        </p:spPr>
      </p:sp>
      <p:sp>
        <p:nvSpPr>
          <p:cNvPr id="31" name="Text 29"/>
          <p:cNvSpPr/>
          <p:nvPr/>
        </p:nvSpPr>
        <p:spPr>
          <a:xfrm>
            <a:off x="9326880" y="1572768"/>
            <a:ext cx="2194560" cy="457200"/>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32" name="Shape 30"/>
          <p:cNvSpPr/>
          <p:nvPr/>
        </p:nvSpPr>
        <p:spPr>
          <a:xfrm>
            <a:off x="182880" y="2048256"/>
            <a:ext cx="2560320" cy="457200"/>
          </a:xfrm>
          <a:prstGeom prst="rect">
            <a:avLst/>
          </a:prstGeom>
          <a:solidFill>
            <a:srgbClr val="F5F7FA"/>
          </a:solidFill>
          <a:ln w="12700">
            <a:solidFill>
              <a:srgbClr val="DEE3ED"/>
            </a:solidFill>
            <a:prstDash val="solid"/>
          </a:ln>
        </p:spPr>
      </p:sp>
      <p:sp>
        <p:nvSpPr>
          <p:cNvPr id="33" name="Text 31"/>
          <p:cNvSpPr/>
          <p:nvPr/>
        </p:nvSpPr>
        <p:spPr>
          <a:xfrm>
            <a:off x="237744" y="2048256"/>
            <a:ext cx="2450592" cy="457200"/>
          </a:xfrm>
          <a:prstGeom prst="rect">
            <a:avLst/>
          </a:prstGeom>
          <a:noFill/>
          <a:ln/>
        </p:spPr>
        <p:txBody>
          <a:bodyPr wrap="square"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Vega ν</a:t>
            </a:r>
            <a:endParaRPr lang="en-US" sz="900" dirty="0"/>
          </a:p>
        </p:txBody>
      </p:sp>
      <p:sp>
        <p:nvSpPr>
          <p:cNvPr id="34" name="Shape 32"/>
          <p:cNvSpPr/>
          <p:nvPr/>
        </p:nvSpPr>
        <p:spPr>
          <a:xfrm>
            <a:off x="2743200" y="2048256"/>
            <a:ext cx="2194560" cy="457200"/>
          </a:xfrm>
          <a:prstGeom prst="rect">
            <a:avLst/>
          </a:prstGeom>
          <a:solidFill>
            <a:srgbClr val="E6F7EE"/>
          </a:solidFill>
          <a:ln w="12700">
            <a:solidFill>
              <a:srgbClr val="DEE3ED"/>
            </a:solidFill>
            <a:prstDash val="solid"/>
          </a:ln>
        </p:spPr>
      </p:sp>
      <p:sp>
        <p:nvSpPr>
          <p:cNvPr id="35" name="Text 33"/>
          <p:cNvSpPr/>
          <p:nvPr/>
        </p:nvSpPr>
        <p:spPr>
          <a:xfrm>
            <a:off x="2743200" y="2048256"/>
            <a:ext cx="2194560" cy="457200"/>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36" name="Shape 34"/>
          <p:cNvSpPr/>
          <p:nvPr/>
        </p:nvSpPr>
        <p:spPr>
          <a:xfrm>
            <a:off x="4937760" y="2048256"/>
            <a:ext cx="2194560" cy="457200"/>
          </a:xfrm>
          <a:prstGeom prst="rect">
            <a:avLst/>
          </a:prstGeom>
          <a:solidFill>
            <a:srgbClr val="E6F7EE"/>
          </a:solidFill>
          <a:ln w="12700">
            <a:solidFill>
              <a:srgbClr val="DEE3ED"/>
            </a:solidFill>
            <a:prstDash val="solid"/>
          </a:ln>
        </p:spPr>
      </p:sp>
      <p:sp>
        <p:nvSpPr>
          <p:cNvPr id="37" name="Text 35"/>
          <p:cNvSpPr/>
          <p:nvPr/>
        </p:nvSpPr>
        <p:spPr>
          <a:xfrm>
            <a:off x="4937760" y="2048256"/>
            <a:ext cx="2194560" cy="457200"/>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38" name="Shape 36"/>
          <p:cNvSpPr/>
          <p:nvPr/>
        </p:nvSpPr>
        <p:spPr>
          <a:xfrm>
            <a:off x="7132320" y="2048256"/>
            <a:ext cx="2194560" cy="457200"/>
          </a:xfrm>
          <a:prstGeom prst="rect">
            <a:avLst/>
          </a:prstGeom>
          <a:solidFill>
            <a:srgbClr val="FEE2E2"/>
          </a:solidFill>
          <a:ln w="12700">
            <a:solidFill>
              <a:srgbClr val="DEE3ED"/>
            </a:solidFill>
            <a:prstDash val="solid"/>
          </a:ln>
        </p:spPr>
      </p:sp>
      <p:sp>
        <p:nvSpPr>
          <p:cNvPr id="39" name="Text 37"/>
          <p:cNvSpPr/>
          <p:nvPr/>
        </p:nvSpPr>
        <p:spPr>
          <a:xfrm>
            <a:off x="7132320" y="2048256"/>
            <a:ext cx="2194560" cy="457200"/>
          </a:xfrm>
          <a:prstGeom prst="rect">
            <a:avLst/>
          </a:prstGeom>
          <a:noFill/>
          <a:ln/>
        </p:spPr>
        <p:txBody>
          <a:bodyPr wrap="square" rtlCol="0" anchor="ctr"/>
          <a:lstStyle/>
          <a:p>
            <a:pPr marL="0" indent="0" algn="ctr">
              <a:buNone/>
            </a:pPr>
            <a:r>
              <a:rPr lang="en-US" sz="1800" b="1" dirty="0">
                <a:solidFill>
                  <a:srgbClr val="B91C1C"/>
                </a:solidFill>
                <a:latin typeface="Calibri" pitchFamily="34" charset="0"/>
                <a:ea typeface="Calibri" pitchFamily="34" charset="-122"/>
                <a:cs typeface="Calibri" pitchFamily="34" charset="-120"/>
              </a:rPr>
              <a:t>−</a:t>
            </a:r>
            <a:endParaRPr lang="en-US" sz="1800" dirty="0"/>
          </a:p>
        </p:txBody>
      </p:sp>
      <p:sp>
        <p:nvSpPr>
          <p:cNvPr id="40" name="Shape 38"/>
          <p:cNvSpPr/>
          <p:nvPr/>
        </p:nvSpPr>
        <p:spPr>
          <a:xfrm>
            <a:off x="9326880" y="2048256"/>
            <a:ext cx="2194560" cy="457200"/>
          </a:xfrm>
          <a:prstGeom prst="rect">
            <a:avLst/>
          </a:prstGeom>
          <a:solidFill>
            <a:srgbClr val="FEE2E2"/>
          </a:solidFill>
          <a:ln w="12700">
            <a:solidFill>
              <a:srgbClr val="DEE3ED"/>
            </a:solidFill>
            <a:prstDash val="solid"/>
          </a:ln>
        </p:spPr>
      </p:sp>
      <p:sp>
        <p:nvSpPr>
          <p:cNvPr id="41" name="Text 39"/>
          <p:cNvSpPr/>
          <p:nvPr/>
        </p:nvSpPr>
        <p:spPr>
          <a:xfrm>
            <a:off x="9326880" y="2048256"/>
            <a:ext cx="2194560" cy="457200"/>
          </a:xfrm>
          <a:prstGeom prst="rect">
            <a:avLst/>
          </a:prstGeom>
          <a:noFill/>
          <a:ln/>
        </p:spPr>
        <p:txBody>
          <a:bodyPr wrap="square" rtlCol="0" anchor="ctr"/>
          <a:lstStyle/>
          <a:p>
            <a:pPr marL="0" indent="0" algn="ctr">
              <a:buNone/>
            </a:pPr>
            <a:r>
              <a:rPr lang="en-US" sz="1800" b="1" dirty="0">
                <a:solidFill>
                  <a:srgbClr val="B91C1C"/>
                </a:solidFill>
                <a:latin typeface="Calibri" pitchFamily="34" charset="0"/>
                <a:ea typeface="Calibri" pitchFamily="34" charset="-122"/>
                <a:cs typeface="Calibri" pitchFamily="34" charset="-120"/>
              </a:rPr>
              <a:t>−</a:t>
            </a:r>
            <a:endParaRPr lang="en-US" sz="1800" dirty="0"/>
          </a:p>
        </p:txBody>
      </p:sp>
      <p:sp>
        <p:nvSpPr>
          <p:cNvPr id="42" name="Shape 40"/>
          <p:cNvSpPr/>
          <p:nvPr/>
        </p:nvSpPr>
        <p:spPr>
          <a:xfrm>
            <a:off x="182880" y="2523744"/>
            <a:ext cx="2560320" cy="457200"/>
          </a:xfrm>
          <a:prstGeom prst="rect">
            <a:avLst/>
          </a:prstGeom>
          <a:solidFill>
            <a:srgbClr val="FFFFFF"/>
          </a:solidFill>
          <a:ln w="12700">
            <a:solidFill>
              <a:srgbClr val="DEE3ED"/>
            </a:solidFill>
            <a:prstDash val="solid"/>
          </a:ln>
        </p:spPr>
      </p:sp>
      <p:sp>
        <p:nvSpPr>
          <p:cNvPr id="43" name="Text 41"/>
          <p:cNvSpPr/>
          <p:nvPr/>
        </p:nvSpPr>
        <p:spPr>
          <a:xfrm>
            <a:off x="237744" y="2523744"/>
            <a:ext cx="2450592" cy="457200"/>
          </a:xfrm>
          <a:prstGeom prst="rect">
            <a:avLst/>
          </a:prstGeom>
          <a:noFill/>
          <a:ln/>
        </p:spPr>
        <p:txBody>
          <a:bodyPr wrap="square"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Theta Θ</a:t>
            </a:r>
            <a:endParaRPr lang="en-US" sz="900" dirty="0"/>
          </a:p>
        </p:txBody>
      </p:sp>
      <p:sp>
        <p:nvSpPr>
          <p:cNvPr id="44" name="Shape 42"/>
          <p:cNvSpPr/>
          <p:nvPr/>
        </p:nvSpPr>
        <p:spPr>
          <a:xfrm>
            <a:off x="2743200" y="2523744"/>
            <a:ext cx="2194560" cy="457200"/>
          </a:xfrm>
          <a:prstGeom prst="rect">
            <a:avLst/>
          </a:prstGeom>
          <a:solidFill>
            <a:srgbClr val="FEE2E2"/>
          </a:solidFill>
          <a:ln w="12700">
            <a:solidFill>
              <a:srgbClr val="DEE3ED"/>
            </a:solidFill>
            <a:prstDash val="solid"/>
          </a:ln>
        </p:spPr>
      </p:sp>
      <p:sp>
        <p:nvSpPr>
          <p:cNvPr id="45" name="Text 43"/>
          <p:cNvSpPr/>
          <p:nvPr/>
        </p:nvSpPr>
        <p:spPr>
          <a:xfrm>
            <a:off x="2743200" y="2523744"/>
            <a:ext cx="2194560" cy="457200"/>
          </a:xfrm>
          <a:prstGeom prst="rect">
            <a:avLst/>
          </a:prstGeom>
          <a:noFill/>
          <a:ln/>
        </p:spPr>
        <p:txBody>
          <a:bodyPr wrap="square" rtlCol="0" anchor="ctr"/>
          <a:lstStyle/>
          <a:p>
            <a:pPr marL="0" indent="0" algn="ctr">
              <a:buNone/>
            </a:pPr>
            <a:r>
              <a:rPr lang="en-US" sz="1800" b="1" dirty="0">
                <a:solidFill>
                  <a:srgbClr val="B91C1C"/>
                </a:solidFill>
                <a:latin typeface="Calibri" pitchFamily="34" charset="0"/>
                <a:ea typeface="Calibri" pitchFamily="34" charset="-122"/>
                <a:cs typeface="Calibri" pitchFamily="34" charset="-120"/>
              </a:rPr>
              <a:t>−</a:t>
            </a:r>
            <a:endParaRPr lang="en-US" sz="1800" dirty="0"/>
          </a:p>
        </p:txBody>
      </p:sp>
      <p:sp>
        <p:nvSpPr>
          <p:cNvPr id="46" name="Shape 44"/>
          <p:cNvSpPr/>
          <p:nvPr/>
        </p:nvSpPr>
        <p:spPr>
          <a:xfrm>
            <a:off x="4937760" y="2523744"/>
            <a:ext cx="2194560" cy="457200"/>
          </a:xfrm>
          <a:prstGeom prst="rect">
            <a:avLst/>
          </a:prstGeom>
          <a:solidFill>
            <a:srgbClr val="FEE2E2"/>
          </a:solidFill>
          <a:ln w="12700">
            <a:solidFill>
              <a:srgbClr val="DEE3ED"/>
            </a:solidFill>
            <a:prstDash val="solid"/>
          </a:ln>
        </p:spPr>
      </p:sp>
      <p:sp>
        <p:nvSpPr>
          <p:cNvPr id="47" name="Text 45"/>
          <p:cNvSpPr/>
          <p:nvPr/>
        </p:nvSpPr>
        <p:spPr>
          <a:xfrm>
            <a:off x="4937760" y="2523744"/>
            <a:ext cx="2194560" cy="457200"/>
          </a:xfrm>
          <a:prstGeom prst="rect">
            <a:avLst/>
          </a:prstGeom>
          <a:noFill/>
          <a:ln/>
        </p:spPr>
        <p:txBody>
          <a:bodyPr wrap="square" rtlCol="0" anchor="ctr"/>
          <a:lstStyle/>
          <a:p>
            <a:pPr marL="0" indent="0" algn="ctr">
              <a:buNone/>
            </a:pPr>
            <a:r>
              <a:rPr lang="en-US" sz="1800" b="1" dirty="0">
                <a:solidFill>
                  <a:srgbClr val="B91C1C"/>
                </a:solidFill>
                <a:latin typeface="Calibri" pitchFamily="34" charset="0"/>
                <a:ea typeface="Calibri" pitchFamily="34" charset="-122"/>
                <a:cs typeface="Calibri" pitchFamily="34" charset="-120"/>
              </a:rPr>
              <a:t>−</a:t>
            </a:r>
            <a:endParaRPr lang="en-US" sz="1800" dirty="0"/>
          </a:p>
        </p:txBody>
      </p:sp>
      <p:sp>
        <p:nvSpPr>
          <p:cNvPr id="48" name="Shape 46"/>
          <p:cNvSpPr/>
          <p:nvPr/>
        </p:nvSpPr>
        <p:spPr>
          <a:xfrm>
            <a:off x="7132320" y="2523744"/>
            <a:ext cx="2194560" cy="457200"/>
          </a:xfrm>
          <a:prstGeom prst="rect">
            <a:avLst/>
          </a:prstGeom>
          <a:solidFill>
            <a:srgbClr val="E6F7EE"/>
          </a:solidFill>
          <a:ln w="12700">
            <a:solidFill>
              <a:srgbClr val="DEE3ED"/>
            </a:solidFill>
            <a:prstDash val="solid"/>
          </a:ln>
        </p:spPr>
      </p:sp>
      <p:sp>
        <p:nvSpPr>
          <p:cNvPr id="49" name="Text 47"/>
          <p:cNvSpPr/>
          <p:nvPr/>
        </p:nvSpPr>
        <p:spPr>
          <a:xfrm>
            <a:off x="7132320" y="2523744"/>
            <a:ext cx="2194560" cy="457200"/>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50" name="Shape 48"/>
          <p:cNvSpPr/>
          <p:nvPr/>
        </p:nvSpPr>
        <p:spPr>
          <a:xfrm>
            <a:off x="9326880" y="2523744"/>
            <a:ext cx="2194560" cy="457200"/>
          </a:xfrm>
          <a:prstGeom prst="rect">
            <a:avLst/>
          </a:prstGeom>
          <a:solidFill>
            <a:srgbClr val="E6F7EE"/>
          </a:solidFill>
          <a:ln w="12700">
            <a:solidFill>
              <a:srgbClr val="DEE3ED"/>
            </a:solidFill>
            <a:prstDash val="solid"/>
          </a:ln>
        </p:spPr>
      </p:sp>
      <p:sp>
        <p:nvSpPr>
          <p:cNvPr id="51" name="Text 49"/>
          <p:cNvSpPr/>
          <p:nvPr/>
        </p:nvSpPr>
        <p:spPr>
          <a:xfrm>
            <a:off x="9326880" y="2523744"/>
            <a:ext cx="2194560" cy="457200"/>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52" name="Shape 50"/>
          <p:cNvSpPr/>
          <p:nvPr/>
        </p:nvSpPr>
        <p:spPr>
          <a:xfrm>
            <a:off x="182880" y="2999232"/>
            <a:ext cx="2560320" cy="457200"/>
          </a:xfrm>
          <a:prstGeom prst="rect">
            <a:avLst/>
          </a:prstGeom>
          <a:solidFill>
            <a:srgbClr val="F5F7FA"/>
          </a:solidFill>
          <a:ln w="12700">
            <a:solidFill>
              <a:srgbClr val="DEE3ED"/>
            </a:solidFill>
            <a:prstDash val="solid"/>
          </a:ln>
        </p:spPr>
      </p:sp>
      <p:sp>
        <p:nvSpPr>
          <p:cNvPr id="53" name="Text 51"/>
          <p:cNvSpPr/>
          <p:nvPr/>
        </p:nvSpPr>
        <p:spPr>
          <a:xfrm>
            <a:off x="237744" y="2999232"/>
            <a:ext cx="2450592" cy="457200"/>
          </a:xfrm>
          <a:prstGeom prst="rect">
            <a:avLst/>
          </a:prstGeom>
          <a:noFill/>
          <a:ln/>
        </p:spPr>
        <p:txBody>
          <a:bodyPr wrap="square"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Gamma Γ</a:t>
            </a:r>
            <a:endParaRPr lang="en-US" sz="900" dirty="0"/>
          </a:p>
        </p:txBody>
      </p:sp>
      <p:sp>
        <p:nvSpPr>
          <p:cNvPr id="54" name="Shape 52"/>
          <p:cNvSpPr/>
          <p:nvPr/>
        </p:nvSpPr>
        <p:spPr>
          <a:xfrm>
            <a:off x="2743200" y="2999232"/>
            <a:ext cx="2194560" cy="457200"/>
          </a:xfrm>
          <a:prstGeom prst="rect">
            <a:avLst/>
          </a:prstGeom>
          <a:solidFill>
            <a:srgbClr val="E6F7EE"/>
          </a:solidFill>
          <a:ln w="12700">
            <a:solidFill>
              <a:srgbClr val="DEE3ED"/>
            </a:solidFill>
            <a:prstDash val="solid"/>
          </a:ln>
        </p:spPr>
      </p:sp>
      <p:sp>
        <p:nvSpPr>
          <p:cNvPr id="55" name="Text 53"/>
          <p:cNvSpPr/>
          <p:nvPr/>
        </p:nvSpPr>
        <p:spPr>
          <a:xfrm>
            <a:off x="2743200" y="2999232"/>
            <a:ext cx="2194560" cy="457200"/>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56" name="Shape 54"/>
          <p:cNvSpPr/>
          <p:nvPr/>
        </p:nvSpPr>
        <p:spPr>
          <a:xfrm>
            <a:off x="4937760" y="2999232"/>
            <a:ext cx="2194560" cy="457200"/>
          </a:xfrm>
          <a:prstGeom prst="rect">
            <a:avLst/>
          </a:prstGeom>
          <a:solidFill>
            <a:srgbClr val="E6F7EE"/>
          </a:solidFill>
          <a:ln w="12700">
            <a:solidFill>
              <a:srgbClr val="DEE3ED"/>
            </a:solidFill>
            <a:prstDash val="solid"/>
          </a:ln>
        </p:spPr>
      </p:sp>
      <p:sp>
        <p:nvSpPr>
          <p:cNvPr id="57" name="Text 55"/>
          <p:cNvSpPr/>
          <p:nvPr/>
        </p:nvSpPr>
        <p:spPr>
          <a:xfrm>
            <a:off x="4937760" y="2999232"/>
            <a:ext cx="2194560" cy="457200"/>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58" name="Shape 56"/>
          <p:cNvSpPr/>
          <p:nvPr/>
        </p:nvSpPr>
        <p:spPr>
          <a:xfrm>
            <a:off x="7132320" y="2999232"/>
            <a:ext cx="2194560" cy="457200"/>
          </a:xfrm>
          <a:prstGeom prst="rect">
            <a:avLst/>
          </a:prstGeom>
          <a:solidFill>
            <a:srgbClr val="FEE2E2"/>
          </a:solidFill>
          <a:ln w="12700">
            <a:solidFill>
              <a:srgbClr val="DEE3ED"/>
            </a:solidFill>
            <a:prstDash val="solid"/>
          </a:ln>
        </p:spPr>
      </p:sp>
      <p:sp>
        <p:nvSpPr>
          <p:cNvPr id="59" name="Text 57"/>
          <p:cNvSpPr/>
          <p:nvPr/>
        </p:nvSpPr>
        <p:spPr>
          <a:xfrm>
            <a:off x="7132320" y="2999232"/>
            <a:ext cx="2194560" cy="457200"/>
          </a:xfrm>
          <a:prstGeom prst="rect">
            <a:avLst/>
          </a:prstGeom>
          <a:noFill/>
          <a:ln/>
        </p:spPr>
        <p:txBody>
          <a:bodyPr wrap="square" rtlCol="0" anchor="ctr"/>
          <a:lstStyle/>
          <a:p>
            <a:pPr marL="0" indent="0" algn="ctr">
              <a:buNone/>
            </a:pPr>
            <a:r>
              <a:rPr lang="en-US" sz="1800" b="1" dirty="0">
                <a:solidFill>
                  <a:srgbClr val="B91C1C"/>
                </a:solidFill>
                <a:latin typeface="Calibri" pitchFamily="34" charset="0"/>
                <a:ea typeface="Calibri" pitchFamily="34" charset="-122"/>
                <a:cs typeface="Calibri" pitchFamily="34" charset="-120"/>
              </a:rPr>
              <a:t>−</a:t>
            </a:r>
            <a:endParaRPr lang="en-US" sz="1800" dirty="0"/>
          </a:p>
        </p:txBody>
      </p:sp>
      <p:sp>
        <p:nvSpPr>
          <p:cNvPr id="60" name="Shape 58"/>
          <p:cNvSpPr/>
          <p:nvPr/>
        </p:nvSpPr>
        <p:spPr>
          <a:xfrm>
            <a:off x="9326880" y="2999232"/>
            <a:ext cx="2194560" cy="457200"/>
          </a:xfrm>
          <a:prstGeom prst="rect">
            <a:avLst/>
          </a:prstGeom>
          <a:solidFill>
            <a:srgbClr val="FEE2E2"/>
          </a:solidFill>
          <a:ln w="12700">
            <a:solidFill>
              <a:srgbClr val="DEE3ED"/>
            </a:solidFill>
            <a:prstDash val="solid"/>
          </a:ln>
        </p:spPr>
      </p:sp>
      <p:sp>
        <p:nvSpPr>
          <p:cNvPr id="61" name="Text 59"/>
          <p:cNvSpPr/>
          <p:nvPr/>
        </p:nvSpPr>
        <p:spPr>
          <a:xfrm>
            <a:off x="9326880" y="2999232"/>
            <a:ext cx="2194560" cy="457200"/>
          </a:xfrm>
          <a:prstGeom prst="rect">
            <a:avLst/>
          </a:prstGeom>
          <a:noFill/>
          <a:ln/>
        </p:spPr>
        <p:txBody>
          <a:bodyPr wrap="square" rtlCol="0" anchor="ctr"/>
          <a:lstStyle/>
          <a:p>
            <a:pPr marL="0" indent="0" algn="ctr">
              <a:buNone/>
            </a:pPr>
            <a:r>
              <a:rPr lang="en-US" sz="1800" b="1" dirty="0">
                <a:solidFill>
                  <a:srgbClr val="B91C1C"/>
                </a:solidFill>
                <a:latin typeface="Calibri" pitchFamily="34" charset="0"/>
                <a:ea typeface="Calibri" pitchFamily="34" charset="-122"/>
                <a:cs typeface="Calibri" pitchFamily="34" charset="-120"/>
              </a:rPr>
              <a:t>−</a:t>
            </a:r>
            <a:endParaRPr lang="en-US" sz="1800" dirty="0"/>
          </a:p>
        </p:txBody>
      </p:sp>
      <p:sp>
        <p:nvSpPr>
          <p:cNvPr id="62" name="Shape 60"/>
          <p:cNvSpPr/>
          <p:nvPr/>
        </p:nvSpPr>
        <p:spPr>
          <a:xfrm>
            <a:off x="182880" y="3474720"/>
            <a:ext cx="2560320" cy="457200"/>
          </a:xfrm>
          <a:prstGeom prst="rect">
            <a:avLst/>
          </a:prstGeom>
          <a:solidFill>
            <a:srgbClr val="FFFFFF"/>
          </a:solidFill>
          <a:ln w="12700">
            <a:solidFill>
              <a:srgbClr val="DEE3ED"/>
            </a:solidFill>
            <a:prstDash val="solid"/>
          </a:ln>
        </p:spPr>
      </p:sp>
      <p:sp>
        <p:nvSpPr>
          <p:cNvPr id="63" name="Text 61"/>
          <p:cNvSpPr/>
          <p:nvPr/>
        </p:nvSpPr>
        <p:spPr>
          <a:xfrm>
            <a:off x="237744" y="3474720"/>
            <a:ext cx="2450592" cy="457200"/>
          </a:xfrm>
          <a:prstGeom prst="rect">
            <a:avLst/>
          </a:prstGeom>
          <a:noFill/>
          <a:ln/>
        </p:spPr>
        <p:txBody>
          <a:bodyPr wrap="square"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Rho ρ</a:t>
            </a:r>
            <a:endParaRPr lang="en-US" sz="900" dirty="0"/>
          </a:p>
        </p:txBody>
      </p:sp>
      <p:sp>
        <p:nvSpPr>
          <p:cNvPr id="64" name="Shape 62"/>
          <p:cNvSpPr/>
          <p:nvPr/>
        </p:nvSpPr>
        <p:spPr>
          <a:xfrm>
            <a:off x="2743200" y="3474720"/>
            <a:ext cx="2194560" cy="457200"/>
          </a:xfrm>
          <a:prstGeom prst="rect">
            <a:avLst/>
          </a:prstGeom>
          <a:solidFill>
            <a:srgbClr val="E6F7EE"/>
          </a:solidFill>
          <a:ln w="12700">
            <a:solidFill>
              <a:srgbClr val="DEE3ED"/>
            </a:solidFill>
            <a:prstDash val="solid"/>
          </a:ln>
        </p:spPr>
      </p:sp>
      <p:sp>
        <p:nvSpPr>
          <p:cNvPr id="65" name="Text 63"/>
          <p:cNvSpPr/>
          <p:nvPr/>
        </p:nvSpPr>
        <p:spPr>
          <a:xfrm>
            <a:off x="2743200" y="3474720"/>
            <a:ext cx="2194560" cy="457200"/>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66" name="Shape 64"/>
          <p:cNvSpPr/>
          <p:nvPr/>
        </p:nvSpPr>
        <p:spPr>
          <a:xfrm>
            <a:off x="4937760" y="3474720"/>
            <a:ext cx="2194560" cy="457200"/>
          </a:xfrm>
          <a:prstGeom prst="rect">
            <a:avLst/>
          </a:prstGeom>
          <a:solidFill>
            <a:srgbClr val="FEE2E2"/>
          </a:solidFill>
          <a:ln w="12700">
            <a:solidFill>
              <a:srgbClr val="DEE3ED"/>
            </a:solidFill>
            <a:prstDash val="solid"/>
          </a:ln>
        </p:spPr>
      </p:sp>
      <p:sp>
        <p:nvSpPr>
          <p:cNvPr id="67" name="Text 65"/>
          <p:cNvSpPr/>
          <p:nvPr/>
        </p:nvSpPr>
        <p:spPr>
          <a:xfrm>
            <a:off x="4937760" y="3474720"/>
            <a:ext cx="2194560" cy="457200"/>
          </a:xfrm>
          <a:prstGeom prst="rect">
            <a:avLst/>
          </a:prstGeom>
          <a:noFill/>
          <a:ln/>
        </p:spPr>
        <p:txBody>
          <a:bodyPr wrap="square" rtlCol="0" anchor="ctr"/>
          <a:lstStyle/>
          <a:p>
            <a:pPr marL="0" indent="0" algn="ctr">
              <a:buNone/>
            </a:pPr>
            <a:r>
              <a:rPr lang="en-US" sz="1800" b="1" dirty="0">
                <a:solidFill>
                  <a:srgbClr val="B91C1C"/>
                </a:solidFill>
                <a:latin typeface="Calibri" pitchFamily="34" charset="0"/>
                <a:ea typeface="Calibri" pitchFamily="34" charset="-122"/>
                <a:cs typeface="Calibri" pitchFamily="34" charset="-120"/>
              </a:rPr>
              <a:t>−</a:t>
            </a:r>
            <a:endParaRPr lang="en-US" sz="1800" dirty="0"/>
          </a:p>
        </p:txBody>
      </p:sp>
      <p:sp>
        <p:nvSpPr>
          <p:cNvPr id="68" name="Shape 66"/>
          <p:cNvSpPr/>
          <p:nvPr/>
        </p:nvSpPr>
        <p:spPr>
          <a:xfrm>
            <a:off x="7132320" y="3474720"/>
            <a:ext cx="2194560" cy="457200"/>
          </a:xfrm>
          <a:prstGeom prst="rect">
            <a:avLst/>
          </a:prstGeom>
          <a:solidFill>
            <a:srgbClr val="FEE2E2"/>
          </a:solidFill>
          <a:ln w="12700">
            <a:solidFill>
              <a:srgbClr val="DEE3ED"/>
            </a:solidFill>
            <a:prstDash val="solid"/>
          </a:ln>
        </p:spPr>
      </p:sp>
      <p:sp>
        <p:nvSpPr>
          <p:cNvPr id="69" name="Text 67"/>
          <p:cNvSpPr/>
          <p:nvPr/>
        </p:nvSpPr>
        <p:spPr>
          <a:xfrm>
            <a:off x="7132320" y="3474720"/>
            <a:ext cx="2194560" cy="457200"/>
          </a:xfrm>
          <a:prstGeom prst="rect">
            <a:avLst/>
          </a:prstGeom>
          <a:noFill/>
          <a:ln/>
        </p:spPr>
        <p:txBody>
          <a:bodyPr wrap="square" rtlCol="0" anchor="ctr"/>
          <a:lstStyle/>
          <a:p>
            <a:pPr marL="0" indent="0" algn="ctr">
              <a:buNone/>
            </a:pPr>
            <a:r>
              <a:rPr lang="en-US" sz="1800" b="1" dirty="0">
                <a:solidFill>
                  <a:srgbClr val="B91C1C"/>
                </a:solidFill>
                <a:latin typeface="Calibri" pitchFamily="34" charset="0"/>
                <a:ea typeface="Calibri" pitchFamily="34" charset="-122"/>
                <a:cs typeface="Calibri" pitchFamily="34" charset="-120"/>
              </a:rPr>
              <a:t>−</a:t>
            </a:r>
            <a:endParaRPr lang="en-US" sz="1800" dirty="0"/>
          </a:p>
        </p:txBody>
      </p:sp>
      <p:sp>
        <p:nvSpPr>
          <p:cNvPr id="70" name="Shape 68"/>
          <p:cNvSpPr/>
          <p:nvPr/>
        </p:nvSpPr>
        <p:spPr>
          <a:xfrm>
            <a:off x="9326880" y="3474720"/>
            <a:ext cx="2194560" cy="457200"/>
          </a:xfrm>
          <a:prstGeom prst="rect">
            <a:avLst/>
          </a:prstGeom>
          <a:solidFill>
            <a:srgbClr val="E6F7EE"/>
          </a:solidFill>
          <a:ln w="12700">
            <a:solidFill>
              <a:srgbClr val="DEE3ED"/>
            </a:solidFill>
            <a:prstDash val="solid"/>
          </a:ln>
        </p:spPr>
      </p:sp>
      <p:sp>
        <p:nvSpPr>
          <p:cNvPr id="71" name="Text 69"/>
          <p:cNvSpPr/>
          <p:nvPr/>
        </p:nvSpPr>
        <p:spPr>
          <a:xfrm>
            <a:off x="9326880" y="3474720"/>
            <a:ext cx="2194560" cy="457200"/>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72" name="Shape 70"/>
          <p:cNvSpPr/>
          <p:nvPr/>
        </p:nvSpPr>
        <p:spPr>
          <a:xfrm>
            <a:off x="182880" y="3950208"/>
            <a:ext cx="2560320" cy="457200"/>
          </a:xfrm>
          <a:prstGeom prst="rect">
            <a:avLst/>
          </a:prstGeom>
          <a:solidFill>
            <a:srgbClr val="F5F7FA"/>
          </a:solidFill>
          <a:ln w="12700">
            <a:solidFill>
              <a:srgbClr val="DEE3ED"/>
            </a:solidFill>
            <a:prstDash val="solid"/>
          </a:ln>
        </p:spPr>
      </p:sp>
      <p:sp>
        <p:nvSpPr>
          <p:cNvPr id="73" name="Text 71"/>
          <p:cNvSpPr/>
          <p:nvPr/>
        </p:nvSpPr>
        <p:spPr>
          <a:xfrm>
            <a:off x="237744" y="3950208"/>
            <a:ext cx="2450592" cy="457200"/>
          </a:xfrm>
          <a:prstGeom prst="rect">
            <a:avLst/>
          </a:prstGeom>
          <a:noFill/>
          <a:ln/>
        </p:spPr>
        <p:txBody>
          <a:bodyPr wrap="square"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Vanna</a:t>
            </a:r>
            <a:endParaRPr lang="en-US" sz="900" dirty="0"/>
          </a:p>
        </p:txBody>
      </p:sp>
      <p:sp>
        <p:nvSpPr>
          <p:cNvPr id="74" name="Shape 72"/>
          <p:cNvSpPr/>
          <p:nvPr/>
        </p:nvSpPr>
        <p:spPr>
          <a:xfrm>
            <a:off x="2743200" y="3950208"/>
            <a:ext cx="2194560" cy="457200"/>
          </a:xfrm>
          <a:prstGeom prst="rect">
            <a:avLst/>
          </a:prstGeom>
          <a:solidFill>
            <a:srgbClr val="FFF8E7"/>
          </a:solidFill>
          <a:ln w="12700">
            <a:solidFill>
              <a:srgbClr val="DEE3ED"/>
            </a:solidFill>
            <a:prstDash val="solid"/>
          </a:ln>
        </p:spPr>
      </p:sp>
      <p:sp>
        <p:nvSpPr>
          <p:cNvPr id="75" name="Text 73"/>
          <p:cNvSpPr/>
          <p:nvPr/>
        </p:nvSpPr>
        <p:spPr>
          <a:xfrm>
            <a:off x="2743200" y="3950208"/>
            <a:ext cx="2194560" cy="457200"/>
          </a:xfrm>
          <a:prstGeom prst="rect">
            <a:avLst/>
          </a:prstGeom>
          <a:noFill/>
          <a:ln/>
        </p:spPr>
        <p:txBody>
          <a:bodyPr wrap="square" rtlCol="0" anchor="ctr"/>
          <a:lstStyle/>
          <a:p>
            <a:pPr marL="0" indent="0" algn="ctr">
              <a:buNone/>
            </a:pPr>
            <a:r>
              <a:rPr lang="en-US" sz="1800" b="1" dirty="0">
                <a:solidFill>
                  <a:srgbClr val="D97706"/>
                </a:solidFill>
                <a:latin typeface="Calibri" pitchFamily="34" charset="0"/>
                <a:ea typeface="Calibri" pitchFamily="34" charset="-122"/>
                <a:cs typeface="Calibri" pitchFamily="34" charset="-120"/>
              </a:rPr>
              <a:t>±</a:t>
            </a:r>
            <a:endParaRPr lang="en-US" sz="1800" dirty="0"/>
          </a:p>
        </p:txBody>
      </p:sp>
      <p:sp>
        <p:nvSpPr>
          <p:cNvPr id="76" name="Shape 74"/>
          <p:cNvSpPr/>
          <p:nvPr/>
        </p:nvSpPr>
        <p:spPr>
          <a:xfrm>
            <a:off x="4937760" y="3950208"/>
            <a:ext cx="2194560" cy="457200"/>
          </a:xfrm>
          <a:prstGeom prst="rect">
            <a:avLst/>
          </a:prstGeom>
          <a:solidFill>
            <a:srgbClr val="FFF8E7"/>
          </a:solidFill>
          <a:ln w="12700">
            <a:solidFill>
              <a:srgbClr val="DEE3ED"/>
            </a:solidFill>
            <a:prstDash val="solid"/>
          </a:ln>
        </p:spPr>
      </p:sp>
      <p:sp>
        <p:nvSpPr>
          <p:cNvPr id="77" name="Text 75"/>
          <p:cNvSpPr/>
          <p:nvPr/>
        </p:nvSpPr>
        <p:spPr>
          <a:xfrm>
            <a:off x="4937760" y="3950208"/>
            <a:ext cx="2194560" cy="457200"/>
          </a:xfrm>
          <a:prstGeom prst="rect">
            <a:avLst/>
          </a:prstGeom>
          <a:noFill/>
          <a:ln/>
        </p:spPr>
        <p:txBody>
          <a:bodyPr wrap="square" rtlCol="0" anchor="ctr"/>
          <a:lstStyle/>
          <a:p>
            <a:pPr marL="0" indent="0" algn="ctr">
              <a:buNone/>
            </a:pPr>
            <a:r>
              <a:rPr lang="en-US" sz="1800" b="1" dirty="0">
                <a:solidFill>
                  <a:srgbClr val="D97706"/>
                </a:solidFill>
                <a:latin typeface="Calibri" pitchFamily="34" charset="0"/>
                <a:ea typeface="Calibri" pitchFamily="34" charset="-122"/>
                <a:cs typeface="Calibri" pitchFamily="34" charset="-120"/>
              </a:rPr>
              <a:t>±</a:t>
            </a:r>
            <a:endParaRPr lang="en-US" sz="1800" dirty="0"/>
          </a:p>
        </p:txBody>
      </p:sp>
      <p:sp>
        <p:nvSpPr>
          <p:cNvPr id="78" name="Shape 76"/>
          <p:cNvSpPr/>
          <p:nvPr/>
        </p:nvSpPr>
        <p:spPr>
          <a:xfrm>
            <a:off x="7132320" y="3950208"/>
            <a:ext cx="2194560" cy="457200"/>
          </a:xfrm>
          <a:prstGeom prst="rect">
            <a:avLst/>
          </a:prstGeom>
          <a:solidFill>
            <a:srgbClr val="FFF8E7"/>
          </a:solidFill>
          <a:ln w="12700">
            <a:solidFill>
              <a:srgbClr val="DEE3ED"/>
            </a:solidFill>
            <a:prstDash val="solid"/>
          </a:ln>
        </p:spPr>
      </p:sp>
      <p:sp>
        <p:nvSpPr>
          <p:cNvPr id="79" name="Text 77"/>
          <p:cNvSpPr/>
          <p:nvPr/>
        </p:nvSpPr>
        <p:spPr>
          <a:xfrm>
            <a:off x="7132320" y="3950208"/>
            <a:ext cx="2194560" cy="457200"/>
          </a:xfrm>
          <a:prstGeom prst="rect">
            <a:avLst/>
          </a:prstGeom>
          <a:noFill/>
          <a:ln/>
        </p:spPr>
        <p:txBody>
          <a:bodyPr wrap="square" rtlCol="0" anchor="ctr"/>
          <a:lstStyle/>
          <a:p>
            <a:pPr marL="0" indent="0" algn="ctr">
              <a:buNone/>
            </a:pPr>
            <a:r>
              <a:rPr lang="en-US" sz="1800" b="1" dirty="0">
                <a:solidFill>
                  <a:srgbClr val="D97706"/>
                </a:solidFill>
                <a:latin typeface="Calibri" pitchFamily="34" charset="0"/>
                <a:ea typeface="Calibri" pitchFamily="34" charset="-122"/>
                <a:cs typeface="Calibri" pitchFamily="34" charset="-120"/>
              </a:rPr>
              <a:t>±</a:t>
            </a:r>
            <a:endParaRPr lang="en-US" sz="1800" dirty="0"/>
          </a:p>
        </p:txBody>
      </p:sp>
      <p:sp>
        <p:nvSpPr>
          <p:cNvPr id="80" name="Shape 78"/>
          <p:cNvSpPr/>
          <p:nvPr/>
        </p:nvSpPr>
        <p:spPr>
          <a:xfrm>
            <a:off x="9326880" y="3950208"/>
            <a:ext cx="2194560" cy="457200"/>
          </a:xfrm>
          <a:prstGeom prst="rect">
            <a:avLst/>
          </a:prstGeom>
          <a:solidFill>
            <a:srgbClr val="FFF8E7"/>
          </a:solidFill>
          <a:ln w="12700">
            <a:solidFill>
              <a:srgbClr val="DEE3ED"/>
            </a:solidFill>
            <a:prstDash val="solid"/>
          </a:ln>
        </p:spPr>
      </p:sp>
      <p:sp>
        <p:nvSpPr>
          <p:cNvPr id="81" name="Text 79"/>
          <p:cNvSpPr/>
          <p:nvPr/>
        </p:nvSpPr>
        <p:spPr>
          <a:xfrm>
            <a:off x="9326880" y="3950208"/>
            <a:ext cx="2194560" cy="457200"/>
          </a:xfrm>
          <a:prstGeom prst="rect">
            <a:avLst/>
          </a:prstGeom>
          <a:noFill/>
          <a:ln/>
        </p:spPr>
        <p:txBody>
          <a:bodyPr wrap="square" rtlCol="0" anchor="ctr"/>
          <a:lstStyle/>
          <a:p>
            <a:pPr marL="0" indent="0" algn="ctr">
              <a:buNone/>
            </a:pPr>
            <a:r>
              <a:rPr lang="en-US" sz="1800" b="1" dirty="0">
                <a:solidFill>
                  <a:srgbClr val="D97706"/>
                </a:solidFill>
                <a:latin typeface="Calibri" pitchFamily="34" charset="0"/>
                <a:ea typeface="Calibri" pitchFamily="34" charset="-122"/>
                <a:cs typeface="Calibri" pitchFamily="34" charset="-120"/>
              </a:rPr>
              <a:t>±</a:t>
            </a:r>
            <a:endParaRPr lang="en-US" sz="1800" dirty="0"/>
          </a:p>
        </p:txBody>
      </p:sp>
      <p:sp>
        <p:nvSpPr>
          <p:cNvPr id="82" name="Shape 80"/>
          <p:cNvSpPr/>
          <p:nvPr/>
        </p:nvSpPr>
        <p:spPr>
          <a:xfrm>
            <a:off x="182880" y="4425696"/>
            <a:ext cx="2560320" cy="457200"/>
          </a:xfrm>
          <a:prstGeom prst="rect">
            <a:avLst/>
          </a:prstGeom>
          <a:solidFill>
            <a:srgbClr val="FFFFFF"/>
          </a:solidFill>
          <a:ln w="12700">
            <a:solidFill>
              <a:srgbClr val="DEE3ED"/>
            </a:solidFill>
            <a:prstDash val="solid"/>
          </a:ln>
        </p:spPr>
      </p:sp>
      <p:sp>
        <p:nvSpPr>
          <p:cNvPr id="83" name="Text 81"/>
          <p:cNvSpPr/>
          <p:nvPr/>
        </p:nvSpPr>
        <p:spPr>
          <a:xfrm>
            <a:off x="237744" y="4425696"/>
            <a:ext cx="2450592" cy="457200"/>
          </a:xfrm>
          <a:prstGeom prst="rect">
            <a:avLst/>
          </a:prstGeom>
          <a:noFill/>
          <a:ln/>
        </p:spPr>
        <p:txBody>
          <a:bodyPr wrap="square"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Volga</a:t>
            </a:r>
            <a:endParaRPr lang="en-US" sz="900" dirty="0"/>
          </a:p>
        </p:txBody>
      </p:sp>
      <p:sp>
        <p:nvSpPr>
          <p:cNvPr id="84" name="Shape 82"/>
          <p:cNvSpPr/>
          <p:nvPr/>
        </p:nvSpPr>
        <p:spPr>
          <a:xfrm>
            <a:off x="2743200" y="4425696"/>
            <a:ext cx="2194560" cy="457200"/>
          </a:xfrm>
          <a:prstGeom prst="rect">
            <a:avLst/>
          </a:prstGeom>
          <a:solidFill>
            <a:srgbClr val="E6F7EE"/>
          </a:solidFill>
          <a:ln w="12700">
            <a:solidFill>
              <a:srgbClr val="DEE3ED"/>
            </a:solidFill>
            <a:prstDash val="solid"/>
          </a:ln>
        </p:spPr>
      </p:sp>
      <p:sp>
        <p:nvSpPr>
          <p:cNvPr id="85" name="Text 83"/>
          <p:cNvSpPr/>
          <p:nvPr/>
        </p:nvSpPr>
        <p:spPr>
          <a:xfrm>
            <a:off x="2743200" y="4425696"/>
            <a:ext cx="2194560" cy="457200"/>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86" name="Shape 84"/>
          <p:cNvSpPr/>
          <p:nvPr/>
        </p:nvSpPr>
        <p:spPr>
          <a:xfrm>
            <a:off x="4937760" y="4425696"/>
            <a:ext cx="2194560" cy="457200"/>
          </a:xfrm>
          <a:prstGeom prst="rect">
            <a:avLst/>
          </a:prstGeom>
          <a:solidFill>
            <a:srgbClr val="E6F7EE"/>
          </a:solidFill>
          <a:ln w="12700">
            <a:solidFill>
              <a:srgbClr val="DEE3ED"/>
            </a:solidFill>
            <a:prstDash val="solid"/>
          </a:ln>
        </p:spPr>
      </p:sp>
      <p:sp>
        <p:nvSpPr>
          <p:cNvPr id="87" name="Text 85"/>
          <p:cNvSpPr/>
          <p:nvPr/>
        </p:nvSpPr>
        <p:spPr>
          <a:xfrm>
            <a:off x="4937760" y="4425696"/>
            <a:ext cx="2194560" cy="457200"/>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88" name="Shape 86"/>
          <p:cNvSpPr/>
          <p:nvPr/>
        </p:nvSpPr>
        <p:spPr>
          <a:xfrm>
            <a:off x="7132320" y="4425696"/>
            <a:ext cx="2194560" cy="457200"/>
          </a:xfrm>
          <a:prstGeom prst="rect">
            <a:avLst/>
          </a:prstGeom>
          <a:solidFill>
            <a:srgbClr val="FEE2E2"/>
          </a:solidFill>
          <a:ln w="12700">
            <a:solidFill>
              <a:srgbClr val="DEE3ED"/>
            </a:solidFill>
            <a:prstDash val="solid"/>
          </a:ln>
        </p:spPr>
      </p:sp>
      <p:sp>
        <p:nvSpPr>
          <p:cNvPr id="89" name="Text 87"/>
          <p:cNvSpPr/>
          <p:nvPr/>
        </p:nvSpPr>
        <p:spPr>
          <a:xfrm>
            <a:off x="7132320" y="4425696"/>
            <a:ext cx="2194560" cy="457200"/>
          </a:xfrm>
          <a:prstGeom prst="rect">
            <a:avLst/>
          </a:prstGeom>
          <a:noFill/>
          <a:ln/>
        </p:spPr>
        <p:txBody>
          <a:bodyPr wrap="square" rtlCol="0" anchor="ctr"/>
          <a:lstStyle/>
          <a:p>
            <a:pPr marL="0" indent="0" algn="ctr">
              <a:buNone/>
            </a:pPr>
            <a:r>
              <a:rPr lang="en-US" sz="1800" b="1" dirty="0">
                <a:solidFill>
                  <a:srgbClr val="B91C1C"/>
                </a:solidFill>
                <a:latin typeface="Calibri" pitchFamily="34" charset="0"/>
                <a:ea typeface="Calibri" pitchFamily="34" charset="-122"/>
                <a:cs typeface="Calibri" pitchFamily="34" charset="-120"/>
              </a:rPr>
              <a:t>−</a:t>
            </a:r>
            <a:endParaRPr lang="en-US" sz="1800" dirty="0"/>
          </a:p>
        </p:txBody>
      </p:sp>
      <p:sp>
        <p:nvSpPr>
          <p:cNvPr id="90" name="Shape 88"/>
          <p:cNvSpPr/>
          <p:nvPr/>
        </p:nvSpPr>
        <p:spPr>
          <a:xfrm>
            <a:off x="9326880" y="4425696"/>
            <a:ext cx="2194560" cy="457200"/>
          </a:xfrm>
          <a:prstGeom prst="rect">
            <a:avLst/>
          </a:prstGeom>
          <a:solidFill>
            <a:srgbClr val="FEE2E2"/>
          </a:solidFill>
          <a:ln w="12700">
            <a:solidFill>
              <a:srgbClr val="DEE3ED"/>
            </a:solidFill>
            <a:prstDash val="solid"/>
          </a:ln>
        </p:spPr>
      </p:sp>
      <p:sp>
        <p:nvSpPr>
          <p:cNvPr id="91" name="Text 89"/>
          <p:cNvSpPr/>
          <p:nvPr/>
        </p:nvSpPr>
        <p:spPr>
          <a:xfrm>
            <a:off x="9326880" y="4425696"/>
            <a:ext cx="2194560" cy="457200"/>
          </a:xfrm>
          <a:prstGeom prst="rect">
            <a:avLst/>
          </a:prstGeom>
          <a:noFill/>
          <a:ln/>
        </p:spPr>
        <p:txBody>
          <a:bodyPr wrap="square" rtlCol="0" anchor="ctr"/>
          <a:lstStyle/>
          <a:p>
            <a:pPr marL="0" indent="0" algn="ctr">
              <a:buNone/>
            </a:pPr>
            <a:r>
              <a:rPr lang="en-US" sz="1800" b="1" dirty="0">
                <a:solidFill>
                  <a:srgbClr val="B91C1C"/>
                </a:solidFill>
                <a:latin typeface="Calibri" pitchFamily="34" charset="0"/>
                <a:ea typeface="Calibri" pitchFamily="34" charset="-122"/>
                <a:cs typeface="Calibri" pitchFamily="34" charset="-120"/>
              </a:rPr>
              <a:t>−</a:t>
            </a:r>
            <a:endParaRPr lang="en-US" sz="1800" dirty="0"/>
          </a:p>
        </p:txBody>
      </p:sp>
      <p:sp>
        <p:nvSpPr>
          <p:cNvPr id="92" name="Shape 90"/>
          <p:cNvSpPr/>
          <p:nvPr/>
        </p:nvSpPr>
        <p:spPr>
          <a:xfrm>
            <a:off x="182880" y="4901184"/>
            <a:ext cx="2560320" cy="457200"/>
          </a:xfrm>
          <a:prstGeom prst="rect">
            <a:avLst/>
          </a:prstGeom>
          <a:solidFill>
            <a:srgbClr val="F5F7FA"/>
          </a:solidFill>
          <a:ln w="12700">
            <a:solidFill>
              <a:srgbClr val="DEE3ED"/>
            </a:solidFill>
            <a:prstDash val="solid"/>
          </a:ln>
        </p:spPr>
      </p:sp>
      <p:sp>
        <p:nvSpPr>
          <p:cNvPr id="93" name="Text 91"/>
          <p:cNvSpPr/>
          <p:nvPr/>
        </p:nvSpPr>
        <p:spPr>
          <a:xfrm>
            <a:off x="237744" y="4901184"/>
            <a:ext cx="2450592" cy="457200"/>
          </a:xfrm>
          <a:prstGeom prst="rect">
            <a:avLst/>
          </a:prstGeom>
          <a:noFill/>
          <a:ln/>
        </p:spPr>
        <p:txBody>
          <a:bodyPr wrap="square"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Charm</a:t>
            </a:r>
            <a:endParaRPr lang="en-US" sz="900" dirty="0"/>
          </a:p>
        </p:txBody>
      </p:sp>
      <p:sp>
        <p:nvSpPr>
          <p:cNvPr id="94" name="Shape 92"/>
          <p:cNvSpPr/>
          <p:nvPr/>
        </p:nvSpPr>
        <p:spPr>
          <a:xfrm>
            <a:off x="2743200" y="4901184"/>
            <a:ext cx="2194560" cy="457200"/>
          </a:xfrm>
          <a:prstGeom prst="rect">
            <a:avLst/>
          </a:prstGeom>
          <a:solidFill>
            <a:srgbClr val="FEE2E2"/>
          </a:solidFill>
          <a:ln w="12700">
            <a:solidFill>
              <a:srgbClr val="DEE3ED"/>
            </a:solidFill>
            <a:prstDash val="solid"/>
          </a:ln>
        </p:spPr>
      </p:sp>
      <p:sp>
        <p:nvSpPr>
          <p:cNvPr id="95" name="Text 93"/>
          <p:cNvSpPr/>
          <p:nvPr/>
        </p:nvSpPr>
        <p:spPr>
          <a:xfrm>
            <a:off x="2743200" y="4901184"/>
            <a:ext cx="2194560" cy="457200"/>
          </a:xfrm>
          <a:prstGeom prst="rect">
            <a:avLst/>
          </a:prstGeom>
          <a:noFill/>
          <a:ln/>
        </p:spPr>
        <p:txBody>
          <a:bodyPr wrap="square" rtlCol="0" anchor="ctr"/>
          <a:lstStyle/>
          <a:p>
            <a:pPr marL="0" indent="0" algn="ctr">
              <a:buNone/>
            </a:pPr>
            <a:r>
              <a:rPr lang="en-US" sz="1800" b="1" dirty="0">
                <a:solidFill>
                  <a:srgbClr val="B91C1C"/>
                </a:solidFill>
                <a:latin typeface="Calibri" pitchFamily="34" charset="0"/>
                <a:ea typeface="Calibri" pitchFamily="34" charset="-122"/>
                <a:cs typeface="Calibri" pitchFamily="34" charset="-120"/>
              </a:rPr>
              <a:t>−</a:t>
            </a:r>
            <a:endParaRPr lang="en-US" sz="1800" dirty="0"/>
          </a:p>
        </p:txBody>
      </p:sp>
      <p:sp>
        <p:nvSpPr>
          <p:cNvPr id="96" name="Shape 94"/>
          <p:cNvSpPr/>
          <p:nvPr/>
        </p:nvSpPr>
        <p:spPr>
          <a:xfrm>
            <a:off x="4937760" y="4901184"/>
            <a:ext cx="2194560" cy="457200"/>
          </a:xfrm>
          <a:prstGeom prst="rect">
            <a:avLst/>
          </a:prstGeom>
          <a:solidFill>
            <a:srgbClr val="E6F7EE"/>
          </a:solidFill>
          <a:ln w="12700">
            <a:solidFill>
              <a:srgbClr val="DEE3ED"/>
            </a:solidFill>
            <a:prstDash val="solid"/>
          </a:ln>
        </p:spPr>
      </p:sp>
      <p:sp>
        <p:nvSpPr>
          <p:cNvPr id="97" name="Text 95"/>
          <p:cNvSpPr/>
          <p:nvPr/>
        </p:nvSpPr>
        <p:spPr>
          <a:xfrm>
            <a:off x="4937760" y="4901184"/>
            <a:ext cx="2194560" cy="457200"/>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98" name="Shape 96"/>
          <p:cNvSpPr/>
          <p:nvPr/>
        </p:nvSpPr>
        <p:spPr>
          <a:xfrm>
            <a:off x="7132320" y="4901184"/>
            <a:ext cx="2194560" cy="457200"/>
          </a:xfrm>
          <a:prstGeom prst="rect">
            <a:avLst/>
          </a:prstGeom>
          <a:solidFill>
            <a:srgbClr val="E6F7EE"/>
          </a:solidFill>
          <a:ln w="12700">
            <a:solidFill>
              <a:srgbClr val="DEE3ED"/>
            </a:solidFill>
            <a:prstDash val="solid"/>
          </a:ln>
        </p:spPr>
      </p:sp>
      <p:sp>
        <p:nvSpPr>
          <p:cNvPr id="99" name="Text 97"/>
          <p:cNvSpPr/>
          <p:nvPr/>
        </p:nvSpPr>
        <p:spPr>
          <a:xfrm>
            <a:off x="7132320" y="4901184"/>
            <a:ext cx="2194560" cy="457200"/>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100" name="Shape 98"/>
          <p:cNvSpPr/>
          <p:nvPr/>
        </p:nvSpPr>
        <p:spPr>
          <a:xfrm>
            <a:off x="9326880" y="4901184"/>
            <a:ext cx="2194560" cy="457200"/>
          </a:xfrm>
          <a:prstGeom prst="rect">
            <a:avLst/>
          </a:prstGeom>
          <a:solidFill>
            <a:srgbClr val="FEE2E2"/>
          </a:solidFill>
          <a:ln w="12700">
            <a:solidFill>
              <a:srgbClr val="DEE3ED"/>
            </a:solidFill>
            <a:prstDash val="solid"/>
          </a:ln>
        </p:spPr>
      </p:sp>
      <p:sp>
        <p:nvSpPr>
          <p:cNvPr id="101" name="Text 99"/>
          <p:cNvSpPr/>
          <p:nvPr/>
        </p:nvSpPr>
        <p:spPr>
          <a:xfrm>
            <a:off x="9326880" y="4901184"/>
            <a:ext cx="2194560" cy="457200"/>
          </a:xfrm>
          <a:prstGeom prst="rect">
            <a:avLst/>
          </a:prstGeom>
          <a:noFill/>
          <a:ln/>
        </p:spPr>
        <p:txBody>
          <a:bodyPr wrap="square" rtlCol="0" anchor="ctr"/>
          <a:lstStyle/>
          <a:p>
            <a:pPr marL="0" indent="0" algn="ctr">
              <a:buNone/>
            </a:pPr>
            <a:r>
              <a:rPr lang="en-US" sz="1800" b="1" dirty="0">
                <a:solidFill>
                  <a:srgbClr val="B91C1C"/>
                </a:solidFill>
                <a:latin typeface="Calibri" pitchFamily="34" charset="0"/>
                <a:ea typeface="Calibri" pitchFamily="34" charset="-122"/>
                <a:cs typeface="Calibri" pitchFamily="34" charset="-120"/>
              </a:rPr>
              <a:t>−</a:t>
            </a:r>
            <a:endParaRPr lang="en-US" sz="1800" dirty="0"/>
          </a:p>
        </p:txBody>
      </p:sp>
      <p:sp>
        <p:nvSpPr>
          <p:cNvPr id="102" name="Shape 100"/>
          <p:cNvSpPr/>
          <p:nvPr/>
        </p:nvSpPr>
        <p:spPr>
          <a:xfrm>
            <a:off x="182880" y="5449824"/>
            <a:ext cx="11795760" cy="329184"/>
          </a:xfrm>
          <a:prstGeom prst="rect">
            <a:avLst/>
          </a:prstGeom>
          <a:solidFill>
            <a:srgbClr val="F5F7FA"/>
          </a:solidFill>
          <a:ln w="12700">
            <a:solidFill>
              <a:srgbClr val="DEE3ED"/>
            </a:solidFill>
            <a:prstDash val="solid"/>
          </a:ln>
        </p:spPr>
      </p:sp>
      <p:sp>
        <p:nvSpPr>
          <p:cNvPr id="103" name="Shape 101"/>
          <p:cNvSpPr/>
          <p:nvPr/>
        </p:nvSpPr>
        <p:spPr>
          <a:xfrm>
            <a:off x="320040" y="5504688"/>
            <a:ext cx="237744" cy="219456"/>
          </a:xfrm>
          <a:prstGeom prst="rect">
            <a:avLst/>
          </a:prstGeom>
          <a:solidFill>
            <a:srgbClr val="E6F7EE"/>
          </a:solidFill>
          <a:ln w="12700">
            <a:solidFill>
              <a:srgbClr val="1A7A4A"/>
            </a:solidFill>
            <a:prstDash val="solid"/>
          </a:ln>
        </p:spPr>
      </p:sp>
      <p:sp>
        <p:nvSpPr>
          <p:cNvPr id="104" name="Text 102"/>
          <p:cNvSpPr/>
          <p:nvPr/>
        </p:nvSpPr>
        <p:spPr>
          <a:xfrm>
            <a:off x="320040" y="5504688"/>
            <a:ext cx="237744" cy="219456"/>
          </a:xfrm>
          <a:prstGeom prst="rect">
            <a:avLst/>
          </a:prstGeom>
          <a:noFill/>
          <a:ln/>
        </p:spPr>
        <p:txBody>
          <a:bodyPr wrap="square" rtlCol="0" anchor="ctr"/>
          <a:lstStyle/>
          <a:p>
            <a:pPr marL="0" indent="0" algn="ctr">
              <a:buNone/>
            </a:pPr>
            <a:r>
              <a:rPr lang="en-US" sz="1200" b="1" dirty="0">
                <a:solidFill>
                  <a:srgbClr val="1A7A4A"/>
                </a:solidFill>
                <a:latin typeface="Calibri" pitchFamily="34" charset="0"/>
                <a:ea typeface="Calibri" pitchFamily="34" charset="-122"/>
                <a:cs typeface="Calibri" pitchFamily="34" charset="-120"/>
              </a:rPr>
              <a:t>+</a:t>
            </a:r>
            <a:endParaRPr lang="en-US" sz="1200" dirty="0"/>
          </a:p>
        </p:txBody>
      </p:sp>
      <p:sp>
        <p:nvSpPr>
          <p:cNvPr id="105" name="Text 103"/>
          <p:cNvSpPr/>
          <p:nvPr/>
        </p:nvSpPr>
        <p:spPr>
          <a:xfrm>
            <a:off x="612648" y="5504688"/>
            <a:ext cx="3474720" cy="219456"/>
          </a:xfrm>
          <a:prstGeom prst="rect">
            <a:avLst/>
          </a:prstGeom>
          <a:noFill/>
          <a:ln/>
        </p:spPr>
        <p:txBody>
          <a:bodyPr wrap="square" rtlCol="0" anchor="ctr"/>
          <a:lstStyle/>
          <a:p>
            <a:pPr marL="0" indent="0">
              <a:buNone/>
            </a:pPr>
            <a:r>
              <a:rPr lang="en-US" sz="850" dirty="0">
                <a:solidFill>
                  <a:srgbClr val="4A4A4A"/>
                </a:solidFill>
                <a:latin typeface="Calibri" pitchFamily="34" charset="0"/>
                <a:ea typeface="Calibri" pitchFamily="34" charset="-122"/>
                <a:cs typeface="Calibri" pitchFamily="34" charset="-120"/>
              </a:rPr>
              <a:t>+ You GAIN from an increase in that parameter</a:t>
            </a:r>
            <a:endParaRPr lang="en-US" sz="850" dirty="0"/>
          </a:p>
        </p:txBody>
      </p:sp>
      <p:sp>
        <p:nvSpPr>
          <p:cNvPr id="106" name="Shape 104"/>
          <p:cNvSpPr/>
          <p:nvPr/>
        </p:nvSpPr>
        <p:spPr>
          <a:xfrm>
            <a:off x="4251960" y="5504688"/>
            <a:ext cx="237744" cy="219456"/>
          </a:xfrm>
          <a:prstGeom prst="rect">
            <a:avLst/>
          </a:prstGeom>
          <a:solidFill>
            <a:srgbClr val="FEE2E2"/>
          </a:solidFill>
          <a:ln w="12700">
            <a:solidFill>
              <a:srgbClr val="B91C1C"/>
            </a:solidFill>
            <a:prstDash val="solid"/>
          </a:ln>
        </p:spPr>
      </p:sp>
      <p:sp>
        <p:nvSpPr>
          <p:cNvPr id="107" name="Text 105"/>
          <p:cNvSpPr/>
          <p:nvPr/>
        </p:nvSpPr>
        <p:spPr>
          <a:xfrm>
            <a:off x="4251960" y="5504688"/>
            <a:ext cx="237744" cy="219456"/>
          </a:xfrm>
          <a:prstGeom prst="rect">
            <a:avLst/>
          </a:prstGeom>
          <a:noFill/>
          <a:ln/>
        </p:spPr>
        <p:txBody>
          <a:bodyPr wrap="square" rtlCol="0" anchor="ctr"/>
          <a:lstStyle/>
          <a:p>
            <a:pPr marL="0" indent="0" algn="ctr">
              <a:buNone/>
            </a:pPr>
            <a:r>
              <a:rPr lang="en-US" sz="1200" b="1" dirty="0">
                <a:solidFill>
                  <a:srgbClr val="B91C1C"/>
                </a:solidFill>
                <a:latin typeface="Calibri" pitchFamily="34" charset="0"/>
                <a:ea typeface="Calibri" pitchFamily="34" charset="-122"/>
                <a:cs typeface="Calibri" pitchFamily="34" charset="-120"/>
              </a:rPr>
              <a:t>−</a:t>
            </a:r>
            <a:endParaRPr lang="en-US" sz="1200" dirty="0"/>
          </a:p>
        </p:txBody>
      </p:sp>
      <p:sp>
        <p:nvSpPr>
          <p:cNvPr id="108" name="Text 106"/>
          <p:cNvSpPr/>
          <p:nvPr/>
        </p:nvSpPr>
        <p:spPr>
          <a:xfrm>
            <a:off x="4544568" y="5504688"/>
            <a:ext cx="3474720" cy="219456"/>
          </a:xfrm>
          <a:prstGeom prst="rect">
            <a:avLst/>
          </a:prstGeom>
          <a:noFill/>
          <a:ln/>
        </p:spPr>
        <p:txBody>
          <a:bodyPr wrap="square" rtlCol="0" anchor="ctr"/>
          <a:lstStyle/>
          <a:p>
            <a:pPr marL="0" indent="0">
              <a:buNone/>
            </a:pPr>
            <a:r>
              <a:rPr lang="en-US" sz="850" dirty="0">
                <a:solidFill>
                  <a:srgbClr val="4A4A4A"/>
                </a:solidFill>
                <a:latin typeface="Calibri" pitchFamily="34" charset="0"/>
                <a:ea typeface="Calibri" pitchFamily="34" charset="-122"/>
                <a:cs typeface="Calibri" pitchFamily="34" charset="-120"/>
              </a:rPr>
              <a:t>− You LOSE from an increase</a:t>
            </a:r>
            <a:endParaRPr lang="en-US" sz="850" dirty="0"/>
          </a:p>
        </p:txBody>
      </p:sp>
      <p:sp>
        <p:nvSpPr>
          <p:cNvPr id="109" name="Shape 107"/>
          <p:cNvSpPr/>
          <p:nvPr/>
        </p:nvSpPr>
        <p:spPr>
          <a:xfrm>
            <a:off x="8183880" y="5504688"/>
            <a:ext cx="237744" cy="219456"/>
          </a:xfrm>
          <a:prstGeom prst="rect">
            <a:avLst/>
          </a:prstGeom>
          <a:solidFill>
            <a:srgbClr val="FFF8E7"/>
          </a:solidFill>
          <a:ln w="12700">
            <a:solidFill>
              <a:srgbClr val="D97706"/>
            </a:solidFill>
            <a:prstDash val="solid"/>
          </a:ln>
        </p:spPr>
      </p:sp>
      <p:sp>
        <p:nvSpPr>
          <p:cNvPr id="110" name="Text 108"/>
          <p:cNvSpPr/>
          <p:nvPr/>
        </p:nvSpPr>
        <p:spPr>
          <a:xfrm>
            <a:off x="8183880" y="5504688"/>
            <a:ext cx="237744" cy="219456"/>
          </a:xfrm>
          <a:prstGeom prst="rect">
            <a:avLst/>
          </a:prstGeom>
          <a:noFill/>
          <a:ln/>
        </p:spPr>
        <p:txBody>
          <a:bodyPr wrap="square" rtlCol="0" anchor="ctr"/>
          <a:lstStyle/>
          <a:p>
            <a:pPr marL="0" indent="0" algn="ctr">
              <a:buNone/>
            </a:pPr>
            <a:r>
              <a:rPr lang="en-US" sz="1200" b="1" dirty="0">
                <a:solidFill>
                  <a:srgbClr val="D97706"/>
                </a:solidFill>
                <a:latin typeface="Calibri" pitchFamily="34" charset="0"/>
                <a:ea typeface="Calibri" pitchFamily="34" charset="-122"/>
                <a:cs typeface="Calibri" pitchFamily="34" charset="-120"/>
              </a:rPr>
              <a:t>±</a:t>
            </a:r>
            <a:endParaRPr lang="en-US" sz="1200" dirty="0"/>
          </a:p>
        </p:txBody>
      </p:sp>
      <p:sp>
        <p:nvSpPr>
          <p:cNvPr id="111" name="Text 109"/>
          <p:cNvSpPr/>
          <p:nvPr/>
        </p:nvSpPr>
        <p:spPr>
          <a:xfrm>
            <a:off x="8476488" y="5504688"/>
            <a:ext cx="3474720" cy="219456"/>
          </a:xfrm>
          <a:prstGeom prst="rect">
            <a:avLst/>
          </a:prstGeom>
          <a:noFill/>
          <a:ln/>
        </p:spPr>
        <p:txBody>
          <a:bodyPr wrap="square" rtlCol="0" anchor="ctr"/>
          <a:lstStyle/>
          <a:p>
            <a:pPr marL="0" indent="0">
              <a:buNone/>
            </a:pPr>
            <a:r>
              <a:rPr lang="en-US" sz="850" dirty="0">
                <a:solidFill>
                  <a:srgbClr val="4A4A4A"/>
                </a:solidFill>
                <a:latin typeface="Calibri" pitchFamily="34" charset="0"/>
                <a:ea typeface="Calibri" pitchFamily="34" charset="-122"/>
                <a:cs typeface="Calibri" pitchFamily="34" charset="-120"/>
              </a:rPr>
              <a:t>± Sign depends on moneyness (OTM vs ITM)</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7FA"/>
          </a:solidFill>
          <a:ln w="12700">
            <a:solidFill>
              <a:srgbClr val="F5F7FA"/>
            </a:solidFill>
            <a:prstDash val="solid"/>
          </a:ln>
        </p:spPr>
      </p:sp>
      <p:sp>
        <p:nvSpPr>
          <p:cNvPr id="3" name="Shape 1"/>
          <p:cNvSpPr/>
          <p:nvPr/>
        </p:nvSpPr>
        <p:spPr>
          <a:xfrm>
            <a:off x="0" y="0"/>
            <a:ext cx="12161520" cy="475488"/>
          </a:xfrm>
          <a:prstGeom prst="rect">
            <a:avLst/>
          </a:prstGeom>
          <a:solidFill>
            <a:srgbClr val="1E2761"/>
          </a:solidFill>
          <a:ln w="12700">
            <a:solidFill>
              <a:srgbClr val="1E2761"/>
            </a:solidFill>
            <a:prstDash val="solid"/>
          </a:ln>
        </p:spPr>
      </p:sp>
      <p:sp>
        <p:nvSpPr>
          <p:cNvPr id="4" name="Shape 2"/>
          <p:cNvSpPr/>
          <p:nvPr/>
        </p:nvSpPr>
        <p:spPr>
          <a:xfrm>
            <a:off x="0" y="475488"/>
            <a:ext cx="12161520" cy="45720"/>
          </a:xfrm>
          <a:prstGeom prst="rect">
            <a:avLst/>
          </a:prstGeom>
          <a:solidFill>
            <a:srgbClr val="C9A84C"/>
          </a:solidFill>
          <a:ln w="12700">
            <a:solidFill>
              <a:srgbClr val="C9A84C"/>
            </a:solidFill>
            <a:prstDash val="solid"/>
          </a:ln>
        </p:spPr>
      </p:sp>
      <p:sp>
        <p:nvSpPr>
          <p:cNvPr id="5" name="Shape 3"/>
          <p:cNvSpPr/>
          <p:nvPr/>
        </p:nvSpPr>
        <p:spPr>
          <a:xfrm>
            <a:off x="0" y="6492240"/>
            <a:ext cx="12161520" cy="365760"/>
          </a:xfrm>
          <a:prstGeom prst="rect">
            <a:avLst/>
          </a:prstGeom>
          <a:solidFill>
            <a:srgbClr val="1E2761"/>
          </a:solidFill>
          <a:ln w="12700">
            <a:solidFill>
              <a:srgbClr val="1E2761"/>
            </a:solidFill>
            <a:prstDash val="solid"/>
          </a:ln>
        </p:spPr>
      </p:sp>
      <p:sp>
        <p:nvSpPr>
          <p:cNvPr id="6" name="Text 4"/>
          <p:cNvSpPr/>
          <p:nvPr/>
        </p:nvSpPr>
        <p:spPr>
          <a:xfrm>
            <a:off x="182880" y="6510528"/>
            <a:ext cx="8229600" cy="228600"/>
          </a:xfrm>
          <a:prstGeom prst="rect">
            <a:avLst/>
          </a:prstGeom>
          <a:noFill/>
          <a:ln/>
        </p:spPr>
        <p:txBody>
          <a:bodyPr wrap="square" rtlCol="0" anchor="ctr"/>
          <a:lstStyle/>
          <a:p>
            <a:pPr marL="0" indent="0">
              <a:buNone/>
            </a:pPr>
            <a:r>
              <a:rPr lang="en-US" sz="750" dirty="0">
                <a:solidFill>
                  <a:srgbClr val="CADCFC"/>
                </a:solidFill>
                <a:latin typeface="Calibri" pitchFamily="34" charset="0"/>
                <a:ea typeface="Calibri" pitchFamily="34" charset="-122"/>
                <a:cs typeface="Calibri" pitchFamily="34" charset="-120"/>
              </a:rPr>
              <a:t>Curated by Sarthaka Nanda (with Anthropic Claude)  |  Greeks &amp; Sensitivities — Module 0</a:t>
            </a:r>
            <a:endParaRPr lang="en-US" sz="750" dirty="0"/>
          </a:p>
        </p:txBody>
      </p:sp>
      <p:sp>
        <p:nvSpPr>
          <p:cNvPr id="7" name="Text 5"/>
          <p:cNvSpPr/>
          <p:nvPr/>
        </p:nvSpPr>
        <p:spPr>
          <a:xfrm>
            <a:off x="10515600" y="6510528"/>
            <a:ext cx="1463040" cy="228600"/>
          </a:xfrm>
          <a:prstGeom prst="rect">
            <a:avLst/>
          </a:prstGeom>
          <a:noFill/>
          <a:ln/>
        </p:spPr>
        <p:txBody>
          <a:bodyPr wrap="square" rtlCol="0" anchor="ctr"/>
          <a:lstStyle/>
          <a:p>
            <a:pPr marL="0" indent="0" algn="r">
              <a:buNone/>
            </a:pPr>
            <a:r>
              <a:rPr lang="en-US" sz="750" dirty="0">
                <a:solidFill>
                  <a:srgbClr val="C9A84C"/>
                </a:solidFill>
                <a:latin typeface="Calibri" pitchFamily="34" charset="0"/>
                <a:ea typeface="Calibri" pitchFamily="34" charset="-122"/>
                <a:cs typeface="Calibri" pitchFamily="34" charset="-120"/>
              </a:rPr>
              <a:t>CC BY-NC 4.0</a:t>
            </a:r>
            <a:endParaRPr lang="en-US" sz="750" dirty="0"/>
          </a:p>
        </p:txBody>
      </p:sp>
      <p:sp>
        <p:nvSpPr>
          <p:cNvPr id="8" name="Text 6"/>
          <p:cNvSpPr/>
          <p:nvPr/>
        </p:nvSpPr>
        <p:spPr>
          <a:xfrm>
            <a:off x="274320" y="64008"/>
            <a:ext cx="1161288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FRTB Sensitivities &amp; xVA Greeks — Regulatory &amp; Portfolio Level</a:t>
            </a:r>
            <a:endParaRPr lang="en-US" sz="1500" dirty="0"/>
          </a:p>
        </p:txBody>
      </p:sp>
      <p:sp>
        <p:nvSpPr>
          <p:cNvPr id="9" name="Shape 7"/>
          <p:cNvSpPr/>
          <p:nvPr/>
        </p:nvSpPr>
        <p:spPr>
          <a:xfrm>
            <a:off x="182880" y="621792"/>
            <a:ext cx="11795760" cy="347472"/>
          </a:xfrm>
          <a:prstGeom prst="rect">
            <a:avLst/>
          </a:prstGeom>
          <a:solidFill>
            <a:srgbClr val="FFF8E7"/>
          </a:solidFill>
          <a:ln w="12700">
            <a:solidFill>
              <a:srgbClr val="E8960C"/>
            </a:solidFill>
            <a:prstDash val="solid"/>
          </a:ln>
        </p:spPr>
      </p:sp>
      <p:sp>
        <p:nvSpPr>
          <p:cNvPr id="10" name="Text 8"/>
          <p:cNvSpPr/>
          <p:nvPr/>
        </p:nvSpPr>
        <p:spPr>
          <a:xfrm>
            <a:off x="320040" y="640080"/>
            <a:ext cx="11521440" cy="310896"/>
          </a:xfrm>
          <a:prstGeom prst="rect">
            <a:avLst/>
          </a:prstGeom>
          <a:noFill/>
          <a:ln/>
        </p:spPr>
        <p:txBody>
          <a:bodyPr wrap="square" rtlCol="0" anchor="ctr"/>
          <a:lstStyle/>
          <a:p>
            <a:pPr marL="0" indent="0">
              <a:buNone/>
            </a:pPr>
            <a:r>
              <a:rPr lang="en-US" sz="850" b="1" dirty="0">
                <a:solidFill>
                  <a:srgbClr val="92400E"/>
                </a:solidFill>
                <a:latin typeface="Calibri" pitchFamily="34" charset="0"/>
                <a:ea typeface="Calibri" pitchFamily="34" charset="-122"/>
                <a:cs typeface="Calibri" pitchFamily="34" charset="-120"/>
              </a:rPr>
              <a:t>FRTB definitions are regulatory prescriptions — like the government's standardised MOT test. May differ from trading desk definitions. See Module 2 for full treatment.</a:t>
            </a:r>
            <a:endParaRPr lang="en-US" sz="850" dirty="0"/>
          </a:p>
        </p:txBody>
      </p:sp>
      <p:sp>
        <p:nvSpPr>
          <p:cNvPr id="11" name="Shape 9"/>
          <p:cNvSpPr/>
          <p:nvPr/>
        </p:nvSpPr>
        <p:spPr>
          <a:xfrm>
            <a:off x="182880" y="1060704"/>
            <a:ext cx="2834640" cy="2194560"/>
          </a:xfrm>
          <a:prstGeom prst="rect">
            <a:avLst/>
          </a:prstGeom>
          <a:solidFill>
            <a:srgbClr val="FFFFFF"/>
          </a:solidFill>
          <a:ln w="12700">
            <a:solidFill>
              <a:srgbClr val="DEE3ED"/>
            </a:solidFill>
            <a:prstDash val="solid"/>
          </a:ln>
          <a:effectLst>
            <a:outerShdw blurRad="63500" dist="25400" dir="8100000" algn="bl" rotWithShape="0">
              <a:srgbClr val="000000">
                <a:alpha val="10000"/>
              </a:srgbClr>
            </a:outerShdw>
          </a:effectLst>
        </p:spPr>
      </p:sp>
      <p:sp>
        <p:nvSpPr>
          <p:cNvPr id="12" name="Shape 10"/>
          <p:cNvSpPr/>
          <p:nvPr/>
        </p:nvSpPr>
        <p:spPr>
          <a:xfrm>
            <a:off x="182880" y="1060704"/>
            <a:ext cx="2834640" cy="420624"/>
          </a:xfrm>
          <a:prstGeom prst="rect">
            <a:avLst/>
          </a:prstGeom>
          <a:solidFill>
            <a:srgbClr val="1E2761"/>
          </a:solidFill>
          <a:ln w="12700">
            <a:solidFill>
              <a:srgbClr val="1E2761"/>
            </a:solidFill>
            <a:prstDash val="solid"/>
          </a:ln>
        </p:spPr>
      </p:sp>
      <p:sp>
        <p:nvSpPr>
          <p:cNvPr id="13" name="Text 11"/>
          <p:cNvSpPr/>
          <p:nvPr/>
        </p:nvSpPr>
        <p:spPr>
          <a:xfrm>
            <a:off x="256032" y="1097280"/>
            <a:ext cx="2743200" cy="20116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IR Delta</a:t>
            </a:r>
            <a:endParaRPr lang="en-US" sz="1000" dirty="0"/>
          </a:p>
        </p:txBody>
      </p:sp>
      <p:sp>
        <p:nvSpPr>
          <p:cNvPr id="14" name="Text 12"/>
          <p:cNvSpPr/>
          <p:nvPr/>
        </p:nvSpPr>
        <p:spPr>
          <a:xfrm>
            <a:off x="256032" y="1298448"/>
            <a:ext cx="2743200" cy="164592"/>
          </a:xfrm>
          <a:prstGeom prst="rect">
            <a:avLst/>
          </a:prstGeom>
          <a:noFill/>
          <a:ln/>
        </p:spPr>
        <p:txBody>
          <a:bodyPr wrap="square" rtlCol="0" anchor="ctr"/>
          <a:lstStyle/>
          <a:p>
            <a:pPr marL="0" indent="0">
              <a:buNone/>
            </a:pPr>
            <a:r>
              <a:rPr lang="en-US" sz="800" dirty="0">
                <a:solidFill>
                  <a:srgbClr val="CADCFC"/>
                </a:solidFill>
                <a:latin typeface="Calibri" pitchFamily="34" charset="0"/>
                <a:ea typeface="Calibri" pitchFamily="34" charset="-122"/>
                <a:cs typeface="Calibri" pitchFamily="34" charset="-120"/>
              </a:rPr>
              <a:t>Bucketed by tenor</a:t>
            </a:r>
            <a:endParaRPr lang="en-US" sz="800" dirty="0"/>
          </a:p>
        </p:txBody>
      </p:sp>
      <p:sp>
        <p:nvSpPr>
          <p:cNvPr id="15" name="Shape 13"/>
          <p:cNvSpPr/>
          <p:nvPr/>
        </p:nvSpPr>
        <p:spPr>
          <a:xfrm>
            <a:off x="256032" y="1536192"/>
            <a:ext cx="2688336" cy="256032"/>
          </a:xfrm>
          <a:prstGeom prst="rect">
            <a:avLst/>
          </a:prstGeom>
          <a:solidFill>
            <a:srgbClr val="F5F7FA"/>
          </a:solidFill>
          <a:ln w="12700">
            <a:solidFill>
              <a:srgbClr val="028090"/>
            </a:solidFill>
            <a:prstDash val="solid"/>
          </a:ln>
        </p:spPr>
      </p:sp>
      <p:sp>
        <p:nvSpPr>
          <p:cNvPr id="16" name="Text 14"/>
          <p:cNvSpPr/>
          <p:nvPr/>
        </p:nvSpPr>
        <p:spPr>
          <a:xfrm>
            <a:off x="274320" y="1536192"/>
            <a:ext cx="2651760" cy="256032"/>
          </a:xfrm>
          <a:prstGeom prst="rect">
            <a:avLst/>
          </a:prstGeom>
          <a:noFill/>
          <a:ln/>
        </p:spPr>
        <p:txBody>
          <a:bodyPr wrap="square" rtlCol="0" anchor="ctr"/>
          <a:lstStyle/>
          <a:p>
            <a:pPr marL="0" indent="0">
              <a:buNone/>
            </a:pPr>
            <a:r>
              <a:rPr lang="en-US" sz="750" i="1" dirty="0">
                <a:solidFill>
                  <a:srgbClr val="1E2761"/>
                </a:solidFill>
                <a:latin typeface="Calibri" pitchFamily="34" charset="0"/>
                <a:ea typeface="Calibri" pitchFamily="34" charset="-122"/>
                <a:cs typeface="Calibri" pitchFamily="34" charset="-120"/>
              </a:rPr>
              <a:t>s_k = ∂V/∂r_k × 0.0001</a:t>
            </a:r>
            <a:endParaRPr lang="en-US" sz="750" dirty="0"/>
          </a:p>
        </p:txBody>
      </p:sp>
      <p:sp>
        <p:nvSpPr>
          <p:cNvPr id="17" name="Text 15"/>
          <p:cNvSpPr/>
          <p:nvPr/>
        </p:nvSpPr>
        <p:spPr>
          <a:xfrm>
            <a:off x="274320" y="1847088"/>
            <a:ext cx="2651760" cy="1335024"/>
          </a:xfrm>
          <a:prstGeom prst="rect">
            <a:avLst/>
          </a:prstGeom>
          <a:noFill/>
          <a:ln/>
        </p:spPr>
        <p:txBody>
          <a:bodyPr wrap="square" rtlCol="0" anchor="t"/>
          <a:lstStyle/>
          <a:p>
            <a:pPr marL="0" indent="0">
              <a:buNone/>
            </a:pPr>
            <a:r>
              <a:rPr lang="en-US" sz="850" dirty="0">
                <a:solidFill>
                  <a:srgbClr val="4A4A4A"/>
                </a:solidFill>
                <a:latin typeface="Calibri" pitchFamily="34" charset="0"/>
                <a:ea typeface="Calibri" pitchFamily="34" charset="-122"/>
                <a:cs typeface="Calibri" pitchFamily="34" charset="-120"/>
              </a:rPr>
              <a:t>1bp shift in tenor bucket k. 10 buckets: 0.25y→30y per currency and curve.</a:t>
            </a:r>
            <a:endParaRPr lang="en-US" sz="850" dirty="0"/>
          </a:p>
        </p:txBody>
      </p:sp>
      <p:sp>
        <p:nvSpPr>
          <p:cNvPr id="18" name="Shape 16"/>
          <p:cNvSpPr/>
          <p:nvPr/>
        </p:nvSpPr>
        <p:spPr>
          <a:xfrm>
            <a:off x="3154680" y="1060704"/>
            <a:ext cx="2834640" cy="2194560"/>
          </a:xfrm>
          <a:prstGeom prst="rect">
            <a:avLst/>
          </a:prstGeom>
          <a:solidFill>
            <a:srgbClr val="FFFFFF"/>
          </a:solidFill>
          <a:ln w="12700">
            <a:solidFill>
              <a:srgbClr val="DEE3ED"/>
            </a:solidFill>
            <a:prstDash val="solid"/>
          </a:ln>
          <a:effectLst>
            <a:outerShdw blurRad="63500" dist="25400" dir="8100000" algn="bl" rotWithShape="0">
              <a:srgbClr val="000000">
                <a:alpha val="10000"/>
              </a:srgbClr>
            </a:outerShdw>
          </a:effectLst>
        </p:spPr>
      </p:sp>
      <p:sp>
        <p:nvSpPr>
          <p:cNvPr id="19" name="Shape 17"/>
          <p:cNvSpPr/>
          <p:nvPr/>
        </p:nvSpPr>
        <p:spPr>
          <a:xfrm>
            <a:off x="3154680" y="1060704"/>
            <a:ext cx="2834640" cy="420624"/>
          </a:xfrm>
          <a:prstGeom prst="rect">
            <a:avLst/>
          </a:prstGeom>
          <a:solidFill>
            <a:srgbClr val="1E2761"/>
          </a:solidFill>
          <a:ln w="12700">
            <a:solidFill>
              <a:srgbClr val="1E2761"/>
            </a:solidFill>
            <a:prstDash val="solid"/>
          </a:ln>
        </p:spPr>
      </p:sp>
      <p:sp>
        <p:nvSpPr>
          <p:cNvPr id="20" name="Text 18"/>
          <p:cNvSpPr/>
          <p:nvPr/>
        </p:nvSpPr>
        <p:spPr>
          <a:xfrm>
            <a:off x="3227832" y="1097280"/>
            <a:ext cx="2743200" cy="20116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IR Vega</a:t>
            </a:r>
            <a:endParaRPr lang="en-US" sz="1000" dirty="0"/>
          </a:p>
        </p:txBody>
      </p:sp>
      <p:sp>
        <p:nvSpPr>
          <p:cNvPr id="21" name="Text 19"/>
          <p:cNvSpPr/>
          <p:nvPr/>
        </p:nvSpPr>
        <p:spPr>
          <a:xfrm>
            <a:off x="3227832" y="1298448"/>
            <a:ext cx="2743200" cy="164592"/>
          </a:xfrm>
          <a:prstGeom prst="rect">
            <a:avLst/>
          </a:prstGeom>
          <a:noFill/>
          <a:ln/>
        </p:spPr>
        <p:txBody>
          <a:bodyPr wrap="square" rtlCol="0" anchor="ctr"/>
          <a:lstStyle/>
          <a:p>
            <a:pPr marL="0" indent="0">
              <a:buNone/>
            </a:pPr>
            <a:r>
              <a:rPr lang="en-US" sz="800" dirty="0">
                <a:solidFill>
                  <a:srgbClr val="CADCFC"/>
                </a:solidFill>
                <a:latin typeface="Calibri" pitchFamily="34" charset="0"/>
                <a:ea typeface="Calibri" pitchFamily="34" charset="-122"/>
                <a:cs typeface="Calibri" pitchFamily="34" charset="-120"/>
              </a:rPr>
              <a:t>Bucketed by maturity</a:t>
            </a:r>
            <a:endParaRPr lang="en-US" sz="800" dirty="0"/>
          </a:p>
        </p:txBody>
      </p:sp>
      <p:sp>
        <p:nvSpPr>
          <p:cNvPr id="22" name="Shape 20"/>
          <p:cNvSpPr/>
          <p:nvPr/>
        </p:nvSpPr>
        <p:spPr>
          <a:xfrm>
            <a:off x="3227832" y="1536192"/>
            <a:ext cx="2688336" cy="256032"/>
          </a:xfrm>
          <a:prstGeom prst="rect">
            <a:avLst/>
          </a:prstGeom>
          <a:solidFill>
            <a:srgbClr val="F5F7FA"/>
          </a:solidFill>
          <a:ln w="12700">
            <a:solidFill>
              <a:srgbClr val="028090"/>
            </a:solidFill>
            <a:prstDash val="solid"/>
          </a:ln>
        </p:spPr>
      </p:sp>
      <p:sp>
        <p:nvSpPr>
          <p:cNvPr id="23" name="Text 21"/>
          <p:cNvSpPr/>
          <p:nvPr/>
        </p:nvSpPr>
        <p:spPr>
          <a:xfrm>
            <a:off x="3246120" y="1536192"/>
            <a:ext cx="2651760" cy="256032"/>
          </a:xfrm>
          <a:prstGeom prst="rect">
            <a:avLst/>
          </a:prstGeom>
          <a:noFill/>
          <a:ln/>
        </p:spPr>
        <p:txBody>
          <a:bodyPr wrap="square" rtlCol="0" anchor="ctr"/>
          <a:lstStyle/>
          <a:p>
            <a:pPr marL="0" indent="0">
              <a:buNone/>
            </a:pPr>
            <a:r>
              <a:rPr lang="en-US" sz="750" i="1" dirty="0">
                <a:solidFill>
                  <a:srgbClr val="1E2761"/>
                </a:solidFill>
                <a:latin typeface="Calibri" pitchFamily="34" charset="0"/>
                <a:ea typeface="Calibri" pitchFamily="34" charset="-122"/>
                <a:cs typeface="Calibri" pitchFamily="34" charset="-120"/>
              </a:rPr>
              <a:t>VR_k = ∂V/∂σ_k × σ_k × 0.01</a:t>
            </a:r>
            <a:endParaRPr lang="en-US" sz="750" dirty="0"/>
          </a:p>
        </p:txBody>
      </p:sp>
      <p:sp>
        <p:nvSpPr>
          <p:cNvPr id="24" name="Text 22"/>
          <p:cNvSpPr/>
          <p:nvPr/>
        </p:nvSpPr>
        <p:spPr>
          <a:xfrm>
            <a:off x="3246120" y="1847088"/>
            <a:ext cx="2651760" cy="1335024"/>
          </a:xfrm>
          <a:prstGeom prst="rect">
            <a:avLst/>
          </a:prstGeom>
          <a:noFill/>
          <a:ln/>
        </p:spPr>
        <p:txBody>
          <a:bodyPr wrap="square" rtlCol="0" anchor="t"/>
          <a:lstStyle/>
          <a:p>
            <a:pPr marL="0" indent="0">
              <a:buNone/>
            </a:pPr>
            <a:r>
              <a:rPr lang="en-US" sz="850" dirty="0">
                <a:solidFill>
                  <a:srgbClr val="4A4A4A"/>
                </a:solidFill>
                <a:latin typeface="Calibri" pitchFamily="34" charset="0"/>
                <a:ea typeface="Calibri" pitchFamily="34" charset="-122"/>
                <a:cs typeface="Calibri" pitchFamily="34" charset="-120"/>
              </a:rPr>
              <a:t>1% relative shift in vol at maturity bucket (0.5y,1y,3y,5y,10y). Relative, not absolute.</a:t>
            </a:r>
            <a:endParaRPr lang="en-US" sz="850" dirty="0"/>
          </a:p>
        </p:txBody>
      </p:sp>
      <p:sp>
        <p:nvSpPr>
          <p:cNvPr id="25" name="Shape 23"/>
          <p:cNvSpPr/>
          <p:nvPr/>
        </p:nvSpPr>
        <p:spPr>
          <a:xfrm>
            <a:off x="6126480" y="1060704"/>
            <a:ext cx="2834640" cy="2194560"/>
          </a:xfrm>
          <a:prstGeom prst="rect">
            <a:avLst/>
          </a:prstGeom>
          <a:solidFill>
            <a:srgbClr val="FFFFFF"/>
          </a:solidFill>
          <a:ln w="12700">
            <a:solidFill>
              <a:srgbClr val="DEE3ED"/>
            </a:solidFill>
            <a:prstDash val="solid"/>
          </a:ln>
          <a:effectLst>
            <a:outerShdw blurRad="63500" dist="25400" dir="8100000" algn="bl" rotWithShape="0">
              <a:srgbClr val="000000">
                <a:alpha val="10000"/>
              </a:srgbClr>
            </a:outerShdw>
          </a:effectLst>
        </p:spPr>
      </p:sp>
      <p:sp>
        <p:nvSpPr>
          <p:cNvPr id="26" name="Shape 24"/>
          <p:cNvSpPr/>
          <p:nvPr/>
        </p:nvSpPr>
        <p:spPr>
          <a:xfrm>
            <a:off x="6126480" y="1060704"/>
            <a:ext cx="2834640" cy="420624"/>
          </a:xfrm>
          <a:prstGeom prst="rect">
            <a:avLst/>
          </a:prstGeom>
          <a:solidFill>
            <a:srgbClr val="1E2761"/>
          </a:solidFill>
          <a:ln w="12700">
            <a:solidFill>
              <a:srgbClr val="1E2761"/>
            </a:solidFill>
            <a:prstDash val="solid"/>
          </a:ln>
        </p:spPr>
      </p:sp>
      <p:sp>
        <p:nvSpPr>
          <p:cNvPr id="27" name="Text 25"/>
          <p:cNvSpPr/>
          <p:nvPr/>
        </p:nvSpPr>
        <p:spPr>
          <a:xfrm>
            <a:off x="6199632" y="1097280"/>
            <a:ext cx="2743200" cy="20116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Curvature</a:t>
            </a:r>
            <a:endParaRPr lang="en-US" sz="1000" dirty="0"/>
          </a:p>
        </p:txBody>
      </p:sp>
      <p:sp>
        <p:nvSpPr>
          <p:cNvPr id="28" name="Text 26"/>
          <p:cNvSpPr/>
          <p:nvPr/>
        </p:nvSpPr>
        <p:spPr>
          <a:xfrm>
            <a:off x="6199632" y="1298448"/>
            <a:ext cx="2743200" cy="164592"/>
          </a:xfrm>
          <a:prstGeom prst="rect">
            <a:avLst/>
          </a:prstGeom>
          <a:noFill/>
          <a:ln/>
        </p:spPr>
        <p:txBody>
          <a:bodyPr wrap="square" rtlCol="0" anchor="ctr"/>
          <a:lstStyle/>
          <a:p>
            <a:pPr marL="0" indent="0">
              <a:buNone/>
            </a:pPr>
            <a:r>
              <a:rPr lang="en-US" sz="800" dirty="0">
                <a:solidFill>
                  <a:srgbClr val="CADCFC"/>
                </a:solidFill>
                <a:latin typeface="Calibri" pitchFamily="34" charset="0"/>
                <a:ea typeface="Calibri" pitchFamily="34" charset="-122"/>
                <a:cs typeface="Calibri" pitchFamily="34" charset="-120"/>
              </a:rPr>
              <a:t>Gamma proxy</a:t>
            </a:r>
            <a:endParaRPr lang="en-US" sz="800" dirty="0"/>
          </a:p>
        </p:txBody>
      </p:sp>
      <p:sp>
        <p:nvSpPr>
          <p:cNvPr id="29" name="Shape 27"/>
          <p:cNvSpPr/>
          <p:nvPr/>
        </p:nvSpPr>
        <p:spPr>
          <a:xfrm>
            <a:off x="6199632" y="1536192"/>
            <a:ext cx="2688336" cy="256032"/>
          </a:xfrm>
          <a:prstGeom prst="rect">
            <a:avLst/>
          </a:prstGeom>
          <a:solidFill>
            <a:srgbClr val="F5F7FA"/>
          </a:solidFill>
          <a:ln w="12700">
            <a:solidFill>
              <a:srgbClr val="028090"/>
            </a:solidFill>
            <a:prstDash val="solid"/>
          </a:ln>
        </p:spPr>
      </p:sp>
      <p:sp>
        <p:nvSpPr>
          <p:cNvPr id="30" name="Text 28"/>
          <p:cNvSpPr/>
          <p:nvPr/>
        </p:nvSpPr>
        <p:spPr>
          <a:xfrm>
            <a:off x="6217920" y="1536192"/>
            <a:ext cx="2651760" cy="256032"/>
          </a:xfrm>
          <a:prstGeom prst="rect">
            <a:avLst/>
          </a:prstGeom>
          <a:noFill/>
          <a:ln/>
        </p:spPr>
        <p:txBody>
          <a:bodyPr wrap="square" rtlCol="0" anchor="ctr"/>
          <a:lstStyle/>
          <a:p>
            <a:pPr marL="0" indent="0">
              <a:buNone/>
            </a:pPr>
            <a:r>
              <a:rPr lang="en-US" sz="750" i="1" dirty="0">
                <a:solidFill>
                  <a:srgbClr val="1E2761"/>
                </a:solidFill>
                <a:latin typeface="Calibri" pitchFamily="34" charset="0"/>
                <a:ea typeface="Calibri" pitchFamily="34" charset="-122"/>
                <a:cs typeface="Calibri" pitchFamily="34" charset="-120"/>
              </a:rPr>
              <a:t>CVR_k = max(up shock P&amp;L − Δ adj., down shock − Δ adj.)</a:t>
            </a:r>
            <a:endParaRPr lang="en-US" sz="750" dirty="0"/>
          </a:p>
        </p:txBody>
      </p:sp>
      <p:sp>
        <p:nvSpPr>
          <p:cNvPr id="31" name="Text 29"/>
          <p:cNvSpPr/>
          <p:nvPr/>
        </p:nvSpPr>
        <p:spPr>
          <a:xfrm>
            <a:off x="6217920" y="1847088"/>
            <a:ext cx="2651760" cy="1335024"/>
          </a:xfrm>
          <a:prstGeom prst="rect">
            <a:avLst/>
          </a:prstGeom>
          <a:noFill/>
          <a:ln/>
        </p:spPr>
        <p:txBody>
          <a:bodyPr wrap="square" rtlCol="0" anchor="t"/>
          <a:lstStyle/>
          <a:p>
            <a:pPr marL="0" indent="0">
              <a:buNone/>
            </a:pPr>
            <a:r>
              <a:rPr lang="en-US" sz="850" dirty="0">
                <a:solidFill>
                  <a:srgbClr val="4A4A4A"/>
                </a:solidFill>
                <a:latin typeface="Calibri" pitchFamily="34" charset="0"/>
                <a:ea typeface="Calibri" pitchFamily="34" charset="-122"/>
                <a:cs typeface="Calibri" pitchFamily="34" charset="-120"/>
              </a:rPr>
              <a:t>Full reprice under ±RW_k shock minus delta adjustment. Proxies convexity for all non-linear positions.</a:t>
            </a:r>
            <a:endParaRPr lang="en-US" sz="850" dirty="0"/>
          </a:p>
        </p:txBody>
      </p:sp>
      <p:sp>
        <p:nvSpPr>
          <p:cNvPr id="32" name="Shape 30"/>
          <p:cNvSpPr/>
          <p:nvPr/>
        </p:nvSpPr>
        <p:spPr>
          <a:xfrm>
            <a:off x="9098280" y="1060704"/>
            <a:ext cx="2834640" cy="2194560"/>
          </a:xfrm>
          <a:prstGeom prst="rect">
            <a:avLst/>
          </a:prstGeom>
          <a:solidFill>
            <a:srgbClr val="FFFFFF"/>
          </a:solidFill>
          <a:ln w="12700">
            <a:solidFill>
              <a:srgbClr val="DEE3ED"/>
            </a:solidFill>
            <a:prstDash val="solid"/>
          </a:ln>
          <a:effectLst>
            <a:outerShdw blurRad="63500" dist="25400" dir="8100000" algn="bl" rotWithShape="0">
              <a:srgbClr val="000000">
                <a:alpha val="10000"/>
              </a:srgbClr>
            </a:outerShdw>
          </a:effectLst>
        </p:spPr>
      </p:sp>
      <p:sp>
        <p:nvSpPr>
          <p:cNvPr id="33" name="Shape 31"/>
          <p:cNvSpPr/>
          <p:nvPr/>
        </p:nvSpPr>
        <p:spPr>
          <a:xfrm>
            <a:off x="9098280" y="1060704"/>
            <a:ext cx="2834640" cy="420624"/>
          </a:xfrm>
          <a:prstGeom prst="rect">
            <a:avLst/>
          </a:prstGeom>
          <a:solidFill>
            <a:srgbClr val="1E2761"/>
          </a:solidFill>
          <a:ln w="12700">
            <a:solidFill>
              <a:srgbClr val="1E2761"/>
            </a:solidFill>
            <a:prstDash val="solid"/>
          </a:ln>
        </p:spPr>
      </p:sp>
      <p:sp>
        <p:nvSpPr>
          <p:cNvPr id="34" name="Text 32"/>
          <p:cNvSpPr/>
          <p:nvPr/>
        </p:nvSpPr>
        <p:spPr>
          <a:xfrm>
            <a:off x="9171432" y="1097280"/>
            <a:ext cx="2743200" cy="20116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CS01</a:t>
            </a:r>
            <a:endParaRPr lang="en-US" sz="1000" dirty="0"/>
          </a:p>
        </p:txBody>
      </p:sp>
      <p:sp>
        <p:nvSpPr>
          <p:cNvPr id="35" name="Text 33"/>
          <p:cNvSpPr/>
          <p:nvPr/>
        </p:nvSpPr>
        <p:spPr>
          <a:xfrm>
            <a:off x="9171432" y="1298448"/>
            <a:ext cx="2743200" cy="164592"/>
          </a:xfrm>
          <a:prstGeom prst="rect">
            <a:avLst/>
          </a:prstGeom>
          <a:noFill/>
          <a:ln/>
        </p:spPr>
        <p:txBody>
          <a:bodyPr wrap="square" rtlCol="0" anchor="ctr"/>
          <a:lstStyle/>
          <a:p>
            <a:pPr marL="0" indent="0">
              <a:buNone/>
            </a:pPr>
            <a:r>
              <a:rPr lang="en-US" sz="800" dirty="0">
                <a:solidFill>
                  <a:srgbClr val="CADCFC"/>
                </a:solidFill>
                <a:latin typeface="Calibri" pitchFamily="34" charset="0"/>
                <a:ea typeface="Calibri" pitchFamily="34" charset="-122"/>
                <a:cs typeface="Calibri" pitchFamily="34" charset="-120"/>
              </a:rPr>
              <a:t>Credit spread sensitivity</a:t>
            </a:r>
            <a:endParaRPr lang="en-US" sz="800" dirty="0"/>
          </a:p>
        </p:txBody>
      </p:sp>
      <p:sp>
        <p:nvSpPr>
          <p:cNvPr id="36" name="Shape 34"/>
          <p:cNvSpPr/>
          <p:nvPr/>
        </p:nvSpPr>
        <p:spPr>
          <a:xfrm>
            <a:off x="9171432" y="1536192"/>
            <a:ext cx="2688336" cy="256032"/>
          </a:xfrm>
          <a:prstGeom prst="rect">
            <a:avLst/>
          </a:prstGeom>
          <a:solidFill>
            <a:srgbClr val="F5F7FA"/>
          </a:solidFill>
          <a:ln w="12700">
            <a:solidFill>
              <a:srgbClr val="028090"/>
            </a:solidFill>
            <a:prstDash val="solid"/>
          </a:ln>
        </p:spPr>
      </p:sp>
      <p:sp>
        <p:nvSpPr>
          <p:cNvPr id="37" name="Text 35"/>
          <p:cNvSpPr/>
          <p:nvPr/>
        </p:nvSpPr>
        <p:spPr>
          <a:xfrm>
            <a:off x="9189720" y="1536192"/>
            <a:ext cx="2651760" cy="256032"/>
          </a:xfrm>
          <a:prstGeom prst="rect">
            <a:avLst/>
          </a:prstGeom>
          <a:noFill/>
          <a:ln/>
        </p:spPr>
        <p:txBody>
          <a:bodyPr wrap="square" rtlCol="0" anchor="ctr"/>
          <a:lstStyle/>
          <a:p>
            <a:pPr marL="0" indent="0">
              <a:buNone/>
            </a:pPr>
            <a:r>
              <a:rPr lang="en-US" sz="750" i="1" dirty="0">
                <a:solidFill>
                  <a:srgbClr val="1E2761"/>
                </a:solidFill>
                <a:latin typeface="Calibri" pitchFamily="34" charset="0"/>
                <a:ea typeface="Calibri" pitchFamily="34" charset="-122"/>
                <a:cs typeface="Calibri" pitchFamily="34" charset="-120"/>
              </a:rPr>
              <a:t>CS01_k = ∂V/∂cs_k × 0.0001</a:t>
            </a:r>
            <a:endParaRPr lang="en-US" sz="750" dirty="0"/>
          </a:p>
        </p:txBody>
      </p:sp>
      <p:sp>
        <p:nvSpPr>
          <p:cNvPr id="38" name="Text 36"/>
          <p:cNvSpPr/>
          <p:nvPr/>
        </p:nvSpPr>
        <p:spPr>
          <a:xfrm>
            <a:off x="9189720" y="1847088"/>
            <a:ext cx="2651760" cy="1335024"/>
          </a:xfrm>
          <a:prstGeom prst="rect">
            <a:avLst/>
          </a:prstGeom>
          <a:noFill/>
          <a:ln/>
        </p:spPr>
        <p:txBody>
          <a:bodyPr wrap="square" rtlCol="0" anchor="t"/>
          <a:lstStyle/>
          <a:p>
            <a:pPr marL="0" indent="0">
              <a:buNone/>
            </a:pPr>
            <a:r>
              <a:rPr lang="en-US" sz="850" dirty="0">
                <a:solidFill>
                  <a:srgbClr val="4A4A4A"/>
                </a:solidFill>
                <a:latin typeface="Calibri" pitchFamily="34" charset="0"/>
                <a:ea typeface="Calibri" pitchFamily="34" charset="-122"/>
                <a:cs typeface="Calibri" pitchFamily="34" charset="-120"/>
              </a:rPr>
              <a:t>1bp credit spread move at tenor k (0.5y→10y) per reference name. CDS, CLN, CVA positions.</a:t>
            </a:r>
            <a:endParaRPr lang="en-US" sz="850" dirty="0"/>
          </a:p>
        </p:txBody>
      </p:sp>
      <p:sp>
        <p:nvSpPr>
          <p:cNvPr id="39" name="Shape 37"/>
          <p:cNvSpPr/>
          <p:nvPr/>
        </p:nvSpPr>
        <p:spPr>
          <a:xfrm>
            <a:off x="182880" y="3401568"/>
            <a:ext cx="11795760" cy="347472"/>
          </a:xfrm>
          <a:prstGeom prst="rect">
            <a:avLst/>
          </a:prstGeom>
          <a:solidFill>
            <a:srgbClr val="028090"/>
          </a:solidFill>
          <a:ln w="12700">
            <a:solidFill>
              <a:srgbClr val="028090"/>
            </a:solidFill>
            <a:prstDash val="solid"/>
          </a:ln>
        </p:spPr>
      </p:sp>
      <p:sp>
        <p:nvSpPr>
          <p:cNvPr id="40" name="Text 38"/>
          <p:cNvSpPr/>
          <p:nvPr/>
        </p:nvSpPr>
        <p:spPr>
          <a:xfrm>
            <a:off x="292608" y="3419856"/>
            <a:ext cx="11521440" cy="31089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xVA Sensitivities — Portfolio-Level Greeks</a:t>
            </a:r>
            <a:endParaRPr lang="en-US" sz="1100" dirty="0"/>
          </a:p>
        </p:txBody>
      </p:sp>
      <p:sp>
        <p:nvSpPr>
          <p:cNvPr id="41" name="Shape 39"/>
          <p:cNvSpPr/>
          <p:nvPr/>
        </p:nvSpPr>
        <p:spPr>
          <a:xfrm>
            <a:off x="182880" y="3785616"/>
            <a:ext cx="2011680" cy="274320"/>
          </a:xfrm>
          <a:prstGeom prst="rect">
            <a:avLst/>
          </a:prstGeom>
          <a:solidFill>
            <a:srgbClr val="1E2761"/>
          </a:solidFill>
          <a:ln w="12700">
            <a:solidFill>
              <a:srgbClr val="1E2761"/>
            </a:solidFill>
            <a:prstDash val="solid"/>
          </a:ln>
        </p:spPr>
      </p:sp>
      <p:sp>
        <p:nvSpPr>
          <p:cNvPr id="42" name="Text 40"/>
          <p:cNvSpPr/>
          <p:nvPr/>
        </p:nvSpPr>
        <p:spPr>
          <a:xfrm>
            <a:off x="219456" y="3785616"/>
            <a:ext cx="1938528" cy="274320"/>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xVA Greek</a:t>
            </a:r>
            <a:endParaRPr lang="en-US" sz="800" dirty="0"/>
          </a:p>
        </p:txBody>
      </p:sp>
      <p:sp>
        <p:nvSpPr>
          <p:cNvPr id="43" name="Shape 41"/>
          <p:cNvSpPr/>
          <p:nvPr/>
        </p:nvSpPr>
        <p:spPr>
          <a:xfrm>
            <a:off x="2194560" y="3785616"/>
            <a:ext cx="2560320" cy="274320"/>
          </a:xfrm>
          <a:prstGeom prst="rect">
            <a:avLst/>
          </a:prstGeom>
          <a:solidFill>
            <a:srgbClr val="1E2761"/>
          </a:solidFill>
          <a:ln w="12700">
            <a:solidFill>
              <a:srgbClr val="1E2761"/>
            </a:solidFill>
            <a:prstDash val="solid"/>
          </a:ln>
        </p:spPr>
      </p:sp>
      <p:sp>
        <p:nvSpPr>
          <p:cNvPr id="44" name="Text 42"/>
          <p:cNvSpPr/>
          <p:nvPr/>
        </p:nvSpPr>
        <p:spPr>
          <a:xfrm>
            <a:off x="2231136" y="3785616"/>
            <a:ext cx="2487168" cy="274320"/>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Formula</a:t>
            </a:r>
            <a:endParaRPr lang="en-US" sz="800" dirty="0"/>
          </a:p>
        </p:txBody>
      </p:sp>
      <p:sp>
        <p:nvSpPr>
          <p:cNvPr id="45" name="Shape 43"/>
          <p:cNvSpPr/>
          <p:nvPr/>
        </p:nvSpPr>
        <p:spPr>
          <a:xfrm>
            <a:off x="4754880" y="3785616"/>
            <a:ext cx="3291840" cy="274320"/>
          </a:xfrm>
          <a:prstGeom prst="rect">
            <a:avLst/>
          </a:prstGeom>
          <a:solidFill>
            <a:srgbClr val="1E2761"/>
          </a:solidFill>
          <a:ln w="12700">
            <a:solidFill>
              <a:srgbClr val="1E2761"/>
            </a:solidFill>
            <a:prstDash val="solid"/>
          </a:ln>
        </p:spPr>
      </p:sp>
      <p:sp>
        <p:nvSpPr>
          <p:cNvPr id="46" name="Text 44"/>
          <p:cNvSpPr/>
          <p:nvPr/>
        </p:nvSpPr>
        <p:spPr>
          <a:xfrm>
            <a:off x="4791456" y="3785616"/>
            <a:ext cx="3218688" cy="274320"/>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Definition</a:t>
            </a:r>
            <a:endParaRPr lang="en-US" sz="800" dirty="0"/>
          </a:p>
        </p:txBody>
      </p:sp>
      <p:sp>
        <p:nvSpPr>
          <p:cNvPr id="47" name="Shape 45"/>
          <p:cNvSpPr/>
          <p:nvPr/>
        </p:nvSpPr>
        <p:spPr>
          <a:xfrm>
            <a:off x="8046720" y="3785616"/>
            <a:ext cx="2377440" cy="274320"/>
          </a:xfrm>
          <a:prstGeom prst="rect">
            <a:avLst/>
          </a:prstGeom>
          <a:solidFill>
            <a:srgbClr val="1E2761"/>
          </a:solidFill>
          <a:ln w="12700">
            <a:solidFill>
              <a:srgbClr val="1E2761"/>
            </a:solidFill>
            <a:prstDash val="solid"/>
          </a:ln>
        </p:spPr>
      </p:sp>
      <p:sp>
        <p:nvSpPr>
          <p:cNvPr id="48" name="Text 46"/>
          <p:cNvSpPr/>
          <p:nvPr/>
        </p:nvSpPr>
        <p:spPr>
          <a:xfrm>
            <a:off x="8083296" y="3785616"/>
            <a:ext cx="2304288" cy="274320"/>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Source</a:t>
            </a:r>
            <a:endParaRPr lang="en-US" sz="800" dirty="0"/>
          </a:p>
        </p:txBody>
      </p:sp>
      <p:sp>
        <p:nvSpPr>
          <p:cNvPr id="49" name="Shape 47"/>
          <p:cNvSpPr/>
          <p:nvPr/>
        </p:nvSpPr>
        <p:spPr>
          <a:xfrm>
            <a:off x="10424160" y="3785616"/>
            <a:ext cx="914400" cy="274320"/>
          </a:xfrm>
          <a:prstGeom prst="rect">
            <a:avLst/>
          </a:prstGeom>
          <a:solidFill>
            <a:srgbClr val="1E2761"/>
          </a:solidFill>
          <a:ln w="12700">
            <a:solidFill>
              <a:srgbClr val="1E2761"/>
            </a:solidFill>
            <a:prstDash val="solid"/>
          </a:ln>
        </p:spPr>
      </p:sp>
      <p:sp>
        <p:nvSpPr>
          <p:cNvPr id="50" name="Text 48"/>
          <p:cNvSpPr/>
          <p:nvPr/>
        </p:nvSpPr>
        <p:spPr>
          <a:xfrm>
            <a:off x="10460736" y="3785616"/>
            <a:ext cx="841248" cy="274320"/>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Module</a:t>
            </a:r>
            <a:endParaRPr lang="en-US" sz="800" dirty="0"/>
          </a:p>
        </p:txBody>
      </p:sp>
      <p:sp>
        <p:nvSpPr>
          <p:cNvPr id="51" name="Shape 49"/>
          <p:cNvSpPr/>
          <p:nvPr/>
        </p:nvSpPr>
        <p:spPr>
          <a:xfrm>
            <a:off x="182880" y="4078224"/>
            <a:ext cx="2011680" cy="438912"/>
          </a:xfrm>
          <a:prstGeom prst="rect">
            <a:avLst/>
          </a:prstGeom>
          <a:solidFill>
            <a:srgbClr val="FFFFFF"/>
          </a:solidFill>
          <a:ln w="12700">
            <a:solidFill>
              <a:srgbClr val="DEE3ED"/>
            </a:solidFill>
            <a:prstDash val="solid"/>
          </a:ln>
        </p:spPr>
      </p:sp>
      <p:sp>
        <p:nvSpPr>
          <p:cNvPr id="52" name="Text 50"/>
          <p:cNvSpPr/>
          <p:nvPr/>
        </p:nvSpPr>
        <p:spPr>
          <a:xfrm>
            <a:off x="228600" y="4078224"/>
            <a:ext cx="1920240" cy="438912"/>
          </a:xfrm>
          <a:prstGeom prst="rect">
            <a:avLst/>
          </a:prstGeom>
          <a:noFill/>
          <a:ln/>
        </p:spPr>
        <p:txBody>
          <a:bodyPr wrap="square" rtlCol="0" anchor="ctr"/>
          <a:lstStyle/>
          <a:p>
            <a:pPr marL="0" indent="0">
              <a:buNone/>
            </a:pPr>
            <a:r>
              <a:rPr lang="en-US" sz="850" b="1" dirty="0">
                <a:solidFill>
                  <a:srgbClr val="1E2761"/>
                </a:solidFill>
                <a:latin typeface="Calibri" pitchFamily="34" charset="0"/>
                <a:ea typeface="Calibri" pitchFamily="34" charset="-122"/>
                <a:cs typeface="Calibri" pitchFamily="34" charset="-120"/>
              </a:rPr>
              <a:t>CVA Delta</a:t>
            </a:r>
            <a:endParaRPr lang="en-US" sz="850" dirty="0"/>
          </a:p>
        </p:txBody>
      </p:sp>
      <p:sp>
        <p:nvSpPr>
          <p:cNvPr id="53" name="Shape 51"/>
          <p:cNvSpPr/>
          <p:nvPr/>
        </p:nvSpPr>
        <p:spPr>
          <a:xfrm>
            <a:off x="2194560" y="4078224"/>
            <a:ext cx="2560320" cy="438912"/>
          </a:xfrm>
          <a:prstGeom prst="rect">
            <a:avLst/>
          </a:prstGeom>
          <a:solidFill>
            <a:srgbClr val="FFFFFF"/>
          </a:solidFill>
          <a:ln w="12700">
            <a:solidFill>
              <a:srgbClr val="DEE3ED"/>
            </a:solidFill>
            <a:prstDash val="solid"/>
          </a:ln>
        </p:spPr>
      </p:sp>
      <p:sp>
        <p:nvSpPr>
          <p:cNvPr id="54" name="Text 52"/>
          <p:cNvSpPr/>
          <p:nvPr/>
        </p:nvSpPr>
        <p:spPr>
          <a:xfrm>
            <a:off x="2240280" y="4078224"/>
            <a:ext cx="246888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∂CVA/∂cs × 0.0001</a:t>
            </a:r>
            <a:endParaRPr lang="en-US" sz="800" dirty="0"/>
          </a:p>
        </p:txBody>
      </p:sp>
      <p:sp>
        <p:nvSpPr>
          <p:cNvPr id="55" name="Shape 53"/>
          <p:cNvSpPr/>
          <p:nvPr/>
        </p:nvSpPr>
        <p:spPr>
          <a:xfrm>
            <a:off x="4754880" y="4078224"/>
            <a:ext cx="3291840" cy="438912"/>
          </a:xfrm>
          <a:prstGeom prst="rect">
            <a:avLst/>
          </a:prstGeom>
          <a:solidFill>
            <a:srgbClr val="FFFFFF"/>
          </a:solidFill>
          <a:ln w="12700">
            <a:solidFill>
              <a:srgbClr val="DEE3ED"/>
            </a:solidFill>
            <a:prstDash val="solid"/>
          </a:ln>
        </p:spPr>
      </p:sp>
      <p:sp>
        <p:nvSpPr>
          <p:cNvPr id="56" name="Text 54"/>
          <p:cNvSpPr/>
          <p:nvPr/>
        </p:nvSpPr>
        <p:spPr>
          <a:xfrm>
            <a:off x="4800600" y="4078224"/>
            <a:ext cx="320040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1bp move in counterparty CDS spread. Primary CVA hedge ratio.</a:t>
            </a:r>
            <a:endParaRPr lang="en-US" sz="800" dirty="0"/>
          </a:p>
        </p:txBody>
      </p:sp>
      <p:sp>
        <p:nvSpPr>
          <p:cNvPr id="57" name="Shape 55"/>
          <p:cNvSpPr/>
          <p:nvPr/>
        </p:nvSpPr>
        <p:spPr>
          <a:xfrm>
            <a:off x="8046720" y="4078224"/>
            <a:ext cx="2377440" cy="438912"/>
          </a:xfrm>
          <a:prstGeom prst="rect">
            <a:avLst/>
          </a:prstGeom>
          <a:solidFill>
            <a:srgbClr val="FFFFFF"/>
          </a:solidFill>
          <a:ln w="12700">
            <a:solidFill>
              <a:srgbClr val="DEE3ED"/>
            </a:solidFill>
            <a:prstDash val="solid"/>
          </a:ln>
        </p:spPr>
      </p:sp>
      <p:sp>
        <p:nvSpPr>
          <p:cNvPr id="58" name="Text 56"/>
          <p:cNvSpPr/>
          <p:nvPr/>
        </p:nvSpPr>
        <p:spPr>
          <a:xfrm>
            <a:off x="8092440" y="4078224"/>
            <a:ext cx="228600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MC / CS01 of EE profile</a:t>
            </a:r>
            <a:endParaRPr lang="en-US" sz="800" dirty="0"/>
          </a:p>
        </p:txBody>
      </p:sp>
      <p:sp>
        <p:nvSpPr>
          <p:cNvPr id="59" name="Shape 57"/>
          <p:cNvSpPr/>
          <p:nvPr/>
        </p:nvSpPr>
        <p:spPr>
          <a:xfrm>
            <a:off x="10424160" y="4078224"/>
            <a:ext cx="914400" cy="438912"/>
          </a:xfrm>
          <a:prstGeom prst="rect">
            <a:avLst/>
          </a:prstGeom>
          <a:solidFill>
            <a:srgbClr val="FFFFFF"/>
          </a:solidFill>
          <a:ln w="12700">
            <a:solidFill>
              <a:srgbClr val="DEE3ED"/>
            </a:solidFill>
            <a:prstDash val="solid"/>
          </a:ln>
        </p:spPr>
      </p:sp>
      <p:sp>
        <p:nvSpPr>
          <p:cNvPr id="60" name="Text 58"/>
          <p:cNvSpPr/>
          <p:nvPr/>
        </p:nvSpPr>
        <p:spPr>
          <a:xfrm>
            <a:off x="10469880" y="4078224"/>
            <a:ext cx="82296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Mod 3</a:t>
            </a:r>
            <a:endParaRPr lang="en-US" sz="800" dirty="0"/>
          </a:p>
        </p:txBody>
      </p:sp>
      <p:sp>
        <p:nvSpPr>
          <p:cNvPr id="61" name="Shape 59"/>
          <p:cNvSpPr/>
          <p:nvPr/>
        </p:nvSpPr>
        <p:spPr>
          <a:xfrm>
            <a:off x="182880" y="4535424"/>
            <a:ext cx="2011680" cy="438912"/>
          </a:xfrm>
          <a:prstGeom prst="rect">
            <a:avLst/>
          </a:prstGeom>
          <a:solidFill>
            <a:srgbClr val="F5F7FA"/>
          </a:solidFill>
          <a:ln w="12700">
            <a:solidFill>
              <a:srgbClr val="DEE3ED"/>
            </a:solidFill>
            <a:prstDash val="solid"/>
          </a:ln>
        </p:spPr>
      </p:sp>
      <p:sp>
        <p:nvSpPr>
          <p:cNvPr id="62" name="Text 60"/>
          <p:cNvSpPr/>
          <p:nvPr/>
        </p:nvSpPr>
        <p:spPr>
          <a:xfrm>
            <a:off x="228600" y="4535424"/>
            <a:ext cx="1920240" cy="438912"/>
          </a:xfrm>
          <a:prstGeom prst="rect">
            <a:avLst/>
          </a:prstGeom>
          <a:noFill/>
          <a:ln/>
        </p:spPr>
        <p:txBody>
          <a:bodyPr wrap="square" rtlCol="0" anchor="ctr"/>
          <a:lstStyle/>
          <a:p>
            <a:pPr marL="0" indent="0">
              <a:buNone/>
            </a:pPr>
            <a:r>
              <a:rPr lang="en-US" sz="850" b="1" dirty="0">
                <a:solidFill>
                  <a:srgbClr val="1E2761"/>
                </a:solidFill>
                <a:latin typeface="Calibri" pitchFamily="34" charset="0"/>
                <a:ea typeface="Calibri" pitchFamily="34" charset="-122"/>
                <a:cs typeface="Calibri" pitchFamily="34" charset="-120"/>
              </a:rPr>
              <a:t>CVA Vega</a:t>
            </a:r>
            <a:endParaRPr lang="en-US" sz="850" dirty="0"/>
          </a:p>
        </p:txBody>
      </p:sp>
      <p:sp>
        <p:nvSpPr>
          <p:cNvPr id="63" name="Shape 61"/>
          <p:cNvSpPr/>
          <p:nvPr/>
        </p:nvSpPr>
        <p:spPr>
          <a:xfrm>
            <a:off x="2194560" y="4535424"/>
            <a:ext cx="2560320" cy="438912"/>
          </a:xfrm>
          <a:prstGeom prst="rect">
            <a:avLst/>
          </a:prstGeom>
          <a:solidFill>
            <a:srgbClr val="F5F7FA"/>
          </a:solidFill>
          <a:ln w="12700">
            <a:solidFill>
              <a:srgbClr val="DEE3ED"/>
            </a:solidFill>
            <a:prstDash val="solid"/>
          </a:ln>
        </p:spPr>
      </p:sp>
      <p:sp>
        <p:nvSpPr>
          <p:cNvPr id="64" name="Text 62"/>
          <p:cNvSpPr/>
          <p:nvPr/>
        </p:nvSpPr>
        <p:spPr>
          <a:xfrm>
            <a:off x="2240280" y="4535424"/>
            <a:ext cx="246888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∂CVA/∂σ_market</a:t>
            </a:r>
            <a:endParaRPr lang="en-US" sz="800" dirty="0"/>
          </a:p>
        </p:txBody>
      </p:sp>
      <p:sp>
        <p:nvSpPr>
          <p:cNvPr id="65" name="Shape 63"/>
          <p:cNvSpPr/>
          <p:nvPr/>
        </p:nvSpPr>
        <p:spPr>
          <a:xfrm>
            <a:off x="4754880" y="4535424"/>
            <a:ext cx="3291840" cy="438912"/>
          </a:xfrm>
          <a:prstGeom prst="rect">
            <a:avLst/>
          </a:prstGeom>
          <a:solidFill>
            <a:srgbClr val="F5F7FA"/>
          </a:solidFill>
          <a:ln w="12700">
            <a:solidFill>
              <a:srgbClr val="DEE3ED"/>
            </a:solidFill>
            <a:prstDash val="solid"/>
          </a:ln>
        </p:spPr>
      </p:sp>
      <p:sp>
        <p:nvSpPr>
          <p:cNvPr id="66" name="Text 64"/>
          <p:cNvSpPr/>
          <p:nvPr/>
        </p:nvSpPr>
        <p:spPr>
          <a:xfrm>
            <a:off x="4800600" y="4535424"/>
            <a:ext cx="320040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Sensitivity to implied vol of underlying trades.</a:t>
            </a:r>
            <a:endParaRPr lang="en-US" sz="800" dirty="0"/>
          </a:p>
        </p:txBody>
      </p:sp>
      <p:sp>
        <p:nvSpPr>
          <p:cNvPr id="67" name="Shape 65"/>
          <p:cNvSpPr/>
          <p:nvPr/>
        </p:nvSpPr>
        <p:spPr>
          <a:xfrm>
            <a:off x="8046720" y="4535424"/>
            <a:ext cx="2377440" cy="438912"/>
          </a:xfrm>
          <a:prstGeom prst="rect">
            <a:avLst/>
          </a:prstGeom>
          <a:solidFill>
            <a:srgbClr val="F5F7FA"/>
          </a:solidFill>
          <a:ln w="12700">
            <a:solidFill>
              <a:srgbClr val="DEE3ED"/>
            </a:solidFill>
            <a:prstDash val="solid"/>
          </a:ln>
        </p:spPr>
      </p:sp>
      <p:sp>
        <p:nvSpPr>
          <p:cNvPr id="68" name="Text 66"/>
          <p:cNvSpPr/>
          <p:nvPr/>
        </p:nvSpPr>
        <p:spPr>
          <a:xfrm>
            <a:off x="8092440" y="4535424"/>
            <a:ext cx="228600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Vol surface bump in exposure model</a:t>
            </a:r>
            <a:endParaRPr lang="en-US" sz="800" dirty="0"/>
          </a:p>
        </p:txBody>
      </p:sp>
      <p:sp>
        <p:nvSpPr>
          <p:cNvPr id="69" name="Shape 67"/>
          <p:cNvSpPr/>
          <p:nvPr/>
        </p:nvSpPr>
        <p:spPr>
          <a:xfrm>
            <a:off x="10424160" y="4535424"/>
            <a:ext cx="914400" cy="438912"/>
          </a:xfrm>
          <a:prstGeom prst="rect">
            <a:avLst/>
          </a:prstGeom>
          <a:solidFill>
            <a:srgbClr val="F5F7FA"/>
          </a:solidFill>
          <a:ln w="12700">
            <a:solidFill>
              <a:srgbClr val="DEE3ED"/>
            </a:solidFill>
            <a:prstDash val="solid"/>
          </a:ln>
        </p:spPr>
      </p:sp>
      <p:sp>
        <p:nvSpPr>
          <p:cNvPr id="70" name="Text 68"/>
          <p:cNvSpPr/>
          <p:nvPr/>
        </p:nvSpPr>
        <p:spPr>
          <a:xfrm>
            <a:off x="10469880" y="4535424"/>
            <a:ext cx="82296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Mod 3</a:t>
            </a:r>
            <a:endParaRPr lang="en-US" sz="800" dirty="0"/>
          </a:p>
        </p:txBody>
      </p:sp>
      <p:sp>
        <p:nvSpPr>
          <p:cNvPr id="71" name="Shape 69"/>
          <p:cNvSpPr/>
          <p:nvPr/>
        </p:nvSpPr>
        <p:spPr>
          <a:xfrm>
            <a:off x="182880" y="4992624"/>
            <a:ext cx="2011680" cy="438912"/>
          </a:xfrm>
          <a:prstGeom prst="rect">
            <a:avLst/>
          </a:prstGeom>
          <a:solidFill>
            <a:srgbClr val="FFFFFF"/>
          </a:solidFill>
          <a:ln w="12700">
            <a:solidFill>
              <a:srgbClr val="DEE3ED"/>
            </a:solidFill>
            <a:prstDash val="solid"/>
          </a:ln>
        </p:spPr>
      </p:sp>
      <p:sp>
        <p:nvSpPr>
          <p:cNvPr id="72" name="Text 70"/>
          <p:cNvSpPr/>
          <p:nvPr/>
        </p:nvSpPr>
        <p:spPr>
          <a:xfrm>
            <a:off x="228600" y="4992624"/>
            <a:ext cx="1920240" cy="438912"/>
          </a:xfrm>
          <a:prstGeom prst="rect">
            <a:avLst/>
          </a:prstGeom>
          <a:noFill/>
          <a:ln/>
        </p:spPr>
        <p:txBody>
          <a:bodyPr wrap="square" rtlCol="0" anchor="ctr"/>
          <a:lstStyle/>
          <a:p>
            <a:pPr marL="0" indent="0">
              <a:buNone/>
            </a:pPr>
            <a:r>
              <a:rPr lang="en-US" sz="850" b="1" dirty="0">
                <a:solidFill>
                  <a:srgbClr val="1E2761"/>
                </a:solidFill>
                <a:latin typeface="Calibri" pitchFamily="34" charset="0"/>
                <a:ea typeface="Calibri" pitchFamily="34" charset="-122"/>
                <a:cs typeface="Calibri" pitchFamily="34" charset="-120"/>
              </a:rPr>
              <a:t>FVA Delta</a:t>
            </a:r>
            <a:endParaRPr lang="en-US" sz="850" dirty="0"/>
          </a:p>
        </p:txBody>
      </p:sp>
      <p:sp>
        <p:nvSpPr>
          <p:cNvPr id="73" name="Shape 71"/>
          <p:cNvSpPr/>
          <p:nvPr/>
        </p:nvSpPr>
        <p:spPr>
          <a:xfrm>
            <a:off x="2194560" y="4992624"/>
            <a:ext cx="2560320" cy="438912"/>
          </a:xfrm>
          <a:prstGeom prst="rect">
            <a:avLst/>
          </a:prstGeom>
          <a:solidFill>
            <a:srgbClr val="FFFFFF"/>
          </a:solidFill>
          <a:ln w="12700">
            <a:solidFill>
              <a:srgbClr val="DEE3ED"/>
            </a:solidFill>
            <a:prstDash val="solid"/>
          </a:ln>
        </p:spPr>
      </p:sp>
      <p:sp>
        <p:nvSpPr>
          <p:cNvPr id="74" name="Text 72"/>
          <p:cNvSpPr/>
          <p:nvPr/>
        </p:nvSpPr>
        <p:spPr>
          <a:xfrm>
            <a:off x="2240280" y="4992624"/>
            <a:ext cx="246888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∂FVA/∂s_fund</a:t>
            </a:r>
            <a:endParaRPr lang="en-US" sz="800" dirty="0"/>
          </a:p>
        </p:txBody>
      </p:sp>
      <p:sp>
        <p:nvSpPr>
          <p:cNvPr id="75" name="Shape 73"/>
          <p:cNvSpPr/>
          <p:nvPr/>
        </p:nvSpPr>
        <p:spPr>
          <a:xfrm>
            <a:off x="4754880" y="4992624"/>
            <a:ext cx="3291840" cy="438912"/>
          </a:xfrm>
          <a:prstGeom prst="rect">
            <a:avLst/>
          </a:prstGeom>
          <a:solidFill>
            <a:srgbClr val="FFFFFF"/>
          </a:solidFill>
          <a:ln w="12700">
            <a:solidFill>
              <a:srgbClr val="DEE3ED"/>
            </a:solidFill>
            <a:prstDash val="solid"/>
          </a:ln>
        </p:spPr>
      </p:sp>
      <p:sp>
        <p:nvSpPr>
          <p:cNvPr id="76" name="Text 74"/>
          <p:cNvSpPr/>
          <p:nvPr/>
        </p:nvSpPr>
        <p:spPr>
          <a:xfrm>
            <a:off x="4800600" y="4992624"/>
            <a:ext cx="320040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1bp move in bank's own funding spread.</a:t>
            </a:r>
            <a:endParaRPr lang="en-US" sz="800" dirty="0"/>
          </a:p>
        </p:txBody>
      </p:sp>
      <p:sp>
        <p:nvSpPr>
          <p:cNvPr id="77" name="Shape 75"/>
          <p:cNvSpPr/>
          <p:nvPr/>
        </p:nvSpPr>
        <p:spPr>
          <a:xfrm>
            <a:off x="8046720" y="4992624"/>
            <a:ext cx="2377440" cy="438912"/>
          </a:xfrm>
          <a:prstGeom prst="rect">
            <a:avLst/>
          </a:prstGeom>
          <a:solidFill>
            <a:srgbClr val="FFFFFF"/>
          </a:solidFill>
          <a:ln w="12700">
            <a:solidFill>
              <a:srgbClr val="DEE3ED"/>
            </a:solidFill>
            <a:prstDash val="solid"/>
          </a:ln>
        </p:spPr>
      </p:sp>
      <p:sp>
        <p:nvSpPr>
          <p:cNvPr id="78" name="Text 76"/>
          <p:cNvSpPr/>
          <p:nvPr/>
        </p:nvSpPr>
        <p:spPr>
          <a:xfrm>
            <a:off x="8092440" y="4992624"/>
            <a:ext cx="228600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Simulation / semi-analytic</a:t>
            </a:r>
            <a:endParaRPr lang="en-US" sz="800" dirty="0"/>
          </a:p>
        </p:txBody>
      </p:sp>
      <p:sp>
        <p:nvSpPr>
          <p:cNvPr id="79" name="Shape 77"/>
          <p:cNvSpPr/>
          <p:nvPr/>
        </p:nvSpPr>
        <p:spPr>
          <a:xfrm>
            <a:off x="10424160" y="4992624"/>
            <a:ext cx="914400" cy="438912"/>
          </a:xfrm>
          <a:prstGeom prst="rect">
            <a:avLst/>
          </a:prstGeom>
          <a:solidFill>
            <a:srgbClr val="FFFFFF"/>
          </a:solidFill>
          <a:ln w="12700">
            <a:solidFill>
              <a:srgbClr val="DEE3ED"/>
            </a:solidFill>
            <a:prstDash val="solid"/>
          </a:ln>
        </p:spPr>
      </p:sp>
      <p:sp>
        <p:nvSpPr>
          <p:cNvPr id="80" name="Text 78"/>
          <p:cNvSpPr/>
          <p:nvPr/>
        </p:nvSpPr>
        <p:spPr>
          <a:xfrm>
            <a:off x="10469880" y="4992624"/>
            <a:ext cx="82296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Mod 4</a:t>
            </a:r>
            <a:endParaRPr lang="en-US" sz="800" dirty="0"/>
          </a:p>
        </p:txBody>
      </p:sp>
      <p:sp>
        <p:nvSpPr>
          <p:cNvPr id="81" name="Shape 79"/>
          <p:cNvSpPr/>
          <p:nvPr/>
        </p:nvSpPr>
        <p:spPr>
          <a:xfrm>
            <a:off x="182880" y="5449824"/>
            <a:ext cx="2011680" cy="438912"/>
          </a:xfrm>
          <a:prstGeom prst="rect">
            <a:avLst/>
          </a:prstGeom>
          <a:solidFill>
            <a:srgbClr val="F5F7FA"/>
          </a:solidFill>
          <a:ln w="12700">
            <a:solidFill>
              <a:srgbClr val="DEE3ED"/>
            </a:solidFill>
            <a:prstDash val="solid"/>
          </a:ln>
        </p:spPr>
      </p:sp>
      <p:sp>
        <p:nvSpPr>
          <p:cNvPr id="82" name="Text 80"/>
          <p:cNvSpPr/>
          <p:nvPr/>
        </p:nvSpPr>
        <p:spPr>
          <a:xfrm>
            <a:off x="228600" y="5449824"/>
            <a:ext cx="1920240" cy="438912"/>
          </a:xfrm>
          <a:prstGeom prst="rect">
            <a:avLst/>
          </a:prstGeom>
          <a:noFill/>
          <a:ln/>
        </p:spPr>
        <p:txBody>
          <a:bodyPr wrap="square" rtlCol="0" anchor="ctr"/>
          <a:lstStyle/>
          <a:p>
            <a:pPr marL="0" indent="0">
              <a:buNone/>
            </a:pPr>
            <a:r>
              <a:rPr lang="en-US" sz="850" b="1" dirty="0">
                <a:solidFill>
                  <a:srgbClr val="1E2761"/>
                </a:solidFill>
                <a:latin typeface="Calibri" pitchFamily="34" charset="0"/>
                <a:ea typeface="Calibri" pitchFamily="34" charset="-122"/>
                <a:cs typeface="Calibri" pitchFamily="34" charset="-120"/>
              </a:rPr>
              <a:t>MVA Delta</a:t>
            </a:r>
            <a:endParaRPr lang="en-US" sz="850" dirty="0"/>
          </a:p>
        </p:txBody>
      </p:sp>
      <p:sp>
        <p:nvSpPr>
          <p:cNvPr id="83" name="Shape 81"/>
          <p:cNvSpPr/>
          <p:nvPr/>
        </p:nvSpPr>
        <p:spPr>
          <a:xfrm>
            <a:off x="2194560" y="5449824"/>
            <a:ext cx="2560320" cy="438912"/>
          </a:xfrm>
          <a:prstGeom prst="rect">
            <a:avLst/>
          </a:prstGeom>
          <a:solidFill>
            <a:srgbClr val="F5F7FA"/>
          </a:solidFill>
          <a:ln w="12700">
            <a:solidFill>
              <a:srgbClr val="DEE3ED"/>
            </a:solidFill>
            <a:prstDash val="solid"/>
          </a:ln>
        </p:spPr>
      </p:sp>
      <p:sp>
        <p:nvSpPr>
          <p:cNvPr id="84" name="Text 82"/>
          <p:cNvSpPr/>
          <p:nvPr/>
        </p:nvSpPr>
        <p:spPr>
          <a:xfrm>
            <a:off x="2240280" y="5449824"/>
            <a:ext cx="246888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∂MVA/∂SIMM</a:t>
            </a:r>
            <a:endParaRPr lang="en-US" sz="800" dirty="0"/>
          </a:p>
        </p:txBody>
      </p:sp>
      <p:sp>
        <p:nvSpPr>
          <p:cNvPr id="85" name="Shape 83"/>
          <p:cNvSpPr/>
          <p:nvPr/>
        </p:nvSpPr>
        <p:spPr>
          <a:xfrm>
            <a:off x="4754880" y="5449824"/>
            <a:ext cx="3291840" cy="438912"/>
          </a:xfrm>
          <a:prstGeom prst="rect">
            <a:avLst/>
          </a:prstGeom>
          <a:solidFill>
            <a:srgbClr val="F5F7FA"/>
          </a:solidFill>
          <a:ln w="12700">
            <a:solidFill>
              <a:srgbClr val="DEE3ED"/>
            </a:solidFill>
            <a:prstDash val="solid"/>
          </a:ln>
        </p:spPr>
      </p:sp>
      <p:sp>
        <p:nvSpPr>
          <p:cNvPr id="86" name="Text 84"/>
          <p:cNvSpPr/>
          <p:nvPr/>
        </p:nvSpPr>
        <p:spPr>
          <a:xfrm>
            <a:off x="4800600" y="5449824"/>
            <a:ext cx="320040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Move in initial margin requirements (SIMM-driven).</a:t>
            </a:r>
            <a:endParaRPr lang="en-US" sz="800" dirty="0"/>
          </a:p>
        </p:txBody>
      </p:sp>
      <p:sp>
        <p:nvSpPr>
          <p:cNvPr id="87" name="Shape 85"/>
          <p:cNvSpPr/>
          <p:nvPr/>
        </p:nvSpPr>
        <p:spPr>
          <a:xfrm>
            <a:off x="8046720" y="5449824"/>
            <a:ext cx="2377440" cy="438912"/>
          </a:xfrm>
          <a:prstGeom prst="rect">
            <a:avLst/>
          </a:prstGeom>
          <a:solidFill>
            <a:srgbClr val="F5F7FA"/>
          </a:solidFill>
          <a:ln w="12700">
            <a:solidFill>
              <a:srgbClr val="DEE3ED"/>
            </a:solidFill>
            <a:prstDash val="solid"/>
          </a:ln>
        </p:spPr>
      </p:sp>
      <p:sp>
        <p:nvSpPr>
          <p:cNvPr id="88" name="Text 86"/>
          <p:cNvSpPr/>
          <p:nvPr/>
        </p:nvSpPr>
        <p:spPr>
          <a:xfrm>
            <a:off x="8092440" y="5449824"/>
            <a:ext cx="228600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Nested MC or regression</a:t>
            </a:r>
            <a:endParaRPr lang="en-US" sz="800" dirty="0"/>
          </a:p>
        </p:txBody>
      </p:sp>
      <p:sp>
        <p:nvSpPr>
          <p:cNvPr id="89" name="Shape 87"/>
          <p:cNvSpPr/>
          <p:nvPr/>
        </p:nvSpPr>
        <p:spPr>
          <a:xfrm>
            <a:off x="10424160" y="5449824"/>
            <a:ext cx="914400" cy="438912"/>
          </a:xfrm>
          <a:prstGeom prst="rect">
            <a:avLst/>
          </a:prstGeom>
          <a:solidFill>
            <a:srgbClr val="F5F7FA"/>
          </a:solidFill>
          <a:ln w="12700">
            <a:solidFill>
              <a:srgbClr val="DEE3ED"/>
            </a:solidFill>
            <a:prstDash val="solid"/>
          </a:ln>
        </p:spPr>
      </p:sp>
      <p:sp>
        <p:nvSpPr>
          <p:cNvPr id="90" name="Text 88"/>
          <p:cNvSpPr/>
          <p:nvPr/>
        </p:nvSpPr>
        <p:spPr>
          <a:xfrm>
            <a:off x="10469880" y="5449824"/>
            <a:ext cx="82296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Mod 4</a:t>
            </a:r>
            <a:endParaRPr lang="en-US" sz="800" dirty="0"/>
          </a:p>
        </p:txBody>
      </p:sp>
      <p:sp>
        <p:nvSpPr>
          <p:cNvPr id="91" name="Shape 89"/>
          <p:cNvSpPr/>
          <p:nvPr/>
        </p:nvSpPr>
        <p:spPr>
          <a:xfrm>
            <a:off x="182880" y="5907024"/>
            <a:ext cx="2011680" cy="438912"/>
          </a:xfrm>
          <a:prstGeom prst="rect">
            <a:avLst/>
          </a:prstGeom>
          <a:solidFill>
            <a:srgbClr val="FFFFFF"/>
          </a:solidFill>
          <a:ln w="12700">
            <a:solidFill>
              <a:srgbClr val="DEE3ED"/>
            </a:solidFill>
            <a:prstDash val="solid"/>
          </a:ln>
        </p:spPr>
      </p:sp>
      <p:sp>
        <p:nvSpPr>
          <p:cNvPr id="92" name="Text 90"/>
          <p:cNvSpPr/>
          <p:nvPr/>
        </p:nvSpPr>
        <p:spPr>
          <a:xfrm>
            <a:off x="228600" y="5907024"/>
            <a:ext cx="1920240" cy="438912"/>
          </a:xfrm>
          <a:prstGeom prst="rect">
            <a:avLst/>
          </a:prstGeom>
          <a:noFill/>
          <a:ln/>
        </p:spPr>
        <p:txBody>
          <a:bodyPr wrap="square" rtlCol="0" anchor="ctr"/>
          <a:lstStyle/>
          <a:p>
            <a:pPr marL="0" indent="0">
              <a:buNone/>
            </a:pPr>
            <a:r>
              <a:rPr lang="en-US" sz="850" b="1" dirty="0">
                <a:solidFill>
                  <a:srgbClr val="1E2761"/>
                </a:solidFill>
                <a:latin typeface="Calibri" pitchFamily="34" charset="0"/>
                <a:ea typeface="Calibri" pitchFamily="34" charset="-122"/>
                <a:cs typeface="Calibri" pitchFamily="34" charset="-120"/>
              </a:rPr>
              <a:t>KVA Sens.</a:t>
            </a:r>
            <a:endParaRPr lang="en-US" sz="850" dirty="0"/>
          </a:p>
        </p:txBody>
      </p:sp>
      <p:sp>
        <p:nvSpPr>
          <p:cNvPr id="93" name="Shape 91"/>
          <p:cNvSpPr/>
          <p:nvPr/>
        </p:nvSpPr>
        <p:spPr>
          <a:xfrm>
            <a:off x="2194560" y="5907024"/>
            <a:ext cx="2560320" cy="438912"/>
          </a:xfrm>
          <a:prstGeom prst="rect">
            <a:avLst/>
          </a:prstGeom>
          <a:solidFill>
            <a:srgbClr val="FFFFFF"/>
          </a:solidFill>
          <a:ln w="12700">
            <a:solidFill>
              <a:srgbClr val="DEE3ED"/>
            </a:solidFill>
            <a:prstDash val="solid"/>
          </a:ln>
        </p:spPr>
      </p:sp>
      <p:sp>
        <p:nvSpPr>
          <p:cNvPr id="94" name="Text 92"/>
          <p:cNvSpPr/>
          <p:nvPr/>
        </p:nvSpPr>
        <p:spPr>
          <a:xfrm>
            <a:off x="2240280" y="5907024"/>
            <a:ext cx="246888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∂KVA/∂K</a:t>
            </a:r>
            <a:endParaRPr lang="en-US" sz="800" dirty="0"/>
          </a:p>
        </p:txBody>
      </p:sp>
      <p:sp>
        <p:nvSpPr>
          <p:cNvPr id="95" name="Shape 93"/>
          <p:cNvSpPr/>
          <p:nvPr/>
        </p:nvSpPr>
        <p:spPr>
          <a:xfrm>
            <a:off x="4754880" y="5907024"/>
            <a:ext cx="3291840" cy="438912"/>
          </a:xfrm>
          <a:prstGeom prst="rect">
            <a:avLst/>
          </a:prstGeom>
          <a:solidFill>
            <a:srgbClr val="FFFFFF"/>
          </a:solidFill>
          <a:ln w="12700">
            <a:solidFill>
              <a:srgbClr val="DEE3ED"/>
            </a:solidFill>
            <a:prstDash val="solid"/>
          </a:ln>
        </p:spPr>
      </p:sp>
      <p:sp>
        <p:nvSpPr>
          <p:cNvPr id="96" name="Text 94"/>
          <p:cNvSpPr/>
          <p:nvPr/>
        </p:nvSpPr>
        <p:spPr>
          <a:xfrm>
            <a:off x="4800600" y="5907024"/>
            <a:ext cx="320040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Change in regulatory capital (SA-CCR, CVA capital).</a:t>
            </a:r>
            <a:endParaRPr lang="en-US" sz="800" dirty="0"/>
          </a:p>
        </p:txBody>
      </p:sp>
      <p:sp>
        <p:nvSpPr>
          <p:cNvPr id="97" name="Shape 95"/>
          <p:cNvSpPr/>
          <p:nvPr/>
        </p:nvSpPr>
        <p:spPr>
          <a:xfrm>
            <a:off x="8046720" y="5907024"/>
            <a:ext cx="2377440" cy="438912"/>
          </a:xfrm>
          <a:prstGeom prst="rect">
            <a:avLst/>
          </a:prstGeom>
          <a:solidFill>
            <a:srgbClr val="FFFFFF"/>
          </a:solidFill>
          <a:ln w="12700">
            <a:solidFill>
              <a:srgbClr val="DEE3ED"/>
            </a:solidFill>
            <a:prstDash val="solid"/>
          </a:ln>
        </p:spPr>
      </p:sp>
      <p:sp>
        <p:nvSpPr>
          <p:cNvPr id="98" name="Text 96"/>
          <p:cNvSpPr/>
          <p:nvPr/>
        </p:nvSpPr>
        <p:spPr>
          <a:xfrm>
            <a:off x="8092440" y="5907024"/>
            <a:ext cx="228600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Regulatory capital engine</a:t>
            </a:r>
            <a:endParaRPr lang="en-US" sz="800" dirty="0"/>
          </a:p>
        </p:txBody>
      </p:sp>
      <p:sp>
        <p:nvSpPr>
          <p:cNvPr id="99" name="Shape 97"/>
          <p:cNvSpPr/>
          <p:nvPr/>
        </p:nvSpPr>
        <p:spPr>
          <a:xfrm>
            <a:off x="10424160" y="5907024"/>
            <a:ext cx="914400" cy="438912"/>
          </a:xfrm>
          <a:prstGeom prst="rect">
            <a:avLst/>
          </a:prstGeom>
          <a:solidFill>
            <a:srgbClr val="FFFFFF"/>
          </a:solidFill>
          <a:ln w="12700">
            <a:solidFill>
              <a:srgbClr val="DEE3ED"/>
            </a:solidFill>
            <a:prstDash val="solid"/>
          </a:ln>
        </p:spPr>
      </p:sp>
      <p:sp>
        <p:nvSpPr>
          <p:cNvPr id="100" name="Text 98"/>
          <p:cNvSpPr/>
          <p:nvPr/>
        </p:nvSpPr>
        <p:spPr>
          <a:xfrm>
            <a:off x="10469880" y="5907024"/>
            <a:ext cx="822960" cy="43891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Mod 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7FA"/>
          </a:solidFill>
          <a:ln w="12700">
            <a:solidFill>
              <a:srgbClr val="F5F7FA"/>
            </a:solidFill>
            <a:prstDash val="solid"/>
          </a:ln>
        </p:spPr>
      </p:sp>
      <p:sp>
        <p:nvSpPr>
          <p:cNvPr id="3" name="Shape 1"/>
          <p:cNvSpPr/>
          <p:nvPr/>
        </p:nvSpPr>
        <p:spPr>
          <a:xfrm>
            <a:off x="0" y="0"/>
            <a:ext cx="12161520" cy="475488"/>
          </a:xfrm>
          <a:prstGeom prst="rect">
            <a:avLst/>
          </a:prstGeom>
          <a:solidFill>
            <a:srgbClr val="1E2761"/>
          </a:solidFill>
          <a:ln w="12700">
            <a:solidFill>
              <a:srgbClr val="1E2761"/>
            </a:solidFill>
            <a:prstDash val="solid"/>
          </a:ln>
        </p:spPr>
      </p:sp>
      <p:sp>
        <p:nvSpPr>
          <p:cNvPr id="4" name="Shape 2"/>
          <p:cNvSpPr/>
          <p:nvPr/>
        </p:nvSpPr>
        <p:spPr>
          <a:xfrm>
            <a:off x="0" y="475488"/>
            <a:ext cx="12161520" cy="45720"/>
          </a:xfrm>
          <a:prstGeom prst="rect">
            <a:avLst/>
          </a:prstGeom>
          <a:solidFill>
            <a:srgbClr val="C9A84C"/>
          </a:solidFill>
          <a:ln w="12700">
            <a:solidFill>
              <a:srgbClr val="C9A84C"/>
            </a:solidFill>
            <a:prstDash val="solid"/>
          </a:ln>
        </p:spPr>
      </p:sp>
      <p:sp>
        <p:nvSpPr>
          <p:cNvPr id="5" name="Shape 3"/>
          <p:cNvSpPr/>
          <p:nvPr/>
        </p:nvSpPr>
        <p:spPr>
          <a:xfrm>
            <a:off x="0" y="6492240"/>
            <a:ext cx="12161520" cy="365760"/>
          </a:xfrm>
          <a:prstGeom prst="rect">
            <a:avLst/>
          </a:prstGeom>
          <a:solidFill>
            <a:srgbClr val="1E2761"/>
          </a:solidFill>
          <a:ln w="12700">
            <a:solidFill>
              <a:srgbClr val="1E2761"/>
            </a:solidFill>
            <a:prstDash val="solid"/>
          </a:ln>
        </p:spPr>
      </p:sp>
      <p:sp>
        <p:nvSpPr>
          <p:cNvPr id="6" name="Text 4"/>
          <p:cNvSpPr/>
          <p:nvPr/>
        </p:nvSpPr>
        <p:spPr>
          <a:xfrm>
            <a:off x="182880" y="6510528"/>
            <a:ext cx="8229600" cy="228600"/>
          </a:xfrm>
          <a:prstGeom prst="rect">
            <a:avLst/>
          </a:prstGeom>
          <a:noFill/>
          <a:ln/>
        </p:spPr>
        <p:txBody>
          <a:bodyPr wrap="square" rtlCol="0" anchor="ctr"/>
          <a:lstStyle/>
          <a:p>
            <a:pPr marL="0" indent="0">
              <a:buNone/>
            </a:pPr>
            <a:r>
              <a:rPr lang="en-US" sz="750" dirty="0">
                <a:solidFill>
                  <a:srgbClr val="CADCFC"/>
                </a:solidFill>
                <a:latin typeface="Calibri" pitchFamily="34" charset="0"/>
                <a:ea typeface="Calibri" pitchFamily="34" charset="-122"/>
                <a:cs typeface="Calibri" pitchFamily="34" charset="-120"/>
              </a:rPr>
              <a:t>Curated by Sarthaka Nanda (with Anthropic Claude)  |  Greeks &amp; Sensitivities — Module 0</a:t>
            </a:r>
            <a:endParaRPr lang="en-US" sz="750" dirty="0"/>
          </a:p>
        </p:txBody>
      </p:sp>
      <p:sp>
        <p:nvSpPr>
          <p:cNvPr id="7" name="Text 5"/>
          <p:cNvSpPr/>
          <p:nvPr/>
        </p:nvSpPr>
        <p:spPr>
          <a:xfrm>
            <a:off x="10515600" y="6510528"/>
            <a:ext cx="1463040" cy="228600"/>
          </a:xfrm>
          <a:prstGeom prst="rect">
            <a:avLst/>
          </a:prstGeom>
          <a:noFill/>
          <a:ln/>
        </p:spPr>
        <p:txBody>
          <a:bodyPr wrap="square" rtlCol="0" anchor="ctr"/>
          <a:lstStyle/>
          <a:p>
            <a:pPr marL="0" indent="0" algn="r">
              <a:buNone/>
            </a:pPr>
            <a:r>
              <a:rPr lang="en-US" sz="750" dirty="0">
                <a:solidFill>
                  <a:srgbClr val="C9A84C"/>
                </a:solidFill>
                <a:latin typeface="Calibri" pitchFamily="34" charset="0"/>
                <a:ea typeface="Calibri" pitchFamily="34" charset="-122"/>
                <a:cs typeface="Calibri" pitchFamily="34" charset="-120"/>
              </a:rPr>
              <a:t>CC BY-NC 4.0</a:t>
            </a:r>
            <a:endParaRPr lang="en-US" sz="750" dirty="0"/>
          </a:p>
        </p:txBody>
      </p:sp>
      <p:sp>
        <p:nvSpPr>
          <p:cNvPr id="8" name="Text 6"/>
          <p:cNvSpPr/>
          <p:nvPr/>
        </p:nvSpPr>
        <p:spPr>
          <a:xfrm>
            <a:off x="274320" y="64008"/>
            <a:ext cx="1161288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P&amp;L Attribution  |  Greek Interactions  |  20-60-20 Principle</a:t>
            </a:r>
            <a:endParaRPr lang="en-US" sz="1500" dirty="0"/>
          </a:p>
        </p:txBody>
      </p:sp>
      <p:sp>
        <p:nvSpPr>
          <p:cNvPr id="9" name="Shape 7"/>
          <p:cNvSpPr/>
          <p:nvPr/>
        </p:nvSpPr>
        <p:spPr>
          <a:xfrm>
            <a:off x="182880" y="621792"/>
            <a:ext cx="7315200" cy="5394960"/>
          </a:xfrm>
          <a:prstGeom prst="rect">
            <a:avLst/>
          </a:prstGeom>
          <a:solidFill>
            <a:srgbClr val="FFFFFF"/>
          </a:solidFill>
          <a:ln w="12700">
            <a:solidFill>
              <a:srgbClr val="DEE3ED"/>
            </a:solidFill>
            <a:prstDash val="solid"/>
          </a:ln>
          <a:effectLst>
            <a:outerShdw blurRad="63500" dist="25400" dir="8100000" algn="bl" rotWithShape="0">
              <a:srgbClr val="000000">
                <a:alpha val="10000"/>
              </a:srgbClr>
            </a:outerShdw>
          </a:effectLst>
        </p:spPr>
      </p:sp>
      <p:sp>
        <p:nvSpPr>
          <p:cNvPr id="10" name="Shape 8"/>
          <p:cNvSpPr/>
          <p:nvPr/>
        </p:nvSpPr>
        <p:spPr>
          <a:xfrm>
            <a:off x="182880" y="621792"/>
            <a:ext cx="7315200" cy="347472"/>
          </a:xfrm>
          <a:prstGeom prst="rect">
            <a:avLst/>
          </a:prstGeom>
          <a:solidFill>
            <a:srgbClr val="028090"/>
          </a:solidFill>
          <a:ln w="12700">
            <a:solidFill>
              <a:srgbClr val="028090"/>
            </a:solidFill>
            <a:prstDash val="solid"/>
          </a:ln>
        </p:spPr>
      </p:sp>
      <p:sp>
        <p:nvSpPr>
          <p:cNvPr id="11" name="Text 9"/>
          <p:cNvSpPr/>
          <p:nvPr/>
        </p:nvSpPr>
        <p:spPr>
          <a:xfrm>
            <a:off x="292608" y="640080"/>
            <a:ext cx="7132320" cy="31089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P&amp;L Attribution (Taylor Expansion)</a:t>
            </a:r>
            <a:endParaRPr lang="en-US" sz="1100" dirty="0"/>
          </a:p>
        </p:txBody>
      </p:sp>
      <p:sp>
        <p:nvSpPr>
          <p:cNvPr id="12" name="Shape 10"/>
          <p:cNvSpPr/>
          <p:nvPr/>
        </p:nvSpPr>
        <p:spPr>
          <a:xfrm>
            <a:off x="256032" y="1024128"/>
            <a:ext cx="1828800" cy="438912"/>
          </a:xfrm>
          <a:prstGeom prst="rect">
            <a:avLst/>
          </a:prstGeom>
          <a:solidFill>
            <a:srgbClr val="1E2761"/>
          </a:solidFill>
          <a:ln w="12700">
            <a:solidFill>
              <a:srgbClr val="1E2761"/>
            </a:solidFill>
            <a:prstDash val="solid"/>
          </a:ln>
        </p:spPr>
      </p:sp>
      <p:sp>
        <p:nvSpPr>
          <p:cNvPr id="13" name="Text 11"/>
          <p:cNvSpPr/>
          <p:nvPr/>
        </p:nvSpPr>
        <p:spPr>
          <a:xfrm>
            <a:off x="274320" y="1024128"/>
            <a:ext cx="1792224" cy="43891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Δ·ΔS</a:t>
            </a:r>
            <a:endParaRPr lang="en-US" sz="800" dirty="0"/>
          </a:p>
        </p:txBody>
      </p:sp>
      <p:sp>
        <p:nvSpPr>
          <p:cNvPr id="14" name="Text 12"/>
          <p:cNvSpPr/>
          <p:nvPr/>
        </p:nvSpPr>
        <p:spPr>
          <a:xfrm>
            <a:off x="2139696" y="1024128"/>
            <a:ext cx="1828800" cy="438912"/>
          </a:xfrm>
          <a:prstGeom prst="rect">
            <a:avLst/>
          </a:prstGeom>
          <a:noFill/>
          <a:ln/>
        </p:spPr>
        <p:txBody>
          <a:bodyPr wrap="square" rtlCol="0" anchor="ctr"/>
          <a:lstStyle/>
          <a:p>
            <a:pPr marL="0" indent="0">
              <a:buNone/>
            </a:pPr>
            <a:r>
              <a:rPr lang="en-US" sz="850" b="1" dirty="0">
                <a:solidFill>
                  <a:srgbClr val="1E2761"/>
                </a:solidFill>
                <a:latin typeface="Calibri" pitchFamily="34" charset="0"/>
                <a:ea typeface="Calibri" pitchFamily="34" charset="-122"/>
                <a:cs typeface="Calibri" pitchFamily="34" charset="-120"/>
              </a:rPr>
              <a:t>Delta P&amp;L</a:t>
            </a:r>
            <a:endParaRPr lang="en-US" sz="850" dirty="0"/>
          </a:p>
        </p:txBody>
      </p:sp>
      <p:sp>
        <p:nvSpPr>
          <p:cNvPr id="15" name="Text 13"/>
          <p:cNvSpPr/>
          <p:nvPr/>
        </p:nvSpPr>
        <p:spPr>
          <a:xfrm>
            <a:off x="4005072" y="1024128"/>
            <a:ext cx="3346704" cy="43891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Linear, directional. The speedometer reading × distance travelled.</a:t>
            </a:r>
            <a:endParaRPr lang="en-US" sz="800" dirty="0"/>
          </a:p>
        </p:txBody>
      </p:sp>
      <p:sp>
        <p:nvSpPr>
          <p:cNvPr id="16" name="Shape 14"/>
          <p:cNvSpPr/>
          <p:nvPr/>
        </p:nvSpPr>
        <p:spPr>
          <a:xfrm>
            <a:off x="256032" y="1527048"/>
            <a:ext cx="1828800" cy="438912"/>
          </a:xfrm>
          <a:prstGeom prst="rect">
            <a:avLst/>
          </a:prstGeom>
          <a:solidFill>
            <a:srgbClr val="1E2761"/>
          </a:solidFill>
          <a:ln w="12700">
            <a:solidFill>
              <a:srgbClr val="1E2761"/>
            </a:solidFill>
            <a:prstDash val="solid"/>
          </a:ln>
        </p:spPr>
      </p:sp>
      <p:sp>
        <p:nvSpPr>
          <p:cNvPr id="17" name="Text 15"/>
          <p:cNvSpPr/>
          <p:nvPr/>
        </p:nvSpPr>
        <p:spPr>
          <a:xfrm>
            <a:off x="274320" y="1527048"/>
            <a:ext cx="1792224" cy="43891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½·Γ·(ΔS)²</a:t>
            </a:r>
            <a:endParaRPr lang="en-US" sz="800" dirty="0"/>
          </a:p>
        </p:txBody>
      </p:sp>
      <p:sp>
        <p:nvSpPr>
          <p:cNvPr id="18" name="Text 16"/>
          <p:cNvSpPr/>
          <p:nvPr/>
        </p:nvSpPr>
        <p:spPr>
          <a:xfrm>
            <a:off x="2139696" y="1527048"/>
            <a:ext cx="1828800" cy="438912"/>
          </a:xfrm>
          <a:prstGeom prst="rect">
            <a:avLst/>
          </a:prstGeom>
          <a:noFill/>
          <a:ln/>
        </p:spPr>
        <p:txBody>
          <a:bodyPr wrap="square" rtlCol="0" anchor="ctr"/>
          <a:lstStyle/>
          <a:p>
            <a:pPr marL="0" indent="0">
              <a:buNone/>
            </a:pPr>
            <a:r>
              <a:rPr lang="en-US" sz="850" b="1" dirty="0">
                <a:solidFill>
                  <a:srgbClr val="1E2761"/>
                </a:solidFill>
                <a:latin typeface="Calibri" pitchFamily="34" charset="0"/>
                <a:ea typeface="Calibri" pitchFamily="34" charset="-122"/>
                <a:cs typeface="Calibri" pitchFamily="34" charset="-120"/>
              </a:rPr>
              <a:t>Gamma P&amp;L</a:t>
            </a:r>
            <a:endParaRPr lang="en-US" sz="850" dirty="0"/>
          </a:p>
        </p:txBody>
      </p:sp>
      <p:sp>
        <p:nvSpPr>
          <p:cNvPr id="19" name="Text 17"/>
          <p:cNvSpPr/>
          <p:nvPr/>
        </p:nvSpPr>
        <p:spPr>
          <a:xfrm>
            <a:off x="4005072" y="1527048"/>
            <a:ext cx="3346704" cy="43891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Convex, always +ve for long. The free gift of the accelerator.</a:t>
            </a:r>
            <a:endParaRPr lang="en-US" sz="800" dirty="0"/>
          </a:p>
        </p:txBody>
      </p:sp>
      <p:sp>
        <p:nvSpPr>
          <p:cNvPr id="20" name="Shape 18"/>
          <p:cNvSpPr/>
          <p:nvPr/>
        </p:nvSpPr>
        <p:spPr>
          <a:xfrm>
            <a:off x="256032" y="2029968"/>
            <a:ext cx="1828800" cy="438912"/>
          </a:xfrm>
          <a:prstGeom prst="rect">
            <a:avLst/>
          </a:prstGeom>
          <a:solidFill>
            <a:srgbClr val="1E2761"/>
          </a:solidFill>
          <a:ln w="12700">
            <a:solidFill>
              <a:srgbClr val="1E2761"/>
            </a:solidFill>
            <a:prstDash val="solid"/>
          </a:ln>
        </p:spPr>
      </p:sp>
      <p:sp>
        <p:nvSpPr>
          <p:cNvPr id="21" name="Text 19"/>
          <p:cNvSpPr/>
          <p:nvPr/>
        </p:nvSpPr>
        <p:spPr>
          <a:xfrm>
            <a:off x="274320" y="2029968"/>
            <a:ext cx="1792224" cy="43891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ν·Δσ</a:t>
            </a:r>
            <a:endParaRPr lang="en-US" sz="800" dirty="0"/>
          </a:p>
        </p:txBody>
      </p:sp>
      <p:sp>
        <p:nvSpPr>
          <p:cNvPr id="22" name="Text 20"/>
          <p:cNvSpPr/>
          <p:nvPr/>
        </p:nvSpPr>
        <p:spPr>
          <a:xfrm>
            <a:off x="2139696" y="2029968"/>
            <a:ext cx="1828800" cy="438912"/>
          </a:xfrm>
          <a:prstGeom prst="rect">
            <a:avLst/>
          </a:prstGeom>
          <a:noFill/>
          <a:ln/>
        </p:spPr>
        <p:txBody>
          <a:bodyPr wrap="square" rtlCol="0" anchor="ctr"/>
          <a:lstStyle/>
          <a:p>
            <a:pPr marL="0" indent="0">
              <a:buNone/>
            </a:pPr>
            <a:r>
              <a:rPr lang="en-US" sz="850" b="1" dirty="0">
                <a:solidFill>
                  <a:srgbClr val="1E2761"/>
                </a:solidFill>
                <a:latin typeface="Calibri" pitchFamily="34" charset="0"/>
                <a:ea typeface="Calibri" pitchFamily="34" charset="-122"/>
                <a:cs typeface="Calibri" pitchFamily="34" charset="-120"/>
              </a:rPr>
              <a:t>Vega P&amp;L</a:t>
            </a:r>
            <a:endParaRPr lang="en-US" sz="850" dirty="0"/>
          </a:p>
        </p:txBody>
      </p:sp>
      <p:sp>
        <p:nvSpPr>
          <p:cNvPr id="23" name="Text 21"/>
          <p:cNvSpPr/>
          <p:nvPr/>
        </p:nvSpPr>
        <p:spPr>
          <a:xfrm>
            <a:off x="4005072" y="2029968"/>
            <a:ext cx="3346704" cy="43891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Weather change impact. Storm arrived? You gain if long.</a:t>
            </a:r>
            <a:endParaRPr lang="en-US" sz="800" dirty="0"/>
          </a:p>
        </p:txBody>
      </p:sp>
      <p:sp>
        <p:nvSpPr>
          <p:cNvPr id="24" name="Shape 22"/>
          <p:cNvSpPr/>
          <p:nvPr/>
        </p:nvSpPr>
        <p:spPr>
          <a:xfrm>
            <a:off x="256032" y="2532888"/>
            <a:ext cx="1828800" cy="438912"/>
          </a:xfrm>
          <a:prstGeom prst="rect">
            <a:avLst/>
          </a:prstGeom>
          <a:solidFill>
            <a:srgbClr val="1E2761"/>
          </a:solidFill>
          <a:ln w="12700">
            <a:solidFill>
              <a:srgbClr val="1E2761"/>
            </a:solidFill>
            <a:prstDash val="solid"/>
          </a:ln>
        </p:spPr>
      </p:sp>
      <p:sp>
        <p:nvSpPr>
          <p:cNvPr id="25" name="Text 23"/>
          <p:cNvSpPr/>
          <p:nvPr/>
        </p:nvSpPr>
        <p:spPr>
          <a:xfrm>
            <a:off x="274320" y="2532888"/>
            <a:ext cx="1792224" cy="43891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Θ·Δt</a:t>
            </a:r>
            <a:endParaRPr lang="en-US" sz="800" dirty="0"/>
          </a:p>
        </p:txBody>
      </p:sp>
      <p:sp>
        <p:nvSpPr>
          <p:cNvPr id="26" name="Text 24"/>
          <p:cNvSpPr/>
          <p:nvPr/>
        </p:nvSpPr>
        <p:spPr>
          <a:xfrm>
            <a:off x="2139696" y="2532888"/>
            <a:ext cx="1828800" cy="438912"/>
          </a:xfrm>
          <a:prstGeom prst="rect">
            <a:avLst/>
          </a:prstGeom>
          <a:noFill/>
          <a:ln/>
        </p:spPr>
        <p:txBody>
          <a:bodyPr wrap="square" rtlCol="0" anchor="ctr"/>
          <a:lstStyle/>
          <a:p>
            <a:pPr marL="0" indent="0">
              <a:buNone/>
            </a:pPr>
            <a:r>
              <a:rPr lang="en-US" sz="850" b="1" dirty="0">
                <a:solidFill>
                  <a:srgbClr val="1E2761"/>
                </a:solidFill>
                <a:latin typeface="Calibri" pitchFamily="34" charset="0"/>
                <a:ea typeface="Calibri" pitchFamily="34" charset="-122"/>
                <a:cs typeface="Calibri" pitchFamily="34" charset="-120"/>
              </a:rPr>
              <a:t>Theta decay</a:t>
            </a:r>
            <a:endParaRPr lang="en-US" sz="850" dirty="0"/>
          </a:p>
        </p:txBody>
      </p:sp>
      <p:sp>
        <p:nvSpPr>
          <p:cNvPr id="27" name="Text 25"/>
          <p:cNvSpPr/>
          <p:nvPr/>
        </p:nvSpPr>
        <p:spPr>
          <a:xfrm>
            <a:off x="4005072" y="2532888"/>
            <a:ext cx="3346704" cy="43891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Negative, daily parking meter. You pay this whether you drive or not.</a:t>
            </a:r>
            <a:endParaRPr lang="en-US" sz="800" dirty="0"/>
          </a:p>
        </p:txBody>
      </p:sp>
      <p:sp>
        <p:nvSpPr>
          <p:cNvPr id="28" name="Shape 26"/>
          <p:cNvSpPr/>
          <p:nvPr/>
        </p:nvSpPr>
        <p:spPr>
          <a:xfrm>
            <a:off x="256032" y="3035808"/>
            <a:ext cx="1828800" cy="438912"/>
          </a:xfrm>
          <a:prstGeom prst="rect">
            <a:avLst/>
          </a:prstGeom>
          <a:solidFill>
            <a:srgbClr val="1E2761"/>
          </a:solidFill>
          <a:ln w="12700">
            <a:solidFill>
              <a:srgbClr val="1E2761"/>
            </a:solidFill>
            <a:prstDash val="solid"/>
          </a:ln>
        </p:spPr>
      </p:sp>
      <p:sp>
        <p:nvSpPr>
          <p:cNvPr id="29" name="Text 27"/>
          <p:cNvSpPr/>
          <p:nvPr/>
        </p:nvSpPr>
        <p:spPr>
          <a:xfrm>
            <a:off x="274320" y="3035808"/>
            <a:ext cx="1792224" cy="43891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ρ·Δr</a:t>
            </a:r>
            <a:endParaRPr lang="en-US" sz="800" dirty="0"/>
          </a:p>
        </p:txBody>
      </p:sp>
      <p:sp>
        <p:nvSpPr>
          <p:cNvPr id="30" name="Text 28"/>
          <p:cNvSpPr/>
          <p:nvPr/>
        </p:nvSpPr>
        <p:spPr>
          <a:xfrm>
            <a:off x="2139696" y="3035808"/>
            <a:ext cx="1828800" cy="438912"/>
          </a:xfrm>
          <a:prstGeom prst="rect">
            <a:avLst/>
          </a:prstGeom>
          <a:noFill/>
          <a:ln/>
        </p:spPr>
        <p:txBody>
          <a:bodyPr wrap="square" rtlCol="0" anchor="ctr"/>
          <a:lstStyle/>
          <a:p>
            <a:pPr marL="0" indent="0">
              <a:buNone/>
            </a:pPr>
            <a:r>
              <a:rPr lang="en-US" sz="850" b="1" dirty="0">
                <a:solidFill>
                  <a:srgbClr val="1E2761"/>
                </a:solidFill>
                <a:latin typeface="Calibri" pitchFamily="34" charset="0"/>
                <a:ea typeface="Calibri" pitchFamily="34" charset="-122"/>
                <a:cs typeface="Calibri" pitchFamily="34" charset="-120"/>
              </a:rPr>
              <a:t>Rho P&amp;L</a:t>
            </a:r>
            <a:endParaRPr lang="en-US" sz="850" dirty="0"/>
          </a:p>
        </p:txBody>
      </p:sp>
      <p:sp>
        <p:nvSpPr>
          <p:cNvPr id="31" name="Text 29"/>
          <p:cNvSpPr/>
          <p:nvPr/>
        </p:nvSpPr>
        <p:spPr>
          <a:xfrm>
            <a:off x="4005072" y="3035808"/>
            <a:ext cx="3346704" cy="43891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Rate change impact. Uphill vs downhill gradient shifted.</a:t>
            </a:r>
            <a:endParaRPr lang="en-US" sz="800" dirty="0"/>
          </a:p>
        </p:txBody>
      </p:sp>
      <p:sp>
        <p:nvSpPr>
          <p:cNvPr id="32" name="Shape 30"/>
          <p:cNvSpPr/>
          <p:nvPr/>
        </p:nvSpPr>
        <p:spPr>
          <a:xfrm>
            <a:off x="256032" y="3538728"/>
            <a:ext cx="1828800" cy="438912"/>
          </a:xfrm>
          <a:prstGeom prst="rect">
            <a:avLst/>
          </a:prstGeom>
          <a:solidFill>
            <a:srgbClr val="1E2761"/>
          </a:solidFill>
          <a:ln w="12700">
            <a:solidFill>
              <a:srgbClr val="1E2761"/>
            </a:solidFill>
            <a:prstDash val="solid"/>
          </a:ln>
        </p:spPr>
      </p:sp>
      <p:sp>
        <p:nvSpPr>
          <p:cNvPr id="33" name="Text 31"/>
          <p:cNvSpPr/>
          <p:nvPr/>
        </p:nvSpPr>
        <p:spPr>
          <a:xfrm>
            <a:off x="274320" y="3538728"/>
            <a:ext cx="1792224" cy="43891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Vanna·ΔS·Δσ</a:t>
            </a:r>
            <a:endParaRPr lang="en-US" sz="800" dirty="0"/>
          </a:p>
        </p:txBody>
      </p:sp>
      <p:sp>
        <p:nvSpPr>
          <p:cNvPr id="34" name="Text 32"/>
          <p:cNvSpPr/>
          <p:nvPr/>
        </p:nvSpPr>
        <p:spPr>
          <a:xfrm>
            <a:off x="2139696" y="3538728"/>
            <a:ext cx="1828800" cy="438912"/>
          </a:xfrm>
          <a:prstGeom prst="rect">
            <a:avLst/>
          </a:prstGeom>
          <a:noFill/>
          <a:ln/>
        </p:spPr>
        <p:txBody>
          <a:bodyPr wrap="square" rtlCol="0" anchor="ctr"/>
          <a:lstStyle/>
          <a:p>
            <a:pPr marL="0" indent="0">
              <a:buNone/>
            </a:pPr>
            <a:r>
              <a:rPr lang="en-US" sz="850" b="1" dirty="0">
                <a:solidFill>
                  <a:srgbClr val="1E2761"/>
                </a:solidFill>
                <a:latin typeface="Calibri" pitchFamily="34" charset="0"/>
                <a:ea typeface="Calibri" pitchFamily="34" charset="-122"/>
                <a:cs typeface="Calibri" pitchFamily="34" charset="-120"/>
              </a:rPr>
              <a:t>Cross: spot × vol</a:t>
            </a:r>
            <a:endParaRPr lang="en-US" sz="850" dirty="0"/>
          </a:p>
        </p:txBody>
      </p:sp>
      <p:sp>
        <p:nvSpPr>
          <p:cNvPr id="35" name="Text 33"/>
          <p:cNvSpPr/>
          <p:nvPr/>
        </p:nvSpPr>
        <p:spPr>
          <a:xfrm>
            <a:off x="4005072" y="3538728"/>
            <a:ext cx="3346704" cy="43891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Steering changes when weather changes simultaneously.</a:t>
            </a:r>
            <a:endParaRPr lang="en-US" sz="800" dirty="0"/>
          </a:p>
        </p:txBody>
      </p:sp>
      <p:sp>
        <p:nvSpPr>
          <p:cNvPr id="36" name="Shape 34"/>
          <p:cNvSpPr/>
          <p:nvPr/>
        </p:nvSpPr>
        <p:spPr>
          <a:xfrm>
            <a:off x="256032" y="4041648"/>
            <a:ext cx="1828800" cy="438912"/>
          </a:xfrm>
          <a:prstGeom prst="rect">
            <a:avLst/>
          </a:prstGeom>
          <a:solidFill>
            <a:srgbClr val="1E2761"/>
          </a:solidFill>
          <a:ln w="12700">
            <a:solidFill>
              <a:srgbClr val="1E2761"/>
            </a:solidFill>
            <a:prstDash val="solid"/>
          </a:ln>
        </p:spPr>
      </p:sp>
      <p:sp>
        <p:nvSpPr>
          <p:cNvPr id="37" name="Text 35"/>
          <p:cNvSpPr/>
          <p:nvPr/>
        </p:nvSpPr>
        <p:spPr>
          <a:xfrm>
            <a:off x="274320" y="4041648"/>
            <a:ext cx="1792224" cy="43891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½·Volga·(Δσ)²</a:t>
            </a:r>
            <a:endParaRPr lang="en-US" sz="800" dirty="0"/>
          </a:p>
        </p:txBody>
      </p:sp>
      <p:sp>
        <p:nvSpPr>
          <p:cNvPr id="38" name="Text 36"/>
          <p:cNvSpPr/>
          <p:nvPr/>
        </p:nvSpPr>
        <p:spPr>
          <a:xfrm>
            <a:off x="2139696" y="4041648"/>
            <a:ext cx="1828800" cy="438912"/>
          </a:xfrm>
          <a:prstGeom prst="rect">
            <a:avLst/>
          </a:prstGeom>
          <a:noFill/>
          <a:ln/>
        </p:spPr>
        <p:txBody>
          <a:bodyPr wrap="square" rtlCol="0" anchor="ctr"/>
          <a:lstStyle/>
          <a:p>
            <a:pPr marL="0" indent="0">
              <a:buNone/>
            </a:pPr>
            <a:r>
              <a:rPr lang="en-US" sz="850" b="1" dirty="0">
                <a:solidFill>
                  <a:srgbClr val="1E2761"/>
                </a:solidFill>
                <a:latin typeface="Calibri" pitchFamily="34" charset="0"/>
                <a:ea typeface="Calibri" pitchFamily="34" charset="-122"/>
                <a:cs typeface="Calibri" pitchFamily="34" charset="-120"/>
              </a:rPr>
              <a:t>Vol convexity</a:t>
            </a:r>
            <a:endParaRPr lang="en-US" sz="850" dirty="0"/>
          </a:p>
        </p:txBody>
      </p:sp>
      <p:sp>
        <p:nvSpPr>
          <p:cNvPr id="39" name="Text 37"/>
          <p:cNvSpPr/>
          <p:nvPr/>
        </p:nvSpPr>
        <p:spPr>
          <a:xfrm>
            <a:off x="4005072" y="4041648"/>
            <a:ext cx="3346704" cy="43891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Storm intensity effect — curvature of weather sensitivity.</a:t>
            </a:r>
            <a:endParaRPr lang="en-US" sz="800" dirty="0"/>
          </a:p>
        </p:txBody>
      </p:sp>
      <p:sp>
        <p:nvSpPr>
          <p:cNvPr id="40" name="Shape 38"/>
          <p:cNvSpPr/>
          <p:nvPr/>
        </p:nvSpPr>
        <p:spPr>
          <a:xfrm>
            <a:off x="256032" y="4544568"/>
            <a:ext cx="1828800" cy="438912"/>
          </a:xfrm>
          <a:prstGeom prst="rect">
            <a:avLst/>
          </a:prstGeom>
          <a:solidFill>
            <a:srgbClr val="1E2761"/>
          </a:solidFill>
          <a:ln w="12700">
            <a:solidFill>
              <a:srgbClr val="1E2761"/>
            </a:solidFill>
            <a:prstDash val="solid"/>
          </a:ln>
        </p:spPr>
      </p:sp>
      <p:sp>
        <p:nvSpPr>
          <p:cNvPr id="41" name="Text 39"/>
          <p:cNvSpPr/>
          <p:nvPr/>
        </p:nvSpPr>
        <p:spPr>
          <a:xfrm>
            <a:off x="274320" y="4544568"/>
            <a:ext cx="1792224" cy="43891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 Higher orders</a:t>
            </a:r>
            <a:endParaRPr lang="en-US" sz="800" dirty="0"/>
          </a:p>
        </p:txBody>
      </p:sp>
      <p:sp>
        <p:nvSpPr>
          <p:cNvPr id="42" name="Text 40"/>
          <p:cNvSpPr/>
          <p:nvPr/>
        </p:nvSpPr>
        <p:spPr>
          <a:xfrm>
            <a:off x="2139696" y="4544568"/>
            <a:ext cx="1828800" cy="438912"/>
          </a:xfrm>
          <a:prstGeom prst="rect">
            <a:avLst/>
          </a:prstGeom>
          <a:noFill/>
          <a:ln/>
        </p:spPr>
        <p:txBody>
          <a:bodyPr wrap="square" rtlCol="0" anchor="ctr"/>
          <a:lstStyle/>
          <a:p>
            <a:pPr marL="0" indent="0">
              <a:buNone/>
            </a:pPr>
            <a:r>
              <a:rPr lang="en-US" sz="850" b="1" dirty="0">
                <a:solidFill>
                  <a:srgbClr val="1E2761"/>
                </a:solidFill>
                <a:latin typeface="Calibri" pitchFamily="34" charset="0"/>
                <a:ea typeface="Calibri" pitchFamily="34" charset="-122"/>
                <a:cs typeface="Calibri" pitchFamily="34" charset="-120"/>
              </a:rPr>
              <a:t>Residual terms</a:t>
            </a:r>
            <a:endParaRPr lang="en-US" sz="850" dirty="0"/>
          </a:p>
        </p:txBody>
      </p:sp>
      <p:sp>
        <p:nvSpPr>
          <p:cNvPr id="43" name="Text 41"/>
          <p:cNvSpPr/>
          <p:nvPr/>
        </p:nvSpPr>
        <p:spPr>
          <a:xfrm>
            <a:off x="4005072" y="4544568"/>
            <a:ext cx="3346704" cy="438912"/>
          </a:xfrm>
          <a:prstGeom prst="rect">
            <a:avLst/>
          </a:prstGeom>
          <a:noFill/>
          <a:ln/>
        </p:spPr>
        <p:txBody>
          <a:bodyPr wrap="square" rtlCol="0" anchor="ctr"/>
          <a:lstStyle/>
          <a:p>
            <a:pPr marL="0" indent="0">
              <a:buNone/>
            </a:pPr>
            <a:r>
              <a:rPr lang="en-US" sz="800" dirty="0">
                <a:solidFill>
                  <a:srgbClr val="4A4A4A"/>
                </a:solidFill>
                <a:latin typeface="Calibri" pitchFamily="34" charset="0"/>
                <a:ea typeface="Calibri" pitchFamily="34" charset="-122"/>
                <a:cs typeface="Calibri" pitchFamily="34" charset="-120"/>
              </a:rPr>
              <a:t>Speed, Color, Zomma etc. Usually small; large = model risk.</a:t>
            </a:r>
            <a:endParaRPr lang="en-US" sz="800" dirty="0"/>
          </a:p>
        </p:txBody>
      </p:sp>
      <p:sp>
        <p:nvSpPr>
          <p:cNvPr id="44" name="Shape 42"/>
          <p:cNvSpPr/>
          <p:nvPr/>
        </p:nvSpPr>
        <p:spPr>
          <a:xfrm>
            <a:off x="256032" y="5065776"/>
            <a:ext cx="7168896" cy="713232"/>
          </a:xfrm>
          <a:prstGeom prst="rect">
            <a:avLst/>
          </a:prstGeom>
          <a:solidFill>
            <a:srgbClr val="FFF8E7"/>
          </a:solidFill>
          <a:ln w="12700">
            <a:solidFill>
              <a:srgbClr val="E8960C"/>
            </a:solidFill>
            <a:prstDash val="solid"/>
          </a:ln>
        </p:spPr>
      </p:sp>
      <p:sp>
        <p:nvSpPr>
          <p:cNvPr id="45" name="Text 43"/>
          <p:cNvSpPr/>
          <p:nvPr/>
        </p:nvSpPr>
        <p:spPr>
          <a:xfrm>
            <a:off x="347472" y="5102352"/>
            <a:ext cx="6949440" cy="640080"/>
          </a:xfrm>
          <a:prstGeom prst="rect">
            <a:avLst/>
          </a:prstGeom>
          <a:noFill/>
          <a:ln/>
        </p:spPr>
        <p:txBody>
          <a:bodyPr wrap="square" rtlCol="0" anchor="t"/>
          <a:lstStyle/>
          <a:p>
            <a:pPr marL="0" indent="0">
              <a:buNone/>
            </a:pPr>
            <a:r>
              <a:rPr lang="en-US" sz="850" dirty="0">
                <a:solidFill>
                  <a:srgbClr val="1A1A1A"/>
                </a:solidFill>
                <a:latin typeface="Calibri" pitchFamily="34" charset="0"/>
                <a:ea typeface="Calibri" pitchFamily="34" charset="-122"/>
                <a:cs typeface="Calibri" pitchFamily="34" charset="-120"/>
              </a:rPr>
              <a:t>Unexplained P&amp;L = Actual − Sum of Greek contributions.</a:t>
            </a:r>
            <a:endParaRPr lang="en-US" sz="850" dirty="0"/>
          </a:p>
          <a:p>
            <a:pPr marL="0" indent="0">
              <a:buNone/>
            </a:pPr>
            <a:r>
              <a:rPr lang="en-US" sz="850" dirty="0">
                <a:solidFill>
                  <a:srgbClr val="1A1A1A"/>
                </a:solidFill>
                <a:latin typeface="Calibri" pitchFamily="34" charset="0"/>
                <a:ea typeface="Calibri" pitchFamily="34" charset="-122"/>
                <a:cs typeface="Calibri" pitchFamily="34" charset="-120"/>
              </a:rPr>
              <a:t>Large residual = model risk, missing higher-order terms, or data errors. This decomposition is the foundation of daily P&amp;L explain across all trading desks.</a:t>
            </a:r>
            <a:endParaRPr lang="en-US" sz="850" dirty="0"/>
          </a:p>
        </p:txBody>
      </p:sp>
      <p:sp>
        <p:nvSpPr>
          <p:cNvPr id="46" name="Shape 44"/>
          <p:cNvSpPr/>
          <p:nvPr/>
        </p:nvSpPr>
        <p:spPr>
          <a:xfrm>
            <a:off x="7699248" y="621792"/>
            <a:ext cx="4279392" cy="5394960"/>
          </a:xfrm>
          <a:prstGeom prst="rect">
            <a:avLst/>
          </a:prstGeom>
          <a:solidFill>
            <a:srgbClr val="1E2761"/>
          </a:solidFill>
          <a:ln w="12700">
            <a:solidFill>
              <a:srgbClr val="1E2761"/>
            </a:solidFill>
            <a:prstDash val="solid"/>
          </a:ln>
        </p:spPr>
      </p:sp>
      <p:sp>
        <p:nvSpPr>
          <p:cNvPr id="47" name="Shape 45"/>
          <p:cNvSpPr/>
          <p:nvPr/>
        </p:nvSpPr>
        <p:spPr>
          <a:xfrm>
            <a:off x="7699248" y="621792"/>
            <a:ext cx="4279392" cy="36576"/>
          </a:xfrm>
          <a:prstGeom prst="rect">
            <a:avLst/>
          </a:prstGeom>
          <a:solidFill>
            <a:srgbClr val="C9A84C"/>
          </a:solidFill>
          <a:ln w="12700">
            <a:solidFill>
              <a:srgbClr val="C9A84C"/>
            </a:solidFill>
            <a:prstDash val="solid"/>
          </a:ln>
        </p:spPr>
      </p:sp>
      <p:sp>
        <p:nvSpPr>
          <p:cNvPr id="48" name="Text 46"/>
          <p:cNvSpPr/>
          <p:nvPr/>
        </p:nvSpPr>
        <p:spPr>
          <a:xfrm>
            <a:off x="7808976" y="713232"/>
            <a:ext cx="4059936" cy="8229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20-60-20</a:t>
            </a:r>
            <a:endParaRPr lang="en-US" sz="1600" dirty="0"/>
          </a:p>
          <a:p>
            <a:pPr marL="0" indent="0">
              <a:buNone/>
            </a:pPr>
            <a:r>
              <a:rPr lang="en-US" sz="1600" b="1" dirty="0">
                <a:solidFill>
                  <a:srgbClr val="FFFFFF"/>
                </a:solidFill>
                <a:latin typeface="Calibri" pitchFamily="34" charset="0"/>
                <a:ea typeface="Calibri" pitchFamily="34" charset="-122"/>
                <a:cs typeface="Calibri" pitchFamily="34" charset="-120"/>
              </a:rPr>
              <a:t>Collaboration Principle</a:t>
            </a:r>
            <a:endParaRPr lang="en-US" sz="1600" dirty="0"/>
          </a:p>
        </p:txBody>
      </p:sp>
      <p:sp>
        <p:nvSpPr>
          <p:cNvPr id="49" name="Shape 47"/>
          <p:cNvSpPr/>
          <p:nvPr/>
        </p:nvSpPr>
        <p:spPr>
          <a:xfrm>
            <a:off x="7808976" y="1627632"/>
            <a:ext cx="914400" cy="1207008"/>
          </a:xfrm>
          <a:prstGeom prst="rect">
            <a:avLst/>
          </a:prstGeom>
          <a:solidFill>
            <a:srgbClr val="028090"/>
          </a:solidFill>
          <a:ln w="12700">
            <a:solidFill>
              <a:srgbClr val="028090"/>
            </a:solidFill>
            <a:prstDash val="solid"/>
          </a:ln>
        </p:spPr>
      </p:sp>
      <p:sp>
        <p:nvSpPr>
          <p:cNvPr id="50" name="Text 48"/>
          <p:cNvSpPr/>
          <p:nvPr/>
        </p:nvSpPr>
        <p:spPr>
          <a:xfrm>
            <a:off x="7808976" y="1627632"/>
            <a:ext cx="914400" cy="120700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20%</a:t>
            </a:r>
            <a:endParaRPr lang="en-US" sz="2200" dirty="0"/>
          </a:p>
        </p:txBody>
      </p:sp>
      <p:sp>
        <p:nvSpPr>
          <p:cNvPr id="51" name="Shape 49"/>
          <p:cNvSpPr/>
          <p:nvPr/>
        </p:nvSpPr>
        <p:spPr>
          <a:xfrm>
            <a:off x="8759952" y="1627632"/>
            <a:ext cx="3108960" cy="1207008"/>
          </a:xfrm>
          <a:prstGeom prst="rect">
            <a:avLst/>
          </a:prstGeom>
          <a:solidFill>
            <a:srgbClr val="2A3A6A"/>
          </a:solidFill>
          <a:ln w="12700">
            <a:solidFill>
              <a:srgbClr val="3A4A7A"/>
            </a:solidFill>
            <a:prstDash val="solid"/>
          </a:ln>
        </p:spPr>
      </p:sp>
      <p:sp>
        <p:nvSpPr>
          <p:cNvPr id="52" name="Text 50"/>
          <p:cNvSpPr/>
          <p:nvPr/>
        </p:nvSpPr>
        <p:spPr>
          <a:xfrm>
            <a:off x="8833104" y="1700784"/>
            <a:ext cx="292608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Human Prompting</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&amp; Instruction</a:t>
            </a:r>
            <a:endParaRPr lang="en-US" sz="1000" dirty="0"/>
          </a:p>
        </p:txBody>
      </p:sp>
      <p:sp>
        <p:nvSpPr>
          <p:cNvPr id="53" name="Text 51"/>
          <p:cNvSpPr/>
          <p:nvPr/>
        </p:nvSpPr>
        <p:spPr>
          <a:xfrm>
            <a:off x="8833104" y="2103120"/>
            <a:ext cx="2926080" cy="658368"/>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You define scope, structure, and content decisions</a:t>
            </a:r>
            <a:endParaRPr lang="en-US" sz="850" dirty="0"/>
          </a:p>
        </p:txBody>
      </p:sp>
      <p:sp>
        <p:nvSpPr>
          <p:cNvPr id="54" name="Shape 52"/>
          <p:cNvSpPr/>
          <p:nvPr/>
        </p:nvSpPr>
        <p:spPr>
          <a:xfrm>
            <a:off x="7808976" y="2980944"/>
            <a:ext cx="914400" cy="1207008"/>
          </a:xfrm>
          <a:prstGeom prst="rect">
            <a:avLst/>
          </a:prstGeom>
          <a:solidFill>
            <a:srgbClr val="1E2761"/>
          </a:solidFill>
          <a:ln w="12700">
            <a:solidFill>
              <a:srgbClr val="1E2761"/>
            </a:solidFill>
            <a:prstDash val="solid"/>
          </a:ln>
        </p:spPr>
      </p:sp>
      <p:sp>
        <p:nvSpPr>
          <p:cNvPr id="55" name="Text 53"/>
          <p:cNvSpPr/>
          <p:nvPr/>
        </p:nvSpPr>
        <p:spPr>
          <a:xfrm>
            <a:off x="7808976" y="2980944"/>
            <a:ext cx="914400" cy="120700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60%</a:t>
            </a:r>
            <a:endParaRPr lang="en-US" sz="2200" dirty="0"/>
          </a:p>
        </p:txBody>
      </p:sp>
      <p:sp>
        <p:nvSpPr>
          <p:cNvPr id="56" name="Shape 54"/>
          <p:cNvSpPr/>
          <p:nvPr/>
        </p:nvSpPr>
        <p:spPr>
          <a:xfrm>
            <a:off x="8759952" y="2980944"/>
            <a:ext cx="3108960" cy="1207008"/>
          </a:xfrm>
          <a:prstGeom prst="rect">
            <a:avLst/>
          </a:prstGeom>
          <a:solidFill>
            <a:srgbClr val="2A3A6A"/>
          </a:solidFill>
          <a:ln w="12700">
            <a:solidFill>
              <a:srgbClr val="3A4A7A"/>
            </a:solidFill>
            <a:prstDash val="solid"/>
          </a:ln>
        </p:spPr>
      </p:sp>
      <p:sp>
        <p:nvSpPr>
          <p:cNvPr id="57" name="Text 55"/>
          <p:cNvSpPr/>
          <p:nvPr/>
        </p:nvSpPr>
        <p:spPr>
          <a:xfrm>
            <a:off x="8833104" y="3054096"/>
            <a:ext cx="292608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AI Generation</a:t>
            </a:r>
            <a:endParaRPr lang="en-US" sz="1000" dirty="0"/>
          </a:p>
        </p:txBody>
      </p:sp>
      <p:sp>
        <p:nvSpPr>
          <p:cNvPr id="58" name="Text 56"/>
          <p:cNvSpPr/>
          <p:nvPr/>
        </p:nvSpPr>
        <p:spPr>
          <a:xfrm>
            <a:off x="8833104" y="3456432"/>
            <a:ext cx="2926080" cy="658368"/>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Claude generates content, formulas, examples, and analogies</a:t>
            </a:r>
            <a:endParaRPr lang="en-US" sz="850" dirty="0"/>
          </a:p>
        </p:txBody>
      </p:sp>
      <p:sp>
        <p:nvSpPr>
          <p:cNvPr id="59" name="Shape 57"/>
          <p:cNvSpPr/>
          <p:nvPr/>
        </p:nvSpPr>
        <p:spPr>
          <a:xfrm>
            <a:off x="7808976" y="4334256"/>
            <a:ext cx="914400" cy="1207008"/>
          </a:xfrm>
          <a:prstGeom prst="rect">
            <a:avLst/>
          </a:prstGeom>
          <a:solidFill>
            <a:srgbClr val="C9A84C"/>
          </a:solidFill>
          <a:ln w="12700">
            <a:solidFill>
              <a:srgbClr val="C9A84C"/>
            </a:solidFill>
            <a:prstDash val="solid"/>
          </a:ln>
        </p:spPr>
      </p:sp>
      <p:sp>
        <p:nvSpPr>
          <p:cNvPr id="60" name="Text 58"/>
          <p:cNvSpPr/>
          <p:nvPr/>
        </p:nvSpPr>
        <p:spPr>
          <a:xfrm>
            <a:off x="7808976" y="4334256"/>
            <a:ext cx="914400" cy="120700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20%</a:t>
            </a:r>
            <a:endParaRPr lang="en-US" sz="2200" dirty="0"/>
          </a:p>
        </p:txBody>
      </p:sp>
      <p:sp>
        <p:nvSpPr>
          <p:cNvPr id="61" name="Shape 59"/>
          <p:cNvSpPr/>
          <p:nvPr/>
        </p:nvSpPr>
        <p:spPr>
          <a:xfrm>
            <a:off x="8759952" y="4334256"/>
            <a:ext cx="3108960" cy="1207008"/>
          </a:xfrm>
          <a:prstGeom prst="rect">
            <a:avLst/>
          </a:prstGeom>
          <a:solidFill>
            <a:srgbClr val="2A3A6A"/>
          </a:solidFill>
          <a:ln w="12700">
            <a:solidFill>
              <a:srgbClr val="3A4A7A"/>
            </a:solidFill>
            <a:prstDash val="solid"/>
          </a:ln>
        </p:spPr>
      </p:sp>
      <p:sp>
        <p:nvSpPr>
          <p:cNvPr id="62" name="Text 60"/>
          <p:cNvSpPr/>
          <p:nvPr/>
        </p:nvSpPr>
        <p:spPr>
          <a:xfrm>
            <a:off x="8833104" y="4407408"/>
            <a:ext cx="292608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Mandatory Human</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Review</a:t>
            </a:r>
            <a:endParaRPr lang="en-US" sz="1000" dirty="0"/>
          </a:p>
        </p:txBody>
      </p:sp>
      <p:sp>
        <p:nvSpPr>
          <p:cNvPr id="63" name="Text 61"/>
          <p:cNvSpPr/>
          <p:nvPr/>
        </p:nvSpPr>
        <p:spPr>
          <a:xfrm>
            <a:off x="8833104" y="4809744"/>
            <a:ext cx="2926080" cy="658368"/>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You verify accuracy before any publication. This step is non-optional.</a:t>
            </a:r>
            <a:endParaRPr lang="en-US" sz="850" dirty="0"/>
          </a:p>
        </p:txBody>
      </p:sp>
      <p:sp>
        <p:nvSpPr>
          <p:cNvPr id="64" name="Text 62"/>
          <p:cNvSpPr/>
          <p:nvPr/>
        </p:nvSpPr>
        <p:spPr>
          <a:xfrm>
            <a:off x="7808976" y="5705856"/>
            <a:ext cx="4059936" cy="256032"/>
          </a:xfrm>
          <a:prstGeom prst="rect">
            <a:avLst/>
          </a:prstGeom>
          <a:noFill/>
          <a:ln/>
        </p:spPr>
        <p:txBody>
          <a:bodyPr wrap="square" rtlCol="0" anchor="ctr"/>
          <a:lstStyle/>
          <a:p>
            <a:pPr marL="0" indent="0">
              <a:buNone/>
            </a:pPr>
            <a:r>
              <a:rPr lang="en-US" sz="800" i="1" dirty="0">
                <a:solidFill>
                  <a:srgbClr val="C9A84C"/>
                </a:solidFill>
                <a:latin typeface="Calibri" pitchFamily="34" charset="0"/>
                <a:ea typeface="Calibri" pitchFamily="34" charset="-122"/>
                <a:cs typeface="Calibri" pitchFamily="34" charset="-120"/>
              </a:rPr>
              <a:t>AI-generated content without human review is not professional-grade — it is a liability.</a:t>
            </a:r>
            <a:endParaRPr lang="en-US" sz="800" dirty="0"/>
          </a:p>
        </p:txBody>
      </p:sp>
      <p:sp>
        <p:nvSpPr>
          <p:cNvPr id="65" name="Shape 63"/>
          <p:cNvSpPr/>
          <p:nvPr/>
        </p:nvSpPr>
        <p:spPr>
          <a:xfrm>
            <a:off x="182880" y="6144768"/>
            <a:ext cx="11795760" cy="566928"/>
          </a:xfrm>
          <a:prstGeom prst="rect">
            <a:avLst/>
          </a:prstGeom>
          <a:solidFill>
            <a:srgbClr val="F5F7FA"/>
          </a:solidFill>
          <a:ln w="12700">
            <a:solidFill>
              <a:srgbClr val="DEE3ED"/>
            </a:solidFill>
            <a:prstDash val="solid"/>
          </a:ln>
        </p:spPr>
      </p:sp>
      <p:sp>
        <p:nvSpPr>
          <p:cNvPr id="66" name="Shape 64"/>
          <p:cNvSpPr/>
          <p:nvPr/>
        </p:nvSpPr>
        <p:spPr>
          <a:xfrm>
            <a:off x="182880" y="6144768"/>
            <a:ext cx="109728" cy="566928"/>
          </a:xfrm>
          <a:prstGeom prst="rect">
            <a:avLst/>
          </a:prstGeom>
          <a:solidFill>
            <a:srgbClr val="C9A84C"/>
          </a:solidFill>
          <a:ln w="12700">
            <a:solidFill>
              <a:srgbClr val="C9A84C"/>
            </a:solidFill>
            <a:prstDash val="solid"/>
          </a:ln>
        </p:spPr>
      </p:sp>
      <p:sp>
        <p:nvSpPr>
          <p:cNvPr id="67" name="Text 65"/>
          <p:cNvSpPr/>
          <p:nvPr/>
        </p:nvSpPr>
        <p:spPr>
          <a:xfrm>
            <a:off x="347472" y="6163056"/>
            <a:ext cx="11521440" cy="530352"/>
          </a:xfrm>
          <a:prstGeom prst="rect">
            <a:avLst/>
          </a:prstGeom>
          <a:noFill/>
          <a:ln/>
        </p:spPr>
        <p:txBody>
          <a:bodyPr wrap="square" rtlCol="0" anchor="ctr"/>
          <a:lstStyle/>
          <a:p>
            <a:pPr marL="0" indent="0">
              <a:buNone/>
            </a:pPr>
            <a:r>
              <a:rPr lang="en-US" sz="850" dirty="0">
                <a:solidFill>
                  <a:srgbClr val="4A4A4A"/>
                </a:solidFill>
                <a:latin typeface="Calibri" pitchFamily="34" charset="0"/>
                <a:ea typeface="Calibri" pitchFamily="34" charset="-122"/>
                <a:cs typeface="Calibri" pitchFamily="34" charset="-120"/>
              </a:rPr>
              <a:t>Practitioner Knowledge Repository · Module 0 (Reference)</a:t>
            </a:r>
            <a:endParaRPr lang="en-US" sz="850" dirty="0"/>
          </a:p>
          <a:p>
            <a:pPr marL="0" indent="0">
              <a:buNone/>
            </a:pPr>
            <a:r>
              <a:rPr lang="en-US" sz="850" dirty="0">
                <a:solidFill>
                  <a:srgbClr val="4A4A4A"/>
                </a:solidFill>
                <a:latin typeface="Calibri" pitchFamily="34" charset="0"/>
                <a:ea typeface="Calibri" pitchFamily="34" charset="-122"/>
                <a:cs typeface="Calibri" pitchFamily="34" charset="-120"/>
              </a:rPr>
              <a:t>Curated by Sarthaka Nanda (with Anthropic Claude) · CC BY-NC 4.0 · Free to use with attribution · Non-commercial only</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3091</Words>
  <Application>Microsoft Office PowerPoint</Application>
  <PresentationFormat>Widescreen</PresentationFormat>
  <Paragraphs>361</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Greeks &amp; Sensitivities — Practitioner Reference</dc:title>
  <dc:subject>PptxGenJS Presentation</dc:subject>
  <dc:creator>Sarthaka Nanda</dc:creator>
  <cp:lastModifiedBy>Vicky Nanda</cp:lastModifiedBy>
  <cp:revision>2</cp:revision>
  <dcterms:created xsi:type="dcterms:W3CDTF">2026-04-04T02:02:18Z</dcterms:created>
  <dcterms:modified xsi:type="dcterms:W3CDTF">2026-04-04T03:06:16Z</dcterms:modified>
</cp:coreProperties>
</file>