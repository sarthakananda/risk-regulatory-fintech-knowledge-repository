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1996928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11996928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FRTB — MODULE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Review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Trading Book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Risk  •  Trading Book Capital  •  Global Implementation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91440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51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Sarthaka Nanda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7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Claude (Anthropic)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892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expertise: Sarthaka Nanda  |  Structure, drafting &amp; formatting: Claude (Anthropic)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— What This Module Covers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914400" cy="7772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88720" y="914400"/>
            <a:ext cx="2286000" cy="777240"/>
          </a:xfrm>
          <a:prstGeom prst="rect">
            <a:avLst/>
          </a:prstGeom>
          <a:solidFill>
            <a:srgbClr val="0E6B8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914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914400"/>
            <a:ext cx="8229600" cy="77724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00584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Book vs Trading Book, Market Risk, VaR explained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914400" cy="7772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9202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188720" y="1920240"/>
            <a:ext cx="2286000" cy="777240"/>
          </a:xfrm>
          <a:prstGeom prst="rect">
            <a:avLst/>
          </a:prstGeom>
          <a:solidFill>
            <a:srgbClr val="0E6B8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74720" y="1920240"/>
            <a:ext cx="8229600" cy="77724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20116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VaR failed, the GFC exposures, Basel 2.5 emergency patch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914400" cy="7772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9260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188720" y="2926080"/>
            <a:ext cx="2286000" cy="777240"/>
          </a:xfrm>
          <a:prstGeom prst="rect">
            <a:avLst/>
          </a:prstGeom>
          <a:solidFill>
            <a:srgbClr val="0E6B8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88720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FRTB Framework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74720" y="2926080"/>
            <a:ext cx="8229600" cy="77724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301752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 pillars: Boundary, SA, IMA, PLAT, NMRF, CVA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931920"/>
            <a:ext cx="914400" cy="7772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3931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188720" y="3931920"/>
            <a:ext cx="2286000" cy="777240"/>
          </a:xfrm>
          <a:prstGeom prst="rect">
            <a:avLst/>
          </a:prstGeom>
          <a:solidFill>
            <a:srgbClr val="0E6B8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88720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Lens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74720" y="3931920"/>
            <a:ext cx="8229600" cy="77724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8" name="Text 26"/>
          <p:cNvSpPr/>
          <p:nvPr/>
        </p:nvSpPr>
        <p:spPr>
          <a:xfrm>
            <a:off x="3611880" y="402336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CRR3, UK PRA, US NPR, APAC — divergences and timelines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4937760"/>
            <a:ext cx="914400" cy="7772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49377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188720" y="4937760"/>
            <a:ext cx="2286000" cy="777240"/>
          </a:xfrm>
          <a:prstGeom prst="rect">
            <a:avLst/>
          </a:prstGeom>
          <a:solidFill>
            <a:srgbClr val="0E6B8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88720" y="4937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74720" y="4937760"/>
            <a:ext cx="8229600" cy="77724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34" name="Text 32"/>
          <p:cNvSpPr/>
          <p:nvPr/>
        </p:nvSpPr>
        <p:spPr>
          <a:xfrm>
            <a:off x="3611880" y="50292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VaR, book classification, SA capital, PLAT pass/fail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What You Need to Know First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Book vs Trading Book — The Core Distinction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5303520"/>
        </p:xfrm>
        <a:graphic>
          <a:graphicData uri="http://schemas.openxmlformats.org/drawingml/2006/table">
            <a:tbl>
              <a:tblPr/>
              <a:tblGrid>
                <a:gridCol w="2926080"/>
                <a:gridCol w="4114800"/>
                <a:gridCol w="4572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Banking 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Trading 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Accrual — historical 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Mark-to-Market — daily prices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Holding Intent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maturity / long term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term — to trade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Risk / IRRBB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Framework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RWA (SA or IRB)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Risk Capital (SA or IMA)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Illiquid — hard to exit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 — designed to be traded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P&amp;L Recognition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Interest income accrues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MTM gains/losses immediate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FRTB 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Stricter boundary rules apply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SA and IMA requirements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Risk — Five Components Under FRTB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777240"/>
            <a:ext cx="224028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777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224028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Rate Risk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1737360"/>
            <a:ext cx="2240280" cy="393192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828800"/>
            <a:ext cx="2057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DV01 sensitivity to rate moves across yield curve tenors and currencies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777240"/>
            <a:ext cx="2240280" cy="50292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777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560320" y="1280160"/>
            <a:ext cx="224028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Exchange Risk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1737360"/>
            <a:ext cx="2240280" cy="393192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828800"/>
            <a:ext cx="2057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rate moves against bank's reporting currency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777240"/>
            <a:ext cx="224028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777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937760" y="1280160"/>
            <a:ext cx="224028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Risk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1737360"/>
            <a:ext cx="2240280" cy="393192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828800"/>
            <a:ext cx="2057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prices, dividend risk, repo rates — listed and unlisted equities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777240"/>
            <a:ext cx="2240280" cy="50292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777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315200" y="1280160"/>
            <a:ext cx="224028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Risk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1737360"/>
            <a:ext cx="2240280" cy="393192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1828800"/>
            <a:ext cx="2057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Energy, metals, agriculture — spot and forward curve price moves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92640" y="777240"/>
            <a:ext cx="224028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9692640" y="777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692640" y="1280160"/>
            <a:ext cx="2240280" cy="4572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969264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Spread Risk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2240280" cy="393192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34" name="Text 32"/>
          <p:cNvSpPr/>
          <p:nvPr/>
        </p:nvSpPr>
        <p:spPr>
          <a:xfrm>
            <a:off x="9784080" y="1828800"/>
            <a:ext cx="2057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widening on bonds, CDS — NEW as standalone FRTB risk class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" y="5897880"/>
            <a:ext cx="1005840" cy="6400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589788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FRTB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88720" y="5897880"/>
            <a:ext cx="10698480" cy="640080"/>
          </a:xfrm>
          <a:prstGeom prst="rect">
            <a:avLst/>
          </a:prstGeom>
          <a:solidFill>
            <a:srgbClr val="FFF0F0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34440" y="5943600"/>
            <a:ext cx="10561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Spread Risk is a new standalone FRTB risk class. Pre-FRTB, spread movements were partially in VaR but not explicitly measured. CSR has its own risk weights and correlation structure, directly targeting the credit losses of 2008.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— Plain English Explanation with Numbers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VaR Answers: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the maximum I could lose over a given period, at a given confidence level, assuming normal conditions?"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91640"/>
          <a:ext cx="11612880" cy="38862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5212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Level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Losses exceed VaR only 1% of the 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Holding Period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assumption to exit position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DV01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€42,500 / bp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P&amp;L per 1 basis point rate move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99th Pctile Rate Shock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~23bp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move exceeded only 1% of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1-day 99% VaR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 × €42,500 = €977,500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 loss at 99% confidence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10-day VaR (scaled)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€977,500 × √10 ≈ €3,090,000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Square root of time scaling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Multiplication Factor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3× (clean backtesting)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capital buffer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Risk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× €3,090,000 ≈ €9,270,000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capital held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5760720"/>
            <a:ext cx="1005840" cy="7315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5760720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80160" y="5760720"/>
            <a:ext cx="10607040" cy="731520"/>
          </a:xfrm>
          <a:prstGeom prst="rect">
            <a:avLst/>
          </a:prstGeom>
          <a:solidFill>
            <a:srgbClr val="FFF0F0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25880" y="5806440"/>
            <a:ext cx="104698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says nothing about losses BEYOND the threshold. In 2008, some banks suffered losses 10–20× their VaR. The measure that regulators depended on for capital calibration was silent precisely when it mattered most.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Regulatory Arbitrage — Why Banks Moved Risk to the Trading Book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303520" cy="41148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Book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€100m BBB ABS Tranche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Treatment: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SA → 100% RW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= €100m × 100% × 8%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€8,000,000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822960"/>
            <a:ext cx="5303520" cy="4114800"/>
          </a:xfrm>
          <a:prstGeom prst="rect">
            <a:avLst/>
          </a:prstGeom>
          <a:solidFill>
            <a:srgbClr val="0E6B8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822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Book (pre-FRTB)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4173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€100m BBB ABS Tranche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Treatment: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VaR-based market risk capital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2006 markets → low spread vol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€500,000–€1,000,000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2560320"/>
            <a:ext cx="365760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210312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8–16×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5120640"/>
            <a:ext cx="1005840" cy="82296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5120640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80160" y="5120640"/>
            <a:ext cx="10607040" cy="822960"/>
          </a:xfrm>
          <a:prstGeom prst="rect">
            <a:avLst/>
          </a:prstGeom>
          <a:solidFill>
            <a:srgbClr val="FFF0F0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5166360"/>
            <a:ext cx="10469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had strong incentives to classify credit exposures as trading book. The same economic risk attracted a fraction of the capital. When credit markets froze in 2008, trading books held enormous positions with almost no buffer. FRTB was built to close this gap permanently.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The GFC Failures and Basel 2.5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FRTB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Built to Solve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Structural Failures the GFC Exposed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777240"/>
            <a:ext cx="224028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777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2240280" cy="640080"/>
          </a:xfrm>
          <a:prstGeom prst="rect">
            <a:avLst/>
          </a:prstGeom>
          <a:solidFill>
            <a:srgbClr val="6B1A1A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280160"/>
            <a:ext cx="22402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Underestimated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Risk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1920240"/>
            <a:ext cx="2240280" cy="37490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011680"/>
            <a:ext cx="2057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at 99th percentile. Actual GFC losses were 10–20× VaR. The measure was silent on severity beyond threshold.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777240"/>
            <a:ext cx="224028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777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560320" y="1280160"/>
            <a:ext cx="2240280" cy="640080"/>
          </a:xfrm>
          <a:prstGeom prst="rect">
            <a:avLst/>
          </a:prstGeom>
          <a:solidFill>
            <a:srgbClr val="6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280160"/>
            <a:ext cx="22402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Stressed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1920240"/>
            <a:ext cx="2240280" cy="37490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2011680"/>
            <a:ext cx="2057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used recent calm-period data (2003–2006). Low vol → low VaR → undercapitalised when crisis hit.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777240"/>
            <a:ext cx="224028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777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937760" y="1280160"/>
            <a:ext cx="2240280" cy="640080"/>
          </a:xfrm>
          <a:prstGeom prst="rect">
            <a:avLst/>
          </a:prstGeom>
          <a:solidFill>
            <a:srgbClr val="6B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280160"/>
            <a:ext cx="22402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1920240"/>
            <a:ext cx="2240280" cy="37490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011680"/>
            <a:ext cx="2057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Diversification benefits assumed from normal-period correlations vanished. All assets fell together in 2008.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777240"/>
            <a:ext cx="224028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777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315200" y="1280160"/>
            <a:ext cx="2240280" cy="640080"/>
          </a:xfrm>
          <a:prstGeom prst="rect">
            <a:avLst/>
          </a:prstGeom>
          <a:solidFill>
            <a:srgbClr val="6B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1280160"/>
            <a:ext cx="22402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1920240"/>
            <a:ext cx="2240280" cy="37490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2011680"/>
            <a:ext cx="2057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10-day liquidation assumed. Structured credit markets froze — positions took months or years to exit.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92640" y="777240"/>
            <a:ext cx="224028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9692640" y="777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692640" y="1280160"/>
            <a:ext cx="2240280" cy="640080"/>
          </a:xfrm>
          <a:prstGeom prst="rect">
            <a:avLst/>
          </a:prstGeom>
          <a:solidFill>
            <a:srgbClr val="6B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9692640" y="1280160"/>
            <a:ext cx="22402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Porous Book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920240"/>
            <a:ext cx="2240280" cy="37490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34" name="Text 32"/>
          <p:cNvSpPr/>
          <p:nvPr/>
        </p:nvSpPr>
        <p:spPr>
          <a:xfrm>
            <a:off x="9784080" y="2011680"/>
            <a:ext cx="2057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discretion enabled classification of banking-book credit risk as trading book for lower capital.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2.5 (2009) — The Emergency Patch and Its Limits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5486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Added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Did NOT Fix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Stressed VaR (SVaR)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recalculated using 2007–09 crisis period. Capital = VaR + SVaR.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VaR-based — tail severity beyond 99th pctile still unaddressed.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Incremental Risk Charge (IRC)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charge for default and credit migration risk over 1-year horizon.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Applied only to credit instruments; complex to implement consistently.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Comprehensive Risk Measure (CRM)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for correlation trading (CDO tranches) under stress scenarios.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Proved difficult to model; many banks struggled with implementation.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 Risk Enhancements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Tightened standardised charges for securitisation exposures in trading book.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Did not address the fundamental porous boundary between books.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5577840"/>
            <a:ext cx="100584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5577840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BCBS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280160" y="5577840"/>
            <a:ext cx="10607040" cy="822960"/>
          </a:xfrm>
          <a:prstGeom prst="rect">
            <a:avLst/>
          </a:prstGeom>
          <a:solidFill>
            <a:srgbClr val="D6EA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25880" y="5623560"/>
            <a:ext cx="10469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2.5 approximately doubled market risk capital. But the BCBS immediately recognised it was a patch. The framework was now an accumulation of VaR + SVaR + IRC + CRM — complex, inconsistent, and still built on the flawed VaR foundation. A fundamental redesign was needed.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FRTB Consultation Timeline — 2012 to 2025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118872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868680"/>
            <a:ext cx="256032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868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Consultation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868680"/>
            <a:ext cx="786384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8686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ES, liquidity horizons, P&amp;L Attribution Test concepts introduced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490472"/>
            <a:ext cx="118872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490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63040" y="1490472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14904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Consultation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1490472"/>
            <a:ext cx="7863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49047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Desk-level IMA approval concept; boundary rules refined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12264"/>
            <a:ext cx="118872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11226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2112264"/>
            <a:ext cx="256032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21122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+ QIS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0" y="2112264"/>
            <a:ext cx="786384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211226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Impact Study — significant SA recalibration needed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734056"/>
            <a:ext cx="118872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7340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2016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63040" y="2734056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27340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BCBS 352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023360" y="2734056"/>
            <a:ext cx="7863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2734056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final standard — target implementation 2019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355848"/>
            <a:ext cx="118872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3558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2018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63040" y="3355848"/>
            <a:ext cx="256032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33558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Standard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023360" y="3355848"/>
            <a:ext cx="786384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335584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recalibrated downward after QIS showed excessive capital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977640"/>
            <a:ext cx="1188720" cy="50292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977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2019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463040" y="397764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3977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BCBS 457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23360" y="3977640"/>
            <a:ext cx="7863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39776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definitive text — implementation deferred to 2022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599432"/>
            <a:ext cx="1188720" cy="50292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5994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463040" y="4599432"/>
            <a:ext cx="256032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08760" y="45994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/ APAC Live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023360" y="4599432"/>
            <a:ext cx="786384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0" y="45994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CRR3 in force; MAS, HKMA, JFSA implemented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5221224"/>
            <a:ext cx="1188720" cy="50292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522122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463040" y="5221224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522122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PRA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023360" y="5221224"/>
            <a:ext cx="7863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0" y="522122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Near-final rules (PS17/24) — one year behind EU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5843016"/>
            <a:ext cx="118872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584301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463040" y="5843016"/>
            <a:ext cx="256032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08760" y="58430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Final Rule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023360" y="5843016"/>
            <a:ext cx="786384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5843016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Re-proposed NPR expected; implementation date unknown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0" name="Text 58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Six Pillars of the New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FRTB Framework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FRTB Architecture — Six Pillars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777240"/>
            <a:ext cx="3749040" cy="502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777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77724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Trading/Banking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Boundary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280160"/>
            <a:ext cx="3749040" cy="224028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71600"/>
            <a:ext cx="3566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Presumptive list replaces intent-based classification. Reclassification is a regulatory event.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777240"/>
            <a:ext cx="3749040" cy="502920"/>
          </a:xfrm>
          <a:prstGeom prst="rect">
            <a:avLst/>
          </a:prstGeom>
          <a:solidFill>
            <a:srgbClr val="0E6B8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0" y="777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77724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(SA)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1280160"/>
            <a:ext cx="3749040" cy="224028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371600"/>
            <a:ext cx="3566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for all banks. Sensitivity-based: delta, vega, curvature. DRC + RRAO add-ons.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777240"/>
            <a:ext cx="3749040" cy="502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83880" y="777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98280" y="77724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Models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(IMA)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83880" y="1280160"/>
            <a:ext cx="3749040" cy="224028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1371600"/>
            <a:ext cx="3566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Desk-level approval. Expected Shortfall replaces VaR. Variable liquidity horizons 10–250 days.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703320"/>
            <a:ext cx="3749040" cy="502920"/>
          </a:xfrm>
          <a:prstGeom prst="rect">
            <a:avLst/>
          </a:prstGeom>
          <a:solidFill>
            <a:srgbClr val="0E6B8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" y="3703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70332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Attribution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(PLAT)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4206240"/>
            <a:ext cx="3749040" cy="224028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4297680"/>
            <a:ext cx="3566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test: model RTPL vs actual HPL. Failure → SA capital. Ongoing monitoring required.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3703320"/>
            <a:ext cx="3749040" cy="502920"/>
          </a:xfrm>
          <a:prstGeom prst="rect">
            <a:avLst/>
          </a:prstGeom>
          <a:solidFill>
            <a:srgbClr val="8B1A1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06240" y="3703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70332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Non-Modellable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 (NMRF)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06240" y="4206240"/>
            <a:ext cx="3749040" cy="224028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0" y="4297680"/>
            <a:ext cx="3566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&lt;24 observations in 12 months = NMRF. Punitive ES charge, no diversification offset.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83880" y="3703320"/>
            <a:ext cx="3749040" cy="502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183880" y="3703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98280" y="370332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CVA under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FRTB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83880" y="4206240"/>
            <a:ext cx="3749040" cy="224028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34" name="Text 32"/>
          <p:cNvSpPr/>
          <p:nvPr/>
        </p:nvSpPr>
        <p:spPr>
          <a:xfrm>
            <a:off x="8275320" y="4297680"/>
            <a:ext cx="3566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BA-CVA or SA-CVA. Treats CVA as genuine market risk — sensitivities explicitly captured.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1: The Trading/Banking Book Boundary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4206240"/>
        </p:xfrm>
        <a:graphic>
          <a:graphicData uri="http://schemas.openxmlformats.org/drawingml/2006/table">
            <a:tbl>
              <a:tblPr/>
              <a:tblGrid>
                <a:gridCol w="5806440"/>
                <a:gridCol w="58064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 Be TRADING 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 Be BANKING 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Instruments held for short-term resale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Unlisted equities not held for trading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Market-making positions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Loans and advances to customers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Instruments held to hedge trading book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Deposits taken from customers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Exchange-traded derivatives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Investments in subsidiaries and associates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Options and actively traded structured products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estate holdings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positions in any context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Retail and SME credit exposures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5257800"/>
            <a:ext cx="1005840" cy="777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5257800"/>
            <a:ext cx="1005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280160" y="5257800"/>
            <a:ext cx="1060704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25880" y="5303520"/>
            <a:ext cx="104698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Reclassification is now a regulatory event — requires supervisory approval, must be publicly disclosed, and any capital benefit is recognised immediately as a loss. The arbitrage incentive is eliminated by design.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2: Standardised Approach (SA) —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3931920"/>
        </p:xfrm>
        <a:graphic>
          <a:graphicData uri="http://schemas.openxmlformats.org/drawingml/2006/table">
            <a:tbl>
              <a:tblPr/>
              <a:tblGrid>
                <a:gridCol w="2286000"/>
                <a:gridCol w="5212080"/>
                <a:gridCol w="4114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 Component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Instruments Covered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SBM — Delta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Sensitivity to risk factor level. DV01 × risk weight for rates.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instruments: bonds, swaps, options, equities, FX, commodities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SBM — Vega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Sensitivity to implied volatility change.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Options and vol-sensitive instruments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SBM — Curvature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Second-order (gamma-like) for non-linearity.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Options — large moves beyond delta approximation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Risk Charge (DRC)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Jump-to-default risk. 99.9% confidence, 1-year horizon.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Bonds, equities, credit derivatives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Residual Risk Add-On (RRAO)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Notional charge for exotic features not in delta/vega/curvature.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risk, correlation risk, behavioural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83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Risk Classes: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5303520"/>
            <a:ext cx="1572768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5303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38528" y="5303520"/>
            <a:ext cx="1572768" cy="50292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10" name="Text 7"/>
          <p:cNvSpPr/>
          <p:nvPr/>
        </p:nvSpPr>
        <p:spPr>
          <a:xfrm>
            <a:off x="1938528" y="5303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 (non-sec)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02736" y="5303520"/>
            <a:ext cx="1572768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2" name="Text 9"/>
          <p:cNvSpPr/>
          <p:nvPr/>
        </p:nvSpPr>
        <p:spPr>
          <a:xfrm>
            <a:off x="3602736" y="5303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 (CTP)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66944" y="5303520"/>
            <a:ext cx="1572768" cy="50292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14" name="Text 11"/>
          <p:cNvSpPr/>
          <p:nvPr/>
        </p:nvSpPr>
        <p:spPr>
          <a:xfrm>
            <a:off x="5266944" y="5303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 (non-CTP)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931152" y="5303520"/>
            <a:ext cx="1572768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6" name="Text 13"/>
          <p:cNvSpPr/>
          <p:nvPr/>
        </p:nvSpPr>
        <p:spPr>
          <a:xfrm>
            <a:off x="6931152" y="5303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595360" y="5303520"/>
            <a:ext cx="1572768" cy="50292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0" y="5303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259568" y="5303520"/>
            <a:ext cx="1572768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7"/>
          <p:cNvSpPr/>
          <p:nvPr/>
        </p:nvSpPr>
        <p:spPr>
          <a:xfrm>
            <a:off x="10259568" y="5303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3: Internal Models Approach — ES Replaces VaR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vs Expected Shortfall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5669280" cy="393192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(Pre-FRTB)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(FRTB)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99th percentile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97.5th percentile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 loss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tail loss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Captures Tail?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Calibration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Recent history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Stressed period 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Holding Period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days (uniform)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10–250 days (by risk factor)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 Sensitivity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Insensitive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Sub-additive — harder to optimise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777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Horizons by Risk Factor</a:t>
            </a:r>
            <a:endParaRPr lang="en-US" sz="14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669280" cy="3931920"/>
        </p:xfrm>
        <a:graphic>
          <a:graphicData uri="http://schemas.openxmlformats.org/drawingml/2006/table">
            <a:tbl>
              <a:tblPr/>
              <a:tblGrid>
                <a:gridCol w="1097280"/>
                <a:gridCol w="4572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G10 FX, G10 rates (liquid tenors), large-cap equities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Non-major FX, IG credit spreads, equity vol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 credit, EM equities, energy (liquid maturities)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sovereign credit, index vol, illiquid commodities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 single-name credit vol, structured products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 single-name vol, illiquid structured products, NMRF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5303520"/>
            <a:ext cx="1005840" cy="73152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10" name="Text 6"/>
          <p:cNvSpPr/>
          <p:nvPr/>
        </p:nvSpPr>
        <p:spPr>
          <a:xfrm>
            <a:off x="274320" y="5303520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280160" y="5303520"/>
            <a:ext cx="10607040" cy="731520"/>
          </a:xfrm>
          <a:prstGeom prst="rect">
            <a:avLst/>
          </a:prstGeom>
          <a:solidFill>
            <a:srgbClr val="D6EAF8"/>
          </a:solidFill>
          <a:ln w="12700">
            <a:solidFill>
              <a:srgbClr val="0E6B8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25880" y="5349240"/>
            <a:ext cx="104698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 approval is desk-level — each desk approved separately. Desks failing PLAT use SA. A bank may have some IMA desks and some SA desks simultaneously. Desk-level output floor: IMA RWA ≥ 72.5% of SA RWA.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4" name="Text 10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4: The P&amp;L Attribution Test (PLAT) — The IMA Gatekeeper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 compares two daily P&amp;L measures: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03520" cy="128016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43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HPL — Hypothetical P&amp;L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daily MTM change in the desk's positions. Portfolio held fixed, revalued with end-of-day prices. The 'truth'.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1463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0" y="1143000"/>
            <a:ext cx="5303520" cy="1280160"/>
          </a:xfrm>
          <a:prstGeom prst="rect">
            <a:avLst/>
          </a:prstGeom>
          <a:solidFill>
            <a:srgbClr val="0E6B8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143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RTPL — Risk-Theoretical P&amp;L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5544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predicted by the ES model using only the model's risk factors. What the model thinks happened.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11612880" cy="21031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5212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Spearman Corr.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 p-value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Consequence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 —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 approved — desk uses ES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 — Warning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0.70–0.79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0.01–0.05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 capital surcharge applied; warning issued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— 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 revoked — desk moves fully to SA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274320" y="4937760"/>
            <a:ext cx="1005840" cy="777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4937760"/>
            <a:ext cx="1005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ATIONAL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280160" y="4937760"/>
            <a:ext cx="1060704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5880" y="4983480"/>
            <a:ext cx="104698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 is a DAILY test — not just at approval. A bad quarter of volatile markets can trigger SA fallback even for a well-designed model. Banks need continuous PLAT monitoring infrastructure, not just an approval-time capability.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Pillars 5 &amp; 6: NMRF and CVA under FRTB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5 — Non-Modellable Risk Factors (NMRF)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5669280" cy="3749040"/>
        </p:xfrm>
        <a:graphic>
          <a:graphicData uri="http://schemas.openxmlformats.org/drawingml/2006/table">
            <a:tbl>
              <a:tblPr/>
              <a:tblGrid>
                <a:gridCol w="2286000"/>
                <a:gridCol w="3383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Modellability Test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24 verifiable price observations in 12 months, no 90-day 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NMRF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Cannot be included in ES model — separate capital charge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NMRF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Stressed ES calibrated to the specific risk factor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Diversification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NMRF charges cannot be offset against each other or the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Deliberately punitive — incentivises reduction of illiquid positions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Affected Desks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credit, bespoke derivatives, EM, some commodities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777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6 — CVA under FRTB</a:t>
            </a:r>
            <a:endParaRPr lang="en-US" sz="14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669280" cy="237744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Uses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BA-CVA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Banks without CVA desk 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Formula-based; conservative; simpler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SA-CVA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Banks with CVA desk and hedging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Sensitivity-based; mirrors FRTB SA; captures hedges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IMA-CVA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available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Removed from final standard — implementation too complex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217920" y="3749040"/>
            <a:ext cx="1005840" cy="155448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10" name="Text 6"/>
          <p:cNvSpPr/>
          <p:nvPr/>
        </p:nvSpPr>
        <p:spPr>
          <a:xfrm>
            <a:off x="6217920" y="3749040"/>
            <a:ext cx="10058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223760" y="3749040"/>
            <a:ext cx="4663440" cy="1554480"/>
          </a:xfrm>
          <a:prstGeom prst="rect">
            <a:avLst/>
          </a:prstGeom>
          <a:solidFill>
            <a:srgbClr val="EEF3FA"/>
          </a:solidFill>
          <a:ln w="12700">
            <a:solidFill>
              <a:srgbClr val="0E6B8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269480" y="3794760"/>
            <a:ext cx="45262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Basel III, CVA was a simple VaR-based charge. FRTB treats CVA as genuine market risk — sensitivities to credit spreads, rates, and FX are all explicitly captured. This significantly increases complexity and may increase capital for banks with large derivatives books.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5120640"/>
            <a:ext cx="1005840" cy="82296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4" name="Text 10"/>
          <p:cNvSpPr/>
          <p:nvPr/>
        </p:nvSpPr>
        <p:spPr>
          <a:xfrm>
            <a:off x="274320" y="5120640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NMRF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280160" y="5120640"/>
            <a:ext cx="4663440" cy="822960"/>
          </a:xfrm>
          <a:prstGeom prst="rect">
            <a:avLst/>
          </a:prstGeom>
          <a:solidFill>
            <a:srgbClr val="FFF0F0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325880" y="5166360"/>
            <a:ext cx="45262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NMRF was the most contested FRTB element. Many structured credit and EM desks found large proportions of risk factors failing modellability — making IMA non-viable without business model changes.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How Each Jurisdiction Implemented FRTB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Regulatory Lens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FRTB Implementation — Timelines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475488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743200"/>
                <a:gridCol w="2286000"/>
                <a:gridCol w="2286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Jurisdiction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 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 Available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Floor Full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Standard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2028 (72.5%)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(CRR3)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2025 (EBA RTS pending)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2030 (72.5%)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In force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(PRA PS17/24)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2026 (PRA approval)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2030 (72.5%)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Near-final rules published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(Fed/OCC)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Re-proposal pending — significant delay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Singapore (MAS)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In force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Hong Kong (HKMA)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In force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Japan (JFSA)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In force — ahead of BCBS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5760720"/>
            <a:ext cx="1005840" cy="7315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5760720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280160" y="5760720"/>
            <a:ext cx="10607040" cy="731520"/>
          </a:xfrm>
          <a:prstGeom prst="rect">
            <a:avLst/>
          </a:prstGeom>
          <a:solidFill>
            <a:srgbClr val="FFF0F0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25880" y="5806440"/>
            <a:ext cx="104698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delay creates a competitive dynamic. EU, UK, APAC banks face FRTB capital from 2025–26. US banks do not — yet. Global banks with US parent companies face uncertainty on timelines and calibration that directly affects trading book strategy.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Most Significant Jurisdictional Divergences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731520" cy="1554480"/>
          </a:xfrm>
          <a:prstGeom prst="rect">
            <a:avLst/>
          </a:prstGeom>
          <a:solidFill>
            <a:srgbClr val="0E6B8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731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05840" y="822960"/>
            <a:ext cx="4114800" cy="1554480"/>
          </a:xfrm>
          <a:prstGeom prst="rect">
            <a:avLst/>
          </a:prstGeom>
          <a:solidFill>
            <a:srgbClr val="0E6B8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9144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EU/UK CVA Exemptions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(Non-Financial Counterparties)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0" y="822960"/>
            <a:ext cx="6766560" cy="155448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91440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and UK both exempt non-financial corporates (NFCs) and pension funds from CVA capital requirements. BCBS has no such exemption. Policy intent: don't penalise genuine hedgers. Impact: significant reduction in CVA capital for EU/UK banks vs BCBS baseline.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731520" cy="1554480"/>
          </a:xfrm>
          <a:prstGeom prst="rect">
            <a:avLst/>
          </a:prstGeom>
          <a:solidFill>
            <a:srgbClr val="8B1A1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651760"/>
            <a:ext cx="731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005840" y="2651760"/>
            <a:ext cx="4114800" cy="1554480"/>
          </a:xfrm>
          <a:prstGeom prst="rect">
            <a:avLst/>
          </a:prstGeom>
          <a:solidFill>
            <a:srgbClr val="8B1A1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27432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Implementation Delay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2651760"/>
            <a:ext cx="6766560" cy="155448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74320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Basel III Endgame NPR (Jul 2023) faced record industry pushback and congressional opposition. Re-proposal pending as of early 2025. US banks face no FRTB obligation and have no confirmed implementation date. Creates material competitive asymmetry with EU/UK/APAC peers.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480560"/>
            <a:ext cx="731520" cy="1554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4480560"/>
            <a:ext cx="731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005840" y="4480560"/>
            <a:ext cx="4114800" cy="1554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51560" y="4572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Small Trading Book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— €500m vs BCBS €50m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20640" y="4480560"/>
            <a:ext cx="6766560" cy="155448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457200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set the exemption threshold at €500m (10× the BCBS baseline of €50m). This exempts a significantly larger population of smaller EU banks from full FRTB SA compliance. UK followed BCBS at ~£50m, meaning more UK banks face full compliance.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— Applying FRTB in Practice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VaR Calculation — EUR Interest Rate Swap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Trade: €100m 5-year EUR IRS fixed payer. DV01 = €42,500/bp.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12880" cy="3749040"/>
        </p:xfrm>
        <a:graphic>
          <a:graphicData uri="http://schemas.openxmlformats.org/drawingml/2006/table">
            <a:tbl>
              <a:tblPr/>
              <a:tblGrid>
                <a:gridCol w="3200400"/>
                <a:gridCol w="5486400"/>
                <a:gridCol w="2926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99th Pctile Rate Shock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Historical 1yr: std dev ≈ 10bp. 2.33 × 10bp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23bp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1-day 99% VaR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23bp × €42,500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€977,500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10-day VaR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€977,500 × √10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€3,090,000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Multiplication Factor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3× (clean backtesting)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Risk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× €3,090,000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€9,270,000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Stressed VaR (Basel III)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Recalculate with 2008 data: 35bp shock → add to VaR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~€14,000,000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Basel III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capital + SVaR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€23,000,000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5029200"/>
            <a:ext cx="1005840" cy="8686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5029200"/>
            <a:ext cx="10058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280160" y="5029200"/>
            <a:ext cx="1060704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25880" y="5074920"/>
            <a:ext cx="104698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€23m capital covered the 99th percentile 10-day loss. But in 2022, EUR rates moved 300bp in weeks. Loss on this position: 300 × €42,500 = €12,750,000 per day. Over 10 days: €127,500,000 — 5.5× the capital. VaR provided no warning. FRTB ES would have required stressed calibration to capture this.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Book Classification — Same Bond, Very Different Capital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Instrument: €50m BBB corporate bond, 5-year maturity. Same economic exposure — different book = different capital.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12880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572000"/>
                <a:gridCol w="2926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Pre-FRTB Incentive?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Banking Book (IRB)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€240,000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 0.20% × LGD 45% × RW formula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Unfavoured — most accurate but highest on IRB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Banking Book (SA)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€4,000,000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BBB = 100% RW × 8% × €50m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Unfavoured — most expensive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Trading Book VaR (benign)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€2,500,000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2006 credit spread vol → low VaR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FAVOURED — 60% lower than banking book 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FRTB SA (trading book)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€3,550,000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SBM CSR €2,800k + DRC €750k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Neutral — DRC captures jump-to-default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663440"/>
            <a:ext cx="100584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663440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FRTB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280160" y="4663440"/>
            <a:ext cx="10607040" cy="822960"/>
          </a:xfrm>
          <a:prstGeom prst="rect">
            <a:avLst/>
          </a:prstGeom>
          <a:solidFill>
            <a:srgbClr val="D6EA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25880" y="4709160"/>
            <a:ext cx="10469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FRTB closes the gap two ways: (1) stricter boundary rules prevent classification of banking-book credit exposures as trading book; (2) FRTB SA includes DRC — a jump-to-default charge that banking-book SA always included. The arbitrage is eliminated by making the trading book SA more expensive for credit instruments.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" y="566928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increase: FRTB SA vs pre-FRTB benign VaR = +42%  |  DRC alone captures what VaR missed entirely in 2008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3: FRTB SA Capital — EUR Rates Desk (10yr IRS)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Trade: €200m 10-year EUR IRS fixed payer. DV01 = €170,000/bp. Risk class: GIRR (EUR).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1288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  <a:gridCol w="3383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 / Input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Factor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 yield curve, 10yr tenor bucket (GIRR)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Assigned per BCBS 457 Table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 Sensitivity (sk)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DV01 × 10,000bp = position PV sensitivity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€170,000 × 10,000 = €1.7bn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Risk Weight (10yr)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Prescribed in BCBS 457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Weighted Sensitivity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RW × PV sensitivity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0.013 × €1.7bn = €22,100,000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Bucket Capital (Kb)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position: Kb = |sk| = weighted sensitivity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€22,100,000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Vega / Curvature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— vanilla linear instrument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jump-to-default for plain IRS (CCR via SA-CCR)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FRTB SA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 capital charge for GIRR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€22,100,000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486400"/>
          <a:ext cx="11612880" cy="100584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42976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Estimate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III VaR + SVaR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€23–32m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Volatile — higher in stress periods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FRTB 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€22.1m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 — same in calm and stressed markets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FRTB IMA (est.)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€18–25m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on model, stress period, LH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4: P&amp;L Attribution Test — Pass and Fail Scenarios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Government Bond Desk — ES model with 3 risk factors: yield curve parallel shift, slope, EUR/USD FX.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03520" cy="41148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43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 — PLAT PASS (Vanilla Bonds Only)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530352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Spearman Correlation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 p-value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HPL − RTPL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€85,000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±10%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3246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IMA approved. Desk uses ES capital.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143000"/>
            <a:ext cx="5669280" cy="4114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1430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B — PLAT FAIL (Callable Bonds Added)</a:t>
            </a:r>
            <a:endParaRPr lang="en-US" sz="13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554480"/>
          <a:ext cx="566928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Spearman Correlation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FAIL — below threshold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 p-value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FAIL — distributions differ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HPL − RTPL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€520,000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±10%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FAIL — systematic 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217920" y="32461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IMA revoked. Desk moves to SA capital.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4320" y="3703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Scenario B fails: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74320" y="4023360"/>
            <a:ext cx="1161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Callable bonds have embedded options — their P&amp;L is driven by implied volatility (vega), not just rate levels and slope. The model's 3 risk factors (parallel shift, slope, FX) do not capture vega, so RTPL systematically fails to explain HPL on vol-driven days. Fix: add vega risk factor to model and demonstrate improved RTPL accuracy.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4983480"/>
            <a:ext cx="1005840" cy="685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3"/>
          <p:cNvSpPr/>
          <p:nvPr/>
        </p:nvSpPr>
        <p:spPr>
          <a:xfrm>
            <a:off x="274320" y="4983480"/>
            <a:ext cx="1005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ATIONAL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280160" y="4983480"/>
            <a:ext cx="1060704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325880" y="5029200"/>
            <a:ext cx="10469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well-designed model can fail PLAT if desk composition changes (new products) or market regime shifts (new vol drivers). Daily PLAT monitoring is essential, not optional.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7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Review — Known Simplifications in This Module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4297680"/>
        </p:xfrm>
        <a:graphic>
          <a:graphicData uri="http://schemas.openxmlformats.org/drawingml/2006/table">
            <a:tbl>
              <a:tblPr/>
              <a:tblGrid>
                <a:gridCol w="2743200"/>
                <a:gridCol w="88696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Simplification / Caveat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Example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√10 scaling assumes IID returns — not always valid in practice. Illustrative only.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 Capital (Example 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Single-position formula shown. Multi-position books use correlation matrices — results differ.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 Thresholds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457 thresholds shown. EBA RTS may specify additional/modified metrics.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Regulatory 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re-proposal — material changes expected. Verify current NPR status.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CVA Worked Example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CVA capital calculation included — requires portfolio-level data beyond scope here.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 Horizons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457 Table 1 assignments shown. Supervisors may require longer LHs for specific positions.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5349240"/>
            <a:ext cx="100584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5349240"/>
            <a:ext cx="1005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280160" y="5349240"/>
            <a:ext cx="1060704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25880" y="5394960"/>
            <a:ext cx="104698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are a practitioner working on FRTB implementation and spot an error, oversimplification, or point worth debating — please comment on the LinkedIn post. This is a living document and practitioner feedback is the next quality layer no AI can replicate.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 — The Knowledge Repository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777240"/>
            <a:ext cx="374904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777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280160"/>
            <a:ext cx="3749040" cy="2148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 → IV Evolution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Credit, Market &amp; Operational Risk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worked examples | 36-term glossary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777240"/>
            <a:ext cx="374904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777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1280160"/>
            <a:ext cx="3749040" cy="2148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173736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FRTB — Fundamental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pillars | Regulatory lens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/ SA / PLAT examples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777240"/>
            <a:ext cx="3749040" cy="5029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777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1280160"/>
            <a:ext cx="3749040" cy="2148840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173736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xVA &amp; Counterparty Risk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CVA, DVA, FVA, KVA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SA-CCR in depth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611880"/>
            <a:ext cx="3749040" cy="5029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3611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" y="4114800"/>
            <a:ext cx="3749040" cy="2148840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457200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ISDA &amp; Netting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Agreement | CSA | 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enforceability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3611880"/>
            <a:ext cx="3749040" cy="5029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3611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06240" y="4114800"/>
            <a:ext cx="3749040" cy="2148840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97680" y="457200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Uncleared Margin Rules (UMR)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calculation | SIMM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Phase-in by entity size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83880" y="3611880"/>
            <a:ext cx="3749040" cy="5029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3611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83880" y="4114800"/>
            <a:ext cx="3749040" cy="2148840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75320" y="457200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EMIR / CFTC / MAS Reporting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repositories | LEI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Jurisdictional variations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This Document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Produced through structured dialogue between: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5303520" cy="2377440"/>
          </a:xfrm>
          <a:prstGeom prst="rect">
            <a:avLst/>
          </a:prstGeom>
          <a:solidFill>
            <a:srgbClr val="0A1F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574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Sarthaka Nanda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years — Investment Banking &amp; RegTech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expertise, scope, practitioner context, and critical review of all content.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identified and verified against primary BCBS regulatory sources.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577840" cy="2377440"/>
          </a:xfrm>
          <a:prstGeom prst="rect">
            <a:avLst/>
          </a:prstGeom>
          <a:solidFill>
            <a:srgbClr val="0A1F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20574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(Anthropic)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2514600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&amp; Writing Assistant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drafting, formatting, and self-review on instruction.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 only works if the human never outsources the judgment.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6177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share. Comments and corrections welcome on LinkedIn.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50292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is part of a practitioner knowledge repository on banking regulation and derivatives.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FRTB — Fundamental Review of the Trading Book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of the Practitioner Knowledge Repository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514600"/>
            <a:ext cx="82296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3246120"/>
            <a:ext cx="32004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3246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FRTB replaced VaR with Expected Shortfall — capturing tail severity, not just threshold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840480"/>
            <a:ext cx="32004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3840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trading/banking book boundary is now rule-based and reclassification is a regulatory event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4434840"/>
            <a:ext cx="32004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4434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 is desk-level — banks will have mixed SA/IMA books. PLAT is a daily operational requirement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5029200"/>
            <a:ext cx="32004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5029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is mandatory for all banks — even IMA desks must calculate SA as a floor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5623560"/>
            <a:ext cx="32004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56235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and UK are live (2025/2026). US is delayed. APAC has implemented close to BCBS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FRTB — Fundamental Review of the Trading Book  |  Module 2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  |  Sarthaka Nanda &amp; Claude (Anthropic)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FRTB — Fundamental Review of the Trading Book</dc:title>
  <dc:subject>PptxGenJS Presentation</dc:subject>
  <dc:creator>Sarthaka Nanda &amp; Claude (Anthropic)</dc:creator>
  <cp:lastModifiedBy>Sarthaka Nanda &amp; Claude (Anthropic)</cp:lastModifiedBy>
  <cp:revision>1</cp:revision>
  <dcterms:created xsi:type="dcterms:W3CDTF">2026-03-10T04:08:09Z</dcterms:created>
  <dcterms:modified xsi:type="dcterms:W3CDTF">2026-03-10T04:08:09Z</dcterms:modified>
</cp:coreProperties>
</file>