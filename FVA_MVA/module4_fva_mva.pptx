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PRACTITIONER KNOWLEDGE REPOSITORY  ·  BANKING REGULATION &amp; RISK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5029200" cy="2926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02920"/>
            <a:ext cx="5029200" cy="278892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2377440"/>
            <a:ext cx="2560320" cy="960120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Fair Value (MTM)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B2A4A"/>
                </a:solidFill>
                <a:latin typeface="Calibri"/>
              </a:rPr>
              <a:t>What everyone sees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596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80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4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8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291840"/>
            <a:ext cx="4389120" cy="22860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3566160"/>
            <a:ext cx="3474720" cy="41148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844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FVA — Funding Valuation Adjustment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096512"/>
            <a:ext cx="3474720" cy="41148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114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MVA — Margin Valuation Adjustment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626864"/>
            <a:ext cx="3474720" cy="411480"/>
          </a:xfrm>
          <a:prstGeom prst="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645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CVA / DVA — Counterparty Credit (Module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109728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53A"/>
                </a:solidFill>
                <a:latin typeface="Calibri"/>
              </a:rPr>
              <a:t>MODULE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15544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Funding Valuation
Adjustment (FVA)
&amp; Margin Valuation
Adjustment (MVA)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A9BB0"/>
                </a:solidFill>
                <a:latin typeface="Calibri"/>
              </a:rPr>
              <a:t>The Hidden Tax on Every Derivative You Trade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4343400"/>
            <a:ext cx="36576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44805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0"/>
                </a:solidFill>
                <a:latin typeface="Calibri"/>
              </a:rPr>
              <a:t>Sarthaka Nanda  |  with Anthropic Claude
Practitioner Knowledge Repository · 2025  |  CC BY-NC 4.0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·  Practitioner Knowledge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Iceberg Beneath Every Derivative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Slides 1–3 of 4: What FVA &amp; MVA are and why they matter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5577840" cy="507492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The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5564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You lend a friend £100 — but you borrowed that £100 from your bank at 4%.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Even if your friend pays you back perfectly, you still paid the funding cost.
FVA is exactly that: the cost a dealer bank pays to fund derivative positions when the market doesn't automatically return collateral.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52120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53A"/>
                </a:solidFill>
                <a:latin typeface="Calibri"/>
              </a:rPr>
              <a:t>MVA: The Pension Fund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Post-2008 regulation (UMR) requires bilateral derivative users to post Initial Margin — cash locked with a custodian. It earns OIS. Your hurdle rate is higher. That drag over the life of the trade is MVA.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280160"/>
            <a:ext cx="5806440" cy="5074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Why Textbook Pricing Fails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783080"/>
            <a:ext cx="2688336" cy="214884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74520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Textbook World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0280"/>
            <a:ext cx="25054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Funding at risk-free rate
• Unlimited borrowing
• Collateral symmetry
• LIBOR ≈ OIS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0264" y="1783080"/>
            <a:ext cx="2688336" cy="214884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1874520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Real World (Post-2008)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240280"/>
            <a:ext cx="25054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OIS + credit spread (30–150bps)
• Constrained funding capacity
• Asymmetric CSA terms
• Multi-curve divergence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00507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LIBOR-OIS spread hit 360bps in Oct 2008 — 35x its pre-crisis level. Banks pricing without FVA were booking hidden losses.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828032"/>
            <a:ext cx="5486400" cy="54864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8463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JP Morgan booked a $1.5 billion FVA charge in Jan 2014.
The hidden tax finally became visible.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FVA &amp; MVA: Twin Costs, Different Origins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Both price the cost of capital tied up in a derivative — from different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705856" cy="292608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5522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FVA — Funding Valuation Adjustment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55648"/>
            <a:ext cx="55229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Arises from: uncollateralised derivative exposures
• Driver: dealer funding spread above OIS (30–150 bps)
• Applies to: bilateral OTC trades without full CSA
• Direction: FCA (cost) when ITM; FBA (benefit) when OTM
• Catalyst: 2008 multi-curve divergence &amp; funding stress
• Key debate: Hull-White (2012) — 'FVA is a mistake'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1298448"/>
            <a:ext cx="5705856" cy="292608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389888"/>
            <a:ext cx="5522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MVA — Margin Valuation Adjustment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755648"/>
            <a:ext cx="55229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Arises from: mandatory Initial Margin under UMR
• Driver: opportunity cost of segregated IM (OIS vs hurdle)
• Applies to: bilateral &amp; cleared trades (post Phase 6 2022)
• Direction: always negative — IM posting is always a cost
• Catalyst: BCBS-IOSCO UMR 2016–2022 phase-in
• Standard: ISDA SIMM methodology (v2.6)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15968"/>
            <a:ext cx="557784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616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FVA = -∫ s_f(t) · E[V+(t)] · B(0,t) dt  +  ∫ s_f(t) · E[V-(t)] · B(0,t) 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s_f = funding spread;  V+ = positive exposure (FCA cost);  V- = negative exposure (FBA benefit)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4315968"/>
            <a:ext cx="5852160" cy="868680"/>
          </a:xfrm>
          <a:prstGeom prst="rect">
            <a:avLst/>
          </a:prstGeom>
          <a:solidFill>
            <a:srgbClr val="8A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361688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MVA = -∫ s_m(t) · E[IM(t)] · B(0,t) dt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892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s_m = funding cost minus IM remuneration rate;  E[IM(t)] = expected SIMM IM at time 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257800"/>
            <a:ext cx="115214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8523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0F4F7"/>
                </a:solidFill>
                <a:latin typeface="Calibri"/>
              </a:rPr>
              <a:t>Both are path-dependent integrals over expected future exposures — requiring Monte Carlo simulation of risk factors over the full trade lifetime.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Number That Changes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Why XVA desks exist: the all-in cost of a 'simple' swap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303520" cy="502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 EUR 100M
5-Year 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9BB0"/>
                </a:solidFill>
                <a:latin typeface="Calibri"/>
              </a:rPr>
              <a:t>(uncollateralised, bilateral UMR)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4937760" cy="502920"/>
          </a:xfrm>
          <a:prstGeom prst="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CVA:  −EUR 85,000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163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Counterparty default risk (BBB, 100bps CDS)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10128"/>
            <a:ext cx="4937760" cy="502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DVA:  +EUR 32,000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832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Own-default benefit (A-rated dealer, 50bps CDS)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77056"/>
            <a:ext cx="4937760" cy="50292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227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MVA:  −EUR 103,000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950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UMR bilateral IM, 80bps funding spread, SIMM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43984"/>
            <a:ext cx="4937760" cy="50292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897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FVA*:  ~EUR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51713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At-the-money at inception; material after rate moves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56632"/>
            <a:ext cx="4937760" cy="566928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023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Total XVA:  ≈ −EUR 156,000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1298448"/>
            <a:ext cx="6035040" cy="5029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138988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What This Means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82880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82880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 trade priced at-the-money on a risk-neutral basis carries EUR 156K in all-in XVA charges.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60604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260604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Ignoring FVA &amp; MVA means the trading desk books profits that treasury simultaneously pays out.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38328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38328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After a 50bp adverse rate move, FVA alone generates ~EUR 480K additional cost.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16052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1605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For a mid-size fund entering Phase 6 UMR in 2022, MVA on a EUR 5B bilateral book = EUR 15–40M p.a.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93776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93776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The full paper derives every component from first principles with worked numerical examples.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5852160"/>
            <a:ext cx="603504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587044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Read the full paper → link in comments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Hull-White Controversy: Should FVA Exist?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Risk Magazine, July 2012 — The most debated paper in modern derivatives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303520" cy="50292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Hull &amp; White (2012): FVA is a Mistake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FVA is already captured in DVA (own-default benefit)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9572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Modigliani-Miller: funding cost is irrelevant to firm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1693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Charging FVA destroys positive NPV trades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381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Creates client-discriminatory, non-arbitrage-free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5934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Risk-neutral framework is internally 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FVA is a shareholder transfer, not a real economic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298448"/>
            <a:ext cx="6035040" cy="502920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38988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Industry Response: FVA IS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87451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M-M assumes perfect markets — violated post-2008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39572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DVA cannot be monetised without the bank defaulting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916933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Treasury charges desks real funding costs every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381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Banks with high spreads genuinely cannot compete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959347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Ignoring FVA creates systematic hidden P&amp;L drag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48055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Andersen-Duffie-Song (2019): FVA belongs in pricing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06440"/>
            <a:ext cx="11521440" cy="521207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33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Resolution: JP Morgan booked $1.5B FVA loss in Jan 2014. Goldman, BofA, Morgan Stanley followed. The practitioners won.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FVA: Formal Framework &amp;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Piterbarg (2010) · Burgard-Kjaer (2011) · Green (2015)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21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1673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F4F7"/>
                </a:solidFill>
                <a:latin typeface="Calibri"/>
              </a:rPr>
              <a:t>The Core Insight: When funding isn't free, the risk-neutral discount rate must be replaced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Step 1: Piterbarg PDE (2010) — funding-adjusted pricing equation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1152144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48840"/>
            <a:ext cx="112471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∂V/∂t + ½σ²S²∂²V/∂S² + r_f · S · ∂V/∂S - r_c · V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r_f = dealer funding rate = OIS + s_f;   r_c = collateral rate (OIS for full CSA)   →   No CSA: discount at r_f, not 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90779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Step 2: FVA = FCA + FBA — the two components (Burgard-Kjaer 2011)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040" y="3310128"/>
          <a:ext cx="115214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1645920"/>
                <a:gridCol w="393192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Economic Meaning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Sign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FCA</a:t>
                      </a:r>
                    </a:p>
                    <a:p>
                      <a:r>
                        <a:t>(Funding Cost Adj.)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Cost of funding positive exposure</a:t>
                      </a:r>
                    </a:p>
                    <a:p>
                      <a:r>
                        <a:t>(trade is in-the-money → dealer borrows)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Negative</a:t>
                      </a:r>
                    </a:p>
                    <a:p>
                      <a:r>
                        <a:t>(cost)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-∫ s_f(t)·E[V+(t)]·B(0,t) 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FBA</a:t>
                      </a:r>
                    </a:p>
                    <a:p>
                      <a:r>
                        <a:t>(Funding Benefit Adj.)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Benefit when out-of-the-money</a:t>
                      </a:r>
                    </a:p>
                    <a:p>
                      <a:r>
                        <a:t>(counterparty effectively lends to dealer)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Positive</a:t>
                      </a:r>
                    </a:p>
                    <a:p>
                      <a:r>
                        <a:t>(benefit)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+∫ s_f(t)·E[V-(t)]·B(0,t) dt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20040" y="4892040"/>
            <a:ext cx="115214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112471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53A"/>
                </a:solidFill>
                <a:latin typeface="Courier New"/>
              </a:rPr>
              <a:t>FVA (net) = ∫₀ᵀ s_f(t) · [ E[V-(t)] - E[V+(t)] ] · B(0,t) dt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578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At-the-money at inception: FCA ≈ FBA → Net FVA ≈ 0.  After market moves: material asymmetry emerges.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Worked Example: FVA on EUR 100M Uncollateralised 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5-year EUR IRS · No CSA · Dealer funding spread = 80bps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298448"/>
          <a:ext cx="5760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Notional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EUR 100,000,000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Maturity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5 years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Fixed rate (dealer pays)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3.50% p.a.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OIS rate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3.20%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Dealer funding spread s_f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80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Rate volatility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80 bps normal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35040" y="129844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Expected Exposure &amp; FVA Calculation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35040" y="1691640"/>
          <a:ext cx="5760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18872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EPE (EUR M)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B(0,t)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FCA (EUR)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0.9841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49,582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1.77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0.9685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137,227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0.9380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180,096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2.71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0.9085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196,856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2.56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0.8800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179,917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1.41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0.8524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96,119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≈ EUR 1,537,653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20040" y="4572000"/>
            <a:ext cx="1152144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902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Key insight: At-the-money at inception → FCA = FBA → Net FVA ≈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029200"/>
            <a:ext cx="5486400" cy="82296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After 50bp adverse rate move:
FVA ≈ −EUR 480,000 (hidden funding cost)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029200"/>
            <a:ext cx="5897880" cy="82296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5074920"/>
            <a:ext cx="5669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Without FVA pricing: desk reports profit;
treasury reports funding shortfall. Same trade.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MVA: Margin Valuation Adjustment —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Created by regulation: BCBS-IOSCO UMR 2016–2022 · ISDA SIMM v2.6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2144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53A"/>
                </a:solidFill>
                <a:latin typeface="Calibri"/>
              </a:rPr>
              <a:t>The UMR Phase-In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44168"/>
            <a:ext cx="182880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3716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1
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755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Largest
dealers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344168"/>
            <a:ext cx="182880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3716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2-4
2017-19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755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Major
banks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344168"/>
            <a:ext cx="182880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3716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5
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755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Mid-size
firms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344168"/>
            <a:ext cx="1828800" cy="77724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3716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6
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755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USD 8B+
buy-side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2267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ISDA SIMM: Sensitivity-Based IM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651760"/>
            <a:ext cx="54864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6974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IM_class = √( Σᵢ Σⱼ ρᵢⱼ · WSᵢ · WSⱼ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449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WSᵢ = delta_i × RW_i  (risk weight per SIMM v2.6);  ρᵢⱼ = tenor correlation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267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MVA Formula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651760"/>
            <a:ext cx="5897880" cy="685800"/>
          </a:xfrm>
          <a:prstGeom prst="rect">
            <a:avLst/>
          </a:prstGeom>
          <a:solidFill>
            <a:srgbClr val="8A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69748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MVA = -∫₀ᵀ s_m(t) · E[IM(t)] · B(0,t) dt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044952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s_m = dealer funding rate minus IM remuneration rate (typically OIS);  always negative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3456432"/>
          <a:ext cx="1152144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32104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IM computation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ISDA SIMM (bilateral) or CCP SPAN/TIMS (cleared)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Remuneration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OIS/ESTR; some CSAs specify Fed Funds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Funding spread s_m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Typically 20–100 bps above IM remuneration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IM profile shape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Highest at inception; declines with remaining maturity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MVA 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Always negative — posting IM is always a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Phase 6 impact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USD 1.3 trillion IM posted globally by end-2022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Worked Example: MVA on Same EUR 100M 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Bilateral UMR · ISDA SIMM IM · s_m = 80bps · Linear IM amortisation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303520" cy="502920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Step 1: SIMM IM at Inception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EUR 5Y IRS delta sensitivity (DV01 × 100bps scale):
DV01 ≈ EUR 45,000 per bp
Scale to SIMM: × 100 = EUR 4,500,000
SIMM Risk Weight (EUR 5Y bucket, v2.6):
RW = 75 bps
SIMM IM ≈ EUR 4,500,000 × 75bps
           ≈ EUR 3,375,000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502920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4754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SIMM_IM ≈ Delta × RW_IR = EUR 3,375,000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262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Simplified single-bucket; actual SIMM aggregates across tenors with correlation offsets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19472"/>
            <a:ext cx="5029200" cy="68580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5604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IM declines linearly to zero at maturity as
residual risk falls with remaining tenor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MVA Calculation (Semi-Annual)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06440" y="1691640"/>
          <a:ext cx="6675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37160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Year 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E[IM(t)] EUR 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s_m (bps)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MVA contrib (EUR)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3.038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11,960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2.700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20,877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2.025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15,194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1.350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9,812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4,752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≈ EUR 102,660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806440" y="4919472"/>
            <a:ext cx="603504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96519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53A"/>
                </a:solidFill>
                <a:latin typeface="Courier New"/>
              </a:rPr>
              <a:t>Total XVA = CVA (-85K) + DVA (+32K) + MVA (-103K) = -EUR 156K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31266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Full XVA charge on a trade that appears flat on risk-neutral basis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Regulatory Treatment: UMR, FRTB-CVA &amp; SA-CCR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How regulation creates, shapes, and complicates FVA &amp; MVA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298448"/>
          <a:ext cx="115214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6583680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Regulation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Jurisdiction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FVA/MVA Impact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BCBS-IOSCO UMR (2015)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Primary creator of MVA — mandatory bilateral IM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EMIR Refit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EU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Phase 5/6 brings pension funds in scope; significant MVA increase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Dodd-Frank / SEC Rule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Extended scope to equity derivatives; new MVA populations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SA-CCR (Basel III)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Higher EAD → increased cleared IM requirements → higher MVA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FRTB-CVA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FVA hedges NOT recognised as CVA hedges → regulatory/economic basis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CRR III (EU, 2025)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EU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Output floor increases RWA; indirectly raises funding costs &amp; FVA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IFRS 13 / ASC 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1A1A2E"/>
                          </a:solidFill>
                        </a:rPr>
                        <a:t>'Exit price' fair value effectively mandates FVA inclusion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" y="516636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9379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Clearing Decision: Total XVA = CVA + FVA + MVA + KVA must be computed for bilateral vs cleared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577840"/>
            <a:ext cx="5705856" cy="1170432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5522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Bilateral OTC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552297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CVA/DVA applies
• FVA applies (partial/no CSA)
• MVA: SIMM IM (higher, segregated)
• Netting within set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5577840"/>
            <a:ext cx="5705856" cy="1170432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5669280"/>
            <a:ext cx="5522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Cleared (CCP)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6035040"/>
            <a:ext cx="552297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CVA = 0 (CCP guarantee)
• FVA near-zero (daily VM)
• MVA: CCP model (often lower, nettable)
• Portfolio netting across members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Crisis Case Studies: When FVA &amp; MVA Became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Lehman 2008 · JP Morgan 2014 · UMR Phase 6 2022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3749039" cy="50292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Lehman Brothers
September 2008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3749039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1284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900K+ contracts, &gt;$35T notional — no robust CSAs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9008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Funding spread hit 300bps+ in Aug 2008 (FCA squeeze)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6732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Repo markets froze: derivatives funding evaporated overnight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4456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Close-out losses ran for years → FVA should have been reserved from Day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298448"/>
            <a:ext cx="3749039" cy="502920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1389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JP Morgan
$1.5B FVA Charge 2014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2103120"/>
            <a:ext cx="3749039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39" y="221284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First bank to publicly recognise and book FVA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299008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Goldman, BofA, Morgan Stanley followed within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376732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Industry had been underpricing uncollateralised trades for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454456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Hull-White debate effectively ended at practitioner level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8" y="1298448"/>
            <a:ext cx="3749039" cy="502920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8" y="1389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UMR Phase 6
September 2022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8" y="2103120"/>
            <a:ext cx="3749039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8" y="221284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$1.3 trillion in bilateral IM posted globally by end-2022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299008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Mid-size pension funds, hedge funds hit for first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8" y="376732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EUR 5B fund: MVA cost increase of EUR 15–40M p.a.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8" y="454456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Drove major clearing decisions and trade compression wave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Advanced Topics: FVA Asymmetry, ColVA &amp; XVA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Beyond the basics: the frontier of XVA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11521440" cy="137160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FVA Wrong-Way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20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When funding spread widens at the same time exposure increases, true FVA is higher than independent calculation suggests. Requires joint simulation of market risk factors and dealer credit spread — computationally intensive but increasingly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80360"/>
            <a:ext cx="11521440" cy="137160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Bilateral vs Unilateral FVA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Unilateral FVA: only the dealer's costs → asymmetric pricing. Bilateral FVA: both parties' costs averaged → symmetric but requires counterparty funding info. Burgard-Kjaer semi-replication avoids DVA/FVA double-count by construction.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89120"/>
            <a:ext cx="11521440" cy="1371600"/>
          </a:xfrm>
          <a:prstGeom prst="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ColVA — Preview of Module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Collateral Valuation Adjustment: the value of choosing the cheapest-to-deliver asset from the CSA-eligible schedule. A bank with a large liquid bond portfolio faces lower effective s_m than one posting cash IM. Full treatment in Module 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897880"/>
            <a:ext cx="11521440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92531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XVA Optimisation: Trade compression · Netting set routing · Clearing decisions · CSA renegotiation · Collateral transformation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·  CC BY-NC 4.0  ·  Practitioner Knowledge Repository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Credits &amp;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Author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Sarthaka Nanda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The 20-60-20 Principle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82296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41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Human prompting &amp; instruction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706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0"/>
                </a:solidFill>
                <a:latin typeface="Calibri"/>
              </a:rPr>
              <a:t>Topic selection, structural design, worked example parameters, strategic framing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27832"/>
            <a:ext cx="82296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19272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7530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0"/>
                </a:solidFill>
                <a:latin typeface="Calibri"/>
              </a:rPr>
              <a:t>Technical content, formula derivation, tables, regulatory mapping, case studies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32504"/>
            <a:ext cx="82296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23944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50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Human review &amp; editing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7997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0"/>
                </a:solidFill>
                <a:latin typeface="Calibri"/>
              </a:rPr>
              <a:t>Mandatory review for accuracy, consistency, and professional standards before publication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28032"/>
            <a:ext cx="548640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7375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Calibri"/>
              </a:rPr>
              <a:t>AI-generated content without mandatory human review
is not professional-grade content — it is a liability.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097280"/>
            <a:ext cx="5303520" cy="4663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188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The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6002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 1: Basel Accord Evolution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1671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1671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 2: FRTB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73405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73405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 3: CVA, DVA &amp; CCR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30098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30098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 4: FVA &amp; MVA  ← YOU ARE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86791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9BB0"/>
                </a:solidFill>
                <a:latin typeface="Calibri"/>
              </a:rPr>
              <a:t>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679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Module 5: KVA &amp; Capital Costs (forthcoming)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434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9BB0"/>
                </a:solidFill>
                <a:latin typeface="Calibri"/>
              </a:rP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434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Module 6: ISDA, Netting &amp; ColVA (forthcoming)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