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199692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 —  PRACTITIONER KNOWLEDGE REPOSITORY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 ACCORDS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Basel I to Basel IV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 •  Market Risk  •  Operational Risk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91440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Sarthaka Nanda  |  Claude (Anthropic)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expertise: Sarthaka Nanda  |  Structure, drafting &amp; formatting: Claude (Anthropic)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91440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Review: Gellért Peti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architecture framing  •  EL/UL  •  Pillar 1 vs Pillar 2  •  Procyclicality  •  Macroprudential layer  •  Distributional assumption critique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 / 31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BCBS — and How Does It Work?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 / 31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869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— Identify 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Crisis or research reveals a regulatory gap. Basel I: Latin American debt crisis. Basel III: 2007–09 GFC.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Consultative Paper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invites comment from banks, trade bodies, academics, and public.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— Quantitative Impact Study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rules tested on real bank data to measure capital impact before finalising.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— Final Standard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published with 3–5 year implementation timeline.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— National Implementation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jurisdiction translates into local law: EU (CRR3), UK (PRA Rulebook), US (Fed/OCC), SG (MAS Notice 637).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— Supervisory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Supervisors assess compliance; Pillar 2 add-ons applied above Pillar 1 minimum.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5029200"/>
            <a:ext cx="100584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502920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80160" y="5029200"/>
            <a:ext cx="1060704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507492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BCBS does NOT make law. Each jurisdiction implements independently. 'Basel IV requires X' always depends on which jurisdiction's rulebook you are operating under.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Risk? — Three Basel Risk Types + The Governance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 / 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374904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3749040" cy="30175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716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/ issuer / counterparty fails to meet obligations. Oldest and largest risk type for most banks. Primary focus of Basel I and II.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777240"/>
            <a:ext cx="3749040" cy="5029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777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Risk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1280160"/>
            <a:ext cx="3749040" cy="30175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3716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from adverse price movements — interest rates, FX, equities, commodities. Not addressed until 1996 Market Risk Amendment. FRTB is current framework.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777240"/>
            <a:ext cx="374904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777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280160"/>
            <a:ext cx="3749040" cy="30175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3716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from failed processes, people, systems, or external events. First formalised in Basel II. SMA replaces all prior models under Basel IV.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1005840" cy="105156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526280"/>
            <a:ext cx="10058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4526280"/>
            <a:ext cx="10607040" cy="1051560"/>
          </a:xfrm>
          <a:prstGeom prst="rect">
            <a:avLst/>
          </a:prstGeom>
          <a:solidFill>
            <a:srgbClr val="D6EAF8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572000"/>
            <a:ext cx="104698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is not a set of formulas — it is a governance architecture designed to stabilise a fragile financial system. Every rule answers one question: how do we ensure that when a bank fails, losses fall on shareholders, not depositors or taxpayers? — Gellért Peti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Pillar 1 vs Pillar 2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4 / 31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SA-CR or IRB. Mandatory minimum capital.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SA or IMA. Mandatory minimum capital.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SMA. Mandatory minimum capital.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BA-CVA or SA-CVA. Mandatory under Basel IV.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ICAAP/SREP. No Pillar 1 minimum — supervisor sets.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ICAAP + Large Exposures framework limits.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+ LCR/NSFR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standards, not capital requirements.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/ ESG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(emerging)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principles 2022. No Pillar 1 charge yet.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51206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80160" y="5120640"/>
            <a:ext cx="1060704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516636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global banks, Pillar 2 add-ons can match or exceed Pillar 1. A G-SIB may face 4.5% CET1 Pillar 1 + 2.5% G-SIB surcharge + 2.5% CCyB + 2-3% SREP P2R = 12–13% effective CET1 requirement. The 4.5% headline tells only a fraction of the story.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Basel Actually Is — Governance Architecture, Not Formula 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5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operating simultaneously: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37490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Capital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9164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rules for credit, market, and operational risk. The floor — not the ceiling. Most practitioners stop 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143000"/>
            <a:ext cx="3749040" cy="45720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160020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69164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 require capital above Pillar 1 for bank-specific risks. IRRBB, concentration, model risk, conduct risk. Where most real risk actually lives.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7490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Discipline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160020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69164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requirements allowing markets and counterparties to assess risk. Informed creditors impose discipline on banks that models and supervisors miss.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983480"/>
            <a:ext cx="1005840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83480"/>
            <a:ext cx="10058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4983480"/>
            <a:ext cx="10607040" cy="96012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5029200"/>
            <a:ext cx="10469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does not eliminate bank failure — it ensures that when a bank fails, losses fall on shareholders and creditors, not depositors, taxpayers, or the broader system. Capital is the mechanism. The three pillars are the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Loss vs Unexpected Loss — The Capital Philosophy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6 / 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5303520" cy="45720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Loss (EL) — Provisioned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5303520" cy="37490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2588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= PD × LGD × EAD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loss a bank expects over a given period. This is NOT a capital item — it is covered by loan loss provisions in the P&amp;L.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€1bn BBB portfolio, PD 0.20%, LGD 45%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= 0.0020 × 0.45 × €1bn = €900,000/yr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Provisioned in accounts; reduces pre-tax profit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Does NOT consume regulatory capital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777240"/>
            <a:ext cx="530352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777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Loss (UL) — Capitalised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5303520" cy="374904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32588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 = Loss above EL in adverse scenarios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volatility of losses around the expected level — the portion Basel capital is designed to absorb.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 formula calibrated at 99.9% confidence: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= K × 12.5 × 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K includes PD, LGD, asset correlation 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Same €1bn portfolio → ~€8m+ capital held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Capital cannot be released or distributed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5166360"/>
            <a:ext cx="100584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516636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5166360"/>
            <a:ext cx="1060704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521208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is not a tax on lending — it is the price of operating with leverage. A bank holding no capital against unexpected losses implicitly asks depositors and taxpayers to absorb those losses on its behalf.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Bank Capital Regulation Exist?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7 / 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37490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716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operate with extreme leverage — accepting deposits (liabilities) to fund loans (assets). A small fall in asset values can wipe out equity entirely, making deposits unrecoverable and triggering bank runs.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822960"/>
            <a:ext cx="3749040" cy="45720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Systemic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28016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3716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crises are contagious. When one bank fails, counterparties lose money, credit dries up, economic activity contracts. The 1930s Depression, Latin American crisis (1980s), and 2007–09 GFC all demonstrate this.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822960"/>
            <a:ext cx="374904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Response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1280160"/>
            <a:ext cx="3749040" cy="32004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3716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requirements force banks to fund a minimum proportion of assets with equity — money that absorbs losses before depositors are affected. Basel provides the international standard for how much capital banks must hold.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1005840" cy="68580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1005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4663440"/>
            <a:ext cx="10607040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709160"/>
            <a:ext cx="10469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Assets: $100  |  Deposits (liabilities): $96  |  Equity: $4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Only a 4% fall in asset value wipes out ALL equity. That is why capital ratios matter.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 — The Foundation Framework (1988)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8 / 31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1323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% RWA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(CET1)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equity + disclosed reserves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 (Tier 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2 (Supplementary)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Undisclosed reserves, hybrid instruments, subordinated debt (≤50% of T1)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Weights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10% / 20% / 50% / 100% — OECD membership drives classification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11612880" cy="914400"/>
        </p:xfrm>
        <a:graphic>
          <a:graphicData uri="http://schemas.openxmlformats.org/drawingml/2006/table">
            <a:tbl>
              <a:tblPr/>
              <a:tblGrid>
                <a:gridCol w="5806440"/>
                <a:gridCol w="5806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— internationally consistent baseline for the first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One-size-fits-all — no credit quality differentiation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8% minimum that persisted through every subsequent accord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risk only — market and operational risk entirely absent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Tier 1 / Tier 2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weights enabled securitisation arbitrage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Gave regulators a shared vocabulary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OECD membership determined weights — crude and political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5029200"/>
            <a:ext cx="100584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502920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LEGACY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80160" y="5029200"/>
            <a:ext cx="1060704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25880" y="5074920"/>
            <a:ext cx="10469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 was never designed as a permanent solution — but its 8% minimum ratio and Tier 1/Tier 2 architecture persisted in every subsequent accord. It gave regulators a shared vocabulary that enabled international convergence.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II — Three Pillars and the IRB Revolution (2004)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9 / 31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 — Minimum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(SA/IRB), Market (VaR), Operational (BIA/TSA/AMA)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Risk-sensitive — better models → lower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— Supervisory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ICAAP + SREP. Supervisors set bank-specific add-ons.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P2R and P2G above Pillar 1 minimum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3 — Market Discipline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disclosure requirements for risk exposures and capital.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pricing of capital adequacy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331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 Credit Risk Capital Formula: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65176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LGD × N[(1−R)^−0.5 × G(PD) + (R/(1−R))^0.5 × G(0.999)] − PD × LGD  |  Capital = K × 12.5 × EAD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937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 Failure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Manifested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GFC Consequence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Procyclicality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calibrated to recent data — low capital in boom, high in stress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Undercapitalised entering crisis; forced deleveraging amplified losses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 Book Arbitrage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capital far below banking book credit capital for same exposure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credit migrated to trading books — inadequate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lacked data for structured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Catastrophic CDO/ABS default correlation underestimation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vs Pillar 2 — Where Real Risk Lives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10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is the floor — not the ceiling. For complex banks, the most important capital decisions happen in Pillar 2.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669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Failure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Crisis Episode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Silicon Valley Bank (March 2023). Banking book duration mismatch + rapid rate rises. No Pillar 1 capital charge.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ICAAP and supervisory intervention failed before collapse. Pillar 1 was irrelevant.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Concentration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Eurozone banks' home sovereign exposure (2010–12). 0% sovereign risk weight under Pillar 1.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risk was there; Pillar 1 capital was zero. Concentration entirely in Pillar 2.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credit pre-2008. IRB approved; models calibrated on insufficient data.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failed to impose overlays where models were clearly unreliable.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 2 Capital Stack for a Large G-SIB: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9476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By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 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— fixed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Conservation Buffer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 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— fixed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G-SIB Surcharge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1.0–3.5% 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formula, annual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Countercyclical Buffer (CCyB)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0–2.5% 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regulator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Requirement (P2R)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Bank-specific (often 1–3%)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 — SREP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III — Capital Quality, Liquidity, Macroprudential (2010)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11 / 31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Changed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4.5% Minimum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equity only — no hybrid instruments qualifying as Tier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Pre-crisis 'Tier 1' included instruments that failed to absorb losses in practice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Conservation Buffer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2.5% CET1 above minimum. Distributions restricted if eroded.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Graduated constraint preventing capital erosion without supervisory 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G-SIB Surcharge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1–3.5% additional CET1 for systemic banks. JPMorgan: 2.5%, Citi/HSBC/BNP: 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Forces banks to internalise cost of implicit too-big-to-fail subsidy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CCyB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0–2.5% CET1 built in booms, released in downturns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attacks procyclicality — capital available when most needed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HQLA / Net 30-day outflows ≥ 100%. Short-term survival.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quantitative liquidity standard — addresses 2007 funding freeze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NSFR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Stable Funding / Required (1yr) ≥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funding stability — prevents maturity mismatch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charge for CVA on derivatives portfolios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single GFC trading loss source not previously capitalised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Procyclicality — How Risk Metrics Amplify the Cycle They Measure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12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requirements fall in booms (low vol → low VaR/RWA → banks expand) and rise in crises (high vol → high RWA → forced deleveraging). The opposite of prudential intent.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11612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28600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/ RWA Effect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Behaviour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Effect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Boom (2004–06)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vol, tight spreads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falls → low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 leverage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expansion, asset inflation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Boom (2006–07)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still low, peak valuations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near historic lows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leverage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at peak fragility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Crisis Onset (2007–08)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spikes, spreads widen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surges → capital rises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deleveraging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collapse, liquidity freeze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Crisis Depth (2008–09)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 vol, correlations=1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 doubles/triples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capital raises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credit contraction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977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III Responses to Procyclicality: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89120"/>
          <a:ext cx="11612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4114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VaR / FRTB ES stressed calibration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Anchors part of capital to crisis period — prevents collapse in benign markets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fix — portfolio changes can still compress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Countercyclical Buffer (CCyB)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booms, released rapidly in downturns — pre-positioned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if set early; depends on supervisor identifying boom in real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Through-the-cycle PD estimates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PD must reflect long-run average, not current benign conditions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in practice — point-in-time elements persisted in many models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Macroprudential Layer — System-Level Stability Mechanisms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13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 and II were microprudential — individual bank solvency only. Basel III introduced explicit macroprudential tools: protecting the system as a whole.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11612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3200400"/>
                <a:gridCol w="3657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CCyB — Countercyclical Buffer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0–2.5%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credit booms, released in stress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addresses procyclicality; pre-positions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G-SIB Surcharge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1.0–3.5%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Systemic importance premium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Prices the too-big-to-fail implicit subsidy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D-SIB Surcharge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discretion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systemic banks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regulator targets local contagion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Supervisory Stress Tests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capital charge — constraints dividends/buybacks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survival under severe macro 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Supervisory models, not bank models — removes optimisation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389120"/>
            <a:ext cx="1005840" cy="8686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389120"/>
            <a:ext cx="10058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G-SIB LOGIC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4389120"/>
            <a:ext cx="1060704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4434840"/>
            <a:ext cx="10469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 that is too large to fail receives an implicit government subsidy (lower funding costs, higher risk appetite) it does not pay for. The G-SIB surcharge is the price of that subsidy. JPMorgan Chase: 2.5%. BNP/HSBC/Citi: 2.0%. Bucket 5 (3.5%) is deliberately empty — a disincentive for any bank to become 'super-systemic'.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5349240"/>
            <a:ext cx="1005840" cy="64008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5349240"/>
            <a:ext cx="1005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80160" y="5349240"/>
            <a:ext cx="10607040" cy="640080"/>
          </a:xfrm>
          <a:prstGeom prst="rect">
            <a:avLst/>
          </a:prstGeom>
          <a:solidFill>
            <a:srgbClr val="EEF3FA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5394960"/>
            <a:ext cx="104698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CCAR/DFAST and EBA stress tests directly determine dividend and buyback capacity — making the stress test a binding capital constraint for large banks, often more binding in practice than the Pillar 1 minimum.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IV — Finalisation and Model Constraint (2017)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14 / 31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303520"/>
                <a:gridCol w="4297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Floor 72.5%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 RWA cannot fall below 72.5% of SA RWA. Most significant acknowledgement that internal models cannot be fully trusted.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Floors IMA capital savings. Significant for banks with optimised IRB/IMA models.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floors (0.05%), LGD floors (25%/45%), removal of A-IRB for large corporates/financials.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IRB capital variability; limits parameter gaming.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replaces VaR. Desk-level IMA. PLAT. Liquidity horizons 10–250 days. NMRF charges.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Increases market risk capital. See Module 2 for full detail.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Replaces CEM for CCR. Recognises netting and margin. Alpha 1.4×.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risk-sensitive than CEM; may increase or decrease capital by portfolio.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 (OpRisk)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formula replaces BIA/TSA/AMA. BI Component × Internal Loss Multiplier.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Eliminates AMA variability. Increases capital for banks with adverse loss history.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5029200"/>
            <a:ext cx="1005840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502920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FLOOR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80160" y="5029200"/>
            <a:ext cx="1060704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507492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72.5% floor is regulatory humility expressed in capital arithmetic. The BCBS is saying: we cannot fully trust internal models, so we require that their output never falls too far below what a simpler standardised approach would produce. It is the most honest admission in the Basel framework's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Capital Requirements Have Grown: Basel I → IV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15 / 31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828800"/>
                <a:gridCol w="1645920"/>
                <a:gridCol w="320040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Min.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Innovation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Remaining Flaw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Latin American debt crisis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RWA minimum; 5 risk weight buckets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market/op risk; no credit quality differentiation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1996 Amendment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of trading books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VaR-based market risk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stressed calibration; uniform 10-day LH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for risk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credit models; three pillars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Procyclicality; trading book arbitrage; model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2.5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GFC emergency patch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Basel 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SVaR; IRC; CRM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VaR-based; porous boundary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GFC capital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 CET1 (incl. conservation buffer)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4.5%; LCR/NSFR; CVA; CCyB; G-SIB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IRRBB/concentration in Pillar 2; procyclicality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 variability; model trust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+ 72.5%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floor; SA-CCR; SMA; FRTB; IRB floors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Distributional assumption problem unsolved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&amp; Market Risk: The Methodology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16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Evolution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RW buckets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0/10/20/50/100% — OECD drives classification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+ IRB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ratings or internal PD/LGD/EAD models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 + IRB retained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SVaR; IRC; CVA capital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Constrained IRB + output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PD/LGD floors; A-IRB scope reduced; 72.5%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Risk Evolution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4300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Pre-1996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market risk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1996 Amendment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99%, 10-day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models allowed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2.5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+ SVaR + IRC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calibration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(Basel IV)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97.5%, stressed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 severity; variable LH; desk IMA; PLAT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4663440"/>
            <a:ext cx="1005840" cy="82296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" y="4663440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80160" y="4663440"/>
            <a:ext cx="10607040" cy="822960"/>
          </a:xfrm>
          <a:prstGeom prst="rect">
            <a:avLst/>
          </a:prstGeom>
          <a:solidFill>
            <a:srgbClr val="D6EAF8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25880" y="4709160"/>
            <a:ext cx="104698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iteration tightened the screws on what banks could model and how. The direction of travel is consistent: more stress, more floors, less discretion — because unconstrained internal models consistently produced less capital than the BCBS judged prudent.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— Five Instruments Across Four Frameworks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17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example shows how capital requirements changed from Basel I through Basel IV for the same or similar instrument. All figures are standalone illustrative calculations.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11612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Forward — EUR/USD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CCR capital evolution: from negligible Basel I to SA-CCR alpha multiplier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Derivative — FTSE 100 Index 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risk capital: zero Basel I to VaR/SVaR to FRTB 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Rate Swap — 5yr EUR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CCR + CVA interaction: CEM to SA-CCR to SA-CVA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Default Swap — BBB Corporate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risk: crude Basel I RW to risk-sensitive IRB to CVA overlay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 Precious Metal Forward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Commodity market risk: absent Basel I to significant FRTB SA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846320"/>
            <a:ext cx="1005840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846320"/>
            <a:ext cx="10058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4846320"/>
            <a:ext cx="1060704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4892040"/>
            <a:ext cx="104698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single-trade, standalone calculations. Portfolio netting, margin agreements, and diversification effects can substantially change the outcomes. These examples illustrate FRTB mechanics, not production capital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FX Forward — EUR/USD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18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Trade: 3-month forward, sell €10m, buy USD. Counterparty: IG US corporate.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~€0 (minimal)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formal short-dated FX CCR add-on methodology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 (SA)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~€8,000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CEM: RC + 1% notional add-on. EAD ≈ €100k × 100% RW × 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~€32,000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SA-CCR: delta × notional × 4% FX supervisory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~€44,800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 + alpha multiplier 1.4×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Equity Derivative — FTSE 100 Index Call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19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call, notional £5m, delta 0.6, 3-month. FTSE 100 qualifying index.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market risk capital — entirely absent from 1988 accord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1996 Amendment / Basel 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£240,000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market risk 8% × delta × notional. Specific risk 0% (qualifying index — corrected in v6)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 (VaR + SVaR)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~£840,000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~£80k + SVaR (2008 stress) ~£200k. × 3 multiplier.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 (FRTB 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~£480,000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SBM: delta 8% RW × £3m delta-weighted notional + vega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Interest Rate Swap — 5yr EUR Fixed/Float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20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fixed 3.00%, pays EURIBOR 6M. Notional €20m. Counterparty: European bank.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 (CEM)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~€1,600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CRE: RC + 0.5% add-on. EAD ≈ €100k × 20% RW (OECD bank) × 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 (CEM)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~€2,080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CEM: RC + 0.5% add-on. Netting benefits if CSA in place.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~€15,980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 CCR ≈ €2,080 + CVA capital ≈ €13,900 (BA-CVA estimate)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 (SA-CCR)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~€21,080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 alpha 1.4× + SA-CVA ≈ €18,600. CCR + CVA together.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4: Credit Default Swap — BBB Corporate, 5yr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21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sells CDS protection. Notional £10m. Protection buyer: hedge fund counterparty.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~£800,000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On-balance-sheet equivalent: 100% RW × 8%. Crude — no credit quality.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 (IRB)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~£48,000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0.20%, LGD 45%, M 5yr. IRB formula ≈ 6% RW density.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~£73,000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 capital + CVA for non-cleared hedge fund counterparty ≈ £25k.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~£48,000 Pillar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Constrained IRB. LGD floor 45% confirmed. CCyB/G-SIB at bank level.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5: Precious Metal Forward — Gold (XAU/USD)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22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500 troy oz gold at $1,850/oz, 6-month forward. Notional $925,000.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7040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~$74,000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commodity market risk capital. Entire amount CCR: 100% RW × 8%.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1996 Amendment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~$166,500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Commodity market risk: 15% net position + 3% carry charge.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 (VaR + SVaR)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~$240,000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(low gold vol 2012) × 3× + SVaR (2008–11 gold spike)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 (FRTB SA)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~$166,500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Commodity SBM: 18% RW × notional × delta 1. Deterministic.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Distributional Assumption Problem — When the Model Invalidates Itself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23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deepest critique of Basel capital frameworks: do the statistical models remain valid when the distribution of outcomes itself changes?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754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Manifests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Optimisation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Banks choose model specs that minimise capital — target, not measurement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floor 72.5%; PD/LGD floors; SA-CCR mandatory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Optimisation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Portfolios shift toward favourable model treatment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Constrained IRB scope; PLAT prevents model gaming in 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Arbitrage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Structures achieve economic exposure with less 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 boundary rules; reclassification as regulatory 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 Regime Change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Normal-period diversification benefits vanish in stress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stressed calibration; FRTB variable liquidity horizons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663440"/>
            <a:ext cx="1005840" cy="960120"/>
          </a:xfrm>
          <a:prstGeom prst="rect">
            <a:avLst/>
          </a:prstGeom>
          <a:solidFill>
            <a:srgbClr val="0E6B8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663440"/>
            <a:ext cx="10058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CRITIQUE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4663440"/>
            <a:ext cx="10607040" cy="960120"/>
          </a:xfrm>
          <a:prstGeom prst="rect">
            <a:avLst/>
          </a:prstGeom>
          <a:solidFill>
            <a:srgbClr val="D6EAF8"/>
          </a:solidFill>
          <a:ln w="12700">
            <a:solidFill>
              <a:srgbClr val="0E6B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4709160"/>
            <a:ext cx="10469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model becomes the basis for capital requirements, banks optimise portfolios against it. The model becomes a target, not a measurement tool. As Goodhart's Law states: when a measure becomes a target, it ceases to be a good measure. Basel IV's output floor is the most honest acknowledgement of this problem in the framework's history.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Review — Community Feedback and Version History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24 / 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Review: Gellért Peti — substantive additions made in v7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01168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Identified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architecture framing — Basel as stability architecture, not formula 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Types section — opening lens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vs UL capital philosophy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Types section — dedicated subsection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1 vs Pillar 2 — where real risk lives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 section — dedicated subsection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Procyclicality of risk metrics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 section — dedicated subsection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Macroprudential layer: CCyB, G-SIB, stress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III section — dedicated subsection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Distributional assumption / model validity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Added v7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Review section — dedicated subsection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 dependence, copula, systemic transmission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module — out of scope for intro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dedicated 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economy of Basel implementation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module — out of scope for intro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dedicated 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754880"/>
          <a:ext cx="11612880" cy="914400"/>
        </p:xfrm>
        <a:graphic>
          <a:graphicData uri="http://schemas.openxmlformats.org/drawingml/2006/table">
            <a:tbl>
              <a:tblPr/>
              <a:tblGrid>
                <a:gridCol w="5806440"/>
                <a:gridCol w="5806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Error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Correction Made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 attributed to Basel III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Corrected: SA-CCR finalised March 2014 — Basel IV/CRR2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specific risk on FTSE 100 index 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Corrected: qualifying index 0% specific risk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CCyB described only as 'set in credit booms'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Corrected: release mechanism equally important — central to macroprudential logic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Repository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25 / 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37490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3749040" cy="2194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Basel Evolution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I→IV | Three Pillars | EL/UL | Procyclicality | Macroprudential layer | 5 worked examples | Community review: Gellért Peti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777240"/>
            <a:ext cx="37490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234440"/>
            <a:ext cx="3749040" cy="21945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FRTB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pillars | SA/IMA/PLAT/NMRF/CVA | Regulatory lens: EU/UK/US/APAC | 4 worked examples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777240"/>
            <a:ext cx="3749040" cy="4572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1234440"/>
            <a:ext cx="37490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xVA &amp; CCR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173736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CVA/DVA/FVA/KVA | SA-CCR in depth | Counterparty risk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611880"/>
            <a:ext cx="3749040" cy="4572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069080"/>
            <a:ext cx="37490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ISDA &amp; Netting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Agreement | CSA | Initial Margin | Legal enforceability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3611880"/>
            <a:ext cx="3749040" cy="4572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4069080"/>
            <a:ext cx="37490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UMR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Uncleared Margin Rules | SIMM | Phase-in by entity size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3611880"/>
            <a:ext cx="3749040" cy="4572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83880" y="4069080"/>
            <a:ext cx="37490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EMIR/CFTC/MAS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75320" y="4572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repositories | LEI | Reporting obligations | Jurisdictional variations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— Part 1 (AMA → IRB)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26 / 31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326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Measurement Approach. Basel II/III op risk internal model. Abolished Basel IV by SMA.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Tier 1. CoCos and instruments with loss-absorbing triggers. Part of Basel III capital stack.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Approach CVA. Formula-based CVA capital charge.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Committee on Banking Supervision. International standard-setter for bank capital. Founded 1974. 45 members.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CCyB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Countercyclical Capital Buffer. 0–2.5% CET1. Built in credit booms, released rapidly in downturns.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Exposure Method. Pre-Basel IV CCR approach. Replaced by SA-CCR.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Equity Tier 1. Highest quality capital: common shares + retained earnings only. 4.5% minimum.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Valuation Adjustment. Market value of counterparty default risk. Pillar 1 capital charge under Basel III.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 at Default. Estimated exposure at time of default. Core IRB input.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Loss. EL = PD × LGD × EAD. Covered by provisions, NOT capital.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Shortfall. Average loss in the worst 2.5% of scenarios. Replaces VaR under FRTB IMA.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FRTB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Fundamental Review of the Trading Book. Basel IV market risk framework.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G-SIB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Systemically Important Bank. Additional CET1 surcharge 1–3.5%.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ICAAP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Capital Adequacy Assessment Process. Bank's own assessment of all material risk capital needs.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Ratings-Based Approach. Basel II credit risk — internal PD (F-IRB) or PD/LGD/EAD (A-IRB).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— Part 2 (LCR → SA-CVA)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27 / 31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326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 Coverage Ratio. HQLA / Net 30-day outflows ≥ 100%. Basel III short-term liquidity standard.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LGD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Given Default. Fraction of EAD lost after recovery. Floors: 25% secured, 45% unsecured under Basel IV.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Critique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 used as policy bases break down because agents change behaviour in response. Applied: banks optimise against capital models, invalidating calibration.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NMRF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Non-Modellable Risk Factor. &lt;24 price observations per year. Punitive ES charge, no diversification offset.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NSFR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Stable Funding Ratio. Available Stable Funding / Required (1yr) ≥ 100%.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 IV: IMA RWA ≥ 72.5% of SA RWA. Limits capital benefit from internal model optimisation.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Guidance. Non-binding supervisory capital expectation above Pillar 1 and P2R.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2 Requirement. Binding additional capital set by supervisor in SREP. Binding constraint.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of Default. IRB floor: 0.05% under Basel IV.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P&amp;L Attribution Test. Daily FRTB test: model RTPL vs actual HPL. Failure revokes IMA approval.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Procyclicality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requirements fall in booms and rise in recessions — amplifying the cycle.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Risk-Weighted Assets. Denominator of capital ratio. Capital ratio = Eligible Capital ÷ RWA.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Standardised Approach. Regulator-prescribed methodology — fixed risk weights or sensitivities.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Standardised Approach for CCR. Replaces CEM. Recognises netting/margin/delta. Alpha 1.4×.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SA-CVA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Standardised Approach CVA. Sensitivity-based method consistent with FRTB SA.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— Part 3 (SMA → WWR)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28 / 31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326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Standardised Measurement Approach. Basel IV single op risk method replacing BIA/TSA/AMA.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Supervisory Review and Evaluation Process. Supervisor reviews ICAAP and sets P2R / P2G.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Stressed VaR. VaR using 2007–09 historical stress period. Basel III. Replaced by ES under FRTB.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+ AT1. Minimum 6% RWA (of which 4.5% CET1).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Unexpected Loss. Loss above EL. The portion addressed by regulatory capital, not provisions.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at Risk. Maximum loss not exceeded at 99% confidence, 10 days. Replaced by ES under FRTB IMA.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WWR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Wrong-Way Risk. Adverse correlation: counterparty exposure increases as credit quality deteriorates.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 &amp; Further Reading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5852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29 / 31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515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(1988). International Convergence of Capital Measurement and Capital Standards.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(2004/2006). Basel II: Revised Framework Comprehensive Version.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(2010/2011). Basel III: A global regulatory framework.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(2017). Basel III: Finalising Post-Crisis Reforms.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(2019). Minimum capital requirements for market risk (FRTB).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BCBS (2014). SA-CCR: Standardised Approach for Counterparty Credit Risk. BIS.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[7]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Gordy, M.B. (2003). A Risk-Factor Model Foundation for Ratings-Based Bank Capital Rules. JFI 12(3).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Borio, C. et al. (2001). Procyclicality of the Financial System and Financial Stability. BIS Papers No.1.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Hanson, S., Kashyap, A. &amp; Stein, J. (2011). A Macroprudential Approach to Financial Regulation. JEP.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[10]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Gregory, J. (2020). The xVA Challenge. 4th ed. Wiley.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Document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3657600" cy="292608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Sarthaka Nanda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474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years — Investment Banking &amp; RegTech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expertise, scope, practitioner context, and critical review of all content.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57600" cy="292608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43400" y="2194560"/>
            <a:ext cx="3474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&amp; Writing Assistant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drafting, formatting, and self-review on instruction.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657600" cy="292608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Gellért Peti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3474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Reviewer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architecture framing, EL/UL depth, Pillar 1/2 distinction, procyclicality, macroprudential layer, distributional assumption critique.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share. Comments and corrections welcome on LinkedIn.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 ACCORDS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of the Practitioner Knowledge 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6888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200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is a governance architecture to stabilise a fragile financial system — not a set of formulas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74904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749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covers Unexpected Loss — Expected Loss is provisioned in P&amp;L, not capitalised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29768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297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is the floor. Most real risk — IRRBB, concentration, model risk — lives in Pillar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84632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846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III introduced the macroprudential layer: CCyB, G-SIB surcharges, stress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539496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53949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Procyclicality is structurally embedded — CCyB and stressed ES help but do not fully solve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594360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5943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 IV's output floor is regulatory humility: 'we cannot fully trust internal models'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The Basel Accords — From Basel I to Basel IV  |  Module 1  </a:t>
            </a:r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Community Review: Gellért Peti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31 /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Basel Accords — From Basel I to Basel IV</dc:title>
  <dc:subject>PptxGenJS Presentation</dc:subject>
  <dc:creator>Sarthaka Nanda &amp; Claude (Anthropic)</dc:creator>
  <cp:lastModifiedBy>Sarthaka Nanda &amp; Claude (Anthropic)</cp:lastModifiedBy>
  <cp:revision>1</cp:revision>
  <dcterms:created xsi:type="dcterms:W3CDTF">2026-03-12T15:05:30Z</dcterms:created>
  <dcterms:modified xsi:type="dcterms:W3CDTF">2026-03-12T15:05:30Z</dcterms:modified>
</cp:coreProperties>
</file>