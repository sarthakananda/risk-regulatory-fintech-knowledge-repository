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3A6B"/>
                </a:solidFill>
                <a:latin typeface="Arial"/>
              </a:defRPr>
            </a:pPr>
            <a:r>
              <a:rPr sz="1100" b="0" i="0" u="none" strike="noStrike">
                <a:solidFill>
                  <a:srgbClr val="1B3A6B"/>
                </a:solidFill>
                <a:latin typeface="Arial"/>
              </a:rPr>
              <a:t>Effective Minimum Capital (% of RWA)</a:t>
            </a:r>
          </a:p>
        </c:rich>
      </c:tx>
      <c:layout/>
      <c:overlay val="0"/>
    </c:title>
    <c:autoTitleDeleted val="0"/>
    <c:plotArea>
      <c:layout/>
      <c:barChart>
        <c:barDir val="col"/>
        <c:grouping val="stacked"/>
        <c:varyColors val="0"/>
        <c:ser>
          <c:idx val="0"/>
          <c:order val="0"/>
          <c:tx>
            <c:strRef>
              <c:f>Sheet1!$B$1</c:f>
              <c:strCache>
                <c:ptCount val="1"/>
                <c:pt idx="0">
                  <c:v>CET1 Minimum</c:v>
                </c:pt>
              </c:strCache>
            </c:strRef>
          </c:tx>
          <c:spPr>
            <a:solidFill>
              <a:srgbClr val="0E6B8A"/>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c:v>
                  </c:pt>
                </c:lvl>
              </c:multiLvlStrCache>
            </c:multiLvlStrRef>
          </c:cat>
          <c:val>
            <c:numRef>
              <c:f>Sheet1!$B$2:$B$5</c:f>
              <c:numCache>
                <c:formatCode>General</c:formatCode>
                <c:ptCount val="4"/>
                <c:pt idx="0">
                  <c:v>4</c:v>
                </c:pt>
                <c:pt idx="1">
                  <c:v>4</c:v>
                </c:pt>
                <c:pt idx="2">
                  <c:v>4.5</c:v>
                </c:pt>
                <c:pt idx="3">
                  <c:v>4.5</c:v>
                </c:pt>
              </c:numCache>
            </c:numRef>
          </c:val>
        </c:ser>
        <c:ser>
          <c:idx val="1"/>
          <c:order val="1"/>
          <c:tx>
            <c:strRef>
              <c:f>Sheet1!$C$1</c:f>
              <c:strCache>
                <c:ptCount val="1"/>
                <c:pt idx="0">
                  <c:v>Conservation Buffer</c:v>
                </c:pt>
              </c:strCache>
            </c:strRef>
          </c:tx>
          <c:spPr>
            <a:solidFill>
              <a:srgbClr val="C9A84C"/>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c:v>
                  </c:pt>
                </c:lvl>
              </c:multiLvlStrCache>
            </c:multiLvlStrRef>
          </c:cat>
          <c:val>
            <c:numRef>
              <c:f>Sheet1!$C$2:$C$5</c:f>
              <c:numCache>
                <c:formatCode>General</c:formatCode>
                <c:ptCount val="4"/>
                <c:pt idx="0">
                  <c:v>0</c:v>
                </c:pt>
                <c:pt idx="1">
                  <c:v>0</c:v>
                </c:pt>
                <c:pt idx="2">
                  <c:v>2.5</c:v>
                </c:pt>
                <c:pt idx="3">
                  <c:v>2.5</c:v>
                </c:pt>
              </c:numCache>
            </c:numRef>
          </c:val>
        </c:ser>
        <c:ser>
          <c:idx val="2"/>
          <c:order val="2"/>
          <c:tx>
            <c:strRef>
              <c:f>Sheet1!$D$1</c:f>
              <c:strCache>
                <c:ptCount val="1"/>
                <c:pt idx="0">
                  <c:v>AT1 / Tier 2</c:v>
                </c:pt>
              </c:strCache>
            </c:strRef>
          </c:tx>
          <c:spPr>
            <a:solidFill>
              <a:srgbClr val="9FBFDF"/>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c:v>
                  </c:pt>
                </c:lvl>
              </c:multiLvlStrCache>
            </c:multiLvlStrRef>
          </c:cat>
          <c:val>
            <c:numRef>
              <c:f>Sheet1!$D$2:$D$5</c:f>
              <c:numCache>
                <c:formatCode>General</c:formatCode>
                <c:ptCount val="4"/>
                <c:pt idx="0">
                  <c:v>4</c:v>
                </c:pt>
                <c:pt idx="1">
                  <c:v>4</c:v>
                </c:pt>
                <c:pt idx="2">
                  <c:v>3.5</c:v>
                </c:pt>
                <c:pt idx="3">
                  <c:v>3.5</c:v>
                </c:pt>
              </c:numCache>
            </c:numRef>
          </c:val>
        </c:ser>
        <c:ser>
          <c:idx val="3"/>
          <c:order val="3"/>
          <c:tx>
            <c:strRef>
              <c:f>Sheet1!$E$1</c:f>
              <c:strCache>
                <c:ptCount val="1"/>
                <c:pt idx="0">
                  <c:v>G-SIB Surcharge (avg)</c:v>
                </c:pt>
              </c:strCache>
            </c:strRef>
          </c:tx>
          <c:spPr>
            <a:solidFill>
              <a:srgbClr val="8B0000"/>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c:v>
                  </c:pt>
                </c:lvl>
              </c:multiLvlStrCache>
            </c:multiLvlStrRef>
          </c:cat>
          <c:val>
            <c:numRef>
              <c:f>Sheet1!$E$2:$E$5</c:f>
              <c:numCache>
                <c:formatCode>General</c:formatCode>
                <c:ptCount val="4"/>
                <c:pt idx="0">
                  <c:v>0</c:v>
                </c:pt>
                <c:pt idx="1">
                  <c:v>0</c:v>
                </c:pt>
                <c:pt idx="2">
                  <c:v>1.5</c:v>
                </c:pt>
                <c:pt idx="3">
                  <c:v>1.5</c:v>
                </c:pt>
              </c:numCache>
            </c:numRef>
          </c:val>
        </c:ser>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A6B"/>
                </a:solidFill>
                <a:latin typeface="Arial"/>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6350" cap="flat">
              <a:solidFill>
                <a:srgbClr val="E0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A1A2E"/>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B3A6B"/>
                </a:solidFill>
                <a:latin typeface="Arial"/>
              </a:defRPr>
            </a:pPr>
            <a:r>
              <a:rPr sz="1000" b="0" i="0" u="none" strike="noStrike">
                <a:solidFill>
                  <a:srgbClr val="1B3A6B"/>
                </a:solidFill>
                <a:latin typeface="Arial"/>
              </a:rPr>
              <a:t>CCR + CVA Capital (€000, bilateral, banking book)</a:t>
            </a:r>
          </a:p>
        </c:rich>
      </c:tx>
      <c:layout/>
      <c:overlay val="0"/>
    </c:title>
    <c:autoTitleDeleted val="0"/>
    <c:plotArea>
      <c:layout/>
      <c:barChart>
        <c:barDir val="col"/>
        <c:grouping val="stacked"/>
        <c:varyColors val="0"/>
        <c:ser>
          <c:idx val="0"/>
          <c:order val="0"/>
          <c:tx>
            <c:strRef>
              <c:f>Sheet1!$B$1</c:f>
              <c:strCache>
                <c:ptCount val="1"/>
                <c:pt idx="0">
                  <c:v>CCR Capital</c:v>
                </c:pt>
              </c:strCache>
            </c:strRef>
          </c:tx>
          <c:spPr>
            <a:solidFill>
              <a:srgbClr val="0E6B8A"/>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 (SA)</c:v>
                  </c:pt>
                  <c:pt idx="2">
                    <c:v>Basel III</c:v>
                  </c:pt>
                  <c:pt idx="3">
                    <c:v>Basel IV</c:v>
                  </c:pt>
                </c:lvl>
              </c:multiLvlStrCache>
            </c:multiLvlStrRef>
          </c:cat>
          <c:val>
            <c:numRef>
              <c:f>Sheet1!$B$2:$B$5</c:f>
              <c:numCache>
                <c:formatCode>General</c:formatCode>
                <c:ptCount val="4"/>
                <c:pt idx="0">
                  <c:v>36</c:v>
                </c:pt>
                <c:pt idx="1">
                  <c:v>18</c:v>
                </c:pt>
                <c:pt idx="2">
                  <c:v>18</c:v>
                </c:pt>
                <c:pt idx="3">
                  <c:v>44</c:v>
                </c:pt>
              </c:numCache>
            </c:numRef>
          </c:val>
        </c:ser>
        <c:ser>
          <c:idx val="1"/>
          <c:order val="1"/>
          <c:tx>
            <c:strRef>
              <c:f>Sheet1!$C$1</c:f>
              <c:strCache>
                <c:ptCount val="1"/>
                <c:pt idx="0">
                  <c:v>CVA Capital</c:v>
                </c:pt>
              </c:strCache>
            </c:strRef>
          </c:tx>
          <c:spPr>
            <a:solidFill>
              <a:srgbClr val="8B0000"/>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 (SA)</c:v>
                  </c:pt>
                  <c:pt idx="2">
                    <c:v>Basel III</c:v>
                  </c:pt>
                  <c:pt idx="3">
                    <c:v>Basel IV</c:v>
                  </c:pt>
                </c:lvl>
              </c:multiLvlStrCache>
            </c:multiLvlStrRef>
          </c:cat>
          <c:val>
            <c:numRef>
              <c:f>Sheet1!$C$2:$C$5</c:f>
              <c:numCache>
                <c:formatCode>General</c:formatCode>
                <c:ptCount val="4"/>
                <c:pt idx="0">
                  <c:v>0</c:v>
                </c:pt>
                <c:pt idx="1">
                  <c:v>0</c:v>
                </c:pt>
                <c:pt idx="2">
                  <c:v>22</c:v>
                </c:pt>
                <c:pt idx="3">
                  <c:v>15</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A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B3A6B"/>
                </a:solidFill>
                <a:latin typeface="Arial"/>
              </a:defRPr>
            </a:pPr>
            <a:r>
              <a:rPr sz="900" b="0" i="0" u="none" strike="noStrike">
                <a:solidFill>
                  <a:srgbClr val="1B3A6B"/>
                </a:solidFill>
                <a:latin typeface="Arial"/>
              </a:rPr>
              <a:t>CDS Capital by Basel Accord ($000)</a:t>
            </a:r>
          </a:p>
        </c:rich>
      </c:tx>
      <c:layout/>
      <c:overlay val="0"/>
    </c:title>
    <c:autoTitleDeleted val="0"/>
    <c:plotArea>
      <c:layout/>
      <c:barChart>
        <c:barDir val="col"/>
        <c:grouping val="stacked"/>
        <c:varyColors val="0"/>
        <c:ser>
          <c:idx val="0"/>
          <c:order val="0"/>
          <c:tx>
            <c:strRef>
              <c:f>Sheet1!$B$1</c:f>
              <c:strCache>
                <c:ptCount val="1"/>
                <c:pt idx="0">
                  <c:v>CCR Capital ($000)</c:v>
                </c:pt>
              </c:strCache>
            </c:strRef>
          </c:tx>
          <c:spPr>
            <a:solidFill>
              <a:srgbClr val="8B0000"/>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c:v>
                  </c:pt>
                </c:lvl>
              </c:multiLvlStrCache>
            </c:multiLvlStrRef>
          </c:cat>
          <c:val>
            <c:numRef>
              <c:f>Sheet1!$B$2:$B$5</c:f>
              <c:numCache>
                <c:formatCode>General</c:formatCode>
                <c:ptCount val="4"/>
                <c:pt idx="0">
                  <c:v>8</c:v>
                </c:pt>
                <c:pt idx="1">
                  <c:v>9.6</c:v>
                </c:pt>
                <c:pt idx="2">
                  <c:v>9.6</c:v>
                </c:pt>
                <c:pt idx="3">
                  <c:v>13</c:v>
                </c:pt>
              </c:numCache>
            </c:numRef>
          </c:val>
        </c:ser>
        <c:ser>
          <c:idx val="1"/>
          <c:order val="1"/>
          <c:tx>
            <c:strRef>
              <c:f>Sheet1!$C$1</c:f>
              <c:strCache>
                <c:ptCount val="1"/>
                <c:pt idx="0">
                  <c:v>CVA Capital ($000)</c:v>
                </c:pt>
              </c:strCache>
            </c:strRef>
          </c:tx>
          <c:spPr>
            <a:solidFill>
              <a:srgbClr val="D4770A"/>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c:v>
                  </c:pt>
                  <c:pt idx="2">
                    <c:v>Basel III</c:v>
                  </c:pt>
                  <c:pt idx="3">
                    <c:v>Basel IV</c:v>
                  </c:pt>
                </c:lvl>
              </c:multiLvlStrCache>
            </c:multiLvlStrRef>
          </c:cat>
          <c:val>
            <c:numRef>
              <c:f>Sheet1!$C$2:$C$5</c:f>
              <c:numCache>
                <c:formatCode>General</c:formatCode>
                <c:ptCount val="4"/>
                <c:pt idx="0">
                  <c:v>0</c:v>
                </c:pt>
                <c:pt idx="1">
                  <c:v>0</c:v>
                </c:pt>
                <c:pt idx="2">
                  <c:v>6</c:v>
                </c:pt>
                <c:pt idx="3">
                  <c:v>5</c:v>
                </c:pt>
              </c:numCache>
            </c:numRef>
          </c:val>
        </c:ser>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A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800">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B3A6B"/>
                </a:solidFill>
                <a:latin typeface="Arial"/>
              </a:defRPr>
            </a:pPr>
            <a:r>
              <a:rPr sz="900" b="0" i="0" u="none" strike="noStrike">
                <a:solidFill>
                  <a:srgbClr val="1B3A6B"/>
                </a:solidFill>
                <a:latin typeface="Arial"/>
              </a:rPr>
              <a:t>Gold Forward Capital by Basel Accord ($000)</a:t>
            </a:r>
          </a:p>
        </c:rich>
      </c:tx>
      <c:layout/>
      <c:overlay val="0"/>
    </c:title>
    <c:autoTitleDeleted val="0"/>
    <c:plotArea>
      <c:layout/>
      <c:barChart>
        <c:barDir val="col"/>
        <c:grouping val="stacked"/>
        <c:varyColors val="0"/>
        <c:ser>
          <c:idx val="0"/>
          <c:order val="0"/>
          <c:tx>
            <c:strRef>
              <c:f>Sheet1!$B$1</c:f>
              <c:strCache>
                <c:ptCount val="1"/>
                <c:pt idx="0">
                  <c:v>CCR Capital ($000)</c:v>
                </c:pt>
              </c:strCache>
            </c:strRef>
          </c:tx>
          <c:spPr>
            <a:solidFill>
              <a:srgbClr val="1A6B3A"/>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 (SA)</c:v>
                  </c:pt>
                  <c:pt idx="2">
                    <c:v>Basel III</c:v>
                  </c:pt>
                  <c:pt idx="3">
                    <c:v>Basel IV</c:v>
                  </c:pt>
                </c:lvl>
              </c:multiLvlStrCache>
            </c:multiLvlStrRef>
          </c:cat>
          <c:val>
            <c:numRef>
              <c:f>Sheet1!$B$2:$B$5</c:f>
              <c:numCache>
                <c:formatCode>General</c:formatCode>
                <c:ptCount val="4"/>
                <c:pt idx="0">
                  <c:v>28.2</c:v>
                </c:pt>
                <c:pt idx="1">
                  <c:v>28.2</c:v>
                </c:pt>
                <c:pt idx="2">
                  <c:v>28.2</c:v>
                </c:pt>
                <c:pt idx="3">
                  <c:v>34</c:v>
                </c:pt>
              </c:numCache>
            </c:numRef>
          </c:val>
        </c:ser>
        <c:ser>
          <c:idx val="1"/>
          <c:order val="1"/>
          <c:tx>
            <c:strRef>
              <c:f>Sheet1!$C$1</c:f>
              <c:strCache>
                <c:ptCount val="1"/>
                <c:pt idx="0">
                  <c:v>CVA Capital ($000)</c:v>
                </c:pt>
              </c:strCache>
            </c:strRef>
          </c:tx>
          <c:spPr>
            <a:solidFill>
              <a:srgbClr val="D4770A"/>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Basel I</c:v>
                  </c:pt>
                  <c:pt idx="1">
                    <c:v>Basel II (SA)</c:v>
                  </c:pt>
                  <c:pt idx="2">
                    <c:v>Basel III</c:v>
                  </c:pt>
                  <c:pt idx="3">
                    <c:v>Basel IV</c:v>
                  </c:pt>
                </c:lvl>
              </c:multiLvlStrCache>
            </c:multiLvlStrRef>
          </c:cat>
          <c:val>
            <c:numRef>
              <c:f>Sheet1!$C$2:$C$5</c:f>
              <c:numCache>
                <c:formatCode>General</c:formatCode>
                <c:ptCount val="4"/>
                <c:pt idx="0">
                  <c:v>0</c:v>
                </c:pt>
                <c:pt idx="1">
                  <c:v>0</c:v>
                </c:pt>
                <c:pt idx="2">
                  <c:v>8</c:v>
                </c:pt>
                <c:pt idx="3">
                  <c:v>8</c:v>
                </c:pt>
              </c:numCache>
            </c:numRef>
          </c:val>
        </c:ser>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3A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0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A"/>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8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 Target="slide10.xml"/><Relationship Id="rId3" Type="http://schemas.openxmlformats.org/officeDocument/2006/relationships/slide" Target="slide10.xml"/><Relationship Id="rId4" Type="http://schemas.openxmlformats.org/officeDocument/2006/relationships/slide" Target="slide2.xml"/><Relationship Id="rId5" Type="http://schemas.openxmlformats.org/officeDocument/2006/relationships/slide" Target="slide9.xml"/><Relationship Id="rId6" Type="http://schemas.openxmlformats.org/officeDocument/2006/relationships/slide" Target="slide2.xml"/><Relationship Id="rId7" Type="http://schemas.openxmlformats.org/officeDocument/2006/relationships/slide" Target="slide17.xml"/><Relationship Id="rId8" Type="http://schemas.openxmlformats.org/officeDocument/2006/relationships/slide" Target="slide10.xml"/><Relationship Id="rId9" Type="http://schemas.openxmlformats.org/officeDocument/2006/relationships/slide" Target="slide15.xml"/><Relationship Id="rId10" Type="http://schemas.openxmlformats.org/officeDocument/2006/relationships/slide" Target="slide10.xml"/><Relationship Id="rId11" Type="http://schemas.openxmlformats.org/officeDocument/2006/relationships/slide" Target="slide10.xml"/><Relationship Id="rId12" Type="http://schemas.openxmlformats.org/officeDocument/2006/relationships/slide" Target="slide8.xml"/><Relationship Id="rId13" Type="http://schemas.openxmlformats.org/officeDocument/2006/relationships/slideLayout" Target="../slideLayouts/slideLayout1.xml"/><Relationship Id="rId1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 Target="slide7.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1.xml"/><Relationship Id="rId6" Type="http://schemas.openxmlformats.org/officeDocument/2006/relationships/slide" Target="slide10.xml"/><Relationship Id="rId7" Type="http://schemas.openxmlformats.org/officeDocument/2006/relationships/slide" Target="slide9.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4.xml"/><Relationship Id="rId11" Type="http://schemas.openxmlformats.org/officeDocument/2006/relationships/slide" Target="slide7.xml"/><Relationship Id="rId12" Type="http://schemas.openxmlformats.org/officeDocument/2006/relationships/slide" Target="slide11.xml"/><Relationship Id="rId13" Type="http://schemas.openxmlformats.org/officeDocument/2006/relationships/slideLayout" Target="../slideLayouts/slideLayout1.xml"/><Relationship Id="rId1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 Target="slide7.xml"/><Relationship Id="rId3" Type="http://schemas.openxmlformats.org/officeDocument/2006/relationships/slide" Target="slide6.xml"/><Relationship Id="rId4" Type="http://schemas.openxmlformats.org/officeDocument/2006/relationships/slide" Target="slide8.xml"/><Relationship Id="rId5" Type="http://schemas.openxmlformats.org/officeDocument/2006/relationships/slide" Target="slide8.xml"/><Relationship Id="rId6" Type="http://schemas.openxmlformats.org/officeDocument/2006/relationships/slide" Target="slide11.xml"/><Relationship Id="rId7" Type="http://schemas.openxmlformats.org/officeDocument/2006/relationships/slide" Target="slide11.xml"/><Relationship Id="rId8" Type="http://schemas.openxmlformats.org/officeDocument/2006/relationships/slide" Target="slide11.xml"/><Relationship Id="rId9" Type="http://schemas.openxmlformats.org/officeDocument/2006/relationships/slide" Target="slide10.xml"/><Relationship Id="rId10" Type="http://schemas.openxmlformats.org/officeDocument/2006/relationships/slide" Target="slide9.xml"/><Relationship Id="rId11" Type="http://schemas.openxmlformats.org/officeDocument/2006/relationships/slide" Target="slide9.xml"/><Relationship Id="rId12" Type="http://schemas.openxmlformats.org/officeDocument/2006/relationships/slide" Target="slide18.xml"/><Relationship Id="rId13" Type="http://schemas.openxmlformats.org/officeDocument/2006/relationships/slideLayout" Target="../slideLayouts/slideLayout1.xml"/><Relationship Id="rId1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p:spPr>
      </p:sp>
      <p:sp>
        <p:nvSpPr>
          <p:cNvPr id="3" name="Shape 1"/>
          <p:cNvSpPr/>
          <p:nvPr/>
        </p:nvSpPr>
        <p:spPr>
          <a:xfrm>
            <a:off x="164592" y="2423160"/>
            <a:ext cx="8979408" cy="36576"/>
          </a:xfrm>
          <a:prstGeom prst="rect">
            <a:avLst/>
          </a:prstGeom>
          <a:solidFill>
            <a:srgbClr val="C9A84C"/>
          </a:solidFill>
          <a:ln/>
        </p:spPr>
      </p:sp>
      <p:sp>
        <p:nvSpPr>
          <p:cNvPr id="4" name="Text 2"/>
          <p:cNvSpPr/>
          <p:nvPr/>
        </p:nvSpPr>
        <p:spPr>
          <a:xfrm>
            <a:off x="365760" y="502920"/>
            <a:ext cx="8412480" cy="457200"/>
          </a:xfrm>
          <a:prstGeom prst="rect">
            <a:avLst/>
          </a:prstGeom>
          <a:noFill/>
          <a:ln/>
        </p:spPr>
        <p:txBody>
          <a:bodyPr wrap="square" lIns="0" tIns="0" rIns="0" bIns="0" rtlCol="0" anchor="ctr"/>
          <a:lstStyle/>
          <a:p>
            <a:pPr indent="0" marL="0">
              <a:buNone/>
            </a:pPr>
            <a:r>
              <a:rPr lang="en-US" sz="1300" b="1" spc="400" kern="0" dirty="0">
                <a:solidFill>
                  <a:srgbClr val="C9A84C"/>
                </a:solidFill>
              </a:rPr>
              <a:t>THE BASEL ACCORDS</a:t>
            </a:r>
            <a:endParaRPr lang="en-US" sz="1300" dirty="0"/>
          </a:p>
        </p:txBody>
      </p:sp>
      <p:sp>
        <p:nvSpPr>
          <p:cNvPr id="5" name="Text 3"/>
          <p:cNvSpPr/>
          <p:nvPr/>
        </p:nvSpPr>
        <p:spPr>
          <a:xfrm>
            <a:off x="365760" y="960120"/>
            <a:ext cx="8412480" cy="1188720"/>
          </a:xfrm>
          <a:prstGeom prst="rect">
            <a:avLst/>
          </a:prstGeom>
          <a:noFill/>
          <a:ln/>
        </p:spPr>
        <p:txBody>
          <a:bodyPr wrap="square" lIns="0" tIns="0" rIns="0" bIns="0" rtlCol="0" anchor="ctr"/>
          <a:lstStyle/>
          <a:p>
            <a:pPr indent="0" marL="0">
              <a:buNone/>
            </a:pPr>
            <a:r>
              <a:rPr lang="en-US" sz="4400" b="1" dirty="0">
                <a:solidFill>
                  <a:srgbClr val="FFFFFF"/>
                </a:solidFill>
              </a:rPr>
              <a:t>From Basel I to Basel IV</a:t>
            </a:r>
            <a:endParaRPr lang="en-US" sz="4400" dirty="0"/>
          </a:p>
        </p:txBody>
      </p:sp>
      <p:sp>
        <p:nvSpPr>
          <p:cNvPr id="6" name="Text 4"/>
          <p:cNvSpPr/>
          <p:nvPr/>
        </p:nvSpPr>
        <p:spPr>
          <a:xfrm>
            <a:off x="365760" y="2514600"/>
            <a:ext cx="7315200" cy="411480"/>
          </a:xfrm>
          <a:prstGeom prst="rect">
            <a:avLst/>
          </a:prstGeom>
          <a:noFill/>
          <a:ln/>
        </p:spPr>
        <p:txBody>
          <a:bodyPr wrap="square" lIns="0" tIns="0" rIns="0" bIns="0" rtlCol="0" anchor="ctr"/>
          <a:lstStyle/>
          <a:p>
            <a:pPr indent="0" marL="0">
              <a:buNone/>
            </a:pPr>
            <a:r>
              <a:rPr lang="en-US" sz="1600" i="1" dirty="0">
                <a:solidFill>
                  <a:srgbClr val="D6EAF8"/>
                </a:solidFill>
              </a:rPr>
              <a:t>A Practitioner's Reference Guide for the Next Generation</a:t>
            </a:r>
            <a:endParaRPr lang="en-US" sz="1600" dirty="0"/>
          </a:p>
        </p:txBody>
      </p:sp>
      <p:sp>
        <p:nvSpPr>
          <p:cNvPr id="7" name="Text 5"/>
          <p:cNvSpPr/>
          <p:nvPr/>
        </p:nvSpPr>
        <p:spPr>
          <a:xfrm>
            <a:off x="365760" y="2999232"/>
            <a:ext cx="8229600" cy="320040"/>
          </a:xfrm>
          <a:prstGeom prst="rect">
            <a:avLst/>
          </a:prstGeom>
          <a:noFill/>
          <a:ln/>
        </p:spPr>
        <p:txBody>
          <a:bodyPr wrap="square" lIns="0" tIns="0" rIns="0" bIns="0" rtlCol="0" anchor="ctr"/>
          <a:lstStyle/>
          <a:p>
            <a:pPr indent="0" marL="0">
              <a:buNone/>
            </a:pPr>
            <a:r>
              <a:rPr lang="en-US" sz="1200" dirty="0">
                <a:solidFill>
                  <a:srgbClr val="8899AA"/>
                </a:solidFill>
              </a:rPr>
              <a:t>Credit Risk  •  Market Risk  •  Operational Risk</a:t>
            </a:r>
            <a:endParaRPr lang="en-US" sz="1200" dirty="0"/>
          </a:p>
        </p:txBody>
      </p:sp>
      <p:sp>
        <p:nvSpPr>
          <p:cNvPr id="8" name="Text 6"/>
          <p:cNvSpPr/>
          <p:nvPr/>
        </p:nvSpPr>
        <p:spPr>
          <a:xfrm>
            <a:off x="365760" y="3383280"/>
            <a:ext cx="8229600" cy="274320"/>
          </a:xfrm>
          <a:prstGeom prst="rect">
            <a:avLst/>
          </a:prstGeom>
          <a:noFill/>
          <a:ln/>
        </p:spPr>
        <p:txBody>
          <a:bodyPr wrap="square" lIns="0" tIns="0" rIns="0" bIns="0" rtlCol="0" anchor="ctr"/>
          <a:lstStyle/>
          <a:p>
            <a:pPr indent="0" marL="0">
              <a:buNone/>
            </a:pPr>
            <a:r>
              <a:rPr lang="en-US" sz="1000" i="1" dirty="0">
                <a:solidFill>
                  <a:srgbClr val="8899AA"/>
                </a:solidFill>
              </a:rPr>
              <a:t>Worked Examples: FX Forward | Equity Derivative | Interest Rate Swap | Credit Derivative | Precious Metal Forward</a:t>
            </a:r>
            <a:endParaRPr lang="en-US" sz="1000" dirty="0"/>
          </a:p>
        </p:txBody>
      </p:sp>
      <p:sp>
        <p:nvSpPr>
          <p:cNvPr id="9" name="Shape 7"/>
          <p:cNvSpPr/>
          <p:nvPr/>
        </p:nvSpPr>
        <p:spPr>
          <a:xfrm>
            <a:off x="164592" y="4572000"/>
            <a:ext cx="8979408" cy="571500"/>
          </a:xfrm>
          <a:prstGeom prst="rect">
            <a:avLst/>
          </a:prstGeom>
          <a:solidFill>
            <a:srgbClr val="0D2244"/>
          </a:solidFill>
          <a:ln/>
        </p:spPr>
      </p:sp>
      <p:sp>
        <p:nvSpPr>
          <p:cNvPr id="10" name="Text 8"/>
          <p:cNvSpPr/>
          <p:nvPr/>
        </p:nvSpPr>
        <p:spPr>
          <a:xfrm>
            <a:off x="365760" y="4590288"/>
            <a:ext cx="8595360" cy="530352"/>
          </a:xfrm>
          <a:prstGeom prst="rect">
            <a:avLst/>
          </a:prstGeom>
          <a:noFill/>
          <a:ln/>
        </p:spPr>
        <p:txBody>
          <a:bodyPr wrap="square" lIns="0" tIns="0" rIns="0" bIns="0" rtlCol="0" anchor="ctr"/>
          <a:lstStyle/>
          <a:p>
            <a:pPr indent="0" marL="0">
              <a:buNone/>
            </a:pPr>
            <a:r>
              <a:rPr lang="en-US" sz="1000" dirty="0">
                <a:solidFill>
                  <a:srgbClr val="8899AA"/>
                </a:solidFill>
              </a:rPr>
              <a:t>Sarthaka Nanda  |  26 Years, Investment Banking &amp; RegTech  |  Produced with Claude (Anthropic)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What is BCBS?</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What is the BCBS — and How Does It Work?</a:t>
            </a:r>
            <a:endParaRPr lang="en-US" sz="2200" dirty="0"/>
          </a:p>
        </p:txBody>
      </p:sp>
      <p:sp>
        <p:nvSpPr>
          <p:cNvPr id="6" name="Shape 4"/>
          <p:cNvSpPr/>
          <p:nvPr/>
        </p:nvSpPr>
        <p:spPr>
          <a:xfrm>
            <a:off x="256032" y="777240"/>
            <a:ext cx="4206240" cy="40050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7" name="Shape 5"/>
          <p:cNvSpPr/>
          <p:nvPr/>
        </p:nvSpPr>
        <p:spPr>
          <a:xfrm>
            <a:off x="320040" y="1005840"/>
            <a:ext cx="530352" cy="530352"/>
          </a:xfrm>
          <a:prstGeom prst="ellipse">
            <a:avLst/>
          </a:prstGeom>
          <a:solidFill>
            <a:srgbClr val="1B3A6B"/>
          </a:solidFill>
          <a:ln w="12700">
            <a:solidFill>
              <a:srgbClr val="1B3A6B"/>
            </a:solidFill>
            <a:prstDash val="solid"/>
          </a:ln>
        </p:spPr>
      </p:sp>
      <p:pic>
        <p:nvPicPr>
          <p:cNvPr id="8" name="Image 0" descr="preencoded.png">    </p:cNvPr>
          <p:cNvPicPr>
            <a:picLocks noChangeAspect="1"/>
          </p:cNvPicPr>
          <p:nvPr/>
        </p:nvPicPr>
        <p:blipFill>
          <a:blip r:embed="rId1"/>
          <a:stretch>
            <a:fillRect/>
          </a:stretch>
        </p:blipFill>
        <p:spPr>
          <a:xfrm>
            <a:off x="426110" y="1111910"/>
            <a:ext cx="318211" cy="318211"/>
          </a:xfrm>
          <a:prstGeom prst="rect">
            <a:avLst/>
          </a:prstGeom>
        </p:spPr>
      </p:pic>
      <p:sp>
        <p:nvSpPr>
          <p:cNvPr id="9" name="Text 6"/>
          <p:cNvSpPr/>
          <p:nvPr/>
        </p:nvSpPr>
        <p:spPr>
          <a:xfrm>
            <a:off x="941832" y="1005840"/>
            <a:ext cx="3401568" cy="274320"/>
          </a:xfrm>
          <a:prstGeom prst="rect">
            <a:avLst/>
          </a:prstGeom>
          <a:noFill/>
          <a:ln/>
        </p:spPr>
        <p:txBody>
          <a:bodyPr wrap="square" lIns="0" tIns="0" rIns="0" bIns="0" rtlCol="0" anchor="ctr"/>
          <a:lstStyle/>
          <a:p>
            <a:pPr indent="0" marL="0">
              <a:buNone/>
            </a:pPr>
            <a:r>
              <a:rPr lang="en-US" sz="1050" b="1" dirty="0">
                <a:solidFill>
                  <a:srgbClr val="1B3A6B"/>
                </a:solidFill>
              </a:rPr>
              <a:t>The Basel Committee on Banking Supervision</a:t>
            </a:r>
            <a:endParaRPr lang="en-US" sz="1050" dirty="0"/>
          </a:p>
        </p:txBody>
      </p:sp>
      <p:sp>
        <p:nvSpPr>
          <p:cNvPr id="10" name="Text 7"/>
          <p:cNvSpPr/>
          <p:nvPr/>
        </p:nvSpPr>
        <p:spPr>
          <a:xfrm>
            <a:off x="941832" y="1280160"/>
            <a:ext cx="3401568" cy="411480"/>
          </a:xfrm>
          <a:prstGeom prst="rect">
            <a:avLst/>
          </a:prstGeom>
          <a:noFill/>
          <a:ln/>
        </p:spPr>
        <p:txBody>
          <a:bodyPr wrap="square" lIns="0" tIns="0" rIns="0" bIns="0" rtlCol="0" anchor="ctr"/>
          <a:lstStyle/>
          <a:p>
            <a:pPr indent="0" marL="0">
              <a:buNone/>
            </a:pPr>
            <a:r>
              <a:rPr lang="en-US" sz="900" dirty="0">
                <a:solidFill>
                  <a:srgbClr val="1A1A2E"/>
                </a:solidFill>
              </a:rPr>
              <a:t>Primary global standard-setter for bank capital regulation. Founded 1974 by G10 central bank governors. Hosted by the BIS in Basel, Switzerland.</a:t>
            </a:r>
            <a:endParaRPr lang="en-US" sz="900" dirty="0"/>
          </a:p>
        </p:txBody>
      </p:sp>
      <p:sp>
        <p:nvSpPr>
          <p:cNvPr id="11" name="Shape 8"/>
          <p:cNvSpPr/>
          <p:nvPr/>
        </p:nvSpPr>
        <p:spPr>
          <a:xfrm>
            <a:off x="411480" y="1737360"/>
            <a:ext cx="3913632" cy="18288"/>
          </a:xfrm>
          <a:prstGeom prst="rect">
            <a:avLst/>
          </a:prstGeom>
          <a:solidFill>
            <a:srgbClr val="D6EAF8"/>
          </a:solidFill>
          <a:ln/>
        </p:spPr>
      </p:sp>
      <p:sp>
        <p:nvSpPr>
          <p:cNvPr id="12" name="Shape 9"/>
          <p:cNvSpPr/>
          <p:nvPr/>
        </p:nvSpPr>
        <p:spPr>
          <a:xfrm>
            <a:off x="320040" y="1965960"/>
            <a:ext cx="530352" cy="530352"/>
          </a:xfrm>
          <a:prstGeom prst="ellipse">
            <a:avLst/>
          </a:prstGeom>
          <a:solidFill>
            <a:srgbClr val="0E6B8A"/>
          </a:solidFill>
          <a:ln w="12700">
            <a:solidFill>
              <a:srgbClr val="0E6B8A"/>
            </a:solidFill>
            <a:prstDash val="solid"/>
          </a:ln>
        </p:spPr>
      </p:sp>
      <p:pic>
        <p:nvPicPr>
          <p:cNvPr id="13" name="Image 1" descr="preencoded.png">    </p:cNvPr>
          <p:cNvPicPr>
            <a:picLocks noChangeAspect="1"/>
          </p:cNvPicPr>
          <p:nvPr/>
        </p:nvPicPr>
        <p:blipFill>
          <a:blip r:embed="rId2"/>
          <a:stretch>
            <a:fillRect/>
          </a:stretch>
        </p:blipFill>
        <p:spPr>
          <a:xfrm>
            <a:off x="426110" y="2072030"/>
            <a:ext cx="318211" cy="318211"/>
          </a:xfrm>
          <a:prstGeom prst="rect">
            <a:avLst/>
          </a:prstGeom>
        </p:spPr>
      </p:pic>
      <p:sp>
        <p:nvSpPr>
          <p:cNvPr id="14" name="Text 10"/>
          <p:cNvSpPr/>
          <p:nvPr/>
        </p:nvSpPr>
        <p:spPr>
          <a:xfrm>
            <a:off x="941832" y="1965960"/>
            <a:ext cx="3401568" cy="274320"/>
          </a:xfrm>
          <a:prstGeom prst="rect">
            <a:avLst/>
          </a:prstGeom>
          <a:noFill/>
          <a:ln/>
        </p:spPr>
        <p:txBody>
          <a:bodyPr wrap="square" lIns="0" tIns="0" rIns="0" bIns="0" rtlCol="0" anchor="ctr"/>
          <a:lstStyle/>
          <a:p>
            <a:pPr indent="0" marL="0">
              <a:buNone/>
            </a:pPr>
            <a:r>
              <a:rPr lang="en-US" sz="1050" b="1" dirty="0">
                <a:solidFill>
                  <a:srgbClr val="0E6B8A"/>
                </a:solidFill>
              </a:rPr>
              <a:t>45 Members — 28 Jurisdictions</a:t>
            </a:r>
            <a:endParaRPr lang="en-US" sz="1050" dirty="0"/>
          </a:p>
        </p:txBody>
      </p:sp>
      <p:sp>
        <p:nvSpPr>
          <p:cNvPr id="15" name="Text 11"/>
          <p:cNvSpPr/>
          <p:nvPr/>
        </p:nvSpPr>
        <p:spPr>
          <a:xfrm>
            <a:off x="941832" y="2240280"/>
            <a:ext cx="3401568" cy="411480"/>
          </a:xfrm>
          <a:prstGeom prst="rect">
            <a:avLst/>
          </a:prstGeom>
          <a:noFill/>
          <a:ln/>
        </p:spPr>
        <p:txBody>
          <a:bodyPr wrap="square" lIns="0" tIns="0" rIns="0" bIns="0" rtlCol="0" anchor="ctr"/>
          <a:lstStyle/>
          <a:p>
            <a:pPr indent="0" marL="0">
              <a:buNone/>
            </a:pPr>
            <a:r>
              <a:rPr lang="en-US" sz="900" dirty="0">
                <a:solidFill>
                  <a:srgbClr val="1A1A2E"/>
                </a:solidFill>
              </a:rPr>
              <a:t>US Federal Reserve • ECB • Bank of England • MAS Singapore • People's Bank of China — and 40 more central banks and supervisors.</a:t>
            </a:r>
            <a:endParaRPr lang="en-US" sz="900" dirty="0"/>
          </a:p>
        </p:txBody>
      </p:sp>
      <p:sp>
        <p:nvSpPr>
          <p:cNvPr id="16" name="Shape 12"/>
          <p:cNvSpPr/>
          <p:nvPr/>
        </p:nvSpPr>
        <p:spPr>
          <a:xfrm>
            <a:off x="411480" y="2697480"/>
            <a:ext cx="3913632" cy="18288"/>
          </a:xfrm>
          <a:prstGeom prst="rect">
            <a:avLst/>
          </a:prstGeom>
          <a:solidFill>
            <a:srgbClr val="D6EAF8"/>
          </a:solidFill>
          <a:ln/>
        </p:spPr>
      </p:sp>
      <p:sp>
        <p:nvSpPr>
          <p:cNvPr id="17" name="Shape 13"/>
          <p:cNvSpPr/>
          <p:nvPr/>
        </p:nvSpPr>
        <p:spPr>
          <a:xfrm>
            <a:off x="320040" y="2926080"/>
            <a:ext cx="530352" cy="530352"/>
          </a:xfrm>
          <a:prstGeom prst="ellipse">
            <a:avLst/>
          </a:prstGeom>
          <a:solidFill>
            <a:srgbClr val="C9A84C"/>
          </a:solidFill>
          <a:ln w="12700">
            <a:solidFill>
              <a:srgbClr val="C9A84C"/>
            </a:solidFill>
            <a:prstDash val="solid"/>
          </a:ln>
        </p:spPr>
      </p:sp>
      <p:pic>
        <p:nvPicPr>
          <p:cNvPr id="18" name="Image 2" descr="preencoded.png">    </p:cNvPr>
          <p:cNvPicPr>
            <a:picLocks noChangeAspect="1"/>
          </p:cNvPicPr>
          <p:nvPr/>
        </p:nvPicPr>
        <p:blipFill>
          <a:blip r:embed="rId3"/>
          <a:stretch>
            <a:fillRect/>
          </a:stretch>
        </p:blipFill>
        <p:spPr>
          <a:xfrm>
            <a:off x="426110" y="3032150"/>
            <a:ext cx="318211" cy="318211"/>
          </a:xfrm>
          <a:prstGeom prst="rect">
            <a:avLst/>
          </a:prstGeom>
        </p:spPr>
      </p:pic>
      <p:sp>
        <p:nvSpPr>
          <p:cNvPr id="19" name="Text 14"/>
          <p:cNvSpPr/>
          <p:nvPr/>
        </p:nvSpPr>
        <p:spPr>
          <a:xfrm>
            <a:off x="941832" y="2926080"/>
            <a:ext cx="3401568" cy="274320"/>
          </a:xfrm>
          <a:prstGeom prst="rect">
            <a:avLst/>
          </a:prstGeom>
          <a:noFill/>
          <a:ln/>
        </p:spPr>
        <p:txBody>
          <a:bodyPr wrap="square" lIns="0" tIns="0" rIns="0" bIns="0" rtlCol="0" anchor="ctr"/>
          <a:lstStyle/>
          <a:p>
            <a:pPr indent="0" marL="0">
              <a:buNone/>
            </a:pPr>
            <a:r>
              <a:rPr lang="en-US" sz="1050" b="1" dirty="0">
                <a:solidFill>
                  <a:srgbClr val="C9A84C"/>
                </a:solidFill>
              </a:rPr>
              <a:t>Standards, Not Laws</a:t>
            </a:r>
            <a:endParaRPr lang="en-US" sz="1050" dirty="0"/>
          </a:p>
        </p:txBody>
      </p:sp>
      <p:sp>
        <p:nvSpPr>
          <p:cNvPr id="20" name="Text 15"/>
          <p:cNvSpPr/>
          <p:nvPr/>
        </p:nvSpPr>
        <p:spPr>
          <a:xfrm>
            <a:off x="941832" y="3200400"/>
            <a:ext cx="3401568" cy="411480"/>
          </a:xfrm>
          <a:prstGeom prst="rect">
            <a:avLst/>
          </a:prstGeom>
          <a:noFill/>
          <a:ln/>
        </p:spPr>
        <p:txBody>
          <a:bodyPr wrap="square" lIns="0" tIns="0" rIns="0" bIns="0" rtlCol="0" anchor="ctr"/>
          <a:lstStyle/>
          <a:p>
            <a:pPr indent="0" marL="0">
              <a:buNone/>
            </a:pPr>
            <a:r>
              <a:rPr lang="en-US" sz="900" dirty="0">
                <a:solidFill>
                  <a:srgbClr val="1A1A2E"/>
                </a:solidFill>
              </a:rPr>
              <a:t>BCBS does NOT make laws. Each jurisdiction implements locally: EU (CRR3), UK (PRA Rulebook), US (Fed/OCC rules), Singapore (MAS Notice 637).</a:t>
            </a:r>
            <a:endParaRPr lang="en-US" sz="900" dirty="0"/>
          </a:p>
        </p:txBody>
      </p:sp>
      <p:sp>
        <p:nvSpPr>
          <p:cNvPr id="21" name="Shape 16"/>
          <p:cNvSpPr/>
          <p:nvPr/>
        </p:nvSpPr>
        <p:spPr>
          <a:xfrm>
            <a:off x="411480" y="3657600"/>
            <a:ext cx="3913632" cy="18288"/>
          </a:xfrm>
          <a:prstGeom prst="rect">
            <a:avLst/>
          </a:prstGeom>
          <a:solidFill>
            <a:srgbClr val="D6EAF8"/>
          </a:solidFill>
          <a:ln/>
        </p:spPr>
      </p:sp>
      <p:sp>
        <p:nvSpPr>
          <p:cNvPr id="22" name="Shape 17"/>
          <p:cNvSpPr/>
          <p:nvPr/>
        </p:nvSpPr>
        <p:spPr>
          <a:xfrm>
            <a:off x="320040" y="3886200"/>
            <a:ext cx="530352" cy="530352"/>
          </a:xfrm>
          <a:prstGeom prst="ellipse">
            <a:avLst/>
          </a:prstGeom>
          <a:solidFill>
            <a:srgbClr val="8B0000"/>
          </a:solidFill>
          <a:ln w="12700">
            <a:solidFill>
              <a:srgbClr val="8B0000"/>
            </a:solidFill>
            <a:prstDash val="solid"/>
          </a:ln>
        </p:spPr>
      </p:sp>
      <p:pic>
        <p:nvPicPr>
          <p:cNvPr id="23" name="Image 3" descr="preencoded.png">    </p:cNvPr>
          <p:cNvPicPr>
            <a:picLocks noChangeAspect="1"/>
          </p:cNvPicPr>
          <p:nvPr/>
        </p:nvPicPr>
        <p:blipFill>
          <a:blip r:embed="rId4"/>
          <a:stretch>
            <a:fillRect/>
          </a:stretch>
        </p:blipFill>
        <p:spPr>
          <a:xfrm>
            <a:off x="426110" y="3992270"/>
            <a:ext cx="318211" cy="318211"/>
          </a:xfrm>
          <a:prstGeom prst="rect">
            <a:avLst/>
          </a:prstGeom>
        </p:spPr>
      </p:pic>
      <p:sp>
        <p:nvSpPr>
          <p:cNvPr id="24" name="Text 18"/>
          <p:cNvSpPr/>
          <p:nvPr/>
        </p:nvSpPr>
        <p:spPr>
          <a:xfrm>
            <a:off x="941832" y="3886200"/>
            <a:ext cx="3401568" cy="274320"/>
          </a:xfrm>
          <a:prstGeom prst="rect">
            <a:avLst/>
          </a:prstGeom>
          <a:noFill/>
          <a:ln/>
        </p:spPr>
        <p:txBody>
          <a:bodyPr wrap="square" lIns="0" tIns="0" rIns="0" bIns="0" rtlCol="0" anchor="ctr"/>
          <a:lstStyle/>
          <a:p>
            <a:pPr indent="0" marL="0">
              <a:buNone/>
            </a:pPr>
            <a:r>
              <a:rPr lang="en-US" sz="1050" b="1" dirty="0">
                <a:solidFill>
                  <a:srgbClr val="8B0000"/>
                </a:solidFill>
              </a:rPr>
              <a:t>Why It Matters to You</a:t>
            </a:r>
            <a:endParaRPr lang="en-US" sz="1050" dirty="0"/>
          </a:p>
        </p:txBody>
      </p:sp>
      <p:sp>
        <p:nvSpPr>
          <p:cNvPr id="25" name="Text 19"/>
          <p:cNvSpPr/>
          <p:nvPr/>
        </p:nvSpPr>
        <p:spPr>
          <a:xfrm>
            <a:off x="941832" y="4160520"/>
            <a:ext cx="3401568" cy="411480"/>
          </a:xfrm>
          <a:prstGeom prst="rect">
            <a:avLst/>
          </a:prstGeom>
          <a:noFill/>
          <a:ln/>
        </p:spPr>
        <p:txBody>
          <a:bodyPr wrap="square" lIns="0" tIns="0" rIns="0" bIns="0" rtlCol="0" anchor="ctr"/>
          <a:lstStyle/>
          <a:p>
            <a:pPr indent="0" marL="0">
              <a:buNone/>
            </a:pPr>
            <a:r>
              <a:rPr lang="en-US" sz="900" dirty="0">
                <a:solidFill>
                  <a:srgbClr val="1A1A2E"/>
                </a:solidFill>
              </a:rPr>
              <a:t>Every bank you work with operates under Basel rules. Understanding them is fundamental to how banks price risk, manage capital, and structure trades.</a:t>
            </a:r>
            <a:endParaRPr lang="en-US" sz="900" dirty="0"/>
          </a:p>
        </p:txBody>
      </p:sp>
      <p:sp>
        <p:nvSpPr>
          <p:cNvPr id="26" name="Shape 20"/>
          <p:cNvSpPr/>
          <p:nvPr/>
        </p:nvSpPr>
        <p:spPr>
          <a:xfrm>
            <a:off x="4681728" y="777240"/>
            <a:ext cx="4206240" cy="347472"/>
          </a:xfrm>
          <a:prstGeom prst="rect">
            <a:avLst/>
          </a:prstGeom>
          <a:solidFill>
            <a:srgbClr val="0E6B8A"/>
          </a:solidFill>
          <a:ln/>
        </p:spPr>
      </p:sp>
      <p:sp>
        <p:nvSpPr>
          <p:cNvPr id="27" name="Text 21"/>
          <p:cNvSpPr/>
          <p:nvPr/>
        </p:nvSpPr>
        <p:spPr>
          <a:xfrm>
            <a:off x="4681728" y="777240"/>
            <a:ext cx="4206240" cy="347472"/>
          </a:xfrm>
          <a:prstGeom prst="rect">
            <a:avLst/>
          </a:prstGeom>
          <a:noFill/>
          <a:ln/>
        </p:spPr>
        <p:txBody>
          <a:bodyPr wrap="square" lIns="0" tIns="0" rIns="0" bIns="0" rtlCol="0" anchor="ctr"/>
          <a:lstStyle/>
          <a:p>
            <a:pPr algn="ctr" indent="0" marL="0">
              <a:buNone/>
            </a:pPr>
            <a:r>
              <a:rPr lang="en-US" sz="900" b="1" dirty="0">
                <a:solidFill>
                  <a:srgbClr val="FFFFFF"/>
                </a:solidFill>
              </a:rPr>
              <a:t>HOW A BASEL STANDARD IS BORN</a:t>
            </a:r>
            <a:endParaRPr lang="en-US" sz="900" dirty="0"/>
          </a:p>
        </p:txBody>
      </p:sp>
      <p:sp>
        <p:nvSpPr>
          <p:cNvPr id="28" name="Shape 22"/>
          <p:cNvSpPr/>
          <p:nvPr/>
        </p:nvSpPr>
        <p:spPr>
          <a:xfrm>
            <a:off x="4681728" y="1170432"/>
            <a:ext cx="4206240" cy="603504"/>
          </a:xfrm>
          <a:prstGeom prst="rect">
            <a:avLst/>
          </a:prstGeom>
          <a:solidFill>
            <a:srgbClr val="FFFFFF"/>
          </a:solidFill>
          <a:ln/>
        </p:spPr>
      </p:sp>
      <p:sp>
        <p:nvSpPr>
          <p:cNvPr id="29" name="Shape 23"/>
          <p:cNvSpPr/>
          <p:nvPr/>
        </p:nvSpPr>
        <p:spPr>
          <a:xfrm>
            <a:off x="4718304" y="1261872"/>
            <a:ext cx="402336" cy="402336"/>
          </a:xfrm>
          <a:prstGeom prst="ellipse">
            <a:avLst/>
          </a:prstGeom>
          <a:solidFill>
            <a:srgbClr val="1B3A6B"/>
          </a:solidFill>
          <a:ln w="12700">
            <a:solidFill>
              <a:srgbClr val="1B3A6B"/>
            </a:solidFill>
            <a:prstDash val="solid"/>
          </a:ln>
        </p:spPr>
      </p:sp>
      <p:sp>
        <p:nvSpPr>
          <p:cNvPr id="30" name="Text 24"/>
          <p:cNvSpPr/>
          <p:nvPr/>
        </p:nvSpPr>
        <p:spPr>
          <a:xfrm>
            <a:off x="4718304" y="126187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pic>
        <p:nvPicPr>
          <p:cNvPr id="31" name="Image 4" descr="preencoded.png">    </p:cNvPr>
          <p:cNvPicPr>
            <a:picLocks noChangeAspect="1"/>
          </p:cNvPicPr>
          <p:nvPr/>
        </p:nvPicPr>
        <p:blipFill>
          <a:blip r:embed="rId5"/>
          <a:stretch>
            <a:fillRect/>
          </a:stretch>
        </p:blipFill>
        <p:spPr>
          <a:xfrm>
            <a:off x="5193792" y="1316736"/>
            <a:ext cx="274320" cy="274320"/>
          </a:xfrm>
          <a:prstGeom prst="rect">
            <a:avLst/>
          </a:prstGeom>
        </p:spPr>
      </p:pic>
      <p:sp>
        <p:nvSpPr>
          <p:cNvPr id="32" name="Text 25"/>
          <p:cNvSpPr/>
          <p:nvPr/>
        </p:nvSpPr>
        <p:spPr>
          <a:xfrm>
            <a:off x="5541264" y="1225296"/>
            <a:ext cx="3273552" cy="237744"/>
          </a:xfrm>
          <a:prstGeom prst="rect">
            <a:avLst/>
          </a:prstGeom>
          <a:noFill/>
          <a:ln/>
        </p:spPr>
        <p:txBody>
          <a:bodyPr wrap="square" lIns="0" tIns="0" rIns="0" bIns="0" rtlCol="0" anchor="ctr"/>
          <a:lstStyle/>
          <a:p>
            <a:pPr indent="0" marL="0">
              <a:buNone/>
            </a:pPr>
            <a:r>
              <a:rPr lang="en-US" sz="950" b="1" dirty="0">
                <a:solidFill>
                  <a:srgbClr val="1B3A6B"/>
                </a:solidFill>
              </a:rPr>
              <a:t>Identify Problem</a:t>
            </a:r>
            <a:endParaRPr lang="en-US" sz="950" dirty="0"/>
          </a:p>
        </p:txBody>
      </p:sp>
      <p:sp>
        <p:nvSpPr>
          <p:cNvPr id="33" name="Text 26"/>
          <p:cNvSpPr/>
          <p:nvPr/>
        </p:nvSpPr>
        <p:spPr>
          <a:xfrm>
            <a:off x="5541264" y="1463040"/>
            <a:ext cx="3273552" cy="256032"/>
          </a:xfrm>
          <a:prstGeom prst="rect">
            <a:avLst/>
          </a:prstGeom>
          <a:noFill/>
          <a:ln/>
        </p:spPr>
        <p:txBody>
          <a:bodyPr wrap="square" lIns="0" tIns="0" rIns="0" bIns="0" rtlCol="0" anchor="ctr"/>
          <a:lstStyle/>
          <a:p>
            <a:pPr indent="0" marL="0">
              <a:buNone/>
            </a:pPr>
            <a:r>
              <a:rPr lang="en-US" sz="850" dirty="0">
                <a:solidFill>
                  <a:srgbClr val="8899AA"/>
                </a:solidFill>
              </a:rPr>
              <a:t>Crisis or research reveals a gap in existing regulation.</a:t>
            </a:r>
            <a:endParaRPr lang="en-US" sz="850" dirty="0"/>
          </a:p>
        </p:txBody>
      </p:sp>
      <p:sp>
        <p:nvSpPr>
          <p:cNvPr id="34" name="Shape 27"/>
          <p:cNvSpPr/>
          <p:nvPr/>
        </p:nvSpPr>
        <p:spPr>
          <a:xfrm>
            <a:off x="4681728" y="1773936"/>
            <a:ext cx="4206240" cy="603504"/>
          </a:xfrm>
          <a:prstGeom prst="rect">
            <a:avLst/>
          </a:prstGeom>
          <a:solidFill>
            <a:srgbClr val="F4F6F8"/>
          </a:solidFill>
          <a:ln/>
        </p:spPr>
      </p:sp>
      <p:sp>
        <p:nvSpPr>
          <p:cNvPr id="35" name="Shape 28"/>
          <p:cNvSpPr/>
          <p:nvPr/>
        </p:nvSpPr>
        <p:spPr>
          <a:xfrm>
            <a:off x="4718304" y="1865376"/>
            <a:ext cx="402336" cy="402336"/>
          </a:xfrm>
          <a:prstGeom prst="ellipse">
            <a:avLst/>
          </a:prstGeom>
          <a:solidFill>
            <a:srgbClr val="0E6B8A"/>
          </a:solidFill>
          <a:ln w="12700">
            <a:solidFill>
              <a:srgbClr val="0E6B8A"/>
            </a:solidFill>
            <a:prstDash val="solid"/>
          </a:ln>
        </p:spPr>
      </p:sp>
      <p:sp>
        <p:nvSpPr>
          <p:cNvPr id="36" name="Text 29"/>
          <p:cNvSpPr/>
          <p:nvPr/>
        </p:nvSpPr>
        <p:spPr>
          <a:xfrm>
            <a:off x="4718304" y="18653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pic>
        <p:nvPicPr>
          <p:cNvPr id="37" name="Image 5" descr="preencoded.png">    </p:cNvPr>
          <p:cNvPicPr>
            <a:picLocks noChangeAspect="1"/>
          </p:cNvPicPr>
          <p:nvPr/>
        </p:nvPicPr>
        <p:blipFill>
          <a:blip r:embed="rId6"/>
          <a:stretch>
            <a:fillRect/>
          </a:stretch>
        </p:blipFill>
        <p:spPr>
          <a:xfrm>
            <a:off x="5193792" y="1920240"/>
            <a:ext cx="274320" cy="274320"/>
          </a:xfrm>
          <a:prstGeom prst="rect">
            <a:avLst/>
          </a:prstGeom>
        </p:spPr>
      </p:pic>
      <p:sp>
        <p:nvSpPr>
          <p:cNvPr id="38" name="Text 30"/>
          <p:cNvSpPr/>
          <p:nvPr/>
        </p:nvSpPr>
        <p:spPr>
          <a:xfrm>
            <a:off x="5541264" y="1828800"/>
            <a:ext cx="3273552" cy="237744"/>
          </a:xfrm>
          <a:prstGeom prst="rect">
            <a:avLst/>
          </a:prstGeom>
          <a:noFill/>
          <a:ln/>
        </p:spPr>
        <p:txBody>
          <a:bodyPr wrap="square" lIns="0" tIns="0" rIns="0" bIns="0" rtlCol="0" anchor="ctr"/>
          <a:lstStyle/>
          <a:p>
            <a:pPr indent="0" marL="0">
              <a:buNone/>
            </a:pPr>
            <a:r>
              <a:rPr lang="en-US" sz="950" b="1" dirty="0">
                <a:solidFill>
                  <a:srgbClr val="0E6B8A"/>
                </a:solidFill>
              </a:rPr>
              <a:t>Consultative Paper</a:t>
            </a:r>
            <a:endParaRPr lang="en-US" sz="950" dirty="0"/>
          </a:p>
        </p:txBody>
      </p:sp>
      <p:sp>
        <p:nvSpPr>
          <p:cNvPr id="39" name="Text 31"/>
          <p:cNvSpPr/>
          <p:nvPr/>
        </p:nvSpPr>
        <p:spPr>
          <a:xfrm>
            <a:off x="5541264" y="2066544"/>
            <a:ext cx="3273552" cy="256032"/>
          </a:xfrm>
          <a:prstGeom prst="rect">
            <a:avLst/>
          </a:prstGeom>
          <a:noFill/>
          <a:ln/>
        </p:spPr>
        <p:txBody>
          <a:bodyPr wrap="square" lIns="0" tIns="0" rIns="0" bIns="0" rtlCol="0" anchor="ctr"/>
          <a:lstStyle/>
          <a:p>
            <a:pPr indent="0" marL="0">
              <a:buNone/>
            </a:pPr>
            <a:r>
              <a:rPr lang="en-US" sz="850" dirty="0">
                <a:solidFill>
                  <a:srgbClr val="8899AA"/>
                </a:solidFill>
              </a:rPr>
              <a:t>BCBS publishes discussion; industry responds.</a:t>
            </a:r>
            <a:endParaRPr lang="en-US" sz="850" dirty="0"/>
          </a:p>
        </p:txBody>
      </p:sp>
      <p:sp>
        <p:nvSpPr>
          <p:cNvPr id="40" name="Shape 32"/>
          <p:cNvSpPr/>
          <p:nvPr/>
        </p:nvSpPr>
        <p:spPr>
          <a:xfrm>
            <a:off x="4681728" y="2377440"/>
            <a:ext cx="4206240" cy="603504"/>
          </a:xfrm>
          <a:prstGeom prst="rect">
            <a:avLst/>
          </a:prstGeom>
          <a:solidFill>
            <a:srgbClr val="FFFFFF"/>
          </a:solidFill>
          <a:ln/>
        </p:spPr>
      </p:sp>
      <p:sp>
        <p:nvSpPr>
          <p:cNvPr id="41" name="Shape 33"/>
          <p:cNvSpPr/>
          <p:nvPr/>
        </p:nvSpPr>
        <p:spPr>
          <a:xfrm>
            <a:off x="4718304" y="2468880"/>
            <a:ext cx="402336" cy="402336"/>
          </a:xfrm>
          <a:prstGeom prst="ellipse">
            <a:avLst/>
          </a:prstGeom>
          <a:solidFill>
            <a:srgbClr val="0E6B8A"/>
          </a:solidFill>
          <a:ln w="12700">
            <a:solidFill>
              <a:srgbClr val="0E6B8A"/>
            </a:solidFill>
            <a:prstDash val="solid"/>
          </a:ln>
        </p:spPr>
      </p:sp>
      <p:sp>
        <p:nvSpPr>
          <p:cNvPr id="42" name="Text 34"/>
          <p:cNvSpPr/>
          <p:nvPr/>
        </p:nvSpPr>
        <p:spPr>
          <a:xfrm>
            <a:off x="4718304" y="2468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pic>
        <p:nvPicPr>
          <p:cNvPr id="43" name="Image 6" descr="preencoded.png">    </p:cNvPr>
          <p:cNvPicPr>
            <a:picLocks noChangeAspect="1"/>
          </p:cNvPicPr>
          <p:nvPr/>
        </p:nvPicPr>
        <p:blipFill>
          <a:blip r:embed="rId7"/>
          <a:stretch>
            <a:fillRect/>
          </a:stretch>
        </p:blipFill>
        <p:spPr>
          <a:xfrm>
            <a:off x="5193792" y="2523744"/>
            <a:ext cx="274320" cy="274320"/>
          </a:xfrm>
          <a:prstGeom prst="rect">
            <a:avLst/>
          </a:prstGeom>
        </p:spPr>
      </p:pic>
      <p:sp>
        <p:nvSpPr>
          <p:cNvPr id="44" name="Text 35"/>
          <p:cNvSpPr/>
          <p:nvPr/>
        </p:nvSpPr>
        <p:spPr>
          <a:xfrm>
            <a:off x="5541264" y="2432304"/>
            <a:ext cx="3273552" cy="237744"/>
          </a:xfrm>
          <a:prstGeom prst="rect">
            <a:avLst/>
          </a:prstGeom>
          <a:noFill/>
          <a:ln/>
        </p:spPr>
        <p:txBody>
          <a:bodyPr wrap="square" lIns="0" tIns="0" rIns="0" bIns="0" rtlCol="0" anchor="ctr"/>
          <a:lstStyle/>
          <a:p>
            <a:pPr indent="0" marL="0">
              <a:buNone/>
            </a:pPr>
            <a:r>
              <a:rPr lang="en-US" sz="950" b="1" dirty="0">
                <a:solidFill>
                  <a:srgbClr val="0E6B8A"/>
                </a:solidFill>
              </a:rPr>
              <a:t>Quantitative Impact Study</a:t>
            </a:r>
            <a:endParaRPr lang="en-US" sz="950" dirty="0"/>
          </a:p>
        </p:txBody>
      </p:sp>
      <p:sp>
        <p:nvSpPr>
          <p:cNvPr id="45" name="Text 36"/>
          <p:cNvSpPr/>
          <p:nvPr/>
        </p:nvSpPr>
        <p:spPr>
          <a:xfrm>
            <a:off x="5541264" y="2670048"/>
            <a:ext cx="3273552" cy="256032"/>
          </a:xfrm>
          <a:prstGeom prst="rect">
            <a:avLst/>
          </a:prstGeom>
          <a:noFill/>
          <a:ln/>
        </p:spPr>
        <p:txBody>
          <a:bodyPr wrap="square" lIns="0" tIns="0" rIns="0" bIns="0" rtlCol="0" anchor="ctr"/>
          <a:lstStyle/>
          <a:p>
            <a:pPr indent="0" marL="0">
              <a:buNone/>
            </a:pPr>
            <a:r>
              <a:rPr lang="en-US" sz="850" dirty="0">
                <a:solidFill>
                  <a:srgbClr val="8899AA"/>
                </a:solidFill>
              </a:rPr>
              <a:t>Rules tested on real bank data before finalising.</a:t>
            </a:r>
            <a:endParaRPr lang="en-US" sz="850" dirty="0"/>
          </a:p>
        </p:txBody>
      </p:sp>
      <p:sp>
        <p:nvSpPr>
          <p:cNvPr id="46" name="Shape 37"/>
          <p:cNvSpPr/>
          <p:nvPr/>
        </p:nvSpPr>
        <p:spPr>
          <a:xfrm>
            <a:off x="4681728" y="2980944"/>
            <a:ext cx="4206240" cy="603504"/>
          </a:xfrm>
          <a:prstGeom prst="rect">
            <a:avLst/>
          </a:prstGeom>
          <a:solidFill>
            <a:srgbClr val="F4F6F8"/>
          </a:solidFill>
          <a:ln/>
        </p:spPr>
      </p:sp>
      <p:sp>
        <p:nvSpPr>
          <p:cNvPr id="47" name="Shape 38"/>
          <p:cNvSpPr/>
          <p:nvPr/>
        </p:nvSpPr>
        <p:spPr>
          <a:xfrm>
            <a:off x="4718304" y="3072384"/>
            <a:ext cx="402336" cy="402336"/>
          </a:xfrm>
          <a:prstGeom prst="ellipse">
            <a:avLst/>
          </a:prstGeom>
          <a:solidFill>
            <a:srgbClr val="1A6B3A"/>
          </a:solidFill>
          <a:ln w="12700">
            <a:solidFill>
              <a:srgbClr val="1A6B3A"/>
            </a:solidFill>
            <a:prstDash val="solid"/>
          </a:ln>
        </p:spPr>
      </p:sp>
      <p:sp>
        <p:nvSpPr>
          <p:cNvPr id="48" name="Text 39"/>
          <p:cNvSpPr/>
          <p:nvPr/>
        </p:nvSpPr>
        <p:spPr>
          <a:xfrm>
            <a:off x="4718304" y="30723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pic>
        <p:nvPicPr>
          <p:cNvPr id="49" name="Image 7" descr="preencoded.png">    </p:cNvPr>
          <p:cNvPicPr>
            <a:picLocks noChangeAspect="1"/>
          </p:cNvPicPr>
          <p:nvPr/>
        </p:nvPicPr>
        <p:blipFill>
          <a:blip r:embed="rId8"/>
          <a:stretch>
            <a:fillRect/>
          </a:stretch>
        </p:blipFill>
        <p:spPr>
          <a:xfrm>
            <a:off x="5193792" y="3127248"/>
            <a:ext cx="274320" cy="274320"/>
          </a:xfrm>
          <a:prstGeom prst="rect">
            <a:avLst/>
          </a:prstGeom>
        </p:spPr>
      </p:pic>
      <p:sp>
        <p:nvSpPr>
          <p:cNvPr id="50" name="Text 40"/>
          <p:cNvSpPr/>
          <p:nvPr/>
        </p:nvSpPr>
        <p:spPr>
          <a:xfrm>
            <a:off x="5541264" y="3035808"/>
            <a:ext cx="3273552" cy="237744"/>
          </a:xfrm>
          <a:prstGeom prst="rect">
            <a:avLst/>
          </a:prstGeom>
          <a:noFill/>
          <a:ln/>
        </p:spPr>
        <p:txBody>
          <a:bodyPr wrap="square" lIns="0" tIns="0" rIns="0" bIns="0" rtlCol="0" anchor="ctr"/>
          <a:lstStyle/>
          <a:p>
            <a:pPr indent="0" marL="0">
              <a:buNone/>
            </a:pPr>
            <a:r>
              <a:rPr lang="en-US" sz="950" b="1" dirty="0">
                <a:solidFill>
                  <a:srgbClr val="1A6B3A"/>
                </a:solidFill>
              </a:rPr>
              <a:t>Final Standard Published</a:t>
            </a:r>
            <a:endParaRPr lang="en-US" sz="950" dirty="0"/>
          </a:p>
        </p:txBody>
      </p:sp>
      <p:sp>
        <p:nvSpPr>
          <p:cNvPr id="51" name="Text 41"/>
          <p:cNvSpPr/>
          <p:nvPr/>
        </p:nvSpPr>
        <p:spPr>
          <a:xfrm>
            <a:off x="5541264" y="3273552"/>
            <a:ext cx="3273552" cy="256032"/>
          </a:xfrm>
          <a:prstGeom prst="rect">
            <a:avLst/>
          </a:prstGeom>
          <a:noFill/>
          <a:ln/>
        </p:spPr>
        <p:txBody>
          <a:bodyPr wrap="square" lIns="0" tIns="0" rIns="0" bIns="0" rtlCol="0" anchor="ctr"/>
          <a:lstStyle/>
          <a:p>
            <a:pPr indent="0" marL="0">
              <a:buNone/>
            </a:pPr>
            <a:r>
              <a:rPr lang="en-US" sz="850" dirty="0">
                <a:solidFill>
                  <a:srgbClr val="8899AA"/>
                </a:solidFill>
              </a:rPr>
              <a:t>Rule set with implementation timeline (3–5 years).</a:t>
            </a:r>
            <a:endParaRPr lang="en-US" sz="850" dirty="0"/>
          </a:p>
        </p:txBody>
      </p:sp>
      <p:sp>
        <p:nvSpPr>
          <p:cNvPr id="52" name="Shape 42"/>
          <p:cNvSpPr/>
          <p:nvPr/>
        </p:nvSpPr>
        <p:spPr>
          <a:xfrm>
            <a:off x="4681728" y="3584448"/>
            <a:ext cx="4206240" cy="603504"/>
          </a:xfrm>
          <a:prstGeom prst="rect">
            <a:avLst/>
          </a:prstGeom>
          <a:solidFill>
            <a:srgbClr val="FFFFFF"/>
          </a:solidFill>
          <a:ln/>
        </p:spPr>
      </p:sp>
      <p:sp>
        <p:nvSpPr>
          <p:cNvPr id="53" name="Shape 43"/>
          <p:cNvSpPr/>
          <p:nvPr/>
        </p:nvSpPr>
        <p:spPr>
          <a:xfrm>
            <a:off x="4718304" y="3675888"/>
            <a:ext cx="402336" cy="402336"/>
          </a:xfrm>
          <a:prstGeom prst="ellipse">
            <a:avLst/>
          </a:prstGeom>
          <a:solidFill>
            <a:srgbClr val="C9A84C"/>
          </a:solidFill>
          <a:ln w="12700">
            <a:solidFill>
              <a:srgbClr val="C9A84C"/>
            </a:solidFill>
            <a:prstDash val="solid"/>
          </a:ln>
        </p:spPr>
      </p:sp>
      <p:sp>
        <p:nvSpPr>
          <p:cNvPr id="54" name="Text 44"/>
          <p:cNvSpPr/>
          <p:nvPr/>
        </p:nvSpPr>
        <p:spPr>
          <a:xfrm>
            <a:off x="4718304" y="36758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pic>
        <p:nvPicPr>
          <p:cNvPr id="55" name="Image 8" descr="preencoded.png">    </p:cNvPr>
          <p:cNvPicPr>
            <a:picLocks noChangeAspect="1"/>
          </p:cNvPicPr>
          <p:nvPr/>
        </p:nvPicPr>
        <p:blipFill>
          <a:blip r:embed="rId9"/>
          <a:stretch>
            <a:fillRect/>
          </a:stretch>
        </p:blipFill>
        <p:spPr>
          <a:xfrm>
            <a:off x="5193792" y="3730752"/>
            <a:ext cx="274320" cy="274320"/>
          </a:xfrm>
          <a:prstGeom prst="rect">
            <a:avLst/>
          </a:prstGeom>
        </p:spPr>
      </p:pic>
      <p:sp>
        <p:nvSpPr>
          <p:cNvPr id="56" name="Text 45"/>
          <p:cNvSpPr/>
          <p:nvPr/>
        </p:nvSpPr>
        <p:spPr>
          <a:xfrm>
            <a:off x="5541264" y="3639312"/>
            <a:ext cx="3273552" cy="237744"/>
          </a:xfrm>
          <a:prstGeom prst="rect">
            <a:avLst/>
          </a:prstGeom>
          <a:noFill/>
          <a:ln/>
        </p:spPr>
        <p:txBody>
          <a:bodyPr wrap="square" lIns="0" tIns="0" rIns="0" bIns="0" rtlCol="0" anchor="ctr"/>
          <a:lstStyle/>
          <a:p>
            <a:pPr indent="0" marL="0">
              <a:buNone/>
            </a:pPr>
            <a:r>
              <a:rPr lang="en-US" sz="950" b="1" dirty="0">
                <a:solidFill>
                  <a:srgbClr val="C9A84C"/>
                </a:solidFill>
              </a:rPr>
              <a:t>National Implementation</a:t>
            </a:r>
            <a:endParaRPr lang="en-US" sz="950" dirty="0"/>
          </a:p>
        </p:txBody>
      </p:sp>
      <p:sp>
        <p:nvSpPr>
          <p:cNvPr id="57" name="Text 46"/>
          <p:cNvSpPr/>
          <p:nvPr/>
        </p:nvSpPr>
        <p:spPr>
          <a:xfrm>
            <a:off x="5541264" y="3877056"/>
            <a:ext cx="3273552" cy="256032"/>
          </a:xfrm>
          <a:prstGeom prst="rect">
            <a:avLst/>
          </a:prstGeom>
          <a:noFill/>
          <a:ln/>
        </p:spPr>
        <p:txBody>
          <a:bodyPr wrap="square" lIns="0" tIns="0" rIns="0" bIns="0" rtlCol="0" anchor="ctr"/>
          <a:lstStyle/>
          <a:p>
            <a:pPr indent="0" marL="0">
              <a:buNone/>
            </a:pPr>
            <a:r>
              <a:rPr lang="en-US" sz="850" dirty="0">
                <a:solidFill>
                  <a:srgbClr val="8899AA"/>
                </a:solidFill>
              </a:rPr>
              <a:t>Each jurisdiction translates into local law.</a:t>
            </a:r>
            <a:endParaRPr lang="en-US" sz="850" dirty="0"/>
          </a:p>
        </p:txBody>
      </p:sp>
      <p:sp>
        <p:nvSpPr>
          <p:cNvPr id="58" name="Shape 47"/>
          <p:cNvSpPr/>
          <p:nvPr/>
        </p:nvSpPr>
        <p:spPr>
          <a:xfrm>
            <a:off x="4681728" y="4187952"/>
            <a:ext cx="4206240" cy="603504"/>
          </a:xfrm>
          <a:prstGeom prst="rect">
            <a:avLst/>
          </a:prstGeom>
          <a:solidFill>
            <a:srgbClr val="F4F6F8"/>
          </a:solidFill>
          <a:ln/>
        </p:spPr>
      </p:sp>
      <p:sp>
        <p:nvSpPr>
          <p:cNvPr id="59" name="Shape 48"/>
          <p:cNvSpPr/>
          <p:nvPr/>
        </p:nvSpPr>
        <p:spPr>
          <a:xfrm>
            <a:off x="4718304" y="4279392"/>
            <a:ext cx="402336" cy="402336"/>
          </a:xfrm>
          <a:prstGeom prst="ellipse">
            <a:avLst/>
          </a:prstGeom>
          <a:solidFill>
            <a:srgbClr val="1B3A6B"/>
          </a:solidFill>
          <a:ln w="12700">
            <a:solidFill>
              <a:srgbClr val="1B3A6B"/>
            </a:solidFill>
            <a:prstDash val="solid"/>
          </a:ln>
        </p:spPr>
      </p:sp>
      <p:sp>
        <p:nvSpPr>
          <p:cNvPr id="60" name="Text 49"/>
          <p:cNvSpPr/>
          <p:nvPr/>
        </p:nvSpPr>
        <p:spPr>
          <a:xfrm>
            <a:off x="4718304" y="42793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pic>
        <p:nvPicPr>
          <p:cNvPr id="61" name="Image 9" descr="preencoded.png">    </p:cNvPr>
          <p:cNvPicPr>
            <a:picLocks noChangeAspect="1"/>
          </p:cNvPicPr>
          <p:nvPr/>
        </p:nvPicPr>
        <p:blipFill>
          <a:blip r:embed="rId10"/>
          <a:stretch>
            <a:fillRect/>
          </a:stretch>
        </p:blipFill>
        <p:spPr>
          <a:xfrm>
            <a:off x="5193792" y="4334256"/>
            <a:ext cx="274320" cy="274320"/>
          </a:xfrm>
          <a:prstGeom prst="rect">
            <a:avLst/>
          </a:prstGeom>
        </p:spPr>
      </p:pic>
      <p:sp>
        <p:nvSpPr>
          <p:cNvPr id="62" name="Text 50"/>
          <p:cNvSpPr/>
          <p:nvPr/>
        </p:nvSpPr>
        <p:spPr>
          <a:xfrm>
            <a:off x="5541264" y="4242816"/>
            <a:ext cx="3273552" cy="237744"/>
          </a:xfrm>
          <a:prstGeom prst="rect">
            <a:avLst/>
          </a:prstGeom>
          <a:noFill/>
          <a:ln/>
        </p:spPr>
        <p:txBody>
          <a:bodyPr wrap="square" lIns="0" tIns="0" rIns="0" bIns="0" rtlCol="0" anchor="ctr"/>
          <a:lstStyle/>
          <a:p>
            <a:pPr indent="0" marL="0">
              <a:buNone/>
            </a:pPr>
            <a:r>
              <a:rPr lang="en-US" sz="950" b="1" dirty="0">
                <a:solidFill>
                  <a:srgbClr val="1B3A6B"/>
                </a:solidFill>
              </a:rPr>
              <a:t>Supervisory Review</a:t>
            </a:r>
            <a:endParaRPr lang="en-US" sz="950" dirty="0"/>
          </a:p>
        </p:txBody>
      </p:sp>
      <p:sp>
        <p:nvSpPr>
          <p:cNvPr id="63" name="Text 51"/>
          <p:cNvSpPr/>
          <p:nvPr/>
        </p:nvSpPr>
        <p:spPr>
          <a:xfrm>
            <a:off x="5541264" y="4480560"/>
            <a:ext cx="3273552" cy="256032"/>
          </a:xfrm>
          <a:prstGeom prst="rect">
            <a:avLst/>
          </a:prstGeom>
          <a:noFill/>
          <a:ln/>
        </p:spPr>
        <p:txBody>
          <a:bodyPr wrap="square" lIns="0" tIns="0" rIns="0" bIns="0" rtlCol="0" anchor="ctr"/>
          <a:lstStyle/>
          <a:p>
            <a:pPr indent="0" marL="0">
              <a:buNone/>
            </a:pPr>
            <a:r>
              <a:rPr lang="en-US" sz="850" dirty="0">
                <a:solidFill>
                  <a:srgbClr val="8899AA"/>
                </a:solidFill>
              </a:rPr>
              <a:t>Supervisors assess compliance; Pillar 2 add-ons applied.</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What is Risk?</a:t>
            </a:r>
            <a:endParaRPr lang="en-US" sz="900" dirty="0"/>
          </a:p>
        </p:txBody>
      </p:sp>
      <p:sp>
        <p:nvSpPr>
          <p:cNvPr id="4" name="Shape 2"/>
          <p:cNvSpPr/>
          <p:nvPr/>
        </p:nvSpPr>
        <p:spPr>
          <a:xfrm>
            <a:off x="0" y="0"/>
            <a:ext cx="9144000" cy="658368"/>
          </a:xfrm>
          <a:prstGeom prst="rect">
            <a:avLst/>
          </a:prstGeom>
          <a:solidFill>
            <a:srgbClr val="0E6B8A"/>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What is Risk? — The Three Basel Risk Types</a:t>
            </a:r>
            <a:endParaRPr lang="en-US" sz="2200" dirty="0"/>
          </a:p>
        </p:txBody>
      </p:sp>
      <p:sp>
        <p:nvSpPr>
          <p:cNvPr id="6" name="Shape 4"/>
          <p:cNvSpPr/>
          <p:nvPr/>
        </p:nvSpPr>
        <p:spPr>
          <a:xfrm>
            <a:off x="274320" y="749808"/>
            <a:ext cx="8595360" cy="530352"/>
          </a:xfrm>
          <a:prstGeom prst="rect">
            <a:avLst/>
          </a:prstGeom>
          <a:solidFill>
            <a:srgbClr val="1B3A6B"/>
          </a:solidFill>
          <a:ln/>
        </p:spPr>
      </p:sp>
      <p:sp>
        <p:nvSpPr>
          <p:cNvPr id="7" name="Shape 5"/>
          <p:cNvSpPr/>
          <p:nvPr/>
        </p:nvSpPr>
        <p:spPr>
          <a:xfrm>
            <a:off x="320040" y="804672"/>
            <a:ext cx="420624" cy="420624"/>
          </a:xfrm>
          <a:prstGeom prst="ellipse">
            <a:avLst/>
          </a:prstGeom>
          <a:solidFill>
            <a:srgbClr val="0E6B8A"/>
          </a:solidFill>
          <a:ln w="12700">
            <a:solidFill>
              <a:srgbClr val="0E6B8A"/>
            </a:solidFill>
            <a:prstDash val="solid"/>
          </a:ln>
        </p:spPr>
      </p:sp>
      <p:pic>
        <p:nvPicPr>
          <p:cNvPr id="8" name="Image 0" descr="preencoded.png">    </p:cNvPr>
          <p:cNvPicPr>
            <a:picLocks noChangeAspect="1"/>
          </p:cNvPicPr>
          <p:nvPr/>
        </p:nvPicPr>
        <p:blipFill>
          <a:blip r:embed="rId1"/>
          <a:stretch>
            <a:fillRect/>
          </a:stretch>
        </p:blipFill>
        <p:spPr>
          <a:xfrm>
            <a:off x="404165" y="888797"/>
            <a:ext cx="252374" cy="252374"/>
          </a:xfrm>
          <a:prstGeom prst="rect">
            <a:avLst/>
          </a:prstGeom>
        </p:spPr>
      </p:pic>
      <p:sp>
        <p:nvSpPr>
          <p:cNvPr id="9" name="Text 6"/>
          <p:cNvSpPr/>
          <p:nvPr/>
        </p:nvSpPr>
        <p:spPr>
          <a:xfrm>
            <a:off x="804672" y="749808"/>
            <a:ext cx="7955280" cy="530352"/>
          </a:xfrm>
          <a:prstGeom prst="rect">
            <a:avLst/>
          </a:prstGeom>
          <a:noFill/>
          <a:ln/>
        </p:spPr>
        <p:txBody>
          <a:bodyPr wrap="square" lIns="0" tIns="0" rIns="0" bIns="0" rtlCol="0" anchor="ctr"/>
          <a:lstStyle/>
          <a:p>
            <a:pPr indent="0" marL="0">
              <a:buNone/>
            </a:pPr>
            <a:r>
              <a:rPr lang="en-US" sz="1050" dirty="0">
                <a:solidFill>
                  <a:srgbClr val="D6EAF8"/>
                </a:solidFill>
              </a:rPr>
              <a:t>Total Risk = the possibility that a bank suffers unexpected losses large enough to threaten its solvency. Capital is the buffer absorbing these losses before depositors and creditors are affected.</a:t>
            </a:r>
            <a:endParaRPr lang="en-US" sz="1050" dirty="0"/>
          </a:p>
        </p:txBody>
      </p:sp>
      <p:sp>
        <p:nvSpPr>
          <p:cNvPr id="10" name="Shape 7"/>
          <p:cNvSpPr/>
          <p:nvPr/>
        </p:nvSpPr>
        <p:spPr>
          <a:xfrm>
            <a:off x="256032" y="1389888"/>
            <a:ext cx="2743200" cy="340156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1" name="Shape 8"/>
          <p:cNvSpPr/>
          <p:nvPr/>
        </p:nvSpPr>
        <p:spPr>
          <a:xfrm>
            <a:off x="256032" y="1389888"/>
            <a:ext cx="2743200" cy="658368"/>
          </a:xfrm>
          <a:prstGeom prst="rect">
            <a:avLst/>
          </a:prstGeom>
          <a:solidFill>
            <a:srgbClr val="1B3A6B"/>
          </a:solidFill>
          <a:ln/>
        </p:spPr>
      </p:sp>
      <p:sp>
        <p:nvSpPr>
          <p:cNvPr id="12" name="Shape 9"/>
          <p:cNvSpPr/>
          <p:nvPr/>
        </p:nvSpPr>
        <p:spPr>
          <a:xfrm>
            <a:off x="347472" y="1444752"/>
            <a:ext cx="530352" cy="530352"/>
          </a:xfrm>
          <a:prstGeom prst="ellipse">
            <a:avLst/>
          </a:prstGeom>
          <a:solidFill>
            <a:srgbClr val="0A5070"/>
          </a:solidFill>
          <a:ln w="12700">
            <a:solidFill>
              <a:srgbClr val="0A5070"/>
            </a:solidFill>
            <a:prstDash val="solid"/>
          </a:ln>
        </p:spPr>
      </p:sp>
      <p:pic>
        <p:nvPicPr>
          <p:cNvPr id="13" name="Image 1" descr="preencoded.png">    </p:cNvPr>
          <p:cNvPicPr>
            <a:picLocks noChangeAspect="1"/>
          </p:cNvPicPr>
          <p:nvPr/>
        </p:nvPicPr>
        <p:blipFill>
          <a:blip r:embed="rId2"/>
          <a:stretch>
            <a:fillRect/>
          </a:stretch>
        </p:blipFill>
        <p:spPr>
          <a:xfrm>
            <a:off x="453542" y="1550822"/>
            <a:ext cx="318211" cy="318211"/>
          </a:xfrm>
          <a:prstGeom prst="rect">
            <a:avLst/>
          </a:prstGeom>
        </p:spPr>
      </p:pic>
      <p:sp>
        <p:nvSpPr>
          <p:cNvPr id="14" name="Text 10"/>
          <p:cNvSpPr/>
          <p:nvPr/>
        </p:nvSpPr>
        <p:spPr>
          <a:xfrm>
            <a:off x="950976" y="1426464"/>
            <a:ext cx="1965960" cy="292608"/>
          </a:xfrm>
          <a:prstGeom prst="rect">
            <a:avLst/>
          </a:prstGeom>
          <a:noFill/>
          <a:ln/>
        </p:spPr>
        <p:txBody>
          <a:bodyPr wrap="square" lIns="0" tIns="0" rIns="0" bIns="0" rtlCol="0" anchor="ctr"/>
          <a:lstStyle/>
          <a:p>
            <a:pPr indent="0" marL="0">
              <a:buNone/>
            </a:pPr>
            <a:r>
              <a:rPr lang="en-US" sz="1050" b="1" dirty="0">
                <a:solidFill>
                  <a:srgbClr val="FFFFFF"/>
                </a:solidFill>
              </a:rPr>
              <a:t>CREDIT RISK</a:t>
            </a:r>
            <a:endParaRPr lang="en-US" sz="1050" dirty="0"/>
          </a:p>
        </p:txBody>
      </p:sp>
      <p:sp>
        <p:nvSpPr>
          <p:cNvPr id="15" name="Text 11"/>
          <p:cNvSpPr/>
          <p:nvPr/>
        </p:nvSpPr>
        <p:spPr>
          <a:xfrm>
            <a:off x="950976" y="1719072"/>
            <a:ext cx="1965960" cy="274320"/>
          </a:xfrm>
          <a:prstGeom prst="rect">
            <a:avLst/>
          </a:prstGeom>
          <a:noFill/>
          <a:ln/>
        </p:spPr>
        <p:txBody>
          <a:bodyPr wrap="square" lIns="0" tIns="0" rIns="0" bIns="0" rtlCol="0" anchor="ctr"/>
          <a:lstStyle/>
          <a:p>
            <a:pPr indent="0" marL="0">
              <a:buNone/>
            </a:pPr>
            <a:r>
              <a:rPr lang="en-US" sz="850" i="1" dirty="0">
                <a:solidFill>
                  <a:srgbClr val="FFFFFF"/>
                </a:solidFill>
              </a:rPr>
              <a:t>The risk that a borrower, issuer, or counterparty fails to meet its financial obligations.</a:t>
            </a:r>
            <a:endParaRPr lang="en-US" sz="850" dirty="0"/>
          </a:p>
        </p:txBody>
      </p:sp>
      <p:sp>
        <p:nvSpPr>
          <p:cNvPr id="16" name="Shape 12"/>
          <p:cNvSpPr/>
          <p:nvPr/>
        </p:nvSpPr>
        <p:spPr>
          <a:xfrm>
            <a:off x="347472" y="2084832"/>
            <a:ext cx="2560320" cy="201168"/>
          </a:xfrm>
          <a:prstGeom prst="rect">
            <a:avLst/>
          </a:prstGeom>
          <a:solidFill>
            <a:srgbClr val="F4F6F8"/>
          </a:solidFill>
          <a:ln/>
        </p:spPr>
      </p:sp>
      <p:sp>
        <p:nvSpPr>
          <p:cNvPr id="17" name="Text 13"/>
          <p:cNvSpPr/>
          <p:nvPr/>
        </p:nvSpPr>
        <p:spPr>
          <a:xfrm>
            <a:off x="347472" y="2084832"/>
            <a:ext cx="2560320" cy="201168"/>
          </a:xfrm>
          <a:prstGeom prst="rect">
            <a:avLst/>
          </a:prstGeom>
          <a:noFill/>
          <a:ln/>
        </p:spPr>
        <p:txBody>
          <a:bodyPr wrap="square" lIns="0" tIns="0" rIns="0" bIns="0" rtlCol="0" anchor="ctr"/>
          <a:lstStyle/>
          <a:p>
            <a:pPr algn="ctr" indent="0" marL="0">
              <a:buNone/>
            </a:pPr>
            <a:r>
              <a:rPr lang="en-US" sz="800" b="1" dirty="0">
                <a:solidFill>
                  <a:srgbClr val="1B3A6B"/>
                </a:solidFill>
              </a:rPr>
              <a:t>EXAMPLES</a:t>
            </a:r>
            <a:endParaRPr lang="en-US" sz="800" dirty="0"/>
          </a:p>
        </p:txBody>
      </p:sp>
      <p:sp>
        <p:nvSpPr>
          <p:cNvPr id="18" name="Text 14"/>
          <p:cNvSpPr/>
          <p:nvPr/>
        </p:nvSpPr>
        <p:spPr>
          <a:xfrm>
            <a:off x="365760" y="2304288"/>
            <a:ext cx="2523744" cy="1005840"/>
          </a:xfrm>
          <a:prstGeom prst="rect">
            <a:avLst/>
          </a:prstGeom>
          <a:noFill/>
          <a:ln/>
        </p:spPr>
        <p:txBody>
          <a:bodyPr wrap="square" lIns="0" tIns="0" rIns="0" bIns="0" rtlCol="0" anchor="t"/>
          <a:lstStyle/>
          <a:p>
            <a:pPr indent="0" marL="0">
              <a:buNone/>
            </a:pPr>
            <a:r>
              <a:rPr lang="en-US" sz="880" dirty="0">
                <a:solidFill>
                  <a:srgbClr val="1A1A2E"/>
                </a:solidFill>
              </a:rPr>
              <a:t>• Corporate borrower defaults on a loan</a:t>
            </a:r>
            <a:endParaRPr lang="en-US" sz="880" dirty="0"/>
          </a:p>
          <a:p>
            <a:pPr indent="0" marL="0">
              <a:buNone/>
            </a:pPr>
            <a:r>
              <a:rPr lang="en-US" sz="880" dirty="0">
                <a:solidFill>
                  <a:srgbClr val="1A1A2E"/>
                </a:solidFill>
              </a:rPr>
              <a:t>• Bond issuer misses coupon payments</a:t>
            </a:r>
            <a:endParaRPr lang="en-US" sz="880" dirty="0"/>
          </a:p>
          <a:p>
            <a:pPr indent="0" marL="0">
              <a:buNone/>
            </a:pPr>
            <a:r>
              <a:rPr lang="en-US" sz="880" dirty="0">
                <a:solidFill>
                  <a:srgbClr val="1A1A2E"/>
                </a:solidFill>
              </a:rPr>
              <a:t>• Derivatives counterparty cannot settle</a:t>
            </a:r>
            <a:endParaRPr lang="en-US" sz="880" dirty="0"/>
          </a:p>
          <a:p>
            <a:pPr indent="0" marL="0">
              <a:buNone/>
            </a:pPr>
            <a:r>
              <a:rPr lang="en-US" sz="880" dirty="0">
                <a:solidFill>
                  <a:srgbClr val="1A1A2E"/>
                </a:solidFill>
              </a:rPr>
              <a:t>• Mortgage borrower stops paying</a:t>
            </a:r>
            <a:endParaRPr lang="en-US" sz="880" dirty="0"/>
          </a:p>
        </p:txBody>
      </p:sp>
      <p:sp>
        <p:nvSpPr>
          <p:cNvPr id="19" name="Shape 15"/>
          <p:cNvSpPr/>
          <p:nvPr/>
        </p:nvSpPr>
        <p:spPr>
          <a:xfrm>
            <a:off x="347472" y="3337560"/>
            <a:ext cx="2560320" cy="18288"/>
          </a:xfrm>
          <a:prstGeom prst="rect">
            <a:avLst/>
          </a:prstGeom>
          <a:solidFill>
            <a:srgbClr val="D6EAF8"/>
          </a:solidFill>
          <a:ln/>
        </p:spPr>
      </p:sp>
      <p:sp>
        <p:nvSpPr>
          <p:cNvPr id="20" name="Text 16"/>
          <p:cNvSpPr/>
          <p:nvPr/>
        </p:nvSpPr>
        <p:spPr>
          <a:xfrm>
            <a:off x="365760" y="3383280"/>
            <a:ext cx="2523744" cy="1261872"/>
          </a:xfrm>
          <a:prstGeom prst="rect">
            <a:avLst/>
          </a:prstGeom>
          <a:noFill/>
          <a:ln/>
        </p:spPr>
        <p:txBody>
          <a:bodyPr wrap="square" lIns="0" tIns="0" rIns="0" bIns="0" rtlCol="0" anchor="t"/>
          <a:lstStyle/>
          <a:p>
            <a:pPr indent="0" marL="0">
              <a:buNone/>
            </a:pPr>
            <a:r>
              <a:rPr lang="en-US" sz="820" i="1" dirty="0">
                <a:solidFill>
                  <a:srgbClr val="8899AA"/>
                </a:solidFill>
              </a:rPr>
              <a:t>Capital covers the UNEXPECTED portion. Expected losses are covered by accounting provisions.</a:t>
            </a:r>
            <a:endParaRPr lang="en-US" sz="820" dirty="0"/>
          </a:p>
          <a:p>
            <a:pPr indent="0" marL="0">
              <a:buNone/>
            </a:pPr>
            <a:r>
              <a:rPr lang="en-US" sz="820" i="1" dirty="0">
                <a:solidFill>
                  <a:srgbClr val="8899AA"/>
                </a:solidFill>
              </a:rPr>
              <a:t>Largest risk type for most banks. Primary focus of Basel I &amp; II.</a:t>
            </a:r>
            <a:endParaRPr lang="en-US" sz="820" dirty="0"/>
          </a:p>
        </p:txBody>
      </p:sp>
      <p:sp>
        <p:nvSpPr>
          <p:cNvPr id="21" name="Shape 17"/>
          <p:cNvSpPr/>
          <p:nvPr/>
        </p:nvSpPr>
        <p:spPr>
          <a:xfrm>
            <a:off x="3136392" y="1389888"/>
            <a:ext cx="2743200" cy="340156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2" name="Shape 18"/>
          <p:cNvSpPr/>
          <p:nvPr/>
        </p:nvSpPr>
        <p:spPr>
          <a:xfrm>
            <a:off x="3136392" y="1389888"/>
            <a:ext cx="2743200" cy="658368"/>
          </a:xfrm>
          <a:prstGeom prst="rect">
            <a:avLst/>
          </a:prstGeom>
          <a:solidFill>
            <a:srgbClr val="0E6B8A"/>
          </a:solidFill>
          <a:ln/>
        </p:spPr>
      </p:sp>
      <p:sp>
        <p:nvSpPr>
          <p:cNvPr id="23" name="Shape 19"/>
          <p:cNvSpPr/>
          <p:nvPr/>
        </p:nvSpPr>
        <p:spPr>
          <a:xfrm>
            <a:off x="3227832" y="1444752"/>
            <a:ext cx="530352" cy="530352"/>
          </a:xfrm>
          <a:prstGeom prst="ellipse">
            <a:avLst/>
          </a:prstGeom>
          <a:solidFill>
            <a:srgbClr val="075E78"/>
          </a:solidFill>
          <a:ln w="12700">
            <a:solidFill>
              <a:srgbClr val="075E78"/>
            </a:solidFill>
            <a:prstDash val="solid"/>
          </a:ln>
        </p:spPr>
      </p:sp>
      <p:pic>
        <p:nvPicPr>
          <p:cNvPr id="24" name="Image 2" descr="preencoded.png">    </p:cNvPr>
          <p:cNvPicPr>
            <a:picLocks noChangeAspect="1"/>
          </p:cNvPicPr>
          <p:nvPr/>
        </p:nvPicPr>
        <p:blipFill>
          <a:blip r:embed="rId3"/>
          <a:stretch>
            <a:fillRect/>
          </a:stretch>
        </p:blipFill>
        <p:spPr>
          <a:xfrm>
            <a:off x="3333902" y="1550822"/>
            <a:ext cx="318211" cy="318211"/>
          </a:xfrm>
          <a:prstGeom prst="rect">
            <a:avLst/>
          </a:prstGeom>
        </p:spPr>
      </p:pic>
      <p:sp>
        <p:nvSpPr>
          <p:cNvPr id="25" name="Text 20"/>
          <p:cNvSpPr/>
          <p:nvPr/>
        </p:nvSpPr>
        <p:spPr>
          <a:xfrm>
            <a:off x="3831336" y="1426464"/>
            <a:ext cx="1965960" cy="292608"/>
          </a:xfrm>
          <a:prstGeom prst="rect">
            <a:avLst/>
          </a:prstGeom>
          <a:noFill/>
          <a:ln/>
        </p:spPr>
        <p:txBody>
          <a:bodyPr wrap="square" lIns="0" tIns="0" rIns="0" bIns="0" rtlCol="0" anchor="ctr"/>
          <a:lstStyle/>
          <a:p>
            <a:pPr indent="0" marL="0">
              <a:buNone/>
            </a:pPr>
            <a:r>
              <a:rPr lang="en-US" sz="1050" b="1" dirty="0">
                <a:solidFill>
                  <a:srgbClr val="FFFFFF"/>
                </a:solidFill>
              </a:rPr>
              <a:t>MARKET RISK</a:t>
            </a:r>
            <a:endParaRPr lang="en-US" sz="1050" dirty="0"/>
          </a:p>
        </p:txBody>
      </p:sp>
      <p:sp>
        <p:nvSpPr>
          <p:cNvPr id="26" name="Text 21"/>
          <p:cNvSpPr/>
          <p:nvPr/>
        </p:nvSpPr>
        <p:spPr>
          <a:xfrm>
            <a:off x="3831336" y="1719072"/>
            <a:ext cx="1965960" cy="274320"/>
          </a:xfrm>
          <a:prstGeom prst="rect">
            <a:avLst/>
          </a:prstGeom>
          <a:noFill/>
          <a:ln/>
        </p:spPr>
        <p:txBody>
          <a:bodyPr wrap="square" lIns="0" tIns="0" rIns="0" bIns="0" rtlCol="0" anchor="ctr"/>
          <a:lstStyle/>
          <a:p>
            <a:pPr indent="0" marL="0">
              <a:buNone/>
            </a:pPr>
            <a:r>
              <a:rPr lang="en-US" sz="850" i="1" dirty="0">
                <a:solidFill>
                  <a:srgbClr val="FFFFFF"/>
                </a:solidFill>
              </a:rPr>
              <a:t>Losses from adverse movements in rates, FX, equity prices, and commodity prices.</a:t>
            </a:r>
            <a:endParaRPr lang="en-US" sz="850" dirty="0"/>
          </a:p>
        </p:txBody>
      </p:sp>
      <p:sp>
        <p:nvSpPr>
          <p:cNvPr id="27" name="Shape 22"/>
          <p:cNvSpPr/>
          <p:nvPr/>
        </p:nvSpPr>
        <p:spPr>
          <a:xfrm>
            <a:off x="3227832" y="2084832"/>
            <a:ext cx="2560320" cy="201168"/>
          </a:xfrm>
          <a:prstGeom prst="rect">
            <a:avLst/>
          </a:prstGeom>
          <a:solidFill>
            <a:srgbClr val="F4F6F8"/>
          </a:solidFill>
          <a:ln/>
        </p:spPr>
      </p:sp>
      <p:sp>
        <p:nvSpPr>
          <p:cNvPr id="28" name="Text 23"/>
          <p:cNvSpPr/>
          <p:nvPr/>
        </p:nvSpPr>
        <p:spPr>
          <a:xfrm>
            <a:off x="3227832" y="2084832"/>
            <a:ext cx="2560320" cy="201168"/>
          </a:xfrm>
          <a:prstGeom prst="rect">
            <a:avLst/>
          </a:prstGeom>
          <a:noFill/>
          <a:ln/>
        </p:spPr>
        <p:txBody>
          <a:bodyPr wrap="square" lIns="0" tIns="0" rIns="0" bIns="0" rtlCol="0" anchor="ctr"/>
          <a:lstStyle/>
          <a:p>
            <a:pPr algn="ctr" indent="0" marL="0">
              <a:buNone/>
            </a:pPr>
            <a:r>
              <a:rPr lang="en-US" sz="800" b="1" dirty="0">
                <a:solidFill>
                  <a:srgbClr val="0E6B8A"/>
                </a:solidFill>
              </a:rPr>
              <a:t>EXAMPLES</a:t>
            </a:r>
            <a:endParaRPr lang="en-US" sz="800" dirty="0"/>
          </a:p>
        </p:txBody>
      </p:sp>
      <p:sp>
        <p:nvSpPr>
          <p:cNvPr id="29" name="Text 24"/>
          <p:cNvSpPr/>
          <p:nvPr/>
        </p:nvSpPr>
        <p:spPr>
          <a:xfrm>
            <a:off x="3246120" y="2304288"/>
            <a:ext cx="2523744" cy="1005840"/>
          </a:xfrm>
          <a:prstGeom prst="rect">
            <a:avLst/>
          </a:prstGeom>
          <a:noFill/>
          <a:ln/>
        </p:spPr>
        <p:txBody>
          <a:bodyPr wrap="square" lIns="0" tIns="0" rIns="0" bIns="0" rtlCol="0" anchor="t"/>
          <a:lstStyle/>
          <a:p>
            <a:pPr indent="0" marL="0">
              <a:buNone/>
            </a:pPr>
            <a:r>
              <a:rPr lang="en-US" sz="880" dirty="0">
                <a:solidFill>
                  <a:srgbClr val="1A1A2E"/>
                </a:solidFill>
              </a:rPr>
              <a:t>• Interest rates rise → bond portfolio falls</a:t>
            </a:r>
            <a:endParaRPr lang="en-US" sz="880" dirty="0"/>
          </a:p>
          <a:p>
            <a:pPr indent="0" marL="0">
              <a:buNone/>
            </a:pPr>
            <a:r>
              <a:rPr lang="en-US" sz="880" dirty="0">
                <a:solidFill>
                  <a:srgbClr val="1A1A2E"/>
                </a:solidFill>
              </a:rPr>
              <a:t>• Currency depreciates vs home currency</a:t>
            </a:r>
            <a:endParaRPr lang="en-US" sz="880" dirty="0"/>
          </a:p>
          <a:p>
            <a:pPr indent="0" marL="0">
              <a:buNone/>
            </a:pPr>
            <a:r>
              <a:rPr lang="en-US" sz="880" dirty="0">
                <a:solidFill>
                  <a:srgbClr val="1A1A2E"/>
                </a:solidFill>
              </a:rPr>
              <a:t>• Equity market drops sharply</a:t>
            </a:r>
            <a:endParaRPr lang="en-US" sz="880" dirty="0"/>
          </a:p>
          <a:p>
            <a:pPr indent="0" marL="0">
              <a:buNone/>
            </a:pPr>
            <a:r>
              <a:rPr lang="en-US" sz="880" dirty="0">
                <a:solidFill>
                  <a:srgbClr val="1A1A2E"/>
                </a:solidFill>
              </a:rPr>
              <a:t>• Gold price falls on precious metals position</a:t>
            </a:r>
            <a:endParaRPr lang="en-US" sz="880" dirty="0"/>
          </a:p>
        </p:txBody>
      </p:sp>
      <p:sp>
        <p:nvSpPr>
          <p:cNvPr id="30" name="Shape 25"/>
          <p:cNvSpPr/>
          <p:nvPr/>
        </p:nvSpPr>
        <p:spPr>
          <a:xfrm>
            <a:off x="3227832" y="3337560"/>
            <a:ext cx="2560320" cy="18288"/>
          </a:xfrm>
          <a:prstGeom prst="rect">
            <a:avLst/>
          </a:prstGeom>
          <a:solidFill>
            <a:srgbClr val="D6EAF8"/>
          </a:solidFill>
          <a:ln/>
        </p:spPr>
      </p:sp>
      <p:sp>
        <p:nvSpPr>
          <p:cNvPr id="31" name="Text 26"/>
          <p:cNvSpPr/>
          <p:nvPr/>
        </p:nvSpPr>
        <p:spPr>
          <a:xfrm>
            <a:off x="3246120" y="3383280"/>
            <a:ext cx="2523744" cy="1261872"/>
          </a:xfrm>
          <a:prstGeom prst="rect">
            <a:avLst/>
          </a:prstGeom>
          <a:noFill/>
          <a:ln/>
        </p:spPr>
        <p:txBody>
          <a:bodyPr wrap="square" lIns="0" tIns="0" rIns="0" bIns="0" rtlCol="0" anchor="t"/>
          <a:lstStyle/>
          <a:p>
            <a:pPr indent="0" marL="0">
              <a:buNone/>
            </a:pPr>
            <a:r>
              <a:rPr lang="en-US" sz="820" i="1" dirty="0">
                <a:solidFill>
                  <a:srgbClr val="8899AA"/>
                </a:solidFill>
              </a:rPr>
              <a:t>Not addressed until the 1996 Market Risk Amendment. Affects the trading book.</a:t>
            </a:r>
            <a:endParaRPr lang="en-US" sz="820" dirty="0"/>
          </a:p>
          <a:p>
            <a:pPr indent="0" marL="0">
              <a:buNone/>
            </a:pPr>
            <a:r>
              <a:rPr lang="en-US" sz="820" i="1" dirty="0">
                <a:solidFill>
                  <a:srgbClr val="8899AA"/>
                </a:solidFill>
              </a:rPr>
              <a:t>FRTB (Basel IV) is the current framework.</a:t>
            </a:r>
            <a:endParaRPr lang="en-US" sz="820" dirty="0"/>
          </a:p>
        </p:txBody>
      </p:sp>
      <p:sp>
        <p:nvSpPr>
          <p:cNvPr id="32" name="Shape 27"/>
          <p:cNvSpPr/>
          <p:nvPr/>
        </p:nvSpPr>
        <p:spPr>
          <a:xfrm>
            <a:off x="6016752" y="1389888"/>
            <a:ext cx="2743200" cy="340156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3" name="Shape 28"/>
          <p:cNvSpPr/>
          <p:nvPr/>
        </p:nvSpPr>
        <p:spPr>
          <a:xfrm>
            <a:off x="6016752" y="1389888"/>
            <a:ext cx="2743200" cy="658368"/>
          </a:xfrm>
          <a:prstGeom prst="rect">
            <a:avLst/>
          </a:prstGeom>
          <a:solidFill>
            <a:srgbClr val="C9A84C"/>
          </a:solidFill>
          <a:ln/>
        </p:spPr>
      </p:sp>
      <p:sp>
        <p:nvSpPr>
          <p:cNvPr id="34" name="Shape 29"/>
          <p:cNvSpPr/>
          <p:nvPr/>
        </p:nvSpPr>
        <p:spPr>
          <a:xfrm>
            <a:off x="6108192" y="1444752"/>
            <a:ext cx="530352" cy="530352"/>
          </a:xfrm>
          <a:prstGeom prst="ellipse">
            <a:avLst/>
          </a:prstGeom>
          <a:solidFill>
            <a:srgbClr val="9A7800"/>
          </a:solidFill>
          <a:ln w="12700">
            <a:solidFill>
              <a:srgbClr val="9A7800"/>
            </a:solidFill>
            <a:prstDash val="solid"/>
          </a:ln>
        </p:spPr>
      </p:sp>
      <p:pic>
        <p:nvPicPr>
          <p:cNvPr id="35" name="Image 3" descr="preencoded.png">    </p:cNvPr>
          <p:cNvPicPr>
            <a:picLocks noChangeAspect="1"/>
          </p:cNvPicPr>
          <p:nvPr/>
        </p:nvPicPr>
        <p:blipFill>
          <a:blip r:embed="rId4"/>
          <a:stretch>
            <a:fillRect/>
          </a:stretch>
        </p:blipFill>
        <p:spPr>
          <a:xfrm>
            <a:off x="6214262" y="1550822"/>
            <a:ext cx="318211" cy="318211"/>
          </a:xfrm>
          <a:prstGeom prst="rect">
            <a:avLst/>
          </a:prstGeom>
        </p:spPr>
      </p:pic>
      <p:sp>
        <p:nvSpPr>
          <p:cNvPr id="36" name="Text 30"/>
          <p:cNvSpPr/>
          <p:nvPr/>
        </p:nvSpPr>
        <p:spPr>
          <a:xfrm>
            <a:off x="6711696" y="1426464"/>
            <a:ext cx="1965960" cy="292608"/>
          </a:xfrm>
          <a:prstGeom prst="rect">
            <a:avLst/>
          </a:prstGeom>
          <a:noFill/>
          <a:ln/>
        </p:spPr>
        <p:txBody>
          <a:bodyPr wrap="square" lIns="0" tIns="0" rIns="0" bIns="0" rtlCol="0" anchor="ctr"/>
          <a:lstStyle/>
          <a:p>
            <a:pPr indent="0" marL="0">
              <a:buNone/>
            </a:pPr>
            <a:r>
              <a:rPr lang="en-US" sz="1050" b="1" dirty="0">
                <a:solidFill>
                  <a:srgbClr val="FFFFFF"/>
                </a:solidFill>
              </a:rPr>
              <a:t>OPERATIONAL RISK</a:t>
            </a:r>
            <a:endParaRPr lang="en-US" sz="1050" dirty="0"/>
          </a:p>
        </p:txBody>
      </p:sp>
      <p:sp>
        <p:nvSpPr>
          <p:cNvPr id="37" name="Text 31"/>
          <p:cNvSpPr/>
          <p:nvPr/>
        </p:nvSpPr>
        <p:spPr>
          <a:xfrm>
            <a:off x="6711696" y="1719072"/>
            <a:ext cx="1965960" cy="274320"/>
          </a:xfrm>
          <a:prstGeom prst="rect">
            <a:avLst/>
          </a:prstGeom>
          <a:noFill/>
          <a:ln/>
        </p:spPr>
        <p:txBody>
          <a:bodyPr wrap="square" lIns="0" tIns="0" rIns="0" bIns="0" rtlCol="0" anchor="ctr"/>
          <a:lstStyle/>
          <a:p>
            <a:pPr indent="0" marL="0">
              <a:buNone/>
            </a:pPr>
            <a:r>
              <a:rPr lang="en-US" sz="850" i="1" dirty="0">
                <a:solidFill>
                  <a:srgbClr val="FFFFFF"/>
                </a:solidFill>
              </a:rPr>
              <a:t>Losses from failed internal processes, people, systems, or external events.</a:t>
            </a:r>
            <a:endParaRPr lang="en-US" sz="850" dirty="0"/>
          </a:p>
        </p:txBody>
      </p:sp>
      <p:sp>
        <p:nvSpPr>
          <p:cNvPr id="38" name="Shape 32"/>
          <p:cNvSpPr/>
          <p:nvPr/>
        </p:nvSpPr>
        <p:spPr>
          <a:xfrm>
            <a:off x="6108192" y="2084832"/>
            <a:ext cx="2560320" cy="201168"/>
          </a:xfrm>
          <a:prstGeom prst="rect">
            <a:avLst/>
          </a:prstGeom>
          <a:solidFill>
            <a:srgbClr val="F4F6F8"/>
          </a:solidFill>
          <a:ln/>
        </p:spPr>
      </p:sp>
      <p:sp>
        <p:nvSpPr>
          <p:cNvPr id="39" name="Text 33"/>
          <p:cNvSpPr/>
          <p:nvPr/>
        </p:nvSpPr>
        <p:spPr>
          <a:xfrm>
            <a:off x="6108192" y="2084832"/>
            <a:ext cx="2560320" cy="201168"/>
          </a:xfrm>
          <a:prstGeom prst="rect">
            <a:avLst/>
          </a:prstGeom>
          <a:noFill/>
          <a:ln/>
        </p:spPr>
        <p:txBody>
          <a:bodyPr wrap="square" lIns="0" tIns="0" rIns="0" bIns="0" rtlCol="0" anchor="ctr"/>
          <a:lstStyle/>
          <a:p>
            <a:pPr algn="ctr" indent="0" marL="0">
              <a:buNone/>
            </a:pPr>
            <a:r>
              <a:rPr lang="en-US" sz="800" b="1" dirty="0">
                <a:solidFill>
                  <a:srgbClr val="C9A84C"/>
                </a:solidFill>
              </a:rPr>
              <a:t>EXAMPLES</a:t>
            </a:r>
            <a:endParaRPr lang="en-US" sz="800" dirty="0"/>
          </a:p>
        </p:txBody>
      </p:sp>
      <p:sp>
        <p:nvSpPr>
          <p:cNvPr id="40" name="Text 34"/>
          <p:cNvSpPr/>
          <p:nvPr/>
        </p:nvSpPr>
        <p:spPr>
          <a:xfrm>
            <a:off x="6126480" y="2304288"/>
            <a:ext cx="2523744" cy="1005840"/>
          </a:xfrm>
          <a:prstGeom prst="rect">
            <a:avLst/>
          </a:prstGeom>
          <a:noFill/>
          <a:ln/>
        </p:spPr>
        <p:txBody>
          <a:bodyPr wrap="square" lIns="0" tIns="0" rIns="0" bIns="0" rtlCol="0" anchor="t"/>
          <a:lstStyle/>
          <a:p>
            <a:pPr indent="0" marL="0">
              <a:buNone/>
            </a:pPr>
            <a:r>
              <a:rPr lang="en-US" sz="880" dirty="0">
                <a:solidFill>
                  <a:srgbClr val="1A1A2E"/>
                </a:solidFill>
              </a:rPr>
              <a:t>• Rogue trader circumvents controls (Barings 1995)</a:t>
            </a:r>
            <a:endParaRPr lang="en-US" sz="880" dirty="0"/>
          </a:p>
          <a:p>
            <a:pPr indent="0" marL="0">
              <a:buNone/>
            </a:pPr>
            <a:r>
              <a:rPr lang="en-US" sz="880" dirty="0">
                <a:solidFill>
                  <a:srgbClr val="1A1A2E"/>
                </a:solidFill>
              </a:rPr>
              <a:t>• System failure causes wrong settlements</a:t>
            </a:r>
            <a:endParaRPr lang="en-US" sz="880" dirty="0"/>
          </a:p>
          <a:p>
            <a:pPr indent="0" marL="0">
              <a:buNone/>
            </a:pPr>
            <a:r>
              <a:rPr lang="en-US" sz="880" dirty="0">
                <a:solidFill>
                  <a:srgbClr val="1A1A2E"/>
                </a:solidFill>
              </a:rPr>
              <a:t>• Fraud by employee or third party</a:t>
            </a:r>
            <a:endParaRPr lang="en-US" sz="880" dirty="0"/>
          </a:p>
          <a:p>
            <a:pPr indent="0" marL="0">
              <a:buNone/>
            </a:pPr>
            <a:r>
              <a:rPr lang="en-US" sz="880" dirty="0">
                <a:solidFill>
                  <a:srgbClr val="1A1A2E"/>
                </a:solidFill>
              </a:rPr>
              <a:t>• Cyber attack disrupts operations</a:t>
            </a:r>
            <a:endParaRPr lang="en-US" sz="880" dirty="0"/>
          </a:p>
        </p:txBody>
      </p:sp>
      <p:sp>
        <p:nvSpPr>
          <p:cNvPr id="41" name="Shape 35"/>
          <p:cNvSpPr/>
          <p:nvPr/>
        </p:nvSpPr>
        <p:spPr>
          <a:xfrm>
            <a:off x="6108192" y="3337560"/>
            <a:ext cx="2560320" cy="18288"/>
          </a:xfrm>
          <a:prstGeom prst="rect">
            <a:avLst/>
          </a:prstGeom>
          <a:solidFill>
            <a:srgbClr val="D6EAF8"/>
          </a:solidFill>
          <a:ln/>
        </p:spPr>
      </p:sp>
      <p:sp>
        <p:nvSpPr>
          <p:cNvPr id="42" name="Text 36"/>
          <p:cNvSpPr/>
          <p:nvPr/>
        </p:nvSpPr>
        <p:spPr>
          <a:xfrm>
            <a:off x="6126480" y="3383280"/>
            <a:ext cx="2523744" cy="1261872"/>
          </a:xfrm>
          <a:prstGeom prst="rect">
            <a:avLst/>
          </a:prstGeom>
          <a:noFill/>
          <a:ln/>
        </p:spPr>
        <p:txBody>
          <a:bodyPr wrap="square" lIns="0" tIns="0" rIns="0" bIns="0" rtlCol="0" anchor="t"/>
          <a:lstStyle/>
          <a:p>
            <a:pPr indent="0" marL="0">
              <a:buNone/>
            </a:pPr>
            <a:r>
              <a:rPr lang="en-US" sz="820" i="1" dirty="0">
                <a:solidFill>
                  <a:srgbClr val="8899AA"/>
                </a:solidFill>
              </a:rPr>
              <a:t>First formally captured in Basel II. Hardest to quantify.</a:t>
            </a:r>
            <a:endParaRPr lang="en-US" sz="820" dirty="0"/>
          </a:p>
          <a:p>
            <a:pPr indent="0" marL="0">
              <a:buNone/>
            </a:pPr>
            <a:r>
              <a:rPr lang="en-US" sz="820" i="1" dirty="0">
                <a:solidFill>
                  <a:srgbClr val="8899AA"/>
                </a:solidFill>
              </a:rPr>
              <a:t>SMA (Basel IV) replaces all prior OpRisk models.</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Scope &amp; Future Modules</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What is Not Covered Here — &amp; What's Coming Next</a:t>
            </a:r>
            <a:endParaRPr lang="en-US" sz="2200" dirty="0"/>
          </a:p>
        </p:txBody>
      </p:sp>
      <p:sp>
        <p:nvSpPr>
          <p:cNvPr id="6" name="Shape 4"/>
          <p:cNvSpPr/>
          <p:nvPr/>
        </p:nvSpPr>
        <p:spPr>
          <a:xfrm>
            <a:off x="274320" y="749808"/>
            <a:ext cx="8595360" cy="475488"/>
          </a:xfrm>
          <a:prstGeom prst="rect">
            <a:avLst/>
          </a:prstGeom>
          <a:solidFill>
            <a:srgbClr val="D6EAF8"/>
          </a:solidFill>
          <a:ln/>
        </p:spPr>
      </p:sp>
      <p:sp>
        <p:nvSpPr>
          <p:cNvPr id="7" name="Text 5"/>
          <p:cNvSpPr/>
          <p:nvPr/>
        </p:nvSpPr>
        <p:spPr>
          <a:xfrm>
            <a:off x="411480" y="749808"/>
            <a:ext cx="8321040" cy="475488"/>
          </a:xfrm>
          <a:prstGeom prst="rect">
            <a:avLst/>
          </a:prstGeom>
          <a:noFill/>
          <a:ln/>
        </p:spPr>
        <p:txBody>
          <a:bodyPr wrap="square" lIns="0" tIns="0" rIns="0" bIns="0" rtlCol="0" anchor="ctr"/>
          <a:lstStyle/>
          <a:p>
            <a:pPr indent="0" marL="0">
              <a:buNone/>
            </a:pPr>
            <a:r>
              <a:rPr lang="en-US" sz="1000" dirty="0">
                <a:solidFill>
                  <a:srgbClr val="1B3A6B"/>
                </a:solidFill>
              </a:rPr>
              <a:t>This module covers the three Basel Pillar 1 risk types. Several other important risks are addressed under Pillar 2 and will be covered in dedicated future modules.</a:t>
            </a:r>
            <a:endParaRPr lang="en-US" sz="1000" dirty="0"/>
          </a:p>
        </p:txBody>
      </p:sp>
      <p:sp>
        <p:nvSpPr>
          <p:cNvPr id="8" name="Shape 6"/>
          <p:cNvSpPr/>
          <p:nvPr/>
        </p:nvSpPr>
        <p:spPr>
          <a:xfrm>
            <a:off x="256032" y="1325880"/>
            <a:ext cx="2057400" cy="340156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56032" y="1325880"/>
            <a:ext cx="2057400" cy="640080"/>
          </a:xfrm>
          <a:prstGeom prst="rect">
            <a:avLst/>
          </a:prstGeom>
          <a:solidFill>
            <a:srgbClr val="0E6B8A"/>
          </a:solidFill>
          <a:ln/>
        </p:spPr>
      </p:sp>
      <p:sp>
        <p:nvSpPr>
          <p:cNvPr id="10" name="Shape 8"/>
          <p:cNvSpPr/>
          <p:nvPr/>
        </p:nvSpPr>
        <p:spPr>
          <a:xfrm>
            <a:off x="329184" y="1380744"/>
            <a:ext cx="512064" cy="512064"/>
          </a:xfrm>
          <a:prstGeom prst="ellipse">
            <a:avLst/>
          </a:prstGeom>
          <a:solidFill>
            <a:srgbClr val="1B3A6B"/>
          </a:solidFill>
          <a:ln w="12700">
            <a:solidFill>
              <a:srgbClr val="1B3A6B"/>
            </a:solidFill>
            <a:prstDash val="solid"/>
          </a:ln>
        </p:spPr>
      </p:sp>
      <p:pic>
        <p:nvPicPr>
          <p:cNvPr id="11" name="Image 0" descr="preencoded.png">    </p:cNvPr>
          <p:cNvPicPr>
            <a:picLocks noChangeAspect="1"/>
          </p:cNvPicPr>
          <p:nvPr/>
        </p:nvPicPr>
        <p:blipFill>
          <a:blip r:embed="rId1"/>
          <a:stretch>
            <a:fillRect/>
          </a:stretch>
        </p:blipFill>
        <p:spPr>
          <a:xfrm>
            <a:off x="431597" y="1483157"/>
            <a:ext cx="307238" cy="307238"/>
          </a:xfrm>
          <a:prstGeom prst="rect">
            <a:avLst/>
          </a:prstGeom>
        </p:spPr>
      </p:pic>
      <p:sp>
        <p:nvSpPr>
          <p:cNvPr id="12" name="Text 9"/>
          <p:cNvSpPr/>
          <p:nvPr/>
        </p:nvSpPr>
        <p:spPr>
          <a:xfrm>
            <a:off x="914400" y="1389888"/>
            <a:ext cx="1335024" cy="512064"/>
          </a:xfrm>
          <a:prstGeom prst="rect">
            <a:avLst/>
          </a:prstGeom>
          <a:noFill/>
          <a:ln/>
        </p:spPr>
        <p:txBody>
          <a:bodyPr wrap="square" lIns="0" tIns="0" rIns="0" bIns="0" rtlCol="0" anchor="ctr"/>
          <a:lstStyle/>
          <a:p>
            <a:pPr indent="0" marL="0">
              <a:buNone/>
            </a:pPr>
            <a:r>
              <a:rPr lang="en-US" sz="950" b="1" dirty="0">
                <a:solidFill>
                  <a:srgbClr val="FFFFFF"/>
                </a:solidFill>
              </a:rPr>
              <a:t>Liquidity Risk</a:t>
            </a:r>
            <a:endParaRPr lang="en-US" sz="950" dirty="0"/>
          </a:p>
        </p:txBody>
      </p:sp>
      <p:sp>
        <p:nvSpPr>
          <p:cNvPr id="13" name="Text 10"/>
          <p:cNvSpPr/>
          <p:nvPr/>
        </p:nvSpPr>
        <p:spPr>
          <a:xfrm>
            <a:off x="347472" y="2011680"/>
            <a:ext cx="1874520" cy="2487168"/>
          </a:xfrm>
          <a:prstGeom prst="rect">
            <a:avLst/>
          </a:prstGeom>
          <a:noFill/>
          <a:ln/>
        </p:spPr>
        <p:txBody>
          <a:bodyPr wrap="square" lIns="0" tIns="0" rIns="0" bIns="0" rtlCol="0" anchor="t"/>
          <a:lstStyle/>
          <a:p>
            <a:pPr indent="0" marL="0">
              <a:buNone/>
            </a:pPr>
            <a:r>
              <a:rPr lang="en-US" sz="880" dirty="0">
                <a:solidFill>
                  <a:srgbClr val="1A1A2E"/>
                </a:solidFill>
              </a:rPr>
              <a:t>The risk that a bank cannot meet its obligations as they fall due — either market liquidity (cannot sell assets) or funding liquidity (cannot fund itself).</a:t>
            </a:r>
            <a:endParaRPr lang="en-US" sz="880" dirty="0"/>
          </a:p>
          <a:p>
            <a:pPr indent="0" marL="0">
              <a:buNone/>
            </a:pPr>
            <a:endParaRPr lang="en-US" sz="880" dirty="0"/>
          </a:p>
          <a:p>
            <a:pPr indent="0" marL="0">
              <a:buNone/>
            </a:pPr>
            <a:r>
              <a:rPr lang="en-US" sz="880" dirty="0">
                <a:solidFill>
                  <a:srgbClr val="1A1A2E"/>
                </a:solidFill>
              </a:rPr>
              <a:t>Basel III introduced LCR (30-day survival) and NSFR (1-year structural stability). One of the key lessons of 2007–09.</a:t>
            </a:r>
            <a:endParaRPr lang="en-US" sz="880" dirty="0"/>
          </a:p>
        </p:txBody>
      </p:sp>
      <p:sp>
        <p:nvSpPr>
          <p:cNvPr id="14" name="Shape 11"/>
          <p:cNvSpPr/>
          <p:nvPr/>
        </p:nvSpPr>
        <p:spPr>
          <a:xfrm>
            <a:off x="256032" y="4498848"/>
            <a:ext cx="2057400" cy="228600"/>
          </a:xfrm>
          <a:prstGeom prst="rect">
            <a:avLst/>
          </a:prstGeom>
          <a:solidFill>
            <a:srgbClr val="0E6B8A"/>
          </a:solidFill>
          <a:ln/>
        </p:spPr>
      </p:sp>
      <p:sp>
        <p:nvSpPr>
          <p:cNvPr id="15" name="Text 12"/>
          <p:cNvSpPr/>
          <p:nvPr/>
        </p:nvSpPr>
        <p:spPr>
          <a:xfrm>
            <a:off x="256032" y="4498848"/>
            <a:ext cx="2057400" cy="228600"/>
          </a:xfrm>
          <a:prstGeom prst="rect">
            <a:avLst/>
          </a:prstGeom>
          <a:noFill/>
          <a:ln/>
        </p:spPr>
        <p:txBody>
          <a:bodyPr wrap="square" lIns="0" tIns="0" rIns="0" bIns="0" rtlCol="0" anchor="ctr"/>
          <a:lstStyle/>
          <a:p>
            <a:pPr algn="ctr" indent="0" marL="0">
              <a:buNone/>
            </a:pPr>
            <a:r>
              <a:rPr lang="en-US" sz="800" b="1" dirty="0">
                <a:solidFill>
                  <a:srgbClr val="FFFFFF"/>
                </a:solidFill>
              </a:rPr>
              <a:t>Future Module 2</a:t>
            </a:r>
            <a:endParaRPr lang="en-US" sz="800" dirty="0"/>
          </a:p>
        </p:txBody>
      </p:sp>
      <p:sp>
        <p:nvSpPr>
          <p:cNvPr id="16" name="Shape 13"/>
          <p:cNvSpPr/>
          <p:nvPr/>
        </p:nvSpPr>
        <p:spPr>
          <a:xfrm>
            <a:off x="2432304" y="1325880"/>
            <a:ext cx="2057400" cy="340156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7" name="Shape 14"/>
          <p:cNvSpPr/>
          <p:nvPr/>
        </p:nvSpPr>
        <p:spPr>
          <a:xfrm>
            <a:off x="2432304" y="1325880"/>
            <a:ext cx="2057400" cy="640080"/>
          </a:xfrm>
          <a:prstGeom prst="rect">
            <a:avLst/>
          </a:prstGeom>
          <a:solidFill>
            <a:srgbClr val="1B3A6B"/>
          </a:solidFill>
          <a:ln/>
        </p:spPr>
      </p:sp>
      <p:sp>
        <p:nvSpPr>
          <p:cNvPr id="18" name="Shape 15"/>
          <p:cNvSpPr/>
          <p:nvPr/>
        </p:nvSpPr>
        <p:spPr>
          <a:xfrm>
            <a:off x="2505456" y="1380744"/>
            <a:ext cx="512064" cy="512064"/>
          </a:xfrm>
          <a:prstGeom prst="ellipse">
            <a:avLst/>
          </a:prstGeom>
          <a:solidFill>
            <a:srgbClr val="0E6B8A"/>
          </a:solidFill>
          <a:ln w="12700">
            <a:solidFill>
              <a:srgbClr val="0E6B8A"/>
            </a:solidFill>
            <a:prstDash val="solid"/>
          </a:ln>
        </p:spPr>
      </p:sp>
      <p:pic>
        <p:nvPicPr>
          <p:cNvPr id="19" name="Image 1" descr="preencoded.png">    </p:cNvPr>
          <p:cNvPicPr>
            <a:picLocks noChangeAspect="1"/>
          </p:cNvPicPr>
          <p:nvPr/>
        </p:nvPicPr>
        <p:blipFill>
          <a:blip r:embed="rId2"/>
          <a:stretch>
            <a:fillRect/>
          </a:stretch>
        </p:blipFill>
        <p:spPr>
          <a:xfrm>
            <a:off x="2607869" y="1483157"/>
            <a:ext cx="307238" cy="307238"/>
          </a:xfrm>
          <a:prstGeom prst="rect">
            <a:avLst/>
          </a:prstGeom>
        </p:spPr>
      </p:pic>
      <p:sp>
        <p:nvSpPr>
          <p:cNvPr id="20" name="Text 16"/>
          <p:cNvSpPr/>
          <p:nvPr/>
        </p:nvSpPr>
        <p:spPr>
          <a:xfrm>
            <a:off x="3090672" y="1389888"/>
            <a:ext cx="1335024" cy="512064"/>
          </a:xfrm>
          <a:prstGeom prst="rect">
            <a:avLst/>
          </a:prstGeom>
          <a:noFill/>
          <a:ln/>
        </p:spPr>
        <p:txBody>
          <a:bodyPr wrap="square" lIns="0" tIns="0" rIns="0" bIns="0" rtlCol="0" anchor="ctr"/>
          <a:lstStyle/>
          <a:p>
            <a:pPr indent="0" marL="0">
              <a:buNone/>
            </a:pPr>
            <a:r>
              <a:rPr lang="en-US" sz="950" b="1" dirty="0">
                <a:solidFill>
                  <a:srgbClr val="FFFFFF"/>
                </a:solidFill>
              </a:rPr>
              <a:t>Concentration Risk</a:t>
            </a:r>
            <a:endParaRPr lang="en-US" sz="950" dirty="0"/>
          </a:p>
        </p:txBody>
      </p:sp>
      <p:sp>
        <p:nvSpPr>
          <p:cNvPr id="21" name="Text 17"/>
          <p:cNvSpPr/>
          <p:nvPr/>
        </p:nvSpPr>
        <p:spPr>
          <a:xfrm>
            <a:off x="2523744" y="2011680"/>
            <a:ext cx="1874520" cy="2487168"/>
          </a:xfrm>
          <a:prstGeom prst="rect">
            <a:avLst/>
          </a:prstGeom>
          <a:noFill/>
          <a:ln/>
        </p:spPr>
        <p:txBody>
          <a:bodyPr wrap="square" lIns="0" tIns="0" rIns="0" bIns="0" rtlCol="0" anchor="t"/>
          <a:lstStyle/>
          <a:p>
            <a:pPr indent="0" marL="0">
              <a:buNone/>
            </a:pPr>
            <a:r>
              <a:rPr lang="en-US" sz="880" dirty="0">
                <a:solidFill>
                  <a:srgbClr val="1A1A2E"/>
                </a:solidFill>
              </a:rPr>
              <a:t>Excessive exposure to a single counterparty, sector, geography, or product. A bank with 40% of its loan book in one industry is acutely vulnerable.</a:t>
            </a:r>
            <a:endParaRPr lang="en-US" sz="880" dirty="0"/>
          </a:p>
          <a:p>
            <a:pPr indent="0" marL="0">
              <a:buNone/>
            </a:pPr>
            <a:endParaRPr lang="en-US" sz="880" dirty="0"/>
          </a:p>
          <a:p>
            <a:pPr indent="0" marL="0">
              <a:buNone/>
            </a:pPr>
            <a:r>
              <a:rPr lang="en-US" sz="880" dirty="0">
                <a:solidFill>
                  <a:srgbClr val="1A1A2E"/>
                </a:solidFill>
              </a:rPr>
              <a:t>Addressed under Pillar 2 and the Large Exposures framework (max 25% of Tier 1 to any single counterparty).</a:t>
            </a:r>
            <a:endParaRPr lang="en-US" sz="880" dirty="0"/>
          </a:p>
        </p:txBody>
      </p:sp>
      <p:sp>
        <p:nvSpPr>
          <p:cNvPr id="22" name="Shape 18"/>
          <p:cNvSpPr/>
          <p:nvPr/>
        </p:nvSpPr>
        <p:spPr>
          <a:xfrm>
            <a:off x="2432304" y="4498848"/>
            <a:ext cx="2057400" cy="228600"/>
          </a:xfrm>
          <a:prstGeom prst="rect">
            <a:avLst/>
          </a:prstGeom>
          <a:solidFill>
            <a:srgbClr val="1B3A6B"/>
          </a:solidFill>
          <a:ln/>
        </p:spPr>
      </p:sp>
      <p:sp>
        <p:nvSpPr>
          <p:cNvPr id="23" name="Text 19"/>
          <p:cNvSpPr/>
          <p:nvPr/>
        </p:nvSpPr>
        <p:spPr>
          <a:xfrm>
            <a:off x="2432304" y="4498848"/>
            <a:ext cx="2057400" cy="228600"/>
          </a:xfrm>
          <a:prstGeom prst="rect">
            <a:avLst/>
          </a:prstGeom>
          <a:noFill/>
          <a:ln/>
        </p:spPr>
        <p:txBody>
          <a:bodyPr wrap="square" lIns="0" tIns="0" rIns="0" bIns="0" rtlCol="0" anchor="ctr"/>
          <a:lstStyle/>
          <a:p>
            <a:pPr algn="ctr" indent="0" marL="0">
              <a:buNone/>
            </a:pPr>
            <a:r>
              <a:rPr lang="en-US" sz="800" b="1" dirty="0">
                <a:solidFill>
                  <a:srgbClr val="FFFFFF"/>
                </a:solidFill>
              </a:rPr>
              <a:t>Future Module 3</a:t>
            </a:r>
            <a:endParaRPr lang="en-US" sz="800" dirty="0"/>
          </a:p>
        </p:txBody>
      </p:sp>
      <p:sp>
        <p:nvSpPr>
          <p:cNvPr id="24" name="Shape 20"/>
          <p:cNvSpPr/>
          <p:nvPr/>
        </p:nvSpPr>
        <p:spPr>
          <a:xfrm>
            <a:off x="4608576" y="1325880"/>
            <a:ext cx="2057400" cy="340156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5" name="Shape 21"/>
          <p:cNvSpPr/>
          <p:nvPr/>
        </p:nvSpPr>
        <p:spPr>
          <a:xfrm>
            <a:off x="4608576" y="1325880"/>
            <a:ext cx="2057400" cy="640080"/>
          </a:xfrm>
          <a:prstGeom prst="rect">
            <a:avLst/>
          </a:prstGeom>
          <a:solidFill>
            <a:srgbClr val="C9A84C"/>
          </a:solidFill>
          <a:ln/>
        </p:spPr>
      </p:sp>
      <p:sp>
        <p:nvSpPr>
          <p:cNvPr id="26" name="Shape 22"/>
          <p:cNvSpPr/>
          <p:nvPr/>
        </p:nvSpPr>
        <p:spPr>
          <a:xfrm>
            <a:off x="4681728" y="1380744"/>
            <a:ext cx="512064" cy="512064"/>
          </a:xfrm>
          <a:prstGeom prst="ellipse">
            <a:avLst/>
          </a:prstGeom>
          <a:solidFill>
            <a:srgbClr val="8B7000"/>
          </a:solidFill>
          <a:ln w="12700">
            <a:solidFill>
              <a:srgbClr val="8B7000"/>
            </a:solidFill>
            <a:prstDash val="solid"/>
          </a:ln>
        </p:spPr>
      </p:sp>
      <p:pic>
        <p:nvPicPr>
          <p:cNvPr id="27" name="Image 2" descr="preencoded.png">    </p:cNvPr>
          <p:cNvPicPr>
            <a:picLocks noChangeAspect="1"/>
          </p:cNvPicPr>
          <p:nvPr/>
        </p:nvPicPr>
        <p:blipFill>
          <a:blip r:embed="rId3"/>
          <a:stretch>
            <a:fillRect/>
          </a:stretch>
        </p:blipFill>
        <p:spPr>
          <a:xfrm>
            <a:off x="4784141" y="1483157"/>
            <a:ext cx="307238" cy="307238"/>
          </a:xfrm>
          <a:prstGeom prst="rect">
            <a:avLst/>
          </a:prstGeom>
        </p:spPr>
      </p:pic>
      <p:sp>
        <p:nvSpPr>
          <p:cNvPr id="28" name="Text 23"/>
          <p:cNvSpPr/>
          <p:nvPr/>
        </p:nvSpPr>
        <p:spPr>
          <a:xfrm>
            <a:off x="5266944" y="1389888"/>
            <a:ext cx="1335024" cy="512064"/>
          </a:xfrm>
          <a:prstGeom prst="rect">
            <a:avLst/>
          </a:prstGeom>
          <a:noFill/>
          <a:ln/>
        </p:spPr>
        <p:txBody>
          <a:bodyPr wrap="square" lIns="0" tIns="0" rIns="0" bIns="0" rtlCol="0" anchor="ctr"/>
          <a:lstStyle/>
          <a:p>
            <a:pPr indent="0" marL="0">
              <a:buNone/>
            </a:pPr>
            <a:r>
              <a:rPr lang="en-US" sz="950" b="1" dirty="0">
                <a:solidFill>
                  <a:srgbClr val="FFFFFF"/>
                </a:solidFill>
              </a:rPr>
              <a:t>IRRBB</a:t>
            </a:r>
            <a:endParaRPr lang="en-US" sz="950" dirty="0"/>
          </a:p>
        </p:txBody>
      </p:sp>
      <p:sp>
        <p:nvSpPr>
          <p:cNvPr id="29" name="Text 24"/>
          <p:cNvSpPr/>
          <p:nvPr/>
        </p:nvSpPr>
        <p:spPr>
          <a:xfrm>
            <a:off x="4700016" y="2011680"/>
            <a:ext cx="1874520" cy="2487168"/>
          </a:xfrm>
          <a:prstGeom prst="rect">
            <a:avLst/>
          </a:prstGeom>
          <a:noFill/>
          <a:ln/>
        </p:spPr>
        <p:txBody>
          <a:bodyPr wrap="square" lIns="0" tIns="0" rIns="0" bIns="0" rtlCol="0" anchor="t"/>
          <a:lstStyle/>
          <a:p>
            <a:pPr indent="0" marL="0">
              <a:buNone/>
            </a:pPr>
            <a:r>
              <a:rPr lang="en-US" sz="880" dirty="0">
                <a:solidFill>
                  <a:srgbClr val="1A1A2E"/>
                </a:solidFill>
              </a:rPr>
              <a:t>Interest Rate Risk in the Banking Book — risk that rate changes adversely affect economic value or net interest income of loans and deposits held to maturity.</a:t>
            </a:r>
            <a:endParaRPr lang="en-US" sz="880" dirty="0"/>
          </a:p>
          <a:p>
            <a:pPr indent="0" marL="0">
              <a:buNone/>
            </a:pPr>
            <a:endParaRPr lang="en-US" sz="880" dirty="0"/>
          </a:p>
          <a:p>
            <a:pPr indent="0" marL="0">
              <a:buNone/>
            </a:pPr>
            <a:r>
              <a:rPr lang="en-US" sz="880" dirty="0">
                <a:solidFill>
                  <a:srgbClr val="1A1A2E"/>
                </a:solidFill>
              </a:rPr>
              <a:t>BCBS published a dedicated IRRBB standard in 2016. Highly topical after the 2022–23 rate rises (see SVB).</a:t>
            </a:r>
            <a:endParaRPr lang="en-US" sz="880" dirty="0"/>
          </a:p>
        </p:txBody>
      </p:sp>
      <p:sp>
        <p:nvSpPr>
          <p:cNvPr id="30" name="Shape 25"/>
          <p:cNvSpPr/>
          <p:nvPr/>
        </p:nvSpPr>
        <p:spPr>
          <a:xfrm>
            <a:off x="4608576" y="4498848"/>
            <a:ext cx="2057400" cy="228600"/>
          </a:xfrm>
          <a:prstGeom prst="rect">
            <a:avLst/>
          </a:prstGeom>
          <a:solidFill>
            <a:srgbClr val="C9A84C"/>
          </a:solidFill>
          <a:ln/>
        </p:spPr>
      </p:sp>
      <p:sp>
        <p:nvSpPr>
          <p:cNvPr id="31" name="Text 26"/>
          <p:cNvSpPr/>
          <p:nvPr/>
        </p:nvSpPr>
        <p:spPr>
          <a:xfrm>
            <a:off x="4608576" y="4498848"/>
            <a:ext cx="2057400" cy="228600"/>
          </a:xfrm>
          <a:prstGeom prst="rect">
            <a:avLst/>
          </a:prstGeom>
          <a:noFill/>
          <a:ln/>
        </p:spPr>
        <p:txBody>
          <a:bodyPr wrap="square" lIns="0" tIns="0" rIns="0" bIns="0" rtlCol="0" anchor="ctr"/>
          <a:lstStyle/>
          <a:p>
            <a:pPr algn="ctr" indent="0" marL="0">
              <a:buNone/>
            </a:pPr>
            <a:r>
              <a:rPr lang="en-US" sz="800" b="1" dirty="0">
                <a:solidFill>
                  <a:srgbClr val="FFFFFF"/>
                </a:solidFill>
              </a:rPr>
              <a:t>Future Module 4</a:t>
            </a:r>
            <a:endParaRPr lang="en-US" sz="800" dirty="0"/>
          </a:p>
        </p:txBody>
      </p:sp>
      <p:sp>
        <p:nvSpPr>
          <p:cNvPr id="32" name="Shape 27"/>
          <p:cNvSpPr/>
          <p:nvPr/>
        </p:nvSpPr>
        <p:spPr>
          <a:xfrm>
            <a:off x="6784848" y="1325880"/>
            <a:ext cx="2057400" cy="340156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3" name="Shape 28"/>
          <p:cNvSpPr/>
          <p:nvPr/>
        </p:nvSpPr>
        <p:spPr>
          <a:xfrm>
            <a:off x="6784848" y="1325880"/>
            <a:ext cx="2057400" cy="640080"/>
          </a:xfrm>
          <a:prstGeom prst="rect">
            <a:avLst/>
          </a:prstGeom>
          <a:solidFill>
            <a:srgbClr val="D4770A"/>
          </a:solidFill>
          <a:ln/>
        </p:spPr>
      </p:sp>
      <p:sp>
        <p:nvSpPr>
          <p:cNvPr id="34" name="Shape 29"/>
          <p:cNvSpPr/>
          <p:nvPr/>
        </p:nvSpPr>
        <p:spPr>
          <a:xfrm>
            <a:off x="6858000" y="1380744"/>
            <a:ext cx="512064" cy="512064"/>
          </a:xfrm>
          <a:prstGeom prst="ellipse">
            <a:avLst/>
          </a:prstGeom>
          <a:solidFill>
            <a:srgbClr val="1B3A6B"/>
          </a:solidFill>
          <a:ln w="12700">
            <a:solidFill>
              <a:srgbClr val="1B3A6B"/>
            </a:solidFill>
            <a:prstDash val="solid"/>
          </a:ln>
        </p:spPr>
      </p:sp>
      <p:pic>
        <p:nvPicPr>
          <p:cNvPr id="35" name="Image 3" descr="preencoded.png">    </p:cNvPr>
          <p:cNvPicPr>
            <a:picLocks noChangeAspect="1"/>
          </p:cNvPicPr>
          <p:nvPr/>
        </p:nvPicPr>
        <p:blipFill>
          <a:blip r:embed="rId4"/>
          <a:stretch>
            <a:fillRect/>
          </a:stretch>
        </p:blipFill>
        <p:spPr>
          <a:xfrm>
            <a:off x="6960413" y="1483157"/>
            <a:ext cx="307238" cy="307238"/>
          </a:xfrm>
          <a:prstGeom prst="rect">
            <a:avLst/>
          </a:prstGeom>
        </p:spPr>
      </p:pic>
      <p:sp>
        <p:nvSpPr>
          <p:cNvPr id="36" name="Text 30"/>
          <p:cNvSpPr/>
          <p:nvPr/>
        </p:nvSpPr>
        <p:spPr>
          <a:xfrm>
            <a:off x="7443216" y="1389888"/>
            <a:ext cx="1335024" cy="512064"/>
          </a:xfrm>
          <a:prstGeom prst="rect">
            <a:avLst/>
          </a:prstGeom>
          <a:noFill/>
          <a:ln/>
        </p:spPr>
        <p:txBody>
          <a:bodyPr wrap="square" lIns="0" tIns="0" rIns="0" bIns="0" rtlCol="0" anchor="ctr"/>
          <a:lstStyle/>
          <a:p>
            <a:pPr indent="0" marL="0">
              <a:buNone/>
            </a:pPr>
            <a:r>
              <a:rPr lang="en-US" sz="950" b="1" dirty="0">
                <a:solidFill>
                  <a:srgbClr val="FFFFFF"/>
                </a:solidFill>
              </a:rPr>
              <a:t>Reputational Risk</a:t>
            </a:r>
            <a:endParaRPr lang="en-US" sz="950" dirty="0"/>
          </a:p>
        </p:txBody>
      </p:sp>
      <p:sp>
        <p:nvSpPr>
          <p:cNvPr id="37" name="Text 31"/>
          <p:cNvSpPr/>
          <p:nvPr/>
        </p:nvSpPr>
        <p:spPr>
          <a:xfrm>
            <a:off x="6876288" y="2011680"/>
            <a:ext cx="1874520" cy="2487168"/>
          </a:xfrm>
          <a:prstGeom prst="rect">
            <a:avLst/>
          </a:prstGeom>
          <a:noFill/>
          <a:ln/>
        </p:spPr>
        <p:txBody>
          <a:bodyPr wrap="square" lIns="0" tIns="0" rIns="0" bIns="0" rtlCol="0" anchor="t"/>
          <a:lstStyle/>
          <a:p>
            <a:pPr indent="0" marL="0">
              <a:buNone/>
            </a:pPr>
            <a:r>
              <a:rPr lang="en-US" sz="880" dirty="0">
                <a:solidFill>
                  <a:srgbClr val="1A1A2E"/>
                </a:solidFill>
              </a:rPr>
              <a:t>The risk of loss from damage to the bank's reputation — mis-selling, market manipulation, sanctions violations, and ESG failures.</a:t>
            </a:r>
            <a:endParaRPr lang="en-US" sz="880" dirty="0"/>
          </a:p>
          <a:p>
            <a:pPr indent="0" marL="0">
              <a:buNone/>
            </a:pPr>
            <a:endParaRPr lang="en-US" sz="880" dirty="0"/>
          </a:p>
          <a:p>
            <a:pPr indent="0" marL="0">
              <a:buNone/>
            </a:pPr>
            <a:r>
              <a:rPr lang="en-US" sz="880" dirty="0">
                <a:solidFill>
                  <a:srgbClr val="1A1A2E"/>
                </a:solidFill>
              </a:rPr>
              <a:t>Not formally quantified in Pillar 1. Can dwarf Pillar 1 capital in actual impact. Managed through governance, compliance, and culture.</a:t>
            </a:r>
            <a:endParaRPr lang="en-US" sz="880" dirty="0"/>
          </a:p>
        </p:txBody>
      </p:sp>
      <p:sp>
        <p:nvSpPr>
          <p:cNvPr id="38" name="Shape 32"/>
          <p:cNvSpPr/>
          <p:nvPr/>
        </p:nvSpPr>
        <p:spPr>
          <a:xfrm>
            <a:off x="6784848" y="4498848"/>
            <a:ext cx="2057400" cy="228600"/>
          </a:xfrm>
          <a:prstGeom prst="rect">
            <a:avLst/>
          </a:prstGeom>
          <a:solidFill>
            <a:srgbClr val="D4770A"/>
          </a:solidFill>
          <a:ln/>
        </p:spPr>
      </p:sp>
      <p:sp>
        <p:nvSpPr>
          <p:cNvPr id="39" name="Text 33"/>
          <p:cNvSpPr/>
          <p:nvPr/>
        </p:nvSpPr>
        <p:spPr>
          <a:xfrm>
            <a:off x="6784848" y="4498848"/>
            <a:ext cx="2057400" cy="228600"/>
          </a:xfrm>
          <a:prstGeom prst="rect">
            <a:avLst/>
          </a:prstGeom>
          <a:noFill/>
          <a:ln/>
        </p:spPr>
        <p:txBody>
          <a:bodyPr wrap="square" lIns="0" tIns="0" rIns="0" bIns="0" rtlCol="0" anchor="ctr"/>
          <a:lstStyle/>
          <a:p>
            <a:pPr algn="ctr" indent="0" marL="0">
              <a:buNone/>
            </a:pPr>
            <a:r>
              <a:rPr lang="en-US" sz="800" b="1" dirty="0">
                <a:solidFill>
                  <a:srgbClr val="FFFFFF"/>
                </a:solidFill>
              </a:rPr>
              <a:t>Future Module 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Context</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Why Does Bank Capital Regulation Exist?</a:t>
            </a:r>
            <a:endParaRPr lang="en-US" sz="2200" dirty="0"/>
          </a:p>
        </p:txBody>
      </p:sp>
      <p:sp>
        <p:nvSpPr>
          <p:cNvPr id="6" name="Shape 4"/>
          <p:cNvSpPr/>
          <p:nvPr/>
        </p:nvSpPr>
        <p:spPr>
          <a:xfrm>
            <a:off x="256032" y="777240"/>
            <a:ext cx="2743200" cy="31089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7" name="Shape 5"/>
          <p:cNvSpPr/>
          <p:nvPr/>
        </p:nvSpPr>
        <p:spPr>
          <a:xfrm>
            <a:off x="256032" y="777240"/>
            <a:ext cx="2743200" cy="640080"/>
          </a:xfrm>
          <a:prstGeom prst="rect">
            <a:avLst/>
          </a:prstGeom>
          <a:solidFill>
            <a:srgbClr val="0E6B8A"/>
          </a:solidFill>
          <a:ln/>
        </p:spPr>
      </p:sp>
      <p:sp>
        <p:nvSpPr>
          <p:cNvPr id="8" name="Shape 6"/>
          <p:cNvSpPr/>
          <p:nvPr/>
        </p:nvSpPr>
        <p:spPr>
          <a:xfrm>
            <a:off x="347472" y="841248"/>
            <a:ext cx="512064" cy="512064"/>
          </a:xfrm>
          <a:prstGeom prst="ellipse">
            <a:avLst/>
          </a:prstGeom>
          <a:solidFill>
            <a:srgbClr val="0E6B8A"/>
          </a:solidFill>
          <a:ln w="12700">
            <a:solidFill>
              <a:srgbClr val="0E6B8A"/>
            </a:solidFill>
            <a:prstDash val="solid"/>
          </a:ln>
        </p:spPr>
      </p:sp>
      <p:pic>
        <p:nvPicPr>
          <p:cNvPr id="9" name="Image 0" descr="preencoded.png">    </p:cNvPr>
          <p:cNvPicPr>
            <a:picLocks noChangeAspect="1"/>
          </p:cNvPicPr>
          <p:nvPr/>
        </p:nvPicPr>
        <p:blipFill>
          <a:blip r:embed="rId1"/>
          <a:stretch>
            <a:fillRect/>
          </a:stretch>
        </p:blipFill>
        <p:spPr>
          <a:xfrm>
            <a:off x="449885" y="943661"/>
            <a:ext cx="307238" cy="307238"/>
          </a:xfrm>
          <a:prstGeom prst="rect">
            <a:avLst/>
          </a:prstGeom>
        </p:spPr>
      </p:pic>
      <p:sp>
        <p:nvSpPr>
          <p:cNvPr id="10" name="Text 7"/>
          <p:cNvSpPr/>
          <p:nvPr/>
        </p:nvSpPr>
        <p:spPr>
          <a:xfrm>
            <a:off x="932688" y="822960"/>
            <a:ext cx="1993392" cy="512064"/>
          </a:xfrm>
          <a:prstGeom prst="rect">
            <a:avLst/>
          </a:prstGeom>
          <a:noFill/>
          <a:ln/>
        </p:spPr>
        <p:txBody>
          <a:bodyPr wrap="square" lIns="0" tIns="0" rIns="0" bIns="0" rtlCol="0" anchor="ctr"/>
          <a:lstStyle/>
          <a:p>
            <a:pPr indent="0" marL="0">
              <a:buNone/>
            </a:pPr>
            <a:r>
              <a:rPr lang="en-US" sz="1100" b="1" dirty="0">
                <a:solidFill>
                  <a:srgbClr val="FFFFFF"/>
                </a:solidFill>
              </a:rPr>
              <a:t>The Core Problem</a:t>
            </a:r>
            <a:endParaRPr lang="en-US" sz="1100" dirty="0"/>
          </a:p>
        </p:txBody>
      </p:sp>
      <p:sp>
        <p:nvSpPr>
          <p:cNvPr id="11" name="Text 8"/>
          <p:cNvSpPr/>
          <p:nvPr/>
        </p:nvSpPr>
        <p:spPr>
          <a:xfrm>
            <a:off x="384048" y="1481328"/>
            <a:ext cx="2487168" cy="2304288"/>
          </a:xfrm>
          <a:prstGeom prst="rect">
            <a:avLst/>
          </a:prstGeom>
          <a:noFill/>
          <a:ln/>
        </p:spPr>
        <p:txBody>
          <a:bodyPr wrap="square" lIns="0" tIns="0" rIns="0" bIns="0" rtlCol="0" anchor="t"/>
          <a:lstStyle/>
          <a:p>
            <a:pPr indent="0" marL="0">
              <a:buNone/>
            </a:pPr>
            <a:r>
              <a:rPr lang="en-US" sz="1000" dirty="0">
                <a:solidFill>
                  <a:srgbClr val="1A1A2E"/>
                </a:solidFill>
              </a:rPr>
              <a:t>Banks operate with extreme leverage — accepting deposits (liabilities) to fund loans (assets). A small fall in asset values can wipe out equity entirely, making deposits unrecoverable and triggering bank runs.</a:t>
            </a:r>
            <a:endParaRPr lang="en-US" sz="1000" dirty="0"/>
          </a:p>
        </p:txBody>
      </p:sp>
      <p:sp>
        <p:nvSpPr>
          <p:cNvPr id="12" name="Shape 9"/>
          <p:cNvSpPr/>
          <p:nvPr/>
        </p:nvSpPr>
        <p:spPr>
          <a:xfrm>
            <a:off x="3136392" y="777240"/>
            <a:ext cx="2743200" cy="31089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0"/>
          <p:cNvSpPr/>
          <p:nvPr/>
        </p:nvSpPr>
        <p:spPr>
          <a:xfrm>
            <a:off x="3136392" y="777240"/>
            <a:ext cx="2743200" cy="640080"/>
          </a:xfrm>
          <a:prstGeom prst="rect">
            <a:avLst/>
          </a:prstGeom>
          <a:solidFill>
            <a:srgbClr val="1B3A6B"/>
          </a:solidFill>
          <a:ln/>
        </p:spPr>
      </p:sp>
      <p:sp>
        <p:nvSpPr>
          <p:cNvPr id="14" name="Shape 11"/>
          <p:cNvSpPr/>
          <p:nvPr/>
        </p:nvSpPr>
        <p:spPr>
          <a:xfrm>
            <a:off x="3227832" y="841248"/>
            <a:ext cx="512064" cy="512064"/>
          </a:xfrm>
          <a:prstGeom prst="ellipse">
            <a:avLst/>
          </a:prstGeom>
          <a:solidFill>
            <a:srgbClr val="1B3A6B"/>
          </a:solidFill>
          <a:ln w="12700">
            <a:solidFill>
              <a:srgbClr val="1B3A6B"/>
            </a:solidFill>
            <a:prstDash val="solid"/>
          </a:ln>
        </p:spPr>
      </p:sp>
      <p:pic>
        <p:nvPicPr>
          <p:cNvPr id="15" name="Image 1" descr="preencoded.png">    </p:cNvPr>
          <p:cNvPicPr>
            <a:picLocks noChangeAspect="1"/>
          </p:cNvPicPr>
          <p:nvPr/>
        </p:nvPicPr>
        <p:blipFill>
          <a:blip r:embed="rId2"/>
          <a:stretch>
            <a:fillRect/>
          </a:stretch>
        </p:blipFill>
        <p:spPr>
          <a:xfrm>
            <a:off x="3330245" y="943661"/>
            <a:ext cx="307238" cy="307238"/>
          </a:xfrm>
          <a:prstGeom prst="rect">
            <a:avLst/>
          </a:prstGeom>
        </p:spPr>
      </p:pic>
      <p:sp>
        <p:nvSpPr>
          <p:cNvPr id="16" name="Text 12"/>
          <p:cNvSpPr/>
          <p:nvPr/>
        </p:nvSpPr>
        <p:spPr>
          <a:xfrm>
            <a:off x="3813048" y="822960"/>
            <a:ext cx="1993392" cy="512064"/>
          </a:xfrm>
          <a:prstGeom prst="rect">
            <a:avLst/>
          </a:prstGeom>
          <a:noFill/>
          <a:ln/>
        </p:spPr>
        <p:txBody>
          <a:bodyPr wrap="square" lIns="0" tIns="0" rIns="0" bIns="0" rtlCol="0" anchor="ctr"/>
          <a:lstStyle/>
          <a:p>
            <a:pPr indent="0" marL="0">
              <a:buNone/>
            </a:pPr>
            <a:r>
              <a:rPr lang="en-US" sz="1100" b="1" dirty="0">
                <a:solidFill>
                  <a:srgbClr val="FFFFFF"/>
                </a:solidFill>
              </a:rPr>
              <a:t>The Systemic Risk</a:t>
            </a:r>
            <a:endParaRPr lang="en-US" sz="1100" dirty="0"/>
          </a:p>
        </p:txBody>
      </p:sp>
      <p:sp>
        <p:nvSpPr>
          <p:cNvPr id="17" name="Text 13"/>
          <p:cNvSpPr/>
          <p:nvPr/>
        </p:nvSpPr>
        <p:spPr>
          <a:xfrm>
            <a:off x="3264408" y="1481328"/>
            <a:ext cx="2487168" cy="2304288"/>
          </a:xfrm>
          <a:prstGeom prst="rect">
            <a:avLst/>
          </a:prstGeom>
          <a:noFill/>
          <a:ln/>
        </p:spPr>
        <p:txBody>
          <a:bodyPr wrap="square" lIns="0" tIns="0" rIns="0" bIns="0" rtlCol="0" anchor="t"/>
          <a:lstStyle/>
          <a:p>
            <a:pPr indent="0" marL="0">
              <a:buNone/>
            </a:pPr>
            <a:r>
              <a:rPr lang="en-US" sz="1000" dirty="0">
                <a:solidFill>
                  <a:srgbClr val="1A1A2E"/>
                </a:solidFill>
              </a:rPr>
              <a:t>Banking crises are contagious. When one bank fails, counterparties lose money, credit dries up, and activity contracts. The 1930s Depression, Latin American crisis (1980s), and 2007–09 GFC are all examples.</a:t>
            </a:r>
            <a:endParaRPr lang="en-US" sz="1000" dirty="0"/>
          </a:p>
        </p:txBody>
      </p:sp>
      <p:sp>
        <p:nvSpPr>
          <p:cNvPr id="18" name="Shape 14"/>
          <p:cNvSpPr/>
          <p:nvPr/>
        </p:nvSpPr>
        <p:spPr>
          <a:xfrm>
            <a:off x="6016752" y="777240"/>
            <a:ext cx="2743200" cy="31089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5"/>
          <p:cNvSpPr/>
          <p:nvPr/>
        </p:nvSpPr>
        <p:spPr>
          <a:xfrm>
            <a:off x="6016752" y="777240"/>
            <a:ext cx="2743200" cy="640080"/>
          </a:xfrm>
          <a:prstGeom prst="rect">
            <a:avLst/>
          </a:prstGeom>
          <a:solidFill>
            <a:srgbClr val="C9A84C"/>
          </a:solidFill>
          <a:ln/>
        </p:spPr>
      </p:sp>
      <p:sp>
        <p:nvSpPr>
          <p:cNvPr id="20" name="Shape 16"/>
          <p:cNvSpPr/>
          <p:nvPr/>
        </p:nvSpPr>
        <p:spPr>
          <a:xfrm>
            <a:off x="6108192" y="841248"/>
            <a:ext cx="512064" cy="512064"/>
          </a:xfrm>
          <a:prstGeom prst="ellipse">
            <a:avLst/>
          </a:prstGeom>
          <a:solidFill>
            <a:srgbClr val="8B7000"/>
          </a:solidFill>
          <a:ln w="12700">
            <a:solidFill>
              <a:srgbClr val="8B7000"/>
            </a:solidFill>
            <a:prstDash val="solid"/>
          </a:ln>
        </p:spPr>
      </p:sp>
      <p:pic>
        <p:nvPicPr>
          <p:cNvPr id="21" name="Image 2" descr="preencoded.png">    </p:cNvPr>
          <p:cNvPicPr>
            <a:picLocks noChangeAspect="1"/>
          </p:cNvPicPr>
          <p:nvPr/>
        </p:nvPicPr>
        <p:blipFill>
          <a:blip r:embed="rId3"/>
          <a:stretch>
            <a:fillRect/>
          </a:stretch>
        </p:blipFill>
        <p:spPr>
          <a:xfrm>
            <a:off x="6210605" y="943661"/>
            <a:ext cx="307238" cy="307238"/>
          </a:xfrm>
          <a:prstGeom prst="rect">
            <a:avLst/>
          </a:prstGeom>
        </p:spPr>
      </p:pic>
      <p:sp>
        <p:nvSpPr>
          <p:cNvPr id="22" name="Text 17"/>
          <p:cNvSpPr/>
          <p:nvPr/>
        </p:nvSpPr>
        <p:spPr>
          <a:xfrm>
            <a:off x="6693408" y="822960"/>
            <a:ext cx="1993392" cy="512064"/>
          </a:xfrm>
          <a:prstGeom prst="rect">
            <a:avLst/>
          </a:prstGeom>
          <a:noFill/>
          <a:ln/>
        </p:spPr>
        <p:txBody>
          <a:bodyPr wrap="square" lIns="0" tIns="0" rIns="0" bIns="0" rtlCol="0" anchor="ctr"/>
          <a:lstStyle/>
          <a:p>
            <a:pPr indent="0" marL="0">
              <a:buNone/>
            </a:pPr>
            <a:r>
              <a:rPr lang="en-US" sz="1100" b="1" dirty="0">
                <a:solidFill>
                  <a:srgbClr val="FFFFFF"/>
                </a:solidFill>
              </a:rPr>
              <a:t>The Regulatory Response</a:t>
            </a:r>
            <a:endParaRPr lang="en-US" sz="1100" dirty="0"/>
          </a:p>
        </p:txBody>
      </p:sp>
      <p:sp>
        <p:nvSpPr>
          <p:cNvPr id="23" name="Text 18"/>
          <p:cNvSpPr/>
          <p:nvPr/>
        </p:nvSpPr>
        <p:spPr>
          <a:xfrm>
            <a:off x="6144768" y="1481328"/>
            <a:ext cx="2487168" cy="2304288"/>
          </a:xfrm>
          <a:prstGeom prst="rect">
            <a:avLst/>
          </a:prstGeom>
          <a:noFill/>
          <a:ln/>
        </p:spPr>
        <p:txBody>
          <a:bodyPr wrap="square" lIns="0" tIns="0" rIns="0" bIns="0" rtlCol="0" anchor="t"/>
          <a:lstStyle/>
          <a:p>
            <a:pPr indent="0" marL="0">
              <a:buNone/>
            </a:pPr>
            <a:r>
              <a:rPr lang="en-US" sz="1000" dirty="0">
                <a:solidFill>
                  <a:srgbClr val="1A1A2E"/>
                </a:solidFill>
              </a:rPr>
              <a:t>Capital requirements force banks to fund a minimum proportion of their assets with equity — money that absorbs losses before depositors are affected. Basel provides the international standard for how much capital banks must hold.</a:t>
            </a:r>
            <a:endParaRPr lang="en-US" sz="1000" dirty="0"/>
          </a:p>
        </p:txBody>
      </p:sp>
      <p:sp>
        <p:nvSpPr>
          <p:cNvPr id="24" name="Shape 19"/>
          <p:cNvSpPr/>
          <p:nvPr/>
        </p:nvSpPr>
        <p:spPr>
          <a:xfrm>
            <a:off x="256032" y="3977640"/>
            <a:ext cx="8631936" cy="548640"/>
          </a:xfrm>
          <a:prstGeom prst="rect">
            <a:avLst/>
          </a:prstGeom>
          <a:solidFill>
            <a:srgbClr val="1B3A6B"/>
          </a:solidFill>
          <a:ln/>
        </p:spPr>
      </p:sp>
      <p:sp>
        <p:nvSpPr>
          <p:cNvPr id="25" name="Text 20"/>
          <p:cNvSpPr/>
          <p:nvPr/>
        </p:nvSpPr>
        <p:spPr>
          <a:xfrm>
            <a:off x="365760" y="3986784"/>
            <a:ext cx="8412480" cy="219456"/>
          </a:xfrm>
          <a:prstGeom prst="rect">
            <a:avLst/>
          </a:prstGeom>
          <a:noFill/>
          <a:ln/>
        </p:spPr>
        <p:txBody>
          <a:bodyPr wrap="square" lIns="0" tIns="0" rIns="0" bIns="0" rtlCol="0" anchor="ctr"/>
          <a:lstStyle/>
          <a:p>
            <a:pPr algn="ctr" indent="0" marL="0">
              <a:buNone/>
            </a:pPr>
            <a:r>
              <a:rPr lang="en-US" sz="850" b="1" dirty="0">
                <a:solidFill>
                  <a:srgbClr val="C9A84C"/>
                </a:solidFill>
              </a:rPr>
              <a:t>ILLUSTRATIVE BANK BALANCE SHEET — WHY SMALL LOSSES ARE CATASTROPHIC</a:t>
            </a:r>
            <a:endParaRPr lang="en-US" sz="850" dirty="0"/>
          </a:p>
        </p:txBody>
      </p:sp>
      <p:sp>
        <p:nvSpPr>
          <p:cNvPr id="26" name="Text 21"/>
          <p:cNvSpPr/>
          <p:nvPr/>
        </p:nvSpPr>
        <p:spPr>
          <a:xfrm>
            <a:off x="365760" y="4197096"/>
            <a:ext cx="8412480" cy="274320"/>
          </a:xfrm>
          <a:prstGeom prst="rect">
            <a:avLst/>
          </a:prstGeom>
          <a:noFill/>
          <a:ln/>
        </p:spPr>
        <p:txBody>
          <a:bodyPr wrap="square" lIns="0" tIns="0" rIns="0" bIns="0" rtlCol="0" anchor="ctr"/>
          <a:lstStyle/>
          <a:p>
            <a:pPr indent="0" marL="0">
              <a:buNone/>
            </a:pPr>
            <a:r>
              <a:rPr lang="en-US" sz="950" dirty="0">
                <a:solidFill>
                  <a:srgbClr val="D6EAF8"/>
                </a:solidFill>
              </a:rPr>
              <a:t>Assets: $100  |  </a:t>
            </a:r>
            <a:pPr indent="0" marL="0">
              <a:buNone/>
            </a:pPr>
            <a:r>
              <a:rPr lang="en-US" sz="950" dirty="0">
                <a:solidFill>
                  <a:srgbClr val="D6EAF8"/>
                </a:solidFill>
              </a:rPr>
              <a:t>Deposits: $96  |  </a:t>
            </a:r>
            <a:pPr indent="0" marL="0">
              <a:buNone/>
            </a:pPr>
            <a:r>
              <a:rPr lang="en-US" sz="950" b="1" dirty="0">
                <a:solidFill>
                  <a:srgbClr val="C9A84C"/>
                </a:solidFill>
              </a:rPr>
              <a:t>Equity: $4  </a:t>
            </a:r>
            <a:pPr indent="0" marL="0">
              <a:buNone/>
            </a:pPr>
            <a:r>
              <a:rPr lang="en-US" sz="950" i="1" dirty="0">
                <a:solidFill>
                  <a:srgbClr val="8899AA"/>
                </a:solidFill>
              </a:rPr>
              <a:t>  →  Only a 4% fall in asset values wipes out ALL equity. This is why capital ratios matter.</a:t>
            </a:r>
            <a:endParaRPr lang="en-US" sz="950" dirty="0"/>
          </a:p>
        </p:txBody>
      </p:sp>
      <p:sp>
        <p:nvSpPr>
          <p:cNvPr id="27" name="Shape 22"/>
          <p:cNvSpPr/>
          <p:nvPr/>
        </p:nvSpPr>
        <p:spPr>
          <a:xfrm>
            <a:off x="365760" y="4645152"/>
            <a:ext cx="8412480" cy="594360"/>
          </a:xfrm>
          <a:prstGeom prst="rect">
            <a:avLst/>
          </a:prstGeom>
          <a:solidFill>
            <a:srgbClr val="D6EAF8"/>
          </a:solidFill>
          <a:ln/>
        </p:spPr>
      </p:sp>
      <p:sp>
        <p:nvSpPr>
          <p:cNvPr id="28" name="Shape 23"/>
          <p:cNvSpPr/>
          <p:nvPr/>
        </p:nvSpPr>
        <p:spPr>
          <a:xfrm>
            <a:off x="365760" y="4645152"/>
            <a:ext cx="1005840" cy="594360"/>
          </a:xfrm>
          <a:prstGeom prst="rect">
            <a:avLst/>
          </a:prstGeom>
          <a:solidFill>
            <a:srgbClr val="0E6B8A"/>
          </a:solidFill>
          <a:ln/>
        </p:spPr>
      </p:sp>
      <p:sp>
        <p:nvSpPr>
          <p:cNvPr id="29" name="Text 24"/>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BCBS MISSION</a:t>
            </a:r>
            <a:endParaRPr lang="en-US" sz="900" dirty="0"/>
          </a:p>
        </p:txBody>
      </p:sp>
      <p:sp>
        <p:nvSpPr>
          <p:cNvPr id="30" name="Text 25"/>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Enhance financial stability by improving the quality of banking supervision globally. Founded 1974 — triggered by Bankhaus Herstatt's failure which left counterparties with unrecoverable FX settlements.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Risk Management Concepts</a:t>
            </a:r>
            <a:endParaRPr lang="en-US" sz="900" dirty="0"/>
          </a:p>
        </p:txBody>
      </p:sp>
      <p:sp>
        <p:nvSpPr>
          <p:cNvPr id="4" name="Shape 2"/>
          <p:cNvSpPr/>
          <p:nvPr/>
        </p:nvSpPr>
        <p:spPr>
          <a:xfrm>
            <a:off x="0" y="0"/>
            <a:ext cx="9144000" cy="658368"/>
          </a:xfrm>
          <a:prstGeom prst="rect">
            <a:avLst/>
          </a:prstGeom>
          <a:solidFill>
            <a:srgbClr val="0E6B8A"/>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Risk Management: Limits, Exposure &amp; Capital</a:t>
            </a:r>
            <a:endParaRPr lang="en-US" sz="2200" dirty="0"/>
          </a:p>
        </p:txBody>
      </p:sp>
      <p:sp>
        <p:nvSpPr>
          <p:cNvPr id="6" name="Shape 4"/>
          <p:cNvSpPr/>
          <p:nvPr/>
        </p:nvSpPr>
        <p:spPr>
          <a:xfrm>
            <a:off x="256032" y="777240"/>
            <a:ext cx="2743200" cy="40050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7" name="Shape 5"/>
          <p:cNvSpPr/>
          <p:nvPr/>
        </p:nvSpPr>
        <p:spPr>
          <a:xfrm>
            <a:off x="256032" y="777240"/>
            <a:ext cx="2743200" cy="621792"/>
          </a:xfrm>
          <a:prstGeom prst="rect">
            <a:avLst/>
          </a:prstGeom>
          <a:solidFill>
            <a:srgbClr val="1B3A6B"/>
          </a:solidFill>
          <a:ln/>
        </p:spPr>
      </p:sp>
      <p:sp>
        <p:nvSpPr>
          <p:cNvPr id="8" name="Shape 6"/>
          <p:cNvSpPr/>
          <p:nvPr/>
        </p:nvSpPr>
        <p:spPr>
          <a:xfrm>
            <a:off x="347472" y="841248"/>
            <a:ext cx="493776" cy="493776"/>
          </a:xfrm>
          <a:prstGeom prst="ellipse">
            <a:avLst/>
          </a:prstGeom>
          <a:solidFill>
            <a:srgbClr val="1B3A6B"/>
          </a:solidFill>
          <a:ln w="12700">
            <a:solidFill>
              <a:srgbClr val="1B3A6B"/>
            </a:solidFill>
            <a:prstDash val="solid"/>
          </a:ln>
        </p:spPr>
      </p:sp>
      <p:pic>
        <p:nvPicPr>
          <p:cNvPr id="9" name="Image 0" descr="preencoded.png">    </p:cNvPr>
          <p:cNvPicPr>
            <a:picLocks noChangeAspect="1"/>
          </p:cNvPicPr>
          <p:nvPr/>
        </p:nvPicPr>
        <p:blipFill>
          <a:blip r:embed="rId1"/>
          <a:stretch>
            <a:fillRect/>
          </a:stretch>
        </p:blipFill>
        <p:spPr>
          <a:xfrm>
            <a:off x="446227" y="940003"/>
            <a:ext cx="296266" cy="296266"/>
          </a:xfrm>
          <a:prstGeom prst="rect">
            <a:avLst/>
          </a:prstGeom>
        </p:spPr>
      </p:pic>
      <p:sp>
        <p:nvSpPr>
          <p:cNvPr id="10" name="Text 7"/>
          <p:cNvSpPr/>
          <p:nvPr/>
        </p:nvSpPr>
        <p:spPr>
          <a:xfrm>
            <a:off x="914400" y="822960"/>
            <a:ext cx="2011680" cy="512064"/>
          </a:xfrm>
          <a:prstGeom prst="rect">
            <a:avLst/>
          </a:prstGeom>
          <a:noFill/>
          <a:ln/>
        </p:spPr>
        <p:txBody>
          <a:bodyPr wrap="square" lIns="0" tIns="0" rIns="0" bIns="0" rtlCol="0" anchor="ctr"/>
          <a:lstStyle/>
          <a:p>
            <a:pPr indent="0" marL="0">
              <a:buNone/>
            </a:pPr>
            <a:r>
              <a:rPr lang="en-US" sz="1200" b="1" dirty="0">
                <a:solidFill>
                  <a:srgbClr val="FFFFFF"/>
                </a:solidFill>
              </a:rPr>
              <a:t>Risk Limit</a:t>
            </a:r>
            <a:endParaRPr lang="en-US" sz="1200" dirty="0"/>
          </a:p>
        </p:txBody>
      </p:sp>
      <p:sp>
        <p:nvSpPr>
          <p:cNvPr id="11" name="Text 8"/>
          <p:cNvSpPr/>
          <p:nvPr/>
        </p:nvSpPr>
        <p:spPr>
          <a:xfrm>
            <a:off x="365760" y="1463040"/>
            <a:ext cx="2523744" cy="3246120"/>
          </a:xfrm>
          <a:prstGeom prst="rect">
            <a:avLst/>
          </a:prstGeom>
          <a:noFill/>
          <a:ln/>
        </p:spPr>
        <p:txBody>
          <a:bodyPr wrap="square" lIns="0" tIns="0" rIns="0" bIns="0" rtlCol="0" anchor="t"/>
          <a:lstStyle/>
          <a:p>
            <a:pPr indent="0" marL="0">
              <a:buNone/>
            </a:pPr>
            <a:r>
              <a:rPr lang="en-US" sz="920" dirty="0">
                <a:solidFill>
                  <a:srgbClr val="1A1A2E"/>
                </a:solidFill>
              </a:rPr>
              <a:t>A risk limit is the maximum level of risk a bank is willing to accept — set in advance by senior management or the Board.</a:t>
            </a:r>
            <a:endParaRPr lang="en-US" sz="920" dirty="0"/>
          </a:p>
          <a:p>
            <a:pPr indent="0" marL="0">
              <a:buNone/>
            </a:pPr>
            <a:endParaRPr lang="en-US" sz="920" dirty="0"/>
          </a:p>
          <a:p>
            <a:pPr indent="0" marL="0">
              <a:buNone/>
            </a:pPr>
            <a:r>
              <a:rPr lang="en-US" sz="920" dirty="0">
                <a:solidFill>
                  <a:srgbClr val="1A1A2E"/>
                </a:solidFill>
              </a:rPr>
              <a:t>Limits are typically expressed as:</a:t>
            </a:r>
            <a:endParaRPr lang="en-US" sz="920" dirty="0"/>
          </a:p>
          <a:p>
            <a:pPr indent="0" marL="0">
              <a:buNone/>
            </a:pPr>
            <a:r>
              <a:rPr lang="en-US" sz="920" dirty="0">
                <a:solidFill>
                  <a:srgbClr val="1A1A2E"/>
                </a:solidFill>
              </a:rPr>
              <a:t>• Max notional exposure (e.g. max $50m to any one counterparty)</a:t>
            </a:r>
            <a:endParaRPr lang="en-US" sz="920" dirty="0"/>
          </a:p>
          <a:p>
            <a:pPr indent="0" marL="0">
              <a:buNone/>
            </a:pPr>
            <a:r>
              <a:rPr lang="en-US" sz="920" dirty="0">
                <a:solidFill>
                  <a:srgbClr val="1A1A2E"/>
                </a:solidFill>
              </a:rPr>
              <a:t>• Maximum VaR or Expected Shortfall</a:t>
            </a:r>
            <a:endParaRPr lang="en-US" sz="920" dirty="0"/>
          </a:p>
          <a:p>
            <a:pPr indent="0" marL="0">
              <a:buNone/>
            </a:pPr>
            <a:r>
              <a:rPr lang="en-US" sz="920" dirty="0">
                <a:solidFill>
                  <a:srgbClr val="1A1A2E"/>
                </a:solidFill>
              </a:rPr>
              <a:t>• Maximum PV01 (1bp rate sensitivity)</a:t>
            </a:r>
            <a:endParaRPr lang="en-US" sz="920" dirty="0"/>
          </a:p>
          <a:p>
            <a:pPr indent="0" marL="0">
              <a:buNone/>
            </a:pPr>
            <a:r>
              <a:rPr lang="en-US" sz="920" dirty="0">
                <a:solidFill>
                  <a:srgbClr val="1A1A2E"/>
                </a:solidFill>
              </a:rPr>
              <a:t>• Maximum DV01 across a rate curve</a:t>
            </a:r>
            <a:endParaRPr lang="en-US" sz="920" dirty="0"/>
          </a:p>
          <a:p>
            <a:pPr indent="0" marL="0">
              <a:buNone/>
            </a:pPr>
            <a:endParaRPr lang="en-US" sz="920" dirty="0"/>
          </a:p>
          <a:p>
            <a:pPr indent="0" marL="0">
              <a:buNone/>
            </a:pPr>
            <a:r>
              <a:rPr lang="en-US" sz="920" dirty="0">
                <a:solidFill>
                  <a:srgbClr val="1A1A2E"/>
                </a:solidFill>
              </a:rPr>
              <a:t>If a trader breaches a limit they must reduce the position — regardless of whether they think the trade is profitable. Limits protect the bank, not the trade.</a:t>
            </a:r>
            <a:endParaRPr lang="en-US" sz="920" dirty="0"/>
          </a:p>
        </p:txBody>
      </p:sp>
      <p:sp>
        <p:nvSpPr>
          <p:cNvPr id="12" name="Shape 9"/>
          <p:cNvSpPr/>
          <p:nvPr/>
        </p:nvSpPr>
        <p:spPr>
          <a:xfrm>
            <a:off x="3136392" y="777240"/>
            <a:ext cx="2743200" cy="40050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0"/>
          <p:cNvSpPr/>
          <p:nvPr/>
        </p:nvSpPr>
        <p:spPr>
          <a:xfrm>
            <a:off x="3136392" y="777240"/>
            <a:ext cx="2743200" cy="621792"/>
          </a:xfrm>
          <a:prstGeom prst="rect">
            <a:avLst/>
          </a:prstGeom>
          <a:solidFill>
            <a:srgbClr val="0E6B8A"/>
          </a:solidFill>
          <a:ln/>
        </p:spPr>
      </p:sp>
      <p:sp>
        <p:nvSpPr>
          <p:cNvPr id="14" name="Shape 11"/>
          <p:cNvSpPr/>
          <p:nvPr/>
        </p:nvSpPr>
        <p:spPr>
          <a:xfrm>
            <a:off x="3227832" y="841248"/>
            <a:ext cx="493776" cy="493776"/>
          </a:xfrm>
          <a:prstGeom prst="ellipse">
            <a:avLst/>
          </a:prstGeom>
          <a:solidFill>
            <a:srgbClr val="0E6B8A"/>
          </a:solidFill>
          <a:ln w="12700">
            <a:solidFill>
              <a:srgbClr val="0E6B8A"/>
            </a:solidFill>
            <a:prstDash val="solid"/>
          </a:ln>
        </p:spPr>
      </p:sp>
      <p:pic>
        <p:nvPicPr>
          <p:cNvPr id="15" name="Image 1" descr="preencoded.png">    </p:cNvPr>
          <p:cNvPicPr>
            <a:picLocks noChangeAspect="1"/>
          </p:cNvPicPr>
          <p:nvPr/>
        </p:nvPicPr>
        <p:blipFill>
          <a:blip r:embed="rId2"/>
          <a:stretch>
            <a:fillRect/>
          </a:stretch>
        </p:blipFill>
        <p:spPr>
          <a:xfrm>
            <a:off x="3326587" y="940003"/>
            <a:ext cx="296266" cy="296266"/>
          </a:xfrm>
          <a:prstGeom prst="rect">
            <a:avLst/>
          </a:prstGeom>
        </p:spPr>
      </p:pic>
      <p:sp>
        <p:nvSpPr>
          <p:cNvPr id="16" name="Text 12"/>
          <p:cNvSpPr/>
          <p:nvPr/>
        </p:nvSpPr>
        <p:spPr>
          <a:xfrm>
            <a:off x="3794760" y="822960"/>
            <a:ext cx="2011680" cy="512064"/>
          </a:xfrm>
          <a:prstGeom prst="rect">
            <a:avLst/>
          </a:prstGeom>
          <a:noFill/>
          <a:ln/>
        </p:spPr>
        <p:txBody>
          <a:bodyPr wrap="square" lIns="0" tIns="0" rIns="0" bIns="0" rtlCol="0" anchor="ctr"/>
          <a:lstStyle/>
          <a:p>
            <a:pPr indent="0" marL="0">
              <a:buNone/>
            </a:pPr>
            <a:r>
              <a:rPr lang="en-US" sz="1200" b="1" dirty="0">
                <a:solidFill>
                  <a:srgbClr val="FFFFFF"/>
                </a:solidFill>
              </a:rPr>
              <a:t>Actual Exposure</a:t>
            </a:r>
            <a:endParaRPr lang="en-US" sz="1200" dirty="0"/>
          </a:p>
        </p:txBody>
      </p:sp>
      <p:sp>
        <p:nvSpPr>
          <p:cNvPr id="17" name="Text 13"/>
          <p:cNvSpPr/>
          <p:nvPr/>
        </p:nvSpPr>
        <p:spPr>
          <a:xfrm>
            <a:off x="3246120" y="1463040"/>
            <a:ext cx="2523744" cy="3246120"/>
          </a:xfrm>
          <a:prstGeom prst="rect">
            <a:avLst/>
          </a:prstGeom>
          <a:noFill/>
          <a:ln/>
        </p:spPr>
        <p:txBody>
          <a:bodyPr wrap="square" lIns="0" tIns="0" rIns="0" bIns="0" rtlCol="0" anchor="t"/>
          <a:lstStyle/>
          <a:p>
            <a:pPr indent="0" marL="0">
              <a:buNone/>
            </a:pPr>
            <a:r>
              <a:rPr lang="en-US" sz="920" dirty="0">
                <a:solidFill>
                  <a:srgbClr val="1A1A2E"/>
                </a:solidFill>
              </a:rPr>
              <a:t>Exposure is the actual amount at risk at any given moment — what the bank would lose if a counterparty defaulted or markets moved adversely today.</a:t>
            </a:r>
            <a:endParaRPr lang="en-US" sz="920" dirty="0"/>
          </a:p>
          <a:p>
            <a:pPr indent="0" marL="0">
              <a:buNone/>
            </a:pPr>
            <a:endParaRPr lang="en-US" sz="920" dirty="0"/>
          </a:p>
          <a:p>
            <a:pPr indent="0" marL="0">
              <a:buNone/>
            </a:pPr>
            <a:r>
              <a:rPr lang="en-US" sz="920" dirty="0">
                <a:solidFill>
                  <a:srgbClr val="1A1A2E"/>
                </a:solidFill>
              </a:rPr>
              <a:t>For a loan: exposure = outstanding balance.</a:t>
            </a:r>
            <a:endParaRPr lang="en-US" sz="920" dirty="0"/>
          </a:p>
          <a:p>
            <a:pPr indent="0" marL="0">
              <a:buNone/>
            </a:pPr>
            <a:r>
              <a:rPr lang="en-US" sz="920" dirty="0">
                <a:solidFill>
                  <a:srgbClr val="1A1A2E"/>
                </a:solidFill>
              </a:rPr>
              <a:t>For a derivative: exposure = positive mark-to-market (what the counterparty owes you).</a:t>
            </a:r>
            <a:endParaRPr lang="en-US" sz="920" dirty="0"/>
          </a:p>
          <a:p>
            <a:pPr indent="0" marL="0">
              <a:buNone/>
            </a:pPr>
            <a:r>
              <a:rPr lang="en-US" sz="920" dirty="0">
                <a:solidFill>
                  <a:srgbClr val="1A1A2E"/>
                </a:solidFill>
              </a:rPr>
              <a:t>For market risk: exposure = sensitivity to market moves.</a:t>
            </a:r>
            <a:endParaRPr lang="en-US" sz="920" dirty="0"/>
          </a:p>
          <a:p>
            <a:pPr indent="0" marL="0">
              <a:buNone/>
            </a:pPr>
            <a:endParaRPr lang="en-US" sz="920" dirty="0"/>
          </a:p>
          <a:p>
            <a:pPr indent="0" marL="0">
              <a:buNone/>
            </a:pPr>
            <a:r>
              <a:rPr lang="en-US" sz="920" dirty="0">
                <a:solidFill>
                  <a:srgbClr val="1A1A2E"/>
                </a:solidFill>
              </a:rPr>
              <a:t>Exposure changes constantly. A trade can start with low exposure and grow significantly — this is why Potential Future Exposure (PFE) matters.</a:t>
            </a:r>
            <a:endParaRPr lang="en-US" sz="920" dirty="0"/>
          </a:p>
        </p:txBody>
      </p:sp>
      <p:sp>
        <p:nvSpPr>
          <p:cNvPr id="18" name="Shape 14"/>
          <p:cNvSpPr/>
          <p:nvPr/>
        </p:nvSpPr>
        <p:spPr>
          <a:xfrm>
            <a:off x="6016752" y="777240"/>
            <a:ext cx="2743200" cy="40050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5"/>
          <p:cNvSpPr/>
          <p:nvPr/>
        </p:nvSpPr>
        <p:spPr>
          <a:xfrm>
            <a:off x="6016752" y="777240"/>
            <a:ext cx="2743200" cy="621792"/>
          </a:xfrm>
          <a:prstGeom prst="rect">
            <a:avLst/>
          </a:prstGeom>
          <a:solidFill>
            <a:srgbClr val="C9A84C"/>
          </a:solidFill>
          <a:ln/>
        </p:spPr>
      </p:sp>
      <p:sp>
        <p:nvSpPr>
          <p:cNvPr id="20" name="Shape 16"/>
          <p:cNvSpPr/>
          <p:nvPr/>
        </p:nvSpPr>
        <p:spPr>
          <a:xfrm>
            <a:off x="6108192" y="841248"/>
            <a:ext cx="493776" cy="493776"/>
          </a:xfrm>
          <a:prstGeom prst="ellipse">
            <a:avLst/>
          </a:prstGeom>
          <a:solidFill>
            <a:srgbClr val="8B7000"/>
          </a:solidFill>
          <a:ln w="12700">
            <a:solidFill>
              <a:srgbClr val="8B7000"/>
            </a:solidFill>
            <a:prstDash val="solid"/>
          </a:ln>
        </p:spPr>
      </p:sp>
      <p:pic>
        <p:nvPicPr>
          <p:cNvPr id="21" name="Image 2" descr="preencoded.png">    </p:cNvPr>
          <p:cNvPicPr>
            <a:picLocks noChangeAspect="1"/>
          </p:cNvPicPr>
          <p:nvPr/>
        </p:nvPicPr>
        <p:blipFill>
          <a:blip r:embed="rId3"/>
          <a:stretch>
            <a:fillRect/>
          </a:stretch>
        </p:blipFill>
        <p:spPr>
          <a:xfrm>
            <a:off x="6206947" y="940003"/>
            <a:ext cx="296266" cy="296266"/>
          </a:xfrm>
          <a:prstGeom prst="rect">
            <a:avLst/>
          </a:prstGeom>
        </p:spPr>
      </p:pic>
      <p:sp>
        <p:nvSpPr>
          <p:cNvPr id="22" name="Text 17"/>
          <p:cNvSpPr/>
          <p:nvPr/>
        </p:nvSpPr>
        <p:spPr>
          <a:xfrm>
            <a:off x="6675120" y="822960"/>
            <a:ext cx="2011680" cy="512064"/>
          </a:xfrm>
          <a:prstGeom prst="rect">
            <a:avLst/>
          </a:prstGeom>
          <a:noFill/>
          <a:ln/>
        </p:spPr>
        <p:txBody>
          <a:bodyPr wrap="square" lIns="0" tIns="0" rIns="0" bIns="0" rtlCol="0" anchor="ctr"/>
          <a:lstStyle/>
          <a:p>
            <a:pPr indent="0" marL="0">
              <a:buNone/>
            </a:pPr>
            <a:r>
              <a:rPr lang="en-US" sz="1200" b="1" dirty="0">
                <a:solidFill>
                  <a:srgbClr val="FFFFFF"/>
                </a:solidFill>
              </a:rPr>
              <a:t>Capital as the Buffer</a:t>
            </a:r>
            <a:endParaRPr lang="en-US" sz="1200" dirty="0"/>
          </a:p>
        </p:txBody>
      </p:sp>
      <p:sp>
        <p:nvSpPr>
          <p:cNvPr id="23" name="Text 18"/>
          <p:cNvSpPr/>
          <p:nvPr/>
        </p:nvSpPr>
        <p:spPr>
          <a:xfrm>
            <a:off x="6126480" y="1463040"/>
            <a:ext cx="2523744" cy="3246120"/>
          </a:xfrm>
          <a:prstGeom prst="rect">
            <a:avLst/>
          </a:prstGeom>
          <a:noFill/>
          <a:ln/>
        </p:spPr>
        <p:txBody>
          <a:bodyPr wrap="square" lIns="0" tIns="0" rIns="0" bIns="0" rtlCol="0" anchor="t"/>
          <a:lstStyle/>
          <a:p>
            <a:pPr indent="0" marL="0">
              <a:buNone/>
            </a:pPr>
            <a:r>
              <a:rPr lang="en-US" sz="920" dirty="0">
                <a:solidFill>
                  <a:srgbClr val="1A1A2E"/>
                </a:solidFill>
              </a:rPr>
              <a:t>Capital protects the bank and ultimately depositors when losses occur.</a:t>
            </a:r>
            <a:endParaRPr lang="en-US" sz="920" dirty="0"/>
          </a:p>
          <a:p>
            <a:pPr indent="0" marL="0">
              <a:buNone/>
            </a:pPr>
            <a:endParaRPr lang="en-US" sz="920" dirty="0"/>
          </a:p>
          <a:p>
            <a:pPr indent="0" marL="0">
              <a:buNone/>
            </a:pPr>
            <a:r>
              <a:rPr lang="en-US" sz="920" dirty="0">
                <a:solidFill>
                  <a:srgbClr val="1A1A2E"/>
                </a:solidFill>
              </a:rPr>
              <a:t>Think of three layers:</a:t>
            </a:r>
            <a:endParaRPr lang="en-US" sz="920" dirty="0"/>
          </a:p>
          <a:p>
            <a:pPr indent="0" marL="0">
              <a:buNone/>
            </a:pPr>
            <a:r>
              <a:rPr lang="en-US" sz="920" dirty="0">
                <a:solidFill>
                  <a:srgbClr val="1A1A2E"/>
                </a:solidFill>
              </a:rPr>
              <a:t>• Provisions: cover expected losses (priced into lending rates)</a:t>
            </a:r>
            <a:endParaRPr lang="en-US" sz="920" dirty="0"/>
          </a:p>
          <a:p>
            <a:pPr indent="0" marL="0">
              <a:buNone/>
            </a:pPr>
            <a:r>
              <a:rPr lang="en-US" sz="920" dirty="0">
                <a:solidFill>
                  <a:srgbClr val="1A1A2E"/>
                </a:solidFill>
              </a:rPr>
              <a:t>• Capital: covers unexpected losses up to a severe stress level</a:t>
            </a:r>
            <a:endParaRPr lang="en-US" sz="920" dirty="0"/>
          </a:p>
          <a:p>
            <a:pPr indent="0" marL="0">
              <a:buNone/>
            </a:pPr>
            <a:r>
              <a:rPr lang="en-US" sz="920" dirty="0">
                <a:solidFill>
                  <a:srgbClr val="1A1A2E"/>
                </a:solidFill>
              </a:rPr>
              <a:t>• Resolution: for catastrophic losses beyond capital (bail-in, government support)</a:t>
            </a:r>
            <a:endParaRPr lang="en-US" sz="920" dirty="0"/>
          </a:p>
          <a:p>
            <a:pPr indent="0" marL="0">
              <a:buNone/>
            </a:pPr>
            <a:endParaRPr lang="en-US" sz="920" dirty="0"/>
          </a:p>
          <a:p>
            <a:pPr indent="0" marL="0">
              <a:buNone/>
            </a:pPr>
            <a:r>
              <a:rPr lang="en-US" sz="920" dirty="0">
                <a:solidFill>
                  <a:srgbClr val="1A1A2E"/>
                </a:solidFill>
              </a:rPr>
              <a:t>Basel sets the minimum capital banks must hold against each risk type and exposure. The more risk, the more capital required.</a:t>
            </a:r>
            <a:endParaRPr lang="en-US" sz="920" dirty="0"/>
          </a:p>
        </p:txBody>
      </p:sp>
      <p:sp>
        <p:nvSpPr>
          <p:cNvPr id="24" name="Shape 19"/>
          <p:cNvSpPr/>
          <p:nvPr/>
        </p:nvSpPr>
        <p:spPr>
          <a:xfrm>
            <a:off x="365760" y="4645152"/>
            <a:ext cx="8412480" cy="594360"/>
          </a:xfrm>
          <a:prstGeom prst="rect">
            <a:avLst/>
          </a:prstGeom>
          <a:solidFill>
            <a:srgbClr val="D6EAF8"/>
          </a:solidFill>
          <a:ln/>
        </p:spPr>
      </p:sp>
      <p:sp>
        <p:nvSpPr>
          <p:cNvPr id="25" name="Shape 20"/>
          <p:cNvSpPr/>
          <p:nvPr/>
        </p:nvSpPr>
        <p:spPr>
          <a:xfrm>
            <a:off x="365760" y="4645152"/>
            <a:ext cx="1005840" cy="594360"/>
          </a:xfrm>
          <a:prstGeom prst="rect">
            <a:avLst/>
          </a:prstGeom>
          <a:solidFill>
            <a:srgbClr val="0E6B8A"/>
          </a:solidFill>
          <a:ln/>
        </p:spPr>
      </p:sp>
      <p:sp>
        <p:nvSpPr>
          <p:cNvPr id="26" name="Text 21"/>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KEY POINT</a:t>
            </a:r>
            <a:endParaRPr lang="en-US" sz="900" dirty="0"/>
          </a:p>
        </p:txBody>
      </p:sp>
      <p:sp>
        <p:nvSpPr>
          <p:cNvPr id="27" name="Text 22"/>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Risk limits are set BEFORE trading begins. Capital is held to absorb losses AFTER they occur. Both are essential — limits prevent excessive risk-taking; capital ensures the bank survives when things go wrong despite the limits.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AAA vs BBB — Why Ratings Matter</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Why Counterparty Credit Quality Matters: AAA vs BBB</a:t>
            </a:r>
            <a:endParaRPr lang="en-US" sz="2200" dirty="0"/>
          </a:p>
        </p:txBody>
      </p:sp>
      <p:sp>
        <p:nvSpPr>
          <p:cNvPr id="6" name="Shape 4"/>
          <p:cNvSpPr/>
          <p:nvPr/>
        </p:nvSpPr>
        <p:spPr>
          <a:xfrm>
            <a:off x="274320" y="777240"/>
            <a:ext cx="8595360" cy="475488"/>
          </a:xfrm>
          <a:prstGeom prst="rect">
            <a:avLst/>
          </a:prstGeom>
          <a:solidFill>
            <a:srgbClr val="D6EAF8"/>
          </a:solidFill>
          <a:ln/>
        </p:spPr>
      </p:sp>
      <p:sp>
        <p:nvSpPr>
          <p:cNvPr id="7" name="Text 5"/>
          <p:cNvSpPr/>
          <p:nvPr/>
        </p:nvSpPr>
        <p:spPr>
          <a:xfrm>
            <a:off x="411480" y="777240"/>
            <a:ext cx="8321040" cy="475488"/>
          </a:xfrm>
          <a:prstGeom prst="rect">
            <a:avLst/>
          </a:prstGeom>
          <a:noFill/>
          <a:ln/>
        </p:spPr>
        <p:txBody>
          <a:bodyPr wrap="square" lIns="0" tIns="0" rIns="0" bIns="0" rtlCol="0" anchor="ctr"/>
          <a:lstStyle/>
          <a:p>
            <a:pPr indent="0" marL="0">
              <a:buNone/>
            </a:pPr>
            <a:r>
              <a:rPr lang="en-US" sz="1000" dirty="0">
                <a:solidFill>
                  <a:srgbClr val="1B3A6B"/>
                </a:solidFill>
              </a:rPr>
              <a:t>Same trade, same bank, same notional — but a very different counterparty. This comparison shows why Basel II's move to risk-sensitive capital was a genuine improvement over Basel I's flat buckets.</a:t>
            </a:r>
            <a:endParaRPr lang="en-US" sz="1000" dirty="0"/>
          </a:p>
        </p:txBody>
      </p:sp>
      <p:sp>
        <p:nvSpPr>
          <p:cNvPr id="8" name="Text 6"/>
          <p:cNvSpPr/>
          <p:nvPr/>
        </p:nvSpPr>
        <p:spPr>
          <a:xfrm>
            <a:off x="274320" y="1344168"/>
            <a:ext cx="8595360" cy="292608"/>
          </a:xfrm>
          <a:prstGeom prst="rect">
            <a:avLst/>
          </a:prstGeom>
          <a:noFill/>
          <a:ln/>
        </p:spPr>
        <p:txBody>
          <a:bodyPr wrap="square" lIns="0" tIns="0" rIns="0" bIns="0" rtlCol="0" anchor="ctr"/>
          <a:lstStyle/>
          <a:p>
            <a:pPr indent="0" marL="0">
              <a:buNone/>
            </a:pPr>
            <a:r>
              <a:rPr lang="en-US" sz="1100" b="1" dirty="0">
                <a:solidFill>
                  <a:srgbClr val="1B3A6B"/>
                </a:solidFill>
              </a:rPr>
              <a:t>Trade: 5-year Loan of $10,000,000 to a corporate borrower</a:t>
            </a:r>
            <a:endParaRPr lang="en-US" sz="1100" dirty="0"/>
          </a:p>
        </p:txBody>
      </p:sp>
      <p:sp>
        <p:nvSpPr>
          <p:cNvPr id="9" name="Shape 7"/>
          <p:cNvSpPr/>
          <p:nvPr/>
        </p:nvSpPr>
        <p:spPr>
          <a:xfrm>
            <a:off x="274320" y="1664208"/>
            <a:ext cx="2560320" cy="384048"/>
          </a:xfrm>
          <a:prstGeom prst="rect">
            <a:avLst/>
          </a:prstGeom>
          <a:solidFill>
            <a:srgbClr val="8899AA"/>
          </a:solidFill>
          <a:ln/>
        </p:spPr>
      </p:sp>
      <p:sp>
        <p:nvSpPr>
          <p:cNvPr id="10" name="Shape 8"/>
          <p:cNvSpPr/>
          <p:nvPr/>
        </p:nvSpPr>
        <p:spPr>
          <a:xfrm>
            <a:off x="2834640" y="1664208"/>
            <a:ext cx="2834640" cy="384048"/>
          </a:xfrm>
          <a:prstGeom prst="rect">
            <a:avLst/>
          </a:prstGeom>
          <a:solidFill>
            <a:srgbClr val="1A6B3A"/>
          </a:solidFill>
          <a:ln/>
        </p:spPr>
      </p:sp>
      <p:sp>
        <p:nvSpPr>
          <p:cNvPr id="11" name="Shape 9"/>
          <p:cNvSpPr/>
          <p:nvPr/>
        </p:nvSpPr>
        <p:spPr>
          <a:xfrm>
            <a:off x="5669280" y="1664208"/>
            <a:ext cx="2834640" cy="384048"/>
          </a:xfrm>
          <a:prstGeom prst="rect">
            <a:avLst/>
          </a:prstGeom>
          <a:solidFill>
            <a:srgbClr val="D4770A"/>
          </a:solidFill>
          <a:ln/>
        </p:spPr>
      </p:sp>
      <p:sp>
        <p:nvSpPr>
          <p:cNvPr id="12" name="Text 10"/>
          <p:cNvSpPr/>
          <p:nvPr/>
        </p:nvSpPr>
        <p:spPr>
          <a:xfrm>
            <a:off x="274320" y="1664208"/>
            <a:ext cx="2560320" cy="384048"/>
          </a:xfrm>
          <a:prstGeom prst="rect">
            <a:avLst/>
          </a:prstGeom>
          <a:noFill/>
          <a:ln/>
        </p:spPr>
        <p:txBody>
          <a:bodyPr wrap="square" lIns="0" tIns="0" rIns="0" bIns="0" rtlCol="0" anchor="ctr"/>
          <a:lstStyle/>
          <a:p>
            <a:pPr algn="ctr" indent="0" marL="0">
              <a:buNone/>
            </a:pPr>
            <a:r>
              <a:rPr lang="en-US" sz="1000" b="1" dirty="0">
                <a:solidFill>
                  <a:srgbClr val="FFFFFF"/>
                </a:solidFill>
              </a:rPr>
              <a:t>Parameter</a:t>
            </a:r>
            <a:endParaRPr lang="en-US" sz="1000" dirty="0"/>
          </a:p>
        </p:txBody>
      </p:sp>
      <p:sp>
        <p:nvSpPr>
          <p:cNvPr id="13" name="Text 11"/>
          <p:cNvSpPr/>
          <p:nvPr/>
        </p:nvSpPr>
        <p:spPr>
          <a:xfrm>
            <a:off x="2834640" y="1664208"/>
            <a:ext cx="2834640" cy="384048"/>
          </a:xfrm>
          <a:prstGeom prst="rect">
            <a:avLst/>
          </a:prstGeom>
          <a:noFill/>
          <a:ln/>
        </p:spPr>
        <p:txBody>
          <a:bodyPr wrap="square" lIns="0" tIns="0" rIns="0" bIns="0" rtlCol="0" anchor="ctr"/>
          <a:lstStyle/>
          <a:p>
            <a:pPr algn="ctr" indent="0" marL="0">
              <a:buNone/>
            </a:pPr>
            <a:r>
              <a:rPr lang="en-US" sz="1000" b="1" dirty="0">
                <a:solidFill>
                  <a:srgbClr val="FFFFFF"/>
                </a:solidFill>
              </a:rPr>
              <a:t>AAA-Rated Corporate</a:t>
            </a:r>
            <a:endParaRPr lang="en-US" sz="1000" dirty="0"/>
          </a:p>
        </p:txBody>
      </p:sp>
      <p:sp>
        <p:nvSpPr>
          <p:cNvPr id="14" name="Text 12"/>
          <p:cNvSpPr/>
          <p:nvPr/>
        </p:nvSpPr>
        <p:spPr>
          <a:xfrm>
            <a:off x="5669280" y="1664208"/>
            <a:ext cx="2834640" cy="384048"/>
          </a:xfrm>
          <a:prstGeom prst="rect">
            <a:avLst/>
          </a:prstGeom>
          <a:noFill/>
          <a:ln/>
        </p:spPr>
        <p:txBody>
          <a:bodyPr wrap="square" lIns="0" tIns="0" rIns="0" bIns="0" rtlCol="0" anchor="ctr"/>
          <a:lstStyle/>
          <a:p>
            <a:pPr algn="ctr" indent="0" marL="0">
              <a:buNone/>
            </a:pPr>
            <a:r>
              <a:rPr lang="en-US" sz="1000" b="1" dirty="0">
                <a:solidFill>
                  <a:srgbClr val="FFFFFF"/>
                </a:solidFill>
              </a:rPr>
              <a:t>BBB-Rated Corporate</a:t>
            </a:r>
            <a:endParaRPr lang="en-US" sz="1000" dirty="0"/>
          </a:p>
        </p:txBody>
      </p:sp>
      <p:sp>
        <p:nvSpPr>
          <p:cNvPr id="15" name="Shape 13"/>
          <p:cNvSpPr/>
          <p:nvPr/>
        </p:nvSpPr>
        <p:spPr>
          <a:xfrm>
            <a:off x="274320" y="2048256"/>
            <a:ext cx="2560320" cy="301752"/>
          </a:xfrm>
          <a:prstGeom prst="rect">
            <a:avLst/>
          </a:prstGeom>
          <a:solidFill>
            <a:srgbClr val="FFFFFF"/>
          </a:solidFill>
          <a:ln/>
        </p:spPr>
      </p:sp>
      <p:sp>
        <p:nvSpPr>
          <p:cNvPr id="16" name="Shape 14"/>
          <p:cNvSpPr/>
          <p:nvPr/>
        </p:nvSpPr>
        <p:spPr>
          <a:xfrm>
            <a:off x="2834640" y="2048256"/>
            <a:ext cx="2834640" cy="301752"/>
          </a:xfrm>
          <a:prstGeom prst="rect">
            <a:avLst/>
          </a:prstGeom>
          <a:solidFill>
            <a:srgbClr val="FFFFFF"/>
          </a:solidFill>
          <a:ln/>
        </p:spPr>
      </p:sp>
      <p:sp>
        <p:nvSpPr>
          <p:cNvPr id="17" name="Shape 15"/>
          <p:cNvSpPr/>
          <p:nvPr/>
        </p:nvSpPr>
        <p:spPr>
          <a:xfrm>
            <a:off x="5669280" y="2048256"/>
            <a:ext cx="2834640" cy="301752"/>
          </a:xfrm>
          <a:prstGeom prst="rect">
            <a:avLst/>
          </a:prstGeom>
          <a:solidFill>
            <a:srgbClr val="FFFFFF"/>
          </a:solidFill>
          <a:ln/>
        </p:spPr>
      </p:sp>
      <p:sp>
        <p:nvSpPr>
          <p:cNvPr id="18" name="Text 16"/>
          <p:cNvSpPr/>
          <p:nvPr/>
        </p:nvSpPr>
        <p:spPr>
          <a:xfrm>
            <a:off x="347472" y="2048256"/>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Credit Rating</a:t>
            </a:r>
            <a:endParaRPr lang="en-US" sz="900" dirty="0"/>
          </a:p>
        </p:txBody>
      </p:sp>
      <p:sp>
        <p:nvSpPr>
          <p:cNvPr id="19" name="Text 17"/>
          <p:cNvSpPr/>
          <p:nvPr/>
        </p:nvSpPr>
        <p:spPr>
          <a:xfrm>
            <a:off x="2907792" y="2048256"/>
            <a:ext cx="2743200" cy="301752"/>
          </a:xfrm>
          <a:prstGeom prst="rect">
            <a:avLst/>
          </a:prstGeom>
          <a:noFill/>
          <a:ln/>
        </p:spPr>
        <p:txBody>
          <a:bodyPr wrap="square" lIns="0" tIns="0" rIns="0" bIns="0" rtlCol="0" anchor="ctr"/>
          <a:lstStyle/>
          <a:p>
            <a:pPr indent="0" marL="0">
              <a:buNone/>
            </a:pPr>
            <a:r>
              <a:rPr lang="en-US" sz="900" dirty="0">
                <a:solidFill>
                  <a:srgbClr val="1A6B3A"/>
                </a:solidFill>
              </a:rPr>
              <a:t>AAA (Highest quality)</a:t>
            </a:r>
            <a:endParaRPr lang="en-US" sz="900" dirty="0"/>
          </a:p>
        </p:txBody>
      </p:sp>
      <p:sp>
        <p:nvSpPr>
          <p:cNvPr id="20" name="Text 18"/>
          <p:cNvSpPr/>
          <p:nvPr/>
        </p:nvSpPr>
        <p:spPr>
          <a:xfrm>
            <a:off x="5742432" y="2048256"/>
            <a:ext cx="2743200" cy="301752"/>
          </a:xfrm>
          <a:prstGeom prst="rect">
            <a:avLst/>
          </a:prstGeom>
          <a:noFill/>
          <a:ln/>
        </p:spPr>
        <p:txBody>
          <a:bodyPr wrap="square" lIns="0" tIns="0" rIns="0" bIns="0" rtlCol="0" anchor="ctr"/>
          <a:lstStyle/>
          <a:p>
            <a:pPr indent="0" marL="0">
              <a:buNone/>
            </a:pPr>
            <a:r>
              <a:rPr lang="en-US" sz="900" dirty="0">
                <a:solidFill>
                  <a:srgbClr val="1A1A2E"/>
                </a:solidFill>
              </a:rPr>
              <a:t>BBB (Investment grade, lowest tier)</a:t>
            </a:r>
            <a:endParaRPr lang="en-US" sz="900" dirty="0"/>
          </a:p>
        </p:txBody>
      </p:sp>
      <p:sp>
        <p:nvSpPr>
          <p:cNvPr id="21" name="Shape 19"/>
          <p:cNvSpPr/>
          <p:nvPr/>
        </p:nvSpPr>
        <p:spPr>
          <a:xfrm>
            <a:off x="274320" y="2350008"/>
            <a:ext cx="2560320" cy="301752"/>
          </a:xfrm>
          <a:prstGeom prst="rect">
            <a:avLst/>
          </a:prstGeom>
          <a:solidFill>
            <a:srgbClr val="F4F6F8"/>
          </a:solidFill>
          <a:ln/>
        </p:spPr>
      </p:sp>
      <p:sp>
        <p:nvSpPr>
          <p:cNvPr id="22" name="Shape 20"/>
          <p:cNvSpPr/>
          <p:nvPr/>
        </p:nvSpPr>
        <p:spPr>
          <a:xfrm>
            <a:off x="2834640" y="2350008"/>
            <a:ext cx="2834640" cy="301752"/>
          </a:xfrm>
          <a:prstGeom prst="rect">
            <a:avLst/>
          </a:prstGeom>
          <a:solidFill>
            <a:srgbClr val="F4F6F8"/>
          </a:solidFill>
          <a:ln/>
        </p:spPr>
      </p:sp>
      <p:sp>
        <p:nvSpPr>
          <p:cNvPr id="23" name="Shape 21"/>
          <p:cNvSpPr/>
          <p:nvPr/>
        </p:nvSpPr>
        <p:spPr>
          <a:xfrm>
            <a:off x="5669280" y="2350008"/>
            <a:ext cx="2834640" cy="301752"/>
          </a:xfrm>
          <a:prstGeom prst="rect">
            <a:avLst/>
          </a:prstGeom>
          <a:solidFill>
            <a:srgbClr val="F4F6F8"/>
          </a:solidFill>
          <a:ln/>
        </p:spPr>
      </p:sp>
      <p:sp>
        <p:nvSpPr>
          <p:cNvPr id="24" name="Text 22"/>
          <p:cNvSpPr/>
          <p:nvPr/>
        </p:nvSpPr>
        <p:spPr>
          <a:xfrm>
            <a:off x="347472" y="2350008"/>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Probability of Default (PD)</a:t>
            </a:r>
            <a:endParaRPr lang="en-US" sz="900" dirty="0"/>
          </a:p>
        </p:txBody>
      </p:sp>
      <p:sp>
        <p:nvSpPr>
          <p:cNvPr id="25" name="Text 23"/>
          <p:cNvSpPr/>
          <p:nvPr/>
        </p:nvSpPr>
        <p:spPr>
          <a:xfrm>
            <a:off x="2907792" y="2350008"/>
            <a:ext cx="2743200" cy="301752"/>
          </a:xfrm>
          <a:prstGeom prst="rect">
            <a:avLst/>
          </a:prstGeom>
          <a:noFill/>
          <a:ln/>
        </p:spPr>
        <p:txBody>
          <a:bodyPr wrap="square" lIns="0" tIns="0" rIns="0" bIns="0" rtlCol="0" anchor="ctr"/>
          <a:lstStyle/>
          <a:p>
            <a:pPr indent="0" marL="0">
              <a:buNone/>
            </a:pPr>
            <a:r>
              <a:rPr lang="en-US" sz="900" dirty="0">
                <a:solidFill>
                  <a:srgbClr val="1A6B3A"/>
                </a:solidFill>
              </a:rPr>
              <a:t>~0.01% per year</a:t>
            </a:r>
            <a:endParaRPr lang="en-US" sz="900" dirty="0"/>
          </a:p>
        </p:txBody>
      </p:sp>
      <p:sp>
        <p:nvSpPr>
          <p:cNvPr id="26" name="Text 24"/>
          <p:cNvSpPr/>
          <p:nvPr/>
        </p:nvSpPr>
        <p:spPr>
          <a:xfrm>
            <a:off x="5742432" y="2350008"/>
            <a:ext cx="2743200" cy="301752"/>
          </a:xfrm>
          <a:prstGeom prst="rect">
            <a:avLst/>
          </a:prstGeom>
          <a:noFill/>
          <a:ln/>
        </p:spPr>
        <p:txBody>
          <a:bodyPr wrap="square" lIns="0" tIns="0" rIns="0" bIns="0" rtlCol="0" anchor="ctr"/>
          <a:lstStyle/>
          <a:p>
            <a:pPr indent="0" marL="0">
              <a:buNone/>
            </a:pPr>
            <a:r>
              <a:rPr lang="en-US" sz="900" dirty="0">
                <a:solidFill>
                  <a:srgbClr val="1A1A2E"/>
                </a:solidFill>
              </a:rPr>
              <a:t>~0.20% per year (20× higher)</a:t>
            </a:r>
            <a:endParaRPr lang="en-US" sz="900" dirty="0"/>
          </a:p>
        </p:txBody>
      </p:sp>
      <p:sp>
        <p:nvSpPr>
          <p:cNvPr id="27" name="Shape 25"/>
          <p:cNvSpPr/>
          <p:nvPr/>
        </p:nvSpPr>
        <p:spPr>
          <a:xfrm>
            <a:off x="274320" y="2651760"/>
            <a:ext cx="2560320" cy="301752"/>
          </a:xfrm>
          <a:prstGeom prst="rect">
            <a:avLst/>
          </a:prstGeom>
          <a:solidFill>
            <a:srgbClr val="FFFFFF"/>
          </a:solidFill>
          <a:ln/>
        </p:spPr>
      </p:sp>
      <p:sp>
        <p:nvSpPr>
          <p:cNvPr id="28" name="Shape 26"/>
          <p:cNvSpPr/>
          <p:nvPr/>
        </p:nvSpPr>
        <p:spPr>
          <a:xfrm>
            <a:off x="2834640" y="2651760"/>
            <a:ext cx="2834640" cy="301752"/>
          </a:xfrm>
          <a:prstGeom prst="rect">
            <a:avLst/>
          </a:prstGeom>
          <a:solidFill>
            <a:srgbClr val="FFFFFF"/>
          </a:solidFill>
          <a:ln/>
        </p:spPr>
      </p:sp>
      <p:sp>
        <p:nvSpPr>
          <p:cNvPr id="29" name="Shape 27"/>
          <p:cNvSpPr/>
          <p:nvPr/>
        </p:nvSpPr>
        <p:spPr>
          <a:xfrm>
            <a:off x="5669280" y="2651760"/>
            <a:ext cx="2834640" cy="301752"/>
          </a:xfrm>
          <a:prstGeom prst="rect">
            <a:avLst/>
          </a:prstGeom>
          <a:solidFill>
            <a:srgbClr val="FFFFFF"/>
          </a:solidFill>
          <a:ln/>
        </p:spPr>
      </p:sp>
      <p:sp>
        <p:nvSpPr>
          <p:cNvPr id="30" name="Text 28"/>
          <p:cNvSpPr/>
          <p:nvPr/>
        </p:nvSpPr>
        <p:spPr>
          <a:xfrm>
            <a:off x="347472" y="2651760"/>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Loss Given Default (LGD)</a:t>
            </a:r>
            <a:endParaRPr lang="en-US" sz="900" dirty="0"/>
          </a:p>
        </p:txBody>
      </p:sp>
      <p:sp>
        <p:nvSpPr>
          <p:cNvPr id="31" name="Text 29"/>
          <p:cNvSpPr/>
          <p:nvPr/>
        </p:nvSpPr>
        <p:spPr>
          <a:xfrm>
            <a:off x="2907792" y="2651760"/>
            <a:ext cx="2743200" cy="301752"/>
          </a:xfrm>
          <a:prstGeom prst="rect">
            <a:avLst/>
          </a:prstGeom>
          <a:noFill/>
          <a:ln/>
        </p:spPr>
        <p:txBody>
          <a:bodyPr wrap="square" lIns="0" tIns="0" rIns="0" bIns="0" rtlCol="0" anchor="ctr"/>
          <a:lstStyle/>
          <a:p>
            <a:pPr indent="0" marL="0">
              <a:buNone/>
            </a:pPr>
            <a:r>
              <a:rPr lang="en-US" sz="900" dirty="0">
                <a:solidFill>
                  <a:srgbClr val="1A6B3A"/>
                </a:solidFill>
              </a:rPr>
              <a:t>45% (supervisory floor)</a:t>
            </a:r>
            <a:endParaRPr lang="en-US" sz="900" dirty="0"/>
          </a:p>
        </p:txBody>
      </p:sp>
      <p:sp>
        <p:nvSpPr>
          <p:cNvPr id="32" name="Text 30"/>
          <p:cNvSpPr/>
          <p:nvPr/>
        </p:nvSpPr>
        <p:spPr>
          <a:xfrm>
            <a:off x="5742432" y="2651760"/>
            <a:ext cx="2743200" cy="301752"/>
          </a:xfrm>
          <a:prstGeom prst="rect">
            <a:avLst/>
          </a:prstGeom>
          <a:noFill/>
          <a:ln/>
        </p:spPr>
        <p:txBody>
          <a:bodyPr wrap="square" lIns="0" tIns="0" rIns="0" bIns="0" rtlCol="0" anchor="ctr"/>
          <a:lstStyle/>
          <a:p>
            <a:pPr indent="0" marL="0">
              <a:buNone/>
            </a:pPr>
            <a:r>
              <a:rPr lang="en-US" sz="900" dirty="0">
                <a:solidFill>
                  <a:srgbClr val="1A1A2E"/>
                </a:solidFill>
              </a:rPr>
              <a:t>45% (same)</a:t>
            </a:r>
            <a:endParaRPr lang="en-US" sz="900" dirty="0"/>
          </a:p>
        </p:txBody>
      </p:sp>
      <p:sp>
        <p:nvSpPr>
          <p:cNvPr id="33" name="Shape 31"/>
          <p:cNvSpPr/>
          <p:nvPr/>
        </p:nvSpPr>
        <p:spPr>
          <a:xfrm>
            <a:off x="274320" y="2953512"/>
            <a:ext cx="2560320" cy="301752"/>
          </a:xfrm>
          <a:prstGeom prst="rect">
            <a:avLst/>
          </a:prstGeom>
          <a:solidFill>
            <a:srgbClr val="F4F6F8"/>
          </a:solidFill>
          <a:ln/>
        </p:spPr>
      </p:sp>
      <p:sp>
        <p:nvSpPr>
          <p:cNvPr id="34" name="Shape 32"/>
          <p:cNvSpPr/>
          <p:nvPr/>
        </p:nvSpPr>
        <p:spPr>
          <a:xfrm>
            <a:off x="2834640" y="2953512"/>
            <a:ext cx="2834640" cy="301752"/>
          </a:xfrm>
          <a:prstGeom prst="rect">
            <a:avLst/>
          </a:prstGeom>
          <a:solidFill>
            <a:srgbClr val="FFF8E1"/>
          </a:solidFill>
          <a:ln/>
        </p:spPr>
      </p:sp>
      <p:sp>
        <p:nvSpPr>
          <p:cNvPr id="35" name="Shape 33"/>
          <p:cNvSpPr/>
          <p:nvPr/>
        </p:nvSpPr>
        <p:spPr>
          <a:xfrm>
            <a:off x="5669280" y="2953512"/>
            <a:ext cx="2834640" cy="301752"/>
          </a:xfrm>
          <a:prstGeom prst="rect">
            <a:avLst/>
          </a:prstGeom>
          <a:solidFill>
            <a:srgbClr val="FFF8E1"/>
          </a:solidFill>
          <a:ln/>
        </p:spPr>
      </p:sp>
      <p:sp>
        <p:nvSpPr>
          <p:cNvPr id="36" name="Text 34"/>
          <p:cNvSpPr/>
          <p:nvPr/>
        </p:nvSpPr>
        <p:spPr>
          <a:xfrm>
            <a:off x="347472" y="2953512"/>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Basel I Risk Weight</a:t>
            </a:r>
            <a:endParaRPr lang="en-US" sz="900" dirty="0"/>
          </a:p>
        </p:txBody>
      </p:sp>
      <p:sp>
        <p:nvSpPr>
          <p:cNvPr id="37" name="Text 35"/>
          <p:cNvSpPr/>
          <p:nvPr/>
        </p:nvSpPr>
        <p:spPr>
          <a:xfrm>
            <a:off x="2907792" y="2953512"/>
            <a:ext cx="2743200" cy="301752"/>
          </a:xfrm>
          <a:prstGeom prst="rect">
            <a:avLst/>
          </a:prstGeom>
          <a:noFill/>
          <a:ln/>
        </p:spPr>
        <p:txBody>
          <a:bodyPr wrap="square" lIns="0" tIns="0" rIns="0" bIns="0" rtlCol="0" anchor="ctr"/>
          <a:lstStyle/>
          <a:p>
            <a:pPr indent="0" marL="0">
              <a:buNone/>
            </a:pPr>
            <a:r>
              <a:rPr lang="en-US" sz="900" dirty="0">
                <a:solidFill>
                  <a:srgbClr val="8B0000"/>
                </a:solidFill>
              </a:rPr>
              <a:t>100% (same as BBB)</a:t>
            </a:r>
            <a:endParaRPr lang="en-US" sz="900" dirty="0"/>
          </a:p>
        </p:txBody>
      </p:sp>
      <p:sp>
        <p:nvSpPr>
          <p:cNvPr id="38" name="Text 36"/>
          <p:cNvSpPr/>
          <p:nvPr/>
        </p:nvSpPr>
        <p:spPr>
          <a:xfrm>
            <a:off x="5742432" y="2953512"/>
            <a:ext cx="2743200" cy="301752"/>
          </a:xfrm>
          <a:prstGeom prst="rect">
            <a:avLst/>
          </a:prstGeom>
          <a:noFill/>
          <a:ln/>
        </p:spPr>
        <p:txBody>
          <a:bodyPr wrap="square" lIns="0" tIns="0" rIns="0" bIns="0" rtlCol="0" anchor="ctr"/>
          <a:lstStyle/>
          <a:p>
            <a:pPr indent="0" marL="0">
              <a:buNone/>
            </a:pPr>
            <a:r>
              <a:rPr lang="en-US" sz="900" dirty="0">
                <a:solidFill>
                  <a:srgbClr val="1A1A2E"/>
                </a:solidFill>
              </a:rPr>
              <a:t>100% — Basel I cannot distinguish</a:t>
            </a:r>
            <a:endParaRPr lang="en-US" sz="900" dirty="0"/>
          </a:p>
        </p:txBody>
      </p:sp>
      <p:sp>
        <p:nvSpPr>
          <p:cNvPr id="39" name="Shape 37"/>
          <p:cNvSpPr/>
          <p:nvPr/>
        </p:nvSpPr>
        <p:spPr>
          <a:xfrm>
            <a:off x="274320" y="3255264"/>
            <a:ext cx="2560320" cy="301752"/>
          </a:xfrm>
          <a:prstGeom prst="rect">
            <a:avLst/>
          </a:prstGeom>
          <a:solidFill>
            <a:srgbClr val="FFFFFF"/>
          </a:solidFill>
          <a:ln/>
        </p:spPr>
      </p:sp>
      <p:sp>
        <p:nvSpPr>
          <p:cNvPr id="40" name="Shape 38"/>
          <p:cNvSpPr/>
          <p:nvPr/>
        </p:nvSpPr>
        <p:spPr>
          <a:xfrm>
            <a:off x="2834640" y="3255264"/>
            <a:ext cx="2834640" cy="301752"/>
          </a:xfrm>
          <a:prstGeom prst="rect">
            <a:avLst/>
          </a:prstGeom>
          <a:solidFill>
            <a:srgbClr val="FFF8E1"/>
          </a:solidFill>
          <a:ln/>
        </p:spPr>
      </p:sp>
      <p:sp>
        <p:nvSpPr>
          <p:cNvPr id="41" name="Shape 39"/>
          <p:cNvSpPr/>
          <p:nvPr/>
        </p:nvSpPr>
        <p:spPr>
          <a:xfrm>
            <a:off x="5669280" y="3255264"/>
            <a:ext cx="2834640" cy="301752"/>
          </a:xfrm>
          <a:prstGeom prst="rect">
            <a:avLst/>
          </a:prstGeom>
          <a:solidFill>
            <a:srgbClr val="FFF8E1"/>
          </a:solidFill>
          <a:ln/>
        </p:spPr>
      </p:sp>
      <p:sp>
        <p:nvSpPr>
          <p:cNvPr id="42" name="Text 40"/>
          <p:cNvSpPr/>
          <p:nvPr/>
        </p:nvSpPr>
        <p:spPr>
          <a:xfrm>
            <a:off x="347472" y="3255264"/>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Basel I Capital Required</a:t>
            </a:r>
            <a:endParaRPr lang="en-US" sz="900" dirty="0"/>
          </a:p>
        </p:txBody>
      </p:sp>
      <p:sp>
        <p:nvSpPr>
          <p:cNvPr id="43" name="Text 41"/>
          <p:cNvSpPr/>
          <p:nvPr/>
        </p:nvSpPr>
        <p:spPr>
          <a:xfrm>
            <a:off x="2907792" y="3255264"/>
            <a:ext cx="2743200" cy="301752"/>
          </a:xfrm>
          <a:prstGeom prst="rect">
            <a:avLst/>
          </a:prstGeom>
          <a:noFill/>
          <a:ln/>
        </p:spPr>
        <p:txBody>
          <a:bodyPr wrap="square" lIns="0" tIns="0" rIns="0" bIns="0" rtlCol="0" anchor="ctr"/>
          <a:lstStyle/>
          <a:p>
            <a:pPr indent="0" marL="0">
              <a:buNone/>
            </a:pPr>
            <a:r>
              <a:rPr lang="en-US" sz="900" dirty="0">
                <a:solidFill>
                  <a:srgbClr val="8B0000"/>
                </a:solidFill>
              </a:rPr>
              <a:t>$80,000 (8% × $10m × 100%)</a:t>
            </a:r>
            <a:endParaRPr lang="en-US" sz="900" dirty="0"/>
          </a:p>
        </p:txBody>
      </p:sp>
      <p:sp>
        <p:nvSpPr>
          <p:cNvPr id="44" name="Text 42"/>
          <p:cNvSpPr/>
          <p:nvPr/>
        </p:nvSpPr>
        <p:spPr>
          <a:xfrm>
            <a:off x="5742432" y="3255264"/>
            <a:ext cx="2743200" cy="301752"/>
          </a:xfrm>
          <a:prstGeom prst="rect">
            <a:avLst/>
          </a:prstGeom>
          <a:noFill/>
          <a:ln/>
        </p:spPr>
        <p:txBody>
          <a:bodyPr wrap="square" lIns="0" tIns="0" rIns="0" bIns="0" rtlCol="0" anchor="ctr"/>
          <a:lstStyle/>
          <a:p>
            <a:pPr indent="0" marL="0">
              <a:buNone/>
            </a:pPr>
            <a:r>
              <a:rPr lang="en-US" sz="900" dirty="0">
                <a:solidFill>
                  <a:srgbClr val="1A1A2E"/>
                </a:solidFill>
              </a:rPr>
              <a:t>$80,000 — identical. No differentiation.</a:t>
            </a:r>
            <a:endParaRPr lang="en-US" sz="900" dirty="0"/>
          </a:p>
        </p:txBody>
      </p:sp>
      <p:sp>
        <p:nvSpPr>
          <p:cNvPr id="45" name="Shape 43"/>
          <p:cNvSpPr/>
          <p:nvPr/>
        </p:nvSpPr>
        <p:spPr>
          <a:xfrm>
            <a:off x="274320" y="3557016"/>
            <a:ext cx="2560320" cy="301752"/>
          </a:xfrm>
          <a:prstGeom prst="rect">
            <a:avLst/>
          </a:prstGeom>
          <a:solidFill>
            <a:srgbClr val="F4F6F8"/>
          </a:solidFill>
          <a:ln/>
        </p:spPr>
      </p:sp>
      <p:sp>
        <p:nvSpPr>
          <p:cNvPr id="46" name="Shape 44"/>
          <p:cNvSpPr/>
          <p:nvPr/>
        </p:nvSpPr>
        <p:spPr>
          <a:xfrm>
            <a:off x="2834640" y="3557016"/>
            <a:ext cx="2834640" cy="301752"/>
          </a:xfrm>
          <a:prstGeom prst="rect">
            <a:avLst/>
          </a:prstGeom>
          <a:solidFill>
            <a:srgbClr val="F4F6F8"/>
          </a:solidFill>
          <a:ln/>
        </p:spPr>
      </p:sp>
      <p:sp>
        <p:nvSpPr>
          <p:cNvPr id="47" name="Shape 45"/>
          <p:cNvSpPr/>
          <p:nvPr/>
        </p:nvSpPr>
        <p:spPr>
          <a:xfrm>
            <a:off x="5669280" y="3557016"/>
            <a:ext cx="2834640" cy="301752"/>
          </a:xfrm>
          <a:prstGeom prst="rect">
            <a:avLst/>
          </a:prstGeom>
          <a:solidFill>
            <a:srgbClr val="F4F6F8"/>
          </a:solidFill>
          <a:ln/>
        </p:spPr>
      </p:sp>
      <p:sp>
        <p:nvSpPr>
          <p:cNvPr id="48" name="Text 46"/>
          <p:cNvSpPr/>
          <p:nvPr/>
        </p:nvSpPr>
        <p:spPr>
          <a:xfrm>
            <a:off x="347472" y="3557016"/>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Basel II SA Risk Weight</a:t>
            </a:r>
            <a:endParaRPr lang="en-US" sz="900" dirty="0"/>
          </a:p>
        </p:txBody>
      </p:sp>
      <p:sp>
        <p:nvSpPr>
          <p:cNvPr id="49" name="Text 47"/>
          <p:cNvSpPr/>
          <p:nvPr/>
        </p:nvSpPr>
        <p:spPr>
          <a:xfrm>
            <a:off x="2907792" y="3557016"/>
            <a:ext cx="2743200" cy="301752"/>
          </a:xfrm>
          <a:prstGeom prst="rect">
            <a:avLst/>
          </a:prstGeom>
          <a:noFill/>
          <a:ln/>
        </p:spPr>
        <p:txBody>
          <a:bodyPr wrap="square" lIns="0" tIns="0" rIns="0" bIns="0" rtlCol="0" anchor="ctr"/>
          <a:lstStyle/>
          <a:p>
            <a:pPr indent="0" marL="0">
              <a:buNone/>
            </a:pPr>
            <a:r>
              <a:rPr lang="en-US" sz="900" dirty="0">
                <a:solidFill>
                  <a:srgbClr val="1A6B3A"/>
                </a:solidFill>
              </a:rPr>
              <a:t>20% (AAA–AA rated)</a:t>
            </a:r>
            <a:endParaRPr lang="en-US" sz="900" dirty="0"/>
          </a:p>
        </p:txBody>
      </p:sp>
      <p:sp>
        <p:nvSpPr>
          <p:cNvPr id="50" name="Text 48"/>
          <p:cNvSpPr/>
          <p:nvPr/>
        </p:nvSpPr>
        <p:spPr>
          <a:xfrm>
            <a:off x="5742432" y="3557016"/>
            <a:ext cx="2743200" cy="301752"/>
          </a:xfrm>
          <a:prstGeom prst="rect">
            <a:avLst/>
          </a:prstGeom>
          <a:noFill/>
          <a:ln/>
        </p:spPr>
        <p:txBody>
          <a:bodyPr wrap="square" lIns="0" tIns="0" rIns="0" bIns="0" rtlCol="0" anchor="ctr"/>
          <a:lstStyle/>
          <a:p>
            <a:pPr indent="0" marL="0">
              <a:buNone/>
            </a:pPr>
            <a:r>
              <a:rPr lang="en-US" sz="900" dirty="0">
                <a:solidFill>
                  <a:srgbClr val="1A1A2E"/>
                </a:solidFill>
              </a:rPr>
              <a:t>100% (BBB–BB rated)</a:t>
            </a:r>
            <a:endParaRPr lang="en-US" sz="900" dirty="0"/>
          </a:p>
        </p:txBody>
      </p:sp>
      <p:sp>
        <p:nvSpPr>
          <p:cNvPr id="51" name="Shape 49"/>
          <p:cNvSpPr/>
          <p:nvPr/>
        </p:nvSpPr>
        <p:spPr>
          <a:xfrm>
            <a:off x="274320" y="3858768"/>
            <a:ext cx="2560320" cy="301752"/>
          </a:xfrm>
          <a:prstGeom prst="rect">
            <a:avLst/>
          </a:prstGeom>
          <a:solidFill>
            <a:srgbClr val="FFFFFF"/>
          </a:solidFill>
          <a:ln/>
        </p:spPr>
      </p:sp>
      <p:sp>
        <p:nvSpPr>
          <p:cNvPr id="52" name="Shape 50"/>
          <p:cNvSpPr/>
          <p:nvPr/>
        </p:nvSpPr>
        <p:spPr>
          <a:xfrm>
            <a:off x="2834640" y="3858768"/>
            <a:ext cx="2834640" cy="301752"/>
          </a:xfrm>
          <a:prstGeom prst="rect">
            <a:avLst/>
          </a:prstGeom>
          <a:solidFill>
            <a:srgbClr val="FFFFFF"/>
          </a:solidFill>
          <a:ln/>
        </p:spPr>
      </p:sp>
      <p:sp>
        <p:nvSpPr>
          <p:cNvPr id="53" name="Shape 51"/>
          <p:cNvSpPr/>
          <p:nvPr/>
        </p:nvSpPr>
        <p:spPr>
          <a:xfrm>
            <a:off x="5669280" y="3858768"/>
            <a:ext cx="2834640" cy="301752"/>
          </a:xfrm>
          <a:prstGeom prst="rect">
            <a:avLst/>
          </a:prstGeom>
          <a:solidFill>
            <a:srgbClr val="FFFFFF"/>
          </a:solidFill>
          <a:ln/>
        </p:spPr>
      </p:sp>
      <p:sp>
        <p:nvSpPr>
          <p:cNvPr id="54" name="Text 52"/>
          <p:cNvSpPr/>
          <p:nvPr/>
        </p:nvSpPr>
        <p:spPr>
          <a:xfrm>
            <a:off x="347472" y="3858768"/>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Basel II SA Capital</a:t>
            </a:r>
            <a:endParaRPr lang="en-US" sz="900" dirty="0"/>
          </a:p>
        </p:txBody>
      </p:sp>
      <p:sp>
        <p:nvSpPr>
          <p:cNvPr id="55" name="Text 53"/>
          <p:cNvSpPr/>
          <p:nvPr/>
        </p:nvSpPr>
        <p:spPr>
          <a:xfrm>
            <a:off x="2907792" y="3858768"/>
            <a:ext cx="2743200" cy="301752"/>
          </a:xfrm>
          <a:prstGeom prst="rect">
            <a:avLst/>
          </a:prstGeom>
          <a:noFill/>
          <a:ln/>
        </p:spPr>
        <p:txBody>
          <a:bodyPr wrap="square" lIns="0" tIns="0" rIns="0" bIns="0" rtlCol="0" anchor="ctr"/>
          <a:lstStyle/>
          <a:p>
            <a:pPr indent="0" marL="0">
              <a:buNone/>
            </a:pPr>
            <a:r>
              <a:rPr lang="en-US" sz="900" dirty="0">
                <a:solidFill>
                  <a:srgbClr val="1A6B3A"/>
                </a:solidFill>
              </a:rPr>
              <a:t>$16,000</a:t>
            </a:r>
            <a:endParaRPr lang="en-US" sz="900" dirty="0"/>
          </a:p>
        </p:txBody>
      </p:sp>
      <p:sp>
        <p:nvSpPr>
          <p:cNvPr id="56" name="Text 54"/>
          <p:cNvSpPr/>
          <p:nvPr/>
        </p:nvSpPr>
        <p:spPr>
          <a:xfrm>
            <a:off x="5742432" y="3858768"/>
            <a:ext cx="2743200" cy="301752"/>
          </a:xfrm>
          <a:prstGeom prst="rect">
            <a:avLst/>
          </a:prstGeom>
          <a:noFill/>
          <a:ln/>
        </p:spPr>
        <p:txBody>
          <a:bodyPr wrap="square" lIns="0" tIns="0" rIns="0" bIns="0" rtlCol="0" anchor="ctr"/>
          <a:lstStyle/>
          <a:p>
            <a:pPr indent="0" marL="0">
              <a:buNone/>
            </a:pPr>
            <a:r>
              <a:rPr lang="en-US" sz="900" dirty="0">
                <a:solidFill>
                  <a:srgbClr val="1A1A2E"/>
                </a:solidFill>
              </a:rPr>
              <a:t>$80,000 — 5× more than AAA</a:t>
            </a:r>
            <a:endParaRPr lang="en-US" sz="900" dirty="0"/>
          </a:p>
        </p:txBody>
      </p:sp>
      <p:sp>
        <p:nvSpPr>
          <p:cNvPr id="57" name="Shape 55"/>
          <p:cNvSpPr/>
          <p:nvPr/>
        </p:nvSpPr>
        <p:spPr>
          <a:xfrm>
            <a:off x="274320" y="4160520"/>
            <a:ext cx="2560320" cy="301752"/>
          </a:xfrm>
          <a:prstGeom prst="rect">
            <a:avLst/>
          </a:prstGeom>
          <a:solidFill>
            <a:srgbClr val="F4F6F8"/>
          </a:solidFill>
          <a:ln/>
        </p:spPr>
      </p:sp>
      <p:sp>
        <p:nvSpPr>
          <p:cNvPr id="58" name="Shape 56"/>
          <p:cNvSpPr/>
          <p:nvPr/>
        </p:nvSpPr>
        <p:spPr>
          <a:xfrm>
            <a:off x="2834640" y="4160520"/>
            <a:ext cx="2834640" cy="301752"/>
          </a:xfrm>
          <a:prstGeom prst="rect">
            <a:avLst/>
          </a:prstGeom>
          <a:solidFill>
            <a:srgbClr val="F4F6F8"/>
          </a:solidFill>
          <a:ln/>
        </p:spPr>
      </p:sp>
      <p:sp>
        <p:nvSpPr>
          <p:cNvPr id="59" name="Shape 57"/>
          <p:cNvSpPr/>
          <p:nvPr/>
        </p:nvSpPr>
        <p:spPr>
          <a:xfrm>
            <a:off x="5669280" y="4160520"/>
            <a:ext cx="2834640" cy="301752"/>
          </a:xfrm>
          <a:prstGeom prst="rect">
            <a:avLst/>
          </a:prstGeom>
          <a:solidFill>
            <a:srgbClr val="F4F6F8"/>
          </a:solidFill>
          <a:ln/>
        </p:spPr>
      </p:sp>
      <p:sp>
        <p:nvSpPr>
          <p:cNvPr id="60" name="Text 58"/>
          <p:cNvSpPr/>
          <p:nvPr/>
        </p:nvSpPr>
        <p:spPr>
          <a:xfrm>
            <a:off x="347472" y="4160520"/>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Basel II A-IRB Capital</a:t>
            </a:r>
            <a:endParaRPr lang="en-US" sz="900" dirty="0"/>
          </a:p>
        </p:txBody>
      </p:sp>
      <p:sp>
        <p:nvSpPr>
          <p:cNvPr id="61" name="Text 59"/>
          <p:cNvSpPr/>
          <p:nvPr/>
        </p:nvSpPr>
        <p:spPr>
          <a:xfrm>
            <a:off x="2907792" y="4160520"/>
            <a:ext cx="2743200" cy="301752"/>
          </a:xfrm>
          <a:prstGeom prst="rect">
            <a:avLst/>
          </a:prstGeom>
          <a:noFill/>
          <a:ln/>
        </p:spPr>
        <p:txBody>
          <a:bodyPr wrap="square" lIns="0" tIns="0" rIns="0" bIns="0" rtlCol="0" anchor="ctr"/>
          <a:lstStyle/>
          <a:p>
            <a:pPr indent="0" marL="0">
              <a:buNone/>
            </a:pPr>
            <a:r>
              <a:rPr lang="en-US" sz="900" dirty="0">
                <a:solidFill>
                  <a:srgbClr val="1A6B3A"/>
                </a:solidFill>
              </a:rPr>
              <a:t>~$8,000 (PD-driven formula)</a:t>
            </a:r>
            <a:endParaRPr lang="en-US" sz="900" dirty="0"/>
          </a:p>
        </p:txBody>
      </p:sp>
      <p:sp>
        <p:nvSpPr>
          <p:cNvPr id="62" name="Text 60"/>
          <p:cNvSpPr/>
          <p:nvPr/>
        </p:nvSpPr>
        <p:spPr>
          <a:xfrm>
            <a:off x="5742432" y="4160520"/>
            <a:ext cx="2743200" cy="301752"/>
          </a:xfrm>
          <a:prstGeom prst="rect">
            <a:avLst/>
          </a:prstGeom>
          <a:noFill/>
          <a:ln/>
        </p:spPr>
        <p:txBody>
          <a:bodyPr wrap="square" lIns="0" tIns="0" rIns="0" bIns="0" rtlCol="0" anchor="ctr"/>
          <a:lstStyle/>
          <a:p>
            <a:pPr indent="0" marL="0">
              <a:buNone/>
            </a:pPr>
            <a:r>
              <a:rPr lang="en-US" sz="900" dirty="0">
                <a:solidFill>
                  <a:srgbClr val="1A1A2E"/>
                </a:solidFill>
              </a:rPr>
              <a:t>~$45,000 — reflects actual default risk</a:t>
            </a:r>
            <a:endParaRPr lang="en-US" sz="900" dirty="0"/>
          </a:p>
        </p:txBody>
      </p:sp>
      <p:sp>
        <p:nvSpPr>
          <p:cNvPr id="63" name="Shape 61"/>
          <p:cNvSpPr/>
          <p:nvPr/>
        </p:nvSpPr>
        <p:spPr>
          <a:xfrm>
            <a:off x="274320" y="4462272"/>
            <a:ext cx="2560320" cy="301752"/>
          </a:xfrm>
          <a:prstGeom prst="rect">
            <a:avLst/>
          </a:prstGeom>
          <a:solidFill>
            <a:srgbClr val="FFFFFF"/>
          </a:solidFill>
          <a:ln/>
        </p:spPr>
      </p:sp>
      <p:sp>
        <p:nvSpPr>
          <p:cNvPr id="64" name="Shape 62"/>
          <p:cNvSpPr/>
          <p:nvPr/>
        </p:nvSpPr>
        <p:spPr>
          <a:xfrm>
            <a:off x="2834640" y="4462272"/>
            <a:ext cx="2834640" cy="301752"/>
          </a:xfrm>
          <a:prstGeom prst="rect">
            <a:avLst/>
          </a:prstGeom>
          <a:solidFill>
            <a:srgbClr val="FFFFFF"/>
          </a:solidFill>
          <a:ln/>
        </p:spPr>
      </p:sp>
      <p:sp>
        <p:nvSpPr>
          <p:cNvPr id="65" name="Shape 63"/>
          <p:cNvSpPr/>
          <p:nvPr/>
        </p:nvSpPr>
        <p:spPr>
          <a:xfrm>
            <a:off x="5669280" y="4462272"/>
            <a:ext cx="2834640" cy="301752"/>
          </a:xfrm>
          <a:prstGeom prst="rect">
            <a:avLst/>
          </a:prstGeom>
          <a:solidFill>
            <a:srgbClr val="FFFFFF"/>
          </a:solidFill>
          <a:ln/>
        </p:spPr>
      </p:sp>
      <p:sp>
        <p:nvSpPr>
          <p:cNvPr id="66" name="Text 64"/>
          <p:cNvSpPr/>
          <p:nvPr/>
        </p:nvSpPr>
        <p:spPr>
          <a:xfrm>
            <a:off x="347472" y="4462272"/>
            <a:ext cx="2468880" cy="301752"/>
          </a:xfrm>
          <a:prstGeom prst="rect">
            <a:avLst/>
          </a:prstGeom>
          <a:noFill/>
          <a:ln/>
        </p:spPr>
        <p:txBody>
          <a:bodyPr wrap="square" lIns="0" tIns="0" rIns="0" bIns="0" rtlCol="0" anchor="ctr"/>
          <a:lstStyle/>
          <a:p>
            <a:pPr indent="0" marL="0">
              <a:buNone/>
            </a:pPr>
            <a:r>
              <a:rPr lang="en-US" sz="900" b="1" dirty="0">
                <a:solidFill>
                  <a:srgbClr val="1B3A6B"/>
                </a:solidFill>
              </a:rPr>
              <a:t>Basel IV Output Floor Impact</a:t>
            </a:r>
            <a:endParaRPr lang="en-US" sz="900" dirty="0"/>
          </a:p>
        </p:txBody>
      </p:sp>
      <p:sp>
        <p:nvSpPr>
          <p:cNvPr id="67" name="Text 65"/>
          <p:cNvSpPr/>
          <p:nvPr/>
        </p:nvSpPr>
        <p:spPr>
          <a:xfrm>
            <a:off x="2907792" y="4462272"/>
            <a:ext cx="2743200" cy="301752"/>
          </a:xfrm>
          <a:prstGeom prst="rect">
            <a:avLst/>
          </a:prstGeom>
          <a:noFill/>
          <a:ln/>
        </p:spPr>
        <p:txBody>
          <a:bodyPr wrap="square" lIns="0" tIns="0" rIns="0" bIns="0" rtlCol="0" anchor="ctr"/>
          <a:lstStyle/>
          <a:p>
            <a:pPr indent="0" marL="0">
              <a:buNone/>
            </a:pPr>
            <a:r>
              <a:rPr lang="en-US" sz="900" dirty="0">
                <a:solidFill>
                  <a:srgbClr val="1A6B3A"/>
                </a:solidFill>
              </a:rPr>
              <a:t>Floor at 72.5% of SA = $11,600</a:t>
            </a:r>
            <a:endParaRPr lang="en-US" sz="900" dirty="0"/>
          </a:p>
        </p:txBody>
      </p:sp>
      <p:sp>
        <p:nvSpPr>
          <p:cNvPr id="68" name="Text 66"/>
          <p:cNvSpPr/>
          <p:nvPr/>
        </p:nvSpPr>
        <p:spPr>
          <a:xfrm>
            <a:off x="5742432" y="4462272"/>
            <a:ext cx="2743200" cy="301752"/>
          </a:xfrm>
          <a:prstGeom prst="rect">
            <a:avLst/>
          </a:prstGeom>
          <a:noFill/>
          <a:ln/>
        </p:spPr>
        <p:txBody>
          <a:bodyPr wrap="square" lIns="0" tIns="0" rIns="0" bIns="0" rtlCol="0" anchor="ctr"/>
          <a:lstStyle/>
          <a:p>
            <a:pPr indent="0" marL="0">
              <a:buNone/>
            </a:pPr>
            <a:r>
              <a:rPr lang="en-US" sz="900" dirty="0">
                <a:solidFill>
                  <a:srgbClr val="1A1A2E"/>
                </a:solidFill>
              </a:rPr>
              <a:t>Floor at 72.5% of SA = $58,000</a:t>
            </a:r>
            <a:endParaRPr lang="en-US" sz="900" dirty="0"/>
          </a:p>
        </p:txBody>
      </p:sp>
      <p:sp>
        <p:nvSpPr>
          <p:cNvPr id="69" name="Shape 67"/>
          <p:cNvSpPr/>
          <p:nvPr/>
        </p:nvSpPr>
        <p:spPr>
          <a:xfrm>
            <a:off x="365760" y="4645152"/>
            <a:ext cx="8412480" cy="594360"/>
          </a:xfrm>
          <a:prstGeom prst="rect">
            <a:avLst/>
          </a:prstGeom>
          <a:solidFill>
            <a:srgbClr val="D6EAF8"/>
          </a:solidFill>
          <a:ln/>
        </p:spPr>
      </p:sp>
      <p:sp>
        <p:nvSpPr>
          <p:cNvPr id="70" name="Shape 68"/>
          <p:cNvSpPr/>
          <p:nvPr/>
        </p:nvSpPr>
        <p:spPr>
          <a:xfrm>
            <a:off x="365760" y="4645152"/>
            <a:ext cx="1005840" cy="594360"/>
          </a:xfrm>
          <a:prstGeom prst="rect">
            <a:avLst/>
          </a:prstGeom>
          <a:solidFill>
            <a:srgbClr val="0E6B8A"/>
          </a:solidFill>
          <a:ln/>
        </p:spPr>
      </p:sp>
      <p:sp>
        <p:nvSpPr>
          <p:cNvPr id="71" name="Text 69"/>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KEY LESSON</a:t>
            </a:r>
            <a:endParaRPr lang="en-US" sz="900" dirty="0"/>
          </a:p>
        </p:txBody>
      </p:sp>
      <p:sp>
        <p:nvSpPr>
          <p:cNvPr id="72" name="Text 70"/>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Basel I charged the same capital for AAA and BBB borrowers. Basel II fixed this — a AAA corporate requires 5× less SA capital than BBB. Basel IV's output floor ensures models cannot reduce capital below 72.5% of that SA number.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Basel I — 1988</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6400800" cy="658368"/>
          </a:xfrm>
          <a:prstGeom prst="rect">
            <a:avLst/>
          </a:prstGeom>
          <a:noFill/>
          <a:ln/>
        </p:spPr>
        <p:txBody>
          <a:bodyPr wrap="square" lIns="0" tIns="0" rIns="0" bIns="0" rtlCol="0" anchor="ctr"/>
          <a:lstStyle/>
          <a:p>
            <a:pPr indent="0" marL="0">
              <a:buNone/>
            </a:pPr>
            <a:r>
              <a:rPr lang="en-US" sz="2200" b="1" dirty="0">
                <a:solidFill>
                  <a:srgbClr val="FFFFFF"/>
                </a:solidFill>
              </a:rPr>
              <a:t>Basel I  —  The Foundation Framework</a:t>
            </a:r>
            <a:endParaRPr lang="en-US" sz="2200" dirty="0"/>
          </a:p>
        </p:txBody>
      </p:sp>
      <p:sp>
        <p:nvSpPr>
          <p:cNvPr id="6" name="Shape 4"/>
          <p:cNvSpPr/>
          <p:nvPr/>
        </p:nvSpPr>
        <p:spPr>
          <a:xfrm>
            <a:off x="6492240" y="201168"/>
            <a:ext cx="3412541" cy="256032"/>
          </a:xfrm>
          <a:prstGeom prst="rect">
            <a:avLst/>
          </a:prstGeom>
          <a:solidFill>
            <a:srgbClr val="C9A84C"/>
          </a:solidFill>
          <a:ln w="12700">
            <a:solidFill>
              <a:srgbClr val="C9A84C"/>
            </a:solidFill>
            <a:prstDash val="solid"/>
          </a:ln>
        </p:spPr>
      </p:sp>
      <p:sp>
        <p:nvSpPr>
          <p:cNvPr id="7" name="Text 5"/>
          <p:cNvSpPr/>
          <p:nvPr/>
        </p:nvSpPr>
        <p:spPr>
          <a:xfrm>
            <a:off x="6492240" y="201168"/>
            <a:ext cx="3412541" cy="256032"/>
          </a:xfrm>
          <a:prstGeom prst="rect">
            <a:avLst/>
          </a:prstGeom>
          <a:noFill/>
          <a:ln/>
        </p:spPr>
        <p:txBody>
          <a:bodyPr wrap="square" lIns="0" tIns="0" rIns="0" bIns="0" rtlCol="0" anchor="ctr"/>
          <a:lstStyle/>
          <a:p>
            <a:pPr algn="ctr" indent="0" marL="0">
              <a:buNone/>
            </a:pPr>
            <a:r>
              <a:rPr lang="en-US" sz="800" b="1" dirty="0">
                <a:solidFill>
                  <a:srgbClr val="FFFFFF"/>
                </a:solidFill>
              </a:rPr>
              <a:t>1988 · 12 BCBS MEMBERS · EFFECTIVE 1992</a:t>
            </a:r>
            <a:endParaRPr lang="en-US" sz="800" dirty="0"/>
          </a:p>
        </p:txBody>
      </p:sp>
      <p:sp>
        <p:nvSpPr>
          <p:cNvPr id="8" name="Shape 6"/>
          <p:cNvSpPr/>
          <p:nvPr/>
        </p:nvSpPr>
        <p:spPr>
          <a:xfrm>
            <a:off x="274320" y="777240"/>
            <a:ext cx="1920240" cy="10058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74320" y="777240"/>
            <a:ext cx="1920240" cy="64008"/>
          </a:xfrm>
          <a:prstGeom prst="rect">
            <a:avLst/>
          </a:prstGeom>
          <a:solidFill>
            <a:srgbClr val="1B3A6B"/>
          </a:solidFill>
          <a:ln/>
        </p:spPr>
      </p:sp>
      <p:sp>
        <p:nvSpPr>
          <p:cNvPr id="10" name="Text 8"/>
          <p:cNvSpPr/>
          <p:nvPr/>
        </p:nvSpPr>
        <p:spPr>
          <a:xfrm>
            <a:off x="274320" y="868680"/>
            <a:ext cx="1920240" cy="548640"/>
          </a:xfrm>
          <a:prstGeom prst="rect">
            <a:avLst/>
          </a:prstGeom>
          <a:noFill/>
          <a:ln/>
        </p:spPr>
        <p:txBody>
          <a:bodyPr wrap="square" lIns="0" tIns="0" rIns="0" bIns="0" rtlCol="0" anchor="ctr"/>
          <a:lstStyle/>
          <a:p>
            <a:pPr algn="ctr" indent="0" marL="0">
              <a:buNone/>
            </a:pPr>
            <a:r>
              <a:rPr lang="en-US" sz="3200" b="1" dirty="0">
                <a:solidFill>
                  <a:srgbClr val="1B3A6B"/>
                </a:solidFill>
              </a:rPr>
              <a:t>8%</a:t>
            </a:r>
            <a:endParaRPr lang="en-US" sz="3200" dirty="0"/>
          </a:p>
        </p:txBody>
      </p:sp>
      <p:sp>
        <p:nvSpPr>
          <p:cNvPr id="11" name="Text 9"/>
          <p:cNvSpPr/>
          <p:nvPr/>
        </p:nvSpPr>
        <p:spPr>
          <a:xfrm>
            <a:off x="274320" y="1435608"/>
            <a:ext cx="1920240" cy="274320"/>
          </a:xfrm>
          <a:prstGeom prst="rect">
            <a:avLst/>
          </a:prstGeom>
          <a:noFill/>
          <a:ln/>
        </p:spPr>
        <p:txBody>
          <a:bodyPr wrap="square" lIns="0" tIns="0" rIns="0" bIns="0" rtlCol="0" anchor="ctr"/>
          <a:lstStyle/>
          <a:p>
            <a:pPr algn="ctr" indent="0" marL="0">
              <a:buNone/>
            </a:pPr>
            <a:r>
              <a:rPr lang="en-US" sz="1000" dirty="0">
                <a:solidFill>
                  <a:srgbClr val="8899AA"/>
                </a:solidFill>
              </a:rPr>
              <a:t>Min Capital / RWA</a:t>
            </a:r>
            <a:endParaRPr lang="en-US" sz="1000" dirty="0"/>
          </a:p>
        </p:txBody>
      </p:sp>
      <p:sp>
        <p:nvSpPr>
          <p:cNvPr id="12" name="Shape 10"/>
          <p:cNvSpPr/>
          <p:nvPr/>
        </p:nvSpPr>
        <p:spPr>
          <a:xfrm>
            <a:off x="2331720" y="777240"/>
            <a:ext cx="1920240" cy="10058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1"/>
          <p:cNvSpPr/>
          <p:nvPr/>
        </p:nvSpPr>
        <p:spPr>
          <a:xfrm>
            <a:off x="2331720" y="777240"/>
            <a:ext cx="1920240" cy="64008"/>
          </a:xfrm>
          <a:prstGeom prst="rect">
            <a:avLst/>
          </a:prstGeom>
          <a:solidFill>
            <a:srgbClr val="0E6B8A"/>
          </a:solidFill>
          <a:ln/>
        </p:spPr>
      </p:sp>
      <p:sp>
        <p:nvSpPr>
          <p:cNvPr id="14" name="Text 12"/>
          <p:cNvSpPr/>
          <p:nvPr/>
        </p:nvSpPr>
        <p:spPr>
          <a:xfrm>
            <a:off x="2331720" y="868680"/>
            <a:ext cx="1920240" cy="548640"/>
          </a:xfrm>
          <a:prstGeom prst="rect">
            <a:avLst/>
          </a:prstGeom>
          <a:noFill/>
          <a:ln/>
        </p:spPr>
        <p:txBody>
          <a:bodyPr wrap="square" lIns="0" tIns="0" rIns="0" bIns="0" rtlCol="0" anchor="ctr"/>
          <a:lstStyle/>
          <a:p>
            <a:pPr algn="ctr" indent="0" marL="0">
              <a:buNone/>
            </a:pPr>
            <a:r>
              <a:rPr lang="en-US" sz="3200" b="1" dirty="0">
                <a:solidFill>
                  <a:srgbClr val="0E6B8A"/>
                </a:solidFill>
              </a:rPr>
              <a:t>4%</a:t>
            </a:r>
            <a:endParaRPr lang="en-US" sz="3200" dirty="0"/>
          </a:p>
        </p:txBody>
      </p:sp>
      <p:sp>
        <p:nvSpPr>
          <p:cNvPr id="15" name="Text 13"/>
          <p:cNvSpPr/>
          <p:nvPr/>
        </p:nvSpPr>
        <p:spPr>
          <a:xfrm>
            <a:off x="2331720" y="1435608"/>
            <a:ext cx="1920240" cy="274320"/>
          </a:xfrm>
          <a:prstGeom prst="rect">
            <a:avLst/>
          </a:prstGeom>
          <a:noFill/>
          <a:ln/>
        </p:spPr>
        <p:txBody>
          <a:bodyPr wrap="square" lIns="0" tIns="0" rIns="0" bIns="0" rtlCol="0" anchor="ctr"/>
          <a:lstStyle/>
          <a:p>
            <a:pPr algn="ctr" indent="0" marL="0">
              <a:buNone/>
            </a:pPr>
            <a:r>
              <a:rPr lang="en-US" sz="1000" dirty="0">
                <a:solidFill>
                  <a:srgbClr val="8899AA"/>
                </a:solidFill>
              </a:rPr>
              <a:t>Min Tier 1 Capital</a:t>
            </a:r>
            <a:endParaRPr lang="en-US" sz="1000" dirty="0"/>
          </a:p>
        </p:txBody>
      </p:sp>
      <p:sp>
        <p:nvSpPr>
          <p:cNvPr id="16" name="Shape 14"/>
          <p:cNvSpPr/>
          <p:nvPr/>
        </p:nvSpPr>
        <p:spPr>
          <a:xfrm>
            <a:off x="4389120" y="777240"/>
            <a:ext cx="1920240" cy="10058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7" name="Shape 15"/>
          <p:cNvSpPr/>
          <p:nvPr/>
        </p:nvSpPr>
        <p:spPr>
          <a:xfrm>
            <a:off x="4389120" y="777240"/>
            <a:ext cx="1920240" cy="64008"/>
          </a:xfrm>
          <a:prstGeom prst="rect">
            <a:avLst/>
          </a:prstGeom>
          <a:solidFill>
            <a:srgbClr val="C9A84C"/>
          </a:solidFill>
          <a:ln/>
        </p:spPr>
      </p:sp>
      <p:sp>
        <p:nvSpPr>
          <p:cNvPr id="18" name="Text 16"/>
          <p:cNvSpPr/>
          <p:nvPr/>
        </p:nvSpPr>
        <p:spPr>
          <a:xfrm>
            <a:off x="4389120" y="868680"/>
            <a:ext cx="1920240" cy="548640"/>
          </a:xfrm>
          <a:prstGeom prst="rect">
            <a:avLst/>
          </a:prstGeom>
          <a:noFill/>
          <a:ln/>
        </p:spPr>
        <p:txBody>
          <a:bodyPr wrap="square" lIns="0" tIns="0" rIns="0" bIns="0" rtlCol="0" anchor="ctr"/>
          <a:lstStyle/>
          <a:p>
            <a:pPr algn="ctr" indent="0" marL="0">
              <a:buNone/>
            </a:pPr>
            <a:r>
              <a:rPr lang="en-US" sz="3200" b="1" dirty="0">
                <a:solidFill>
                  <a:srgbClr val="C9A84C"/>
                </a:solidFill>
              </a:rPr>
              <a:t>5</a:t>
            </a:r>
            <a:endParaRPr lang="en-US" sz="3200" dirty="0"/>
          </a:p>
        </p:txBody>
      </p:sp>
      <p:sp>
        <p:nvSpPr>
          <p:cNvPr id="19" name="Text 17"/>
          <p:cNvSpPr/>
          <p:nvPr/>
        </p:nvSpPr>
        <p:spPr>
          <a:xfrm>
            <a:off x="4389120" y="1435608"/>
            <a:ext cx="1920240" cy="274320"/>
          </a:xfrm>
          <a:prstGeom prst="rect">
            <a:avLst/>
          </a:prstGeom>
          <a:noFill/>
          <a:ln/>
        </p:spPr>
        <p:txBody>
          <a:bodyPr wrap="square" lIns="0" tIns="0" rIns="0" bIns="0" rtlCol="0" anchor="ctr"/>
          <a:lstStyle/>
          <a:p>
            <a:pPr algn="ctr" indent="0" marL="0">
              <a:buNone/>
            </a:pPr>
            <a:r>
              <a:rPr lang="en-US" sz="1000" dirty="0">
                <a:solidFill>
                  <a:srgbClr val="8899AA"/>
                </a:solidFill>
              </a:rPr>
              <a:t>Risk Weight Buckets</a:t>
            </a:r>
            <a:endParaRPr lang="en-US" sz="1000" dirty="0"/>
          </a:p>
        </p:txBody>
      </p:sp>
      <p:sp>
        <p:nvSpPr>
          <p:cNvPr id="20" name="Shape 18"/>
          <p:cNvSpPr/>
          <p:nvPr/>
        </p:nvSpPr>
        <p:spPr>
          <a:xfrm>
            <a:off x="6446520" y="777240"/>
            <a:ext cx="1920240" cy="100584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1" name="Shape 19"/>
          <p:cNvSpPr/>
          <p:nvPr/>
        </p:nvSpPr>
        <p:spPr>
          <a:xfrm>
            <a:off x="6446520" y="777240"/>
            <a:ext cx="1920240" cy="64008"/>
          </a:xfrm>
          <a:prstGeom prst="rect">
            <a:avLst/>
          </a:prstGeom>
          <a:solidFill>
            <a:srgbClr val="8B0000"/>
          </a:solidFill>
          <a:ln/>
        </p:spPr>
      </p:sp>
      <p:sp>
        <p:nvSpPr>
          <p:cNvPr id="22" name="Text 20"/>
          <p:cNvSpPr/>
          <p:nvPr/>
        </p:nvSpPr>
        <p:spPr>
          <a:xfrm>
            <a:off x="6446520" y="868680"/>
            <a:ext cx="1920240" cy="548640"/>
          </a:xfrm>
          <a:prstGeom prst="rect">
            <a:avLst/>
          </a:prstGeom>
          <a:noFill/>
          <a:ln/>
        </p:spPr>
        <p:txBody>
          <a:bodyPr wrap="square" lIns="0" tIns="0" rIns="0" bIns="0" rtlCol="0" anchor="ctr"/>
          <a:lstStyle/>
          <a:p>
            <a:pPr algn="ctr" indent="0" marL="0">
              <a:buNone/>
            </a:pPr>
            <a:r>
              <a:rPr lang="en-US" sz="3200" b="1" dirty="0">
                <a:solidFill>
                  <a:srgbClr val="8B0000"/>
                </a:solidFill>
              </a:rPr>
              <a:t>1</a:t>
            </a:r>
            <a:endParaRPr lang="en-US" sz="3200" dirty="0"/>
          </a:p>
        </p:txBody>
      </p:sp>
      <p:sp>
        <p:nvSpPr>
          <p:cNvPr id="23" name="Text 21"/>
          <p:cNvSpPr/>
          <p:nvPr/>
        </p:nvSpPr>
        <p:spPr>
          <a:xfrm>
            <a:off x="6446520" y="1435608"/>
            <a:ext cx="1920240" cy="274320"/>
          </a:xfrm>
          <a:prstGeom prst="rect">
            <a:avLst/>
          </a:prstGeom>
          <a:noFill/>
          <a:ln/>
        </p:spPr>
        <p:txBody>
          <a:bodyPr wrap="square" lIns="0" tIns="0" rIns="0" bIns="0" rtlCol="0" anchor="ctr"/>
          <a:lstStyle/>
          <a:p>
            <a:pPr algn="ctr" indent="0" marL="0">
              <a:buNone/>
            </a:pPr>
            <a:r>
              <a:rPr lang="en-US" sz="1000" dirty="0">
                <a:solidFill>
                  <a:srgbClr val="8899AA"/>
                </a:solidFill>
              </a:rPr>
              <a:t>Risk Type Covered</a:t>
            </a:r>
            <a:endParaRPr lang="en-US" sz="1000" dirty="0"/>
          </a:p>
        </p:txBody>
      </p:sp>
      <p:sp>
        <p:nvSpPr>
          <p:cNvPr id="24" name="Shape 22"/>
          <p:cNvSpPr/>
          <p:nvPr/>
        </p:nvSpPr>
        <p:spPr>
          <a:xfrm>
            <a:off x="274320" y="1965960"/>
            <a:ext cx="4114800" cy="320040"/>
          </a:xfrm>
          <a:prstGeom prst="rect">
            <a:avLst/>
          </a:prstGeom>
          <a:solidFill>
            <a:srgbClr val="1B3A6B"/>
          </a:solidFill>
          <a:ln/>
        </p:spPr>
      </p:sp>
      <p:sp>
        <p:nvSpPr>
          <p:cNvPr id="25" name="Text 23"/>
          <p:cNvSpPr/>
          <p:nvPr/>
        </p:nvSpPr>
        <p:spPr>
          <a:xfrm>
            <a:off x="274320" y="1965960"/>
            <a:ext cx="4114800" cy="320040"/>
          </a:xfrm>
          <a:prstGeom prst="rect">
            <a:avLst/>
          </a:prstGeom>
          <a:noFill/>
          <a:ln/>
        </p:spPr>
        <p:txBody>
          <a:bodyPr wrap="square" lIns="0" tIns="0" rIns="0" bIns="0" rtlCol="0" anchor="ctr"/>
          <a:lstStyle/>
          <a:p>
            <a:pPr algn="ctr" indent="0" marL="0">
              <a:buNone/>
            </a:pPr>
            <a:r>
              <a:rPr lang="en-US" sz="1000" b="1" dirty="0">
                <a:solidFill>
                  <a:srgbClr val="FFFFFF"/>
                </a:solidFill>
              </a:rPr>
              <a:t>RISK WEIGHT BUCKETS</a:t>
            </a:r>
            <a:endParaRPr lang="en-US" sz="1000" dirty="0"/>
          </a:p>
        </p:txBody>
      </p:sp>
      <p:sp>
        <p:nvSpPr>
          <p:cNvPr id="26" name="Shape 24"/>
          <p:cNvSpPr/>
          <p:nvPr/>
        </p:nvSpPr>
        <p:spPr>
          <a:xfrm>
            <a:off x="274320" y="2286000"/>
            <a:ext cx="4114800" cy="347472"/>
          </a:xfrm>
          <a:prstGeom prst="rect">
            <a:avLst/>
          </a:prstGeom>
          <a:solidFill>
            <a:srgbClr val="FFFFFF"/>
          </a:solidFill>
          <a:ln/>
        </p:spPr>
      </p:sp>
      <p:sp>
        <p:nvSpPr>
          <p:cNvPr id="27" name="Shape 25"/>
          <p:cNvSpPr/>
          <p:nvPr/>
        </p:nvSpPr>
        <p:spPr>
          <a:xfrm>
            <a:off x="274320" y="2286000"/>
            <a:ext cx="640080" cy="347472"/>
          </a:xfrm>
          <a:prstGeom prst="rect">
            <a:avLst/>
          </a:prstGeom>
          <a:solidFill>
            <a:srgbClr val="0E6B8A"/>
          </a:solidFill>
          <a:ln/>
        </p:spPr>
      </p:sp>
      <p:sp>
        <p:nvSpPr>
          <p:cNvPr id="28" name="Text 26"/>
          <p:cNvSpPr/>
          <p:nvPr/>
        </p:nvSpPr>
        <p:spPr>
          <a:xfrm>
            <a:off x="274320" y="2286000"/>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rPr>
              <a:t>0%</a:t>
            </a:r>
            <a:endParaRPr lang="en-US" sz="1100" dirty="0"/>
          </a:p>
        </p:txBody>
      </p:sp>
      <p:sp>
        <p:nvSpPr>
          <p:cNvPr id="29" name="Text 27"/>
          <p:cNvSpPr/>
          <p:nvPr/>
        </p:nvSpPr>
        <p:spPr>
          <a:xfrm>
            <a:off x="960120" y="2286000"/>
            <a:ext cx="3383280" cy="347472"/>
          </a:xfrm>
          <a:prstGeom prst="rect">
            <a:avLst/>
          </a:prstGeom>
          <a:noFill/>
          <a:ln/>
        </p:spPr>
        <p:txBody>
          <a:bodyPr wrap="square" lIns="0" tIns="0" rIns="0" bIns="0" rtlCol="0" anchor="ctr"/>
          <a:lstStyle/>
          <a:p>
            <a:pPr indent="0" marL="0">
              <a:buNone/>
            </a:pPr>
            <a:r>
              <a:rPr lang="en-US" sz="1000" dirty="0">
                <a:solidFill>
                  <a:srgbClr val="1A1A2E"/>
                </a:solidFill>
              </a:rPr>
              <a:t>OECD sovereign bonds, central bank claims</a:t>
            </a:r>
            <a:endParaRPr lang="en-US" sz="1000" dirty="0"/>
          </a:p>
        </p:txBody>
      </p:sp>
      <p:sp>
        <p:nvSpPr>
          <p:cNvPr id="30" name="Shape 28"/>
          <p:cNvSpPr/>
          <p:nvPr/>
        </p:nvSpPr>
        <p:spPr>
          <a:xfrm>
            <a:off x="274320" y="2633472"/>
            <a:ext cx="4114800" cy="347472"/>
          </a:xfrm>
          <a:prstGeom prst="rect">
            <a:avLst/>
          </a:prstGeom>
          <a:solidFill>
            <a:srgbClr val="F4F6F8"/>
          </a:solidFill>
          <a:ln/>
        </p:spPr>
      </p:sp>
      <p:sp>
        <p:nvSpPr>
          <p:cNvPr id="31" name="Shape 29"/>
          <p:cNvSpPr/>
          <p:nvPr/>
        </p:nvSpPr>
        <p:spPr>
          <a:xfrm>
            <a:off x="274320" y="2633472"/>
            <a:ext cx="640080" cy="347472"/>
          </a:xfrm>
          <a:prstGeom prst="rect">
            <a:avLst/>
          </a:prstGeom>
          <a:solidFill>
            <a:srgbClr val="0E6B8A"/>
          </a:solidFill>
          <a:ln/>
        </p:spPr>
      </p:sp>
      <p:sp>
        <p:nvSpPr>
          <p:cNvPr id="32" name="Text 30"/>
          <p:cNvSpPr/>
          <p:nvPr/>
        </p:nvSpPr>
        <p:spPr>
          <a:xfrm>
            <a:off x="274320" y="2633472"/>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rPr>
              <a:t>10%</a:t>
            </a:r>
            <a:endParaRPr lang="en-US" sz="1100" dirty="0"/>
          </a:p>
        </p:txBody>
      </p:sp>
      <p:sp>
        <p:nvSpPr>
          <p:cNvPr id="33" name="Text 31"/>
          <p:cNvSpPr/>
          <p:nvPr/>
        </p:nvSpPr>
        <p:spPr>
          <a:xfrm>
            <a:off x="960120" y="2633472"/>
            <a:ext cx="3383280" cy="347472"/>
          </a:xfrm>
          <a:prstGeom prst="rect">
            <a:avLst/>
          </a:prstGeom>
          <a:noFill/>
          <a:ln/>
        </p:spPr>
        <p:txBody>
          <a:bodyPr wrap="square" lIns="0" tIns="0" rIns="0" bIns="0" rtlCol="0" anchor="ctr"/>
          <a:lstStyle/>
          <a:p>
            <a:pPr indent="0" marL="0">
              <a:buNone/>
            </a:pPr>
            <a:r>
              <a:rPr lang="en-US" sz="1000" dirty="0">
                <a:solidFill>
                  <a:srgbClr val="1A1A2E"/>
                </a:solidFill>
              </a:rPr>
              <a:t>Domestic public sector entities (national discretion)</a:t>
            </a:r>
            <a:endParaRPr lang="en-US" sz="1000" dirty="0"/>
          </a:p>
        </p:txBody>
      </p:sp>
      <p:sp>
        <p:nvSpPr>
          <p:cNvPr id="34" name="Shape 32"/>
          <p:cNvSpPr/>
          <p:nvPr/>
        </p:nvSpPr>
        <p:spPr>
          <a:xfrm>
            <a:off x="274320" y="2980944"/>
            <a:ext cx="4114800" cy="347472"/>
          </a:xfrm>
          <a:prstGeom prst="rect">
            <a:avLst/>
          </a:prstGeom>
          <a:solidFill>
            <a:srgbClr val="FFFFFF"/>
          </a:solidFill>
          <a:ln/>
        </p:spPr>
      </p:sp>
      <p:sp>
        <p:nvSpPr>
          <p:cNvPr id="35" name="Shape 33"/>
          <p:cNvSpPr/>
          <p:nvPr/>
        </p:nvSpPr>
        <p:spPr>
          <a:xfrm>
            <a:off x="274320" y="2980944"/>
            <a:ext cx="640080" cy="347472"/>
          </a:xfrm>
          <a:prstGeom prst="rect">
            <a:avLst/>
          </a:prstGeom>
          <a:solidFill>
            <a:srgbClr val="0E6B8A"/>
          </a:solidFill>
          <a:ln/>
        </p:spPr>
      </p:sp>
      <p:sp>
        <p:nvSpPr>
          <p:cNvPr id="36" name="Text 34"/>
          <p:cNvSpPr/>
          <p:nvPr/>
        </p:nvSpPr>
        <p:spPr>
          <a:xfrm>
            <a:off x="274320" y="2980944"/>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rPr>
              <a:t>20%</a:t>
            </a:r>
            <a:endParaRPr lang="en-US" sz="1100" dirty="0"/>
          </a:p>
        </p:txBody>
      </p:sp>
      <p:sp>
        <p:nvSpPr>
          <p:cNvPr id="37" name="Text 35"/>
          <p:cNvSpPr/>
          <p:nvPr/>
        </p:nvSpPr>
        <p:spPr>
          <a:xfrm>
            <a:off x="960120" y="2980944"/>
            <a:ext cx="3383280" cy="347472"/>
          </a:xfrm>
          <a:prstGeom prst="rect">
            <a:avLst/>
          </a:prstGeom>
          <a:noFill/>
          <a:ln/>
        </p:spPr>
        <p:txBody>
          <a:bodyPr wrap="square" lIns="0" tIns="0" rIns="0" bIns="0" rtlCol="0" anchor="ctr"/>
          <a:lstStyle/>
          <a:p>
            <a:pPr indent="0" marL="0">
              <a:buNone/>
            </a:pPr>
            <a:r>
              <a:rPr lang="en-US" sz="1000" dirty="0">
                <a:solidFill>
                  <a:srgbClr val="1A1A2E"/>
                </a:solidFill>
              </a:rPr>
              <a:t>Multilateral dev. banks; OECD bank claims ≤ 1yr</a:t>
            </a:r>
            <a:endParaRPr lang="en-US" sz="1000" dirty="0"/>
          </a:p>
        </p:txBody>
      </p:sp>
      <p:sp>
        <p:nvSpPr>
          <p:cNvPr id="38" name="Shape 36"/>
          <p:cNvSpPr/>
          <p:nvPr/>
        </p:nvSpPr>
        <p:spPr>
          <a:xfrm>
            <a:off x="274320" y="3328416"/>
            <a:ext cx="4114800" cy="347472"/>
          </a:xfrm>
          <a:prstGeom prst="rect">
            <a:avLst/>
          </a:prstGeom>
          <a:solidFill>
            <a:srgbClr val="F4F6F8"/>
          </a:solidFill>
          <a:ln/>
        </p:spPr>
      </p:sp>
      <p:sp>
        <p:nvSpPr>
          <p:cNvPr id="39" name="Shape 37"/>
          <p:cNvSpPr/>
          <p:nvPr/>
        </p:nvSpPr>
        <p:spPr>
          <a:xfrm>
            <a:off x="274320" y="3328416"/>
            <a:ext cx="640080" cy="347472"/>
          </a:xfrm>
          <a:prstGeom prst="rect">
            <a:avLst/>
          </a:prstGeom>
          <a:solidFill>
            <a:srgbClr val="D4770A"/>
          </a:solidFill>
          <a:ln/>
        </p:spPr>
      </p:sp>
      <p:sp>
        <p:nvSpPr>
          <p:cNvPr id="40" name="Text 38"/>
          <p:cNvSpPr/>
          <p:nvPr/>
        </p:nvSpPr>
        <p:spPr>
          <a:xfrm>
            <a:off x="274320" y="3328416"/>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rPr>
              <a:t>50%</a:t>
            </a:r>
            <a:endParaRPr lang="en-US" sz="1100" dirty="0"/>
          </a:p>
        </p:txBody>
      </p:sp>
      <p:sp>
        <p:nvSpPr>
          <p:cNvPr id="41" name="Text 39"/>
          <p:cNvSpPr/>
          <p:nvPr/>
        </p:nvSpPr>
        <p:spPr>
          <a:xfrm>
            <a:off x="960120" y="3328416"/>
            <a:ext cx="3383280" cy="347472"/>
          </a:xfrm>
          <a:prstGeom prst="rect">
            <a:avLst/>
          </a:prstGeom>
          <a:noFill/>
          <a:ln/>
        </p:spPr>
        <p:txBody>
          <a:bodyPr wrap="square" lIns="0" tIns="0" rIns="0" bIns="0" rtlCol="0" anchor="ctr"/>
          <a:lstStyle/>
          <a:p>
            <a:pPr indent="0" marL="0">
              <a:buNone/>
            </a:pPr>
            <a:r>
              <a:rPr lang="en-US" sz="1000" dirty="0">
                <a:solidFill>
                  <a:srgbClr val="1A1A2E"/>
                </a:solidFill>
              </a:rPr>
              <a:t>Residential mortgage loans</a:t>
            </a:r>
            <a:endParaRPr lang="en-US" sz="1000" dirty="0"/>
          </a:p>
        </p:txBody>
      </p:sp>
      <p:sp>
        <p:nvSpPr>
          <p:cNvPr id="42" name="Shape 40"/>
          <p:cNvSpPr/>
          <p:nvPr/>
        </p:nvSpPr>
        <p:spPr>
          <a:xfrm>
            <a:off x="274320" y="3675888"/>
            <a:ext cx="4114800" cy="347472"/>
          </a:xfrm>
          <a:prstGeom prst="rect">
            <a:avLst/>
          </a:prstGeom>
          <a:solidFill>
            <a:srgbClr val="FFFFFF"/>
          </a:solidFill>
          <a:ln/>
        </p:spPr>
      </p:sp>
      <p:sp>
        <p:nvSpPr>
          <p:cNvPr id="43" name="Shape 41"/>
          <p:cNvSpPr/>
          <p:nvPr/>
        </p:nvSpPr>
        <p:spPr>
          <a:xfrm>
            <a:off x="274320" y="3675888"/>
            <a:ext cx="640080" cy="347472"/>
          </a:xfrm>
          <a:prstGeom prst="rect">
            <a:avLst/>
          </a:prstGeom>
          <a:solidFill>
            <a:srgbClr val="8B0000"/>
          </a:solidFill>
          <a:ln/>
        </p:spPr>
      </p:sp>
      <p:sp>
        <p:nvSpPr>
          <p:cNvPr id="44" name="Text 42"/>
          <p:cNvSpPr/>
          <p:nvPr/>
        </p:nvSpPr>
        <p:spPr>
          <a:xfrm>
            <a:off x="274320" y="3675888"/>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rPr>
              <a:t>100%</a:t>
            </a:r>
            <a:endParaRPr lang="en-US" sz="1100" dirty="0"/>
          </a:p>
        </p:txBody>
      </p:sp>
      <p:sp>
        <p:nvSpPr>
          <p:cNvPr id="45" name="Text 43"/>
          <p:cNvSpPr/>
          <p:nvPr/>
        </p:nvSpPr>
        <p:spPr>
          <a:xfrm>
            <a:off x="960120" y="3675888"/>
            <a:ext cx="3383280" cy="347472"/>
          </a:xfrm>
          <a:prstGeom prst="rect">
            <a:avLst/>
          </a:prstGeom>
          <a:noFill/>
          <a:ln/>
        </p:spPr>
        <p:txBody>
          <a:bodyPr wrap="square" lIns="0" tIns="0" rIns="0" bIns="0" rtlCol="0" anchor="ctr"/>
          <a:lstStyle/>
          <a:p>
            <a:pPr indent="0" marL="0">
              <a:buNone/>
            </a:pPr>
            <a:r>
              <a:rPr lang="en-US" sz="1000" dirty="0">
                <a:solidFill>
                  <a:srgbClr val="1A1A2E"/>
                </a:solidFill>
              </a:rPr>
              <a:t>Corporate, non-OECD banks, all other assets</a:t>
            </a:r>
            <a:endParaRPr lang="en-US" sz="1000" dirty="0"/>
          </a:p>
        </p:txBody>
      </p:sp>
      <p:sp>
        <p:nvSpPr>
          <p:cNvPr id="46" name="Shape 44"/>
          <p:cNvSpPr/>
          <p:nvPr/>
        </p:nvSpPr>
        <p:spPr>
          <a:xfrm>
            <a:off x="4617720" y="1965960"/>
            <a:ext cx="4206240" cy="320040"/>
          </a:xfrm>
          <a:prstGeom prst="rect">
            <a:avLst/>
          </a:prstGeom>
          <a:solidFill>
            <a:srgbClr val="8B0000"/>
          </a:solidFill>
          <a:ln/>
        </p:spPr>
      </p:sp>
      <p:sp>
        <p:nvSpPr>
          <p:cNvPr id="47" name="Text 45"/>
          <p:cNvSpPr/>
          <p:nvPr/>
        </p:nvSpPr>
        <p:spPr>
          <a:xfrm>
            <a:off x="4617720" y="1965960"/>
            <a:ext cx="4206240" cy="320040"/>
          </a:xfrm>
          <a:prstGeom prst="rect">
            <a:avLst/>
          </a:prstGeom>
          <a:noFill/>
          <a:ln/>
        </p:spPr>
        <p:txBody>
          <a:bodyPr wrap="square" lIns="0" tIns="0" rIns="0" bIns="0" rtlCol="0" anchor="ctr"/>
          <a:lstStyle/>
          <a:p>
            <a:pPr algn="ctr" indent="0" marL="0">
              <a:buNone/>
            </a:pPr>
            <a:r>
              <a:rPr lang="en-US" sz="1000" b="1" dirty="0">
                <a:solidFill>
                  <a:srgbClr val="FFFFFF"/>
                </a:solidFill>
              </a:rPr>
              <a:t>KEY LIMITATIONS</a:t>
            </a:r>
            <a:endParaRPr lang="en-US" sz="1000" dirty="0"/>
          </a:p>
        </p:txBody>
      </p:sp>
      <p:sp>
        <p:nvSpPr>
          <p:cNvPr id="48" name="Shape 46"/>
          <p:cNvSpPr/>
          <p:nvPr/>
        </p:nvSpPr>
        <p:spPr>
          <a:xfrm>
            <a:off x="4617720" y="2286000"/>
            <a:ext cx="4206240" cy="347472"/>
          </a:xfrm>
          <a:prstGeom prst="rect">
            <a:avLst/>
          </a:prstGeom>
          <a:solidFill>
            <a:srgbClr val="FFFFFF"/>
          </a:solidFill>
          <a:ln/>
        </p:spPr>
      </p:sp>
      <p:sp>
        <p:nvSpPr>
          <p:cNvPr id="49" name="Shape 47"/>
          <p:cNvSpPr/>
          <p:nvPr/>
        </p:nvSpPr>
        <p:spPr>
          <a:xfrm>
            <a:off x="4617720" y="2414016"/>
            <a:ext cx="54864" cy="91440"/>
          </a:xfrm>
          <a:prstGeom prst="rect">
            <a:avLst/>
          </a:prstGeom>
          <a:solidFill>
            <a:srgbClr val="8B0000"/>
          </a:solidFill>
          <a:ln/>
        </p:spPr>
      </p:sp>
      <p:sp>
        <p:nvSpPr>
          <p:cNvPr id="50" name="Text 48"/>
          <p:cNvSpPr/>
          <p:nvPr/>
        </p:nvSpPr>
        <p:spPr>
          <a:xfrm>
            <a:off x="4736592" y="2286000"/>
            <a:ext cx="4041648" cy="347472"/>
          </a:xfrm>
          <a:prstGeom prst="rect">
            <a:avLst/>
          </a:prstGeom>
          <a:noFill/>
          <a:ln/>
        </p:spPr>
        <p:txBody>
          <a:bodyPr wrap="square" lIns="0" tIns="0" rIns="0" bIns="0" rtlCol="0" anchor="ctr"/>
          <a:lstStyle/>
          <a:p>
            <a:pPr indent="0" marL="0">
              <a:buNone/>
            </a:pPr>
            <a:r>
              <a:rPr lang="en-US" sz="950" dirty="0">
                <a:solidFill>
                  <a:srgbClr val="1A1A2E"/>
                </a:solidFill>
              </a:rPr>
              <a:t>Only credit risk covered — market and operational risk absent</a:t>
            </a:r>
            <a:endParaRPr lang="en-US" sz="950" dirty="0"/>
          </a:p>
        </p:txBody>
      </p:sp>
      <p:sp>
        <p:nvSpPr>
          <p:cNvPr id="51" name="Shape 49"/>
          <p:cNvSpPr/>
          <p:nvPr/>
        </p:nvSpPr>
        <p:spPr>
          <a:xfrm>
            <a:off x="4617720" y="2633472"/>
            <a:ext cx="4206240" cy="347472"/>
          </a:xfrm>
          <a:prstGeom prst="rect">
            <a:avLst/>
          </a:prstGeom>
          <a:solidFill>
            <a:srgbClr val="F4F6F8"/>
          </a:solidFill>
          <a:ln/>
        </p:spPr>
      </p:sp>
      <p:sp>
        <p:nvSpPr>
          <p:cNvPr id="52" name="Shape 50"/>
          <p:cNvSpPr/>
          <p:nvPr/>
        </p:nvSpPr>
        <p:spPr>
          <a:xfrm>
            <a:off x="4617720" y="2761488"/>
            <a:ext cx="54864" cy="91440"/>
          </a:xfrm>
          <a:prstGeom prst="rect">
            <a:avLst/>
          </a:prstGeom>
          <a:solidFill>
            <a:srgbClr val="8B0000"/>
          </a:solidFill>
          <a:ln/>
        </p:spPr>
      </p:sp>
      <p:sp>
        <p:nvSpPr>
          <p:cNvPr id="53" name="Text 51"/>
          <p:cNvSpPr/>
          <p:nvPr/>
        </p:nvSpPr>
        <p:spPr>
          <a:xfrm>
            <a:off x="4736592" y="2633472"/>
            <a:ext cx="4041648" cy="347472"/>
          </a:xfrm>
          <a:prstGeom prst="rect">
            <a:avLst/>
          </a:prstGeom>
          <a:noFill/>
          <a:ln/>
        </p:spPr>
        <p:txBody>
          <a:bodyPr wrap="square" lIns="0" tIns="0" rIns="0" bIns="0" rtlCol="0" anchor="ctr"/>
          <a:lstStyle/>
          <a:p>
            <a:pPr indent="0" marL="0">
              <a:buNone/>
            </a:pPr>
            <a:r>
              <a:rPr lang="en-US" sz="950" dirty="0">
                <a:solidFill>
                  <a:srgbClr val="1A1A2E"/>
                </a:solidFill>
              </a:rPr>
              <a:t>Risk weights based on OECD membership, not credit quality</a:t>
            </a:r>
            <a:endParaRPr lang="en-US" sz="950" dirty="0"/>
          </a:p>
        </p:txBody>
      </p:sp>
      <p:sp>
        <p:nvSpPr>
          <p:cNvPr id="54" name="Shape 52"/>
          <p:cNvSpPr/>
          <p:nvPr/>
        </p:nvSpPr>
        <p:spPr>
          <a:xfrm>
            <a:off x="4617720" y="2980944"/>
            <a:ext cx="4206240" cy="347472"/>
          </a:xfrm>
          <a:prstGeom prst="rect">
            <a:avLst/>
          </a:prstGeom>
          <a:solidFill>
            <a:srgbClr val="FFFFFF"/>
          </a:solidFill>
          <a:ln/>
        </p:spPr>
      </p:sp>
      <p:sp>
        <p:nvSpPr>
          <p:cNvPr id="55" name="Shape 53"/>
          <p:cNvSpPr/>
          <p:nvPr/>
        </p:nvSpPr>
        <p:spPr>
          <a:xfrm>
            <a:off x="4617720" y="3108960"/>
            <a:ext cx="54864" cy="91440"/>
          </a:xfrm>
          <a:prstGeom prst="rect">
            <a:avLst/>
          </a:prstGeom>
          <a:solidFill>
            <a:srgbClr val="8B0000"/>
          </a:solidFill>
          <a:ln/>
        </p:spPr>
      </p:sp>
      <p:sp>
        <p:nvSpPr>
          <p:cNvPr id="56" name="Text 54"/>
          <p:cNvSpPr/>
          <p:nvPr/>
        </p:nvSpPr>
        <p:spPr>
          <a:xfrm>
            <a:off x="4736592" y="2980944"/>
            <a:ext cx="4041648" cy="347472"/>
          </a:xfrm>
          <a:prstGeom prst="rect">
            <a:avLst/>
          </a:prstGeom>
          <a:noFill/>
          <a:ln/>
        </p:spPr>
        <p:txBody>
          <a:bodyPr wrap="square" lIns="0" tIns="0" rIns="0" bIns="0" rtlCol="0" anchor="ctr"/>
          <a:lstStyle/>
          <a:p>
            <a:pPr indent="0" marL="0">
              <a:buNone/>
            </a:pPr>
            <a:r>
              <a:rPr lang="en-US" sz="950" dirty="0">
                <a:solidFill>
                  <a:srgbClr val="1A1A2E"/>
                </a:solidFill>
              </a:rPr>
              <a:t>No sensitivity to borrower creditworthiness within asset classes</a:t>
            </a:r>
            <a:endParaRPr lang="en-US" sz="950" dirty="0"/>
          </a:p>
        </p:txBody>
      </p:sp>
      <p:sp>
        <p:nvSpPr>
          <p:cNvPr id="57" name="Shape 55"/>
          <p:cNvSpPr/>
          <p:nvPr/>
        </p:nvSpPr>
        <p:spPr>
          <a:xfrm>
            <a:off x="4617720" y="3328416"/>
            <a:ext cx="4206240" cy="347472"/>
          </a:xfrm>
          <a:prstGeom prst="rect">
            <a:avLst/>
          </a:prstGeom>
          <a:solidFill>
            <a:srgbClr val="F4F6F8"/>
          </a:solidFill>
          <a:ln/>
        </p:spPr>
      </p:sp>
      <p:sp>
        <p:nvSpPr>
          <p:cNvPr id="58" name="Shape 56"/>
          <p:cNvSpPr/>
          <p:nvPr/>
        </p:nvSpPr>
        <p:spPr>
          <a:xfrm>
            <a:off x="4617720" y="3456432"/>
            <a:ext cx="54864" cy="91440"/>
          </a:xfrm>
          <a:prstGeom prst="rect">
            <a:avLst/>
          </a:prstGeom>
          <a:solidFill>
            <a:srgbClr val="8B0000"/>
          </a:solidFill>
          <a:ln/>
        </p:spPr>
      </p:sp>
      <p:sp>
        <p:nvSpPr>
          <p:cNvPr id="59" name="Text 57"/>
          <p:cNvSpPr/>
          <p:nvPr/>
        </p:nvSpPr>
        <p:spPr>
          <a:xfrm>
            <a:off x="4736592" y="3328416"/>
            <a:ext cx="4041648" cy="347472"/>
          </a:xfrm>
          <a:prstGeom prst="rect">
            <a:avLst/>
          </a:prstGeom>
          <a:noFill/>
          <a:ln/>
        </p:spPr>
        <p:txBody>
          <a:bodyPr wrap="square" lIns="0" tIns="0" rIns="0" bIns="0" rtlCol="0" anchor="ctr"/>
          <a:lstStyle/>
          <a:p>
            <a:pPr indent="0" marL="0">
              <a:buNone/>
            </a:pPr>
            <a:r>
              <a:rPr lang="en-US" sz="950" dirty="0">
                <a:solidFill>
                  <a:srgbClr val="1A1A2E"/>
                </a:solidFill>
              </a:rPr>
              <a:t>Fixed buckets easily gamed via securitisation</a:t>
            </a:r>
            <a:endParaRPr lang="en-US" sz="950" dirty="0"/>
          </a:p>
        </p:txBody>
      </p:sp>
      <p:sp>
        <p:nvSpPr>
          <p:cNvPr id="60" name="Shape 58"/>
          <p:cNvSpPr/>
          <p:nvPr/>
        </p:nvSpPr>
        <p:spPr>
          <a:xfrm>
            <a:off x="4617720" y="3675888"/>
            <a:ext cx="4206240" cy="347472"/>
          </a:xfrm>
          <a:prstGeom prst="rect">
            <a:avLst/>
          </a:prstGeom>
          <a:solidFill>
            <a:srgbClr val="FFFFFF"/>
          </a:solidFill>
          <a:ln/>
        </p:spPr>
      </p:sp>
      <p:sp>
        <p:nvSpPr>
          <p:cNvPr id="61" name="Shape 59"/>
          <p:cNvSpPr/>
          <p:nvPr/>
        </p:nvSpPr>
        <p:spPr>
          <a:xfrm>
            <a:off x="4617720" y="3803904"/>
            <a:ext cx="54864" cy="91440"/>
          </a:xfrm>
          <a:prstGeom prst="rect">
            <a:avLst/>
          </a:prstGeom>
          <a:solidFill>
            <a:srgbClr val="8B0000"/>
          </a:solidFill>
          <a:ln/>
        </p:spPr>
      </p:sp>
      <p:sp>
        <p:nvSpPr>
          <p:cNvPr id="62" name="Text 60"/>
          <p:cNvSpPr/>
          <p:nvPr/>
        </p:nvSpPr>
        <p:spPr>
          <a:xfrm>
            <a:off x="4736592" y="3675888"/>
            <a:ext cx="4041648" cy="347472"/>
          </a:xfrm>
          <a:prstGeom prst="rect">
            <a:avLst/>
          </a:prstGeom>
          <a:noFill/>
          <a:ln/>
        </p:spPr>
        <p:txBody>
          <a:bodyPr wrap="square" lIns="0" tIns="0" rIns="0" bIns="0" rtlCol="0" anchor="ctr"/>
          <a:lstStyle/>
          <a:p>
            <a:pPr indent="0" marL="0">
              <a:buNone/>
            </a:pPr>
            <a:r>
              <a:rPr lang="en-US" sz="950" dirty="0">
                <a:solidFill>
                  <a:srgbClr val="1A1A2E"/>
                </a:solidFill>
              </a:rPr>
              <a:t>No liquidity, leverage, or concentration risk requirements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Basel II — 2004</a:t>
            </a:r>
            <a:endParaRPr lang="en-US" sz="900" dirty="0"/>
          </a:p>
        </p:txBody>
      </p:sp>
      <p:sp>
        <p:nvSpPr>
          <p:cNvPr id="4" name="Shape 2"/>
          <p:cNvSpPr/>
          <p:nvPr/>
        </p:nvSpPr>
        <p:spPr>
          <a:xfrm>
            <a:off x="0" y="0"/>
            <a:ext cx="9144000" cy="658368"/>
          </a:xfrm>
          <a:prstGeom prst="rect">
            <a:avLst/>
          </a:prstGeom>
          <a:solidFill>
            <a:srgbClr val="0E6B8A"/>
          </a:solidFill>
          <a:ln/>
        </p:spPr>
      </p:sp>
      <p:sp>
        <p:nvSpPr>
          <p:cNvPr id="5" name="Text 3"/>
          <p:cNvSpPr/>
          <p:nvPr/>
        </p:nvSpPr>
        <p:spPr>
          <a:xfrm>
            <a:off x="365760" y="0"/>
            <a:ext cx="6400800" cy="658368"/>
          </a:xfrm>
          <a:prstGeom prst="rect">
            <a:avLst/>
          </a:prstGeom>
          <a:noFill/>
          <a:ln/>
        </p:spPr>
        <p:txBody>
          <a:bodyPr wrap="square" lIns="0" tIns="0" rIns="0" bIns="0" rtlCol="0" anchor="ctr"/>
          <a:lstStyle/>
          <a:p>
            <a:pPr indent="0" marL="0">
              <a:buNone/>
            </a:pPr>
            <a:r>
              <a:rPr lang="en-US" sz="2200" b="1" dirty="0">
                <a:solidFill>
                  <a:srgbClr val="FFFFFF"/>
                </a:solidFill>
              </a:rPr>
              <a:t>Basel II  —  The Three Pillars Framework</a:t>
            </a:r>
            <a:endParaRPr lang="en-US" sz="2200" dirty="0"/>
          </a:p>
        </p:txBody>
      </p:sp>
      <p:sp>
        <p:nvSpPr>
          <p:cNvPr id="6" name="Shape 4"/>
          <p:cNvSpPr/>
          <p:nvPr/>
        </p:nvSpPr>
        <p:spPr>
          <a:xfrm>
            <a:off x="6583680" y="201168"/>
            <a:ext cx="2125066" cy="256032"/>
          </a:xfrm>
          <a:prstGeom prst="rect">
            <a:avLst/>
          </a:prstGeom>
          <a:solidFill>
            <a:srgbClr val="C9A84C"/>
          </a:solidFill>
          <a:ln w="12700">
            <a:solidFill>
              <a:srgbClr val="C9A84C"/>
            </a:solidFill>
            <a:prstDash val="solid"/>
          </a:ln>
        </p:spPr>
      </p:sp>
      <p:sp>
        <p:nvSpPr>
          <p:cNvPr id="7" name="Text 5"/>
          <p:cNvSpPr/>
          <p:nvPr/>
        </p:nvSpPr>
        <p:spPr>
          <a:xfrm>
            <a:off x="6583680" y="201168"/>
            <a:ext cx="2125066" cy="256032"/>
          </a:xfrm>
          <a:prstGeom prst="rect">
            <a:avLst/>
          </a:prstGeom>
          <a:noFill/>
          <a:ln/>
        </p:spPr>
        <p:txBody>
          <a:bodyPr wrap="square" lIns="0" tIns="0" rIns="0" bIns="0" rtlCol="0" anchor="ctr"/>
          <a:lstStyle/>
          <a:p>
            <a:pPr algn="ctr" indent="0" marL="0">
              <a:buNone/>
            </a:pPr>
            <a:r>
              <a:rPr lang="en-US" sz="800" b="1" dirty="0">
                <a:solidFill>
                  <a:srgbClr val="FFFFFF"/>
                </a:solidFill>
              </a:rPr>
              <a:t>2004 · IMPLEMENTED 2008</a:t>
            </a:r>
            <a:endParaRPr lang="en-US" sz="800" dirty="0"/>
          </a:p>
        </p:txBody>
      </p:sp>
      <p:sp>
        <p:nvSpPr>
          <p:cNvPr id="8" name="Shape 6"/>
          <p:cNvSpPr/>
          <p:nvPr/>
        </p:nvSpPr>
        <p:spPr>
          <a:xfrm>
            <a:off x="256032" y="777240"/>
            <a:ext cx="2743200" cy="38862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56032" y="777240"/>
            <a:ext cx="2743200" cy="502920"/>
          </a:xfrm>
          <a:prstGeom prst="rect">
            <a:avLst/>
          </a:prstGeom>
          <a:solidFill>
            <a:srgbClr val="1B3A6B"/>
          </a:solidFill>
          <a:ln/>
        </p:spPr>
      </p:sp>
      <p:sp>
        <p:nvSpPr>
          <p:cNvPr id="10" name="Text 8"/>
          <p:cNvSpPr/>
          <p:nvPr/>
        </p:nvSpPr>
        <p:spPr>
          <a:xfrm>
            <a:off x="256032" y="777240"/>
            <a:ext cx="2743200" cy="502920"/>
          </a:xfrm>
          <a:prstGeom prst="rect">
            <a:avLst/>
          </a:prstGeom>
          <a:noFill/>
          <a:ln/>
        </p:spPr>
        <p:txBody>
          <a:bodyPr wrap="square" lIns="0" tIns="0" rIns="0" bIns="0" rtlCol="0" anchor="ctr"/>
          <a:lstStyle/>
          <a:p>
            <a:pPr algn="ctr" indent="0" marL="0">
              <a:buNone/>
            </a:pPr>
            <a:r>
              <a:rPr lang="en-US" sz="1600" b="1" dirty="0">
                <a:solidFill>
                  <a:srgbClr val="FFFFFF"/>
                </a:solidFill>
              </a:rPr>
              <a:t>PILLAR 1</a:t>
            </a:r>
            <a:endParaRPr lang="en-US" sz="1600" dirty="0"/>
          </a:p>
        </p:txBody>
      </p:sp>
      <p:sp>
        <p:nvSpPr>
          <p:cNvPr id="11" name="Text 9"/>
          <p:cNvSpPr/>
          <p:nvPr/>
        </p:nvSpPr>
        <p:spPr>
          <a:xfrm>
            <a:off x="365760" y="1325880"/>
            <a:ext cx="2523744" cy="347472"/>
          </a:xfrm>
          <a:prstGeom prst="rect">
            <a:avLst/>
          </a:prstGeom>
          <a:noFill/>
          <a:ln/>
        </p:spPr>
        <p:txBody>
          <a:bodyPr wrap="square" lIns="0" tIns="0" rIns="0" bIns="0" rtlCol="0" anchor="ctr"/>
          <a:lstStyle/>
          <a:p>
            <a:pPr indent="0" marL="0">
              <a:buNone/>
            </a:pPr>
            <a:r>
              <a:rPr lang="en-US" sz="1200" b="1" dirty="0">
                <a:solidFill>
                  <a:srgbClr val="1B3A6B"/>
                </a:solidFill>
              </a:rPr>
              <a:t>Minimum Capital</a:t>
            </a:r>
            <a:endParaRPr lang="en-US" sz="1200" dirty="0"/>
          </a:p>
        </p:txBody>
      </p:sp>
      <p:sp>
        <p:nvSpPr>
          <p:cNvPr id="12" name="Text 10"/>
          <p:cNvSpPr/>
          <p:nvPr/>
        </p:nvSpPr>
        <p:spPr>
          <a:xfrm>
            <a:off x="365760" y="1719072"/>
            <a:ext cx="2523744" cy="2834640"/>
          </a:xfrm>
          <a:prstGeom prst="rect">
            <a:avLst/>
          </a:prstGeom>
          <a:noFill/>
          <a:ln/>
        </p:spPr>
        <p:txBody>
          <a:bodyPr wrap="square" lIns="0" tIns="0" rIns="0" bIns="0" rtlCol="0" anchor="t"/>
          <a:lstStyle/>
          <a:p>
            <a:pPr indent="0" marL="0">
              <a:buNone/>
            </a:pPr>
            <a:r>
              <a:rPr lang="en-US" sz="1000" dirty="0">
                <a:solidFill>
                  <a:srgbClr val="1A1A2E"/>
                </a:solidFill>
              </a:rPr>
              <a:t>Credit risk: SA / F-IRB / A-IRB based on PD, LGD, EAD.</a:t>
            </a:r>
            <a:endParaRPr lang="en-US" sz="1000" dirty="0"/>
          </a:p>
          <a:p>
            <a:pPr indent="0" marL="0">
              <a:buNone/>
            </a:pPr>
            <a:r>
              <a:rPr lang="en-US" sz="1000" dirty="0">
                <a:solidFill>
                  <a:srgbClr val="1A1A2E"/>
                </a:solidFill>
              </a:rPr>
              <a:t>Market risk: VaR 99%/10-day (1996 Amendment).</a:t>
            </a:r>
            <a:endParaRPr lang="en-US" sz="1000" dirty="0"/>
          </a:p>
          <a:p>
            <a:pPr indent="0" marL="0">
              <a:buNone/>
            </a:pPr>
            <a:r>
              <a:rPr lang="en-US" sz="1000" dirty="0">
                <a:solidFill>
                  <a:srgbClr val="1A1A2E"/>
                </a:solidFill>
              </a:rPr>
              <a:t>Operational risk: BIA / TSA / AMA — first formal OpRisk capital.</a:t>
            </a:r>
            <a:endParaRPr lang="en-US" sz="1000" dirty="0"/>
          </a:p>
        </p:txBody>
      </p:sp>
      <p:sp>
        <p:nvSpPr>
          <p:cNvPr id="13" name="Shape 11"/>
          <p:cNvSpPr/>
          <p:nvPr/>
        </p:nvSpPr>
        <p:spPr>
          <a:xfrm>
            <a:off x="3136392" y="777240"/>
            <a:ext cx="2743200" cy="38862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4" name="Shape 12"/>
          <p:cNvSpPr/>
          <p:nvPr/>
        </p:nvSpPr>
        <p:spPr>
          <a:xfrm>
            <a:off x="3136392" y="777240"/>
            <a:ext cx="2743200" cy="502920"/>
          </a:xfrm>
          <a:prstGeom prst="rect">
            <a:avLst/>
          </a:prstGeom>
          <a:solidFill>
            <a:srgbClr val="0E6B8A"/>
          </a:solidFill>
          <a:ln/>
        </p:spPr>
      </p:sp>
      <p:sp>
        <p:nvSpPr>
          <p:cNvPr id="15" name="Text 13"/>
          <p:cNvSpPr/>
          <p:nvPr/>
        </p:nvSpPr>
        <p:spPr>
          <a:xfrm>
            <a:off x="3136392" y="777240"/>
            <a:ext cx="2743200" cy="502920"/>
          </a:xfrm>
          <a:prstGeom prst="rect">
            <a:avLst/>
          </a:prstGeom>
          <a:noFill/>
          <a:ln/>
        </p:spPr>
        <p:txBody>
          <a:bodyPr wrap="square" lIns="0" tIns="0" rIns="0" bIns="0" rtlCol="0" anchor="ctr"/>
          <a:lstStyle/>
          <a:p>
            <a:pPr algn="ctr" indent="0" marL="0">
              <a:buNone/>
            </a:pPr>
            <a:r>
              <a:rPr lang="en-US" sz="1600" b="1" dirty="0">
                <a:solidFill>
                  <a:srgbClr val="FFFFFF"/>
                </a:solidFill>
              </a:rPr>
              <a:t>PILLAR 2</a:t>
            </a:r>
            <a:endParaRPr lang="en-US" sz="1600" dirty="0"/>
          </a:p>
        </p:txBody>
      </p:sp>
      <p:sp>
        <p:nvSpPr>
          <p:cNvPr id="16" name="Text 14"/>
          <p:cNvSpPr/>
          <p:nvPr/>
        </p:nvSpPr>
        <p:spPr>
          <a:xfrm>
            <a:off x="3246120" y="1325880"/>
            <a:ext cx="2523744" cy="347472"/>
          </a:xfrm>
          <a:prstGeom prst="rect">
            <a:avLst/>
          </a:prstGeom>
          <a:noFill/>
          <a:ln/>
        </p:spPr>
        <p:txBody>
          <a:bodyPr wrap="square" lIns="0" tIns="0" rIns="0" bIns="0" rtlCol="0" anchor="ctr"/>
          <a:lstStyle/>
          <a:p>
            <a:pPr indent="0" marL="0">
              <a:buNone/>
            </a:pPr>
            <a:r>
              <a:rPr lang="en-US" sz="1200" b="1" dirty="0">
                <a:solidFill>
                  <a:srgbClr val="0E6B8A"/>
                </a:solidFill>
              </a:rPr>
              <a:t>Supervisory Review</a:t>
            </a:r>
            <a:endParaRPr lang="en-US" sz="1200" dirty="0"/>
          </a:p>
        </p:txBody>
      </p:sp>
      <p:sp>
        <p:nvSpPr>
          <p:cNvPr id="17" name="Text 15"/>
          <p:cNvSpPr/>
          <p:nvPr/>
        </p:nvSpPr>
        <p:spPr>
          <a:xfrm>
            <a:off x="3246120" y="1719072"/>
            <a:ext cx="2523744" cy="2834640"/>
          </a:xfrm>
          <a:prstGeom prst="rect">
            <a:avLst/>
          </a:prstGeom>
          <a:noFill/>
          <a:ln/>
        </p:spPr>
        <p:txBody>
          <a:bodyPr wrap="square" lIns="0" tIns="0" rIns="0" bIns="0" rtlCol="0" anchor="t"/>
          <a:lstStyle/>
          <a:p>
            <a:pPr indent="0" marL="0">
              <a:buNone/>
            </a:pPr>
            <a:r>
              <a:rPr lang="en-US" sz="1000" dirty="0">
                <a:solidFill>
                  <a:srgbClr val="1A1A2E"/>
                </a:solidFill>
              </a:rPr>
              <a:t>ICAAP: banks self-assess all material risks including those outside Pillar 1 (concentration, IRRBB, liquidity, reputational).</a:t>
            </a:r>
            <a:endParaRPr lang="en-US" sz="1000" dirty="0"/>
          </a:p>
          <a:p>
            <a:pPr indent="0" marL="0">
              <a:buNone/>
            </a:pPr>
            <a:r>
              <a:rPr lang="en-US" sz="1000" dirty="0">
                <a:solidFill>
                  <a:srgbClr val="1A1A2E"/>
                </a:solidFill>
              </a:rPr>
              <a:t>Supervisors can impose Pillar 2 add-ons above the Pillar 1 minimum.</a:t>
            </a:r>
            <a:endParaRPr lang="en-US" sz="1000" dirty="0"/>
          </a:p>
        </p:txBody>
      </p:sp>
      <p:sp>
        <p:nvSpPr>
          <p:cNvPr id="18" name="Shape 16"/>
          <p:cNvSpPr/>
          <p:nvPr/>
        </p:nvSpPr>
        <p:spPr>
          <a:xfrm>
            <a:off x="6016752" y="777240"/>
            <a:ext cx="2743200" cy="388620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7"/>
          <p:cNvSpPr/>
          <p:nvPr/>
        </p:nvSpPr>
        <p:spPr>
          <a:xfrm>
            <a:off x="6016752" y="777240"/>
            <a:ext cx="2743200" cy="502920"/>
          </a:xfrm>
          <a:prstGeom prst="rect">
            <a:avLst/>
          </a:prstGeom>
          <a:solidFill>
            <a:srgbClr val="C9A84C"/>
          </a:solidFill>
          <a:ln/>
        </p:spPr>
      </p:sp>
      <p:sp>
        <p:nvSpPr>
          <p:cNvPr id="20" name="Text 18"/>
          <p:cNvSpPr/>
          <p:nvPr/>
        </p:nvSpPr>
        <p:spPr>
          <a:xfrm>
            <a:off x="6016752" y="777240"/>
            <a:ext cx="2743200" cy="502920"/>
          </a:xfrm>
          <a:prstGeom prst="rect">
            <a:avLst/>
          </a:prstGeom>
          <a:noFill/>
          <a:ln/>
        </p:spPr>
        <p:txBody>
          <a:bodyPr wrap="square" lIns="0" tIns="0" rIns="0" bIns="0" rtlCol="0" anchor="ctr"/>
          <a:lstStyle/>
          <a:p>
            <a:pPr algn="ctr" indent="0" marL="0">
              <a:buNone/>
            </a:pPr>
            <a:r>
              <a:rPr lang="en-US" sz="1600" b="1" dirty="0">
                <a:solidFill>
                  <a:srgbClr val="FFFFFF"/>
                </a:solidFill>
              </a:rPr>
              <a:t>PILLAR 3</a:t>
            </a:r>
            <a:endParaRPr lang="en-US" sz="1600" dirty="0"/>
          </a:p>
        </p:txBody>
      </p:sp>
      <p:sp>
        <p:nvSpPr>
          <p:cNvPr id="21" name="Text 19"/>
          <p:cNvSpPr/>
          <p:nvPr/>
        </p:nvSpPr>
        <p:spPr>
          <a:xfrm>
            <a:off x="6126480" y="1325880"/>
            <a:ext cx="2523744" cy="347472"/>
          </a:xfrm>
          <a:prstGeom prst="rect">
            <a:avLst/>
          </a:prstGeom>
          <a:noFill/>
          <a:ln/>
        </p:spPr>
        <p:txBody>
          <a:bodyPr wrap="square" lIns="0" tIns="0" rIns="0" bIns="0" rtlCol="0" anchor="ctr"/>
          <a:lstStyle/>
          <a:p>
            <a:pPr indent="0" marL="0">
              <a:buNone/>
            </a:pPr>
            <a:r>
              <a:rPr lang="en-US" sz="1200" b="1" dirty="0">
                <a:solidFill>
                  <a:srgbClr val="C9A84C"/>
                </a:solidFill>
              </a:rPr>
              <a:t>Market Discipline</a:t>
            </a:r>
            <a:endParaRPr lang="en-US" sz="1200" dirty="0"/>
          </a:p>
        </p:txBody>
      </p:sp>
      <p:sp>
        <p:nvSpPr>
          <p:cNvPr id="22" name="Text 20"/>
          <p:cNvSpPr/>
          <p:nvPr/>
        </p:nvSpPr>
        <p:spPr>
          <a:xfrm>
            <a:off x="6126480" y="1719072"/>
            <a:ext cx="2523744" cy="2834640"/>
          </a:xfrm>
          <a:prstGeom prst="rect">
            <a:avLst/>
          </a:prstGeom>
          <a:noFill/>
          <a:ln/>
        </p:spPr>
        <p:txBody>
          <a:bodyPr wrap="square" lIns="0" tIns="0" rIns="0" bIns="0" rtlCol="0" anchor="t"/>
          <a:lstStyle/>
          <a:p>
            <a:pPr indent="0" marL="0">
              <a:buNone/>
            </a:pPr>
            <a:r>
              <a:rPr lang="en-US" sz="1000" dirty="0">
                <a:solidFill>
                  <a:srgbClr val="1A1A2E"/>
                </a:solidFill>
              </a:rPr>
              <a:t>Mandatory public disclosure of capital structure, RWA composition, risk exposures, and capital adequacy ratios.</a:t>
            </a:r>
            <a:endParaRPr lang="en-US" sz="1000" dirty="0"/>
          </a:p>
          <a:p>
            <a:pPr indent="0" marL="0">
              <a:buNone/>
            </a:pPr>
            <a:r>
              <a:rPr lang="en-US" sz="1000" dirty="0">
                <a:solidFill>
                  <a:srgbClr val="1A1A2E"/>
                </a:solidFill>
              </a:rPr>
              <a:t>Transparency enables market participants to price risk and exert discipline.</a:t>
            </a:r>
            <a:endParaRPr lang="en-US" sz="1000" dirty="0"/>
          </a:p>
        </p:txBody>
      </p:sp>
      <p:sp>
        <p:nvSpPr>
          <p:cNvPr id="23" name="Shape 21"/>
          <p:cNvSpPr/>
          <p:nvPr/>
        </p:nvSpPr>
        <p:spPr>
          <a:xfrm>
            <a:off x="365760" y="4645152"/>
            <a:ext cx="8412480" cy="594360"/>
          </a:xfrm>
          <a:prstGeom prst="rect">
            <a:avLst/>
          </a:prstGeom>
          <a:solidFill>
            <a:srgbClr val="D6EAF8"/>
          </a:solidFill>
          <a:ln/>
        </p:spPr>
      </p:sp>
      <p:sp>
        <p:nvSpPr>
          <p:cNvPr id="24" name="Shape 22"/>
          <p:cNvSpPr/>
          <p:nvPr/>
        </p:nvSpPr>
        <p:spPr>
          <a:xfrm>
            <a:off x="365760" y="4645152"/>
            <a:ext cx="1005840" cy="594360"/>
          </a:xfrm>
          <a:prstGeom prst="rect">
            <a:avLst/>
          </a:prstGeom>
          <a:solidFill>
            <a:srgbClr val="8B0000"/>
          </a:solidFill>
          <a:ln/>
        </p:spPr>
      </p:sp>
      <p:sp>
        <p:nvSpPr>
          <p:cNvPr id="25" name="Text 23"/>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CRITICAL FLAW</a:t>
            </a:r>
            <a:endParaRPr lang="en-US" sz="900" dirty="0"/>
          </a:p>
        </p:txBody>
      </p:sp>
      <p:sp>
        <p:nvSpPr>
          <p:cNvPr id="26" name="Text 24"/>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Procyclical VaR models and reliance on external credit ratings contributed to the 2007–09 crisis. Capital ratios appeared robust until correlated structured credit exposures collapsed simultaneously.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Basel III — 2010</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6583680" cy="658368"/>
          </a:xfrm>
          <a:prstGeom prst="rect">
            <a:avLst/>
          </a:prstGeom>
          <a:noFill/>
          <a:ln/>
        </p:spPr>
        <p:txBody>
          <a:bodyPr wrap="square" lIns="0" tIns="0" rIns="0" bIns="0" rtlCol="0" anchor="ctr"/>
          <a:lstStyle/>
          <a:p>
            <a:pPr indent="0" marL="0">
              <a:buNone/>
            </a:pPr>
            <a:r>
              <a:rPr lang="en-US" sz="2200" b="1" dirty="0">
                <a:solidFill>
                  <a:srgbClr val="FFFFFF"/>
                </a:solidFill>
              </a:rPr>
              <a:t>Basel III  —  Post-Crisis Strengthening</a:t>
            </a:r>
            <a:endParaRPr lang="en-US" sz="2200" dirty="0"/>
          </a:p>
        </p:txBody>
      </p:sp>
      <p:sp>
        <p:nvSpPr>
          <p:cNvPr id="6" name="Shape 4"/>
          <p:cNvSpPr/>
          <p:nvPr/>
        </p:nvSpPr>
        <p:spPr>
          <a:xfrm>
            <a:off x="6583680" y="201168"/>
            <a:ext cx="1964131" cy="256032"/>
          </a:xfrm>
          <a:prstGeom prst="rect">
            <a:avLst/>
          </a:prstGeom>
          <a:solidFill>
            <a:srgbClr val="C9A84C"/>
          </a:solidFill>
          <a:ln w="12700">
            <a:solidFill>
              <a:srgbClr val="C9A84C"/>
            </a:solidFill>
            <a:prstDash val="solid"/>
          </a:ln>
        </p:spPr>
      </p:sp>
      <p:sp>
        <p:nvSpPr>
          <p:cNvPr id="7" name="Text 5"/>
          <p:cNvSpPr/>
          <p:nvPr/>
        </p:nvSpPr>
        <p:spPr>
          <a:xfrm>
            <a:off x="6583680" y="201168"/>
            <a:ext cx="1964131" cy="256032"/>
          </a:xfrm>
          <a:prstGeom prst="rect">
            <a:avLst/>
          </a:prstGeom>
          <a:noFill/>
          <a:ln/>
        </p:spPr>
        <p:txBody>
          <a:bodyPr wrap="square" lIns="0" tIns="0" rIns="0" bIns="0" rtlCol="0" anchor="ctr"/>
          <a:lstStyle/>
          <a:p>
            <a:pPr algn="ctr" indent="0" marL="0">
              <a:buNone/>
            </a:pPr>
            <a:r>
              <a:rPr lang="en-US" sz="800" b="1" dirty="0">
                <a:solidFill>
                  <a:srgbClr val="FFFFFF"/>
                </a:solidFill>
              </a:rPr>
              <a:t>2010 · PHASED TO 2019</a:t>
            </a:r>
            <a:endParaRPr lang="en-US" sz="800" dirty="0"/>
          </a:p>
        </p:txBody>
      </p:sp>
      <p:sp>
        <p:nvSpPr>
          <p:cNvPr id="8" name="Shape 6"/>
          <p:cNvSpPr/>
          <p:nvPr/>
        </p:nvSpPr>
        <p:spPr>
          <a:xfrm>
            <a:off x="274320" y="777240"/>
            <a:ext cx="3931920" cy="320040"/>
          </a:xfrm>
          <a:prstGeom prst="rect">
            <a:avLst/>
          </a:prstGeom>
          <a:solidFill>
            <a:srgbClr val="1B3A6B"/>
          </a:solidFill>
          <a:ln/>
        </p:spPr>
      </p:sp>
      <p:sp>
        <p:nvSpPr>
          <p:cNvPr id="9" name="Text 7"/>
          <p:cNvSpPr/>
          <p:nvPr/>
        </p:nvSpPr>
        <p:spPr>
          <a:xfrm>
            <a:off x="274320" y="777240"/>
            <a:ext cx="3931920" cy="320040"/>
          </a:xfrm>
          <a:prstGeom prst="rect">
            <a:avLst/>
          </a:prstGeom>
          <a:noFill/>
          <a:ln/>
        </p:spPr>
        <p:txBody>
          <a:bodyPr wrap="square" lIns="0" tIns="0" rIns="0" bIns="0" rtlCol="0" anchor="ctr"/>
          <a:lstStyle/>
          <a:p>
            <a:pPr algn="ctr" indent="0" marL="0">
              <a:buNone/>
            </a:pPr>
            <a:r>
              <a:rPr lang="en-US" sz="900" b="1" dirty="0">
                <a:solidFill>
                  <a:srgbClr val="FFFFFF"/>
                </a:solidFill>
              </a:rPr>
              <a:t>CAPITAL STACK UNDER BASEL III</a:t>
            </a:r>
            <a:endParaRPr lang="en-US" sz="900" dirty="0"/>
          </a:p>
        </p:txBody>
      </p:sp>
      <p:sp>
        <p:nvSpPr>
          <p:cNvPr id="10" name="Shape 8"/>
          <p:cNvSpPr/>
          <p:nvPr/>
        </p:nvSpPr>
        <p:spPr>
          <a:xfrm>
            <a:off x="274320" y="1097280"/>
            <a:ext cx="3931920" cy="475488"/>
          </a:xfrm>
          <a:prstGeom prst="rect">
            <a:avLst/>
          </a:prstGeom>
          <a:solidFill>
            <a:srgbClr val="8B0000"/>
          </a:solidFill>
          <a:ln/>
        </p:spPr>
      </p:sp>
      <p:sp>
        <p:nvSpPr>
          <p:cNvPr id="11" name="Text 9"/>
          <p:cNvSpPr/>
          <p:nvPr/>
        </p:nvSpPr>
        <p:spPr>
          <a:xfrm>
            <a:off x="320040" y="1097280"/>
            <a:ext cx="2560320" cy="475488"/>
          </a:xfrm>
          <a:prstGeom prst="rect">
            <a:avLst/>
          </a:prstGeom>
          <a:noFill/>
          <a:ln/>
        </p:spPr>
        <p:txBody>
          <a:bodyPr wrap="square" lIns="0" tIns="0" rIns="0" bIns="0" rtlCol="0" anchor="ctr"/>
          <a:lstStyle/>
          <a:p>
            <a:pPr indent="0" marL="0">
              <a:buNone/>
            </a:pPr>
            <a:r>
              <a:rPr lang="en-US" sz="950" b="1" dirty="0">
                <a:solidFill>
                  <a:srgbClr val="FFFFFF"/>
                </a:solidFill>
              </a:rPr>
              <a:t>G-SIB Surcharge</a:t>
            </a:r>
            <a:endParaRPr lang="en-US" sz="950" dirty="0"/>
          </a:p>
        </p:txBody>
      </p:sp>
      <p:sp>
        <p:nvSpPr>
          <p:cNvPr id="12" name="Text 10"/>
          <p:cNvSpPr/>
          <p:nvPr/>
        </p:nvSpPr>
        <p:spPr>
          <a:xfrm>
            <a:off x="2834640" y="1097280"/>
            <a:ext cx="1325880" cy="475488"/>
          </a:xfrm>
          <a:prstGeom prst="rect">
            <a:avLst/>
          </a:prstGeom>
          <a:noFill/>
          <a:ln/>
        </p:spPr>
        <p:txBody>
          <a:bodyPr wrap="square" lIns="0" tIns="0" rIns="0" bIns="0" rtlCol="0" anchor="ctr"/>
          <a:lstStyle/>
          <a:p>
            <a:pPr algn="r" indent="0" marL="0">
              <a:buNone/>
            </a:pPr>
            <a:r>
              <a:rPr lang="en-US" sz="900" dirty="0">
                <a:solidFill>
                  <a:srgbClr val="FFFFFF"/>
                </a:solidFill>
              </a:rPr>
              <a:t>1–3.5% CET1</a:t>
            </a:r>
            <a:endParaRPr lang="en-US" sz="900" dirty="0"/>
          </a:p>
        </p:txBody>
      </p:sp>
      <p:sp>
        <p:nvSpPr>
          <p:cNvPr id="13" name="Shape 11"/>
          <p:cNvSpPr/>
          <p:nvPr/>
        </p:nvSpPr>
        <p:spPr>
          <a:xfrm>
            <a:off x="274320" y="1572768"/>
            <a:ext cx="3931920" cy="475488"/>
          </a:xfrm>
          <a:prstGeom prst="rect">
            <a:avLst/>
          </a:prstGeom>
          <a:solidFill>
            <a:srgbClr val="D4770A"/>
          </a:solidFill>
          <a:ln/>
        </p:spPr>
      </p:sp>
      <p:sp>
        <p:nvSpPr>
          <p:cNvPr id="14" name="Text 12"/>
          <p:cNvSpPr/>
          <p:nvPr/>
        </p:nvSpPr>
        <p:spPr>
          <a:xfrm>
            <a:off x="320040" y="1572768"/>
            <a:ext cx="2560320" cy="475488"/>
          </a:xfrm>
          <a:prstGeom prst="rect">
            <a:avLst/>
          </a:prstGeom>
          <a:noFill/>
          <a:ln/>
        </p:spPr>
        <p:txBody>
          <a:bodyPr wrap="square" lIns="0" tIns="0" rIns="0" bIns="0" rtlCol="0" anchor="ctr"/>
          <a:lstStyle/>
          <a:p>
            <a:pPr indent="0" marL="0">
              <a:buNone/>
            </a:pPr>
            <a:r>
              <a:rPr lang="en-US" sz="950" b="1" dirty="0">
                <a:solidFill>
                  <a:srgbClr val="FFFFFF"/>
                </a:solidFill>
              </a:rPr>
              <a:t>Countercyclical Buffer (CCyB)</a:t>
            </a:r>
            <a:endParaRPr lang="en-US" sz="950" dirty="0"/>
          </a:p>
        </p:txBody>
      </p:sp>
      <p:sp>
        <p:nvSpPr>
          <p:cNvPr id="15" name="Text 13"/>
          <p:cNvSpPr/>
          <p:nvPr/>
        </p:nvSpPr>
        <p:spPr>
          <a:xfrm>
            <a:off x="2834640" y="1572768"/>
            <a:ext cx="1325880" cy="475488"/>
          </a:xfrm>
          <a:prstGeom prst="rect">
            <a:avLst/>
          </a:prstGeom>
          <a:noFill/>
          <a:ln/>
        </p:spPr>
        <p:txBody>
          <a:bodyPr wrap="square" lIns="0" tIns="0" rIns="0" bIns="0" rtlCol="0" anchor="ctr"/>
          <a:lstStyle/>
          <a:p>
            <a:pPr algn="r" indent="0" marL="0">
              <a:buNone/>
            </a:pPr>
            <a:r>
              <a:rPr lang="en-US" sz="900" dirty="0">
                <a:solidFill>
                  <a:srgbClr val="FFFFFF"/>
                </a:solidFill>
              </a:rPr>
              <a:t>0–2.5% CET1 (build &amp; release)</a:t>
            </a:r>
            <a:endParaRPr lang="en-US" sz="900" dirty="0"/>
          </a:p>
        </p:txBody>
      </p:sp>
      <p:sp>
        <p:nvSpPr>
          <p:cNvPr id="16" name="Shape 14"/>
          <p:cNvSpPr/>
          <p:nvPr/>
        </p:nvSpPr>
        <p:spPr>
          <a:xfrm>
            <a:off x="274320" y="2048256"/>
            <a:ext cx="3931920" cy="475488"/>
          </a:xfrm>
          <a:prstGeom prst="rect">
            <a:avLst/>
          </a:prstGeom>
          <a:solidFill>
            <a:srgbClr val="C9A84C"/>
          </a:solidFill>
          <a:ln/>
        </p:spPr>
      </p:sp>
      <p:sp>
        <p:nvSpPr>
          <p:cNvPr id="17" name="Text 15"/>
          <p:cNvSpPr/>
          <p:nvPr/>
        </p:nvSpPr>
        <p:spPr>
          <a:xfrm>
            <a:off x="320040" y="2048256"/>
            <a:ext cx="2560320" cy="475488"/>
          </a:xfrm>
          <a:prstGeom prst="rect">
            <a:avLst/>
          </a:prstGeom>
          <a:noFill/>
          <a:ln/>
        </p:spPr>
        <p:txBody>
          <a:bodyPr wrap="square" lIns="0" tIns="0" rIns="0" bIns="0" rtlCol="0" anchor="ctr"/>
          <a:lstStyle/>
          <a:p>
            <a:pPr indent="0" marL="0">
              <a:buNone/>
            </a:pPr>
            <a:r>
              <a:rPr lang="en-US" sz="950" b="1" dirty="0">
                <a:solidFill>
                  <a:srgbClr val="FFFFFF"/>
                </a:solidFill>
              </a:rPr>
              <a:t>Capital Conservation Buffer</a:t>
            </a:r>
            <a:endParaRPr lang="en-US" sz="950" dirty="0"/>
          </a:p>
        </p:txBody>
      </p:sp>
      <p:sp>
        <p:nvSpPr>
          <p:cNvPr id="18" name="Text 16"/>
          <p:cNvSpPr/>
          <p:nvPr/>
        </p:nvSpPr>
        <p:spPr>
          <a:xfrm>
            <a:off x="2834640" y="2048256"/>
            <a:ext cx="1325880" cy="475488"/>
          </a:xfrm>
          <a:prstGeom prst="rect">
            <a:avLst/>
          </a:prstGeom>
          <a:noFill/>
          <a:ln/>
        </p:spPr>
        <p:txBody>
          <a:bodyPr wrap="square" lIns="0" tIns="0" rIns="0" bIns="0" rtlCol="0" anchor="ctr"/>
          <a:lstStyle/>
          <a:p>
            <a:pPr algn="r" indent="0" marL="0">
              <a:buNone/>
            </a:pPr>
            <a:r>
              <a:rPr lang="en-US" sz="900" dirty="0">
                <a:solidFill>
                  <a:srgbClr val="FFFFFF"/>
                </a:solidFill>
              </a:rPr>
              <a:t>+2.5% CET1</a:t>
            </a:r>
            <a:endParaRPr lang="en-US" sz="900" dirty="0"/>
          </a:p>
        </p:txBody>
      </p:sp>
      <p:sp>
        <p:nvSpPr>
          <p:cNvPr id="19" name="Shape 17"/>
          <p:cNvSpPr/>
          <p:nvPr/>
        </p:nvSpPr>
        <p:spPr>
          <a:xfrm>
            <a:off x="274320" y="2523744"/>
            <a:ext cx="3931920" cy="475488"/>
          </a:xfrm>
          <a:prstGeom prst="rect">
            <a:avLst/>
          </a:prstGeom>
          <a:solidFill>
            <a:srgbClr val="9FBFDF"/>
          </a:solidFill>
          <a:ln/>
        </p:spPr>
      </p:sp>
      <p:sp>
        <p:nvSpPr>
          <p:cNvPr id="20" name="Text 18"/>
          <p:cNvSpPr/>
          <p:nvPr/>
        </p:nvSpPr>
        <p:spPr>
          <a:xfrm>
            <a:off x="320040" y="2523744"/>
            <a:ext cx="2560320" cy="475488"/>
          </a:xfrm>
          <a:prstGeom prst="rect">
            <a:avLst/>
          </a:prstGeom>
          <a:noFill/>
          <a:ln/>
        </p:spPr>
        <p:txBody>
          <a:bodyPr wrap="square" lIns="0" tIns="0" rIns="0" bIns="0" rtlCol="0" anchor="ctr"/>
          <a:lstStyle/>
          <a:p>
            <a:pPr indent="0" marL="0">
              <a:buNone/>
            </a:pPr>
            <a:r>
              <a:rPr lang="en-US" sz="950" b="1" dirty="0">
                <a:solidFill>
                  <a:srgbClr val="1B3A6B"/>
                </a:solidFill>
              </a:rPr>
              <a:t>Additional Tier 1 (CoCos etc.)</a:t>
            </a:r>
            <a:endParaRPr lang="en-US" sz="950" dirty="0"/>
          </a:p>
        </p:txBody>
      </p:sp>
      <p:sp>
        <p:nvSpPr>
          <p:cNvPr id="21" name="Text 19"/>
          <p:cNvSpPr/>
          <p:nvPr/>
        </p:nvSpPr>
        <p:spPr>
          <a:xfrm>
            <a:off x="2834640" y="2523744"/>
            <a:ext cx="1325880" cy="475488"/>
          </a:xfrm>
          <a:prstGeom prst="rect">
            <a:avLst/>
          </a:prstGeom>
          <a:noFill/>
          <a:ln/>
        </p:spPr>
        <p:txBody>
          <a:bodyPr wrap="square" lIns="0" tIns="0" rIns="0" bIns="0" rtlCol="0" anchor="ctr"/>
          <a:lstStyle/>
          <a:p>
            <a:pPr algn="r" indent="0" marL="0">
              <a:buNone/>
            </a:pPr>
            <a:r>
              <a:rPr lang="en-US" sz="900" dirty="0">
                <a:solidFill>
                  <a:srgbClr val="1B3A6B"/>
                </a:solidFill>
              </a:rPr>
              <a:t>1.5% of RWA min</a:t>
            </a:r>
            <a:endParaRPr lang="en-US" sz="900" dirty="0"/>
          </a:p>
        </p:txBody>
      </p:sp>
      <p:sp>
        <p:nvSpPr>
          <p:cNvPr id="22" name="Shape 20"/>
          <p:cNvSpPr/>
          <p:nvPr/>
        </p:nvSpPr>
        <p:spPr>
          <a:xfrm>
            <a:off x="274320" y="2999232"/>
            <a:ext cx="3931920" cy="475488"/>
          </a:xfrm>
          <a:prstGeom prst="rect">
            <a:avLst/>
          </a:prstGeom>
          <a:solidFill>
            <a:srgbClr val="C8DCF0"/>
          </a:solidFill>
          <a:ln/>
        </p:spPr>
      </p:sp>
      <p:sp>
        <p:nvSpPr>
          <p:cNvPr id="23" name="Text 21"/>
          <p:cNvSpPr/>
          <p:nvPr/>
        </p:nvSpPr>
        <p:spPr>
          <a:xfrm>
            <a:off x="320040" y="2999232"/>
            <a:ext cx="2560320" cy="475488"/>
          </a:xfrm>
          <a:prstGeom prst="rect">
            <a:avLst/>
          </a:prstGeom>
          <a:noFill/>
          <a:ln/>
        </p:spPr>
        <p:txBody>
          <a:bodyPr wrap="square" lIns="0" tIns="0" rIns="0" bIns="0" rtlCol="0" anchor="ctr"/>
          <a:lstStyle/>
          <a:p>
            <a:pPr indent="0" marL="0">
              <a:buNone/>
            </a:pPr>
            <a:r>
              <a:rPr lang="en-US" sz="950" b="1" dirty="0">
                <a:solidFill>
                  <a:srgbClr val="1B3A6B"/>
                </a:solidFill>
              </a:rPr>
              <a:t>Tier 2 Capital</a:t>
            </a:r>
            <a:endParaRPr lang="en-US" sz="950" dirty="0"/>
          </a:p>
        </p:txBody>
      </p:sp>
      <p:sp>
        <p:nvSpPr>
          <p:cNvPr id="24" name="Text 22"/>
          <p:cNvSpPr/>
          <p:nvPr/>
        </p:nvSpPr>
        <p:spPr>
          <a:xfrm>
            <a:off x="2834640" y="2999232"/>
            <a:ext cx="1325880" cy="475488"/>
          </a:xfrm>
          <a:prstGeom prst="rect">
            <a:avLst/>
          </a:prstGeom>
          <a:noFill/>
          <a:ln/>
        </p:spPr>
        <p:txBody>
          <a:bodyPr wrap="square" lIns="0" tIns="0" rIns="0" bIns="0" rtlCol="0" anchor="ctr"/>
          <a:lstStyle/>
          <a:p>
            <a:pPr algn="r" indent="0" marL="0">
              <a:buNone/>
            </a:pPr>
            <a:r>
              <a:rPr lang="en-US" sz="900" dirty="0">
                <a:solidFill>
                  <a:srgbClr val="1B3A6B"/>
                </a:solidFill>
              </a:rPr>
              <a:t>2% of RWA min</a:t>
            </a:r>
            <a:endParaRPr lang="en-US" sz="900" dirty="0"/>
          </a:p>
        </p:txBody>
      </p:sp>
      <p:sp>
        <p:nvSpPr>
          <p:cNvPr id="25" name="Shape 23"/>
          <p:cNvSpPr/>
          <p:nvPr/>
        </p:nvSpPr>
        <p:spPr>
          <a:xfrm>
            <a:off x="274320" y="3474720"/>
            <a:ext cx="3931920" cy="475488"/>
          </a:xfrm>
          <a:prstGeom prst="rect">
            <a:avLst/>
          </a:prstGeom>
          <a:solidFill>
            <a:srgbClr val="0E6B8A"/>
          </a:solidFill>
          <a:ln/>
        </p:spPr>
      </p:sp>
      <p:sp>
        <p:nvSpPr>
          <p:cNvPr id="26" name="Text 24"/>
          <p:cNvSpPr/>
          <p:nvPr/>
        </p:nvSpPr>
        <p:spPr>
          <a:xfrm>
            <a:off x="320040" y="3474720"/>
            <a:ext cx="2560320" cy="475488"/>
          </a:xfrm>
          <a:prstGeom prst="rect">
            <a:avLst/>
          </a:prstGeom>
          <a:noFill/>
          <a:ln/>
        </p:spPr>
        <p:txBody>
          <a:bodyPr wrap="square" lIns="0" tIns="0" rIns="0" bIns="0" rtlCol="0" anchor="ctr"/>
          <a:lstStyle/>
          <a:p>
            <a:pPr indent="0" marL="0">
              <a:buNone/>
            </a:pPr>
            <a:r>
              <a:rPr lang="en-US" sz="950" b="1" dirty="0">
                <a:solidFill>
                  <a:srgbClr val="FFFFFF"/>
                </a:solidFill>
              </a:rPr>
              <a:t>Common Equity Tier 1 (CET1)</a:t>
            </a:r>
            <a:endParaRPr lang="en-US" sz="950" dirty="0"/>
          </a:p>
        </p:txBody>
      </p:sp>
      <p:sp>
        <p:nvSpPr>
          <p:cNvPr id="27" name="Text 25"/>
          <p:cNvSpPr/>
          <p:nvPr/>
        </p:nvSpPr>
        <p:spPr>
          <a:xfrm>
            <a:off x="2834640" y="3474720"/>
            <a:ext cx="1325880" cy="475488"/>
          </a:xfrm>
          <a:prstGeom prst="rect">
            <a:avLst/>
          </a:prstGeom>
          <a:noFill/>
          <a:ln/>
        </p:spPr>
        <p:txBody>
          <a:bodyPr wrap="square" lIns="0" tIns="0" rIns="0" bIns="0" rtlCol="0" anchor="ctr"/>
          <a:lstStyle/>
          <a:p>
            <a:pPr algn="r" indent="0" marL="0">
              <a:buNone/>
            </a:pPr>
            <a:r>
              <a:rPr lang="en-US" sz="900" dirty="0">
                <a:solidFill>
                  <a:srgbClr val="FFFFFF"/>
                </a:solidFill>
              </a:rPr>
              <a:t>Min 4.5% — common shares + retained earnings only</a:t>
            </a:r>
            <a:endParaRPr lang="en-US" sz="900" dirty="0"/>
          </a:p>
        </p:txBody>
      </p:sp>
      <p:sp>
        <p:nvSpPr>
          <p:cNvPr id="28" name="Shape 26"/>
          <p:cNvSpPr/>
          <p:nvPr/>
        </p:nvSpPr>
        <p:spPr>
          <a:xfrm>
            <a:off x="4434840" y="777240"/>
            <a:ext cx="4434840" cy="98755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9" name="Shape 27"/>
          <p:cNvSpPr/>
          <p:nvPr/>
        </p:nvSpPr>
        <p:spPr>
          <a:xfrm>
            <a:off x="4434840" y="777240"/>
            <a:ext cx="64008" cy="987552"/>
          </a:xfrm>
          <a:prstGeom prst="rect">
            <a:avLst/>
          </a:prstGeom>
          <a:solidFill>
            <a:srgbClr val="1B3A6B"/>
          </a:solidFill>
          <a:ln/>
        </p:spPr>
      </p:sp>
      <p:sp>
        <p:nvSpPr>
          <p:cNvPr id="30" name="Text 28"/>
          <p:cNvSpPr/>
          <p:nvPr/>
        </p:nvSpPr>
        <p:spPr>
          <a:xfrm>
            <a:off x="4572000" y="868680"/>
            <a:ext cx="4251960" cy="320040"/>
          </a:xfrm>
          <a:prstGeom prst="rect">
            <a:avLst/>
          </a:prstGeom>
          <a:noFill/>
          <a:ln/>
        </p:spPr>
        <p:txBody>
          <a:bodyPr wrap="square" lIns="0" tIns="0" rIns="0" bIns="0" rtlCol="0" anchor="ctr"/>
          <a:lstStyle/>
          <a:p>
            <a:pPr indent="0" marL="0">
              <a:buNone/>
            </a:pPr>
            <a:r>
              <a:rPr lang="en-US" sz="1100" b="1" dirty="0">
                <a:solidFill>
                  <a:srgbClr val="1B3A6B"/>
                </a:solidFill>
              </a:rPr>
              <a:t>Leverage Ratio</a:t>
            </a:r>
            <a:endParaRPr lang="en-US" sz="1100" dirty="0"/>
          </a:p>
        </p:txBody>
      </p:sp>
      <p:sp>
        <p:nvSpPr>
          <p:cNvPr id="31" name="Text 29"/>
          <p:cNvSpPr/>
          <p:nvPr/>
        </p:nvSpPr>
        <p:spPr>
          <a:xfrm>
            <a:off x="4572000" y="1161288"/>
            <a:ext cx="4251960" cy="484632"/>
          </a:xfrm>
          <a:prstGeom prst="rect">
            <a:avLst/>
          </a:prstGeom>
          <a:noFill/>
          <a:ln/>
        </p:spPr>
        <p:txBody>
          <a:bodyPr wrap="square" lIns="0" tIns="0" rIns="0" bIns="0" rtlCol="0" anchor="t"/>
          <a:lstStyle/>
          <a:p>
            <a:pPr indent="0" marL="0">
              <a:buNone/>
            </a:pPr>
            <a:r>
              <a:rPr lang="en-US" sz="1000" dirty="0">
                <a:solidFill>
                  <a:srgbClr val="1A1A2E"/>
                </a:solidFill>
              </a:rPr>
              <a:t>Tier 1 ≥ 3% of total exposure (on + off B/S). Non-risk-based backstop preventing excessive gross leverage.</a:t>
            </a:r>
            <a:endParaRPr lang="en-US" sz="1000" dirty="0"/>
          </a:p>
        </p:txBody>
      </p:sp>
      <p:sp>
        <p:nvSpPr>
          <p:cNvPr id="32" name="Shape 30"/>
          <p:cNvSpPr/>
          <p:nvPr/>
        </p:nvSpPr>
        <p:spPr>
          <a:xfrm>
            <a:off x="4434840" y="1819656"/>
            <a:ext cx="4434840" cy="98755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3" name="Shape 31"/>
          <p:cNvSpPr/>
          <p:nvPr/>
        </p:nvSpPr>
        <p:spPr>
          <a:xfrm>
            <a:off x="4434840" y="1819656"/>
            <a:ext cx="64008" cy="987552"/>
          </a:xfrm>
          <a:prstGeom prst="rect">
            <a:avLst/>
          </a:prstGeom>
          <a:solidFill>
            <a:srgbClr val="0E6B8A"/>
          </a:solidFill>
          <a:ln/>
        </p:spPr>
      </p:sp>
      <p:sp>
        <p:nvSpPr>
          <p:cNvPr id="34" name="Text 32"/>
          <p:cNvSpPr/>
          <p:nvPr/>
        </p:nvSpPr>
        <p:spPr>
          <a:xfrm>
            <a:off x="4572000" y="1911096"/>
            <a:ext cx="4251960" cy="320040"/>
          </a:xfrm>
          <a:prstGeom prst="rect">
            <a:avLst/>
          </a:prstGeom>
          <a:noFill/>
          <a:ln/>
        </p:spPr>
        <p:txBody>
          <a:bodyPr wrap="square" lIns="0" tIns="0" rIns="0" bIns="0" rtlCol="0" anchor="ctr"/>
          <a:lstStyle/>
          <a:p>
            <a:pPr indent="0" marL="0">
              <a:buNone/>
            </a:pPr>
            <a:r>
              <a:rPr lang="en-US" sz="1100" b="1" dirty="0">
                <a:solidFill>
                  <a:srgbClr val="0E6B8A"/>
                </a:solidFill>
              </a:rPr>
              <a:t>LCR</a:t>
            </a:r>
            <a:endParaRPr lang="en-US" sz="1100" dirty="0"/>
          </a:p>
        </p:txBody>
      </p:sp>
      <p:sp>
        <p:nvSpPr>
          <p:cNvPr id="35" name="Text 33"/>
          <p:cNvSpPr/>
          <p:nvPr/>
        </p:nvSpPr>
        <p:spPr>
          <a:xfrm>
            <a:off x="4572000" y="2203704"/>
            <a:ext cx="4251960" cy="484632"/>
          </a:xfrm>
          <a:prstGeom prst="rect">
            <a:avLst/>
          </a:prstGeom>
          <a:noFill/>
          <a:ln/>
        </p:spPr>
        <p:txBody>
          <a:bodyPr wrap="square" lIns="0" tIns="0" rIns="0" bIns="0" rtlCol="0" anchor="t"/>
          <a:lstStyle/>
          <a:p>
            <a:pPr indent="0" marL="0">
              <a:buNone/>
            </a:pPr>
            <a:r>
              <a:rPr lang="en-US" sz="1000" dirty="0">
                <a:solidFill>
                  <a:srgbClr val="1A1A2E"/>
                </a:solidFill>
              </a:rPr>
              <a:t>Liquidity Coverage Ratio: HQLA ÷ Net Stressed Outflows (30d) ≥ 100%. Ensures survival through a 30-day liquidity crisis.</a:t>
            </a:r>
            <a:endParaRPr lang="en-US" sz="1000" dirty="0"/>
          </a:p>
        </p:txBody>
      </p:sp>
      <p:sp>
        <p:nvSpPr>
          <p:cNvPr id="36" name="Shape 34"/>
          <p:cNvSpPr/>
          <p:nvPr/>
        </p:nvSpPr>
        <p:spPr>
          <a:xfrm>
            <a:off x="4434840" y="2862072"/>
            <a:ext cx="4434840" cy="98755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7" name="Shape 35"/>
          <p:cNvSpPr/>
          <p:nvPr/>
        </p:nvSpPr>
        <p:spPr>
          <a:xfrm>
            <a:off x="4434840" y="2862072"/>
            <a:ext cx="64008" cy="987552"/>
          </a:xfrm>
          <a:prstGeom prst="rect">
            <a:avLst/>
          </a:prstGeom>
          <a:solidFill>
            <a:srgbClr val="0E6B8A"/>
          </a:solidFill>
          <a:ln/>
        </p:spPr>
      </p:sp>
      <p:sp>
        <p:nvSpPr>
          <p:cNvPr id="38" name="Text 36"/>
          <p:cNvSpPr/>
          <p:nvPr/>
        </p:nvSpPr>
        <p:spPr>
          <a:xfrm>
            <a:off x="4572000" y="2953512"/>
            <a:ext cx="4251960" cy="320040"/>
          </a:xfrm>
          <a:prstGeom prst="rect">
            <a:avLst/>
          </a:prstGeom>
          <a:noFill/>
          <a:ln/>
        </p:spPr>
        <p:txBody>
          <a:bodyPr wrap="square" lIns="0" tIns="0" rIns="0" bIns="0" rtlCol="0" anchor="ctr"/>
          <a:lstStyle/>
          <a:p>
            <a:pPr indent="0" marL="0">
              <a:buNone/>
            </a:pPr>
            <a:r>
              <a:rPr lang="en-US" sz="1100" b="1" dirty="0">
                <a:solidFill>
                  <a:srgbClr val="0E6B8A"/>
                </a:solidFill>
              </a:rPr>
              <a:t>NSFR</a:t>
            </a:r>
            <a:endParaRPr lang="en-US" sz="1100" dirty="0"/>
          </a:p>
        </p:txBody>
      </p:sp>
      <p:sp>
        <p:nvSpPr>
          <p:cNvPr id="39" name="Text 37"/>
          <p:cNvSpPr/>
          <p:nvPr/>
        </p:nvSpPr>
        <p:spPr>
          <a:xfrm>
            <a:off x="4572000" y="3246120"/>
            <a:ext cx="4251960" cy="484632"/>
          </a:xfrm>
          <a:prstGeom prst="rect">
            <a:avLst/>
          </a:prstGeom>
          <a:noFill/>
          <a:ln/>
        </p:spPr>
        <p:txBody>
          <a:bodyPr wrap="square" lIns="0" tIns="0" rIns="0" bIns="0" rtlCol="0" anchor="t"/>
          <a:lstStyle/>
          <a:p>
            <a:pPr indent="0" marL="0">
              <a:buNone/>
            </a:pPr>
            <a:r>
              <a:rPr lang="en-US" sz="1000" dirty="0">
                <a:solidFill>
                  <a:srgbClr val="1A1A2E"/>
                </a:solidFill>
              </a:rPr>
              <a:t>Net Stable Funding Ratio: Available Stable Funding ÷ Required Stable Funding ≥ 100%. Structural 1-year funding stability.</a:t>
            </a:r>
            <a:endParaRPr lang="en-US" sz="1000" dirty="0"/>
          </a:p>
        </p:txBody>
      </p:sp>
      <p:sp>
        <p:nvSpPr>
          <p:cNvPr id="40" name="Shape 38"/>
          <p:cNvSpPr/>
          <p:nvPr/>
        </p:nvSpPr>
        <p:spPr>
          <a:xfrm>
            <a:off x="4434840" y="3904488"/>
            <a:ext cx="4434840" cy="98755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41" name="Shape 39"/>
          <p:cNvSpPr/>
          <p:nvPr/>
        </p:nvSpPr>
        <p:spPr>
          <a:xfrm>
            <a:off x="4434840" y="3904488"/>
            <a:ext cx="64008" cy="987552"/>
          </a:xfrm>
          <a:prstGeom prst="rect">
            <a:avLst/>
          </a:prstGeom>
          <a:solidFill>
            <a:srgbClr val="8B0000"/>
          </a:solidFill>
          <a:ln/>
        </p:spPr>
      </p:sp>
      <p:sp>
        <p:nvSpPr>
          <p:cNvPr id="42" name="Text 40"/>
          <p:cNvSpPr/>
          <p:nvPr/>
        </p:nvSpPr>
        <p:spPr>
          <a:xfrm>
            <a:off x="4572000" y="3995928"/>
            <a:ext cx="4251960" cy="320040"/>
          </a:xfrm>
          <a:prstGeom prst="rect">
            <a:avLst/>
          </a:prstGeom>
          <a:noFill/>
          <a:ln/>
        </p:spPr>
        <p:txBody>
          <a:bodyPr wrap="square" lIns="0" tIns="0" rIns="0" bIns="0" rtlCol="0" anchor="ctr"/>
          <a:lstStyle/>
          <a:p>
            <a:pPr indent="0" marL="0">
              <a:buNone/>
            </a:pPr>
            <a:r>
              <a:rPr lang="en-US" sz="1100" b="1" dirty="0">
                <a:solidFill>
                  <a:srgbClr val="8B0000"/>
                </a:solidFill>
              </a:rPr>
              <a:t>CVA Capital</a:t>
            </a:r>
            <a:endParaRPr lang="en-US" sz="1100" dirty="0"/>
          </a:p>
        </p:txBody>
      </p:sp>
      <p:sp>
        <p:nvSpPr>
          <p:cNvPr id="43" name="Text 41"/>
          <p:cNvSpPr/>
          <p:nvPr/>
        </p:nvSpPr>
        <p:spPr>
          <a:xfrm>
            <a:off x="4572000" y="4288536"/>
            <a:ext cx="4251960" cy="484632"/>
          </a:xfrm>
          <a:prstGeom prst="rect">
            <a:avLst/>
          </a:prstGeom>
          <a:noFill/>
          <a:ln/>
        </p:spPr>
        <p:txBody>
          <a:bodyPr wrap="square" lIns="0" tIns="0" rIns="0" bIns="0" rtlCol="0" anchor="t"/>
          <a:lstStyle/>
          <a:p>
            <a:pPr indent="0" marL="0">
              <a:buNone/>
            </a:pPr>
            <a:r>
              <a:rPr lang="en-US" sz="1000" dirty="0">
                <a:solidFill>
                  <a:srgbClr val="1A1A2E"/>
                </a:solidFill>
              </a:rPr>
              <a:t>NEW: Capital charge for MTM losses on OTC derivative CVA. ~2/3 of crisis counterparty losses were CVA, not defaults.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Basel IV — 2017</a:t>
            </a:r>
            <a:endParaRPr lang="en-US" sz="900" dirty="0"/>
          </a:p>
        </p:txBody>
      </p:sp>
      <p:sp>
        <p:nvSpPr>
          <p:cNvPr id="4" name="Shape 2"/>
          <p:cNvSpPr/>
          <p:nvPr/>
        </p:nvSpPr>
        <p:spPr>
          <a:xfrm>
            <a:off x="0" y="0"/>
            <a:ext cx="9144000" cy="658368"/>
          </a:xfrm>
          <a:prstGeom prst="rect">
            <a:avLst/>
          </a:prstGeom>
          <a:solidFill>
            <a:srgbClr val="0E6B8A"/>
          </a:solidFill>
          <a:ln/>
        </p:spPr>
      </p:sp>
      <p:sp>
        <p:nvSpPr>
          <p:cNvPr id="5" name="Text 3"/>
          <p:cNvSpPr/>
          <p:nvPr/>
        </p:nvSpPr>
        <p:spPr>
          <a:xfrm>
            <a:off x="365760" y="0"/>
            <a:ext cx="6583680" cy="658368"/>
          </a:xfrm>
          <a:prstGeom prst="rect">
            <a:avLst/>
          </a:prstGeom>
          <a:noFill/>
          <a:ln/>
        </p:spPr>
        <p:txBody>
          <a:bodyPr wrap="square" lIns="0" tIns="0" rIns="0" bIns="0" rtlCol="0" anchor="ctr"/>
          <a:lstStyle/>
          <a:p>
            <a:pPr indent="0" marL="0">
              <a:buNone/>
            </a:pPr>
            <a:r>
              <a:rPr lang="en-US" sz="2200" b="1" dirty="0">
                <a:solidFill>
                  <a:srgbClr val="FFFFFF"/>
                </a:solidFill>
              </a:rPr>
              <a:t>Basel IV  —  Finalisation &amp; Model Constraint</a:t>
            </a:r>
            <a:endParaRPr lang="en-US" sz="2200" dirty="0"/>
          </a:p>
        </p:txBody>
      </p:sp>
      <p:sp>
        <p:nvSpPr>
          <p:cNvPr id="6" name="Shape 4"/>
          <p:cNvSpPr/>
          <p:nvPr/>
        </p:nvSpPr>
        <p:spPr>
          <a:xfrm>
            <a:off x="5989320" y="201168"/>
            <a:ext cx="3090672" cy="256032"/>
          </a:xfrm>
          <a:prstGeom prst="rect">
            <a:avLst/>
          </a:prstGeom>
          <a:solidFill>
            <a:srgbClr val="C9A84C"/>
          </a:solidFill>
          <a:ln w="12700">
            <a:solidFill>
              <a:srgbClr val="C9A84C"/>
            </a:solidFill>
            <a:prstDash val="solid"/>
          </a:ln>
        </p:spPr>
      </p:sp>
      <p:sp>
        <p:nvSpPr>
          <p:cNvPr id="7" name="Text 5"/>
          <p:cNvSpPr/>
          <p:nvPr/>
        </p:nvSpPr>
        <p:spPr>
          <a:xfrm>
            <a:off x="5989320" y="201168"/>
            <a:ext cx="3090672" cy="256032"/>
          </a:xfrm>
          <a:prstGeom prst="rect">
            <a:avLst/>
          </a:prstGeom>
          <a:noFill/>
          <a:ln/>
        </p:spPr>
        <p:txBody>
          <a:bodyPr wrap="square" lIns="0" tIns="0" rIns="0" bIns="0" rtlCol="0" anchor="ctr"/>
          <a:lstStyle/>
          <a:p>
            <a:pPr algn="ctr" indent="0" marL="0">
              <a:buNone/>
            </a:pPr>
            <a:r>
              <a:rPr lang="en-US" sz="800" b="1" dirty="0">
                <a:solidFill>
                  <a:srgbClr val="FFFFFF"/>
                </a:solidFill>
              </a:rPr>
              <a:t>DEC 2017 · IMPLEMENTATION 2025–2028</a:t>
            </a:r>
            <a:endParaRPr lang="en-US" sz="800" dirty="0"/>
          </a:p>
        </p:txBody>
      </p:sp>
      <p:sp>
        <p:nvSpPr>
          <p:cNvPr id="8" name="Shape 6"/>
          <p:cNvSpPr/>
          <p:nvPr/>
        </p:nvSpPr>
        <p:spPr>
          <a:xfrm>
            <a:off x="274320" y="777240"/>
            <a:ext cx="8595360" cy="841248"/>
          </a:xfrm>
          <a:prstGeom prst="rect">
            <a:avLst/>
          </a:prstGeom>
          <a:solidFill>
            <a:srgbClr val="1B3A6B"/>
          </a:solidFill>
          <a:ln/>
          <a:effectLst>
            <a:outerShdw sx="100000" sy="100000" kx="0" ky="0" algn="bl" rotWithShape="0" blurRad="101600" dist="38100" dir="8100000">
              <a:srgbClr val="000000">
                <a:alpha val="18000"/>
              </a:srgbClr>
            </a:outerShdw>
          </a:effectLst>
        </p:spPr>
      </p:sp>
      <p:sp>
        <p:nvSpPr>
          <p:cNvPr id="9" name="Shape 7"/>
          <p:cNvSpPr/>
          <p:nvPr/>
        </p:nvSpPr>
        <p:spPr>
          <a:xfrm>
            <a:off x="274320" y="777240"/>
            <a:ext cx="1828800" cy="841248"/>
          </a:xfrm>
          <a:prstGeom prst="rect">
            <a:avLst/>
          </a:prstGeom>
          <a:solidFill>
            <a:srgbClr val="C9A84C"/>
          </a:solidFill>
          <a:ln/>
        </p:spPr>
      </p:sp>
      <p:sp>
        <p:nvSpPr>
          <p:cNvPr id="10" name="Text 8"/>
          <p:cNvSpPr/>
          <p:nvPr/>
        </p:nvSpPr>
        <p:spPr>
          <a:xfrm>
            <a:off x="274320" y="777240"/>
            <a:ext cx="1828800" cy="841248"/>
          </a:xfrm>
          <a:prstGeom prst="rect">
            <a:avLst/>
          </a:prstGeom>
          <a:noFill/>
          <a:ln/>
        </p:spPr>
        <p:txBody>
          <a:bodyPr wrap="square" lIns="0" tIns="0" rIns="0" bIns="0" rtlCol="0" anchor="ctr"/>
          <a:lstStyle/>
          <a:p>
            <a:pPr algn="ctr" indent="0" marL="0">
              <a:buNone/>
            </a:pPr>
            <a:r>
              <a:rPr lang="en-US" sz="1400" b="1" dirty="0">
                <a:solidFill>
                  <a:srgbClr val="1B3A6B"/>
                </a:solidFill>
              </a:rPr>
              <a:t>OUTPUT</a:t>
            </a:r>
            <a:endParaRPr lang="en-US" sz="1400" dirty="0"/>
          </a:p>
          <a:p>
            <a:pPr algn="ctr" indent="0" marL="0">
              <a:buNone/>
            </a:pPr>
            <a:r>
              <a:rPr lang="en-US" sz="1400" b="1" dirty="0">
                <a:solidFill>
                  <a:srgbClr val="1B3A6B"/>
                </a:solidFill>
              </a:rPr>
              <a:t>FLOOR</a:t>
            </a:r>
            <a:endParaRPr lang="en-US" sz="1400" dirty="0"/>
          </a:p>
        </p:txBody>
      </p:sp>
      <p:sp>
        <p:nvSpPr>
          <p:cNvPr id="11" name="Text 9"/>
          <p:cNvSpPr/>
          <p:nvPr/>
        </p:nvSpPr>
        <p:spPr>
          <a:xfrm>
            <a:off x="2240280" y="804672"/>
            <a:ext cx="6400800" cy="402336"/>
          </a:xfrm>
          <a:prstGeom prst="rect">
            <a:avLst/>
          </a:prstGeom>
          <a:noFill/>
          <a:ln/>
        </p:spPr>
        <p:txBody>
          <a:bodyPr wrap="square" lIns="0" tIns="0" rIns="0" bIns="0" rtlCol="0" anchor="ctr"/>
          <a:lstStyle/>
          <a:p>
            <a:pPr indent="0" marL="0">
              <a:buNone/>
            </a:pPr>
            <a:r>
              <a:rPr lang="en-US" sz="1800" b="1" dirty="0">
                <a:solidFill>
                  <a:srgbClr val="FFFFFF"/>
                </a:solidFill>
              </a:rPr>
              <a:t>Internal Model RWA  ≥  72.5%  ×  Standardised RWA</a:t>
            </a:r>
            <a:endParaRPr lang="en-US" sz="1800" dirty="0"/>
          </a:p>
        </p:txBody>
      </p:sp>
      <p:sp>
        <p:nvSpPr>
          <p:cNvPr id="12" name="Text 10"/>
          <p:cNvSpPr/>
          <p:nvPr/>
        </p:nvSpPr>
        <p:spPr>
          <a:xfrm>
            <a:off x="2240280" y="1188720"/>
            <a:ext cx="6400800" cy="365760"/>
          </a:xfrm>
          <a:prstGeom prst="rect">
            <a:avLst/>
          </a:prstGeom>
          <a:noFill/>
          <a:ln/>
        </p:spPr>
        <p:txBody>
          <a:bodyPr wrap="square" lIns="0" tIns="0" rIns="0" bIns="0" rtlCol="0" anchor="ctr"/>
          <a:lstStyle/>
          <a:p>
            <a:pPr indent="0" marL="0">
              <a:buNone/>
            </a:pPr>
            <a:r>
              <a:rPr lang="en-US" sz="950" dirty="0">
                <a:solidFill>
                  <a:srgbClr val="D6EAF8"/>
                </a:solidFill>
              </a:rPr>
              <a:t>No bank can hold less than 72.5% of the capital implied by standardised approaches, regardless of internal model output. Phases in 50% (2025) → 72.5% (2028).</a:t>
            </a:r>
            <a:endParaRPr lang="en-US" sz="950" dirty="0"/>
          </a:p>
        </p:txBody>
      </p:sp>
      <p:sp>
        <p:nvSpPr>
          <p:cNvPr id="13" name="Shape 11"/>
          <p:cNvSpPr/>
          <p:nvPr/>
        </p:nvSpPr>
        <p:spPr>
          <a:xfrm>
            <a:off x="274320" y="1737360"/>
            <a:ext cx="2057400" cy="2926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4" name="Shape 12"/>
          <p:cNvSpPr/>
          <p:nvPr/>
        </p:nvSpPr>
        <p:spPr>
          <a:xfrm>
            <a:off x="274320" y="1737360"/>
            <a:ext cx="2057400" cy="457200"/>
          </a:xfrm>
          <a:prstGeom prst="rect">
            <a:avLst/>
          </a:prstGeom>
          <a:solidFill>
            <a:srgbClr val="1B3A6B"/>
          </a:solidFill>
          <a:ln/>
        </p:spPr>
      </p:sp>
      <p:sp>
        <p:nvSpPr>
          <p:cNvPr id="15" name="Text 13"/>
          <p:cNvSpPr/>
          <p:nvPr/>
        </p:nvSpPr>
        <p:spPr>
          <a:xfrm>
            <a:off x="347472" y="1755648"/>
            <a:ext cx="1920240" cy="246888"/>
          </a:xfrm>
          <a:prstGeom prst="rect">
            <a:avLst/>
          </a:prstGeom>
          <a:noFill/>
          <a:ln/>
        </p:spPr>
        <p:txBody>
          <a:bodyPr wrap="square" lIns="0" tIns="0" rIns="0" bIns="0" rtlCol="0" anchor="ctr"/>
          <a:lstStyle/>
          <a:p>
            <a:pPr indent="0" marL="0">
              <a:buNone/>
            </a:pPr>
            <a:r>
              <a:rPr lang="en-US" sz="1100" b="1" dirty="0">
                <a:solidFill>
                  <a:srgbClr val="FFFFFF"/>
                </a:solidFill>
              </a:rPr>
              <a:t>FRTB</a:t>
            </a:r>
            <a:endParaRPr lang="en-US" sz="1100" dirty="0"/>
          </a:p>
        </p:txBody>
      </p:sp>
      <p:sp>
        <p:nvSpPr>
          <p:cNvPr id="16" name="Text 14"/>
          <p:cNvSpPr/>
          <p:nvPr/>
        </p:nvSpPr>
        <p:spPr>
          <a:xfrm>
            <a:off x="347472" y="1993392"/>
            <a:ext cx="1920240" cy="182880"/>
          </a:xfrm>
          <a:prstGeom prst="rect">
            <a:avLst/>
          </a:prstGeom>
          <a:noFill/>
          <a:ln/>
        </p:spPr>
        <p:txBody>
          <a:bodyPr wrap="square" lIns="0" tIns="0" rIns="0" bIns="0" rtlCol="0" anchor="ctr"/>
          <a:lstStyle/>
          <a:p>
            <a:pPr indent="0" marL="0">
              <a:buNone/>
            </a:pPr>
            <a:r>
              <a:rPr lang="en-US" sz="900" i="1" dirty="0">
                <a:solidFill>
                  <a:srgbClr val="D6EAF8"/>
                </a:solidFill>
              </a:rPr>
              <a:t>Market Risk</a:t>
            </a:r>
            <a:endParaRPr lang="en-US" sz="900" dirty="0"/>
          </a:p>
        </p:txBody>
      </p:sp>
      <p:sp>
        <p:nvSpPr>
          <p:cNvPr id="17" name="Text 15"/>
          <p:cNvSpPr/>
          <p:nvPr/>
        </p:nvSpPr>
        <p:spPr>
          <a:xfrm>
            <a:off x="365760" y="2240280"/>
            <a:ext cx="1874520" cy="2359152"/>
          </a:xfrm>
          <a:prstGeom prst="rect">
            <a:avLst/>
          </a:prstGeom>
          <a:noFill/>
          <a:ln/>
        </p:spPr>
        <p:txBody>
          <a:bodyPr wrap="square" lIns="0" tIns="0" rIns="0" bIns="0" rtlCol="0" anchor="t"/>
          <a:lstStyle/>
          <a:p>
            <a:pPr indent="0" marL="0">
              <a:buNone/>
            </a:pPr>
            <a:r>
              <a:rPr lang="en-US" sz="950" dirty="0">
                <a:solidFill>
                  <a:srgbClr val="1A1A2E"/>
                </a:solidFill>
              </a:rPr>
              <a:t>VaR → Expected Shortfall (97.5%). Liquidity horizons 10–120 days. P&amp;L Attribution Test. NMRF charges for illiquid risk factors.</a:t>
            </a:r>
            <a:endParaRPr lang="en-US" sz="950" dirty="0"/>
          </a:p>
        </p:txBody>
      </p:sp>
      <p:sp>
        <p:nvSpPr>
          <p:cNvPr id="18" name="Shape 16"/>
          <p:cNvSpPr/>
          <p:nvPr/>
        </p:nvSpPr>
        <p:spPr>
          <a:xfrm>
            <a:off x="2450592" y="1737360"/>
            <a:ext cx="2057400" cy="2926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7"/>
          <p:cNvSpPr/>
          <p:nvPr/>
        </p:nvSpPr>
        <p:spPr>
          <a:xfrm>
            <a:off x="2450592" y="1737360"/>
            <a:ext cx="2057400" cy="457200"/>
          </a:xfrm>
          <a:prstGeom prst="rect">
            <a:avLst/>
          </a:prstGeom>
          <a:solidFill>
            <a:srgbClr val="0E6B8A"/>
          </a:solidFill>
          <a:ln/>
        </p:spPr>
      </p:sp>
      <p:sp>
        <p:nvSpPr>
          <p:cNvPr id="20" name="Text 18"/>
          <p:cNvSpPr/>
          <p:nvPr/>
        </p:nvSpPr>
        <p:spPr>
          <a:xfrm>
            <a:off x="2523744" y="1755648"/>
            <a:ext cx="1920240" cy="246888"/>
          </a:xfrm>
          <a:prstGeom prst="rect">
            <a:avLst/>
          </a:prstGeom>
          <a:noFill/>
          <a:ln/>
        </p:spPr>
        <p:txBody>
          <a:bodyPr wrap="square" lIns="0" tIns="0" rIns="0" bIns="0" rtlCol="0" anchor="ctr"/>
          <a:lstStyle/>
          <a:p>
            <a:pPr indent="0" marL="0">
              <a:buNone/>
            </a:pPr>
            <a:r>
              <a:rPr lang="en-US" sz="1100" b="1" dirty="0">
                <a:solidFill>
                  <a:srgbClr val="FFFFFF"/>
                </a:solidFill>
              </a:rPr>
              <a:t>Rev-SA &amp; IRB</a:t>
            </a:r>
            <a:endParaRPr lang="en-US" sz="1100" dirty="0"/>
          </a:p>
        </p:txBody>
      </p:sp>
      <p:sp>
        <p:nvSpPr>
          <p:cNvPr id="21" name="Text 19"/>
          <p:cNvSpPr/>
          <p:nvPr/>
        </p:nvSpPr>
        <p:spPr>
          <a:xfrm>
            <a:off x="2523744" y="1993392"/>
            <a:ext cx="1920240" cy="182880"/>
          </a:xfrm>
          <a:prstGeom prst="rect">
            <a:avLst/>
          </a:prstGeom>
          <a:noFill/>
          <a:ln/>
        </p:spPr>
        <p:txBody>
          <a:bodyPr wrap="square" lIns="0" tIns="0" rIns="0" bIns="0" rtlCol="0" anchor="ctr"/>
          <a:lstStyle/>
          <a:p>
            <a:pPr indent="0" marL="0">
              <a:buNone/>
            </a:pPr>
            <a:r>
              <a:rPr lang="en-US" sz="900" i="1" dirty="0">
                <a:solidFill>
                  <a:srgbClr val="D6EAF8"/>
                </a:solidFill>
              </a:rPr>
              <a:t>Credit Risk</a:t>
            </a:r>
            <a:endParaRPr lang="en-US" sz="900" dirty="0"/>
          </a:p>
        </p:txBody>
      </p:sp>
      <p:sp>
        <p:nvSpPr>
          <p:cNvPr id="22" name="Text 20"/>
          <p:cNvSpPr/>
          <p:nvPr/>
        </p:nvSpPr>
        <p:spPr>
          <a:xfrm>
            <a:off x="2542032" y="2240280"/>
            <a:ext cx="1874520" cy="2359152"/>
          </a:xfrm>
          <a:prstGeom prst="rect">
            <a:avLst/>
          </a:prstGeom>
          <a:noFill/>
          <a:ln/>
        </p:spPr>
        <p:txBody>
          <a:bodyPr wrap="square" lIns="0" tIns="0" rIns="0" bIns="0" rtlCol="0" anchor="t"/>
          <a:lstStyle/>
          <a:p>
            <a:pPr indent="0" marL="0">
              <a:buNone/>
            </a:pPr>
            <a:r>
              <a:rPr lang="en-US" sz="950" dirty="0">
                <a:solidFill>
                  <a:srgbClr val="1A1A2E"/>
                </a:solidFill>
              </a:rPr>
              <a:t>A-IRB restricted for FIs, large corporates, equities. LGD floors (25% unsecured), PD floor 5bps. More granular standardised approach.</a:t>
            </a:r>
            <a:endParaRPr lang="en-US" sz="950" dirty="0"/>
          </a:p>
        </p:txBody>
      </p:sp>
      <p:sp>
        <p:nvSpPr>
          <p:cNvPr id="23" name="Shape 21"/>
          <p:cNvSpPr/>
          <p:nvPr/>
        </p:nvSpPr>
        <p:spPr>
          <a:xfrm>
            <a:off x="4626864" y="1737360"/>
            <a:ext cx="2057400" cy="2926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4" name="Shape 22"/>
          <p:cNvSpPr/>
          <p:nvPr/>
        </p:nvSpPr>
        <p:spPr>
          <a:xfrm>
            <a:off x="4626864" y="1737360"/>
            <a:ext cx="2057400" cy="457200"/>
          </a:xfrm>
          <a:prstGeom prst="rect">
            <a:avLst/>
          </a:prstGeom>
          <a:solidFill>
            <a:srgbClr val="C9A84C"/>
          </a:solidFill>
          <a:ln/>
        </p:spPr>
      </p:sp>
      <p:sp>
        <p:nvSpPr>
          <p:cNvPr id="25" name="Text 23"/>
          <p:cNvSpPr/>
          <p:nvPr/>
        </p:nvSpPr>
        <p:spPr>
          <a:xfrm>
            <a:off x="4700016" y="1755648"/>
            <a:ext cx="1920240" cy="246888"/>
          </a:xfrm>
          <a:prstGeom prst="rect">
            <a:avLst/>
          </a:prstGeom>
          <a:noFill/>
          <a:ln/>
        </p:spPr>
        <p:txBody>
          <a:bodyPr wrap="square" lIns="0" tIns="0" rIns="0" bIns="0" rtlCol="0" anchor="ctr"/>
          <a:lstStyle/>
          <a:p>
            <a:pPr indent="0" marL="0">
              <a:buNone/>
            </a:pPr>
            <a:r>
              <a:rPr lang="en-US" sz="1100" b="1" dirty="0">
                <a:solidFill>
                  <a:srgbClr val="FFFFFF"/>
                </a:solidFill>
              </a:rPr>
              <a:t>SA-CCR Mandatory</a:t>
            </a:r>
            <a:endParaRPr lang="en-US" sz="1100" dirty="0"/>
          </a:p>
        </p:txBody>
      </p:sp>
      <p:sp>
        <p:nvSpPr>
          <p:cNvPr id="26" name="Text 24"/>
          <p:cNvSpPr/>
          <p:nvPr/>
        </p:nvSpPr>
        <p:spPr>
          <a:xfrm>
            <a:off x="4700016" y="1993392"/>
            <a:ext cx="1920240" cy="182880"/>
          </a:xfrm>
          <a:prstGeom prst="rect">
            <a:avLst/>
          </a:prstGeom>
          <a:noFill/>
          <a:ln/>
        </p:spPr>
        <p:txBody>
          <a:bodyPr wrap="square" lIns="0" tIns="0" rIns="0" bIns="0" rtlCol="0" anchor="ctr"/>
          <a:lstStyle/>
          <a:p>
            <a:pPr indent="0" marL="0">
              <a:buNone/>
            </a:pPr>
            <a:r>
              <a:rPr lang="en-US" sz="900" i="1" dirty="0">
                <a:solidFill>
                  <a:srgbClr val="D6EAF8"/>
                </a:solidFill>
              </a:rPr>
              <a:t>Counterparty Risk</a:t>
            </a:r>
            <a:endParaRPr lang="en-US" sz="900" dirty="0"/>
          </a:p>
        </p:txBody>
      </p:sp>
      <p:sp>
        <p:nvSpPr>
          <p:cNvPr id="27" name="Text 25"/>
          <p:cNvSpPr/>
          <p:nvPr/>
        </p:nvSpPr>
        <p:spPr>
          <a:xfrm>
            <a:off x="4718304" y="2240280"/>
            <a:ext cx="1874520" cy="2359152"/>
          </a:xfrm>
          <a:prstGeom prst="rect">
            <a:avLst/>
          </a:prstGeom>
          <a:noFill/>
          <a:ln/>
        </p:spPr>
        <p:txBody>
          <a:bodyPr wrap="square" lIns="0" tIns="0" rIns="0" bIns="0" rtlCol="0" anchor="t"/>
          <a:lstStyle/>
          <a:p>
            <a:pPr indent="0" marL="0">
              <a:buNone/>
            </a:pPr>
            <a:r>
              <a:rPr lang="en-US" sz="950" dirty="0">
                <a:solidFill>
                  <a:srgbClr val="1A1A2E"/>
                </a:solidFill>
              </a:rPr>
              <a:t>Replaces CEM. Recognises netting, margin, delta-adjusted notionals. Alpha multiplier 1.4×. Mandatory for all non-IMM banks.</a:t>
            </a:r>
            <a:endParaRPr lang="en-US" sz="950" dirty="0"/>
          </a:p>
        </p:txBody>
      </p:sp>
      <p:sp>
        <p:nvSpPr>
          <p:cNvPr id="28" name="Shape 26"/>
          <p:cNvSpPr/>
          <p:nvPr/>
        </p:nvSpPr>
        <p:spPr>
          <a:xfrm>
            <a:off x="6803136" y="1737360"/>
            <a:ext cx="2057400" cy="292608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9" name="Shape 27"/>
          <p:cNvSpPr/>
          <p:nvPr/>
        </p:nvSpPr>
        <p:spPr>
          <a:xfrm>
            <a:off x="6803136" y="1737360"/>
            <a:ext cx="2057400" cy="457200"/>
          </a:xfrm>
          <a:prstGeom prst="rect">
            <a:avLst/>
          </a:prstGeom>
          <a:solidFill>
            <a:srgbClr val="8B0000"/>
          </a:solidFill>
          <a:ln/>
        </p:spPr>
      </p:sp>
      <p:sp>
        <p:nvSpPr>
          <p:cNvPr id="30" name="Text 28"/>
          <p:cNvSpPr/>
          <p:nvPr/>
        </p:nvSpPr>
        <p:spPr>
          <a:xfrm>
            <a:off x="6876288" y="1755648"/>
            <a:ext cx="1920240" cy="246888"/>
          </a:xfrm>
          <a:prstGeom prst="rect">
            <a:avLst/>
          </a:prstGeom>
          <a:noFill/>
          <a:ln/>
        </p:spPr>
        <p:txBody>
          <a:bodyPr wrap="square" lIns="0" tIns="0" rIns="0" bIns="0" rtlCol="0" anchor="ctr"/>
          <a:lstStyle/>
          <a:p>
            <a:pPr indent="0" marL="0">
              <a:buNone/>
            </a:pPr>
            <a:r>
              <a:rPr lang="en-US" sz="1100" b="1" dirty="0">
                <a:solidFill>
                  <a:srgbClr val="FFFFFF"/>
                </a:solidFill>
              </a:rPr>
              <a:t>SMA Replaces AMA</a:t>
            </a:r>
            <a:endParaRPr lang="en-US" sz="1100" dirty="0"/>
          </a:p>
        </p:txBody>
      </p:sp>
      <p:sp>
        <p:nvSpPr>
          <p:cNvPr id="31" name="Text 29"/>
          <p:cNvSpPr/>
          <p:nvPr/>
        </p:nvSpPr>
        <p:spPr>
          <a:xfrm>
            <a:off x="6876288" y="1993392"/>
            <a:ext cx="1920240" cy="182880"/>
          </a:xfrm>
          <a:prstGeom prst="rect">
            <a:avLst/>
          </a:prstGeom>
          <a:noFill/>
          <a:ln/>
        </p:spPr>
        <p:txBody>
          <a:bodyPr wrap="square" lIns="0" tIns="0" rIns="0" bIns="0" rtlCol="0" anchor="ctr"/>
          <a:lstStyle/>
          <a:p>
            <a:pPr indent="0" marL="0">
              <a:buNone/>
            </a:pPr>
            <a:r>
              <a:rPr lang="en-US" sz="900" i="1" dirty="0">
                <a:solidFill>
                  <a:srgbClr val="D6EAF8"/>
                </a:solidFill>
              </a:rPr>
              <a:t>Operational Risk</a:t>
            </a:r>
            <a:endParaRPr lang="en-US" sz="900" dirty="0"/>
          </a:p>
        </p:txBody>
      </p:sp>
      <p:sp>
        <p:nvSpPr>
          <p:cNvPr id="32" name="Text 30"/>
          <p:cNvSpPr/>
          <p:nvPr/>
        </p:nvSpPr>
        <p:spPr>
          <a:xfrm>
            <a:off x="6894576" y="2240280"/>
            <a:ext cx="1874520" cy="2359152"/>
          </a:xfrm>
          <a:prstGeom prst="rect">
            <a:avLst/>
          </a:prstGeom>
          <a:noFill/>
          <a:ln/>
        </p:spPr>
        <p:txBody>
          <a:bodyPr wrap="square" lIns="0" tIns="0" rIns="0" bIns="0" rtlCol="0" anchor="t"/>
          <a:lstStyle/>
          <a:p>
            <a:pPr indent="0" marL="0">
              <a:buNone/>
            </a:pPr>
            <a:r>
              <a:rPr lang="en-US" sz="950" dirty="0">
                <a:solidFill>
                  <a:srgbClr val="1A1A2E"/>
                </a:solidFill>
              </a:rPr>
              <a:t>AMA abolished. Single Business Indicator formula with marginal rates 12–18%. Internal Loss Multiplier for large banks (BI &gt; €1bn).</a:t>
            </a:r>
            <a:endParaRPr lang="en-US" sz="950" dirty="0"/>
          </a:p>
        </p:txBody>
      </p:sp>
      <p:sp>
        <p:nvSpPr>
          <p:cNvPr id="33" name="Shape 31"/>
          <p:cNvSpPr/>
          <p:nvPr/>
        </p:nvSpPr>
        <p:spPr>
          <a:xfrm>
            <a:off x="365760" y="4645152"/>
            <a:ext cx="8412480" cy="594360"/>
          </a:xfrm>
          <a:prstGeom prst="rect">
            <a:avLst/>
          </a:prstGeom>
          <a:solidFill>
            <a:srgbClr val="D6EAF8"/>
          </a:solidFill>
          <a:ln/>
        </p:spPr>
      </p:sp>
      <p:sp>
        <p:nvSpPr>
          <p:cNvPr id="34" name="Shape 32"/>
          <p:cNvSpPr/>
          <p:nvPr/>
        </p:nvSpPr>
        <p:spPr>
          <a:xfrm>
            <a:off x="365760" y="4645152"/>
            <a:ext cx="1005840" cy="594360"/>
          </a:xfrm>
          <a:prstGeom prst="rect">
            <a:avLst/>
          </a:prstGeom>
          <a:solidFill>
            <a:srgbClr val="8B0000"/>
          </a:solidFill>
          <a:ln/>
        </p:spPr>
      </p:sp>
      <p:sp>
        <p:nvSpPr>
          <p:cNvPr id="35" name="Text 33"/>
          <p:cNvSpPr/>
          <p:nvPr/>
        </p:nvSpPr>
        <p:spPr>
          <a:xfrm>
            <a:off x="365760" y="4645152"/>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INDUSTRY IMPACT</a:t>
            </a:r>
            <a:endParaRPr lang="en-US" sz="900" dirty="0"/>
          </a:p>
        </p:txBody>
      </p:sp>
      <p:sp>
        <p:nvSpPr>
          <p:cNvPr id="36" name="Text 34"/>
          <p:cNvSpPr/>
          <p:nvPr/>
        </p:nvSpPr>
        <p:spPr>
          <a:xfrm>
            <a:off x="1417320" y="4645152"/>
            <a:ext cx="7223760" cy="594360"/>
          </a:xfrm>
          <a:prstGeom prst="rect">
            <a:avLst/>
          </a:prstGeom>
          <a:noFill/>
          <a:ln/>
        </p:spPr>
        <p:txBody>
          <a:bodyPr wrap="square" lIns="0" tIns="0" rIns="0" bIns="0" rtlCol="0" anchor="ctr"/>
          <a:lstStyle/>
          <a:p>
            <a:pPr indent="0" marL="0">
              <a:buNone/>
            </a:pPr>
            <a:r>
              <a:rPr lang="en-US" sz="1000" dirty="0">
                <a:solidFill>
                  <a:srgbClr val="1A1A2E"/>
                </a:solidFill>
              </a:rPr>
              <a:t>EBA estimates +24% RWA for EU banks at full implementation. FRTB adds 40–60% to market risk RWA for trading-heavy banks. Output floor adds &gt;€130bn required capital across EU sector.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Capital Requirements Evolution</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How Capital Requirements Have Grown: Basel I → IV</a:t>
            </a:r>
            <a:endParaRPr lang="en-US" sz="2200" dirty="0"/>
          </a:p>
        </p:txBody>
      </p:sp>
      <p:graphicFrame>
        <p:nvGraphicFramePr>
          <p:cNvPr id="6" name="Chart 0" descr=""/>
          <p:cNvGraphicFramePr/>
          <p:nvPr/>
        </p:nvGraphicFramePr>
        <p:xfrm>
          <a:off x="274320" y="777240"/>
          <a:ext cx="5029200" cy="39776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532120" y="777240"/>
            <a:ext cx="3337560" cy="365760"/>
          </a:xfrm>
          <a:prstGeom prst="rect">
            <a:avLst/>
          </a:prstGeom>
          <a:solidFill>
            <a:srgbClr val="1B3A6B"/>
          </a:solidFill>
          <a:ln/>
        </p:spPr>
      </p:sp>
      <p:sp>
        <p:nvSpPr>
          <p:cNvPr id="8" name="Text 5"/>
          <p:cNvSpPr/>
          <p:nvPr/>
        </p:nvSpPr>
        <p:spPr>
          <a:xfrm>
            <a:off x="5532120" y="777240"/>
            <a:ext cx="3337560" cy="365760"/>
          </a:xfrm>
          <a:prstGeom prst="rect">
            <a:avLst/>
          </a:prstGeom>
          <a:noFill/>
          <a:ln/>
        </p:spPr>
        <p:txBody>
          <a:bodyPr wrap="square" lIns="0" tIns="0" rIns="0" bIns="0" rtlCol="0" anchor="ctr"/>
          <a:lstStyle/>
          <a:p>
            <a:pPr algn="ctr" indent="0" marL="0">
              <a:buNone/>
            </a:pPr>
            <a:r>
              <a:rPr lang="en-US" sz="900" b="1" dirty="0">
                <a:solidFill>
                  <a:srgbClr val="FFFFFF"/>
                </a:solidFill>
              </a:rPr>
              <a:t>MILESTONE COMPARISON</a:t>
            </a:r>
            <a:endParaRPr lang="en-US" sz="900" dirty="0"/>
          </a:p>
        </p:txBody>
      </p:sp>
      <p:sp>
        <p:nvSpPr>
          <p:cNvPr id="9" name="Shape 6"/>
          <p:cNvSpPr/>
          <p:nvPr/>
        </p:nvSpPr>
        <p:spPr>
          <a:xfrm>
            <a:off x="5532120" y="1143000"/>
            <a:ext cx="1417320" cy="379476"/>
          </a:xfrm>
          <a:prstGeom prst="rect">
            <a:avLst/>
          </a:prstGeom>
          <a:solidFill>
            <a:srgbClr val="1B3A6B"/>
          </a:solidFill>
          <a:ln/>
        </p:spPr>
      </p:sp>
      <p:sp>
        <p:nvSpPr>
          <p:cNvPr id="10" name="Text 7"/>
          <p:cNvSpPr/>
          <p:nvPr/>
        </p:nvSpPr>
        <p:spPr>
          <a:xfrm>
            <a:off x="5532120" y="1143000"/>
            <a:ext cx="1417320" cy="379476"/>
          </a:xfrm>
          <a:prstGeom prst="rect">
            <a:avLst/>
          </a:prstGeom>
          <a:noFill/>
          <a:ln/>
        </p:spPr>
        <p:txBody>
          <a:bodyPr wrap="square" lIns="50800" tIns="50800" rIns="50800" bIns="50800" rtlCol="0" anchor="ctr"/>
          <a:lstStyle/>
          <a:p>
            <a:pPr algn="l" indent="0" marL="0">
              <a:buNone/>
            </a:pPr>
            <a:r>
              <a:rPr lang="en-US" sz="900" b="1" dirty="0">
                <a:solidFill>
                  <a:srgbClr val="FFFFFF"/>
                </a:solidFill>
              </a:rPr>
              <a:t>Feature</a:t>
            </a:r>
            <a:endParaRPr lang="en-US" sz="900" dirty="0"/>
          </a:p>
        </p:txBody>
      </p:sp>
      <p:sp>
        <p:nvSpPr>
          <p:cNvPr id="11" name="Shape 8"/>
          <p:cNvSpPr/>
          <p:nvPr/>
        </p:nvSpPr>
        <p:spPr>
          <a:xfrm>
            <a:off x="6949440" y="1143000"/>
            <a:ext cx="438912" cy="379476"/>
          </a:xfrm>
          <a:prstGeom prst="rect">
            <a:avLst/>
          </a:prstGeom>
          <a:solidFill>
            <a:srgbClr val="1B3A6B"/>
          </a:solidFill>
          <a:ln/>
        </p:spPr>
      </p:sp>
      <p:sp>
        <p:nvSpPr>
          <p:cNvPr id="12" name="Text 9"/>
          <p:cNvSpPr/>
          <p:nvPr/>
        </p:nvSpPr>
        <p:spPr>
          <a:xfrm>
            <a:off x="6949440" y="1143000"/>
            <a:ext cx="438912" cy="379476"/>
          </a:xfrm>
          <a:prstGeom prst="rect">
            <a:avLst/>
          </a:prstGeom>
          <a:noFill/>
          <a:ln/>
        </p:spPr>
        <p:txBody>
          <a:bodyPr wrap="square" lIns="0" tIns="0" rIns="0" bIns="0" rtlCol="0" anchor="ctr"/>
          <a:lstStyle/>
          <a:p>
            <a:pPr algn="ctr" indent="0" marL="0">
              <a:buNone/>
            </a:pPr>
            <a:r>
              <a:rPr lang="en-US" sz="850" b="1" dirty="0">
                <a:solidFill>
                  <a:srgbClr val="FFFFFF"/>
                </a:solidFill>
              </a:rPr>
              <a:t>I</a:t>
            </a:r>
            <a:endParaRPr lang="en-US" sz="850" dirty="0"/>
          </a:p>
        </p:txBody>
      </p:sp>
      <p:sp>
        <p:nvSpPr>
          <p:cNvPr id="13" name="Shape 10"/>
          <p:cNvSpPr/>
          <p:nvPr/>
        </p:nvSpPr>
        <p:spPr>
          <a:xfrm>
            <a:off x="7388352" y="1143000"/>
            <a:ext cx="438912" cy="379476"/>
          </a:xfrm>
          <a:prstGeom prst="rect">
            <a:avLst/>
          </a:prstGeom>
          <a:solidFill>
            <a:srgbClr val="1B3A6B"/>
          </a:solidFill>
          <a:ln/>
        </p:spPr>
      </p:sp>
      <p:sp>
        <p:nvSpPr>
          <p:cNvPr id="14" name="Text 11"/>
          <p:cNvSpPr/>
          <p:nvPr/>
        </p:nvSpPr>
        <p:spPr>
          <a:xfrm>
            <a:off x="7388352" y="1143000"/>
            <a:ext cx="438912" cy="379476"/>
          </a:xfrm>
          <a:prstGeom prst="rect">
            <a:avLst/>
          </a:prstGeom>
          <a:noFill/>
          <a:ln/>
        </p:spPr>
        <p:txBody>
          <a:bodyPr wrap="square" lIns="0" tIns="0" rIns="0" bIns="0" rtlCol="0" anchor="ctr"/>
          <a:lstStyle/>
          <a:p>
            <a:pPr algn="ctr" indent="0" marL="0">
              <a:buNone/>
            </a:pPr>
            <a:r>
              <a:rPr lang="en-US" sz="850" b="1" dirty="0">
                <a:solidFill>
                  <a:srgbClr val="FFFFFF"/>
                </a:solidFill>
              </a:rPr>
              <a:t>II</a:t>
            </a:r>
            <a:endParaRPr lang="en-US" sz="850" dirty="0"/>
          </a:p>
        </p:txBody>
      </p:sp>
      <p:sp>
        <p:nvSpPr>
          <p:cNvPr id="15" name="Shape 12"/>
          <p:cNvSpPr/>
          <p:nvPr/>
        </p:nvSpPr>
        <p:spPr>
          <a:xfrm>
            <a:off x="7827264" y="1143000"/>
            <a:ext cx="438912" cy="379476"/>
          </a:xfrm>
          <a:prstGeom prst="rect">
            <a:avLst/>
          </a:prstGeom>
          <a:solidFill>
            <a:srgbClr val="1B3A6B"/>
          </a:solidFill>
          <a:ln/>
        </p:spPr>
      </p:sp>
      <p:sp>
        <p:nvSpPr>
          <p:cNvPr id="16" name="Text 13"/>
          <p:cNvSpPr/>
          <p:nvPr/>
        </p:nvSpPr>
        <p:spPr>
          <a:xfrm>
            <a:off x="7827264" y="1143000"/>
            <a:ext cx="438912" cy="379476"/>
          </a:xfrm>
          <a:prstGeom prst="rect">
            <a:avLst/>
          </a:prstGeom>
          <a:noFill/>
          <a:ln/>
        </p:spPr>
        <p:txBody>
          <a:bodyPr wrap="square" lIns="0" tIns="0" rIns="0" bIns="0" rtlCol="0" anchor="ctr"/>
          <a:lstStyle/>
          <a:p>
            <a:pPr algn="ctr" indent="0" marL="0">
              <a:buNone/>
            </a:pPr>
            <a:r>
              <a:rPr lang="en-US" sz="850" b="1" dirty="0">
                <a:solidFill>
                  <a:srgbClr val="FFFFFF"/>
                </a:solidFill>
              </a:rPr>
              <a:t>III</a:t>
            </a:r>
            <a:endParaRPr lang="en-US" sz="850" dirty="0"/>
          </a:p>
        </p:txBody>
      </p:sp>
      <p:sp>
        <p:nvSpPr>
          <p:cNvPr id="17" name="Shape 14"/>
          <p:cNvSpPr/>
          <p:nvPr/>
        </p:nvSpPr>
        <p:spPr>
          <a:xfrm>
            <a:off x="8266176" y="1143000"/>
            <a:ext cx="603504" cy="379476"/>
          </a:xfrm>
          <a:prstGeom prst="rect">
            <a:avLst/>
          </a:prstGeom>
          <a:solidFill>
            <a:srgbClr val="1B3A6B"/>
          </a:solidFill>
          <a:ln/>
        </p:spPr>
      </p:sp>
      <p:sp>
        <p:nvSpPr>
          <p:cNvPr id="18" name="Text 15"/>
          <p:cNvSpPr/>
          <p:nvPr/>
        </p:nvSpPr>
        <p:spPr>
          <a:xfrm>
            <a:off x="8266176" y="1143000"/>
            <a:ext cx="603504" cy="379476"/>
          </a:xfrm>
          <a:prstGeom prst="rect">
            <a:avLst/>
          </a:prstGeom>
          <a:noFill/>
          <a:ln/>
        </p:spPr>
        <p:txBody>
          <a:bodyPr wrap="square" lIns="0" tIns="0" rIns="0" bIns="0" rtlCol="0" anchor="ctr"/>
          <a:lstStyle/>
          <a:p>
            <a:pPr algn="ctr" indent="0" marL="0">
              <a:buNone/>
            </a:pPr>
            <a:r>
              <a:rPr lang="en-US" sz="850" b="1" dirty="0">
                <a:solidFill>
                  <a:srgbClr val="FFFFFF"/>
                </a:solidFill>
              </a:rPr>
              <a:t>IV</a:t>
            </a:r>
            <a:endParaRPr lang="en-US" sz="850" dirty="0"/>
          </a:p>
        </p:txBody>
      </p:sp>
      <p:sp>
        <p:nvSpPr>
          <p:cNvPr id="19" name="Shape 16"/>
          <p:cNvSpPr/>
          <p:nvPr/>
        </p:nvSpPr>
        <p:spPr>
          <a:xfrm>
            <a:off x="5532120" y="1522476"/>
            <a:ext cx="1417320" cy="379476"/>
          </a:xfrm>
          <a:prstGeom prst="rect">
            <a:avLst/>
          </a:prstGeom>
          <a:solidFill>
            <a:srgbClr val="F4F6F8"/>
          </a:solidFill>
          <a:ln/>
        </p:spPr>
      </p:sp>
      <p:sp>
        <p:nvSpPr>
          <p:cNvPr id="20" name="Text 17"/>
          <p:cNvSpPr/>
          <p:nvPr/>
        </p:nvSpPr>
        <p:spPr>
          <a:xfrm>
            <a:off x="5532120" y="1522476"/>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Min CET1</a:t>
            </a:r>
            <a:endParaRPr lang="en-US" sz="900" dirty="0"/>
          </a:p>
        </p:txBody>
      </p:sp>
      <p:sp>
        <p:nvSpPr>
          <p:cNvPr id="21" name="Shape 18"/>
          <p:cNvSpPr/>
          <p:nvPr/>
        </p:nvSpPr>
        <p:spPr>
          <a:xfrm>
            <a:off x="6949440" y="1522476"/>
            <a:ext cx="438912" cy="379476"/>
          </a:xfrm>
          <a:prstGeom prst="rect">
            <a:avLst/>
          </a:prstGeom>
          <a:solidFill>
            <a:srgbClr val="F4F6F8"/>
          </a:solidFill>
          <a:ln/>
        </p:spPr>
      </p:sp>
      <p:sp>
        <p:nvSpPr>
          <p:cNvPr id="22" name="Text 19"/>
          <p:cNvSpPr/>
          <p:nvPr/>
        </p:nvSpPr>
        <p:spPr>
          <a:xfrm>
            <a:off x="6949440" y="1522476"/>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4%T1</a:t>
            </a:r>
            <a:endParaRPr lang="en-US" sz="850" dirty="0"/>
          </a:p>
        </p:txBody>
      </p:sp>
      <p:sp>
        <p:nvSpPr>
          <p:cNvPr id="23" name="Shape 20"/>
          <p:cNvSpPr/>
          <p:nvPr/>
        </p:nvSpPr>
        <p:spPr>
          <a:xfrm>
            <a:off x="7388352" y="1522476"/>
            <a:ext cx="438912" cy="379476"/>
          </a:xfrm>
          <a:prstGeom prst="rect">
            <a:avLst/>
          </a:prstGeom>
          <a:solidFill>
            <a:srgbClr val="F4F6F8"/>
          </a:solidFill>
          <a:ln/>
        </p:spPr>
      </p:sp>
      <p:sp>
        <p:nvSpPr>
          <p:cNvPr id="24" name="Text 21"/>
          <p:cNvSpPr/>
          <p:nvPr/>
        </p:nvSpPr>
        <p:spPr>
          <a:xfrm>
            <a:off x="7388352" y="1522476"/>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4%T1</a:t>
            </a:r>
            <a:endParaRPr lang="en-US" sz="850" dirty="0"/>
          </a:p>
        </p:txBody>
      </p:sp>
      <p:sp>
        <p:nvSpPr>
          <p:cNvPr id="25" name="Shape 22"/>
          <p:cNvSpPr/>
          <p:nvPr/>
        </p:nvSpPr>
        <p:spPr>
          <a:xfrm>
            <a:off x="7827264" y="1522476"/>
            <a:ext cx="438912" cy="379476"/>
          </a:xfrm>
          <a:prstGeom prst="rect">
            <a:avLst/>
          </a:prstGeom>
          <a:solidFill>
            <a:srgbClr val="F4F6F8"/>
          </a:solidFill>
          <a:ln/>
        </p:spPr>
      </p:sp>
      <p:sp>
        <p:nvSpPr>
          <p:cNvPr id="26" name="Text 23"/>
          <p:cNvSpPr/>
          <p:nvPr/>
        </p:nvSpPr>
        <p:spPr>
          <a:xfrm>
            <a:off x="7827264" y="1522476"/>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4.5%</a:t>
            </a:r>
            <a:endParaRPr lang="en-US" sz="850" dirty="0"/>
          </a:p>
        </p:txBody>
      </p:sp>
      <p:sp>
        <p:nvSpPr>
          <p:cNvPr id="27" name="Shape 24"/>
          <p:cNvSpPr/>
          <p:nvPr/>
        </p:nvSpPr>
        <p:spPr>
          <a:xfrm>
            <a:off x="8266176" y="1522476"/>
            <a:ext cx="603504" cy="379476"/>
          </a:xfrm>
          <a:prstGeom prst="rect">
            <a:avLst/>
          </a:prstGeom>
          <a:solidFill>
            <a:srgbClr val="F4F6F8"/>
          </a:solidFill>
          <a:ln/>
        </p:spPr>
      </p:sp>
      <p:sp>
        <p:nvSpPr>
          <p:cNvPr id="28" name="Text 25"/>
          <p:cNvSpPr/>
          <p:nvPr/>
        </p:nvSpPr>
        <p:spPr>
          <a:xfrm>
            <a:off x="8266176" y="1522476"/>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4.5%</a:t>
            </a:r>
            <a:endParaRPr lang="en-US" sz="850" dirty="0"/>
          </a:p>
        </p:txBody>
      </p:sp>
      <p:sp>
        <p:nvSpPr>
          <p:cNvPr id="29" name="Shape 26"/>
          <p:cNvSpPr/>
          <p:nvPr/>
        </p:nvSpPr>
        <p:spPr>
          <a:xfrm>
            <a:off x="5532120" y="1901952"/>
            <a:ext cx="1417320" cy="379476"/>
          </a:xfrm>
          <a:prstGeom prst="rect">
            <a:avLst/>
          </a:prstGeom>
          <a:solidFill>
            <a:srgbClr val="FFFFFF"/>
          </a:solidFill>
          <a:ln/>
        </p:spPr>
      </p:sp>
      <p:sp>
        <p:nvSpPr>
          <p:cNvPr id="30" name="Text 27"/>
          <p:cNvSpPr/>
          <p:nvPr/>
        </p:nvSpPr>
        <p:spPr>
          <a:xfrm>
            <a:off x="5532120" y="1901952"/>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Cons. Buffer</a:t>
            </a:r>
            <a:endParaRPr lang="en-US" sz="900" dirty="0"/>
          </a:p>
        </p:txBody>
      </p:sp>
      <p:sp>
        <p:nvSpPr>
          <p:cNvPr id="31" name="Shape 28"/>
          <p:cNvSpPr/>
          <p:nvPr/>
        </p:nvSpPr>
        <p:spPr>
          <a:xfrm>
            <a:off x="6949440" y="1901952"/>
            <a:ext cx="438912" cy="379476"/>
          </a:xfrm>
          <a:prstGeom prst="rect">
            <a:avLst/>
          </a:prstGeom>
          <a:solidFill>
            <a:srgbClr val="FFFFFF"/>
          </a:solidFill>
          <a:ln/>
        </p:spPr>
      </p:sp>
      <p:sp>
        <p:nvSpPr>
          <p:cNvPr id="32" name="Text 29"/>
          <p:cNvSpPr/>
          <p:nvPr/>
        </p:nvSpPr>
        <p:spPr>
          <a:xfrm>
            <a:off x="6949440" y="1901952"/>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33" name="Shape 30"/>
          <p:cNvSpPr/>
          <p:nvPr/>
        </p:nvSpPr>
        <p:spPr>
          <a:xfrm>
            <a:off x="7388352" y="1901952"/>
            <a:ext cx="438912" cy="379476"/>
          </a:xfrm>
          <a:prstGeom prst="rect">
            <a:avLst/>
          </a:prstGeom>
          <a:solidFill>
            <a:srgbClr val="FFFFFF"/>
          </a:solidFill>
          <a:ln/>
        </p:spPr>
      </p:sp>
      <p:sp>
        <p:nvSpPr>
          <p:cNvPr id="34" name="Text 31"/>
          <p:cNvSpPr/>
          <p:nvPr/>
        </p:nvSpPr>
        <p:spPr>
          <a:xfrm>
            <a:off x="7388352" y="1901952"/>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35" name="Shape 32"/>
          <p:cNvSpPr/>
          <p:nvPr/>
        </p:nvSpPr>
        <p:spPr>
          <a:xfrm>
            <a:off x="7827264" y="1901952"/>
            <a:ext cx="438912" cy="379476"/>
          </a:xfrm>
          <a:prstGeom prst="rect">
            <a:avLst/>
          </a:prstGeom>
          <a:solidFill>
            <a:srgbClr val="FFFFFF"/>
          </a:solidFill>
          <a:ln/>
        </p:spPr>
      </p:sp>
      <p:sp>
        <p:nvSpPr>
          <p:cNvPr id="36" name="Text 33"/>
          <p:cNvSpPr/>
          <p:nvPr/>
        </p:nvSpPr>
        <p:spPr>
          <a:xfrm>
            <a:off x="7827264" y="1901952"/>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2.5%</a:t>
            </a:r>
            <a:endParaRPr lang="en-US" sz="850" dirty="0"/>
          </a:p>
        </p:txBody>
      </p:sp>
      <p:sp>
        <p:nvSpPr>
          <p:cNvPr id="37" name="Shape 34"/>
          <p:cNvSpPr/>
          <p:nvPr/>
        </p:nvSpPr>
        <p:spPr>
          <a:xfrm>
            <a:off x="8266176" y="1901952"/>
            <a:ext cx="603504" cy="379476"/>
          </a:xfrm>
          <a:prstGeom prst="rect">
            <a:avLst/>
          </a:prstGeom>
          <a:solidFill>
            <a:srgbClr val="FFFFFF"/>
          </a:solidFill>
          <a:ln/>
        </p:spPr>
      </p:sp>
      <p:sp>
        <p:nvSpPr>
          <p:cNvPr id="38" name="Text 35"/>
          <p:cNvSpPr/>
          <p:nvPr/>
        </p:nvSpPr>
        <p:spPr>
          <a:xfrm>
            <a:off x="8266176" y="1901952"/>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2.5%</a:t>
            </a:r>
            <a:endParaRPr lang="en-US" sz="850" dirty="0"/>
          </a:p>
        </p:txBody>
      </p:sp>
      <p:sp>
        <p:nvSpPr>
          <p:cNvPr id="39" name="Shape 36"/>
          <p:cNvSpPr/>
          <p:nvPr/>
        </p:nvSpPr>
        <p:spPr>
          <a:xfrm>
            <a:off x="5532120" y="2281428"/>
            <a:ext cx="1417320" cy="379476"/>
          </a:xfrm>
          <a:prstGeom prst="rect">
            <a:avLst/>
          </a:prstGeom>
          <a:solidFill>
            <a:srgbClr val="F4F6F8"/>
          </a:solidFill>
          <a:ln/>
        </p:spPr>
      </p:sp>
      <p:sp>
        <p:nvSpPr>
          <p:cNvPr id="40" name="Text 37"/>
          <p:cNvSpPr/>
          <p:nvPr/>
        </p:nvSpPr>
        <p:spPr>
          <a:xfrm>
            <a:off x="5532120" y="2281428"/>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Leverage Ratio</a:t>
            </a:r>
            <a:endParaRPr lang="en-US" sz="900" dirty="0"/>
          </a:p>
        </p:txBody>
      </p:sp>
      <p:sp>
        <p:nvSpPr>
          <p:cNvPr id="41" name="Shape 38"/>
          <p:cNvSpPr/>
          <p:nvPr/>
        </p:nvSpPr>
        <p:spPr>
          <a:xfrm>
            <a:off x="6949440" y="2281428"/>
            <a:ext cx="438912" cy="379476"/>
          </a:xfrm>
          <a:prstGeom prst="rect">
            <a:avLst/>
          </a:prstGeom>
          <a:solidFill>
            <a:srgbClr val="F4F6F8"/>
          </a:solidFill>
          <a:ln/>
        </p:spPr>
      </p:sp>
      <p:sp>
        <p:nvSpPr>
          <p:cNvPr id="42" name="Text 39"/>
          <p:cNvSpPr/>
          <p:nvPr/>
        </p:nvSpPr>
        <p:spPr>
          <a:xfrm>
            <a:off x="6949440" y="2281428"/>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43" name="Shape 40"/>
          <p:cNvSpPr/>
          <p:nvPr/>
        </p:nvSpPr>
        <p:spPr>
          <a:xfrm>
            <a:off x="7388352" y="2281428"/>
            <a:ext cx="438912" cy="379476"/>
          </a:xfrm>
          <a:prstGeom prst="rect">
            <a:avLst/>
          </a:prstGeom>
          <a:solidFill>
            <a:srgbClr val="F4F6F8"/>
          </a:solidFill>
          <a:ln/>
        </p:spPr>
      </p:sp>
      <p:sp>
        <p:nvSpPr>
          <p:cNvPr id="44" name="Text 41"/>
          <p:cNvSpPr/>
          <p:nvPr/>
        </p:nvSpPr>
        <p:spPr>
          <a:xfrm>
            <a:off x="7388352" y="2281428"/>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45" name="Shape 42"/>
          <p:cNvSpPr/>
          <p:nvPr/>
        </p:nvSpPr>
        <p:spPr>
          <a:xfrm>
            <a:off x="7827264" y="2281428"/>
            <a:ext cx="438912" cy="379476"/>
          </a:xfrm>
          <a:prstGeom prst="rect">
            <a:avLst/>
          </a:prstGeom>
          <a:solidFill>
            <a:srgbClr val="F4F6F8"/>
          </a:solidFill>
          <a:ln/>
        </p:spPr>
      </p:sp>
      <p:sp>
        <p:nvSpPr>
          <p:cNvPr id="46" name="Text 43"/>
          <p:cNvSpPr/>
          <p:nvPr/>
        </p:nvSpPr>
        <p:spPr>
          <a:xfrm>
            <a:off x="7827264" y="2281428"/>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3%</a:t>
            </a:r>
            <a:endParaRPr lang="en-US" sz="850" dirty="0"/>
          </a:p>
        </p:txBody>
      </p:sp>
      <p:sp>
        <p:nvSpPr>
          <p:cNvPr id="47" name="Shape 44"/>
          <p:cNvSpPr/>
          <p:nvPr/>
        </p:nvSpPr>
        <p:spPr>
          <a:xfrm>
            <a:off x="8266176" y="2281428"/>
            <a:ext cx="603504" cy="379476"/>
          </a:xfrm>
          <a:prstGeom prst="rect">
            <a:avLst/>
          </a:prstGeom>
          <a:solidFill>
            <a:srgbClr val="F4F6F8"/>
          </a:solidFill>
          <a:ln/>
        </p:spPr>
      </p:sp>
      <p:sp>
        <p:nvSpPr>
          <p:cNvPr id="48" name="Text 45"/>
          <p:cNvSpPr/>
          <p:nvPr/>
        </p:nvSpPr>
        <p:spPr>
          <a:xfrm>
            <a:off x="8266176" y="2281428"/>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3%</a:t>
            </a:r>
            <a:endParaRPr lang="en-US" sz="850" dirty="0"/>
          </a:p>
        </p:txBody>
      </p:sp>
      <p:sp>
        <p:nvSpPr>
          <p:cNvPr id="49" name="Shape 46"/>
          <p:cNvSpPr/>
          <p:nvPr/>
        </p:nvSpPr>
        <p:spPr>
          <a:xfrm>
            <a:off x="5532120" y="2660904"/>
            <a:ext cx="1417320" cy="379476"/>
          </a:xfrm>
          <a:prstGeom prst="rect">
            <a:avLst/>
          </a:prstGeom>
          <a:solidFill>
            <a:srgbClr val="FFFFFF"/>
          </a:solidFill>
          <a:ln/>
        </p:spPr>
      </p:sp>
      <p:sp>
        <p:nvSpPr>
          <p:cNvPr id="50" name="Text 47"/>
          <p:cNvSpPr/>
          <p:nvPr/>
        </p:nvSpPr>
        <p:spPr>
          <a:xfrm>
            <a:off x="5532120" y="2660904"/>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LCR / NSFR</a:t>
            </a:r>
            <a:endParaRPr lang="en-US" sz="900" dirty="0"/>
          </a:p>
        </p:txBody>
      </p:sp>
      <p:sp>
        <p:nvSpPr>
          <p:cNvPr id="51" name="Shape 48"/>
          <p:cNvSpPr/>
          <p:nvPr/>
        </p:nvSpPr>
        <p:spPr>
          <a:xfrm>
            <a:off x="6949440" y="2660904"/>
            <a:ext cx="438912" cy="379476"/>
          </a:xfrm>
          <a:prstGeom prst="rect">
            <a:avLst/>
          </a:prstGeom>
          <a:solidFill>
            <a:srgbClr val="FFFFFF"/>
          </a:solidFill>
          <a:ln/>
        </p:spPr>
      </p:sp>
      <p:sp>
        <p:nvSpPr>
          <p:cNvPr id="52" name="Text 49"/>
          <p:cNvSpPr/>
          <p:nvPr/>
        </p:nvSpPr>
        <p:spPr>
          <a:xfrm>
            <a:off x="6949440" y="2660904"/>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53" name="Shape 50"/>
          <p:cNvSpPr/>
          <p:nvPr/>
        </p:nvSpPr>
        <p:spPr>
          <a:xfrm>
            <a:off x="7388352" y="2660904"/>
            <a:ext cx="438912" cy="379476"/>
          </a:xfrm>
          <a:prstGeom prst="rect">
            <a:avLst/>
          </a:prstGeom>
          <a:solidFill>
            <a:srgbClr val="FFFFFF"/>
          </a:solidFill>
          <a:ln/>
        </p:spPr>
      </p:sp>
      <p:sp>
        <p:nvSpPr>
          <p:cNvPr id="54" name="Text 51"/>
          <p:cNvSpPr/>
          <p:nvPr/>
        </p:nvSpPr>
        <p:spPr>
          <a:xfrm>
            <a:off x="7388352" y="2660904"/>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55" name="Shape 52"/>
          <p:cNvSpPr/>
          <p:nvPr/>
        </p:nvSpPr>
        <p:spPr>
          <a:xfrm>
            <a:off x="7827264" y="2660904"/>
            <a:ext cx="438912" cy="379476"/>
          </a:xfrm>
          <a:prstGeom prst="rect">
            <a:avLst/>
          </a:prstGeom>
          <a:solidFill>
            <a:srgbClr val="FFFFFF"/>
          </a:solidFill>
          <a:ln/>
        </p:spPr>
      </p:sp>
      <p:sp>
        <p:nvSpPr>
          <p:cNvPr id="56" name="Text 53"/>
          <p:cNvSpPr/>
          <p:nvPr/>
        </p:nvSpPr>
        <p:spPr>
          <a:xfrm>
            <a:off x="7827264" y="2660904"/>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a:t>
            </a:r>
            <a:endParaRPr lang="en-US" sz="850" dirty="0"/>
          </a:p>
        </p:txBody>
      </p:sp>
      <p:sp>
        <p:nvSpPr>
          <p:cNvPr id="57" name="Shape 54"/>
          <p:cNvSpPr/>
          <p:nvPr/>
        </p:nvSpPr>
        <p:spPr>
          <a:xfrm>
            <a:off x="8266176" y="2660904"/>
            <a:ext cx="603504" cy="379476"/>
          </a:xfrm>
          <a:prstGeom prst="rect">
            <a:avLst/>
          </a:prstGeom>
          <a:solidFill>
            <a:srgbClr val="FFFFFF"/>
          </a:solidFill>
          <a:ln/>
        </p:spPr>
      </p:sp>
      <p:sp>
        <p:nvSpPr>
          <p:cNvPr id="58" name="Text 55"/>
          <p:cNvSpPr/>
          <p:nvPr/>
        </p:nvSpPr>
        <p:spPr>
          <a:xfrm>
            <a:off x="8266176" y="2660904"/>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a:t>
            </a:r>
            <a:endParaRPr lang="en-US" sz="850" dirty="0"/>
          </a:p>
        </p:txBody>
      </p:sp>
      <p:sp>
        <p:nvSpPr>
          <p:cNvPr id="59" name="Shape 56"/>
          <p:cNvSpPr/>
          <p:nvPr/>
        </p:nvSpPr>
        <p:spPr>
          <a:xfrm>
            <a:off x="5532120" y="3040380"/>
            <a:ext cx="1417320" cy="379476"/>
          </a:xfrm>
          <a:prstGeom prst="rect">
            <a:avLst/>
          </a:prstGeom>
          <a:solidFill>
            <a:srgbClr val="F4F6F8"/>
          </a:solidFill>
          <a:ln/>
        </p:spPr>
      </p:sp>
      <p:sp>
        <p:nvSpPr>
          <p:cNvPr id="60" name="Text 57"/>
          <p:cNvSpPr/>
          <p:nvPr/>
        </p:nvSpPr>
        <p:spPr>
          <a:xfrm>
            <a:off x="5532120" y="3040380"/>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CVA Capital</a:t>
            </a:r>
            <a:endParaRPr lang="en-US" sz="900" dirty="0"/>
          </a:p>
        </p:txBody>
      </p:sp>
      <p:sp>
        <p:nvSpPr>
          <p:cNvPr id="61" name="Shape 58"/>
          <p:cNvSpPr/>
          <p:nvPr/>
        </p:nvSpPr>
        <p:spPr>
          <a:xfrm>
            <a:off x="6949440" y="3040380"/>
            <a:ext cx="438912" cy="379476"/>
          </a:xfrm>
          <a:prstGeom prst="rect">
            <a:avLst/>
          </a:prstGeom>
          <a:solidFill>
            <a:srgbClr val="F4F6F8"/>
          </a:solidFill>
          <a:ln/>
        </p:spPr>
      </p:sp>
      <p:sp>
        <p:nvSpPr>
          <p:cNvPr id="62" name="Text 59"/>
          <p:cNvSpPr/>
          <p:nvPr/>
        </p:nvSpPr>
        <p:spPr>
          <a:xfrm>
            <a:off x="6949440" y="3040380"/>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63" name="Shape 60"/>
          <p:cNvSpPr/>
          <p:nvPr/>
        </p:nvSpPr>
        <p:spPr>
          <a:xfrm>
            <a:off x="7388352" y="3040380"/>
            <a:ext cx="438912" cy="379476"/>
          </a:xfrm>
          <a:prstGeom prst="rect">
            <a:avLst/>
          </a:prstGeom>
          <a:solidFill>
            <a:srgbClr val="F4F6F8"/>
          </a:solidFill>
          <a:ln/>
        </p:spPr>
      </p:sp>
      <p:sp>
        <p:nvSpPr>
          <p:cNvPr id="64" name="Text 61"/>
          <p:cNvSpPr/>
          <p:nvPr/>
        </p:nvSpPr>
        <p:spPr>
          <a:xfrm>
            <a:off x="7388352" y="3040380"/>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65" name="Shape 62"/>
          <p:cNvSpPr/>
          <p:nvPr/>
        </p:nvSpPr>
        <p:spPr>
          <a:xfrm>
            <a:off x="7827264" y="3040380"/>
            <a:ext cx="438912" cy="379476"/>
          </a:xfrm>
          <a:prstGeom prst="rect">
            <a:avLst/>
          </a:prstGeom>
          <a:solidFill>
            <a:srgbClr val="F4F6F8"/>
          </a:solidFill>
          <a:ln/>
        </p:spPr>
      </p:sp>
      <p:sp>
        <p:nvSpPr>
          <p:cNvPr id="66" name="Text 63"/>
          <p:cNvSpPr/>
          <p:nvPr/>
        </p:nvSpPr>
        <p:spPr>
          <a:xfrm>
            <a:off x="7827264" y="3040380"/>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a:t>
            </a:r>
            <a:endParaRPr lang="en-US" sz="850" dirty="0"/>
          </a:p>
        </p:txBody>
      </p:sp>
      <p:sp>
        <p:nvSpPr>
          <p:cNvPr id="67" name="Shape 64"/>
          <p:cNvSpPr/>
          <p:nvPr/>
        </p:nvSpPr>
        <p:spPr>
          <a:xfrm>
            <a:off x="8266176" y="3040380"/>
            <a:ext cx="603504" cy="379476"/>
          </a:xfrm>
          <a:prstGeom prst="rect">
            <a:avLst/>
          </a:prstGeom>
          <a:solidFill>
            <a:srgbClr val="F4F6F8"/>
          </a:solidFill>
          <a:ln/>
        </p:spPr>
      </p:sp>
      <p:sp>
        <p:nvSpPr>
          <p:cNvPr id="68" name="Text 65"/>
          <p:cNvSpPr/>
          <p:nvPr/>
        </p:nvSpPr>
        <p:spPr>
          <a:xfrm>
            <a:off x="8266176" y="3040380"/>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a:t>
            </a:r>
            <a:endParaRPr lang="en-US" sz="850" dirty="0"/>
          </a:p>
        </p:txBody>
      </p:sp>
      <p:sp>
        <p:nvSpPr>
          <p:cNvPr id="69" name="Shape 66"/>
          <p:cNvSpPr/>
          <p:nvPr/>
        </p:nvSpPr>
        <p:spPr>
          <a:xfrm>
            <a:off x="5532120" y="3419856"/>
            <a:ext cx="1417320" cy="379476"/>
          </a:xfrm>
          <a:prstGeom prst="rect">
            <a:avLst/>
          </a:prstGeom>
          <a:solidFill>
            <a:srgbClr val="FFFFFF"/>
          </a:solidFill>
          <a:ln/>
        </p:spPr>
      </p:sp>
      <p:sp>
        <p:nvSpPr>
          <p:cNvPr id="70" name="Text 67"/>
          <p:cNvSpPr/>
          <p:nvPr/>
        </p:nvSpPr>
        <p:spPr>
          <a:xfrm>
            <a:off x="5532120" y="3419856"/>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Market Risk</a:t>
            </a:r>
            <a:endParaRPr lang="en-US" sz="900" dirty="0"/>
          </a:p>
        </p:txBody>
      </p:sp>
      <p:sp>
        <p:nvSpPr>
          <p:cNvPr id="71" name="Shape 68"/>
          <p:cNvSpPr/>
          <p:nvPr/>
        </p:nvSpPr>
        <p:spPr>
          <a:xfrm>
            <a:off x="6949440" y="3419856"/>
            <a:ext cx="438912" cy="379476"/>
          </a:xfrm>
          <a:prstGeom prst="rect">
            <a:avLst/>
          </a:prstGeom>
          <a:solidFill>
            <a:srgbClr val="FFFFFF"/>
          </a:solidFill>
          <a:ln/>
        </p:spPr>
      </p:sp>
      <p:sp>
        <p:nvSpPr>
          <p:cNvPr id="72" name="Text 69"/>
          <p:cNvSpPr/>
          <p:nvPr/>
        </p:nvSpPr>
        <p:spPr>
          <a:xfrm>
            <a:off x="6949440" y="3419856"/>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73" name="Shape 70"/>
          <p:cNvSpPr/>
          <p:nvPr/>
        </p:nvSpPr>
        <p:spPr>
          <a:xfrm>
            <a:off x="7388352" y="3419856"/>
            <a:ext cx="438912" cy="379476"/>
          </a:xfrm>
          <a:prstGeom prst="rect">
            <a:avLst/>
          </a:prstGeom>
          <a:solidFill>
            <a:srgbClr val="FFFFFF"/>
          </a:solidFill>
          <a:ln/>
        </p:spPr>
      </p:sp>
      <p:sp>
        <p:nvSpPr>
          <p:cNvPr id="74" name="Text 71"/>
          <p:cNvSpPr/>
          <p:nvPr/>
        </p:nvSpPr>
        <p:spPr>
          <a:xfrm>
            <a:off x="7388352" y="3419856"/>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VaR</a:t>
            </a:r>
            <a:endParaRPr lang="en-US" sz="850" dirty="0"/>
          </a:p>
        </p:txBody>
      </p:sp>
      <p:sp>
        <p:nvSpPr>
          <p:cNvPr id="75" name="Shape 72"/>
          <p:cNvSpPr/>
          <p:nvPr/>
        </p:nvSpPr>
        <p:spPr>
          <a:xfrm>
            <a:off x="7827264" y="3419856"/>
            <a:ext cx="438912" cy="379476"/>
          </a:xfrm>
          <a:prstGeom prst="rect">
            <a:avLst/>
          </a:prstGeom>
          <a:solidFill>
            <a:srgbClr val="FFFFFF"/>
          </a:solidFill>
          <a:ln/>
        </p:spPr>
      </p:sp>
      <p:sp>
        <p:nvSpPr>
          <p:cNvPr id="76" name="Text 73"/>
          <p:cNvSpPr/>
          <p:nvPr/>
        </p:nvSpPr>
        <p:spPr>
          <a:xfrm>
            <a:off x="7827264" y="3419856"/>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SVaR+IRC</a:t>
            </a:r>
            <a:endParaRPr lang="en-US" sz="850" dirty="0"/>
          </a:p>
        </p:txBody>
      </p:sp>
      <p:sp>
        <p:nvSpPr>
          <p:cNvPr id="77" name="Shape 74"/>
          <p:cNvSpPr/>
          <p:nvPr/>
        </p:nvSpPr>
        <p:spPr>
          <a:xfrm>
            <a:off x="8266176" y="3419856"/>
            <a:ext cx="603504" cy="379476"/>
          </a:xfrm>
          <a:prstGeom prst="rect">
            <a:avLst/>
          </a:prstGeom>
          <a:solidFill>
            <a:srgbClr val="FFFFFF"/>
          </a:solidFill>
          <a:ln/>
        </p:spPr>
      </p:sp>
      <p:sp>
        <p:nvSpPr>
          <p:cNvPr id="78" name="Text 75"/>
          <p:cNvSpPr/>
          <p:nvPr/>
        </p:nvSpPr>
        <p:spPr>
          <a:xfrm>
            <a:off x="8266176" y="3419856"/>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FRTB/ES</a:t>
            </a:r>
            <a:endParaRPr lang="en-US" sz="850" dirty="0"/>
          </a:p>
        </p:txBody>
      </p:sp>
      <p:sp>
        <p:nvSpPr>
          <p:cNvPr id="79" name="Shape 76"/>
          <p:cNvSpPr/>
          <p:nvPr/>
        </p:nvSpPr>
        <p:spPr>
          <a:xfrm>
            <a:off x="5532120" y="3799332"/>
            <a:ext cx="1417320" cy="379476"/>
          </a:xfrm>
          <a:prstGeom prst="rect">
            <a:avLst/>
          </a:prstGeom>
          <a:solidFill>
            <a:srgbClr val="F4F6F8"/>
          </a:solidFill>
          <a:ln/>
        </p:spPr>
      </p:sp>
      <p:sp>
        <p:nvSpPr>
          <p:cNvPr id="80" name="Text 77"/>
          <p:cNvSpPr/>
          <p:nvPr/>
        </p:nvSpPr>
        <p:spPr>
          <a:xfrm>
            <a:off x="5532120" y="3799332"/>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OpRisk</a:t>
            </a:r>
            <a:endParaRPr lang="en-US" sz="900" dirty="0"/>
          </a:p>
        </p:txBody>
      </p:sp>
      <p:sp>
        <p:nvSpPr>
          <p:cNvPr id="81" name="Shape 78"/>
          <p:cNvSpPr/>
          <p:nvPr/>
        </p:nvSpPr>
        <p:spPr>
          <a:xfrm>
            <a:off x="6949440" y="3799332"/>
            <a:ext cx="438912" cy="379476"/>
          </a:xfrm>
          <a:prstGeom prst="rect">
            <a:avLst/>
          </a:prstGeom>
          <a:solidFill>
            <a:srgbClr val="F4F6F8"/>
          </a:solidFill>
          <a:ln/>
        </p:spPr>
      </p:sp>
      <p:sp>
        <p:nvSpPr>
          <p:cNvPr id="82" name="Text 79"/>
          <p:cNvSpPr/>
          <p:nvPr/>
        </p:nvSpPr>
        <p:spPr>
          <a:xfrm>
            <a:off x="6949440" y="3799332"/>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83" name="Shape 80"/>
          <p:cNvSpPr/>
          <p:nvPr/>
        </p:nvSpPr>
        <p:spPr>
          <a:xfrm>
            <a:off x="7388352" y="3799332"/>
            <a:ext cx="438912" cy="379476"/>
          </a:xfrm>
          <a:prstGeom prst="rect">
            <a:avLst/>
          </a:prstGeom>
          <a:solidFill>
            <a:srgbClr val="F4F6F8"/>
          </a:solidFill>
          <a:ln/>
        </p:spPr>
      </p:sp>
      <p:sp>
        <p:nvSpPr>
          <p:cNvPr id="84" name="Text 81"/>
          <p:cNvSpPr/>
          <p:nvPr/>
        </p:nvSpPr>
        <p:spPr>
          <a:xfrm>
            <a:off x="7388352" y="3799332"/>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AMA</a:t>
            </a:r>
            <a:endParaRPr lang="en-US" sz="850" dirty="0"/>
          </a:p>
        </p:txBody>
      </p:sp>
      <p:sp>
        <p:nvSpPr>
          <p:cNvPr id="85" name="Shape 82"/>
          <p:cNvSpPr/>
          <p:nvPr/>
        </p:nvSpPr>
        <p:spPr>
          <a:xfrm>
            <a:off x="7827264" y="3799332"/>
            <a:ext cx="438912" cy="379476"/>
          </a:xfrm>
          <a:prstGeom prst="rect">
            <a:avLst/>
          </a:prstGeom>
          <a:solidFill>
            <a:srgbClr val="F4F6F8"/>
          </a:solidFill>
          <a:ln/>
        </p:spPr>
      </p:sp>
      <p:sp>
        <p:nvSpPr>
          <p:cNvPr id="86" name="Text 83"/>
          <p:cNvSpPr/>
          <p:nvPr/>
        </p:nvSpPr>
        <p:spPr>
          <a:xfrm>
            <a:off x="7827264" y="3799332"/>
            <a:ext cx="438912" cy="379476"/>
          </a:xfrm>
          <a:prstGeom prst="rect">
            <a:avLst/>
          </a:prstGeom>
          <a:noFill/>
          <a:ln/>
        </p:spPr>
        <p:txBody>
          <a:bodyPr wrap="square" lIns="0" tIns="0" rIns="0" bIns="0" rtlCol="0" anchor="ctr"/>
          <a:lstStyle/>
          <a:p>
            <a:pPr algn="ctr" indent="0" marL="0">
              <a:buNone/>
            </a:pPr>
            <a:r>
              <a:rPr lang="en-US" sz="850" dirty="0">
                <a:solidFill>
                  <a:srgbClr val="0E6B8A"/>
                </a:solidFill>
              </a:rPr>
              <a:t>AMA</a:t>
            </a:r>
            <a:endParaRPr lang="en-US" sz="850" dirty="0"/>
          </a:p>
        </p:txBody>
      </p:sp>
      <p:sp>
        <p:nvSpPr>
          <p:cNvPr id="87" name="Shape 84"/>
          <p:cNvSpPr/>
          <p:nvPr/>
        </p:nvSpPr>
        <p:spPr>
          <a:xfrm>
            <a:off x="8266176" y="3799332"/>
            <a:ext cx="603504" cy="379476"/>
          </a:xfrm>
          <a:prstGeom prst="rect">
            <a:avLst/>
          </a:prstGeom>
          <a:solidFill>
            <a:srgbClr val="F4F6F8"/>
          </a:solidFill>
          <a:ln/>
        </p:spPr>
      </p:sp>
      <p:sp>
        <p:nvSpPr>
          <p:cNvPr id="88" name="Text 85"/>
          <p:cNvSpPr/>
          <p:nvPr/>
        </p:nvSpPr>
        <p:spPr>
          <a:xfrm>
            <a:off x="8266176" y="3799332"/>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SMA</a:t>
            </a:r>
            <a:endParaRPr lang="en-US" sz="850" dirty="0"/>
          </a:p>
        </p:txBody>
      </p:sp>
      <p:sp>
        <p:nvSpPr>
          <p:cNvPr id="89" name="Shape 86"/>
          <p:cNvSpPr/>
          <p:nvPr/>
        </p:nvSpPr>
        <p:spPr>
          <a:xfrm>
            <a:off x="5532120" y="4178808"/>
            <a:ext cx="1417320" cy="379476"/>
          </a:xfrm>
          <a:prstGeom prst="rect">
            <a:avLst/>
          </a:prstGeom>
          <a:solidFill>
            <a:srgbClr val="FFFFFF"/>
          </a:solidFill>
          <a:ln/>
        </p:spPr>
      </p:sp>
      <p:sp>
        <p:nvSpPr>
          <p:cNvPr id="90" name="Text 87"/>
          <p:cNvSpPr/>
          <p:nvPr/>
        </p:nvSpPr>
        <p:spPr>
          <a:xfrm>
            <a:off x="5532120" y="4178808"/>
            <a:ext cx="1417320" cy="379476"/>
          </a:xfrm>
          <a:prstGeom prst="rect">
            <a:avLst/>
          </a:prstGeom>
          <a:noFill/>
          <a:ln/>
        </p:spPr>
        <p:txBody>
          <a:bodyPr wrap="square" lIns="50800" tIns="50800" rIns="50800" bIns="50800" rtlCol="0" anchor="ctr"/>
          <a:lstStyle/>
          <a:p>
            <a:pPr algn="l" indent="0" marL="0">
              <a:buNone/>
            </a:pPr>
            <a:r>
              <a:rPr lang="en-US" sz="900" b="1" dirty="0">
                <a:solidFill>
                  <a:srgbClr val="1A1A2E"/>
                </a:solidFill>
              </a:rPr>
              <a:t>Output Floor</a:t>
            </a:r>
            <a:endParaRPr lang="en-US" sz="900" dirty="0"/>
          </a:p>
        </p:txBody>
      </p:sp>
      <p:sp>
        <p:nvSpPr>
          <p:cNvPr id="91" name="Shape 88"/>
          <p:cNvSpPr/>
          <p:nvPr/>
        </p:nvSpPr>
        <p:spPr>
          <a:xfrm>
            <a:off x="6949440" y="4178808"/>
            <a:ext cx="438912" cy="379476"/>
          </a:xfrm>
          <a:prstGeom prst="rect">
            <a:avLst/>
          </a:prstGeom>
          <a:solidFill>
            <a:srgbClr val="FFFFFF"/>
          </a:solidFill>
          <a:ln/>
        </p:spPr>
      </p:sp>
      <p:sp>
        <p:nvSpPr>
          <p:cNvPr id="92" name="Text 89"/>
          <p:cNvSpPr/>
          <p:nvPr/>
        </p:nvSpPr>
        <p:spPr>
          <a:xfrm>
            <a:off x="6949440" y="4178808"/>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93" name="Shape 90"/>
          <p:cNvSpPr/>
          <p:nvPr/>
        </p:nvSpPr>
        <p:spPr>
          <a:xfrm>
            <a:off x="7388352" y="4178808"/>
            <a:ext cx="438912" cy="379476"/>
          </a:xfrm>
          <a:prstGeom prst="rect">
            <a:avLst/>
          </a:prstGeom>
          <a:solidFill>
            <a:srgbClr val="FFFFFF"/>
          </a:solidFill>
          <a:ln/>
        </p:spPr>
      </p:sp>
      <p:sp>
        <p:nvSpPr>
          <p:cNvPr id="94" name="Text 91"/>
          <p:cNvSpPr/>
          <p:nvPr/>
        </p:nvSpPr>
        <p:spPr>
          <a:xfrm>
            <a:off x="7388352" y="4178808"/>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95" name="Shape 92"/>
          <p:cNvSpPr/>
          <p:nvPr/>
        </p:nvSpPr>
        <p:spPr>
          <a:xfrm>
            <a:off x="7827264" y="4178808"/>
            <a:ext cx="438912" cy="379476"/>
          </a:xfrm>
          <a:prstGeom prst="rect">
            <a:avLst/>
          </a:prstGeom>
          <a:solidFill>
            <a:srgbClr val="FFFFFF"/>
          </a:solidFill>
          <a:ln/>
        </p:spPr>
      </p:sp>
      <p:sp>
        <p:nvSpPr>
          <p:cNvPr id="96" name="Text 93"/>
          <p:cNvSpPr/>
          <p:nvPr/>
        </p:nvSpPr>
        <p:spPr>
          <a:xfrm>
            <a:off x="7827264" y="4178808"/>
            <a:ext cx="438912" cy="379476"/>
          </a:xfrm>
          <a:prstGeom prst="rect">
            <a:avLst/>
          </a:prstGeom>
          <a:noFill/>
          <a:ln/>
        </p:spPr>
        <p:txBody>
          <a:bodyPr wrap="square" lIns="0" tIns="0" rIns="0" bIns="0" rtlCol="0" anchor="ctr"/>
          <a:lstStyle/>
          <a:p>
            <a:pPr algn="ctr" indent="0" marL="0">
              <a:buNone/>
            </a:pPr>
            <a:r>
              <a:rPr lang="en-US" sz="850" dirty="0">
                <a:solidFill>
                  <a:srgbClr val="1A1A2E"/>
                </a:solidFill>
              </a:rPr>
              <a:t>—</a:t>
            </a:r>
            <a:endParaRPr lang="en-US" sz="850" dirty="0"/>
          </a:p>
        </p:txBody>
      </p:sp>
      <p:sp>
        <p:nvSpPr>
          <p:cNvPr id="97" name="Shape 94"/>
          <p:cNvSpPr/>
          <p:nvPr/>
        </p:nvSpPr>
        <p:spPr>
          <a:xfrm>
            <a:off x="8266176" y="4178808"/>
            <a:ext cx="603504" cy="379476"/>
          </a:xfrm>
          <a:prstGeom prst="rect">
            <a:avLst/>
          </a:prstGeom>
          <a:solidFill>
            <a:srgbClr val="FFFFFF"/>
          </a:solidFill>
          <a:ln/>
        </p:spPr>
      </p:sp>
      <p:sp>
        <p:nvSpPr>
          <p:cNvPr id="98" name="Text 95"/>
          <p:cNvSpPr/>
          <p:nvPr/>
        </p:nvSpPr>
        <p:spPr>
          <a:xfrm>
            <a:off x="8266176" y="4178808"/>
            <a:ext cx="603504" cy="379476"/>
          </a:xfrm>
          <a:prstGeom prst="rect">
            <a:avLst/>
          </a:prstGeom>
          <a:noFill/>
          <a:ln/>
        </p:spPr>
        <p:txBody>
          <a:bodyPr wrap="square" lIns="0" tIns="0" rIns="0" bIns="0" rtlCol="0" anchor="ctr"/>
          <a:lstStyle/>
          <a:p>
            <a:pPr algn="ctr" indent="0" marL="0">
              <a:buNone/>
            </a:pPr>
            <a:r>
              <a:rPr lang="en-US" sz="850" dirty="0">
                <a:solidFill>
                  <a:srgbClr val="0E6B8A"/>
                </a:solidFill>
              </a:rPr>
              <a:t>72.5%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Risk Evolution</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Credit Risk &amp; Market Risk: The Methodology Journey</a:t>
            </a:r>
            <a:endParaRPr lang="en-US" sz="2200" dirty="0"/>
          </a:p>
        </p:txBody>
      </p:sp>
      <p:sp>
        <p:nvSpPr>
          <p:cNvPr id="6" name="Text 4"/>
          <p:cNvSpPr/>
          <p:nvPr/>
        </p:nvSpPr>
        <p:spPr>
          <a:xfrm>
            <a:off x="274320" y="749808"/>
            <a:ext cx="4160520" cy="274320"/>
          </a:xfrm>
          <a:prstGeom prst="rect">
            <a:avLst/>
          </a:prstGeom>
          <a:noFill/>
          <a:ln/>
        </p:spPr>
        <p:txBody>
          <a:bodyPr wrap="square" lIns="0" tIns="0" rIns="0" bIns="0" rtlCol="0" anchor="ctr"/>
          <a:lstStyle/>
          <a:p>
            <a:pPr indent="0" marL="0">
              <a:buNone/>
            </a:pPr>
            <a:r>
              <a:rPr lang="en-US" sz="1000" b="1" dirty="0">
                <a:solidFill>
                  <a:srgbClr val="1B3A6B"/>
                </a:solidFill>
              </a:rPr>
              <a:t>CREDIT RISK</a:t>
            </a:r>
            <a:endParaRPr lang="en-US" sz="1000" dirty="0"/>
          </a:p>
        </p:txBody>
      </p:sp>
      <p:sp>
        <p:nvSpPr>
          <p:cNvPr id="7" name="Shape 5"/>
          <p:cNvSpPr/>
          <p:nvPr/>
        </p:nvSpPr>
        <p:spPr>
          <a:xfrm>
            <a:off x="274320" y="1005840"/>
            <a:ext cx="987552" cy="411480"/>
          </a:xfrm>
          <a:prstGeom prst="rect">
            <a:avLst/>
          </a:prstGeom>
          <a:solidFill>
            <a:srgbClr val="8899AA"/>
          </a:solidFill>
          <a:ln/>
        </p:spPr>
      </p:sp>
      <p:sp>
        <p:nvSpPr>
          <p:cNvPr id="8" name="Text 6"/>
          <p:cNvSpPr/>
          <p:nvPr/>
        </p:nvSpPr>
        <p:spPr>
          <a:xfrm>
            <a:off x="274320" y="1005840"/>
            <a:ext cx="987552" cy="411480"/>
          </a:xfrm>
          <a:prstGeom prst="rect">
            <a:avLst/>
          </a:prstGeom>
          <a:noFill/>
          <a:ln/>
        </p:spPr>
        <p:txBody>
          <a:bodyPr wrap="square" lIns="0" tIns="0" rIns="0" bIns="0" rtlCol="0" anchor="ctr"/>
          <a:lstStyle/>
          <a:p>
            <a:pPr algn="ctr" indent="0" marL="0">
              <a:buNone/>
            </a:pPr>
            <a:r>
              <a:rPr lang="en-US" sz="800" b="1" dirty="0">
                <a:solidFill>
                  <a:srgbClr val="FFFFFF"/>
                </a:solidFill>
              </a:rPr>
              <a:t>Basel I</a:t>
            </a:r>
            <a:endParaRPr lang="en-US" sz="800" dirty="0"/>
          </a:p>
          <a:p>
            <a:pPr algn="ctr" indent="0" marL="0">
              <a:buNone/>
            </a:pPr>
            <a:r>
              <a:rPr lang="en-US" sz="800" b="1" dirty="0">
                <a:solidFill>
                  <a:srgbClr val="FFFFFF"/>
                </a:solidFill>
              </a:rPr>
              <a:t>1988</a:t>
            </a:r>
            <a:endParaRPr lang="en-US" sz="800" dirty="0"/>
          </a:p>
        </p:txBody>
      </p:sp>
      <p:sp>
        <p:nvSpPr>
          <p:cNvPr id="9" name="Shape 7"/>
          <p:cNvSpPr/>
          <p:nvPr/>
        </p:nvSpPr>
        <p:spPr>
          <a:xfrm>
            <a:off x="274320" y="1417320"/>
            <a:ext cx="987552"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0" name="Shape 8"/>
          <p:cNvSpPr/>
          <p:nvPr/>
        </p:nvSpPr>
        <p:spPr>
          <a:xfrm>
            <a:off x="274320" y="1417320"/>
            <a:ext cx="987552" cy="45720"/>
          </a:xfrm>
          <a:prstGeom prst="rect">
            <a:avLst/>
          </a:prstGeom>
          <a:solidFill>
            <a:srgbClr val="8899AA"/>
          </a:solidFill>
          <a:ln/>
        </p:spPr>
      </p:sp>
      <p:sp>
        <p:nvSpPr>
          <p:cNvPr id="11" name="Text 9"/>
          <p:cNvSpPr/>
          <p:nvPr/>
        </p:nvSpPr>
        <p:spPr>
          <a:xfrm>
            <a:off x="320040" y="1463040"/>
            <a:ext cx="896112" cy="274320"/>
          </a:xfrm>
          <a:prstGeom prst="rect">
            <a:avLst/>
          </a:prstGeom>
          <a:noFill/>
          <a:ln/>
        </p:spPr>
        <p:txBody>
          <a:bodyPr wrap="square" lIns="0" tIns="0" rIns="0" bIns="0" rtlCol="0" anchor="ctr"/>
          <a:lstStyle/>
          <a:p>
            <a:pPr indent="0" marL="0">
              <a:buNone/>
            </a:pPr>
            <a:r>
              <a:rPr lang="en-US" sz="850" b="1" dirty="0">
                <a:solidFill>
                  <a:srgbClr val="8899AA"/>
                </a:solidFill>
              </a:rPr>
              <a:t>5 Fixed Buckets</a:t>
            </a:r>
            <a:endParaRPr lang="en-US" sz="850" dirty="0"/>
          </a:p>
        </p:txBody>
      </p:sp>
      <p:sp>
        <p:nvSpPr>
          <p:cNvPr id="12" name="Text 10"/>
          <p:cNvSpPr/>
          <p:nvPr/>
        </p:nvSpPr>
        <p:spPr>
          <a:xfrm>
            <a:off x="320040" y="1764792"/>
            <a:ext cx="896112" cy="2011680"/>
          </a:xfrm>
          <a:prstGeom prst="rect">
            <a:avLst/>
          </a:prstGeom>
          <a:noFill/>
          <a:ln/>
        </p:spPr>
        <p:txBody>
          <a:bodyPr wrap="square" lIns="0" tIns="0" rIns="0" bIns="0" rtlCol="0" anchor="t"/>
          <a:lstStyle/>
          <a:p>
            <a:pPr indent="0" marL="0">
              <a:buNone/>
            </a:pPr>
            <a:r>
              <a:rPr lang="en-US" sz="800" dirty="0">
                <a:solidFill>
                  <a:srgbClr val="1A1A2E"/>
                </a:solidFill>
              </a:rPr>
              <a:t>OECD-based risk weights 0/10/20/50/100%.</a:t>
            </a:r>
            <a:endParaRPr lang="en-US" sz="800" dirty="0"/>
          </a:p>
          <a:p>
            <a:pPr indent="0" marL="0">
              <a:buNone/>
            </a:pPr>
            <a:r>
              <a:rPr lang="en-US" sz="800" dirty="0">
                <a:solidFill>
                  <a:srgbClr val="1A1A2E"/>
                </a:solidFill>
              </a:rPr>
              <a:t>CEM for derivatives.</a:t>
            </a:r>
            <a:endParaRPr lang="en-US" sz="800" dirty="0"/>
          </a:p>
          <a:p>
            <a:pPr indent="0" marL="0">
              <a:buNone/>
            </a:pPr>
            <a:r>
              <a:rPr lang="en-US" sz="800" dirty="0">
                <a:solidFill>
                  <a:srgbClr val="1A1A2E"/>
                </a:solidFill>
              </a:rPr>
              <a:t>No credit quality differentiation.</a:t>
            </a:r>
            <a:endParaRPr lang="en-US" sz="800" dirty="0"/>
          </a:p>
        </p:txBody>
      </p:sp>
      <p:sp>
        <p:nvSpPr>
          <p:cNvPr id="13" name="Shape 11"/>
          <p:cNvSpPr/>
          <p:nvPr/>
        </p:nvSpPr>
        <p:spPr>
          <a:xfrm>
            <a:off x="1316736" y="1005840"/>
            <a:ext cx="987552" cy="411480"/>
          </a:xfrm>
          <a:prstGeom prst="rect">
            <a:avLst/>
          </a:prstGeom>
          <a:solidFill>
            <a:srgbClr val="0E6B8A"/>
          </a:solidFill>
          <a:ln/>
        </p:spPr>
      </p:sp>
      <p:sp>
        <p:nvSpPr>
          <p:cNvPr id="14" name="Text 12"/>
          <p:cNvSpPr/>
          <p:nvPr/>
        </p:nvSpPr>
        <p:spPr>
          <a:xfrm>
            <a:off x="1316736" y="1005840"/>
            <a:ext cx="987552" cy="411480"/>
          </a:xfrm>
          <a:prstGeom prst="rect">
            <a:avLst/>
          </a:prstGeom>
          <a:noFill/>
          <a:ln/>
        </p:spPr>
        <p:txBody>
          <a:bodyPr wrap="square" lIns="0" tIns="0" rIns="0" bIns="0" rtlCol="0" anchor="ctr"/>
          <a:lstStyle/>
          <a:p>
            <a:pPr algn="ctr" indent="0" marL="0">
              <a:buNone/>
            </a:pPr>
            <a:r>
              <a:rPr lang="en-US" sz="800" b="1" dirty="0">
                <a:solidFill>
                  <a:srgbClr val="FFFFFF"/>
                </a:solidFill>
              </a:rPr>
              <a:t>Basel II</a:t>
            </a:r>
            <a:endParaRPr lang="en-US" sz="800" dirty="0"/>
          </a:p>
          <a:p>
            <a:pPr algn="ctr" indent="0" marL="0">
              <a:buNone/>
            </a:pPr>
            <a:r>
              <a:rPr lang="en-US" sz="800" b="1" dirty="0">
                <a:solidFill>
                  <a:srgbClr val="FFFFFF"/>
                </a:solidFill>
              </a:rPr>
              <a:t>2004</a:t>
            </a:r>
            <a:endParaRPr lang="en-US" sz="800" dirty="0"/>
          </a:p>
        </p:txBody>
      </p:sp>
      <p:sp>
        <p:nvSpPr>
          <p:cNvPr id="15" name="Shape 13"/>
          <p:cNvSpPr/>
          <p:nvPr/>
        </p:nvSpPr>
        <p:spPr>
          <a:xfrm>
            <a:off x="1316736" y="1417320"/>
            <a:ext cx="987552"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6" name="Shape 14"/>
          <p:cNvSpPr/>
          <p:nvPr/>
        </p:nvSpPr>
        <p:spPr>
          <a:xfrm>
            <a:off x="1316736" y="1417320"/>
            <a:ext cx="987552" cy="45720"/>
          </a:xfrm>
          <a:prstGeom prst="rect">
            <a:avLst/>
          </a:prstGeom>
          <a:solidFill>
            <a:srgbClr val="0E6B8A"/>
          </a:solidFill>
          <a:ln/>
        </p:spPr>
      </p:sp>
      <p:sp>
        <p:nvSpPr>
          <p:cNvPr id="17" name="Text 15"/>
          <p:cNvSpPr/>
          <p:nvPr/>
        </p:nvSpPr>
        <p:spPr>
          <a:xfrm>
            <a:off x="1362456" y="1463040"/>
            <a:ext cx="896112" cy="274320"/>
          </a:xfrm>
          <a:prstGeom prst="rect">
            <a:avLst/>
          </a:prstGeom>
          <a:noFill/>
          <a:ln/>
        </p:spPr>
        <p:txBody>
          <a:bodyPr wrap="square" lIns="0" tIns="0" rIns="0" bIns="0" rtlCol="0" anchor="ctr"/>
          <a:lstStyle/>
          <a:p>
            <a:pPr indent="0" marL="0">
              <a:buNone/>
            </a:pPr>
            <a:r>
              <a:rPr lang="en-US" sz="850" b="1" dirty="0">
                <a:solidFill>
                  <a:srgbClr val="0E6B8A"/>
                </a:solidFill>
              </a:rPr>
              <a:t>Risk-Sensitive Models</a:t>
            </a:r>
            <a:endParaRPr lang="en-US" sz="850" dirty="0"/>
          </a:p>
        </p:txBody>
      </p:sp>
      <p:sp>
        <p:nvSpPr>
          <p:cNvPr id="18" name="Text 16"/>
          <p:cNvSpPr/>
          <p:nvPr/>
        </p:nvSpPr>
        <p:spPr>
          <a:xfrm>
            <a:off x="1362456" y="1764792"/>
            <a:ext cx="896112" cy="2011680"/>
          </a:xfrm>
          <a:prstGeom prst="rect">
            <a:avLst/>
          </a:prstGeom>
          <a:noFill/>
          <a:ln/>
        </p:spPr>
        <p:txBody>
          <a:bodyPr wrap="square" lIns="0" tIns="0" rIns="0" bIns="0" rtlCol="0" anchor="t"/>
          <a:lstStyle/>
          <a:p>
            <a:pPr indent="0" marL="0">
              <a:buNone/>
            </a:pPr>
            <a:r>
              <a:rPr lang="en-US" sz="800" dirty="0">
                <a:solidFill>
                  <a:srgbClr val="1A1A2E"/>
                </a:solidFill>
              </a:rPr>
              <a:t>SA (external ratings).</a:t>
            </a:r>
            <a:endParaRPr lang="en-US" sz="800" dirty="0"/>
          </a:p>
          <a:p>
            <a:pPr indent="0" marL="0">
              <a:buNone/>
            </a:pPr>
            <a:r>
              <a:rPr lang="en-US" sz="800" dirty="0">
                <a:solidFill>
                  <a:srgbClr val="1A1A2E"/>
                </a:solidFill>
              </a:rPr>
              <a:t>F-IRB: bank PD estimates.</a:t>
            </a:r>
            <a:endParaRPr lang="en-US" sz="800" dirty="0"/>
          </a:p>
          <a:p>
            <a:pPr indent="0" marL="0">
              <a:buNone/>
            </a:pPr>
            <a:r>
              <a:rPr lang="en-US" sz="800" dirty="0">
                <a:solidFill>
                  <a:srgbClr val="1A1A2E"/>
                </a:solidFill>
              </a:rPr>
              <a:t>A-IRB: bank PD+LGD+EAD.</a:t>
            </a:r>
            <a:endParaRPr lang="en-US" sz="800" dirty="0"/>
          </a:p>
          <a:p>
            <a:pPr indent="0" marL="0">
              <a:buNone/>
            </a:pPr>
            <a:r>
              <a:rPr lang="en-US" sz="800" dirty="0">
                <a:solidFill>
                  <a:srgbClr val="1A1A2E"/>
                </a:solidFill>
              </a:rPr>
              <a:t>First formal CCR framework.</a:t>
            </a:r>
            <a:endParaRPr lang="en-US" sz="800" dirty="0"/>
          </a:p>
        </p:txBody>
      </p:sp>
      <p:sp>
        <p:nvSpPr>
          <p:cNvPr id="19" name="Shape 17"/>
          <p:cNvSpPr/>
          <p:nvPr/>
        </p:nvSpPr>
        <p:spPr>
          <a:xfrm>
            <a:off x="2359152" y="1005840"/>
            <a:ext cx="987552" cy="411480"/>
          </a:xfrm>
          <a:prstGeom prst="rect">
            <a:avLst/>
          </a:prstGeom>
          <a:solidFill>
            <a:srgbClr val="1B3A6B"/>
          </a:solidFill>
          <a:ln/>
        </p:spPr>
      </p:sp>
      <p:sp>
        <p:nvSpPr>
          <p:cNvPr id="20" name="Text 18"/>
          <p:cNvSpPr/>
          <p:nvPr/>
        </p:nvSpPr>
        <p:spPr>
          <a:xfrm>
            <a:off x="2359152" y="1005840"/>
            <a:ext cx="987552" cy="411480"/>
          </a:xfrm>
          <a:prstGeom prst="rect">
            <a:avLst/>
          </a:prstGeom>
          <a:noFill/>
          <a:ln/>
        </p:spPr>
        <p:txBody>
          <a:bodyPr wrap="square" lIns="0" tIns="0" rIns="0" bIns="0" rtlCol="0" anchor="ctr"/>
          <a:lstStyle/>
          <a:p>
            <a:pPr algn="ctr" indent="0" marL="0">
              <a:buNone/>
            </a:pPr>
            <a:r>
              <a:rPr lang="en-US" sz="800" b="1" dirty="0">
                <a:solidFill>
                  <a:srgbClr val="FFFFFF"/>
                </a:solidFill>
              </a:rPr>
              <a:t>Basel III</a:t>
            </a:r>
            <a:endParaRPr lang="en-US" sz="800" dirty="0"/>
          </a:p>
          <a:p>
            <a:pPr algn="ctr" indent="0" marL="0">
              <a:buNone/>
            </a:pPr>
            <a:r>
              <a:rPr lang="en-US" sz="800" b="1" dirty="0">
                <a:solidFill>
                  <a:srgbClr val="FFFFFF"/>
                </a:solidFill>
              </a:rPr>
              <a:t>2010</a:t>
            </a:r>
            <a:endParaRPr lang="en-US" sz="800" dirty="0"/>
          </a:p>
        </p:txBody>
      </p:sp>
      <p:sp>
        <p:nvSpPr>
          <p:cNvPr id="21" name="Shape 19"/>
          <p:cNvSpPr/>
          <p:nvPr/>
        </p:nvSpPr>
        <p:spPr>
          <a:xfrm>
            <a:off x="2359152" y="1417320"/>
            <a:ext cx="987552"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2" name="Shape 20"/>
          <p:cNvSpPr/>
          <p:nvPr/>
        </p:nvSpPr>
        <p:spPr>
          <a:xfrm>
            <a:off x="2359152" y="1417320"/>
            <a:ext cx="987552" cy="45720"/>
          </a:xfrm>
          <a:prstGeom prst="rect">
            <a:avLst/>
          </a:prstGeom>
          <a:solidFill>
            <a:srgbClr val="1B3A6B"/>
          </a:solidFill>
          <a:ln/>
        </p:spPr>
      </p:sp>
      <p:sp>
        <p:nvSpPr>
          <p:cNvPr id="23" name="Text 21"/>
          <p:cNvSpPr/>
          <p:nvPr/>
        </p:nvSpPr>
        <p:spPr>
          <a:xfrm>
            <a:off x="2404872" y="1463040"/>
            <a:ext cx="896112" cy="274320"/>
          </a:xfrm>
          <a:prstGeom prst="rect">
            <a:avLst/>
          </a:prstGeom>
          <a:noFill/>
          <a:ln/>
        </p:spPr>
        <p:txBody>
          <a:bodyPr wrap="square" lIns="0" tIns="0" rIns="0" bIns="0" rtlCol="0" anchor="ctr"/>
          <a:lstStyle/>
          <a:p>
            <a:pPr indent="0" marL="0">
              <a:buNone/>
            </a:pPr>
            <a:r>
              <a:rPr lang="en-US" sz="850" b="1" dirty="0">
                <a:solidFill>
                  <a:srgbClr val="1B3A6B"/>
                </a:solidFill>
              </a:rPr>
              <a:t>Enhanced + CVA</a:t>
            </a:r>
            <a:endParaRPr lang="en-US" sz="850" dirty="0"/>
          </a:p>
        </p:txBody>
      </p:sp>
      <p:sp>
        <p:nvSpPr>
          <p:cNvPr id="24" name="Text 22"/>
          <p:cNvSpPr/>
          <p:nvPr/>
        </p:nvSpPr>
        <p:spPr>
          <a:xfrm>
            <a:off x="2404872" y="1764792"/>
            <a:ext cx="896112" cy="2011680"/>
          </a:xfrm>
          <a:prstGeom prst="rect">
            <a:avLst/>
          </a:prstGeom>
          <a:noFill/>
          <a:ln/>
        </p:spPr>
        <p:txBody>
          <a:bodyPr wrap="square" lIns="0" tIns="0" rIns="0" bIns="0" rtlCol="0" anchor="t"/>
          <a:lstStyle/>
          <a:p>
            <a:pPr indent="0" marL="0">
              <a:buNone/>
            </a:pPr>
            <a:r>
              <a:rPr lang="en-US" sz="800" dirty="0">
                <a:solidFill>
                  <a:srgbClr val="1A1A2E"/>
                </a:solidFill>
              </a:rPr>
              <a:t>IRB refined; stressed EPE.</a:t>
            </a:r>
            <a:endParaRPr lang="en-US" sz="800" dirty="0"/>
          </a:p>
          <a:p>
            <a:pPr indent="0" marL="0">
              <a:buNone/>
            </a:pPr>
            <a:r>
              <a:rPr lang="en-US" sz="800" dirty="0">
                <a:solidFill>
                  <a:srgbClr val="1A1A2E"/>
                </a:solidFill>
              </a:rPr>
              <a:t>CVA capital introduced.</a:t>
            </a:r>
            <a:endParaRPr lang="en-US" sz="800" dirty="0"/>
          </a:p>
          <a:p>
            <a:pPr indent="0" marL="0">
              <a:buNone/>
            </a:pPr>
            <a:r>
              <a:rPr lang="en-US" sz="800" dirty="0">
                <a:solidFill>
                  <a:srgbClr val="1A1A2E"/>
                </a:solidFill>
              </a:rPr>
              <a:t>CCP incentive (2% RW).</a:t>
            </a:r>
            <a:endParaRPr lang="en-US" sz="800" dirty="0"/>
          </a:p>
        </p:txBody>
      </p:sp>
      <p:sp>
        <p:nvSpPr>
          <p:cNvPr id="25" name="Shape 23"/>
          <p:cNvSpPr/>
          <p:nvPr/>
        </p:nvSpPr>
        <p:spPr>
          <a:xfrm>
            <a:off x="3401568" y="1005840"/>
            <a:ext cx="987552" cy="411480"/>
          </a:xfrm>
          <a:prstGeom prst="rect">
            <a:avLst/>
          </a:prstGeom>
          <a:solidFill>
            <a:srgbClr val="C9A84C"/>
          </a:solidFill>
          <a:ln/>
        </p:spPr>
      </p:sp>
      <p:sp>
        <p:nvSpPr>
          <p:cNvPr id="26" name="Text 24"/>
          <p:cNvSpPr/>
          <p:nvPr/>
        </p:nvSpPr>
        <p:spPr>
          <a:xfrm>
            <a:off x="3401568" y="1005840"/>
            <a:ext cx="987552" cy="411480"/>
          </a:xfrm>
          <a:prstGeom prst="rect">
            <a:avLst/>
          </a:prstGeom>
          <a:noFill/>
          <a:ln/>
        </p:spPr>
        <p:txBody>
          <a:bodyPr wrap="square" lIns="0" tIns="0" rIns="0" bIns="0" rtlCol="0" anchor="ctr"/>
          <a:lstStyle/>
          <a:p>
            <a:pPr algn="ctr" indent="0" marL="0">
              <a:buNone/>
            </a:pPr>
            <a:r>
              <a:rPr lang="en-US" sz="800" b="1" dirty="0">
                <a:solidFill>
                  <a:srgbClr val="FFFFFF"/>
                </a:solidFill>
              </a:rPr>
              <a:t>Basel IV</a:t>
            </a:r>
            <a:endParaRPr lang="en-US" sz="800" dirty="0"/>
          </a:p>
          <a:p>
            <a:pPr algn="ctr" indent="0" marL="0">
              <a:buNone/>
            </a:pPr>
            <a:r>
              <a:rPr lang="en-US" sz="800" b="1" dirty="0">
                <a:solidFill>
                  <a:srgbClr val="FFFFFF"/>
                </a:solidFill>
              </a:rPr>
              <a:t>2017</a:t>
            </a:r>
            <a:endParaRPr lang="en-US" sz="800" dirty="0"/>
          </a:p>
        </p:txBody>
      </p:sp>
      <p:sp>
        <p:nvSpPr>
          <p:cNvPr id="27" name="Shape 25"/>
          <p:cNvSpPr/>
          <p:nvPr/>
        </p:nvSpPr>
        <p:spPr>
          <a:xfrm>
            <a:off x="3401568" y="1417320"/>
            <a:ext cx="987552"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8" name="Shape 26"/>
          <p:cNvSpPr/>
          <p:nvPr/>
        </p:nvSpPr>
        <p:spPr>
          <a:xfrm>
            <a:off x="3401568" y="1417320"/>
            <a:ext cx="987552" cy="45720"/>
          </a:xfrm>
          <a:prstGeom prst="rect">
            <a:avLst/>
          </a:prstGeom>
          <a:solidFill>
            <a:srgbClr val="C9A84C"/>
          </a:solidFill>
          <a:ln/>
        </p:spPr>
      </p:sp>
      <p:sp>
        <p:nvSpPr>
          <p:cNvPr id="29" name="Text 27"/>
          <p:cNvSpPr/>
          <p:nvPr/>
        </p:nvSpPr>
        <p:spPr>
          <a:xfrm>
            <a:off x="3447288" y="1463040"/>
            <a:ext cx="896112" cy="274320"/>
          </a:xfrm>
          <a:prstGeom prst="rect">
            <a:avLst/>
          </a:prstGeom>
          <a:noFill/>
          <a:ln/>
        </p:spPr>
        <p:txBody>
          <a:bodyPr wrap="square" lIns="0" tIns="0" rIns="0" bIns="0" rtlCol="0" anchor="ctr"/>
          <a:lstStyle/>
          <a:p>
            <a:pPr indent="0" marL="0">
              <a:buNone/>
            </a:pPr>
            <a:r>
              <a:rPr lang="en-US" sz="850" b="1" dirty="0">
                <a:solidFill>
                  <a:srgbClr val="C9A84C"/>
                </a:solidFill>
              </a:rPr>
              <a:t>Constrained + Floor</a:t>
            </a:r>
            <a:endParaRPr lang="en-US" sz="850" dirty="0"/>
          </a:p>
        </p:txBody>
      </p:sp>
      <p:sp>
        <p:nvSpPr>
          <p:cNvPr id="30" name="Text 28"/>
          <p:cNvSpPr/>
          <p:nvPr/>
        </p:nvSpPr>
        <p:spPr>
          <a:xfrm>
            <a:off x="3447288" y="1764792"/>
            <a:ext cx="896112" cy="2011680"/>
          </a:xfrm>
          <a:prstGeom prst="rect">
            <a:avLst/>
          </a:prstGeom>
          <a:noFill/>
          <a:ln/>
        </p:spPr>
        <p:txBody>
          <a:bodyPr wrap="square" lIns="0" tIns="0" rIns="0" bIns="0" rtlCol="0" anchor="t"/>
          <a:lstStyle/>
          <a:p>
            <a:pPr indent="0" marL="0">
              <a:buNone/>
            </a:pPr>
            <a:r>
              <a:rPr lang="en-US" sz="800" dirty="0">
                <a:solidFill>
                  <a:srgbClr val="1A1A2E"/>
                </a:solidFill>
              </a:rPr>
              <a:t>A-IRB restricted.</a:t>
            </a:r>
            <a:endParaRPr lang="en-US" sz="800" dirty="0"/>
          </a:p>
          <a:p>
            <a:pPr indent="0" marL="0">
              <a:buNone/>
            </a:pPr>
            <a:r>
              <a:rPr lang="en-US" sz="800" dirty="0">
                <a:solidFill>
                  <a:srgbClr val="1A1A2E"/>
                </a:solidFill>
              </a:rPr>
              <a:t>LGD/PD input floors.</a:t>
            </a:r>
            <a:endParaRPr lang="en-US" sz="800" dirty="0"/>
          </a:p>
          <a:p>
            <a:pPr indent="0" marL="0">
              <a:buNone/>
            </a:pPr>
            <a:r>
              <a:rPr lang="en-US" sz="800" dirty="0">
                <a:solidFill>
                  <a:srgbClr val="1A1A2E"/>
                </a:solidFill>
              </a:rPr>
              <a:t>SA-CCR mandatory.</a:t>
            </a:r>
            <a:endParaRPr lang="en-US" sz="800" dirty="0"/>
          </a:p>
          <a:p>
            <a:pPr indent="0" marL="0">
              <a:buNone/>
            </a:pPr>
            <a:r>
              <a:rPr lang="en-US" sz="800" dirty="0">
                <a:solidFill>
                  <a:srgbClr val="1A1A2E"/>
                </a:solidFill>
              </a:rPr>
              <a:t>72.5% output floor.</a:t>
            </a:r>
            <a:endParaRPr lang="en-US" sz="800" dirty="0"/>
          </a:p>
        </p:txBody>
      </p:sp>
      <p:sp>
        <p:nvSpPr>
          <p:cNvPr id="31" name="Text 29"/>
          <p:cNvSpPr/>
          <p:nvPr/>
        </p:nvSpPr>
        <p:spPr>
          <a:xfrm>
            <a:off x="4617720" y="749808"/>
            <a:ext cx="4251960" cy="274320"/>
          </a:xfrm>
          <a:prstGeom prst="rect">
            <a:avLst/>
          </a:prstGeom>
          <a:noFill/>
          <a:ln/>
        </p:spPr>
        <p:txBody>
          <a:bodyPr wrap="square" lIns="0" tIns="0" rIns="0" bIns="0" rtlCol="0" anchor="ctr"/>
          <a:lstStyle/>
          <a:p>
            <a:pPr indent="0" marL="0">
              <a:buNone/>
            </a:pPr>
            <a:r>
              <a:rPr lang="en-US" sz="1000" b="1" dirty="0">
                <a:solidFill>
                  <a:srgbClr val="0E6B8A"/>
                </a:solidFill>
              </a:rPr>
              <a:t>MARKET RISK</a:t>
            </a:r>
            <a:endParaRPr lang="en-US" sz="1000" dirty="0"/>
          </a:p>
        </p:txBody>
      </p:sp>
      <p:sp>
        <p:nvSpPr>
          <p:cNvPr id="32" name="Shape 30"/>
          <p:cNvSpPr/>
          <p:nvPr/>
        </p:nvSpPr>
        <p:spPr>
          <a:xfrm>
            <a:off x="4617720" y="1005840"/>
            <a:ext cx="795528" cy="411480"/>
          </a:xfrm>
          <a:prstGeom prst="rect">
            <a:avLst/>
          </a:prstGeom>
          <a:solidFill>
            <a:srgbClr val="8899AA"/>
          </a:solidFill>
          <a:ln/>
        </p:spPr>
      </p:sp>
      <p:sp>
        <p:nvSpPr>
          <p:cNvPr id="33" name="Text 31"/>
          <p:cNvSpPr/>
          <p:nvPr/>
        </p:nvSpPr>
        <p:spPr>
          <a:xfrm>
            <a:off x="4617720" y="1005840"/>
            <a:ext cx="795528" cy="411480"/>
          </a:xfrm>
          <a:prstGeom prst="rect">
            <a:avLst/>
          </a:prstGeom>
          <a:noFill/>
          <a:ln/>
        </p:spPr>
        <p:txBody>
          <a:bodyPr wrap="square" lIns="0" tIns="0" rIns="0" bIns="0" rtlCol="0" anchor="ctr"/>
          <a:lstStyle/>
          <a:p>
            <a:pPr algn="ctr" indent="0" marL="0">
              <a:buNone/>
            </a:pPr>
            <a:r>
              <a:rPr lang="en-US" sz="700" b="1" dirty="0">
                <a:solidFill>
                  <a:srgbClr val="FFFFFF"/>
                </a:solidFill>
              </a:rPr>
              <a:t>Basel I</a:t>
            </a:r>
            <a:endParaRPr lang="en-US" sz="700" dirty="0"/>
          </a:p>
          <a:p>
            <a:pPr algn="ctr" indent="0" marL="0">
              <a:buNone/>
            </a:pPr>
            <a:r>
              <a:rPr lang="en-US" sz="700" b="1" dirty="0">
                <a:solidFill>
                  <a:srgbClr val="FFFFFF"/>
                </a:solidFill>
              </a:rPr>
              <a:t>1988</a:t>
            </a:r>
            <a:endParaRPr lang="en-US" sz="700" dirty="0"/>
          </a:p>
        </p:txBody>
      </p:sp>
      <p:sp>
        <p:nvSpPr>
          <p:cNvPr id="34" name="Shape 32"/>
          <p:cNvSpPr/>
          <p:nvPr/>
        </p:nvSpPr>
        <p:spPr>
          <a:xfrm>
            <a:off x="4617720" y="1417320"/>
            <a:ext cx="795528"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5" name="Shape 33"/>
          <p:cNvSpPr/>
          <p:nvPr/>
        </p:nvSpPr>
        <p:spPr>
          <a:xfrm>
            <a:off x="4617720" y="1417320"/>
            <a:ext cx="795528" cy="45720"/>
          </a:xfrm>
          <a:prstGeom prst="rect">
            <a:avLst/>
          </a:prstGeom>
          <a:solidFill>
            <a:srgbClr val="8899AA"/>
          </a:solidFill>
          <a:ln/>
        </p:spPr>
      </p:sp>
      <p:sp>
        <p:nvSpPr>
          <p:cNvPr id="36" name="Text 34"/>
          <p:cNvSpPr/>
          <p:nvPr/>
        </p:nvSpPr>
        <p:spPr>
          <a:xfrm>
            <a:off x="4654296" y="1463040"/>
            <a:ext cx="722376" cy="274320"/>
          </a:xfrm>
          <a:prstGeom prst="rect">
            <a:avLst/>
          </a:prstGeom>
          <a:noFill/>
          <a:ln/>
        </p:spPr>
        <p:txBody>
          <a:bodyPr wrap="square" lIns="0" tIns="0" rIns="0" bIns="0" rtlCol="0" anchor="ctr"/>
          <a:lstStyle/>
          <a:p>
            <a:pPr indent="0" marL="0">
              <a:buNone/>
            </a:pPr>
            <a:r>
              <a:rPr lang="en-US" sz="750" b="1" dirty="0">
                <a:solidFill>
                  <a:srgbClr val="8899AA"/>
                </a:solidFill>
              </a:rPr>
              <a:t>Absent</a:t>
            </a:r>
            <a:endParaRPr lang="en-US" sz="750" dirty="0"/>
          </a:p>
        </p:txBody>
      </p:sp>
      <p:sp>
        <p:nvSpPr>
          <p:cNvPr id="37" name="Text 35"/>
          <p:cNvSpPr/>
          <p:nvPr/>
        </p:nvSpPr>
        <p:spPr>
          <a:xfrm>
            <a:off x="4654296" y="1764792"/>
            <a:ext cx="722376" cy="2011680"/>
          </a:xfrm>
          <a:prstGeom prst="rect">
            <a:avLst/>
          </a:prstGeom>
          <a:noFill/>
          <a:ln/>
        </p:spPr>
        <p:txBody>
          <a:bodyPr wrap="square" lIns="0" tIns="0" rIns="0" bIns="0" rtlCol="0" anchor="t"/>
          <a:lstStyle/>
          <a:p>
            <a:pPr indent="0" marL="0">
              <a:buNone/>
            </a:pPr>
            <a:r>
              <a:rPr lang="en-US" sz="750" dirty="0">
                <a:solidFill>
                  <a:srgbClr val="1A1A2E"/>
                </a:solidFill>
              </a:rPr>
              <a:t>No trading book market risk capital whatsoever.</a:t>
            </a:r>
            <a:endParaRPr lang="en-US" sz="750" dirty="0"/>
          </a:p>
        </p:txBody>
      </p:sp>
      <p:sp>
        <p:nvSpPr>
          <p:cNvPr id="38" name="Shape 36"/>
          <p:cNvSpPr/>
          <p:nvPr/>
        </p:nvSpPr>
        <p:spPr>
          <a:xfrm>
            <a:off x="5468112" y="1005840"/>
            <a:ext cx="795528" cy="411480"/>
          </a:xfrm>
          <a:prstGeom prst="rect">
            <a:avLst/>
          </a:prstGeom>
          <a:solidFill>
            <a:srgbClr val="556677"/>
          </a:solidFill>
          <a:ln/>
        </p:spPr>
      </p:sp>
      <p:sp>
        <p:nvSpPr>
          <p:cNvPr id="39" name="Text 37"/>
          <p:cNvSpPr/>
          <p:nvPr/>
        </p:nvSpPr>
        <p:spPr>
          <a:xfrm>
            <a:off x="5468112" y="1005840"/>
            <a:ext cx="795528" cy="411480"/>
          </a:xfrm>
          <a:prstGeom prst="rect">
            <a:avLst/>
          </a:prstGeom>
          <a:noFill/>
          <a:ln/>
        </p:spPr>
        <p:txBody>
          <a:bodyPr wrap="square" lIns="0" tIns="0" rIns="0" bIns="0" rtlCol="0" anchor="ctr"/>
          <a:lstStyle/>
          <a:p>
            <a:pPr algn="ctr" indent="0" marL="0">
              <a:buNone/>
            </a:pPr>
            <a:r>
              <a:rPr lang="en-US" sz="700" b="1" dirty="0">
                <a:solidFill>
                  <a:srgbClr val="FFFFFF"/>
                </a:solidFill>
              </a:rPr>
              <a:t>1996</a:t>
            </a:r>
            <a:endParaRPr lang="en-US" sz="700" dirty="0"/>
          </a:p>
          <a:p>
            <a:pPr algn="ctr" indent="0" marL="0">
              <a:buNone/>
            </a:pPr>
            <a:r>
              <a:rPr lang="en-US" sz="700" b="1" dirty="0">
                <a:solidFill>
                  <a:srgbClr val="FFFFFF"/>
                </a:solidFill>
              </a:rPr>
              <a:t>Amendment</a:t>
            </a:r>
            <a:endParaRPr lang="en-US" sz="700" dirty="0"/>
          </a:p>
        </p:txBody>
      </p:sp>
      <p:sp>
        <p:nvSpPr>
          <p:cNvPr id="40" name="Shape 38"/>
          <p:cNvSpPr/>
          <p:nvPr/>
        </p:nvSpPr>
        <p:spPr>
          <a:xfrm>
            <a:off x="5468112" y="1417320"/>
            <a:ext cx="795528"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41" name="Shape 39"/>
          <p:cNvSpPr/>
          <p:nvPr/>
        </p:nvSpPr>
        <p:spPr>
          <a:xfrm>
            <a:off x="5468112" y="1417320"/>
            <a:ext cx="795528" cy="45720"/>
          </a:xfrm>
          <a:prstGeom prst="rect">
            <a:avLst/>
          </a:prstGeom>
          <a:solidFill>
            <a:srgbClr val="556677"/>
          </a:solidFill>
          <a:ln/>
        </p:spPr>
      </p:sp>
      <p:sp>
        <p:nvSpPr>
          <p:cNvPr id="42" name="Text 40"/>
          <p:cNvSpPr/>
          <p:nvPr/>
        </p:nvSpPr>
        <p:spPr>
          <a:xfrm>
            <a:off x="5504688" y="1463040"/>
            <a:ext cx="722376" cy="274320"/>
          </a:xfrm>
          <a:prstGeom prst="rect">
            <a:avLst/>
          </a:prstGeom>
          <a:noFill/>
          <a:ln/>
        </p:spPr>
        <p:txBody>
          <a:bodyPr wrap="square" lIns="0" tIns="0" rIns="0" bIns="0" rtlCol="0" anchor="ctr"/>
          <a:lstStyle/>
          <a:p>
            <a:pPr indent="0" marL="0">
              <a:buNone/>
            </a:pPr>
            <a:r>
              <a:rPr lang="en-US" sz="750" b="1" dirty="0">
                <a:solidFill>
                  <a:srgbClr val="556677"/>
                </a:solidFill>
              </a:rPr>
              <a:t>VaR Introduced</a:t>
            </a:r>
            <a:endParaRPr lang="en-US" sz="750" dirty="0"/>
          </a:p>
        </p:txBody>
      </p:sp>
      <p:sp>
        <p:nvSpPr>
          <p:cNvPr id="43" name="Text 41"/>
          <p:cNvSpPr/>
          <p:nvPr/>
        </p:nvSpPr>
        <p:spPr>
          <a:xfrm>
            <a:off x="5504688" y="1764792"/>
            <a:ext cx="722376" cy="2011680"/>
          </a:xfrm>
          <a:prstGeom prst="rect">
            <a:avLst/>
          </a:prstGeom>
          <a:noFill/>
          <a:ln/>
        </p:spPr>
        <p:txBody>
          <a:bodyPr wrap="square" lIns="0" tIns="0" rIns="0" bIns="0" rtlCol="0" anchor="t"/>
          <a:lstStyle/>
          <a:p>
            <a:pPr indent="0" marL="0">
              <a:buNone/>
            </a:pPr>
            <a:r>
              <a:rPr lang="en-US" sz="750" dirty="0">
                <a:solidFill>
                  <a:srgbClr val="1A1A2E"/>
                </a:solidFill>
              </a:rPr>
              <a:t>99%/10-day VaR.</a:t>
            </a:r>
            <a:endParaRPr lang="en-US" sz="750" dirty="0"/>
          </a:p>
          <a:p>
            <a:pPr indent="0" marL="0">
              <a:buNone/>
            </a:pPr>
            <a:r>
              <a:rPr lang="en-US" sz="750" dirty="0">
                <a:solidFill>
                  <a:srgbClr val="1A1A2E"/>
                </a:solidFill>
              </a:rPr>
              <a:t>Multiplier ≥ 3.0.</a:t>
            </a:r>
            <a:endParaRPr lang="en-US" sz="750" dirty="0"/>
          </a:p>
          <a:p>
            <a:pPr indent="0" marL="0">
              <a:buNone/>
            </a:pPr>
            <a:r>
              <a:rPr lang="en-US" sz="750" dirty="0">
                <a:solidFill>
                  <a:srgbClr val="1A1A2E"/>
                </a:solidFill>
              </a:rPr>
              <a:t>Backtesting introduced.</a:t>
            </a:r>
            <a:endParaRPr lang="en-US" sz="750" dirty="0"/>
          </a:p>
        </p:txBody>
      </p:sp>
      <p:sp>
        <p:nvSpPr>
          <p:cNvPr id="44" name="Shape 42"/>
          <p:cNvSpPr/>
          <p:nvPr/>
        </p:nvSpPr>
        <p:spPr>
          <a:xfrm>
            <a:off x="6318504" y="1005840"/>
            <a:ext cx="795528" cy="411480"/>
          </a:xfrm>
          <a:prstGeom prst="rect">
            <a:avLst/>
          </a:prstGeom>
          <a:solidFill>
            <a:srgbClr val="0E6B8A"/>
          </a:solidFill>
          <a:ln/>
        </p:spPr>
      </p:sp>
      <p:sp>
        <p:nvSpPr>
          <p:cNvPr id="45" name="Text 43"/>
          <p:cNvSpPr/>
          <p:nvPr/>
        </p:nvSpPr>
        <p:spPr>
          <a:xfrm>
            <a:off x="6318504" y="1005840"/>
            <a:ext cx="795528" cy="411480"/>
          </a:xfrm>
          <a:prstGeom prst="rect">
            <a:avLst/>
          </a:prstGeom>
          <a:noFill/>
          <a:ln/>
        </p:spPr>
        <p:txBody>
          <a:bodyPr wrap="square" lIns="0" tIns="0" rIns="0" bIns="0" rtlCol="0" anchor="ctr"/>
          <a:lstStyle/>
          <a:p>
            <a:pPr algn="ctr" indent="0" marL="0">
              <a:buNone/>
            </a:pPr>
            <a:r>
              <a:rPr lang="en-US" sz="700" b="1" dirty="0">
                <a:solidFill>
                  <a:srgbClr val="FFFFFF"/>
                </a:solidFill>
              </a:rPr>
              <a:t>Basel II</a:t>
            </a:r>
            <a:endParaRPr lang="en-US" sz="700" dirty="0"/>
          </a:p>
          <a:p>
            <a:pPr algn="ctr" indent="0" marL="0">
              <a:buNone/>
            </a:pPr>
            <a:r>
              <a:rPr lang="en-US" sz="700" b="1" dirty="0">
                <a:solidFill>
                  <a:srgbClr val="FFFFFF"/>
                </a:solidFill>
              </a:rPr>
              <a:t>2004</a:t>
            </a:r>
            <a:endParaRPr lang="en-US" sz="700" dirty="0"/>
          </a:p>
        </p:txBody>
      </p:sp>
      <p:sp>
        <p:nvSpPr>
          <p:cNvPr id="46" name="Shape 44"/>
          <p:cNvSpPr/>
          <p:nvPr/>
        </p:nvSpPr>
        <p:spPr>
          <a:xfrm>
            <a:off x="6318504" y="1417320"/>
            <a:ext cx="795528"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47" name="Shape 45"/>
          <p:cNvSpPr/>
          <p:nvPr/>
        </p:nvSpPr>
        <p:spPr>
          <a:xfrm>
            <a:off x="6318504" y="1417320"/>
            <a:ext cx="795528" cy="45720"/>
          </a:xfrm>
          <a:prstGeom prst="rect">
            <a:avLst/>
          </a:prstGeom>
          <a:solidFill>
            <a:srgbClr val="0E6B8A"/>
          </a:solidFill>
          <a:ln/>
        </p:spPr>
      </p:sp>
      <p:sp>
        <p:nvSpPr>
          <p:cNvPr id="48" name="Text 46"/>
          <p:cNvSpPr/>
          <p:nvPr/>
        </p:nvSpPr>
        <p:spPr>
          <a:xfrm>
            <a:off x="6355080" y="1463040"/>
            <a:ext cx="722376" cy="274320"/>
          </a:xfrm>
          <a:prstGeom prst="rect">
            <a:avLst/>
          </a:prstGeom>
          <a:noFill/>
          <a:ln/>
        </p:spPr>
        <p:txBody>
          <a:bodyPr wrap="square" lIns="0" tIns="0" rIns="0" bIns="0" rtlCol="0" anchor="ctr"/>
          <a:lstStyle/>
          <a:p>
            <a:pPr indent="0" marL="0">
              <a:buNone/>
            </a:pPr>
            <a:r>
              <a:rPr lang="en-US" sz="750" b="1" dirty="0">
                <a:solidFill>
                  <a:srgbClr val="0E6B8A"/>
                </a:solidFill>
              </a:rPr>
              <a:t>VaR Embedded</a:t>
            </a:r>
            <a:endParaRPr lang="en-US" sz="750" dirty="0"/>
          </a:p>
        </p:txBody>
      </p:sp>
      <p:sp>
        <p:nvSpPr>
          <p:cNvPr id="49" name="Text 47"/>
          <p:cNvSpPr/>
          <p:nvPr/>
        </p:nvSpPr>
        <p:spPr>
          <a:xfrm>
            <a:off x="6355080" y="1764792"/>
            <a:ext cx="722376" cy="2011680"/>
          </a:xfrm>
          <a:prstGeom prst="rect">
            <a:avLst/>
          </a:prstGeom>
          <a:noFill/>
          <a:ln/>
        </p:spPr>
        <p:txBody>
          <a:bodyPr wrap="square" lIns="0" tIns="0" rIns="0" bIns="0" rtlCol="0" anchor="t"/>
          <a:lstStyle/>
          <a:p>
            <a:pPr indent="0" marL="0">
              <a:buNone/>
            </a:pPr>
            <a:r>
              <a:rPr lang="en-US" sz="750" dirty="0">
                <a:solidFill>
                  <a:srgbClr val="1A1A2E"/>
                </a:solidFill>
              </a:rPr>
              <a:t>1996 Amendment incorporated into Pillar 1. SA remains as fallback.</a:t>
            </a:r>
            <a:endParaRPr lang="en-US" sz="750" dirty="0"/>
          </a:p>
        </p:txBody>
      </p:sp>
      <p:sp>
        <p:nvSpPr>
          <p:cNvPr id="50" name="Shape 48"/>
          <p:cNvSpPr/>
          <p:nvPr/>
        </p:nvSpPr>
        <p:spPr>
          <a:xfrm>
            <a:off x="7168896" y="1005840"/>
            <a:ext cx="795528" cy="411480"/>
          </a:xfrm>
          <a:prstGeom prst="rect">
            <a:avLst/>
          </a:prstGeom>
          <a:solidFill>
            <a:srgbClr val="1B3A6B"/>
          </a:solidFill>
          <a:ln/>
        </p:spPr>
      </p:sp>
      <p:sp>
        <p:nvSpPr>
          <p:cNvPr id="51" name="Text 49"/>
          <p:cNvSpPr/>
          <p:nvPr/>
        </p:nvSpPr>
        <p:spPr>
          <a:xfrm>
            <a:off x="7168896" y="1005840"/>
            <a:ext cx="795528" cy="411480"/>
          </a:xfrm>
          <a:prstGeom prst="rect">
            <a:avLst/>
          </a:prstGeom>
          <a:noFill/>
          <a:ln/>
        </p:spPr>
        <p:txBody>
          <a:bodyPr wrap="square" lIns="0" tIns="0" rIns="0" bIns="0" rtlCol="0" anchor="ctr"/>
          <a:lstStyle/>
          <a:p>
            <a:pPr algn="ctr" indent="0" marL="0">
              <a:buNone/>
            </a:pPr>
            <a:r>
              <a:rPr lang="en-US" sz="700" b="1" dirty="0">
                <a:solidFill>
                  <a:srgbClr val="FFFFFF"/>
                </a:solidFill>
              </a:rPr>
              <a:t>Basel III</a:t>
            </a:r>
            <a:endParaRPr lang="en-US" sz="700" dirty="0"/>
          </a:p>
          <a:p>
            <a:pPr algn="ctr" indent="0" marL="0">
              <a:buNone/>
            </a:pPr>
            <a:r>
              <a:rPr lang="en-US" sz="700" b="1" dirty="0">
                <a:solidFill>
                  <a:srgbClr val="FFFFFF"/>
                </a:solidFill>
              </a:rPr>
              <a:t>2010</a:t>
            </a:r>
            <a:endParaRPr lang="en-US" sz="700" dirty="0"/>
          </a:p>
        </p:txBody>
      </p:sp>
      <p:sp>
        <p:nvSpPr>
          <p:cNvPr id="52" name="Shape 50"/>
          <p:cNvSpPr/>
          <p:nvPr/>
        </p:nvSpPr>
        <p:spPr>
          <a:xfrm>
            <a:off x="7168896" y="1417320"/>
            <a:ext cx="795528"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53" name="Shape 51"/>
          <p:cNvSpPr/>
          <p:nvPr/>
        </p:nvSpPr>
        <p:spPr>
          <a:xfrm>
            <a:off x="7168896" y="1417320"/>
            <a:ext cx="795528" cy="45720"/>
          </a:xfrm>
          <a:prstGeom prst="rect">
            <a:avLst/>
          </a:prstGeom>
          <a:solidFill>
            <a:srgbClr val="1B3A6B"/>
          </a:solidFill>
          <a:ln/>
        </p:spPr>
      </p:sp>
      <p:sp>
        <p:nvSpPr>
          <p:cNvPr id="54" name="Text 52"/>
          <p:cNvSpPr/>
          <p:nvPr/>
        </p:nvSpPr>
        <p:spPr>
          <a:xfrm>
            <a:off x="7205472" y="1463040"/>
            <a:ext cx="722376" cy="274320"/>
          </a:xfrm>
          <a:prstGeom prst="rect">
            <a:avLst/>
          </a:prstGeom>
          <a:noFill/>
          <a:ln/>
        </p:spPr>
        <p:txBody>
          <a:bodyPr wrap="square" lIns="0" tIns="0" rIns="0" bIns="0" rtlCol="0" anchor="ctr"/>
          <a:lstStyle/>
          <a:p>
            <a:pPr indent="0" marL="0">
              <a:buNone/>
            </a:pPr>
            <a:r>
              <a:rPr lang="en-US" sz="750" b="1" dirty="0">
                <a:solidFill>
                  <a:srgbClr val="1B3A6B"/>
                </a:solidFill>
              </a:rPr>
              <a:t>VaR + SVaR + IRC</a:t>
            </a:r>
            <a:endParaRPr lang="en-US" sz="750" dirty="0"/>
          </a:p>
        </p:txBody>
      </p:sp>
      <p:sp>
        <p:nvSpPr>
          <p:cNvPr id="55" name="Text 53"/>
          <p:cNvSpPr/>
          <p:nvPr/>
        </p:nvSpPr>
        <p:spPr>
          <a:xfrm>
            <a:off x="7205472" y="1764792"/>
            <a:ext cx="722376" cy="2011680"/>
          </a:xfrm>
          <a:prstGeom prst="rect">
            <a:avLst/>
          </a:prstGeom>
          <a:noFill/>
          <a:ln/>
        </p:spPr>
        <p:txBody>
          <a:bodyPr wrap="square" lIns="0" tIns="0" rIns="0" bIns="0" rtlCol="0" anchor="t"/>
          <a:lstStyle/>
          <a:p>
            <a:pPr indent="0" marL="0">
              <a:buNone/>
            </a:pPr>
            <a:r>
              <a:rPr lang="en-US" sz="750" dirty="0">
                <a:solidFill>
                  <a:srgbClr val="1A1A2E"/>
                </a:solidFill>
              </a:rPr>
              <a:t>Stressed VaR (2008 window).</a:t>
            </a:r>
            <a:endParaRPr lang="en-US" sz="750" dirty="0"/>
          </a:p>
          <a:p>
            <a:pPr indent="0" marL="0">
              <a:buNone/>
            </a:pPr>
            <a:r>
              <a:rPr lang="en-US" sz="750" dirty="0">
                <a:solidFill>
                  <a:srgbClr val="1A1A2E"/>
                </a:solidFill>
              </a:rPr>
              <a:t>IRC for default/migration.</a:t>
            </a:r>
            <a:endParaRPr lang="en-US" sz="750" dirty="0"/>
          </a:p>
          <a:p>
            <a:pPr indent="0" marL="0">
              <a:buNone/>
            </a:pPr>
            <a:r>
              <a:rPr lang="en-US" sz="750" dirty="0">
                <a:solidFill>
                  <a:srgbClr val="1A1A2E"/>
                </a:solidFill>
              </a:rPr>
              <a:t>CVA charge added.</a:t>
            </a:r>
            <a:endParaRPr lang="en-US" sz="750" dirty="0"/>
          </a:p>
        </p:txBody>
      </p:sp>
      <p:sp>
        <p:nvSpPr>
          <p:cNvPr id="56" name="Shape 54"/>
          <p:cNvSpPr/>
          <p:nvPr/>
        </p:nvSpPr>
        <p:spPr>
          <a:xfrm>
            <a:off x="8019288" y="1005840"/>
            <a:ext cx="795528" cy="411480"/>
          </a:xfrm>
          <a:prstGeom prst="rect">
            <a:avLst/>
          </a:prstGeom>
          <a:solidFill>
            <a:srgbClr val="C9A84C"/>
          </a:solidFill>
          <a:ln/>
        </p:spPr>
      </p:sp>
      <p:sp>
        <p:nvSpPr>
          <p:cNvPr id="57" name="Text 55"/>
          <p:cNvSpPr/>
          <p:nvPr/>
        </p:nvSpPr>
        <p:spPr>
          <a:xfrm>
            <a:off x="8019288" y="1005840"/>
            <a:ext cx="795528" cy="411480"/>
          </a:xfrm>
          <a:prstGeom prst="rect">
            <a:avLst/>
          </a:prstGeom>
          <a:noFill/>
          <a:ln/>
        </p:spPr>
        <p:txBody>
          <a:bodyPr wrap="square" lIns="0" tIns="0" rIns="0" bIns="0" rtlCol="0" anchor="ctr"/>
          <a:lstStyle/>
          <a:p>
            <a:pPr algn="ctr" indent="0" marL="0">
              <a:buNone/>
            </a:pPr>
            <a:r>
              <a:rPr lang="en-US" sz="700" b="1" dirty="0">
                <a:solidFill>
                  <a:srgbClr val="FFFFFF"/>
                </a:solidFill>
              </a:rPr>
              <a:t>Basel IV</a:t>
            </a:r>
            <a:endParaRPr lang="en-US" sz="700" dirty="0"/>
          </a:p>
          <a:p>
            <a:pPr algn="ctr" indent="0" marL="0">
              <a:buNone/>
            </a:pPr>
            <a:r>
              <a:rPr lang="en-US" sz="700" b="1" dirty="0">
                <a:solidFill>
                  <a:srgbClr val="FFFFFF"/>
                </a:solidFill>
              </a:rPr>
              <a:t>2017</a:t>
            </a:r>
            <a:endParaRPr lang="en-US" sz="700" dirty="0"/>
          </a:p>
        </p:txBody>
      </p:sp>
      <p:sp>
        <p:nvSpPr>
          <p:cNvPr id="58" name="Shape 56"/>
          <p:cNvSpPr/>
          <p:nvPr/>
        </p:nvSpPr>
        <p:spPr>
          <a:xfrm>
            <a:off x="8019288" y="1417320"/>
            <a:ext cx="795528" cy="24231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59" name="Shape 57"/>
          <p:cNvSpPr/>
          <p:nvPr/>
        </p:nvSpPr>
        <p:spPr>
          <a:xfrm>
            <a:off x="8019288" y="1417320"/>
            <a:ext cx="795528" cy="45720"/>
          </a:xfrm>
          <a:prstGeom prst="rect">
            <a:avLst/>
          </a:prstGeom>
          <a:solidFill>
            <a:srgbClr val="C9A84C"/>
          </a:solidFill>
          <a:ln/>
        </p:spPr>
      </p:sp>
      <p:sp>
        <p:nvSpPr>
          <p:cNvPr id="60" name="Text 58"/>
          <p:cNvSpPr/>
          <p:nvPr/>
        </p:nvSpPr>
        <p:spPr>
          <a:xfrm>
            <a:off x="8055864" y="1463040"/>
            <a:ext cx="722376" cy="274320"/>
          </a:xfrm>
          <a:prstGeom prst="rect">
            <a:avLst/>
          </a:prstGeom>
          <a:noFill/>
          <a:ln/>
        </p:spPr>
        <p:txBody>
          <a:bodyPr wrap="square" lIns="0" tIns="0" rIns="0" bIns="0" rtlCol="0" anchor="ctr"/>
          <a:lstStyle/>
          <a:p>
            <a:pPr indent="0" marL="0">
              <a:buNone/>
            </a:pPr>
            <a:r>
              <a:rPr lang="en-US" sz="750" b="1" dirty="0">
                <a:solidFill>
                  <a:srgbClr val="C9A84C"/>
                </a:solidFill>
              </a:rPr>
              <a:t>FRTB: ES-Based</a:t>
            </a:r>
            <a:endParaRPr lang="en-US" sz="750" dirty="0"/>
          </a:p>
        </p:txBody>
      </p:sp>
      <p:sp>
        <p:nvSpPr>
          <p:cNvPr id="61" name="Text 59"/>
          <p:cNvSpPr/>
          <p:nvPr/>
        </p:nvSpPr>
        <p:spPr>
          <a:xfrm>
            <a:off x="8055864" y="1764792"/>
            <a:ext cx="722376" cy="2011680"/>
          </a:xfrm>
          <a:prstGeom prst="rect">
            <a:avLst/>
          </a:prstGeom>
          <a:noFill/>
          <a:ln/>
        </p:spPr>
        <p:txBody>
          <a:bodyPr wrap="square" lIns="0" tIns="0" rIns="0" bIns="0" rtlCol="0" anchor="t"/>
          <a:lstStyle/>
          <a:p>
            <a:pPr indent="0" marL="0">
              <a:buNone/>
            </a:pPr>
            <a:r>
              <a:rPr lang="en-US" sz="750" dirty="0">
                <a:solidFill>
                  <a:srgbClr val="1A1A2E"/>
                </a:solidFill>
              </a:rPr>
              <a:t>ES 97.5%, liq. horizons.</a:t>
            </a:r>
            <a:endParaRPr lang="en-US" sz="750" dirty="0"/>
          </a:p>
          <a:p>
            <a:pPr indent="0" marL="0">
              <a:buNone/>
            </a:pPr>
            <a:r>
              <a:rPr lang="en-US" sz="750" dirty="0">
                <a:solidFill>
                  <a:srgbClr val="1A1A2E"/>
                </a:solidFill>
              </a:rPr>
              <a:t>P&amp;L Attribution Test.</a:t>
            </a:r>
            <a:endParaRPr lang="en-US" sz="750" dirty="0"/>
          </a:p>
          <a:p>
            <a:pPr indent="0" marL="0">
              <a:buNone/>
            </a:pPr>
            <a:r>
              <a:rPr lang="en-US" sz="750" dirty="0">
                <a:solidFill>
                  <a:srgbClr val="1A1A2E"/>
                </a:solidFill>
              </a:rPr>
              <a:t>NMRF stress charges.</a:t>
            </a:r>
            <a:endParaRPr lang="en-US" sz="750" dirty="0"/>
          </a:p>
        </p:txBody>
      </p:sp>
      <p:sp>
        <p:nvSpPr>
          <p:cNvPr id="62" name="Shape 60"/>
          <p:cNvSpPr/>
          <p:nvPr/>
        </p:nvSpPr>
        <p:spPr>
          <a:xfrm>
            <a:off x="365760" y="3931920"/>
            <a:ext cx="8412480" cy="594360"/>
          </a:xfrm>
          <a:prstGeom prst="rect">
            <a:avLst/>
          </a:prstGeom>
          <a:solidFill>
            <a:srgbClr val="D6EAF8"/>
          </a:solidFill>
          <a:ln/>
        </p:spPr>
      </p:sp>
      <p:sp>
        <p:nvSpPr>
          <p:cNvPr id="63" name="Shape 61"/>
          <p:cNvSpPr/>
          <p:nvPr/>
        </p:nvSpPr>
        <p:spPr>
          <a:xfrm>
            <a:off x="365760" y="3931920"/>
            <a:ext cx="1005840" cy="594360"/>
          </a:xfrm>
          <a:prstGeom prst="rect">
            <a:avLst/>
          </a:prstGeom>
          <a:solidFill>
            <a:srgbClr val="0E6B8A"/>
          </a:solidFill>
          <a:ln/>
        </p:spPr>
      </p:sp>
      <p:sp>
        <p:nvSpPr>
          <p:cNvPr id="64" name="Text 62"/>
          <p:cNvSpPr/>
          <p:nvPr/>
        </p:nvSpPr>
        <p:spPr>
          <a:xfrm>
            <a:off x="365760" y="3931920"/>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DIRECTION</a:t>
            </a:r>
            <a:endParaRPr lang="en-US" sz="900" dirty="0"/>
          </a:p>
        </p:txBody>
      </p:sp>
      <p:sp>
        <p:nvSpPr>
          <p:cNvPr id="65" name="Text 63"/>
          <p:cNvSpPr/>
          <p:nvPr/>
        </p:nvSpPr>
        <p:spPr>
          <a:xfrm>
            <a:off x="1417320" y="3931920"/>
            <a:ext cx="7223760" cy="594360"/>
          </a:xfrm>
          <a:prstGeom prst="rect">
            <a:avLst/>
          </a:prstGeom>
          <a:noFill/>
          <a:ln/>
        </p:spPr>
        <p:txBody>
          <a:bodyPr wrap="square" lIns="0" tIns="0" rIns="0" bIns="0" rtlCol="0" anchor="ctr"/>
          <a:lstStyle/>
          <a:p>
            <a:pPr indent="0" marL="0">
              <a:buNone/>
            </a:pPr>
            <a:r>
              <a:rPr lang="en-US" sz="1000" dirty="0">
                <a:solidFill>
                  <a:srgbClr val="1A1A2E"/>
                </a:solidFill>
              </a:rPr>
              <a:t>Credit risk: flat rates → risk-sensitive models → constrained models with floors. Market risk: absent → VaR → stressed VaR → Expected Shortfall. Both trends: more rigour, less model freedom.</a:t>
            </a:r>
            <a:endParaRPr lang="en-US" sz="1000" dirty="0"/>
          </a:p>
        </p:txBody>
      </p:sp>
      <p:sp>
        <p:nvSpPr>
          <p:cNvPr id="66" name="Shape 64"/>
          <p:cNvSpPr/>
          <p:nvPr/>
        </p:nvSpPr>
        <p:spPr>
          <a:xfrm>
            <a:off x="365760" y="4572000"/>
            <a:ext cx="8412480" cy="594360"/>
          </a:xfrm>
          <a:prstGeom prst="rect">
            <a:avLst/>
          </a:prstGeom>
          <a:solidFill>
            <a:srgbClr val="D6EAF8"/>
          </a:solidFill>
          <a:ln/>
        </p:spPr>
      </p:sp>
      <p:sp>
        <p:nvSpPr>
          <p:cNvPr id="67" name="Shape 65"/>
          <p:cNvSpPr/>
          <p:nvPr/>
        </p:nvSpPr>
        <p:spPr>
          <a:xfrm>
            <a:off x="365760" y="4572000"/>
            <a:ext cx="1005840" cy="594360"/>
          </a:xfrm>
          <a:prstGeom prst="rect">
            <a:avLst/>
          </a:prstGeom>
          <a:solidFill>
            <a:srgbClr val="D4770A"/>
          </a:solidFill>
          <a:ln/>
        </p:spPr>
      </p:sp>
      <p:sp>
        <p:nvSpPr>
          <p:cNvPr id="68" name="Text 66"/>
          <p:cNvSpPr/>
          <p:nvPr/>
        </p:nvSpPr>
        <p:spPr>
          <a:xfrm>
            <a:off x="365760" y="4572000"/>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OPERATIONAL RISK</a:t>
            </a:r>
            <a:endParaRPr lang="en-US" sz="900" dirty="0"/>
          </a:p>
        </p:txBody>
      </p:sp>
      <p:sp>
        <p:nvSpPr>
          <p:cNvPr id="69" name="Text 67"/>
          <p:cNvSpPr/>
          <p:nvPr/>
        </p:nvSpPr>
        <p:spPr>
          <a:xfrm>
            <a:off x="1417320" y="4572000"/>
            <a:ext cx="7223760" cy="594360"/>
          </a:xfrm>
          <a:prstGeom prst="rect">
            <a:avLst/>
          </a:prstGeom>
          <a:noFill/>
          <a:ln/>
        </p:spPr>
        <p:txBody>
          <a:bodyPr wrap="square" lIns="0" tIns="0" rIns="0" bIns="0" rtlCol="0" anchor="ctr"/>
          <a:lstStyle/>
          <a:p>
            <a:pPr indent="0" marL="0">
              <a:buNone/>
            </a:pPr>
            <a:r>
              <a:rPr lang="en-US" sz="1000" dirty="0">
                <a:solidFill>
                  <a:srgbClr val="1A1A2E"/>
                </a:solidFill>
              </a:rPr>
              <a:t>Absent (Basel I) → BIA/TSA/AMA (Basel II/III, no change) → SMA only (Basel IV, AMA abolished). AMA abolished due to excessive variability in outputs across banks.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p:spPr>
      </p:sp>
      <p:sp>
        <p:nvSpPr>
          <p:cNvPr id="3" name="Shape 1"/>
          <p:cNvSpPr/>
          <p:nvPr/>
        </p:nvSpPr>
        <p:spPr>
          <a:xfrm>
            <a:off x="164592" y="2560320"/>
            <a:ext cx="8979408" cy="36576"/>
          </a:xfrm>
          <a:prstGeom prst="rect">
            <a:avLst/>
          </a:prstGeom>
          <a:solidFill>
            <a:srgbClr val="C9A84C"/>
          </a:solidFill>
          <a:ln/>
        </p:spPr>
      </p:sp>
      <p:sp>
        <p:nvSpPr>
          <p:cNvPr id="4" name="Text 2"/>
          <p:cNvSpPr/>
          <p:nvPr/>
        </p:nvSpPr>
        <p:spPr>
          <a:xfrm>
            <a:off x="411480" y="1280160"/>
            <a:ext cx="8412480" cy="1097280"/>
          </a:xfrm>
          <a:prstGeom prst="rect">
            <a:avLst/>
          </a:prstGeom>
          <a:noFill/>
          <a:ln/>
        </p:spPr>
        <p:txBody>
          <a:bodyPr wrap="square" lIns="0" tIns="0" rIns="0" bIns="0" rtlCol="0" anchor="ctr"/>
          <a:lstStyle/>
          <a:p>
            <a:pPr indent="0" marL="0">
              <a:buNone/>
            </a:pPr>
            <a:r>
              <a:rPr lang="en-US" sz="4000" b="1" dirty="0">
                <a:solidFill>
                  <a:srgbClr val="FFFFFF"/>
                </a:solidFill>
              </a:rPr>
              <a:t>Worked Examples</a:t>
            </a:r>
            <a:endParaRPr lang="en-US" sz="4000" dirty="0"/>
          </a:p>
        </p:txBody>
      </p:sp>
      <p:sp>
        <p:nvSpPr>
          <p:cNvPr id="5" name="Text 3"/>
          <p:cNvSpPr/>
          <p:nvPr/>
        </p:nvSpPr>
        <p:spPr>
          <a:xfrm>
            <a:off x="411480" y="2651760"/>
            <a:ext cx="8412480" cy="457200"/>
          </a:xfrm>
          <a:prstGeom prst="rect">
            <a:avLst/>
          </a:prstGeom>
          <a:noFill/>
          <a:ln/>
        </p:spPr>
        <p:txBody>
          <a:bodyPr wrap="square" lIns="0" tIns="0" rIns="0" bIns="0" rtlCol="0" anchor="ctr"/>
          <a:lstStyle/>
          <a:p>
            <a:pPr indent="0" marL="0">
              <a:buNone/>
            </a:pPr>
            <a:r>
              <a:rPr lang="en-US" sz="1600" i="1" dirty="0">
                <a:solidFill>
                  <a:srgbClr val="C9A84C"/>
                </a:solidFill>
              </a:rPr>
              <a:t>How Capital is Calculated Across Basel I → IV for Five Instrument Types</a:t>
            </a:r>
            <a:endParaRPr lang="en-US" sz="1600" dirty="0"/>
          </a:p>
        </p:txBody>
      </p:sp>
      <p:sp>
        <p:nvSpPr>
          <p:cNvPr id="6" name="Shape 4"/>
          <p:cNvSpPr/>
          <p:nvPr/>
        </p:nvSpPr>
        <p:spPr>
          <a:xfrm>
            <a:off x="0" y="4873752"/>
            <a:ext cx="9144000" cy="269748"/>
          </a:xfrm>
          <a:prstGeom prst="rect">
            <a:avLst/>
          </a:prstGeom>
          <a:solidFill>
            <a:srgbClr val="1B3A6B"/>
          </a:solidFill>
          <a:ln/>
        </p:spPr>
      </p:sp>
      <p:sp>
        <p:nvSpPr>
          <p:cNvPr id="7" name="Text 5"/>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Worked Examples</a:t>
            </a:r>
            <a:endParaRPr lang="en-US" sz="900" dirty="0"/>
          </a:p>
        </p:txBody>
      </p:sp>
      <p:sp>
        <p:nvSpPr>
          <p:cNvPr id="8" name="Shape 6"/>
          <p:cNvSpPr/>
          <p:nvPr/>
        </p:nvSpPr>
        <p:spPr>
          <a:xfrm>
            <a:off x="411480" y="3108960"/>
            <a:ext cx="8321040" cy="1600200"/>
          </a:xfrm>
          <a:prstGeom prst="rect">
            <a:avLst/>
          </a:prstGeom>
          <a:solidFill>
            <a:srgbClr val="1A2F55"/>
          </a:solidFill>
          <a:ln/>
        </p:spPr>
      </p:sp>
      <p:sp>
        <p:nvSpPr>
          <p:cNvPr id="9" name="Shape 7"/>
          <p:cNvSpPr/>
          <p:nvPr/>
        </p:nvSpPr>
        <p:spPr>
          <a:xfrm>
            <a:off x="594360" y="3246120"/>
            <a:ext cx="1417320" cy="1298448"/>
          </a:xfrm>
          <a:prstGeom prst="rect">
            <a:avLst/>
          </a:prstGeom>
          <a:solidFill>
            <a:srgbClr val="0E6B8A"/>
          </a:solidFill>
          <a:ln/>
          <a:effectLst>
            <a:outerShdw sx="100000" sy="100000" kx="0" ky="0" algn="bl" rotWithShape="0" blurRad="101600" dist="38100" dir="8100000">
              <a:srgbClr val="000000">
                <a:alpha val="18000"/>
              </a:srgbClr>
            </a:outerShdw>
          </a:effectLst>
        </p:spPr>
      </p:sp>
      <p:sp>
        <p:nvSpPr>
          <p:cNvPr id="10" name="Text 8"/>
          <p:cNvSpPr/>
          <p:nvPr/>
        </p:nvSpPr>
        <p:spPr>
          <a:xfrm>
            <a:off x="594360" y="3273552"/>
            <a:ext cx="1417320" cy="36576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11" name="Text 9"/>
          <p:cNvSpPr/>
          <p:nvPr/>
        </p:nvSpPr>
        <p:spPr>
          <a:xfrm>
            <a:off x="594360" y="3639312"/>
            <a:ext cx="1417320" cy="841248"/>
          </a:xfrm>
          <a:prstGeom prst="rect">
            <a:avLst/>
          </a:prstGeom>
          <a:noFill/>
          <a:ln/>
        </p:spPr>
        <p:txBody>
          <a:bodyPr wrap="square" lIns="0" tIns="0" rIns="0" bIns="0" rtlCol="0" anchor="ctr"/>
          <a:lstStyle/>
          <a:p>
            <a:pPr algn="ctr" indent="0" marL="0">
              <a:buNone/>
            </a:pPr>
            <a:r>
              <a:rPr lang="en-US" sz="900" dirty="0">
                <a:solidFill>
                  <a:srgbClr val="FFFFFF"/>
                </a:solidFill>
              </a:rPr>
              <a:t>FX Forward</a:t>
            </a:r>
            <a:endParaRPr lang="en-US" sz="900" dirty="0"/>
          </a:p>
          <a:p>
            <a:pPr algn="ctr" indent="0" marL="0">
              <a:buNone/>
            </a:pPr>
            <a:r>
              <a:rPr lang="en-US" sz="900" dirty="0">
                <a:solidFill>
                  <a:srgbClr val="FFFFFF"/>
                </a:solidFill>
              </a:rPr>
              <a:t>USD/SGD</a:t>
            </a:r>
            <a:endParaRPr lang="en-US" sz="900" dirty="0"/>
          </a:p>
        </p:txBody>
      </p:sp>
      <p:sp>
        <p:nvSpPr>
          <p:cNvPr id="12" name="Shape 10"/>
          <p:cNvSpPr/>
          <p:nvPr/>
        </p:nvSpPr>
        <p:spPr>
          <a:xfrm>
            <a:off x="2221992" y="3246120"/>
            <a:ext cx="1417320" cy="1298448"/>
          </a:xfrm>
          <a:prstGeom prst="rect">
            <a:avLst/>
          </a:prstGeom>
          <a:solidFill>
            <a:srgbClr val="1B3A6B"/>
          </a:solidFill>
          <a:ln/>
          <a:effectLst>
            <a:outerShdw sx="100000" sy="100000" kx="0" ky="0" algn="bl" rotWithShape="0" blurRad="101600" dist="38100" dir="8100000">
              <a:srgbClr val="000000">
                <a:alpha val="18000"/>
              </a:srgbClr>
            </a:outerShdw>
          </a:effectLst>
        </p:spPr>
      </p:sp>
      <p:sp>
        <p:nvSpPr>
          <p:cNvPr id="13" name="Text 11"/>
          <p:cNvSpPr/>
          <p:nvPr/>
        </p:nvSpPr>
        <p:spPr>
          <a:xfrm>
            <a:off x="2221992" y="3273552"/>
            <a:ext cx="1417320" cy="36576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4" name="Text 12"/>
          <p:cNvSpPr/>
          <p:nvPr/>
        </p:nvSpPr>
        <p:spPr>
          <a:xfrm>
            <a:off x="2221992" y="3639312"/>
            <a:ext cx="1417320" cy="841248"/>
          </a:xfrm>
          <a:prstGeom prst="rect">
            <a:avLst/>
          </a:prstGeom>
          <a:noFill/>
          <a:ln/>
        </p:spPr>
        <p:txBody>
          <a:bodyPr wrap="square" lIns="0" tIns="0" rIns="0" bIns="0" rtlCol="0" anchor="ctr"/>
          <a:lstStyle/>
          <a:p>
            <a:pPr algn="ctr" indent="0" marL="0">
              <a:buNone/>
            </a:pPr>
            <a:r>
              <a:rPr lang="en-US" sz="900" dirty="0">
                <a:solidFill>
                  <a:srgbClr val="FFFFFF"/>
                </a:solidFill>
              </a:rPr>
              <a:t>Equity Derivative</a:t>
            </a:r>
            <a:endParaRPr lang="en-US" sz="900" dirty="0"/>
          </a:p>
          <a:p>
            <a:pPr algn="ctr" indent="0" marL="0">
              <a:buNone/>
            </a:pPr>
            <a:r>
              <a:rPr lang="en-US" sz="900" dirty="0">
                <a:solidFill>
                  <a:srgbClr val="FFFFFF"/>
                </a:solidFill>
              </a:rPr>
              <a:t>FTSE 100 Call</a:t>
            </a:r>
            <a:endParaRPr lang="en-US" sz="900" dirty="0"/>
          </a:p>
        </p:txBody>
      </p:sp>
      <p:sp>
        <p:nvSpPr>
          <p:cNvPr id="15" name="Shape 13"/>
          <p:cNvSpPr/>
          <p:nvPr/>
        </p:nvSpPr>
        <p:spPr>
          <a:xfrm>
            <a:off x="3849624" y="3246120"/>
            <a:ext cx="1417320" cy="1298448"/>
          </a:xfrm>
          <a:prstGeom prst="rect">
            <a:avLst/>
          </a:prstGeom>
          <a:solidFill>
            <a:srgbClr val="C9A84C"/>
          </a:solidFill>
          <a:ln/>
          <a:effectLst>
            <a:outerShdw sx="100000" sy="100000" kx="0" ky="0" algn="bl" rotWithShape="0" blurRad="101600" dist="38100" dir="8100000">
              <a:srgbClr val="000000">
                <a:alpha val="18000"/>
              </a:srgbClr>
            </a:outerShdw>
          </a:effectLst>
        </p:spPr>
      </p:sp>
      <p:sp>
        <p:nvSpPr>
          <p:cNvPr id="16" name="Text 14"/>
          <p:cNvSpPr/>
          <p:nvPr/>
        </p:nvSpPr>
        <p:spPr>
          <a:xfrm>
            <a:off x="3849624" y="3273552"/>
            <a:ext cx="1417320" cy="365760"/>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7" name="Text 15"/>
          <p:cNvSpPr/>
          <p:nvPr/>
        </p:nvSpPr>
        <p:spPr>
          <a:xfrm>
            <a:off x="3849624" y="3639312"/>
            <a:ext cx="1417320" cy="841248"/>
          </a:xfrm>
          <a:prstGeom prst="rect">
            <a:avLst/>
          </a:prstGeom>
          <a:noFill/>
          <a:ln/>
        </p:spPr>
        <p:txBody>
          <a:bodyPr wrap="square" lIns="0" tIns="0" rIns="0" bIns="0" rtlCol="0" anchor="ctr"/>
          <a:lstStyle/>
          <a:p>
            <a:pPr algn="ctr" indent="0" marL="0">
              <a:buNone/>
            </a:pPr>
            <a:r>
              <a:rPr lang="en-US" sz="900" dirty="0">
                <a:solidFill>
                  <a:srgbClr val="FFFFFF"/>
                </a:solidFill>
              </a:rPr>
              <a:t>Interest Rate Swap</a:t>
            </a:r>
            <a:endParaRPr lang="en-US" sz="900" dirty="0"/>
          </a:p>
          <a:p>
            <a:pPr algn="ctr" indent="0" marL="0">
              <a:buNone/>
            </a:pPr>
            <a:r>
              <a:rPr lang="en-US" sz="900" dirty="0">
                <a:solidFill>
                  <a:srgbClr val="FFFFFF"/>
                </a:solidFill>
              </a:rPr>
              <a:t>Fixed/Float EUR</a:t>
            </a:r>
            <a:endParaRPr lang="en-US" sz="900" dirty="0"/>
          </a:p>
        </p:txBody>
      </p:sp>
      <p:sp>
        <p:nvSpPr>
          <p:cNvPr id="18" name="Shape 16"/>
          <p:cNvSpPr/>
          <p:nvPr/>
        </p:nvSpPr>
        <p:spPr>
          <a:xfrm>
            <a:off x="5477256" y="3246120"/>
            <a:ext cx="1417320" cy="1298448"/>
          </a:xfrm>
          <a:prstGeom prst="rect">
            <a:avLst/>
          </a:prstGeom>
          <a:solidFill>
            <a:srgbClr val="8B0000"/>
          </a:solidFill>
          <a:ln/>
          <a:effectLst>
            <a:outerShdw sx="100000" sy="100000" kx="0" ky="0" algn="bl" rotWithShape="0" blurRad="101600" dist="38100" dir="8100000">
              <a:srgbClr val="000000">
                <a:alpha val="18000"/>
              </a:srgbClr>
            </a:outerShdw>
          </a:effectLst>
        </p:spPr>
      </p:sp>
      <p:sp>
        <p:nvSpPr>
          <p:cNvPr id="19" name="Text 17"/>
          <p:cNvSpPr/>
          <p:nvPr/>
        </p:nvSpPr>
        <p:spPr>
          <a:xfrm>
            <a:off x="5477256" y="3273552"/>
            <a:ext cx="1417320" cy="365760"/>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20" name="Text 18"/>
          <p:cNvSpPr/>
          <p:nvPr/>
        </p:nvSpPr>
        <p:spPr>
          <a:xfrm>
            <a:off x="5477256" y="3639312"/>
            <a:ext cx="1417320" cy="841248"/>
          </a:xfrm>
          <a:prstGeom prst="rect">
            <a:avLst/>
          </a:prstGeom>
          <a:noFill/>
          <a:ln/>
        </p:spPr>
        <p:txBody>
          <a:bodyPr wrap="square" lIns="0" tIns="0" rIns="0" bIns="0" rtlCol="0" anchor="ctr"/>
          <a:lstStyle/>
          <a:p>
            <a:pPr algn="ctr" indent="0" marL="0">
              <a:buNone/>
            </a:pPr>
            <a:r>
              <a:rPr lang="en-US" sz="900" dirty="0">
                <a:solidFill>
                  <a:srgbClr val="FFFFFF"/>
                </a:solidFill>
              </a:rPr>
              <a:t>Credit Derivative</a:t>
            </a:r>
            <a:endParaRPr lang="en-US" sz="900" dirty="0"/>
          </a:p>
          <a:p>
            <a:pPr algn="ctr" indent="0" marL="0">
              <a:buNone/>
            </a:pPr>
            <a:r>
              <a:rPr lang="en-US" sz="900" dirty="0">
                <a:solidFill>
                  <a:srgbClr val="FFFFFF"/>
                </a:solidFill>
              </a:rPr>
              <a:t>Single-Name CDS</a:t>
            </a:r>
            <a:endParaRPr lang="en-US" sz="900" dirty="0"/>
          </a:p>
        </p:txBody>
      </p:sp>
      <p:sp>
        <p:nvSpPr>
          <p:cNvPr id="21" name="Shape 19"/>
          <p:cNvSpPr/>
          <p:nvPr/>
        </p:nvSpPr>
        <p:spPr>
          <a:xfrm>
            <a:off x="7104888" y="3246120"/>
            <a:ext cx="1417320" cy="1298448"/>
          </a:xfrm>
          <a:prstGeom prst="rect">
            <a:avLst/>
          </a:prstGeom>
          <a:solidFill>
            <a:srgbClr val="1A6B3A"/>
          </a:solidFill>
          <a:ln/>
          <a:effectLst>
            <a:outerShdw sx="100000" sy="100000" kx="0" ky="0" algn="bl" rotWithShape="0" blurRad="101600" dist="38100" dir="8100000">
              <a:srgbClr val="000000">
                <a:alpha val="18000"/>
              </a:srgbClr>
            </a:outerShdw>
          </a:effectLst>
        </p:spPr>
      </p:sp>
      <p:sp>
        <p:nvSpPr>
          <p:cNvPr id="22" name="Text 20"/>
          <p:cNvSpPr/>
          <p:nvPr/>
        </p:nvSpPr>
        <p:spPr>
          <a:xfrm>
            <a:off x="7104888" y="3273552"/>
            <a:ext cx="1417320" cy="365760"/>
          </a:xfrm>
          <a:prstGeom prst="rect">
            <a:avLst/>
          </a:prstGeom>
          <a:noFill/>
          <a:ln/>
        </p:spPr>
        <p:txBody>
          <a:bodyPr wrap="square" lIns="0" tIns="0" rIns="0" bIns="0" rtlCol="0" anchor="ctr"/>
          <a:lstStyle/>
          <a:p>
            <a:pPr algn="ctr" indent="0" marL="0">
              <a:buNone/>
            </a:pPr>
            <a:r>
              <a:rPr lang="en-US" sz="2000" b="1" dirty="0">
                <a:solidFill>
                  <a:srgbClr val="FFFFFF"/>
                </a:solidFill>
              </a:rPr>
              <a:t>5</a:t>
            </a:r>
            <a:endParaRPr lang="en-US" sz="2000" dirty="0"/>
          </a:p>
        </p:txBody>
      </p:sp>
      <p:sp>
        <p:nvSpPr>
          <p:cNvPr id="23" name="Text 21"/>
          <p:cNvSpPr/>
          <p:nvPr/>
        </p:nvSpPr>
        <p:spPr>
          <a:xfrm>
            <a:off x="7104888" y="3639312"/>
            <a:ext cx="1417320" cy="841248"/>
          </a:xfrm>
          <a:prstGeom prst="rect">
            <a:avLst/>
          </a:prstGeom>
          <a:noFill/>
          <a:ln/>
        </p:spPr>
        <p:txBody>
          <a:bodyPr wrap="square" lIns="0" tIns="0" rIns="0" bIns="0" rtlCol="0" anchor="ctr"/>
          <a:lstStyle/>
          <a:p>
            <a:pPr algn="ctr" indent="0" marL="0">
              <a:buNone/>
            </a:pPr>
            <a:r>
              <a:rPr lang="en-US" sz="900" dirty="0">
                <a:solidFill>
                  <a:srgbClr val="FFFFFF"/>
                </a:solidFill>
              </a:rPr>
              <a:t>Precious Metal</a:t>
            </a:r>
            <a:endParaRPr lang="en-US" sz="900" dirty="0"/>
          </a:p>
          <a:p>
            <a:pPr algn="ctr" indent="0" marL="0">
              <a:buNone/>
            </a:pPr>
            <a:r>
              <a:rPr lang="en-US" sz="900" dirty="0">
                <a:solidFill>
                  <a:srgbClr val="FFFFFF"/>
                </a:solidFill>
              </a:rPr>
              <a:t>Gold Forward</a:t>
            </a:r>
            <a:endParaRPr lang="en-US" sz="900" dirty="0"/>
          </a:p>
        </p:txBody>
      </p:sp>
      <p:sp>
        <p:nvSpPr>
          <p:cNvPr id="24" name="Text 22"/>
          <p:cNvSpPr/>
          <p:nvPr/>
        </p:nvSpPr>
        <p:spPr>
          <a:xfrm>
            <a:off x="411480" y="4645152"/>
            <a:ext cx="8321040" cy="347472"/>
          </a:xfrm>
          <a:prstGeom prst="rect">
            <a:avLst/>
          </a:prstGeom>
          <a:noFill/>
          <a:ln/>
        </p:spPr>
        <p:txBody>
          <a:bodyPr wrap="square" lIns="0" tIns="0" rIns="0" bIns="0" rtlCol="0" anchor="ctr"/>
          <a:lstStyle/>
          <a:p>
            <a:pPr algn="ctr" indent="0" marL="0">
              <a:buNone/>
            </a:pPr>
            <a:r>
              <a:rPr lang="en-US" sz="900" i="1" dirty="0">
                <a:solidFill>
                  <a:srgbClr val="8899AA"/>
                </a:solidFill>
              </a:rPr>
              <a:t>All capital figures are illustrative standalone calculations. Actual regulatory capital depends on netting agreements, collateral, portfolio-level correlations, and jurisdictional implementation.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Example 1: FX Forward</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Example 1: FX Forward — USD/SGD</a:t>
            </a:r>
            <a:endParaRPr lang="en-US" sz="2200" dirty="0"/>
          </a:p>
        </p:txBody>
      </p:sp>
      <p:sp>
        <p:nvSpPr>
          <p:cNvPr id="6" name="Shape 4"/>
          <p:cNvSpPr/>
          <p:nvPr/>
        </p:nvSpPr>
        <p:spPr>
          <a:xfrm>
            <a:off x="274320" y="749808"/>
            <a:ext cx="8595360" cy="475488"/>
          </a:xfrm>
          <a:prstGeom prst="rect">
            <a:avLst/>
          </a:prstGeom>
          <a:solidFill>
            <a:srgbClr val="D6EAF8"/>
          </a:solidFill>
          <a:ln/>
        </p:spPr>
      </p:sp>
      <p:sp>
        <p:nvSpPr>
          <p:cNvPr id="7" name="Text 5"/>
          <p:cNvSpPr/>
          <p:nvPr/>
        </p:nvSpPr>
        <p:spPr>
          <a:xfrm>
            <a:off x="411480" y="749808"/>
            <a:ext cx="8321040" cy="475488"/>
          </a:xfrm>
          <a:prstGeom prst="rect">
            <a:avLst/>
          </a:prstGeom>
          <a:noFill/>
          <a:ln/>
        </p:spPr>
        <p:txBody>
          <a:bodyPr wrap="square" lIns="0" tIns="0" rIns="0" bIns="0" rtlCol="0" anchor="ctr"/>
          <a:lstStyle/>
          <a:p>
            <a:pPr indent="0" marL="0">
              <a:buNone/>
            </a:pPr>
            <a:r>
              <a:rPr lang="en-US" sz="1000" dirty="0">
                <a:solidFill>
                  <a:srgbClr val="1B3A6B"/>
                </a:solidFill>
              </a:rPr>
              <a:t>Bank sells USD 10m / Buys SGD 13.5m  |  6-Month  |  BBB Corporate  |  Bilateral, No Margin  |  MTM: USD +200,000</a:t>
            </a:r>
            <a:endParaRPr lang="en-US" sz="1000" dirty="0"/>
          </a:p>
        </p:txBody>
      </p:sp>
      <p:sp>
        <p:nvSpPr>
          <p:cNvPr id="8" name="Shape 6"/>
          <p:cNvSpPr/>
          <p:nvPr/>
        </p:nvSpPr>
        <p:spPr>
          <a:xfrm>
            <a:off x="256032"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56032" y="1325880"/>
            <a:ext cx="2057400" cy="475488"/>
          </a:xfrm>
          <a:prstGeom prst="rect">
            <a:avLst/>
          </a:prstGeom>
          <a:solidFill>
            <a:srgbClr val="8899AA"/>
          </a:solidFill>
          <a:ln/>
        </p:spPr>
      </p:sp>
      <p:sp>
        <p:nvSpPr>
          <p:cNvPr id="10" name="Text 8"/>
          <p:cNvSpPr/>
          <p:nvPr/>
        </p:nvSpPr>
        <p:spPr>
          <a:xfrm>
            <a:off x="329184"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a:t>
            </a:r>
            <a:endParaRPr lang="en-US" sz="1100" dirty="0"/>
          </a:p>
        </p:txBody>
      </p:sp>
      <p:sp>
        <p:nvSpPr>
          <p:cNvPr id="11" name="Text 9"/>
          <p:cNvSpPr/>
          <p:nvPr/>
        </p:nvSpPr>
        <p:spPr>
          <a:xfrm>
            <a:off x="329184"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Baseline</a:t>
            </a:r>
            <a:endParaRPr lang="en-US" sz="850" dirty="0"/>
          </a:p>
        </p:txBody>
      </p:sp>
      <p:sp>
        <p:nvSpPr>
          <p:cNvPr id="12" name="Text 10"/>
          <p:cNvSpPr/>
          <p:nvPr/>
        </p:nvSpPr>
        <p:spPr>
          <a:xfrm>
            <a:off x="329184" y="1874520"/>
            <a:ext cx="1901952" cy="475488"/>
          </a:xfrm>
          <a:prstGeom prst="rect">
            <a:avLst/>
          </a:prstGeom>
          <a:noFill/>
          <a:ln/>
        </p:spPr>
        <p:txBody>
          <a:bodyPr wrap="square" lIns="0" tIns="0" rIns="0" bIns="0" rtlCol="0" anchor="ctr"/>
          <a:lstStyle/>
          <a:p>
            <a:pPr indent="0" marL="0">
              <a:buNone/>
            </a:pPr>
            <a:r>
              <a:rPr lang="en-US" sz="2200" b="1" dirty="0">
                <a:solidFill>
                  <a:srgbClr val="8899AA"/>
                </a:solidFill>
              </a:rPr>
              <a:t>$24,000</a:t>
            </a:r>
            <a:endParaRPr lang="en-US" sz="2200" dirty="0"/>
          </a:p>
        </p:txBody>
      </p:sp>
      <p:sp>
        <p:nvSpPr>
          <p:cNvPr id="13" name="Text 11"/>
          <p:cNvSpPr/>
          <p:nvPr/>
        </p:nvSpPr>
        <p:spPr>
          <a:xfrm>
            <a:off x="329184"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CEM</a:t>
            </a:r>
            <a:endParaRPr lang="en-US" sz="900" dirty="0"/>
          </a:p>
        </p:txBody>
      </p:sp>
      <p:sp>
        <p:nvSpPr>
          <p:cNvPr id="14" name="Text 12"/>
          <p:cNvSpPr/>
          <p:nvPr/>
        </p:nvSpPr>
        <p:spPr>
          <a:xfrm>
            <a:off x="347472"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RC $200k + Add-on 1%×$10m = $300k EAD.</a:t>
            </a:r>
            <a:endParaRPr lang="en-US" sz="950" dirty="0"/>
          </a:p>
          <a:p>
            <a:pPr indent="0" marL="0">
              <a:buNone/>
            </a:pPr>
            <a:r>
              <a:rPr lang="en-US" sz="950" dirty="0">
                <a:solidFill>
                  <a:srgbClr val="1A1A2E"/>
                </a:solidFill>
              </a:rPr>
              <a:t>100% RW (corporate).</a:t>
            </a:r>
            <a:endParaRPr lang="en-US" sz="950" dirty="0"/>
          </a:p>
          <a:p>
            <a:pPr indent="0" marL="0">
              <a:buNone/>
            </a:pPr>
            <a:r>
              <a:rPr lang="en-US" sz="950" dirty="0">
                <a:solidFill>
                  <a:srgbClr val="1A1A2E"/>
                </a:solidFill>
              </a:rPr>
              <a:t>No market risk capital.</a:t>
            </a:r>
            <a:endParaRPr lang="en-US" sz="950" dirty="0"/>
          </a:p>
        </p:txBody>
      </p:sp>
      <p:sp>
        <p:nvSpPr>
          <p:cNvPr id="15" name="Shape 13"/>
          <p:cNvSpPr/>
          <p:nvPr/>
        </p:nvSpPr>
        <p:spPr>
          <a:xfrm>
            <a:off x="2432304"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6" name="Shape 14"/>
          <p:cNvSpPr/>
          <p:nvPr/>
        </p:nvSpPr>
        <p:spPr>
          <a:xfrm>
            <a:off x="2432304" y="1325880"/>
            <a:ext cx="2057400" cy="475488"/>
          </a:xfrm>
          <a:prstGeom prst="rect">
            <a:avLst/>
          </a:prstGeom>
          <a:solidFill>
            <a:srgbClr val="0E6B8A"/>
          </a:solidFill>
          <a:ln/>
        </p:spPr>
      </p:sp>
      <p:sp>
        <p:nvSpPr>
          <p:cNvPr id="17" name="Text 15"/>
          <p:cNvSpPr/>
          <p:nvPr/>
        </p:nvSpPr>
        <p:spPr>
          <a:xfrm>
            <a:off x="2505456"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II</a:t>
            </a:r>
            <a:endParaRPr lang="en-US" sz="1100" dirty="0"/>
          </a:p>
        </p:txBody>
      </p:sp>
      <p:sp>
        <p:nvSpPr>
          <p:cNvPr id="18" name="Text 16"/>
          <p:cNvSpPr/>
          <p:nvPr/>
        </p:nvSpPr>
        <p:spPr>
          <a:xfrm>
            <a:off x="2505456"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–42% vs I</a:t>
            </a:r>
            <a:endParaRPr lang="en-US" sz="850" dirty="0"/>
          </a:p>
        </p:txBody>
      </p:sp>
      <p:sp>
        <p:nvSpPr>
          <p:cNvPr id="19" name="Text 17"/>
          <p:cNvSpPr/>
          <p:nvPr/>
        </p:nvSpPr>
        <p:spPr>
          <a:xfrm>
            <a:off x="2505456" y="1874520"/>
            <a:ext cx="1901952" cy="475488"/>
          </a:xfrm>
          <a:prstGeom prst="rect">
            <a:avLst/>
          </a:prstGeom>
          <a:noFill/>
          <a:ln/>
        </p:spPr>
        <p:txBody>
          <a:bodyPr wrap="square" lIns="0" tIns="0" rIns="0" bIns="0" rtlCol="0" anchor="ctr"/>
          <a:lstStyle/>
          <a:p>
            <a:pPr indent="0" marL="0">
              <a:buNone/>
            </a:pPr>
            <a:r>
              <a:rPr lang="en-US" sz="2200" b="1" dirty="0">
                <a:solidFill>
                  <a:srgbClr val="0E6B8A"/>
                </a:solidFill>
              </a:rPr>
              <a:t>$14,000</a:t>
            </a:r>
            <a:endParaRPr lang="en-US" sz="2200" dirty="0"/>
          </a:p>
        </p:txBody>
      </p:sp>
      <p:sp>
        <p:nvSpPr>
          <p:cNvPr id="20" name="Text 18"/>
          <p:cNvSpPr/>
          <p:nvPr/>
        </p:nvSpPr>
        <p:spPr>
          <a:xfrm>
            <a:off x="2505456"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A-IRB</a:t>
            </a:r>
            <a:endParaRPr lang="en-US" sz="900" dirty="0"/>
          </a:p>
        </p:txBody>
      </p:sp>
      <p:sp>
        <p:nvSpPr>
          <p:cNvPr id="21" name="Text 19"/>
          <p:cNvSpPr/>
          <p:nvPr/>
        </p:nvSpPr>
        <p:spPr>
          <a:xfrm>
            <a:off x="2523744"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PD 0.35%, LGD 45%.</a:t>
            </a:r>
            <a:endParaRPr lang="en-US" sz="950" dirty="0"/>
          </a:p>
          <a:p>
            <a:pPr indent="0" marL="0">
              <a:buNone/>
            </a:pPr>
            <a:r>
              <a:rPr lang="en-US" sz="950" dirty="0">
                <a:solidFill>
                  <a:srgbClr val="1A1A2E"/>
                </a:solidFill>
              </a:rPr>
              <a:t>EAD $300k (CEM).</a:t>
            </a:r>
            <a:endParaRPr lang="en-US" sz="950" dirty="0"/>
          </a:p>
          <a:p>
            <a:pPr indent="0" marL="0">
              <a:buNone/>
            </a:pPr>
            <a:r>
              <a:rPr lang="en-US" sz="950" dirty="0">
                <a:solidFill>
                  <a:srgbClr val="1A1A2E"/>
                </a:solidFill>
              </a:rPr>
              <a:t>RWA ~$175k.</a:t>
            </a:r>
            <a:endParaRPr lang="en-US" sz="950" dirty="0"/>
          </a:p>
          <a:p>
            <a:pPr indent="0" marL="0">
              <a:buNone/>
            </a:pPr>
            <a:r>
              <a:rPr lang="en-US" sz="950" dirty="0">
                <a:solidFill>
                  <a:srgbClr val="1A1A2E"/>
                </a:solidFill>
              </a:rPr>
              <a:t>Market risk VaR if trading book.</a:t>
            </a:r>
            <a:endParaRPr lang="en-US" sz="950" dirty="0"/>
          </a:p>
        </p:txBody>
      </p:sp>
      <p:sp>
        <p:nvSpPr>
          <p:cNvPr id="22" name="Shape 20"/>
          <p:cNvSpPr/>
          <p:nvPr/>
        </p:nvSpPr>
        <p:spPr>
          <a:xfrm>
            <a:off x="4608576"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3" name="Shape 21"/>
          <p:cNvSpPr/>
          <p:nvPr/>
        </p:nvSpPr>
        <p:spPr>
          <a:xfrm>
            <a:off x="4608576" y="1325880"/>
            <a:ext cx="2057400" cy="475488"/>
          </a:xfrm>
          <a:prstGeom prst="rect">
            <a:avLst/>
          </a:prstGeom>
          <a:solidFill>
            <a:srgbClr val="1B3A6B"/>
          </a:solidFill>
          <a:ln/>
        </p:spPr>
      </p:sp>
      <p:sp>
        <p:nvSpPr>
          <p:cNvPr id="24" name="Text 22"/>
          <p:cNvSpPr/>
          <p:nvPr/>
        </p:nvSpPr>
        <p:spPr>
          <a:xfrm>
            <a:off x="4681728"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III</a:t>
            </a:r>
            <a:endParaRPr lang="en-US" sz="1100" dirty="0"/>
          </a:p>
        </p:txBody>
      </p:sp>
      <p:sp>
        <p:nvSpPr>
          <p:cNvPr id="25" name="Text 23"/>
          <p:cNvSpPr/>
          <p:nvPr/>
        </p:nvSpPr>
        <p:spPr>
          <a:xfrm>
            <a:off x="4681728"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+37% vs II</a:t>
            </a:r>
            <a:endParaRPr lang="en-US" sz="850" dirty="0"/>
          </a:p>
        </p:txBody>
      </p:sp>
      <p:sp>
        <p:nvSpPr>
          <p:cNvPr id="26" name="Text 24"/>
          <p:cNvSpPr/>
          <p:nvPr/>
        </p:nvSpPr>
        <p:spPr>
          <a:xfrm>
            <a:off x="4681728" y="1874520"/>
            <a:ext cx="1901952" cy="475488"/>
          </a:xfrm>
          <a:prstGeom prst="rect">
            <a:avLst/>
          </a:prstGeom>
          <a:noFill/>
          <a:ln/>
        </p:spPr>
        <p:txBody>
          <a:bodyPr wrap="square" lIns="0" tIns="0" rIns="0" bIns="0" rtlCol="0" anchor="ctr"/>
          <a:lstStyle/>
          <a:p>
            <a:pPr indent="0" marL="0">
              <a:buNone/>
            </a:pPr>
            <a:r>
              <a:rPr lang="en-US" sz="2200" b="1" dirty="0">
                <a:solidFill>
                  <a:srgbClr val="1B3A6B"/>
                </a:solidFill>
              </a:rPr>
              <a:t>$33,000+</a:t>
            </a:r>
            <a:endParaRPr lang="en-US" sz="2200" dirty="0"/>
          </a:p>
        </p:txBody>
      </p:sp>
      <p:sp>
        <p:nvSpPr>
          <p:cNvPr id="27" name="Text 25"/>
          <p:cNvSpPr/>
          <p:nvPr/>
        </p:nvSpPr>
        <p:spPr>
          <a:xfrm>
            <a:off x="4681728"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CEM + CVA</a:t>
            </a:r>
            <a:endParaRPr lang="en-US" sz="900" dirty="0"/>
          </a:p>
        </p:txBody>
      </p:sp>
      <p:sp>
        <p:nvSpPr>
          <p:cNvPr id="28" name="Text 26"/>
          <p:cNvSpPr/>
          <p:nvPr/>
        </p:nvSpPr>
        <p:spPr>
          <a:xfrm>
            <a:off x="4700016"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CEM unchanged for CCR.</a:t>
            </a:r>
            <a:endParaRPr lang="en-US" sz="950" dirty="0"/>
          </a:p>
          <a:p>
            <a:pPr indent="0" marL="0">
              <a:buNone/>
            </a:pPr>
            <a:r>
              <a:rPr lang="en-US" sz="950" dirty="0">
                <a:solidFill>
                  <a:srgbClr val="1A1A2E"/>
                </a:solidFill>
              </a:rPr>
              <a:t>NEW: CVA charge ~$9–12k.</a:t>
            </a:r>
            <a:endParaRPr lang="en-US" sz="950" dirty="0"/>
          </a:p>
          <a:p>
            <a:pPr indent="0" marL="0">
              <a:buNone/>
            </a:pPr>
            <a:r>
              <a:rPr lang="en-US" sz="950" dirty="0">
                <a:solidFill>
                  <a:srgbClr val="1A1A2E"/>
                </a:solidFill>
              </a:rPr>
              <a:t>SVaR market risk ×2 if trading book.</a:t>
            </a:r>
            <a:endParaRPr lang="en-US" sz="950" dirty="0"/>
          </a:p>
        </p:txBody>
      </p:sp>
      <p:sp>
        <p:nvSpPr>
          <p:cNvPr id="29" name="Shape 27"/>
          <p:cNvSpPr/>
          <p:nvPr/>
        </p:nvSpPr>
        <p:spPr>
          <a:xfrm>
            <a:off x="6784848"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0" name="Shape 28"/>
          <p:cNvSpPr/>
          <p:nvPr/>
        </p:nvSpPr>
        <p:spPr>
          <a:xfrm>
            <a:off x="6784848" y="1325880"/>
            <a:ext cx="2057400" cy="475488"/>
          </a:xfrm>
          <a:prstGeom prst="rect">
            <a:avLst/>
          </a:prstGeom>
          <a:solidFill>
            <a:srgbClr val="C9A84C"/>
          </a:solidFill>
          <a:ln/>
        </p:spPr>
      </p:sp>
      <p:sp>
        <p:nvSpPr>
          <p:cNvPr id="31" name="Text 29"/>
          <p:cNvSpPr/>
          <p:nvPr/>
        </p:nvSpPr>
        <p:spPr>
          <a:xfrm>
            <a:off x="6858000"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IV</a:t>
            </a:r>
            <a:endParaRPr lang="en-US" sz="1100" dirty="0"/>
          </a:p>
        </p:txBody>
      </p:sp>
      <p:sp>
        <p:nvSpPr>
          <p:cNvPr id="32" name="Text 30"/>
          <p:cNvSpPr/>
          <p:nvPr/>
        </p:nvSpPr>
        <p:spPr>
          <a:xfrm>
            <a:off x="6858000"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+42% vs III</a:t>
            </a:r>
            <a:endParaRPr lang="en-US" sz="850" dirty="0"/>
          </a:p>
        </p:txBody>
      </p:sp>
      <p:sp>
        <p:nvSpPr>
          <p:cNvPr id="33" name="Text 31"/>
          <p:cNvSpPr/>
          <p:nvPr/>
        </p:nvSpPr>
        <p:spPr>
          <a:xfrm>
            <a:off x="6858000" y="1874520"/>
            <a:ext cx="1901952" cy="475488"/>
          </a:xfrm>
          <a:prstGeom prst="rect">
            <a:avLst/>
          </a:prstGeom>
          <a:noFill/>
          <a:ln/>
        </p:spPr>
        <p:txBody>
          <a:bodyPr wrap="square" lIns="0" tIns="0" rIns="0" bIns="0" rtlCol="0" anchor="ctr"/>
          <a:lstStyle/>
          <a:p>
            <a:pPr indent="0" marL="0">
              <a:buNone/>
            </a:pPr>
            <a:r>
              <a:rPr lang="en-US" sz="2200" b="1" dirty="0">
                <a:solidFill>
                  <a:srgbClr val="C9A84C"/>
                </a:solidFill>
              </a:rPr>
              <a:t>$47,000+</a:t>
            </a:r>
            <a:endParaRPr lang="en-US" sz="2200" dirty="0"/>
          </a:p>
        </p:txBody>
      </p:sp>
      <p:sp>
        <p:nvSpPr>
          <p:cNvPr id="34" name="Text 32"/>
          <p:cNvSpPr/>
          <p:nvPr/>
        </p:nvSpPr>
        <p:spPr>
          <a:xfrm>
            <a:off x="6858000"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SA-CCR + FRTB</a:t>
            </a:r>
            <a:endParaRPr lang="en-US" sz="900" dirty="0"/>
          </a:p>
        </p:txBody>
      </p:sp>
      <p:sp>
        <p:nvSpPr>
          <p:cNvPr id="35" name="Text 33"/>
          <p:cNvSpPr/>
          <p:nvPr/>
        </p:nvSpPr>
        <p:spPr>
          <a:xfrm>
            <a:off x="6876288"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SA-CCR: EAD ~$675k (1.4× alpha, 4% SF).</a:t>
            </a:r>
            <a:endParaRPr lang="en-US" sz="950" dirty="0"/>
          </a:p>
          <a:p>
            <a:pPr indent="0" marL="0">
              <a:buNone/>
            </a:pPr>
            <a:r>
              <a:rPr lang="en-US" sz="950" dirty="0">
                <a:solidFill>
                  <a:srgbClr val="1A1A2E"/>
                </a:solidFill>
              </a:rPr>
              <a:t>Output floor may bind IRB.</a:t>
            </a:r>
            <a:endParaRPr lang="en-US" sz="950" dirty="0"/>
          </a:p>
          <a:p>
            <a:pPr indent="0" marL="0">
              <a:buNone/>
            </a:pPr>
            <a:r>
              <a:rPr lang="en-US" sz="950" dirty="0">
                <a:solidFill>
                  <a:srgbClr val="1A1A2E"/>
                </a:solidFill>
              </a:rPr>
              <a:t>FRTB ES if in trading book.</a:t>
            </a:r>
            <a:endParaRPr lang="en-US" sz="950" dirty="0"/>
          </a:p>
        </p:txBody>
      </p:sp>
      <p:sp>
        <p:nvSpPr>
          <p:cNvPr id="36" name="Shape 34"/>
          <p:cNvSpPr/>
          <p:nvPr/>
        </p:nvSpPr>
        <p:spPr>
          <a:xfrm>
            <a:off x="365760" y="4663440"/>
            <a:ext cx="8412480" cy="594360"/>
          </a:xfrm>
          <a:prstGeom prst="rect">
            <a:avLst/>
          </a:prstGeom>
          <a:solidFill>
            <a:srgbClr val="D6EAF8"/>
          </a:solidFill>
          <a:ln/>
        </p:spPr>
      </p:sp>
      <p:sp>
        <p:nvSpPr>
          <p:cNvPr id="37" name="Shape 35"/>
          <p:cNvSpPr/>
          <p:nvPr/>
        </p:nvSpPr>
        <p:spPr>
          <a:xfrm>
            <a:off x="365760" y="4663440"/>
            <a:ext cx="1005840" cy="594360"/>
          </a:xfrm>
          <a:prstGeom prst="rect">
            <a:avLst/>
          </a:prstGeom>
          <a:solidFill>
            <a:srgbClr val="0E6B8A"/>
          </a:solidFill>
          <a:ln/>
        </p:spPr>
      </p:sp>
      <p:sp>
        <p:nvSpPr>
          <p:cNvPr id="38" name="Text 36"/>
          <p:cNvSpPr/>
          <p:nvPr/>
        </p:nvSpPr>
        <p:spPr>
          <a:xfrm>
            <a:off x="365760" y="4663440"/>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SA-CCR NOTE</a:t>
            </a:r>
            <a:endParaRPr lang="en-US" sz="900" dirty="0"/>
          </a:p>
        </p:txBody>
      </p:sp>
      <p:sp>
        <p:nvSpPr>
          <p:cNvPr id="39" name="Text 37"/>
          <p:cNvSpPr/>
          <p:nvPr/>
        </p:nvSpPr>
        <p:spPr>
          <a:xfrm>
            <a:off x="1417320" y="4663440"/>
            <a:ext cx="7223760" cy="594360"/>
          </a:xfrm>
          <a:prstGeom prst="rect">
            <a:avLst/>
          </a:prstGeom>
          <a:noFill/>
          <a:ln/>
        </p:spPr>
        <p:txBody>
          <a:bodyPr wrap="square" lIns="0" tIns="0" rIns="0" bIns="0" rtlCol="0" anchor="ctr"/>
          <a:lstStyle/>
          <a:p>
            <a:pPr indent="0" marL="0">
              <a:buNone/>
            </a:pPr>
            <a:r>
              <a:rPr lang="en-US" sz="1000" dirty="0">
                <a:solidFill>
                  <a:srgbClr val="1A1A2E"/>
                </a:solidFill>
              </a:rPr>
              <a:t>SA-CCR (Basel IV) EAD is substantially higher than CEM due to the 1.4× alpha multiplier and maturity-adjusted PFE. For short-dated FX with investment grade counterparties, CVA is often the dominant new charge from Basel III onward.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Example 2: Equity Derivative</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Example 2: Equity Derivative — Long Call on FTSE 100</a:t>
            </a:r>
            <a:endParaRPr lang="en-US" sz="2200" dirty="0"/>
          </a:p>
        </p:txBody>
      </p:sp>
      <p:sp>
        <p:nvSpPr>
          <p:cNvPr id="6" name="Shape 4"/>
          <p:cNvSpPr/>
          <p:nvPr/>
        </p:nvSpPr>
        <p:spPr>
          <a:xfrm>
            <a:off x="274320" y="749808"/>
            <a:ext cx="8595360" cy="475488"/>
          </a:xfrm>
          <a:prstGeom prst="rect">
            <a:avLst/>
          </a:prstGeom>
          <a:solidFill>
            <a:srgbClr val="D6EAF8"/>
          </a:solidFill>
          <a:ln/>
        </p:spPr>
      </p:sp>
      <p:sp>
        <p:nvSpPr>
          <p:cNvPr id="7" name="Text 5"/>
          <p:cNvSpPr/>
          <p:nvPr/>
        </p:nvSpPr>
        <p:spPr>
          <a:xfrm>
            <a:off x="411480" y="749808"/>
            <a:ext cx="8321040" cy="475488"/>
          </a:xfrm>
          <a:prstGeom prst="rect">
            <a:avLst/>
          </a:prstGeom>
          <a:noFill/>
          <a:ln/>
        </p:spPr>
        <p:txBody>
          <a:bodyPr wrap="square" lIns="0" tIns="0" rIns="0" bIns="0" rtlCol="0" anchor="ctr"/>
          <a:lstStyle/>
          <a:p>
            <a:pPr indent="0" marL="0">
              <a:buNone/>
            </a:pPr>
            <a:r>
              <a:rPr lang="en-US" sz="1000" dirty="0">
                <a:solidFill>
                  <a:srgbClr val="1B3A6B"/>
                </a:solidFill>
              </a:rPr>
              <a:t>Long European Call on FTSE 100  |  £5m Notional  |  1yr  |  ATM  |  Delta 0.52  |  Premium £420k  |  AA Bank Counterparty  |  Bilateral</a:t>
            </a:r>
            <a:endParaRPr lang="en-US" sz="1000" dirty="0"/>
          </a:p>
        </p:txBody>
      </p:sp>
      <p:sp>
        <p:nvSpPr>
          <p:cNvPr id="8" name="Shape 6"/>
          <p:cNvSpPr/>
          <p:nvPr/>
        </p:nvSpPr>
        <p:spPr>
          <a:xfrm>
            <a:off x="256032"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56032" y="1325880"/>
            <a:ext cx="2057400" cy="475488"/>
          </a:xfrm>
          <a:prstGeom prst="rect">
            <a:avLst/>
          </a:prstGeom>
          <a:solidFill>
            <a:srgbClr val="8899AA"/>
          </a:solidFill>
          <a:ln/>
        </p:spPr>
      </p:sp>
      <p:sp>
        <p:nvSpPr>
          <p:cNvPr id="10" name="Text 8"/>
          <p:cNvSpPr/>
          <p:nvPr/>
        </p:nvSpPr>
        <p:spPr>
          <a:xfrm>
            <a:off x="329184"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a:t>
            </a:r>
            <a:endParaRPr lang="en-US" sz="1100" dirty="0"/>
          </a:p>
        </p:txBody>
      </p:sp>
      <p:sp>
        <p:nvSpPr>
          <p:cNvPr id="11" name="Text 9"/>
          <p:cNvSpPr/>
          <p:nvPr/>
        </p:nvSpPr>
        <p:spPr>
          <a:xfrm>
            <a:off x="329184"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Baseline</a:t>
            </a:r>
            <a:endParaRPr lang="en-US" sz="850" dirty="0"/>
          </a:p>
        </p:txBody>
      </p:sp>
      <p:sp>
        <p:nvSpPr>
          <p:cNvPr id="12" name="Text 10"/>
          <p:cNvSpPr/>
          <p:nvPr/>
        </p:nvSpPr>
        <p:spPr>
          <a:xfrm>
            <a:off x="329184" y="1874520"/>
            <a:ext cx="1901952" cy="475488"/>
          </a:xfrm>
          <a:prstGeom prst="rect">
            <a:avLst/>
          </a:prstGeom>
          <a:noFill/>
          <a:ln/>
        </p:spPr>
        <p:txBody>
          <a:bodyPr wrap="square" lIns="0" tIns="0" rIns="0" bIns="0" rtlCol="0" anchor="ctr"/>
          <a:lstStyle/>
          <a:p>
            <a:pPr indent="0" marL="0">
              <a:buNone/>
            </a:pPr>
            <a:r>
              <a:rPr lang="en-US" sz="2000" b="1" dirty="0">
                <a:solidFill>
                  <a:srgbClr val="8899AA"/>
                </a:solidFill>
              </a:rPr>
              <a:t>£6,720</a:t>
            </a:r>
            <a:endParaRPr lang="en-US" sz="2000" dirty="0"/>
          </a:p>
        </p:txBody>
      </p:sp>
      <p:sp>
        <p:nvSpPr>
          <p:cNvPr id="13" name="Text 11"/>
          <p:cNvSpPr/>
          <p:nvPr/>
        </p:nvSpPr>
        <p:spPr>
          <a:xfrm>
            <a:off x="329184"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CEM</a:t>
            </a:r>
            <a:endParaRPr lang="en-US" sz="900" dirty="0"/>
          </a:p>
        </p:txBody>
      </p:sp>
      <p:sp>
        <p:nvSpPr>
          <p:cNvPr id="14" name="Text 12"/>
          <p:cNvSpPr/>
          <p:nvPr/>
        </p:nvSpPr>
        <p:spPr>
          <a:xfrm>
            <a:off x="347472"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Premium £420k = CRE.</a:t>
            </a:r>
            <a:endParaRPr lang="en-US" sz="950" dirty="0"/>
          </a:p>
          <a:p>
            <a:pPr indent="0" marL="0">
              <a:buNone/>
            </a:pPr>
            <a:r>
              <a:rPr lang="en-US" sz="950" dirty="0">
                <a:solidFill>
                  <a:srgbClr val="1A1A2E"/>
                </a:solidFill>
              </a:rPr>
              <a:t>OECD bank = 20% RW.</a:t>
            </a:r>
            <a:endParaRPr lang="en-US" sz="950" dirty="0"/>
          </a:p>
          <a:p>
            <a:pPr indent="0" marL="0">
              <a:buNone/>
            </a:pPr>
            <a:r>
              <a:rPr lang="en-US" sz="950" dirty="0">
                <a:solidFill>
                  <a:srgbClr val="1A1A2E"/>
                </a:solidFill>
              </a:rPr>
              <a:t>NO market risk capital.</a:t>
            </a:r>
            <a:endParaRPr lang="en-US" sz="950" dirty="0"/>
          </a:p>
          <a:p>
            <a:pPr indent="0" marL="0">
              <a:buNone/>
            </a:pPr>
            <a:r>
              <a:rPr lang="en-US" sz="950" dirty="0">
                <a:solidFill>
                  <a:srgbClr val="1A1A2E"/>
                </a:solidFill>
              </a:rPr>
              <a:t>Grotesquely underestimates risk.</a:t>
            </a:r>
            <a:endParaRPr lang="en-US" sz="950" dirty="0"/>
          </a:p>
        </p:txBody>
      </p:sp>
      <p:sp>
        <p:nvSpPr>
          <p:cNvPr id="15" name="Shape 13"/>
          <p:cNvSpPr/>
          <p:nvPr/>
        </p:nvSpPr>
        <p:spPr>
          <a:xfrm>
            <a:off x="2432304"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6" name="Shape 14"/>
          <p:cNvSpPr/>
          <p:nvPr/>
        </p:nvSpPr>
        <p:spPr>
          <a:xfrm>
            <a:off x="2432304" y="1325880"/>
            <a:ext cx="2057400" cy="475488"/>
          </a:xfrm>
          <a:prstGeom prst="rect">
            <a:avLst/>
          </a:prstGeom>
          <a:solidFill>
            <a:srgbClr val="0E6B8A"/>
          </a:solidFill>
          <a:ln/>
        </p:spPr>
      </p:sp>
      <p:sp>
        <p:nvSpPr>
          <p:cNvPr id="17" name="Text 15"/>
          <p:cNvSpPr/>
          <p:nvPr/>
        </p:nvSpPr>
        <p:spPr>
          <a:xfrm>
            <a:off x="2505456"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II</a:t>
            </a:r>
            <a:endParaRPr lang="en-US" sz="1100" dirty="0"/>
          </a:p>
        </p:txBody>
      </p:sp>
      <p:sp>
        <p:nvSpPr>
          <p:cNvPr id="18" name="Text 16"/>
          <p:cNvSpPr/>
          <p:nvPr/>
        </p:nvSpPr>
        <p:spPr>
          <a:xfrm>
            <a:off x="2505456"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Large increase</a:t>
            </a:r>
            <a:endParaRPr lang="en-US" sz="850" dirty="0"/>
          </a:p>
        </p:txBody>
      </p:sp>
      <p:sp>
        <p:nvSpPr>
          <p:cNvPr id="19" name="Text 17"/>
          <p:cNvSpPr/>
          <p:nvPr/>
        </p:nvSpPr>
        <p:spPr>
          <a:xfrm>
            <a:off x="2505456" y="1874520"/>
            <a:ext cx="1901952" cy="475488"/>
          </a:xfrm>
          <a:prstGeom prst="rect">
            <a:avLst/>
          </a:prstGeom>
          <a:noFill/>
          <a:ln/>
        </p:spPr>
        <p:txBody>
          <a:bodyPr wrap="square" lIns="0" tIns="0" rIns="0" bIns="0" rtlCol="0" anchor="ctr"/>
          <a:lstStyle/>
          <a:p>
            <a:pPr indent="0" marL="0">
              <a:buNone/>
            </a:pPr>
            <a:r>
              <a:rPr lang="en-US" sz="2000" b="1" dirty="0">
                <a:solidFill>
                  <a:srgbClr val="0E6B8A"/>
                </a:solidFill>
              </a:rPr>
              <a:t>£215,680</a:t>
            </a:r>
            <a:endParaRPr lang="en-US" sz="2000" dirty="0"/>
          </a:p>
        </p:txBody>
      </p:sp>
      <p:sp>
        <p:nvSpPr>
          <p:cNvPr id="20" name="Text 18"/>
          <p:cNvSpPr/>
          <p:nvPr/>
        </p:nvSpPr>
        <p:spPr>
          <a:xfrm>
            <a:off x="2505456"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SA Market Risk</a:t>
            </a:r>
            <a:endParaRPr lang="en-US" sz="900" dirty="0"/>
          </a:p>
        </p:txBody>
      </p:sp>
      <p:sp>
        <p:nvSpPr>
          <p:cNvPr id="21" name="Text 19"/>
          <p:cNvSpPr/>
          <p:nvPr/>
        </p:nvSpPr>
        <p:spPr>
          <a:xfrm>
            <a:off x="2523744"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CCR £7,680 (AA bank 20%).</a:t>
            </a:r>
            <a:endParaRPr lang="en-US" sz="950" dirty="0"/>
          </a:p>
          <a:p>
            <a:pPr indent="0" marL="0">
              <a:buNone/>
            </a:pPr>
            <a:r>
              <a:rPr lang="en-US" sz="950" dirty="0">
                <a:solidFill>
                  <a:srgbClr val="1A1A2E"/>
                </a:solidFill>
              </a:rPr>
              <a:t>SA market risk: 8% × delta-equiv £2.6m = £208,000.</a:t>
            </a:r>
            <a:endParaRPr lang="en-US" sz="950" dirty="0"/>
          </a:p>
          <a:p>
            <a:pPr indent="0" marL="0">
              <a:buNone/>
            </a:pPr>
            <a:r>
              <a:rPr lang="en-US" sz="950" dirty="0">
                <a:solidFill>
                  <a:srgbClr val="1A1A2E"/>
                </a:solidFill>
              </a:rPr>
              <a:t>Note: 0% specific risk for index (corrected).</a:t>
            </a:r>
            <a:endParaRPr lang="en-US" sz="950" dirty="0"/>
          </a:p>
        </p:txBody>
      </p:sp>
      <p:sp>
        <p:nvSpPr>
          <p:cNvPr id="22" name="Shape 20"/>
          <p:cNvSpPr/>
          <p:nvPr/>
        </p:nvSpPr>
        <p:spPr>
          <a:xfrm>
            <a:off x="4608576"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3" name="Shape 21"/>
          <p:cNvSpPr/>
          <p:nvPr/>
        </p:nvSpPr>
        <p:spPr>
          <a:xfrm>
            <a:off x="4608576" y="1325880"/>
            <a:ext cx="2057400" cy="475488"/>
          </a:xfrm>
          <a:prstGeom prst="rect">
            <a:avLst/>
          </a:prstGeom>
          <a:solidFill>
            <a:srgbClr val="1B3A6B"/>
          </a:solidFill>
          <a:ln/>
        </p:spPr>
      </p:sp>
      <p:sp>
        <p:nvSpPr>
          <p:cNvPr id="24" name="Text 22"/>
          <p:cNvSpPr/>
          <p:nvPr/>
        </p:nvSpPr>
        <p:spPr>
          <a:xfrm>
            <a:off x="4681728"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III</a:t>
            </a:r>
            <a:endParaRPr lang="en-US" sz="1100" dirty="0"/>
          </a:p>
        </p:txBody>
      </p:sp>
      <p:sp>
        <p:nvSpPr>
          <p:cNvPr id="25" name="Text 23"/>
          <p:cNvSpPr/>
          <p:nvPr/>
        </p:nvSpPr>
        <p:spPr>
          <a:xfrm>
            <a:off x="4681728"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+47% vs II</a:t>
            </a:r>
            <a:endParaRPr lang="en-US" sz="850" dirty="0"/>
          </a:p>
        </p:txBody>
      </p:sp>
      <p:sp>
        <p:nvSpPr>
          <p:cNvPr id="26" name="Text 24"/>
          <p:cNvSpPr/>
          <p:nvPr/>
        </p:nvSpPr>
        <p:spPr>
          <a:xfrm>
            <a:off x="4681728" y="1874520"/>
            <a:ext cx="1901952" cy="475488"/>
          </a:xfrm>
          <a:prstGeom prst="rect">
            <a:avLst/>
          </a:prstGeom>
          <a:noFill/>
          <a:ln/>
        </p:spPr>
        <p:txBody>
          <a:bodyPr wrap="square" lIns="0" tIns="0" rIns="0" bIns="0" rtlCol="0" anchor="ctr"/>
          <a:lstStyle/>
          <a:p>
            <a:pPr indent="0" marL="0">
              <a:buNone/>
            </a:pPr>
            <a:r>
              <a:rPr lang="en-US" sz="2000" b="1" dirty="0">
                <a:solidFill>
                  <a:srgbClr val="1B3A6B"/>
                </a:solidFill>
              </a:rPr>
              <a:t>£317,680</a:t>
            </a:r>
            <a:endParaRPr lang="en-US" sz="2000" dirty="0"/>
          </a:p>
        </p:txBody>
      </p:sp>
      <p:sp>
        <p:nvSpPr>
          <p:cNvPr id="27" name="Text 25"/>
          <p:cNvSpPr/>
          <p:nvPr/>
        </p:nvSpPr>
        <p:spPr>
          <a:xfrm>
            <a:off x="4681728"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SVaR + CCR</a:t>
            </a:r>
            <a:endParaRPr lang="en-US" sz="900" dirty="0"/>
          </a:p>
        </p:txBody>
      </p:sp>
      <p:sp>
        <p:nvSpPr>
          <p:cNvPr id="28" name="Text 26"/>
          <p:cNvSpPr/>
          <p:nvPr/>
        </p:nvSpPr>
        <p:spPr>
          <a:xfrm>
            <a:off x="4700016"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CCR + CVA ~£18,000.</a:t>
            </a:r>
            <a:endParaRPr lang="en-US" sz="950" dirty="0"/>
          </a:p>
          <a:p>
            <a:pPr indent="0" marL="0">
              <a:buNone/>
            </a:pPr>
            <a:r>
              <a:rPr lang="en-US" sz="950" dirty="0">
                <a:solidFill>
                  <a:srgbClr val="1A1A2E"/>
                </a:solidFill>
              </a:rPr>
              <a:t>SVaR approximately doubles market risk.</a:t>
            </a:r>
            <a:endParaRPr lang="en-US" sz="950" dirty="0"/>
          </a:p>
          <a:p>
            <a:pPr indent="0" marL="0">
              <a:buNone/>
            </a:pPr>
            <a:r>
              <a:rPr lang="en-US" sz="950" dirty="0">
                <a:solidFill>
                  <a:srgbClr val="1A1A2E"/>
                </a:solidFill>
              </a:rPr>
              <a:t>Total market risk ~£300,000.</a:t>
            </a:r>
            <a:endParaRPr lang="en-US" sz="950" dirty="0"/>
          </a:p>
        </p:txBody>
      </p:sp>
      <p:sp>
        <p:nvSpPr>
          <p:cNvPr id="29" name="Shape 27"/>
          <p:cNvSpPr/>
          <p:nvPr/>
        </p:nvSpPr>
        <p:spPr>
          <a:xfrm>
            <a:off x="6784848" y="1325880"/>
            <a:ext cx="2057400" cy="3337560"/>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0" name="Shape 28"/>
          <p:cNvSpPr/>
          <p:nvPr/>
        </p:nvSpPr>
        <p:spPr>
          <a:xfrm>
            <a:off x="6784848" y="1325880"/>
            <a:ext cx="2057400" cy="475488"/>
          </a:xfrm>
          <a:prstGeom prst="rect">
            <a:avLst/>
          </a:prstGeom>
          <a:solidFill>
            <a:srgbClr val="C9A84C"/>
          </a:solidFill>
          <a:ln/>
        </p:spPr>
      </p:sp>
      <p:sp>
        <p:nvSpPr>
          <p:cNvPr id="31" name="Text 29"/>
          <p:cNvSpPr/>
          <p:nvPr/>
        </p:nvSpPr>
        <p:spPr>
          <a:xfrm>
            <a:off x="6858000" y="1344168"/>
            <a:ext cx="1371600" cy="246888"/>
          </a:xfrm>
          <a:prstGeom prst="rect">
            <a:avLst/>
          </a:prstGeom>
          <a:noFill/>
          <a:ln/>
        </p:spPr>
        <p:txBody>
          <a:bodyPr wrap="square" lIns="0" tIns="0" rIns="0" bIns="0" rtlCol="0" anchor="ctr"/>
          <a:lstStyle/>
          <a:p>
            <a:pPr indent="0" marL="0">
              <a:buNone/>
            </a:pPr>
            <a:r>
              <a:rPr lang="en-US" sz="1100" b="1" dirty="0">
                <a:solidFill>
                  <a:srgbClr val="FFFFFF"/>
                </a:solidFill>
              </a:rPr>
              <a:t>Basel IV</a:t>
            </a:r>
            <a:endParaRPr lang="en-US" sz="1100" dirty="0"/>
          </a:p>
        </p:txBody>
      </p:sp>
      <p:sp>
        <p:nvSpPr>
          <p:cNvPr id="32" name="Text 30"/>
          <p:cNvSpPr/>
          <p:nvPr/>
        </p:nvSpPr>
        <p:spPr>
          <a:xfrm>
            <a:off x="6858000" y="1572768"/>
            <a:ext cx="1901952" cy="182880"/>
          </a:xfrm>
          <a:prstGeom prst="rect">
            <a:avLst/>
          </a:prstGeom>
          <a:noFill/>
          <a:ln/>
        </p:spPr>
        <p:txBody>
          <a:bodyPr wrap="square" lIns="0" tIns="0" rIns="0" bIns="0" rtlCol="0" anchor="ctr"/>
          <a:lstStyle/>
          <a:p>
            <a:pPr indent="0" marL="0">
              <a:buNone/>
            </a:pPr>
            <a:r>
              <a:rPr lang="en-US" sz="850" i="1" dirty="0">
                <a:solidFill>
                  <a:srgbClr val="FFFFFF"/>
                </a:solidFill>
              </a:rPr>
              <a:t>FRTB-driven</a:t>
            </a:r>
            <a:endParaRPr lang="en-US" sz="850" dirty="0"/>
          </a:p>
        </p:txBody>
      </p:sp>
      <p:sp>
        <p:nvSpPr>
          <p:cNvPr id="33" name="Text 31"/>
          <p:cNvSpPr/>
          <p:nvPr/>
        </p:nvSpPr>
        <p:spPr>
          <a:xfrm>
            <a:off x="6858000" y="1874520"/>
            <a:ext cx="1901952" cy="475488"/>
          </a:xfrm>
          <a:prstGeom prst="rect">
            <a:avLst/>
          </a:prstGeom>
          <a:noFill/>
          <a:ln/>
        </p:spPr>
        <p:txBody>
          <a:bodyPr wrap="square" lIns="0" tIns="0" rIns="0" bIns="0" rtlCol="0" anchor="ctr"/>
          <a:lstStyle/>
          <a:p>
            <a:pPr indent="0" marL="0">
              <a:buNone/>
            </a:pPr>
            <a:r>
              <a:rPr lang="en-US" sz="2000" b="1" dirty="0">
                <a:solidFill>
                  <a:srgbClr val="C9A84C"/>
                </a:solidFill>
              </a:rPr>
              <a:t>£290,000+</a:t>
            </a:r>
            <a:endParaRPr lang="en-US" sz="2000" dirty="0"/>
          </a:p>
        </p:txBody>
      </p:sp>
      <p:sp>
        <p:nvSpPr>
          <p:cNvPr id="34" name="Text 32"/>
          <p:cNvSpPr/>
          <p:nvPr/>
        </p:nvSpPr>
        <p:spPr>
          <a:xfrm>
            <a:off x="6858000" y="2331720"/>
            <a:ext cx="1901952" cy="228600"/>
          </a:xfrm>
          <a:prstGeom prst="rect">
            <a:avLst/>
          </a:prstGeom>
          <a:noFill/>
          <a:ln/>
        </p:spPr>
        <p:txBody>
          <a:bodyPr wrap="square" lIns="0" tIns="0" rIns="0" bIns="0" rtlCol="0" anchor="ctr"/>
          <a:lstStyle/>
          <a:p>
            <a:pPr indent="0" marL="0">
              <a:buNone/>
            </a:pPr>
            <a:r>
              <a:rPr lang="en-US" sz="900" i="1" dirty="0">
                <a:solidFill>
                  <a:srgbClr val="8899AA"/>
                </a:solidFill>
              </a:rPr>
              <a:t>FRTB + NMRF</a:t>
            </a:r>
            <a:endParaRPr lang="en-US" sz="900" dirty="0"/>
          </a:p>
        </p:txBody>
      </p:sp>
      <p:sp>
        <p:nvSpPr>
          <p:cNvPr id="35" name="Text 33"/>
          <p:cNvSpPr/>
          <p:nvPr/>
        </p:nvSpPr>
        <p:spPr>
          <a:xfrm>
            <a:off x="6876288" y="2606040"/>
            <a:ext cx="1874520" cy="1993392"/>
          </a:xfrm>
          <a:prstGeom prst="rect">
            <a:avLst/>
          </a:prstGeom>
          <a:noFill/>
          <a:ln/>
        </p:spPr>
        <p:txBody>
          <a:bodyPr wrap="square" lIns="0" tIns="0" rIns="0" bIns="0" rtlCol="0" anchor="t"/>
          <a:lstStyle/>
          <a:p>
            <a:pPr indent="0" marL="0">
              <a:buNone/>
            </a:pPr>
            <a:r>
              <a:rPr lang="en-US" sz="950" dirty="0">
                <a:solidFill>
                  <a:srgbClr val="1A1A2E"/>
                </a:solidFill>
              </a:rPr>
              <a:t>FRTB SA: delta 25% RW + vega 28% RW + curvature ~£380k.</a:t>
            </a:r>
            <a:endParaRPr lang="en-US" sz="950" dirty="0"/>
          </a:p>
          <a:p>
            <a:pPr indent="0" marL="0">
              <a:buNone/>
            </a:pPr>
            <a:r>
              <a:rPr lang="en-US" sz="950" dirty="0">
                <a:solidFill>
                  <a:srgbClr val="1A1A2E"/>
                </a:solidFill>
              </a:rPr>
              <a:t>FRTB IMA: ES 97.5%, 20d LH ~£280k + NMRF.</a:t>
            </a:r>
            <a:endParaRPr lang="en-US" sz="950" dirty="0"/>
          </a:p>
          <a:p>
            <a:pPr indent="0" marL="0">
              <a:buNone/>
            </a:pPr>
            <a:r>
              <a:rPr lang="en-US" sz="950" dirty="0">
                <a:solidFill>
                  <a:srgbClr val="1A1A2E"/>
                </a:solidFill>
              </a:rPr>
              <a:t>Floor = 72.5% × SA.</a:t>
            </a:r>
            <a:endParaRPr lang="en-US" sz="950" dirty="0"/>
          </a:p>
        </p:txBody>
      </p:sp>
      <p:sp>
        <p:nvSpPr>
          <p:cNvPr id="36" name="Shape 34"/>
          <p:cNvSpPr/>
          <p:nvPr/>
        </p:nvSpPr>
        <p:spPr>
          <a:xfrm>
            <a:off x="365760" y="4663440"/>
            <a:ext cx="8412480" cy="594360"/>
          </a:xfrm>
          <a:prstGeom prst="rect">
            <a:avLst/>
          </a:prstGeom>
          <a:solidFill>
            <a:srgbClr val="D6EAF8"/>
          </a:solidFill>
          <a:ln/>
        </p:spPr>
      </p:sp>
      <p:sp>
        <p:nvSpPr>
          <p:cNvPr id="37" name="Shape 35"/>
          <p:cNvSpPr/>
          <p:nvPr/>
        </p:nvSpPr>
        <p:spPr>
          <a:xfrm>
            <a:off x="365760" y="4663440"/>
            <a:ext cx="1005840" cy="594360"/>
          </a:xfrm>
          <a:prstGeom prst="rect">
            <a:avLst/>
          </a:prstGeom>
          <a:solidFill>
            <a:srgbClr val="8B0000"/>
          </a:solidFill>
          <a:ln/>
        </p:spPr>
      </p:sp>
      <p:sp>
        <p:nvSpPr>
          <p:cNvPr id="38" name="Text 36"/>
          <p:cNvSpPr/>
          <p:nvPr/>
        </p:nvSpPr>
        <p:spPr>
          <a:xfrm>
            <a:off x="365760" y="4663440"/>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CORRECTION</a:t>
            </a:r>
            <a:endParaRPr lang="en-US" sz="900" dirty="0"/>
          </a:p>
        </p:txBody>
      </p:sp>
      <p:sp>
        <p:nvSpPr>
          <p:cNvPr id="39" name="Text 37"/>
          <p:cNvSpPr/>
          <p:nvPr/>
        </p:nvSpPr>
        <p:spPr>
          <a:xfrm>
            <a:off x="1417320" y="4663440"/>
            <a:ext cx="7223760" cy="594360"/>
          </a:xfrm>
          <a:prstGeom prst="rect">
            <a:avLst/>
          </a:prstGeom>
          <a:noFill/>
          <a:ln/>
        </p:spPr>
        <p:txBody>
          <a:bodyPr wrap="square" lIns="0" tIns="0" rIns="0" bIns="0" rtlCol="0" anchor="ctr"/>
          <a:lstStyle/>
          <a:p>
            <a:pPr indent="0" marL="0">
              <a:buNone/>
            </a:pPr>
            <a:r>
              <a:rPr lang="en-US" sz="1000" dirty="0">
                <a:solidFill>
                  <a:srgbClr val="1A1A2E"/>
                </a:solidFill>
              </a:rPr>
              <a:t>Prior version incorrectly applied 8% specific risk to FTSE 100 index. Corrected: diversified index positions carry 0% specific risk under SA. Only the 8% general market risk charge applies to the delta-equivalent position.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Example 3: Interest Rate Swap</a:t>
            </a:r>
            <a:endParaRPr lang="en-US" sz="900" dirty="0"/>
          </a:p>
        </p:txBody>
      </p:sp>
      <p:sp>
        <p:nvSpPr>
          <p:cNvPr id="4" name="Shape 2"/>
          <p:cNvSpPr/>
          <p:nvPr/>
        </p:nvSpPr>
        <p:spPr>
          <a:xfrm>
            <a:off x="0" y="0"/>
            <a:ext cx="9144000" cy="658368"/>
          </a:xfrm>
          <a:prstGeom prst="rect">
            <a:avLst/>
          </a:prstGeom>
          <a:solidFill>
            <a:srgbClr val="0E6B8A"/>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Example 3: Interest Rate Swap — Fixed/Float</a:t>
            </a:r>
            <a:endParaRPr lang="en-US" sz="2200" dirty="0"/>
          </a:p>
        </p:txBody>
      </p:sp>
      <p:sp>
        <p:nvSpPr>
          <p:cNvPr id="6" name="Shape 4"/>
          <p:cNvSpPr/>
          <p:nvPr/>
        </p:nvSpPr>
        <p:spPr>
          <a:xfrm>
            <a:off x="274320" y="749808"/>
            <a:ext cx="8595360" cy="475488"/>
          </a:xfrm>
          <a:prstGeom prst="rect">
            <a:avLst/>
          </a:prstGeom>
          <a:solidFill>
            <a:srgbClr val="D6EAF8"/>
          </a:solidFill>
          <a:ln/>
        </p:spPr>
      </p:sp>
      <p:sp>
        <p:nvSpPr>
          <p:cNvPr id="7" name="Text 5"/>
          <p:cNvSpPr/>
          <p:nvPr/>
        </p:nvSpPr>
        <p:spPr>
          <a:xfrm>
            <a:off x="411480" y="749808"/>
            <a:ext cx="8321040" cy="475488"/>
          </a:xfrm>
          <a:prstGeom prst="rect">
            <a:avLst/>
          </a:prstGeom>
          <a:noFill/>
          <a:ln/>
        </p:spPr>
        <p:txBody>
          <a:bodyPr wrap="square" lIns="0" tIns="0" rIns="0" bIns="0" rtlCol="0" anchor="ctr"/>
          <a:lstStyle/>
          <a:p>
            <a:pPr indent="0" marL="0">
              <a:buNone/>
            </a:pPr>
            <a:r>
              <a:rPr lang="en-US" sz="1000" dirty="0">
                <a:solidFill>
                  <a:srgbClr val="1B3A6B"/>
                </a:solidFill>
              </a:rPr>
              <a:t>Pay Fixed 4.5% / Receive 6M EURIBOR  |  €20m  |  5-Year  |  A-rated French Corporate  |  Bilateral, No CCP  |  MTM: +€350,000</a:t>
            </a:r>
            <a:endParaRPr lang="en-US" sz="1000" dirty="0"/>
          </a:p>
        </p:txBody>
      </p:sp>
      <p:graphicFrame>
        <p:nvGraphicFramePr>
          <p:cNvPr id="8" name="Chart 0" descr=""/>
          <p:cNvGraphicFramePr/>
          <p:nvPr/>
        </p:nvGraphicFramePr>
        <p:xfrm>
          <a:off x="274320" y="1325880"/>
          <a:ext cx="4846320" cy="338328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349240" y="1325880"/>
            <a:ext cx="3520440" cy="1664208"/>
          </a:xfrm>
          <a:prstGeom prst="rect">
            <a:avLst/>
          </a:prstGeom>
          <a:solidFill>
            <a:srgbClr val="1B3A6B"/>
          </a:solidFill>
          <a:ln/>
          <a:effectLst>
            <a:outerShdw sx="100000" sy="100000" kx="0" ky="0" algn="bl" rotWithShape="0" blurRad="101600" dist="38100" dir="8100000">
              <a:srgbClr val="000000">
                <a:alpha val="18000"/>
              </a:srgbClr>
            </a:outerShdw>
          </a:effectLst>
        </p:spPr>
      </p:sp>
      <p:sp>
        <p:nvSpPr>
          <p:cNvPr id="10" name="Text 7"/>
          <p:cNvSpPr/>
          <p:nvPr/>
        </p:nvSpPr>
        <p:spPr>
          <a:xfrm>
            <a:off x="5440680" y="1371600"/>
            <a:ext cx="3337560" cy="292608"/>
          </a:xfrm>
          <a:prstGeom prst="rect">
            <a:avLst/>
          </a:prstGeom>
          <a:noFill/>
          <a:ln/>
        </p:spPr>
        <p:txBody>
          <a:bodyPr wrap="square" lIns="0" tIns="0" rIns="0" bIns="0" rtlCol="0" anchor="ctr"/>
          <a:lstStyle/>
          <a:p>
            <a:pPr indent="0" marL="0">
              <a:buNone/>
            </a:pPr>
            <a:r>
              <a:rPr lang="en-US" sz="1100" b="1" dirty="0">
                <a:solidFill>
                  <a:srgbClr val="C9A84C"/>
                </a:solidFill>
              </a:rPr>
              <a:t>THE CCP INCENTIVE</a:t>
            </a:r>
            <a:endParaRPr lang="en-US" sz="1100" dirty="0"/>
          </a:p>
        </p:txBody>
      </p:sp>
      <p:sp>
        <p:nvSpPr>
          <p:cNvPr id="11" name="Text 8"/>
          <p:cNvSpPr/>
          <p:nvPr/>
        </p:nvSpPr>
        <p:spPr>
          <a:xfrm>
            <a:off x="5440680" y="1719072"/>
            <a:ext cx="3337560" cy="1188720"/>
          </a:xfrm>
          <a:prstGeom prst="rect">
            <a:avLst/>
          </a:prstGeom>
          <a:noFill/>
          <a:ln/>
        </p:spPr>
        <p:txBody>
          <a:bodyPr wrap="square" lIns="0" tIns="0" rIns="0" bIns="0" rtlCol="0" anchor="t"/>
          <a:lstStyle/>
          <a:p>
            <a:pPr indent="0" marL="0">
              <a:buNone/>
            </a:pPr>
            <a:r>
              <a:rPr lang="en-US" sz="1000" dirty="0">
                <a:solidFill>
                  <a:srgbClr val="D6EAF8"/>
                </a:solidFill>
              </a:rPr>
              <a:t>Bilateral IRS capital (Basel III):</a:t>
            </a:r>
            <a:pPr indent="0" marL="0">
              <a:buNone/>
            </a:pPr>
            <a:r>
              <a:rPr lang="en-US" sz="1300" b="1" dirty="0">
                <a:solidFill>
                  <a:srgbClr val="FF6666"/>
                </a:solidFill>
              </a:rPr>
              <a:t>  €40,000</a:t>
            </a:r>
            <a:pPr indent="0" marL="0">
              <a:buNone/>
            </a:pPr>
            <a:endParaRPr lang="en-US" sz="1000" dirty="0"/>
          </a:p>
          <a:p>
            <a:pPr indent="0" marL="0">
              <a:buNone/>
            </a:pPr>
            <a:r>
              <a:rPr lang="en-US" sz="1000" dirty="0">
                <a:solidFill>
                  <a:srgbClr val="D6EAF8"/>
                </a:solidFill>
              </a:rPr>
              <a:t>Cleared via LCH SwapClear:</a:t>
            </a:r>
            <a:endParaRPr lang="en-US" sz="1000" dirty="0"/>
          </a:p>
          <a:p>
            <a:pPr indent="0" marL="0">
              <a:buNone/>
            </a:pPr>
            <a:r>
              <a:rPr lang="en-US" sz="1300" b="1" dirty="0">
                <a:solidFill>
                  <a:srgbClr val="00DD88"/>
                </a:solidFill>
              </a:rPr>
              <a:t>  &lt; €1,000</a:t>
            </a:r>
            <a:endParaRPr lang="en-US" sz="1000" dirty="0"/>
          </a:p>
        </p:txBody>
      </p:sp>
      <p:sp>
        <p:nvSpPr>
          <p:cNvPr id="12" name="Shape 9"/>
          <p:cNvSpPr/>
          <p:nvPr/>
        </p:nvSpPr>
        <p:spPr>
          <a:xfrm>
            <a:off x="5349240" y="2990088"/>
            <a:ext cx="3520440" cy="17190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Text 10"/>
          <p:cNvSpPr/>
          <p:nvPr/>
        </p:nvSpPr>
        <p:spPr>
          <a:xfrm>
            <a:off x="5440680" y="3035808"/>
            <a:ext cx="3337560" cy="292608"/>
          </a:xfrm>
          <a:prstGeom prst="rect">
            <a:avLst/>
          </a:prstGeom>
          <a:noFill/>
          <a:ln/>
        </p:spPr>
        <p:txBody>
          <a:bodyPr wrap="square" lIns="0" tIns="0" rIns="0" bIns="0" rtlCol="0" anchor="ctr"/>
          <a:lstStyle/>
          <a:p>
            <a:pPr indent="0" marL="0">
              <a:buNone/>
            </a:pPr>
            <a:r>
              <a:rPr lang="en-US" sz="1000" b="1" dirty="0">
                <a:solidFill>
                  <a:srgbClr val="8B0000"/>
                </a:solidFill>
              </a:rPr>
              <a:t>SA-CCR Duration Factor (Basel IV)</a:t>
            </a:r>
            <a:endParaRPr lang="en-US" sz="1000" dirty="0"/>
          </a:p>
        </p:txBody>
      </p:sp>
      <p:sp>
        <p:nvSpPr>
          <p:cNvPr id="14" name="Text 11"/>
          <p:cNvSpPr/>
          <p:nvPr/>
        </p:nvSpPr>
        <p:spPr>
          <a:xfrm>
            <a:off x="5440680" y="3364992"/>
            <a:ext cx="3337560" cy="1280160"/>
          </a:xfrm>
          <a:prstGeom prst="rect">
            <a:avLst/>
          </a:prstGeom>
          <a:noFill/>
          <a:ln/>
        </p:spPr>
        <p:txBody>
          <a:bodyPr wrap="square" lIns="0" tIns="0" rIns="0" bIns="0" rtlCol="0" anchor="t"/>
          <a:lstStyle/>
          <a:p>
            <a:pPr indent="0" marL="0">
              <a:buNone/>
            </a:pPr>
            <a:r>
              <a:rPr lang="en-US" sz="950" dirty="0">
                <a:solidFill>
                  <a:srgbClr val="1A1A2E"/>
                </a:solidFill>
              </a:rPr>
              <a:t>SD = (exp(−0.05×0) − exp(−0.05×5)) / 0.05 = 4.42yr</a:t>
            </a:r>
            <a:endParaRPr lang="en-US" sz="950" dirty="0"/>
          </a:p>
          <a:p>
            <a:pPr indent="0" marL="0">
              <a:buNone/>
            </a:pPr>
            <a:r>
              <a:rPr lang="en-US" sz="950" dirty="0">
                <a:solidFill>
                  <a:srgbClr val="1A1A2E"/>
                </a:solidFill>
              </a:rPr>
              <a:t>Adj. Notional = €20m × 4.42 = €88.4m</a:t>
            </a:r>
            <a:endParaRPr lang="en-US" sz="950" dirty="0"/>
          </a:p>
          <a:p>
            <a:pPr indent="0" marL="0">
              <a:buNone/>
            </a:pPr>
            <a:r>
              <a:rPr lang="en-US" sz="950" dirty="0">
                <a:solidFill>
                  <a:srgbClr val="1A1A2E"/>
                </a:solidFill>
              </a:rPr>
              <a:t>PFE = 0.5% × €88.4m = €442,000</a:t>
            </a:r>
            <a:endParaRPr lang="en-US" sz="950" dirty="0"/>
          </a:p>
          <a:p>
            <a:pPr indent="0" marL="0">
              <a:buNone/>
            </a:pPr>
            <a:r>
              <a:rPr lang="en-US" sz="950" dirty="0">
                <a:solidFill>
                  <a:srgbClr val="1A1A2E"/>
                </a:solidFill>
              </a:rPr>
              <a:t>EAD = 1.4 × (€350k + €442k) = €1.109m</a:t>
            </a:r>
            <a:endParaRPr lang="en-US" sz="950" dirty="0"/>
          </a:p>
        </p:txBody>
      </p:sp>
      <p:sp>
        <p:nvSpPr>
          <p:cNvPr id="15" name="Shape 12"/>
          <p:cNvSpPr/>
          <p:nvPr/>
        </p:nvSpPr>
        <p:spPr>
          <a:xfrm>
            <a:off x="365760" y="4663440"/>
            <a:ext cx="8412480" cy="594360"/>
          </a:xfrm>
          <a:prstGeom prst="rect">
            <a:avLst/>
          </a:prstGeom>
          <a:solidFill>
            <a:srgbClr val="D6EAF8"/>
          </a:solidFill>
          <a:ln/>
        </p:spPr>
      </p:sp>
      <p:sp>
        <p:nvSpPr>
          <p:cNvPr id="16" name="Shape 13"/>
          <p:cNvSpPr/>
          <p:nvPr/>
        </p:nvSpPr>
        <p:spPr>
          <a:xfrm>
            <a:off x="365760" y="4663440"/>
            <a:ext cx="1005840" cy="594360"/>
          </a:xfrm>
          <a:prstGeom prst="rect">
            <a:avLst/>
          </a:prstGeom>
          <a:solidFill>
            <a:srgbClr val="1A6B3A"/>
          </a:solidFill>
          <a:ln/>
        </p:spPr>
      </p:sp>
      <p:sp>
        <p:nvSpPr>
          <p:cNvPr id="17" name="Text 14"/>
          <p:cNvSpPr/>
          <p:nvPr/>
        </p:nvSpPr>
        <p:spPr>
          <a:xfrm>
            <a:off x="365760" y="4663440"/>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CCP IMPACT</a:t>
            </a:r>
            <a:endParaRPr lang="en-US" sz="900" dirty="0"/>
          </a:p>
        </p:txBody>
      </p:sp>
      <p:sp>
        <p:nvSpPr>
          <p:cNvPr id="18" name="Text 15"/>
          <p:cNvSpPr/>
          <p:nvPr/>
        </p:nvSpPr>
        <p:spPr>
          <a:xfrm>
            <a:off x="1417320" y="4663440"/>
            <a:ext cx="7223760" cy="594360"/>
          </a:xfrm>
          <a:prstGeom prst="rect">
            <a:avLst/>
          </a:prstGeom>
          <a:noFill/>
          <a:ln/>
        </p:spPr>
        <p:txBody>
          <a:bodyPr wrap="square" lIns="0" tIns="0" rIns="0" bIns="0" rtlCol="0" anchor="ctr"/>
          <a:lstStyle/>
          <a:p>
            <a:pPr indent="0" marL="0">
              <a:buNone/>
            </a:pPr>
            <a:r>
              <a:rPr lang="en-US" sz="1000" dirty="0">
                <a:solidFill>
                  <a:srgbClr val="1A1A2E"/>
                </a:solidFill>
              </a:rPr>
              <a:t>LCH SwapClear cleared IRS volumes: ~$100tn (2009) → &gt;$400tn (2020). The 40–50× capital differential between bilateral and cleared IRS is the primary structural driver of central clearing adoption.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Example 4: Credit Default Swap</a:t>
            </a:r>
            <a:endParaRPr lang="en-US" sz="900" dirty="0"/>
          </a:p>
        </p:txBody>
      </p:sp>
      <p:sp>
        <p:nvSpPr>
          <p:cNvPr id="4" name="Shape 2"/>
          <p:cNvSpPr/>
          <p:nvPr/>
        </p:nvSpPr>
        <p:spPr>
          <a:xfrm>
            <a:off x="0" y="0"/>
            <a:ext cx="9144000" cy="658368"/>
          </a:xfrm>
          <a:prstGeom prst="rect">
            <a:avLst/>
          </a:prstGeom>
          <a:solidFill>
            <a:srgbClr val="8B0000"/>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Example 4: Credit Default Swap (CDS) — Single Name</a:t>
            </a:r>
            <a:endParaRPr lang="en-US" sz="2200" dirty="0"/>
          </a:p>
        </p:txBody>
      </p:sp>
      <p:sp>
        <p:nvSpPr>
          <p:cNvPr id="6" name="Shape 4"/>
          <p:cNvSpPr/>
          <p:nvPr/>
        </p:nvSpPr>
        <p:spPr>
          <a:xfrm>
            <a:off x="274320" y="749808"/>
            <a:ext cx="8595360" cy="475488"/>
          </a:xfrm>
          <a:prstGeom prst="rect">
            <a:avLst/>
          </a:prstGeom>
          <a:solidFill>
            <a:srgbClr val="D6EAF8"/>
          </a:solidFill>
          <a:ln/>
        </p:spPr>
      </p:sp>
      <p:sp>
        <p:nvSpPr>
          <p:cNvPr id="7" name="Text 5"/>
          <p:cNvSpPr/>
          <p:nvPr/>
        </p:nvSpPr>
        <p:spPr>
          <a:xfrm>
            <a:off x="411480" y="749808"/>
            <a:ext cx="8321040" cy="475488"/>
          </a:xfrm>
          <a:prstGeom prst="rect">
            <a:avLst/>
          </a:prstGeom>
          <a:noFill/>
          <a:ln/>
        </p:spPr>
        <p:txBody>
          <a:bodyPr wrap="square" lIns="0" tIns="0" rIns="0" bIns="0" rtlCol="0" anchor="ctr"/>
          <a:lstStyle/>
          <a:p>
            <a:pPr indent="0" marL="0">
              <a:buNone/>
            </a:pPr>
            <a:r>
              <a:rPr lang="en-US" sz="950" dirty="0">
                <a:solidFill>
                  <a:srgbClr val="1B3A6B"/>
                </a:solidFill>
              </a:rPr>
              <a:t>Bank buys protection (pays premium) on $10m notional  |  5yr  |  Reference Entity: BBB-rated Corporate  |  Premium: 120bps/yr  |  Counterparty: AA-rated Dealer Bank  |  Bilateral</a:t>
            </a:r>
            <a:endParaRPr lang="en-US" sz="950" dirty="0"/>
          </a:p>
        </p:txBody>
      </p:sp>
      <p:sp>
        <p:nvSpPr>
          <p:cNvPr id="8" name="Shape 6"/>
          <p:cNvSpPr/>
          <p:nvPr/>
        </p:nvSpPr>
        <p:spPr>
          <a:xfrm>
            <a:off x="274320" y="1316736"/>
            <a:ext cx="2834640" cy="208483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74320" y="1316736"/>
            <a:ext cx="2834640" cy="347472"/>
          </a:xfrm>
          <a:prstGeom prst="rect">
            <a:avLst/>
          </a:prstGeom>
          <a:solidFill>
            <a:srgbClr val="8B0000"/>
          </a:solidFill>
          <a:ln/>
        </p:spPr>
      </p:sp>
      <p:sp>
        <p:nvSpPr>
          <p:cNvPr id="10" name="Text 8"/>
          <p:cNvSpPr/>
          <p:nvPr/>
        </p:nvSpPr>
        <p:spPr>
          <a:xfrm>
            <a:off x="365760" y="1316736"/>
            <a:ext cx="2651760" cy="347472"/>
          </a:xfrm>
          <a:prstGeom prst="rect">
            <a:avLst/>
          </a:prstGeom>
          <a:noFill/>
          <a:ln/>
        </p:spPr>
        <p:txBody>
          <a:bodyPr wrap="square" lIns="0" tIns="0" rIns="0" bIns="0" rtlCol="0" anchor="ctr"/>
          <a:lstStyle/>
          <a:p>
            <a:pPr indent="0" marL="0">
              <a:buNone/>
            </a:pPr>
            <a:r>
              <a:rPr lang="en-US" sz="1000" b="1" dirty="0">
                <a:solidFill>
                  <a:srgbClr val="FFFFFF"/>
                </a:solidFill>
              </a:rPr>
              <a:t>What is a CDS?</a:t>
            </a:r>
            <a:endParaRPr lang="en-US" sz="1000" dirty="0"/>
          </a:p>
        </p:txBody>
      </p:sp>
      <p:sp>
        <p:nvSpPr>
          <p:cNvPr id="11" name="Text 9"/>
          <p:cNvSpPr/>
          <p:nvPr/>
        </p:nvSpPr>
        <p:spPr>
          <a:xfrm>
            <a:off x="365760" y="1709928"/>
            <a:ext cx="2651760" cy="1627632"/>
          </a:xfrm>
          <a:prstGeom prst="rect">
            <a:avLst/>
          </a:prstGeom>
          <a:noFill/>
          <a:ln/>
        </p:spPr>
        <p:txBody>
          <a:bodyPr wrap="square" lIns="0" tIns="0" rIns="0" bIns="0" rtlCol="0" anchor="t"/>
          <a:lstStyle/>
          <a:p>
            <a:pPr indent="0" marL="0">
              <a:buNone/>
            </a:pPr>
            <a:r>
              <a:rPr lang="en-US" sz="880" dirty="0">
                <a:solidFill>
                  <a:srgbClr val="1A1A2E"/>
                </a:solidFill>
              </a:rPr>
              <a:t>A Credit Default Swap is an insurance-like contract against the default of a reference entity (e.g. a company or sovereign).</a:t>
            </a:r>
            <a:endParaRPr lang="en-US" sz="880" dirty="0"/>
          </a:p>
          <a:p>
            <a:pPr indent="0" marL="0">
              <a:buNone/>
            </a:pPr>
            <a:endParaRPr lang="en-US" sz="880" dirty="0"/>
          </a:p>
          <a:p>
            <a:pPr indent="0" marL="0">
              <a:buNone/>
            </a:pPr>
            <a:r>
              <a:rPr lang="en-US" sz="880" dirty="0">
                <a:solidFill>
                  <a:srgbClr val="1A1A2E"/>
                </a:solidFill>
              </a:rPr>
              <a:t>Protection Buyer pays a periodic premium (e.g. 120bps/yr × $10m = $120,000/yr).</a:t>
            </a:r>
            <a:endParaRPr lang="en-US" sz="880" dirty="0"/>
          </a:p>
          <a:p>
            <a:pPr indent="0" marL="0">
              <a:buNone/>
            </a:pPr>
            <a:r>
              <a:rPr lang="en-US" sz="880" dirty="0">
                <a:solidFill>
                  <a:srgbClr val="1A1A2E"/>
                </a:solidFill>
              </a:rPr>
              <a:t>Protection Seller pays face value minus recovery if the reference entity defaults.</a:t>
            </a:r>
            <a:endParaRPr lang="en-US" sz="880" dirty="0"/>
          </a:p>
          <a:p>
            <a:pPr indent="0" marL="0">
              <a:buNone/>
            </a:pPr>
            <a:endParaRPr lang="en-US" sz="880" dirty="0"/>
          </a:p>
          <a:p>
            <a:pPr indent="0" marL="0">
              <a:buNone/>
            </a:pPr>
            <a:r>
              <a:rPr lang="en-US" sz="880" dirty="0">
                <a:solidFill>
                  <a:srgbClr val="1A1A2E"/>
                </a:solidFill>
              </a:rPr>
              <a:t>The bank here is BUYING protection — it has credit exposure to the BBB corporate (e.g. a bond or loan) and wants to hedge it. The counterparty risk is now to the AA dealer bank.</a:t>
            </a:r>
            <a:endParaRPr lang="en-US" sz="880" dirty="0"/>
          </a:p>
        </p:txBody>
      </p:sp>
      <p:sp>
        <p:nvSpPr>
          <p:cNvPr id="12" name="Shape 10"/>
          <p:cNvSpPr/>
          <p:nvPr/>
        </p:nvSpPr>
        <p:spPr>
          <a:xfrm>
            <a:off x="3337560" y="1316736"/>
            <a:ext cx="1371600" cy="208483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1"/>
          <p:cNvSpPr/>
          <p:nvPr/>
        </p:nvSpPr>
        <p:spPr>
          <a:xfrm>
            <a:off x="3337560" y="1316736"/>
            <a:ext cx="1371600" cy="347472"/>
          </a:xfrm>
          <a:prstGeom prst="rect">
            <a:avLst/>
          </a:prstGeom>
          <a:solidFill>
            <a:srgbClr val="8899AA"/>
          </a:solidFill>
          <a:ln/>
        </p:spPr>
      </p:sp>
      <p:sp>
        <p:nvSpPr>
          <p:cNvPr id="14" name="Text 12"/>
          <p:cNvSpPr/>
          <p:nvPr/>
        </p:nvSpPr>
        <p:spPr>
          <a:xfrm>
            <a:off x="3392424"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a:t>
            </a:r>
            <a:endParaRPr lang="en-US" sz="1000" dirty="0"/>
          </a:p>
        </p:txBody>
      </p:sp>
      <p:sp>
        <p:nvSpPr>
          <p:cNvPr id="15" name="Text 13"/>
          <p:cNvSpPr/>
          <p:nvPr/>
        </p:nvSpPr>
        <p:spPr>
          <a:xfrm>
            <a:off x="3392424" y="1709928"/>
            <a:ext cx="1261872" cy="384048"/>
          </a:xfrm>
          <a:prstGeom prst="rect">
            <a:avLst/>
          </a:prstGeom>
          <a:noFill/>
          <a:ln/>
        </p:spPr>
        <p:txBody>
          <a:bodyPr wrap="square" lIns="0" tIns="0" rIns="0" bIns="0" rtlCol="0" anchor="ctr"/>
          <a:lstStyle/>
          <a:p>
            <a:pPr indent="0" marL="0">
              <a:buNone/>
            </a:pPr>
            <a:r>
              <a:rPr lang="en-US" sz="1600" b="1" dirty="0">
                <a:solidFill>
                  <a:srgbClr val="8899AA"/>
                </a:solidFill>
              </a:rPr>
              <a:t>$24,000</a:t>
            </a:r>
            <a:endParaRPr lang="en-US" sz="1600" dirty="0"/>
          </a:p>
        </p:txBody>
      </p:sp>
      <p:sp>
        <p:nvSpPr>
          <p:cNvPr id="16" name="Text 14"/>
          <p:cNvSpPr/>
          <p:nvPr/>
        </p:nvSpPr>
        <p:spPr>
          <a:xfrm>
            <a:off x="3392424" y="210312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CEM</a:t>
            </a:r>
            <a:endParaRPr lang="en-US" sz="800" dirty="0"/>
          </a:p>
        </p:txBody>
      </p:sp>
      <p:sp>
        <p:nvSpPr>
          <p:cNvPr id="17" name="Text 15"/>
          <p:cNvSpPr/>
          <p:nvPr/>
        </p:nvSpPr>
        <p:spPr>
          <a:xfrm>
            <a:off x="3392424" y="2331720"/>
            <a:ext cx="1261872" cy="1005840"/>
          </a:xfrm>
          <a:prstGeom prst="rect">
            <a:avLst/>
          </a:prstGeom>
          <a:noFill/>
          <a:ln/>
        </p:spPr>
        <p:txBody>
          <a:bodyPr wrap="square" lIns="0" tIns="0" rIns="0" bIns="0" rtlCol="0" anchor="t"/>
          <a:lstStyle/>
          <a:p>
            <a:pPr indent="0" marL="0">
              <a:buNone/>
            </a:pPr>
            <a:r>
              <a:rPr lang="en-US" sz="800" dirty="0">
                <a:solidFill>
                  <a:srgbClr val="1A1A2E"/>
                </a:solidFill>
              </a:rPr>
              <a:t>CRE = RC + Add-on (5% × $10m for 5yr credit contract).</a:t>
            </a:r>
            <a:endParaRPr lang="en-US" sz="800" dirty="0"/>
          </a:p>
          <a:p>
            <a:pPr indent="0" marL="0">
              <a:buNone/>
            </a:pPr>
            <a:r>
              <a:rPr lang="en-US" sz="800" dirty="0">
                <a:solidFill>
                  <a:srgbClr val="1A1A2E"/>
                </a:solidFill>
              </a:rPr>
              <a:t>EAD = $500,000. OECD bank = 20% RW.</a:t>
            </a:r>
            <a:endParaRPr lang="en-US" sz="800" dirty="0"/>
          </a:p>
          <a:p>
            <a:pPr indent="0" marL="0">
              <a:buNone/>
            </a:pPr>
            <a:r>
              <a:rPr lang="en-US" sz="800" dirty="0">
                <a:solidFill>
                  <a:srgbClr val="1A1A2E"/>
                </a:solidFill>
              </a:rPr>
              <a:t>Capital = $500k × 20% × 8% = $8,000 (counterparty risk only).</a:t>
            </a:r>
            <a:endParaRPr lang="en-US" sz="800" dirty="0"/>
          </a:p>
          <a:p>
            <a:pPr indent="0" marL="0">
              <a:buNone/>
            </a:pPr>
            <a:r>
              <a:rPr lang="en-US" sz="800" dirty="0">
                <a:solidFill>
                  <a:srgbClr val="1A1A2E"/>
                </a:solidFill>
              </a:rPr>
              <a:t>Note: no offset for credit hedge benefit.</a:t>
            </a:r>
            <a:endParaRPr lang="en-US" sz="800" dirty="0"/>
          </a:p>
        </p:txBody>
      </p:sp>
      <p:sp>
        <p:nvSpPr>
          <p:cNvPr id="18" name="Shape 16"/>
          <p:cNvSpPr/>
          <p:nvPr/>
        </p:nvSpPr>
        <p:spPr>
          <a:xfrm>
            <a:off x="4791456" y="1316736"/>
            <a:ext cx="1371600" cy="208483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7"/>
          <p:cNvSpPr/>
          <p:nvPr/>
        </p:nvSpPr>
        <p:spPr>
          <a:xfrm>
            <a:off x="4791456" y="1316736"/>
            <a:ext cx="1371600" cy="347472"/>
          </a:xfrm>
          <a:prstGeom prst="rect">
            <a:avLst/>
          </a:prstGeom>
          <a:solidFill>
            <a:srgbClr val="0E6B8A"/>
          </a:solidFill>
          <a:ln/>
        </p:spPr>
      </p:sp>
      <p:sp>
        <p:nvSpPr>
          <p:cNvPr id="20" name="Text 18"/>
          <p:cNvSpPr/>
          <p:nvPr/>
        </p:nvSpPr>
        <p:spPr>
          <a:xfrm>
            <a:off x="4846320"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II</a:t>
            </a:r>
            <a:endParaRPr lang="en-US" sz="1000" dirty="0"/>
          </a:p>
        </p:txBody>
      </p:sp>
      <p:sp>
        <p:nvSpPr>
          <p:cNvPr id="21" name="Text 19"/>
          <p:cNvSpPr/>
          <p:nvPr/>
        </p:nvSpPr>
        <p:spPr>
          <a:xfrm>
            <a:off x="4846320" y="1709928"/>
            <a:ext cx="1261872" cy="384048"/>
          </a:xfrm>
          <a:prstGeom prst="rect">
            <a:avLst/>
          </a:prstGeom>
          <a:noFill/>
          <a:ln/>
        </p:spPr>
        <p:txBody>
          <a:bodyPr wrap="square" lIns="0" tIns="0" rIns="0" bIns="0" rtlCol="0" anchor="ctr"/>
          <a:lstStyle/>
          <a:p>
            <a:pPr indent="0" marL="0">
              <a:buNone/>
            </a:pPr>
            <a:r>
              <a:rPr lang="en-US" sz="1600" b="1" dirty="0">
                <a:solidFill>
                  <a:srgbClr val="0E6B8A"/>
                </a:solidFill>
              </a:rPr>
              <a:t>$9,600</a:t>
            </a:r>
            <a:endParaRPr lang="en-US" sz="1600" dirty="0"/>
          </a:p>
        </p:txBody>
      </p:sp>
      <p:sp>
        <p:nvSpPr>
          <p:cNvPr id="22" name="Text 20"/>
          <p:cNvSpPr/>
          <p:nvPr/>
        </p:nvSpPr>
        <p:spPr>
          <a:xfrm>
            <a:off x="4846320" y="210312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SA / IRB</a:t>
            </a:r>
            <a:endParaRPr lang="en-US" sz="800" dirty="0"/>
          </a:p>
        </p:txBody>
      </p:sp>
      <p:sp>
        <p:nvSpPr>
          <p:cNvPr id="23" name="Text 21"/>
          <p:cNvSpPr/>
          <p:nvPr/>
        </p:nvSpPr>
        <p:spPr>
          <a:xfrm>
            <a:off x="4846320" y="2331720"/>
            <a:ext cx="1261872" cy="1005840"/>
          </a:xfrm>
          <a:prstGeom prst="rect">
            <a:avLst/>
          </a:prstGeom>
          <a:noFill/>
          <a:ln/>
        </p:spPr>
        <p:txBody>
          <a:bodyPr wrap="square" lIns="0" tIns="0" rIns="0" bIns="0" rtlCol="0" anchor="t"/>
          <a:lstStyle/>
          <a:p>
            <a:pPr indent="0" marL="0">
              <a:buNone/>
            </a:pPr>
            <a:r>
              <a:rPr lang="en-US" sz="800" dirty="0">
                <a:solidFill>
                  <a:srgbClr val="1A1A2E"/>
                </a:solidFill>
              </a:rPr>
              <a:t>AA dealer bank counterparty: 20% RW under SA.</a:t>
            </a:r>
            <a:endParaRPr lang="en-US" sz="800" dirty="0"/>
          </a:p>
          <a:p>
            <a:pPr indent="0" marL="0">
              <a:buNone/>
            </a:pPr>
            <a:r>
              <a:rPr lang="en-US" sz="800" dirty="0">
                <a:solidFill>
                  <a:srgbClr val="1A1A2E"/>
                </a:solidFill>
              </a:rPr>
              <a:t>EAD $600k (CEM with add-on).</a:t>
            </a:r>
            <a:endParaRPr lang="en-US" sz="800" dirty="0"/>
          </a:p>
          <a:p>
            <a:pPr indent="0" marL="0">
              <a:buNone/>
            </a:pPr>
            <a:r>
              <a:rPr lang="en-US" sz="800" dirty="0">
                <a:solidFill>
                  <a:srgbClr val="1A1A2E"/>
                </a:solidFill>
              </a:rPr>
              <a:t>IRB: lower PD for AA dealer.</a:t>
            </a:r>
            <a:endParaRPr lang="en-US" sz="800" dirty="0"/>
          </a:p>
          <a:p>
            <a:pPr indent="0" marL="0">
              <a:buNone/>
            </a:pPr>
            <a:r>
              <a:rPr lang="en-US" sz="800" dirty="0">
                <a:solidFill>
                  <a:srgbClr val="1A1A2E"/>
                </a:solidFill>
              </a:rPr>
              <a:t>Credit hedge may reduce underlying loan capital: double-default framework.</a:t>
            </a:r>
            <a:endParaRPr lang="en-US" sz="800" dirty="0"/>
          </a:p>
        </p:txBody>
      </p:sp>
      <p:sp>
        <p:nvSpPr>
          <p:cNvPr id="24" name="Shape 22"/>
          <p:cNvSpPr/>
          <p:nvPr/>
        </p:nvSpPr>
        <p:spPr>
          <a:xfrm>
            <a:off x="6245352" y="1316736"/>
            <a:ext cx="1371600" cy="208483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5" name="Shape 23"/>
          <p:cNvSpPr/>
          <p:nvPr/>
        </p:nvSpPr>
        <p:spPr>
          <a:xfrm>
            <a:off x="6245352" y="1316736"/>
            <a:ext cx="1371600" cy="347472"/>
          </a:xfrm>
          <a:prstGeom prst="rect">
            <a:avLst/>
          </a:prstGeom>
          <a:solidFill>
            <a:srgbClr val="1B3A6B"/>
          </a:solidFill>
          <a:ln/>
        </p:spPr>
      </p:sp>
      <p:sp>
        <p:nvSpPr>
          <p:cNvPr id="26" name="Text 24"/>
          <p:cNvSpPr/>
          <p:nvPr/>
        </p:nvSpPr>
        <p:spPr>
          <a:xfrm>
            <a:off x="6300216"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III</a:t>
            </a:r>
            <a:endParaRPr lang="en-US" sz="1000" dirty="0"/>
          </a:p>
        </p:txBody>
      </p:sp>
      <p:sp>
        <p:nvSpPr>
          <p:cNvPr id="27" name="Text 25"/>
          <p:cNvSpPr/>
          <p:nvPr/>
        </p:nvSpPr>
        <p:spPr>
          <a:xfrm>
            <a:off x="6300216" y="1709928"/>
            <a:ext cx="1261872" cy="384048"/>
          </a:xfrm>
          <a:prstGeom prst="rect">
            <a:avLst/>
          </a:prstGeom>
          <a:noFill/>
          <a:ln/>
        </p:spPr>
        <p:txBody>
          <a:bodyPr wrap="square" lIns="0" tIns="0" rIns="0" bIns="0" rtlCol="0" anchor="ctr"/>
          <a:lstStyle/>
          <a:p>
            <a:pPr indent="0" marL="0">
              <a:buNone/>
            </a:pPr>
            <a:r>
              <a:rPr lang="en-US" sz="1600" b="1" dirty="0">
                <a:solidFill>
                  <a:srgbClr val="1B3A6B"/>
                </a:solidFill>
              </a:rPr>
              <a:t>$14,400+</a:t>
            </a:r>
            <a:endParaRPr lang="en-US" sz="1600" dirty="0"/>
          </a:p>
        </p:txBody>
      </p:sp>
      <p:sp>
        <p:nvSpPr>
          <p:cNvPr id="28" name="Text 26"/>
          <p:cNvSpPr/>
          <p:nvPr/>
        </p:nvSpPr>
        <p:spPr>
          <a:xfrm>
            <a:off x="6300216" y="210312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SA-CCR (approx) + CVA</a:t>
            </a:r>
            <a:endParaRPr lang="en-US" sz="800" dirty="0"/>
          </a:p>
        </p:txBody>
      </p:sp>
      <p:sp>
        <p:nvSpPr>
          <p:cNvPr id="29" name="Text 27"/>
          <p:cNvSpPr/>
          <p:nvPr/>
        </p:nvSpPr>
        <p:spPr>
          <a:xfrm>
            <a:off x="6300216" y="2331720"/>
            <a:ext cx="1261872" cy="1005840"/>
          </a:xfrm>
          <a:prstGeom prst="rect">
            <a:avLst/>
          </a:prstGeom>
          <a:noFill/>
          <a:ln/>
        </p:spPr>
        <p:txBody>
          <a:bodyPr wrap="square" lIns="0" tIns="0" rIns="0" bIns="0" rtlCol="0" anchor="t"/>
          <a:lstStyle/>
          <a:p>
            <a:pPr indent="0" marL="0">
              <a:buNone/>
            </a:pPr>
            <a:r>
              <a:rPr lang="en-US" sz="800" dirty="0">
                <a:solidFill>
                  <a:srgbClr val="1A1A2E"/>
                </a:solidFill>
              </a:rPr>
              <a:t>CCR EAD via CEM (SA-CCR not yet operative).</a:t>
            </a:r>
            <a:endParaRPr lang="en-US" sz="800" dirty="0"/>
          </a:p>
          <a:p>
            <a:pPr indent="0" marL="0">
              <a:buNone/>
            </a:pPr>
            <a:r>
              <a:rPr lang="en-US" sz="800" dirty="0">
                <a:solidFill>
                  <a:srgbClr val="1A1A2E"/>
                </a:solidFill>
              </a:rPr>
              <a:t>CVA charge on MTM volatility of CDS premium stream.</a:t>
            </a:r>
            <a:endParaRPr lang="en-US" sz="800" dirty="0"/>
          </a:p>
          <a:p>
            <a:pPr indent="0" marL="0">
              <a:buNone/>
            </a:pPr>
            <a:r>
              <a:rPr lang="en-US" sz="800" dirty="0">
                <a:solidFill>
                  <a:srgbClr val="1A1A2E"/>
                </a:solidFill>
              </a:rPr>
              <a:t>Double default treatment if hedging underlying exposure.</a:t>
            </a:r>
            <a:endParaRPr lang="en-US" sz="800" dirty="0"/>
          </a:p>
          <a:p>
            <a:pPr indent="0" marL="0">
              <a:buNone/>
            </a:pPr>
            <a:r>
              <a:rPr lang="en-US" sz="800" dirty="0">
                <a:solidFill>
                  <a:srgbClr val="1A1A2E"/>
                </a:solidFill>
              </a:rPr>
              <a:t>CVA ~$5,000–8,000 additional.</a:t>
            </a:r>
            <a:endParaRPr lang="en-US" sz="800" dirty="0"/>
          </a:p>
        </p:txBody>
      </p:sp>
      <p:sp>
        <p:nvSpPr>
          <p:cNvPr id="30" name="Shape 28"/>
          <p:cNvSpPr/>
          <p:nvPr/>
        </p:nvSpPr>
        <p:spPr>
          <a:xfrm>
            <a:off x="7699248" y="1316736"/>
            <a:ext cx="1371600" cy="208483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1" name="Shape 29"/>
          <p:cNvSpPr/>
          <p:nvPr/>
        </p:nvSpPr>
        <p:spPr>
          <a:xfrm>
            <a:off x="7699248" y="1316736"/>
            <a:ext cx="1371600" cy="347472"/>
          </a:xfrm>
          <a:prstGeom prst="rect">
            <a:avLst/>
          </a:prstGeom>
          <a:solidFill>
            <a:srgbClr val="8B0000"/>
          </a:solidFill>
          <a:ln/>
        </p:spPr>
      </p:sp>
      <p:sp>
        <p:nvSpPr>
          <p:cNvPr id="32" name="Text 30"/>
          <p:cNvSpPr/>
          <p:nvPr/>
        </p:nvSpPr>
        <p:spPr>
          <a:xfrm>
            <a:off x="7754112"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IV</a:t>
            </a:r>
            <a:endParaRPr lang="en-US" sz="1000" dirty="0"/>
          </a:p>
        </p:txBody>
      </p:sp>
      <p:sp>
        <p:nvSpPr>
          <p:cNvPr id="33" name="Text 31"/>
          <p:cNvSpPr/>
          <p:nvPr/>
        </p:nvSpPr>
        <p:spPr>
          <a:xfrm>
            <a:off x="7754112" y="1709928"/>
            <a:ext cx="1261872" cy="384048"/>
          </a:xfrm>
          <a:prstGeom prst="rect">
            <a:avLst/>
          </a:prstGeom>
          <a:noFill/>
          <a:ln/>
        </p:spPr>
        <p:txBody>
          <a:bodyPr wrap="square" lIns="0" tIns="0" rIns="0" bIns="0" rtlCol="0" anchor="ctr"/>
          <a:lstStyle/>
          <a:p>
            <a:pPr indent="0" marL="0">
              <a:buNone/>
            </a:pPr>
            <a:r>
              <a:rPr lang="en-US" sz="1600" b="1" dirty="0">
                <a:solidFill>
                  <a:srgbClr val="8B0000"/>
                </a:solidFill>
              </a:rPr>
              <a:t>$18,000+</a:t>
            </a:r>
            <a:endParaRPr lang="en-US" sz="1600" dirty="0"/>
          </a:p>
        </p:txBody>
      </p:sp>
      <p:sp>
        <p:nvSpPr>
          <p:cNvPr id="34" name="Text 32"/>
          <p:cNvSpPr/>
          <p:nvPr/>
        </p:nvSpPr>
        <p:spPr>
          <a:xfrm>
            <a:off x="7754112" y="210312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SA-CCR + FRTB-CVA</a:t>
            </a:r>
            <a:endParaRPr lang="en-US" sz="800" dirty="0"/>
          </a:p>
        </p:txBody>
      </p:sp>
      <p:sp>
        <p:nvSpPr>
          <p:cNvPr id="35" name="Text 33"/>
          <p:cNvSpPr/>
          <p:nvPr/>
        </p:nvSpPr>
        <p:spPr>
          <a:xfrm>
            <a:off x="7754112" y="2331720"/>
            <a:ext cx="1261872" cy="1005840"/>
          </a:xfrm>
          <a:prstGeom prst="rect">
            <a:avLst/>
          </a:prstGeom>
          <a:noFill/>
          <a:ln/>
        </p:spPr>
        <p:txBody>
          <a:bodyPr wrap="square" lIns="0" tIns="0" rIns="0" bIns="0" rtlCol="0" anchor="t"/>
          <a:lstStyle/>
          <a:p>
            <a:pPr indent="0" marL="0">
              <a:buNone/>
            </a:pPr>
            <a:r>
              <a:rPr lang="en-US" sz="800" dirty="0">
                <a:solidFill>
                  <a:srgbClr val="1A1A2E"/>
                </a:solidFill>
              </a:rPr>
              <a:t>SA-CCR: credit derivative supervisory factor 5% for IG reference entity. Adjusted notional × SD × SF × delta.</a:t>
            </a:r>
            <a:endParaRPr lang="en-US" sz="800" dirty="0"/>
          </a:p>
          <a:p>
            <a:pPr indent="0" marL="0">
              <a:buNone/>
            </a:pPr>
            <a:r>
              <a:rPr lang="en-US" sz="800" dirty="0">
                <a:solidFill>
                  <a:srgbClr val="1A1A2E"/>
                </a:solidFill>
              </a:rPr>
              <a:t>FRTB market risk if in trading book: credit spread sensitivity.</a:t>
            </a:r>
            <a:endParaRPr lang="en-US" sz="800" dirty="0"/>
          </a:p>
          <a:p>
            <a:pPr indent="0" marL="0">
              <a:buNone/>
            </a:pPr>
            <a:r>
              <a:rPr lang="en-US" sz="800" dirty="0">
                <a:solidFill>
                  <a:srgbClr val="1A1A2E"/>
                </a:solidFill>
              </a:rPr>
              <a:t>SA-CVA with hedge recognition.</a:t>
            </a:r>
            <a:endParaRPr lang="en-US" sz="800" dirty="0"/>
          </a:p>
        </p:txBody>
      </p:sp>
      <p:graphicFrame>
        <p:nvGraphicFramePr>
          <p:cNvPr id="36" name="Chart 0" descr=""/>
          <p:cNvGraphicFramePr/>
          <p:nvPr/>
        </p:nvGraphicFramePr>
        <p:xfrm>
          <a:off x="274320" y="3520440"/>
          <a:ext cx="5029200" cy="1234440"/>
        </p:xfrm>
        <a:graphic xmlns:a="http://schemas.openxmlformats.org/drawingml/2006/main">
          <a:graphicData uri="http://schemas.openxmlformats.org/drawingml/2006/chart">
            <c:chart xmlns:c="http://schemas.openxmlformats.org/drawingml/2006/chart" r:id="rId1"/>
          </a:graphicData>
        </a:graphic>
      </p:graphicFrame>
      <p:sp>
        <p:nvSpPr>
          <p:cNvPr id="37" name="Shape 34"/>
          <p:cNvSpPr/>
          <p:nvPr/>
        </p:nvSpPr>
        <p:spPr>
          <a:xfrm>
            <a:off x="365760" y="4818888"/>
            <a:ext cx="8412480" cy="594360"/>
          </a:xfrm>
          <a:prstGeom prst="rect">
            <a:avLst/>
          </a:prstGeom>
          <a:solidFill>
            <a:srgbClr val="D6EAF8"/>
          </a:solidFill>
          <a:ln/>
        </p:spPr>
      </p:sp>
      <p:sp>
        <p:nvSpPr>
          <p:cNvPr id="38" name="Shape 35"/>
          <p:cNvSpPr/>
          <p:nvPr/>
        </p:nvSpPr>
        <p:spPr>
          <a:xfrm>
            <a:off x="365760" y="4818888"/>
            <a:ext cx="1005840" cy="594360"/>
          </a:xfrm>
          <a:prstGeom prst="rect">
            <a:avLst/>
          </a:prstGeom>
          <a:solidFill>
            <a:srgbClr val="8B0000"/>
          </a:solidFill>
          <a:ln/>
        </p:spPr>
      </p:sp>
      <p:sp>
        <p:nvSpPr>
          <p:cNvPr id="39" name="Text 36"/>
          <p:cNvSpPr/>
          <p:nvPr/>
        </p:nvSpPr>
        <p:spPr>
          <a:xfrm>
            <a:off x="365760" y="4818888"/>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KEY CONCEPT</a:t>
            </a:r>
            <a:endParaRPr lang="en-US" sz="900" dirty="0"/>
          </a:p>
        </p:txBody>
      </p:sp>
      <p:sp>
        <p:nvSpPr>
          <p:cNvPr id="40" name="Text 37"/>
          <p:cNvSpPr/>
          <p:nvPr/>
        </p:nvSpPr>
        <p:spPr>
          <a:xfrm>
            <a:off x="1417320" y="4818888"/>
            <a:ext cx="7223760" cy="594360"/>
          </a:xfrm>
          <a:prstGeom prst="rect">
            <a:avLst/>
          </a:prstGeom>
          <a:noFill/>
          <a:ln/>
        </p:spPr>
        <p:txBody>
          <a:bodyPr wrap="square" lIns="0" tIns="0" rIns="0" bIns="0" rtlCol="0" anchor="ctr"/>
          <a:lstStyle/>
          <a:p>
            <a:pPr indent="0" marL="0">
              <a:buNone/>
            </a:pPr>
            <a:r>
              <a:rPr lang="en-US" sz="1000" dirty="0">
                <a:solidFill>
                  <a:srgbClr val="1A1A2E"/>
                </a:solidFill>
              </a:rPr>
              <a:t>A CDS introduces counterparty risk on the protection seller in addition to the original credit risk on the reference entity. Basel III/IV require capital for both. The 'double default' framework in Basel II/III can reduce capital if the bank is genuinely hedging an underlying exposure.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Example 5: Gold Forward</a:t>
            </a:r>
            <a:endParaRPr lang="en-US" sz="900" dirty="0"/>
          </a:p>
        </p:txBody>
      </p:sp>
      <p:sp>
        <p:nvSpPr>
          <p:cNvPr id="4" name="Shape 2"/>
          <p:cNvSpPr/>
          <p:nvPr/>
        </p:nvSpPr>
        <p:spPr>
          <a:xfrm>
            <a:off x="0" y="0"/>
            <a:ext cx="9144000" cy="658368"/>
          </a:xfrm>
          <a:prstGeom prst="rect">
            <a:avLst/>
          </a:prstGeom>
          <a:solidFill>
            <a:srgbClr val="1A6B3A"/>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Example 5: Precious Metal Forward — Gold (XAU/USD)</a:t>
            </a:r>
            <a:endParaRPr lang="en-US" sz="2200" dirty="0"/>
          </a:p>
        </p:txBody>
      </p:sp>
      <p:sp>
        <p:nvSpPr>
          <p:cNvPr id="6" name="Shape 4"/>
          <p:cNvSpPr/>
          <p:nvPr/>
        </p:nvSpPr>
        <p:spPr>
          <a:xfrm>
            <a:off x="274320" y="749808"/>
            <a:ext cx="8595360" cy="475488"/>
          </a:xfrm>
          <a:prstGeom prst="rect">
            <a:avLst/>
          </a:prstGeom>
          <a:solidFill>
            <a:srgbClr val="D6EAF8"/>
          </a:solidFill>
          <a:ln/>
        </p:spPr>
      </p:sp>
      <p:sp>
        <p:nvSpPr>
          <p:cNvPr id="7" name="Text 5"/>
          <p:cNvSpPr/>
          <p:nvPr/>
        </p:nvSpPr>
        <p:spPr>
          <a:xfrm>
            <a:off x="411480" y="749808"/>
            <a:ext cx="8321040" cy="475488"/>
          </a:xfrm>
          <a:prstGeom prst="rect">
            <a:avLst/>
          </a:prstGeom>
          <a:noFill/>
          <a:ln/>
        </p:spPr>
        <p:txBody>
          <a:bodyPr wrap="square" lIns="0" tIns="0" rIns="0" bIns="0" rtlCol="0" anchor="ctr"/>
          <a:lstStyle/>
          <a:p>
            <a:pPr indent="0" marL="0">
              <a:buNone/>
            </a:pPr>
            <a:r>
              <a:rPr lang="en-US" sz="950" dirty="0">
                <a:solidFill>
                  <a:srgbClr val="1B3A6B"/>
                </a:solidFill>
              </a:rPr>
              <a:t>Bank sells 1,000 troy oz Gold forward to counterparty  |  3-Month delivery  |  Forward price: $2,350/oz  |  Total notional: $2,350,000  |  BBB-rated corporate  |  Bilateral, No Margin  |  MTM at inception: $0</a:t>
            </a:r>
            <a:endParaRPr lang="en-US" sz="950" dirty="0"/>
          </a:p>
        </p:txBody>
      </p:sp>
      <p:sp>
        <p:nvSpPr>
          <p:cNvPr id="8" name="Shape 6"/>
          <p:cNvSpPr/>
          <p:nvPr/>
        </p:nvSpPr>
        <p:spPr>
          <a:xfrm>
            <a:off x="274320" y="1316736"/>
            <a:ext cx="2834640" cy="21762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9" name="Shape 7"/>
          <p:cNvSpPr/>
          <p:nvPr/>
        </p:nvSpPr>
        <p:spPr>
          <a:xfrm>
            <a:off x="274320" y="1316736"/>
            <a:ext cx="2834640" cy="347472"/>
          </a:xfrm>
          <a:prstGeom prst="rect">
            <a:avLst/>
          </a:prstGeom>
          <a:solidFill>
            <a:srgbClr val="1A6B3A"/>
          </a:solidFill>
          <a:ln/>
        </p:spPr>
      </p:sp>
      <p:sp>
        <p:nvSpPr>
          <p:cNvPr id="10" name="Text 8"/>
          <p:cNvSpPr/>
          <p:nvPr/>
        </p:nvSpPr>
        <p:spPr>
          <a:xfrm>
            <a:off x="365760" y="1316736"/>
            <a:ext cx="2651760" cy="347472"/>
          </a:xfrm>
          <a:prstGeom prst="rect">
            <a:avLst/>
          </a:prstGeom>
          <a:noFill/>
          <a:ln/>
        </p:spPr>
        <p:txBody>
          <a:bodyPr wrap="square" lIns="0" tIns="0" rIns="0" bIns="0" rtlCol="0" anchor="ctr"/>
          <a:lstStyle/>
          <a:p>
            <a:pPr indent="0" marL="0">
              <a:buNone/>
            </a:pPr>
            <a:r>
              <a:rPr lang="en-US" sz="1000" b="1" dirty="0">
                <a:solidFill>
                  <a:srgbClr val="FFFFFF"/>
                </a:solidFill>
              </a:rPr>
              <a:t>What is a Gold Forward?</a:t>
            </a:r>
            <a:endParaRPr lang="en-US" sz="1000" dirty="0"/>
          </a:p>
        </p:txBody>
      </p:sp>
      <p:sp>
        <p:nvSpPr>
          <p:cNvPr id="11" name="Text 9"/>
          <p:cNvSpPr/>
          <p:nvPr/>
        </p:nvSpPr>
        <p:spPr>
          <a:xfrm>
            <a:off x="365760" y="1709928"/>
            <a:ext cx="2651760" cy="1719072"/>
          </a:xfrm>
          <a:prstGeom prst="rect">
            <a:avLst/>
          </a:prstGeom>
          <a:noFill/>
          <a:ln/>
        </p:spPr>
        <p:txBody>
          <a:bodyPr wrap="square" lIns="0" tIns="0" rIns="0" bIns="0" rtlCol="0" anchor="t"/>
          <a:lstStyle/>
          <a:p>
            <a:pPr indent="0" marL="0">
              <a:buNone/>
            </a:pPr>
            <a:r>
              <a:rPr lang="en-US" sz="880" dirty="0">
                <a:solidFill>
                  <a:srgbClr val="1A1A2E"/>
                </a:solidFill>
              </a:rPr>
              <a:t>A gold forward is an agreement to buy or sell a fixed quantity of gold at a pre-agreed price on a future date.</a:t>
            </a:r>
            <a:endParaRPr lang="en-US" sz="880" dirty="0"/>
          </a:p>
          <a:p>
            <a:pPr indent="0" marL="0">
              <a:buNone/>
            </a:pPr>
            <a:endParaRPr lang="en-US" sz="880" dirty="0"/>
          </a:p>
          <a:p>
            <a:pPr indent="0" marL="0">
              <a:buNone/>
            </a:pPr>
            <a:r>
              <a:rPr lang="en-US" sz="880" dirty="0">
                <a:solidFill>
                  <a:srgbClr val="1A1A2E"/>
                </a:solidFill>
              </a:rPr>
              <a:t>Risk drivers for the bank (seller of gold forward):</a:t>
            </a:r>
            <a:endParaRPr lang="en-US" sz="880" dirty="0"/>
          </a:p>
          <a:p>
            <a:pPr indent="0" marL="0">
              <a:buNone/>
            </a:pPr>
            <a:r>
              <a:rPr lang="en-US" sz="880" dirty="0">
                <a:solidFill>
                  <a:srgbClr val="1A1A2E"/>
                </a:solidFill>
              </a:rPr>
              <a:t>• Gold price risk: if gold price rises, the bank must deliver at the lower agreed price — a loss</a:t>
            </a:r>
            <a:endParaRPr lang="en-US" sz="880" dirty="0"/>
          </a:p>
          <a:p>
            <a:pPr indent="0" marL="0">
              <a:buNone/>
            </a:pPr>
            <a:r>
              <a:rPr lang="en-US" sz="880" dirty="0">
                <a:solidFill>
                  <a:srgbClr val="1A1A2E"/>
                </a:solidFill>
              </a:rPr>
              <a:t>• FX risk: gold is priced in USD; if bank books in another currency, FX moves create additional risk</a:t>
            </a:r>
            <a:endParaRPr lang="en-US" sz="880" dirty="0"/>
          </a:p>
          <a:p>
            <a:pPr indent="0" marL="0">
              <a:buNone/>
            </a:pPr>
            <a:r>
              <a:rPr lang="en-US" sz="880" dirty="0">
                <a:solidFill>
                  <a:srgbClr val="1A1A2E"/>
                </a:solidFill>
              </a:rPr>
              <a:t>• Counterparty credit risk: if the buyer (BBB corporate) defaults before delivery, the bank loses the MTM gain</a:t>
            </a:r>
            <a:endParaRPr lang="en-US" sz="880" dirty="0"/>
          </a:p>
          <a:p>
            <a:pPr indent="0" marL="0">
              <a:buNone/>
            </a:pPr>
            <a:endParaRPr lang="en-US" sz="880" dirty="0"/>
          </a:p>
          <a:p>
            <a:pPr indent="0" marL="0">
              <a:buNone/>
            </a:pPr>
            <a:r>
              <a:rPr lang="en-US" sz="880" dirty="0">
                <a:solidFill>
                  <a:srgbClr val="1A1A2E"/>
                </a:solidFill>
              </a:rPr>
              <a:t>Gold is treated as a commodity under Basel, not as a currency — though its behaviour is more FX-like than industrial commodities.</a:t>
            </a:r>
            <a:endParaRPr lang="en-US" sz="880" dirty="0"/>
          </a:p>
        </p:txBody>
      </p:sp>
      <p:sp>
        <p:nvSpPr>
          <p:cNvPr id="12" name="Shape 10"/>
          <p:cNvSpPr/>
          <p:nvPr/>
        </p:nvSpPr>
        <p:spPr>
          <a:xfrm>
            <a:off x="3337560" y="1316736"/>
            <a:ext cx="1371600" cy="21762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1"/>
          <p:cNvSpPr/>
          <p:nvPr/>
        </p:nvSpPr>
        <p:spPr>
          <a:xfrm>
            <a:off x="3337560" y="1316736"/>
            <a:ext cx="1371600" cy="347472"/>
          </a:xfrm>
          <a:prstGeom prst="rect">
            <a:avLst/>
          </a:prstGeom>
          <a:solidFill>
            <a:srgbClr val="8899AA"/>
          </a:solidFill>
          <a:ln/>
        </p:spPr>
      </p:sp>
      <p:sp>
        <p:nvSpPr>
          <p:cNvPr id="14" name="Text 12"/>
          <p:cNvSpPr/>
          <p:nvPr/>
        </p:nvSpPr>
        <p:spPr>
          <a:xfrm>
            <a:off x="3392424"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a:t>
            </a:r>
            <a:endParaRPr lang="en-US" sz="1000" dirty="0"/>
          </a:p>
        </p:txBody>
      </p:sp>
      <p:sp>
        <p:nvSpPr>
          <p:cNvPr id="15" name="Text 13"/>
          <p:cNvSpPr/>
          <p:nvPr/>
        </p:nvSpPr>
        <p:spPr>
          <a:xfrm>
            <a:off x="3392424" y="1709928"/>
            <a:ext cx="1261872" cy="384048"/>
          </a:xfrm>
          <a:prstGeom prst="rect">
            <a:avLst/>
          </a:prstGeom>
          <a:noFill/>
          <a:ln/>
        </p:spPr>
        <p:txBody>
          <a:bodyPr wrap="square" lIns="0" tIns="0" rIns="0" bIns="0" rtlCol="0" anchor="ctr"/>
          <a:lstStyle/>
          <a:p>
            <a:pPr indent="0" marL="0">
              <a:buNone/>
            </a:pPr>
            <a:r>
              <a:rPr lang="en-US" sz="1300" b="1" dirty="0">
                <a:solidFill>
                  <a:srgbClr val="8899AA"/>
                </a:solidFill>
              </a:rPr>
              <a:t>$18,800</a:t>
            </a:r>
            <a:endParaRPr lang="en-US" sz="1300" dirty="0"/>
          </a:p>
        </p:txBody>
      </p:sp>
      <p:sp>
        <p:nvSpPr>
          <p:cNvPr id="16" name="Text 14"/>
          <p:cNvSpPr/>
          <p:nvPr/>
        </p:nvSpPr>
        <p:spPr>
          <a:xfrm>
            <a:off x="3392424" y="214884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CEM + RW</a:t>
            </a:r>
            <a:endParaRPr lang="en-US" sz="800" dirty="0"/>
          </a:p>
        </p:txBody>
      </p:sp>
      <p:sp>
        <p:nvSpPr>
          <p:cNvPr id="17" name="Text 15"/>
          <p:cNvSpPr/>
          <p:nvPr/>
        </p:nvSpPr>
        <p:spPr>
          <a:xfrm>
            <a:off x="3392424" y="2377440"/>
            <a:ext cx="1261872" cy="1051560"/>
          </a:xfrm>
          <a:prstGeom prst="rect">
            <a:avLst/>
          </a:prstGeom>
          <a:noFill/>
          <a:ln/>
        </p:spPr>
        <p:txBody>
          <a:bodyPr wrap="square" lIns="0" tIns="0" rIns="0" bIns="0" rtlCol="0" anchor="t"/>
          <a:lstStyle/>
          <a:p>
            <a:pPr indent="0" marL="0">
              <a:buNone/>
            </a:pPr>
            <a:r>
              <a:rPr lang="en-US" sz="800" dirty="0">
                <a:solidFill>
                  <a:srgbClr val="1A1A2E"/>
                </a:solidFill>
              </a:rPr>
              <a:t>At inception MTM = $0. Add-on: 15% × $2.35m (commodity &lt;1yr) = $352,500. CRE = $352,500. BBB corporate: 100% RW. Capital = $28,200. Market risk: none.</a:t>
            </a:r>
            <a:endParaRPr lang="en-US" sz="800" dirty="0"/>
          </a:p>
        </p:txBody>
      </p:sp>
      <p:sp>
        <p:nvSpPr>
          <p:cNvPr id="18" name="Shape 16"/>
          <p:cNvSpPr/>
          <p:nvPr/>
        </p:nvSpPr>
        <p:spPr>
          <a:xfrm>
            <a:off x="4791456" y="1316736"/>
            <a:ext cx="1371600" cy="21762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7"/>
          <p:cNvSpPr/>
          <p:nvPr/>
        </p:nvSpPr>
        <p:spPr>
          <a:xfrm>
            <a:off x="4791456" y="1316736"/>
            <a:ext cx="1371600" cy="347472"/>
          </a:xfrm>
          <a:prstGeom prst="rect">
            <a:avLst/>
          </a:prstGeom>
          <a:solidFill>
            <a:srgbClr val="0E6B8A"/>
          </a:solidFill>
          <a:ln/>
        </p:spPr>
      </p:sp>
      <p:sp>
        <p:nvSpPr>
          <p:cNvPr id="20" name="Text 18"/>
          <p:cNvSpPr/>
          <p:nvPr/>
        </p:nvSpPr>
        <p:spPr>
          <a:xfrm>
            <a:off x="4846320"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II</a:t>
            </a:r>
            <a:endParaRPr lang="en-US" sz="1000" dirty="0"/>
          </a:p>
        </p:txBody>
      </p:sp>
      <p:sp>
        <p:nvSpPr>
          <p:cNvPr id="21" name="Text 19"/>
          <p:cNvSpPr/>
          <p:nvPr/>
        </p:nvSpPr>
        <p:spPr>
          <a:xfrm>
            <a:off x="4846320" y="1709928"/>
            <a:ext cx="1261872" cy="384048"/>
          </a:xfrm>
          <a:prstGeom prst="rect">
            <a:avLst/>
          </a:prstGeom>
          <a:noFill/>
          <a:ln/>
        </p:spPr>
        <p:txBody>
          <a:bodyPr wrap="square" lIns="0" tIns="0" rIns="0" bIns="0" rtlCol="0" anchor="ctr"/>
          <a:lstStyle/>
          <a:p>
            <a:pPr indent="0" marL="0">
              <a:buNone/>
            </a:pPr>
            <a:r>
              <a:rPr lang="en-US" sz="1300" b="1" dirty="0">
                <a:solidFill>
                  <a:srgbClr val="0E6B8A"/>
                </a:solidFill>
              </a:rPr>
              <a:t>$28,200 SA</a:t>
            </a:r>
            <a:endParaRPr lang="en-US" sz="1300" dirty="0"/>
          </a:p>
          <a:p>
            <a:pPr indent="0" marL="0">
              <a:buNone/>
            </a:pPr>
            <a:r>
              <a:rPr lang="en-US" sz="1300" b="1" dirty="0">
                <a:solidFill>
                  <a:srgbClr val="0E6B8A"/>
                </a:solidFill>
              </a:rPr>
              <a:t>$17,000 IRB</a:t>
            </a:r>
            <a:endParaRPr lang="en-US" sz="1300" dirty="0"/>
          </a:p>
        </p:txBody>
      </p:sp>
      <p:sp>
        <p:nvSpPr>
          <p:cNvPr id="22" name="Text 20"/>
          <p:cNvSpPr/>
          <p:nvPr/>
        </p:nvSpPr>
        <p:spPr>
          <a:xfrm>
            <a:off x="4846320" y="214884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SA / A-IRB</a:t>
            </a:r>
            <a:endParaRPr lang="en-US" sz="800" dirty="0"/>
          </a:p>
        </p:txBody>
      </p:sp>
      <p:sp>
        <p:nvSpPr>
          <p:cNvPr id="23" name="Text 21"/>
          <p:cNvSpPr/>
          <p:nvPr/>
        </p:nvSpPr>
        <p:spPr>
          <a:xfrm>
            <a:off x="4846320" y="2377440"/>
            <a:ext cx="1261872" cy="1051560"/>
          </a:xfrm>
          <a:prstGeom prst="rect">
            <a:avLst/>
          </a:prstGeom>
          <a:noFill/>
          <a:ln/>
        </p:spPr>
        <p:txBody>
          <a:bodyPr wrap="square" lIns="0" tIns="0" rIns="0" bIns="0" rtlCol="0" anchor="t"/>
          <a:lstStyle/>
          <a:p>
            <a:pPr indent="0" marL="0">
              <a:buNone/>
            </a:pPr>
            <a:r>
              <a:rPr lang="en-US" sz="800" dirty="0">
                <a:solidFill>
                  <a:srgbClr val="1A1A2E"/>
                </a:solidFill>
              </a:rPr>
              <a:t>SA: 100% RW on CEM EAD. IRB: PD 0.20%, LGD 45% = ~40% capital saving. Market risk: commodity risk VaR if trading book — separate 8% position risk charge.</a:t>
            </a:r>
            <a:endParaRPr lang="en-US" sz="800" dirty="0"/>
          </a:p>
        </p:txBody>
      </p:sp>
      <p:sp>
        <p:nvSpPr>
          <p:cNvPr id="24" name="Shape 22"/>
          <p:cNvSpPr/>
          <p:nvPr/>
        </p:nvSpPr>
        <p:spPr>
          <a:xfrm>
            <a:off x="6245352" y="1316736"/>
            <a:ext cx="1371600" cy="21762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5" name="Shape 23"/>
          <p:cNvSpPr/>
          <p:nvPr/>
        </p:nvSpPr>
        <p:spPr>
          <a:xfrm>
            <a:off x="6245352" y="1316736"/>
            <a:ext cx="1371600" cy="347472"/>
          </a:xfrm>
          <a:prstGeom prst="rect">
            <a:avLst/>
          </a:prstGeom>
          <a:solidFill>
            <a:srgbClr val="1B3A6B"/>
          </a:solidFill>
          <a:ln/>
        </p:spPr>
      </p:sp>
      <p:sp>
        <p:nvSpPr>
          <p:cNvPr id="26" name="Text 24"/>
          <p:cNvSpPr/>
          <p:nvPr/>
        </p:nvSpPr>
        <p:spPr>
          <a:xfrm>
            <a:off x="6300216"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III</a:t>
            </a:r>
            <a:endParaRPr lang="en-US" sz="1000" dirty="0"/>
          </a:p>
        </p:txBody>
      </p:sp>
      <p:sp>
        <p:nvSpPr>
          <p:cNvPr id="27" name="Text 25"/>
          <p:cNvSpPr/>
          <p:nvPr/>
        </p:nvSpPr>
        <p:spPr>
          <a:xfrm>
            <a:off x="6300216" y="1709928"/>
            <a:ext cx="1261872" cy="384048"/>
          </a:xfrm>
          <a:prstGeom prst="rect">
            <a:avLst/>
          </a:prstGeom>
          <a:noFill/>
          <a:ln/>
        </p:spPr>
        <p:txBody>
          <a:bodyPr wrap="square" lIns="0" tIns="0" rIns="0" bIns="0" rtlCol="0" anchor="ctr"/>
          <a:lstStyle/>
          <a:p>
            <a:pPr indent="0" marL="0">
              <a:buNone/>
            </a:pPr>
            <a:r>
              <a:rPr lang="en-US" sz="1300" b="1" dirty="0">
                <a:solidFill>
                  <a:srgbClr val="1B3A6B"/>
                </a:solidFill>
              </a:rPr>
              <a:t>$34,000+</a:t>
            </a:r>
            <a:endParaRPr lang="en-US" sz="1300" dirty="0"/>
          </a:p>
        </p:txBody>
      </p:sp>
      <p:sp>
        <p:nvSpPr>
          <p:cNvPr id="28" name="Text 26"/>
          <p:cNvSpPr/>
          <p:nvPr/>
        </p:nvSpPr>
        <p:spPr>
          <a:xfrm>
            <a:off x="6300216" y="214884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CEM + CVA</a:t>
            </a:r>
            <a:endParaRPr lang="en-US" sz="800" dirty="0"/>
          </a:p>
        </p:txBody>
      </p:sp>
      <p:sp>
        <p:nvSpPr>
          <p:cNvPr id="29" name="Text 27"/>
          <p:cNvSpPr/>
          <p:nvPr/>
        </p:nvSpPr>
        <p:spPr>
          <a:xfrm>
            <a:off x="6300216" y="2377440"/>
            <a:ext cx="1261872" cy="1051560"/>
          </a:xfrm>
          <a:prstGeom prst="rect">
            <a:avLst/>
          </a:prstGeom>
          <a:noFill/>
          <a:ln/>
        </p:spPr>
        <p:txBody>
          <a:bodyPr wrap="square" lIns="0" tIns="0" rIns="0" bIns="0" rtlCol="0" anchor="t"/>
          <a:lstStyle/>
          <a:p>
            <a:pPr indent="0" marL="0">
              <a:buNone/>
            </a:pPr>
            <a:r>
              <a:rPr lang="en-US" sz="800" dirty="0">
                <a:solidFill>
                  <a:srgbClr val="1A1A2E"/>
                </a:solidFill>
              </a:rPr>
              <a:t>CEM CCR unchanged.</a:t>
            </a:r>
            <a:endParaRPr lang="en-US" sz="800" dirty="0"/>
          </a:p>
          <a:p>
            <a:pPr indent="0" marL="0">
              <a:buNone/>
            </a:pPr>
            <a:r>
              <a:rPr lang="en-US" sz="800" dirty="0">
                <a:solidFill>
                  <a:srgbClr val="1A1A2E"/>
                </a:solidFill>
              </a:rPr>
              <a:t>CVA capital charge NEW: ~$6,000–$10,000 for BBB corporate at 3-month maturity.</a:t>
            </a:r>
            <a:endParaRPr lang="en-US" sz="800" dirty="0"/>
          </a:p>
          <a:p>
            <a:pPr indent="0" marL="0">
              <a:buNone/>
            </a:pPr>
            <a:r>
              <a:rPr lang="en-US" sz="800" dirty="0">
                <a:solidFill>
                  <a:srgbClr val="1A1A2E"/>
                </a:solidFill>
              </a:rPr>
              <a:t>SVaR if in trading book adds to market risk capital.</a:t>
            </a:r>
            <a:endParaRPr lang="en-US" sz="800" dirty="0"/>
          </a:p>
        </p:txBody>
      </p:sp>
      <p:sp>
        <p:nvSpPr>
          <p:cNvPr id="30" name="Shape 28"/>
          <p:cNvSpPr/>
          <p:nvPr/>
        </p:nvSpPr>
        <p:spPr>
          <a:xfrm>
            <a:off x="7699248" y="1316736"/>
            <a:ext cx="1371600" cy="2176272"/>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1" name="Shape 29"/>
          <p:cNvSpPr/>
          <p:nvPr/>
        </p:nvSpPr>
        <p:spPr>
          <a:xfrm>
            <a:off x="7699248" y="1316736"/>
            <a:ext cx="1371600" cy="347472"/>
          </a:xfrm>
          <a:prstGeom prst="rect">
            <a:avLst/>
          </a:prstGeom>
          <a:solidFill>
            <a:srgbClr val="C9A84C"/>
          </a:solidFill>
          <a:ln/>
        </p:spPr>
      </p:sp>
      <p:sp>
        <p:nvSpPr>
          <p:cNvPr id="32" name="Text 30"/>
          <p:cNvSpPr/>
          <p:nvPr/>
        </p:nvSpPr>
        <p:spPr>
          <a:xfrm>
            <a:off x="7754112" y="1316736"/>
            <a:ext cx="1261872" cy="347472"/>
          </a:xfrm>
          <a:prstGeom prst="rect">
            <a:avLst/>
          </a:prstGeom>
          <a:noFill/>
          <a:ln/>
        </p:spPr>
        <p:txBody>
          <a:bodyPr wrap="square" lIns="0" tIns="0" rIns="0" bIns="0" rtlCol="0" anchor="ctr"/>
          <a:lstStyle/>
          <a:p>
            <a:pPr indent="0" marL="0">
              <a:buNone/>
            </a:pPr>
            <a:r>
              <a:rPr lang="en-US" sz="1000" b="1" dirty="0">
                <a:solidFill>
                  <a:srgbClr val="FFFFFF"/>
                </a:solidFill>
              </a:rPr>
              <a:t>Basel IV</a:t>
            </a:r>
            <a:endParaRPr lang="en-US" sz="1000" dirty="0"/>
          </a:p>
        </p:txBody>
      </p:sp>
      <p:sp>
        <p:nvSpPr>
          <p:cNvPr id="33" name="Text 31"/>
          <p:cNvSpPr/>
          <p:nvPr/>
        </p:nvSpPr>
        <p:spPr>
          <a:xfrm>
            <a:off x="7754112" y="1709928"/>
            <a:ext cx="1261872" cy="384048"/>
          </a:xfrm>
          <a:prstGeom prst="rect">
            <a:avLst/>
          </a:prstGeom>
          <a:noFill/>
          <a:ln/>
        </p:spPr>
        <p:txBody>
          <a:bodyPr wrap="square" lIns="0" tIns="0" rIns="0" bIns="0" rtlCol="0" anchor="ctr"/>
          <a:lstStyle/>
          <a:p>
            <a:pPr indent="0" marL="0">
              <a:buNone/>
            </a:pPr>
            <a:r>
              <a:rPr lang="en-US" sz="1300" b="1" dirty="0">
                <a:solidFill>
                  <a:srgbClr val="C9A84C"/>
                </a:solidFill>
              </a:rPr>
              <a:t>$42,000+</a:t>
            </a:r>
            <a:endParaRPr lang="en-US" sz="1300" dirty="0"/>
          </a:p>
        </p:txBody>
      </p:sp>
      <p:sp>
        <p:nvSpPr>
          <p:cNvPr id="34" name="Text 32"/>
          <p:cNvSpPr/>
          <p:nvPr/>
        </p:nvSpPr>
        <p:spPr>
          <a:xfrm>
            <a:off x="7754112" y="2148840"/>
            <a:ext cx="1261872" cy="201168"/>
          </a:xfrm>
          <a:prstGeom prst="rect">
            <a:avLst/>
          </a:prstGeom>
          <a:noFill/>
          <a:ln/>
        </p:spPr>
        <p:txBody>
          <a:bodyPr wrap="square" lIns="0" tIns="0" rIns="0" bIns="0" rtlCol="0" anchor="ctr"/>
          <a:lstStyle/>
          <a:p>
            <a:pPr indent="0" marL="0">
              <a:buNone/>
            </a:pPr>
            <a:r>
              <a:rPr lang="en-US" sz="800" i="1" dirty="0">
                <a:solidFill>
                  <a:srgbClr val="8899AA"/>
                </a:solidFill>
              </a:rPr>
              <a:t>SA-CCR + FRTB</a:t>
            </a:r>
            <a:endParaRPr lang="en-US" sz="800" dirty="0"/>
          </a:p>
        </p:txBody>
      </p:sp>
      <p:sp>
        <p:nvSpPr>
          <p:cNvPr id="35" name="Text 33"/>
          <p:cNvSpPr/>
          <p:nvPr/>
        </p:nvSpPr>
        <p:spPr>
          <a:xfrm>
            <a:off x="7754112" y="2377440"/>
            <a:ext cx="1261872" cy="1051560"/>
          </a:xfrm>
          <a:prstGeom prst="rect">
            <a:avLst/>
          </a:prstGeom>
          <a:noFill/>
          <a:ln/>
        </p:spPr>
        <p:txBody>
          <a:bodyPr wrap="square" lIns="0" tIns="0" rIns="0" bIns="0" rtlCol="0" anchor="t"/>
          <a:lstStyle/>
          <a:p>
            <a:pPr indent="0" marL="0">
              <a:buNone/>
            </a:pPr>
            <a:r>
              <a:rPr lang="en-US" sz="800" dirty="0">
                <a:solidFill>
                  <a:srgbClr val="1A1A2E"/>
                </a:solidFill>
              </a:rPr>
              <a:t>SA-CCR: commodity supervisory factor 18% (precious metals). Adj notional $2.35m × MF. PFE add-on significant.</a:t>
            </a:r>
            <a:endParaRPr lang="en-US" sz="800" dirty="0"/>
          </a:p>
          <a:p>
            <a:pPr indent="0" marL="0">
              <a:buNone/>
            </a:pPr>
            <a:r>
              <a:rPr lang="en-US" sz="800" dirty="0">
                <a:solidFill>
                  <a:srgbClr val="1A1A2E"/>
                </a:solidFill>
              </a:rPr>
              <a:t>FRTB: commodity risk factor. 20-day LH for gold.</a:t>
            </a:r>
            <a:endParaRPr lang="en-US" sz="800" dirty="0"/>
          </a:p>
          <a:p>
            <a:pPr indent="0" marL="0">
              <a:buNone/>
            </a:pPr>
            <a:r>
              <a:rPr lang="en-US" sz="800" dirty="0">
                <a:solidFill>
                  <a:srgbClr val="1A1A2E"/>
                </a:solidFill>
              </a:rPr>
              <a:t>Output floor applies.</a:t>
            </a:r>
            <a:endParaRPr lang="en-US" sz="800" dirty="0"/>
          </a:p>
        </p:txBody>
      </p:sp>
      <p:graphicFrame>
        <p:nvGraphicFramePr>
          <p:cNvPr id="36" name="Chart 0" descr=""/>
          <p:cNvGraphicFramePr/>
          <p:nvPr/>
        </p:nvGraphicFramePr>
        <p:xfrm>
          <a:off x="274320" y="3584448"/>
          <a:ext cx="5029200" cy="1170432"/>
        </p:xfrm>
        <a:graphic xmlns:a="http://schemas.openxmlformats.org/drawingml/2006/main">
          <a:graphicData uri="http://schemas.openxmlformats.org/drawingml/2006/chart">
            <c:chart xmlns:c="http://schemas.openxmlformats.org/drawingml/2006/chart" r:id="rId1"/>
          </a:graphicData>
        </a:graphic>
      </p:graphicFrame>
      <p:sp>
        <p:nvSpPr>
          <p:cNvPr id="37" name="Shape 34"/>
          <p:cNvSpPr/>
          <p:nvPr/>
        </p:nvSpPr>
        <p:spPr>
          <a:xfrm>
            <a:off x="365760" y="4818888"/>
            <a:ext cx="8412480" cy="594360"/>
          </a:xfrm>
          <a:prstGeom prst="rect">
            <a:avLst/>
          </a:prstGeom>
          <a:solidFill>
            <a:srgbClr val="D6EAF8"/>
          </a:solidFill>
          <a:ln/>
        </p:spPr>
      </p:sp>
      <p:sp>
        <p:nvSpPr>
          <p:cNvPr id="38" name="Shape 35"/>
          <p:cNvSpPr/>
          <p:nvPr/>
        </p:nvSpPr>
        <p:spPr>
          <a:xfrm>
            <a:off x="365760" y="4818888"/>
            <a:ext cx="1005840" cy="594360"/>
          </a:xfrm>
          <a:prstGeom prst="rect">
            <a:avLst/>
          </a:prstGeom>
          <a:solidFill>
            <a:srgbClr val="1A6B3A"/>
          </a:solidFill>
          <a:ln/>
        </p:spPr>
      </p:sp>
      <p:sp>
        <p:nvSpPr>
          <p:cNvPr id="39" name="Text 36"/>
          <p:cNvSpPr/>
          <p:nvPr/>
        </p:nvSpPr>
        <p:spPr>
          <a:xfrm>
            <a:off x="365760" y="4818888"/>
            <a:ext cx="1005840" cy="594360"/>
          </a:xfrm>
          <a:prstGeom prst="rect">
            <a:avLst/>
          </a:prstGeom>
          <a:noFill/>
          <a:ln/>
        </p:spPr>
        <p:txBody>
          <a:bodyPr wrap="square" lIns="0" tIns="0" rIns="0" bIns="0" rtlCol="0" anchor="ctr"/>
          <a:lstStyle/>
          <a:p>
            <a:pPr algn="ctr" indent="0" marL="0">
              <a:buNone/>
            </a:pPr>
            <a:r>
              <a:rPr lang="en-US" sz="900" b="1" dirty="0">
                <a:solidFill>
                  <a:srgbClr val="FFFFFF"/>
                </a:solidFill>
              </a:rPr>
              <a:t>COMMODITY NOTE</a:t>
            </a:r>
            <a:endParaRPr lang="en-US" sz="900" dirty="0"/>
          </a:p>
        </p:txBody>
      </p:sp>
      <p:sp>
        <p:nvSpPr>
          <p:cNvPr id="40" name="Text 37"/>
          <p:cNvSpPr/>
          <p:nvPr/>
        </p:nvSpPr>
        <p:spPr>
          <a:xfrm>
            <a:off x="1417320" y="4818888"/>
            <a:ext cx="7223760" cy="594360"/>
          </a:xfrm>
          <a:prstGeom prst="rect">
            <a:avLst/>
          </a:prstGeom>
          <a:noFill/>
          <a:ln/>
        </p:spPr>
        <p:txBody>
          <a:bodyPr wrap="square" lIns="0" tIns="0" rIns="0" bIns="0" rtlCol="0" anchor="ctr"/>
          <a:lstStyle/>
          <a:p>
            <a:pPr indent="0" marL="0">
              <a:buNone/>
            </a:pPr>
            <a:r>
              <a:rPr lang="en-US" sz="1000" dirty="0">
                <a:solidFill>
                  <a:srgbClr val="1A1A2E"/>
                </a:solidFill>
              </a:rPr>
              <a:t>Basel treats precious metals as commodities with a supervisory factor of 18% under SA-CCR — the highest commodity category, reflecting gold's price volatility. Under FRTB, gold is a separate risk factor bucket within the commodity risk class.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Critical Self-Review</a:t>
            </a:r>
            <a:endParaRPr lang="en-US" sz="900" dirty="0"/>
          </a:p>
        </p:txBody>
      </p:sp>
      <p:sp>
        <p:nvSpPr>
          <p:cNvPr id="4" name="Shape 2"/>
          <p:cNvSpPr/>
          <p:nvPr/>
        </p:nvSpPr>
        <p:spPr>
          <a:xfrm>
            <a:off x="0" y="0"/>
            <a:ext cx="9144000" cy="658368"/>
          </a:xfrm>
          <a:prstGeom prst="rect">
            <a:avLst/>
          </a:prstGeom>
          <a:solidFill>
            <a:srgbClr val="8B0000"/>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Critical Self-Review: Errors Found &amp; Corrected</a:t>
            </a:r>
            <a:endParaRPr lang="en-US" sz="2200" dirty="0"/>
          </a:p>
        </p:txBody>
      </p:sp>
      <p:sp>
        <p:nvSpPr>
          <p:cNvPr id="6" name="Shape 4"/>
          <p:cNvSpPr/>
          <p:nvPr/>
        </p:nvSpPr>
        <p:spPr>
          <a:xfrm>
            <a:off x="256032" y="777240"/>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7" name="Shape 5"/>
          <p:cNvSpPr/>
          <p:nvPr/>
        </p:nvSpPr>
        <p:spPr>
          <a:xfrm>
            <a:off x="256032" y="777240"/>
            <a:ext cx="502920" cy="1298448"/>
          </a:xfrm>
          <a:prstGeom prst="rect">
            <a:avLst/>
          </a:prstGeom>
          <a:solidFill>
            <a:srgbClr val="8B0000"/>
          </a:solidFill>
          <a:ln/>
        </p:spPr>
      </p:sp>
      <p:sp>
        <p:nvSpPr>
          <p:cNvPr id="8" name="Text 6"/>
          <p:cNvSpPr/>
          <p:nvPr/>
        </p:nvSpPr>
        <p:spPr>
          <a:xfrm>
            <a:off x="256032" y="1097280"/>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9" name="Text 7"/>
          <p:cNvSpPr/>
          <p:nvPr/>
        </p:nvSpPr>
        <p:spPr>
          <a:xfrm>
            <a:off x="256032" y="1581912"/>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HIGH</a:t>
            </a:r>
            <a:endParaRPr lang="en-US" sz="700" dirty="0"/>
          </a:p>
        </p:txBody>
      </p:sp>
      <p:sp>
        <p:nvSpPr>
          <p:cNvPr id="10" name="Text 8"/>
          <p:cNvSpPr/>
          <p:nvPr/>
        </p:nvSpPr>
        <p:spPr>
          <a:xfrm>
            <a:off x="850392" y="850392"/>
            <a:ext cx="3474720" cy="274320"/>
          </a:xfrm>
          <a:prstGeom prst="rect">
            <a:avLst/>
          </a:prstGeom>
          <a:noFill/>
          <a:ln/>
        </p:spPr>
        <p:txBody>
          <a:bodyPr wrap="square" lIns="0" tIns="0" rIns="0" bIns="0" rtlCol="0" anchor="ctr"/>
          <a:lstStyle/>
          <a:p>
            <a:pPr indent="0" marL="0">
              <a:buNone/>
            </a:pPr>
            <a:r>
              <a:rPr lang="en-US" sz="1050" b="1" dirty="0">
                <a:solidFill>
                  <a:srgbClr val="8B0000"/>
                </a:solidFill>
              </a:rPr>
              <a:t>SA-CCR Attribution</a:t>
            </a:r>
            <a:endParaRPr lang="en-US" sz="1050" dirty="0"/>
          </a:p>
        </p:txBody>
      </p:sp>
      <p:sp>
        <p:nvSpPr>
          <p:cNvPr id="11" name="Text 9"/>
          <p:cNvSpPr/>
          <p:nvPr/>
        </p:nvSpPr>
        <p:spPr>
          <a:xfrm>
            <a:off x="850392" y="1124712"/>
            <a:ext cx="3474720" cy="877824"/>
          </a:xfrm>
          <a:prstGeom prst="rect">
            <a:avLst/>
          </a:prstGeom>
          <a:noFill/>
          <a:ln/>
        </p:spPr>
        <p:txBody>
          <a:bodyPr wrap="square" lIns="0" tIns="0" rIns="0" bIns="0" rtlCol="0" anchor="t"/>
          <a:lstStyle/>
          <a:p>
            <a:pPr indent="0" marL="0">
              <a:buNone/>
            </a:pPr>
            <a:r>
              <a:rPr lang="en-US" sz="900" dirty="0">
                <a:solidFill>
                  <a:srgbClr val="1A1A2E"/>
                </a:solidFill>
              </a:rPr>
              <a:t>Misassigned SA-CCR to Basel III. Corrected: finalised March 2014 — a Basel IV element. Basel III retained CEM and IMM.</a:t>
            </a:r>
            <a:endParaRPr lang="en-US" sz="900" dirty="0"/>
          </a:p>
        </p:txBody>
      </p:sp>
      <p:sp>
        <p:nvSpPr>
          <p:cNvPr id="12" name="Shape 10"/>
          <p:cNvSpPr/>
          <p:nvPr/>
        </p:nvSpPr>
        <p:spPr>
          <a:xfrm>
            <a:off x="256032" y="2167128"/>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3" name="Shape 11"/>
          <p:cNvSpPr/>
          <p:nvPr/>
        </p:nvSpPr>
        <p:spPr>
          <a:xfrm>
            <a:off x="256032" y="2167128"/>
            <a:ext cx="502920" cy="1298448"/>
          </a:xfrm>
          <a:prstGeom prst="rect">
            <a:avLst/>
          </a:prstGeom>
          <a:solidFill>
            <a:srgbClr val="8B0000"/>
          </a:solidFill>
          <a:ln/>
        </p:spPr>
      </p:sp>
      <p:sp>
        <p:nvSpPr>
          <p:cNvPr id="14" name="Text 12"/>
          <p:cNvSpPr/>
          <p:nvPr/>
        </p:nvSpPr>
        <p:spPr>
          <a:xfrm>
            <a:off x="256032" y="2487168"/>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15" name="Text 13"/>
          <p:cNvSpPr/>
          <p:nvPr/>
        </p:nvSpPr>
        <p:spPr>
          <a:xfrm>
            <a:off x="256032" y="2971800"/>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HIGH</a:t>
            </a:r>
            <a:endParaRPr lang="en-US" sz="700" dirty="0"/>
          </a:p>
        </p:txBody>
      </p:sp>
      <p:sp>
        <p:nvSpPr>
          <p:cNvPr id="16" name="Text 14"/>
          <p:cNvSpPr/>
          <p:nvPr/>
        </p:nvSpPr>
        <p:spPr>
          <a:xfrm>
            <a:off x="850392" y="2240280"/>
            <a:ext cx="3474720" cy="274320"/>
          </a:xfrm>
          <a:prstGeom prst="rect">
            <a:avLst/>
          </a:prstGeom>
          <a:noFill/>
          <a:ln/>
        </p:spPr>
        <p:txBody>
          <a:bodyPr wrap="square" lIns="0" tIns="0" rIns="0" bIns="0" rtlCol="0" anchor="ctr"/>
          <a:lstStyle/>
          <a:p>
            <a:pPr indent="0" marL="0">
              <a:buNone/>
            </a:pPr>
            <a:r>
              <a:rPr lang="en-US" sz="1050" b="1" dirty="0">
                <a:solidFill>
                  <a:srgbClr val="8B0000"/>
                </a:solidFill>
              </a:rPr>
              <a:t>Equity Index Specific Risk</a:t>
            </a:r>
            <a:endParaRPr lang="en-US" sz="1050" dirty="0"/>
          </a:p>
        </p:txBody>
      </p:sp>
      <p:sp>
        <p:nvSpPr>
          <p:cNvPr id="17" name="Text 15"/>
          <p:cNvSpPr/>
          <p:nvPr/>
        </p:nvSpPr>
        <p:spPr>
          <a:xfrm>
            <a:off x="850392" y="2514600"/>
            <a:ext cx="3474720" cy="877824"/>
          </a:xfrm>
          <a:prstGeom prst="rect">
            <a:avLst/>
          </a:prstGeom>
          <a:noFill/>
          <a:ln/>
        </p:spPr>
        <p:txBody>
          <a:bodyPr wrap="square" lIns="0" tIns="0" rIns="0" bIns="0" rtlCol="0" anchor="t"/>
          <a:lstStyle/>
          <a:p>
            <a:pPr indent="0" marL="0">
              <a:buNone/>
            </a:pPr>
            <a:r>
              <a:rPr lang="en-US" sz="900" dirty="0">
                <a:solidFill>
                  <a:srgbClr val="1A1A2E"/>
                </a:solidFill>
              </a:rPr>
              <a:t>Applied 8% specific risk to FTSE 100 index option. Corrected: diversified index = 0% specific risk. Only 8% general market risk applies.</a:t>
            </a:r>
            <a:endParaRPr lang="en-US" sz="900" dirty="0"/>
          </a:p>
        </p:txBody>
      </p:sp>
      <p:sp>
        <p:nvSpPr>
          <p:cNvPr id="18" name="Shape 16"/>
          <p:cNvSpPr/>
          <p:nvPr/>
        </p:nvSpPr>
        <p:spPr>
          <a:xfrm>
            <a:off x="256032" y="3557016"/>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19" name="Shape 17"/>
          <p:cNvSpPr/>
          <p:nvPr/>
        </p:nvSpPr>
        <p:spPr>
          <a:xfrm>
            <a:off x="256032" y="3557016"/>
            <a:ext cx="502920" cy="1298448"/>
          </a:xfrm>
          <a:prstGeom prst="rect">
            <a:avLst/>
          </a:prstGeom>
          <a:solidFill>
            <a:srgbClr val="D4770A"/>
          </a:solidFill>
          <a:ln/>
        </p:spPr>
      </p:sp>
      <p:sp>
        <p:nvSpPr>
          <p:cNvPr id="20" name="Text 18"/>
          <p:cNvSpPr/>
          <p:nvPr/>
        </p:nvSpPr>
        <p:spPr>
          <a:xfrm>
            <a:off x="256032" y="3877056"/>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21" name="Text 19"/>
          <p:cNvSpPr/>
          <p:nvPr/>
        </p:nvSpPr>
        <p:spPr>
          <a:xfrm>
            <a:off x="256032" y="4361688"/>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MED</a:t>
            </a:r>
            <a:endParaRPr lang="en-US" sz="700" dirty="0"/>
          </a:p>
        </p:txBody>
      </p:sp>
      <p:sp>
        <p:nvSpPr>
          <p:cNvPr id="22" name="Text 20"/>
          <p:cNvSpPr/>
          <p:nvPr/>
        </p:nvSpPr>
        <p:spPr>
          <a:xfrm>
            <a:off x="850392" y="3630168"/>
            <a:ext cx="3474720" cy="274320"/>
          </a:xfrm>
          <a:prstGeom prst="rect">
            <a:avLst/>
          </a:prstGeom>
          <a:noFill/>
          <a:ln/>
        </p:spPr>
        <p:txBody>
          <a:bodyPr wrap="square" lIns="0" tIns="0" rIns="0" bIns="0" rtlCol="0" anchor="ctr"/>
          <a:lstStyle/>
          <a:p>
            <a:pPr indent="0" marL="0">
              <a:buNone/>
            </a:pPr>
            <a:r>
              <a:rPr lang="en-US" sz="1050" b="1" dirty="0">
                <a:solidFill>
                  <a:srgbClr val="D4770A"/>
                </a:solidFill>
              </a:rPr>
              <a:t>SA-CCR Duration Formula</a:t>
            </a:r>
            <a:endParaRPr lang="en-US" sz="1050" dirty="0"/>
          </a:p>
        </p:txBody>
      </p:sp>
      <p:sp>
        <p:nvSpPr>
          <p:cNvPr id="23" name="Text 21"/>
          <p:cNvSpPr/>
          <p:nvPr/>
        </p:nvSpPr>
        <p:spPr>
          <a:xfrm>
            <a:off x="850392" y="3904488"/>
            <a:ext cx="3474720" cy="877824"/>
          </a:xfrm>
          <a:prstGeom prst="rect">
            <a:avLst/>
          </a:prstGeom>
          <a:noFill/>
          <a:ln/>
        </p:spPr>
        <p:txBody>
          <a:bodyPr wrap="square" lIns="0" tIns="0" rIns="0" bIns="0" rtlCol="0" anchor="t"/>
          <a:lstStyle/>
          <a:p>
            <a:pPr indent="0" marL="0">
              <a:buNone/>
            </a:pPr>
            <a:r>
              <a:rPr lang="en-US" sz="900" dirty="0">
                <a:solidFill>
                  <a:srgbClr val="1A1A2E"/>
                </a:solidFill>
              </a:rPr>
              <a:t>Used '0.85×ln(1+T)/T'. Corrected: SD = (exp(−0.05S) − exp(−0.05E)) / 0.05. For 5yr IRS: SD = 4.42yr.</a:t>
            </a:r>
            <a:endParaRPr lang="en-US" sz="900" dirty="0"/>
          </a:p>
        </p:txBody>
      </p:sp>
      <p:sp>
        <p:nvSpPr>
          <p:cNvPr id="24" name="Shape 22"/>
          <p:cNvSpPr/>
          <p:nvPr/>
        </p:nvSpPr>
        <p:spPr>
          <a:xfrm>
            <a:off x="4599432" y="777240"/>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25" name="Shape 23"/>
          <p:cNvSpPr/>
          <p:nvPr/>
        </p:nvSpPr>
        <p:spPr>
          <a:xfrm>
            <a:off x="4599432" y="777240"/>
            <a:ext cx="502920" cy="1298448"/>
          </a:xfrm>
          <a:prstGeom prst="rect">
            <a:avLst/>
          </a:prstGeom>
          <a:solidFill>
            <a:srgbClr val="0E6B8A"/>
          </a:solidFill>
          <a:ln/>
        </p:spPr>
      </p:sp>
      <p:sp>
        <p:nvSpPr>
          <p:cNvPr id="26" name="Text 24"/>
          <p:cNvSpPr/>
          <p:nvPr/>
        </p:nvSpPr>
        <p:spPr>
          <a:xfrm>
            <a:off x="4599432" y="1097280"/>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04</a:t>
            </a:r>
            <a:endParaRPr lang="en-US" sz="1600" dirty="0"/>
          </a:p>
        </p:txBody>
      </p:sp>
      <p:sp>
        <p:nvSpPr>
          <p:cNvPr id="27" name="Text 25"/>
          <p:cNvSpPr/>
          <p:nvPr/>
        </p:nvSpPr>
        <p:spPr>
          <a:xfrm>
            <a:off x="4599432" y="1581912"/>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LOW</a:t>
            </a:r>
            <a:endParaRPr lang="en-US" sz="700" dirty="0"/>
          </a:p>
        </p:txBody>
      </p:sp>
      <p:sp>
        <p:nvSpPr>
          <p:cNvPr id="28" name="Text 26"/>
          <p:cNvSpPr/>
          <p:nvPr/>
        </p:nvSpPr>
        <p:spPr>
          <a:xfrm>
            <a:off x="5193792" y="850392"/>
            <a:ext cx="3474720" cy="274320"/>
          </a:xfrm>
          <a:prstGeom prst="rect">
            <a:avLst/>
          </a:prstGeom>
          <a:noFill/>
          <a:ln/>
        </p:spPr>
        <p:txBody>
          <a:bodyPr wrap="square" lIns="0" tIns="0" rIns="0" bIns="0" rtlCol="0" anchor="ctr"/>
          <a:lstStyle/>
          <a:p>
            <a:pPr indent="0" marL="0">
              <a:buNone/>
            </a:pPr>
            <a:r>
              <a:rPr lang="en-US" sz="1050" b="1" dirty="0">
                <a:solidFill>
                  <a:srgbClr val="0E6B8A"/>
                </a:solidFill>
              </a:rPr>
              <a:t>BCBS Founding Members</a:t>
            </a:r>
            <a:endParaRPr lang="en-US" sz="1050" dirty="0"/>
          </a:p>
        </p:txBody>
      </p:sp>
      <p:sp>
        <p:nvSpPr>
          <p:cNvPr id="29" name="Text 27"/>
          <p:cNvSpPr/>
          <p:nvPr/>
        </p:nvSpPr>
        <p:spPr>
          <a:xfrm>
            <a:off x="5193792" y="1124712"/>
            <a:ext cx="3474720" cy="877824"/>
          </a:xfrm>
          <a:prstGeom prst="rect">
            <a:avLst/>
          </a:prstGeom>
          <a:noFill/>
          <a:ln/>
        </p:spPr>
        <p:txBody>
          <a:bodyPr wrap="square" lIns="0" tIns="0" rIns="0" bIns="0" rtlCol="0" anchor="t"/>
          <a:lstStyle/>
          <a:p>
            <a:pPr indent="0" marL="0">
              <a:buNone/>
            </a:pPr>
            <a:r>
              <a:rPr lang="en-US" sz="900" dirty="0">
                <a:solidFill>
                  <a:srgbClr val="1A1A2E"/>
                </a:solidFill>
              </a:rPr>
              <a:t>Stated '14 countries'. Corrected: 12 member jurisdictions (Belgium, Canada, France, Germany, Italy, Japan, Luxembourg, Netherlands, Sweden, Switzerland, UK, US).</a:t>
            </a:r>
            <a:endParaRPr lang="en-US" sz="900" dirty="0"/>
          </a:p>
        </p:txBody>
      </p:sp>
      <p:sp>
        <p:nvSpPr>
          <p:cNvPr id="30" name="Shape 28"/>
          <p:cNvSpPr/>
          <p:nvPr/>
        </p:nvSpPr>
        <p:spPr>
          <a:xfrm>
            <a:off x="4599432" y="2167128"/>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1" name="Shape 29"/>
          <p:cNvSpPr/>
          <p:nvPr/>
        </p:nvSpPr>
        <p:spPr>
          <a:xfrm>
            <a:off x="4599432" y="2167128"/>
            <a:ext cx="502920" cy="1298448"/>
          </a:xfrm>
          <a:prstGeom prst="rect">
            <a:avLst/>
          </a:prstGeom>
          <a:solidFill>
            <a:srgbClr val="0E6B8A"/>
          </a:solidFill>
          <a:ln/>
        </p:spPr>
      </p:sp>
      <p:sp>
        <p:nvSpPr>
          <p:cNvPr id="32" name="Text 30"/>
          <p:cNvSpPr/>
          <p:nvPr/>
        </p:nvSpPr>
        <p:spPr>
          <a:xfrm>
            <a:off x="4599432" y="2487168"/>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05</a:t>
            </a:r>
            <a:endParaRPr lang="en-US" sz="1600" dirty="0"/>
          </a:p>
        </p:txBody>
      </p:sp>
      <p:sp>
        <p:nvSpPr>
          <p:cNvPr id="33" name="Text 31"/>
          <p:cNvSpPr/>
          <p:nvPr/>
        </p:nvSpPr>
        <p:spPr>
          <a:xfrm>
            <a:off x="4599432" y="2971800"/>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LOW</a:t>
            </a:r>
            <a:endParaRPr lang="en-US" sz="700" dirty="0"/>
          </a:p>
        </p:txBody>
      </p:sp>
      <p:sp>
        <p:nvSpPr>
          <p:cNvPr id="34" name="Text 32"/>
          <p:cNvSpPr/>
          <p:nvPr/>
        </p:nvSpPr>
        <p:spPr>
          <a:xfrm>
            <a:off x="5193792" y="2240280"/>
            <a:ext cx="3474720" cy="274320"/>
          </a:xfrm>
          <a:prstGeom prst="rect">
            <a:avLst/>
          </a:prstGeom>
          <a:noFill/>
          <a:ln/>
        </p:spPr>
        <p:txBody>
          <a:bodyPr wrap="square" lIns="0" tIns="0" rIns="0" bIns="0" rtlCol="0" anchor="ctr"/>
          <a:lstStyle/>
          <a:p>
            <a:pPr indent="0" marL="0">
              <a:buNone/>
            </a:pPr>
            <a:r>
              <a:rPr lang="en-US" sz="1050" b="1" dirty="0">
                <a:solidFill>
                  <a:srgbClr val="0E6B8A"/>
                </a:solidFill>
              </a:rPr>
              <a:t>CCyB Release Mechanism</a:t>
            </a:r>
            <a:endParaRPr lang="en-US" sz="1050" dirty="0"/>
          </a:p>
        </p:txBody>
      </p:sp>
      <p:sp>
        <p:nvSpPr>
          <p:cNvPr id="35" name="Text 33"/>
          <p:cNvSpPr/>
          <p:nvPr/>
        </p:nvSpPr>
        <p:spPr>
          <a:xfrm>
            <a:off x="5193792" y="2514600"/>
            <a:ext cx="3474720" cy="877824"/>
          </a:xfrm>
          <a:prstGeom prst="rect">
            <a:avLst/>
          </a:prstGeom>
          <a:noFill/>
          <a:ln/>
        </p:spPr>
        <p:txBody>
          <a:bodyPr wrap="square" lIns="0" tIns="0" rIns="0" bIns="0" rtlCol="0" anchor="t"/>
          <a:lstStyle/>
          <a:p>
            <a:pPr indent="0" marL="0">
              <a:buNone/>
            </a:pPr>
            <a:r>
              <a:rPr lang="en-US" sz="900" dirty="0">
                <a:solidFill>
                  <a:srgbClr val="1A1A2E"/>
                </a:solidFill>
              </a:rPr>
              <a:t>Described only in terms of build-up. Corrected: the release mechanism in downturns is equally important to the macro-prudential design.</a:t>
            </a:r>
            <a:endParaRPr lang="en-US" sz="900" dirty="0"/>
          </a:p>
        </p:txBody>
      </p:sp>
      <p:sp>
        <p:nvSpPr>
          <p:cNvPr id="36" name="Shape 34"/>
          <p:cNvSpPr/>
          <p:nvPr/>
        </p:nvSpPr>
        <p:spPr>
          <a:xfrm>
            <a:off x="4599432" y="3557016"/>
            <a:ext cx="4160520" cy="1298448"/>
          </a:xfrm>
          <a:prstGeom prst="rect">
            <a:avLst/>
          </a:prstGeom>
          <a:solidFill>
            <a:srgbClr val="FFFFFF"/>
          </a:solidFill>
          <a:ln/>
          <a:effectLst>
            <a:outerShdw sx="100000" sy="100000" kx="0" ky="0" algn="bl" rotWithShape="0" blurRad="101600" dist="38100" dir="8100000">
              <a:srgbClr val="000000">
                <a:alpha val="18000"/>
              </a:srgbClr>
            </a:outerShdw>
          </a:effectLst>
        </p:spPr>
      </p:sp>
      <p:sp>
        <p:nvSpPr>
          <p:cNvPr id="37" name="Shape 35"/>
          <p:cNvSpPr/>
          <p:nvPr/>
        </p:nvSpPr>
        <p:spPr>
          <a:xfrm>
            <a:off x="4599432" y="3557016"/>
            <a:ext cx="502920" cy="1298448"/>
          </a:xfrm>
          <a:prstGeom prst="rect">
            <a:avLst/>
          </a:prstGeom>
          <a:solidFill>
            <a:srgbClr val="0E6B8A"/>
          </a:solidFill>
          <a:ln/>
        </p:spPr>
      </p:sp>
      <p:sp>
        <p:nvSpPr>
          <p:cNvPr id="38" name="Text 36"/>
          <p:cNvSpPr/>
          <p:nvPr/>
        </p:nvSpPr>
        <p:spPr>
          <a:xfrm>
            <a:off x="4599432" y="3877056"/>
            <a:ext cx="502920" cy="457200"/>
          </a:xfrm>
          <a:prstGeom prst="rect">
            <a:avLst/>
          </a:prstGeom>
          <a:noFill/>
          <a:ln/>
        </p:spPr>
        <p:txBody>
          <a:bodyPr wrap="square" lIns="0" tIns="0" rIns="0" bIns="0" rtlCol="0" anchor="ctr"/>
          <a:lstStyle/>
          <a:p>
            <a:pPr algn="ctr" indent="0" marL="0">
              <a:buNone/>
            </a:pPr>
            <a:r>
              <a:rPr lang="en-US" sz="1600" b="1" dirty="0">
                <a:solidFill>
                  <a:srgbClr val="FFFFFF"/>
                </a:solidFill>
              </a:rPr>
              <a:t>06</a:t>
            </a:r>
            <a:endParaRPr lang="en-US" sz="1600" dirty="0"/>
          </a:p>
        </p:txBody>
      </p:sp>
      <p:sp>
        <p:nvSpPr>
          <p:cNvPr id="39" name="Text 37"/>
          <p:cNvSpPr/>
          <p:nvPr/>
        </p:nvSpPr>
        <p:spPr>
          <a:xfrm>
            <a:off x="4599432" y="4361688"/>
            <a:ext cx="502920" cy="274320"/>
          </a:xfrm>
          <a:prstGeom prst="rect">
            <a:avLst/>
          </a:prstGeom>
          <a:noFill/>
          <a:ln/>
        </p:spPr>
        <p:txBody>
          <a:bodyPr wrap="square" lIns="0" tIns="0" rIns="0" bIns="0" rtlCol="0" anchor="ctr"/>
          <a:lstStyle/>
          <a:p>
            <a:pPr algn="ctr" indent="0" marL="0">
              <a:buNone/>
            </a:pPr>
            <a:r>
              <a:rPr lang="en-US" sz="700" dirty="0">
                <a:solidFill>
                  <a:srgbClr val="FFFFFF"/>
                </a:solidFill>
              </a:rPr>
              <a:t>LOW</a:t>
            </a:r>
            <a:endParaRPr lang="en-US" sz="700" dirty="0"/>
          </a:p>
        </p:txBody>
      </p:sp>
      <p:sp>
        <p:nvSpPr>
          <p:cNvPr id="40" name="Text 38"/>
          <p:cNvSpPr/>
          <p:nvPr/>
        </p:nvSpPr>
        <p:spPr>
          <a:xfrm>
            <a:off x="5193792" y="3630168"/>
            <a:ext cx="3474720" cy="274320"/>
          </a:xfrm>
          <a:prstGeom prst="rect">
            <a:avLst/>
          </a:prstGeom>
          <a:noFill/>
          <a:ln/>
        </p:spPr>
        <p:txBody>
          <a:bodyPr wrap="square" lIns="0" tIns="0" rIns="0" bIns="0" rtlCol="0" anchor="ctr"/>
          <a:lstStyle/>
          <a:p>
            <a:pPr indent="0" marL="0">
              <a:buNone/>
            </a:pPr>
            <a:r>
              <a:rPr lang="en-US" sz="1050" b="1" dirty="0">
                <a:solidFill>
                  <a:srgbClr val="0E6B8A"/>
                </a:solidFill>
              </a:rPr>
              <a:t>Market Risk Capital Formula</a:t>
            </a:r>
            <a:endParaRPr lang="en-US" sz="1050" dirty="0"/>
          </a:p>
        </p:txBody>
      </p:sp>
      <p:sp>
        <p:nvSpPr>
          <p:cNvPr id="41" name="Text 39"/>
          <p:cNvSpPr/>
          <p:nvPr/>
        </p:nvSpPr>
        <p:spPr>
          <a:xfrm>
            <a:off x="5193792" y="3904488"/>
            <a:ext cx="3474720" cy="877824"/>
          </a:xfrm>
          <a:prstGeom prst="rect">
            <a:avLst/>
          </a:prstGeom>
          <a:noFill/>
          <a:ln/>
        </p:spPr>
        <p:txBody>
          <a:bodyPr wrap="square" lIns="0" tIns="0" rIns="0" bIns="0" rtlCol="0" anchor="t"/>
          <a:lstStyle/>
          <a:p>
            <a:pPr indent="0" marL="0">
              <a:buNone/>
            </a:pPr>
            <a:r>
              <a:rPr lang="en-US" sz="900" dirty="0">
                <a:solidFill>
                  <a:srgbClr val="1A1A2E"/>
                </a:solidFill>
              </a:rPr>
              <a:t>Expression was ambiguous. Corrected: capital = max(VaR_{t-1}, mc × avg₆₀VaR), VaR on 10-day basis. mc ≥ 3.0 rising to 4.0 with exceptions.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The Knowledge Repository</a:t>
            </a:r>
            <a:endParaRPr lang="en-US" sz="900" dirty="0"/>
          </a:p>
        </p:txBody>
      </p:sp>
      <p:sp>
        <p:nvSpPr>
          <p:cNvPr id="4" name="Shape 2"/>
          <p:cNvSpPr/>
          <p:nvPr/>
        </p:nvSpPr>
        <p:spPr>
          <a:xfrm>
            <a:off x="0" y="0"/>
            <a:ext cx="164592" cy="5143500"/>
          </a:xfrm>
          <a:prstGeom prst="rect">
            <a:avLst/>
          </a:prstGeom>
          <a:solidFill>
            <a:srgbClr val="C9A84C"/>
          </a:solidFill>
          <a:ln/>
        </p:spPr>
      </p:sp>
      <p:sp>
        <p:nvSpPr>
          <p:cNvPr id="5" name="Text 3"/>
          <p:cNvSpPr/>
          <p:nvPr/>
        </p:nvSpPr>
        <p:spPr>
          <a:xfrm>
            <a:off x="365760" y="182880"/>
            <a:ext cx="8412480" cy="548640"/>
          </a:xfrm>
          <a:prstGeom prst="rect">
            <a:avLst/>
          </a:prstGeom>
          <a:noFill/>
          <a:ln/>
        </p:spPr>
        <p:txBody>
          <a:bodyPr wrap="square" lIns="0" tIns="0" rIns="0" bIns="0" rtlCol="0" anchor="ctr"/>
          <a:lstStyle/>
          <a:p>
            <a:pPr indent="0" marL="0">
              <a:buNone/>
            </a:pPr>
            <a:r>
              <a:rPr lang="en-US" sz="2600" b="1" dirty="0">
                <a:solidFill>
                  <a:srgbClr val="FFFFFF"/>
                </a:solidFill>
              </a:rPr>
              <a:t>Building an Industry Knowledge Repository</a:t>
            </a:r>
            <a:endParaRPr lang="en-US" sz="2600" dirty="0"/>
          </a:p>
        </p:txBody>
      </p:sp>
      <p:sp>
        <p:nvSpPr>
          <p:cNvPr id="6" name="Text 4"/>
          <p:cNvSpPr/>
          <p:nvPr/>
        </p:nvSpPr>
        <p:spPr>
          <a:xfrm>
            <a:off x="365760" y="749808"/>
            <a:ext cx="8412480" cy="320040"/>
          </a:xfrm>
          <a:prstGeom prst="rect">
            <a:avLst/>
          </a:prstGeom>
          <a:noFill/>
          <a:ln/>
        </p:spPr>
        <p:txBody>
          <a:bodyPr wrap="square" lIns="0" tIns="0" rIns="0" bIns="0" rtlCol="0" anchor="ctr"/>
          <a:lstStyle/>
          <a:p>
            <a:pPr indent="0" marL="0">
              <a:buNone/>
            </a:pPr>
            <a:r>
              <a:rPr lang="en-US" sz="1300" i="1" dirty="0">
                <a:solidFill>
                  <a:srgbClr val="C9A84C"/>
                </a:solidFill>
              </a:rPr>
              <a:t>Making practitioner expertise accessible to the next generation — free, structured, and continuously updated</a:t>
            </a:r>
            <a:endParaRPr lang="en-US" sz="1300" dirty="0"/>
          </a:p>
        </p:txBody>
      </p:sp>
      <p:sp>
        <p:nvSpPr>
          <p:cNvPr id="7" name="Shape 5"/>
          <p:cNvSpPr/>
          <p:nvPr/>
        </p:nvSpPr>
        <p:spPr>
          <a:xfrm>
            <a:off x="347472" y="1170432"/>
            <a:ext cx="2743200" cy="3246120"/>
          </a:xfrm>
          <a:prstGeom prst="rect">
            <a:avLst/>
          </a:prstGeom>
          <a:solidFill>
            <a:srgbClr val="1A2F55"/>
          </a:solidFill>
          <a:ln/>
          <a:effectLst>
            <a:outerShdw sx="100000" sy="100000" kx="0" ky="0" algn="bl" rotWithShape="0" blurRad="101600" dist="38100" dir="8100000">
              <a:srgbClr val="000000">
                <a:alpha val="18000"/>
              </a:srgbClr>
            </a:outerShdw>
          </a:effectLst>
        </p:spPr>
      </p:sp>
      <p:sp>
        <p:nvSpPr>
          <p:cNvPr id="8" name="Shape 6"/>
          <p:cNvSpPr/>
          <p:nvPr/>
        </p:nvSpPr>
        <p:spPr>
          <a:xfrm>
            <a:off x="347472" y="1170432"/>
            <a:ext cx="2743200" cy="64008"/>
          </a:xfrm>
          <a:prstGeom prst="rect">
            <a:avLst/>
          </a:prstGeom>
          <a:solidFill>
            <a:srgbClr val="0E6B8A"/>
          </a:solidFill>
          <a:ln/>
        </p:spPr>
      </p:sp>
      <p:sp>
        <p:nvSpPr>
          <p:cNvPr id="9" name="Text 7"/>
          <p:cNvSpPr/>
          <p:nvPr/>
        </p:nvSpPr>
        <p:spPr>
          <a:xfrm>
            <a:off x="457200" y="1261872"/>
            <a:ext cx="2523744" cy="274320"/>
          </a:xfrm>
          <a:prstGeom prst="rect">
            <a:avLst/>
          </a:prstGeom>
          <a:noFill/>
          <a:ln/>
        </p:spPr>
        <p:txBody>
          <a:bodyPr wrap="square" lIns="0" tIns="0" rIns="0" bIns="0" rtlCol="0" anchor="ctr"/>
          <a:lstStyle/>
          <a:p>
            <a:pPr indent="0" marL="0">
              <a:buNone/>
            </a:pPr>
            <a:r>
              <a:rPr lang="en-US" sz="1100" b="1" spc="200" kern="0" dirty="0">
                <a:solidFill>
                  <a:srgbClr val="0E6B8A"/>
                </a:solidFill>
              </a:rPr>
              <a:t>THE PROBLEM</a:t>
            </a:r>
            <a:endParaRPr lang="en-US" sz="1100" dirty="0"/>
          </a:p>
        </p:txBody>
      </p:sp>
      <p:sp>
        <p:nvSpPr>
          <p:cNvPr id="10" name="Text 8"/>
          <p:cNvSpPr/>
          <p:nvPr/>
        </p:nvSpPr>
        <p:spPr>
          <a:xfrm>
            <a:off x="457200" y="1591056"/>
            <a:ext cx="2523744" cy="2743200"/>
          </a:xfrm>
          <a:prstGeom prst="rect">
            <a:avLst/>
          </a:prstGeom>
          <a:noFill/>
          <a:ln/>
        </p:spPr>
        <p:txBody>
          <a:bodyPr wrap="square" lIns="0" tIns="0" rIns="0" bIns="0" rtlCol="0" anchor="t"/>
          <a:lstStyle/>
          <a:p>
            <a:pPr indent="0" marL="0">
              <a:buNone/>
            </a:pPr>
            <a:r>
              <a:rPr lang="en-US" sz="1050" dirty="0">
                <a:solidFill>
                  <a:srgbClr val="D6EAF8"/>
                </a:solidFill>
              </a:rPr>
              <a:t>Institutional knowledge lives in the heads of experienced practitioners. BIS papers are dense. Online summaries skip the nuance. Juniors entering Reg-Tech, Credit Risk, or Derivatives have no accessible practitioner-grade reference.</a:t>
            </a:r>
            <a:endParaRPr lang="en-US" sz="1050" dirty="0"/>
          </a:p>
        </p:txBody>
      </p:sp>
      <p:sp>
        <p:nvSpPr>
          <p:cNvPr id="11" name="Shape 9"/>
          <p:cNvSpPr/>
          <p:nvPr/>
        </p:nvSpPr>
        <p:spPr>
          <a:xfrm>
            <a:off x="3227832" y="1170432"/>
            <a:ext cx="2743200" cy="3246120"/>
          </a:xfrm>
          <a:prstGeom prst="rect">
            <a:avLst/>
          </a:prstGeom>
          <a:solidFill>
            <a:srgbClr val="1A2F55"/>
          </a:solidFill>
          <a:ln/>
          <a:effectLst>
            <a:outerShdw sx="100000" sy="100000" kx="0" ky="0" algn="bl" rotWithShape="0" blurRad="101600" dist="38100" dir="8100000">
              <a:srgbClr val="000000">
                <a:alpha val="18000"/>
              </a:srgbClr>
            </a:outerShdw>
          </a:effectLst>
        </p:spPr>
      </p:sp>
      <p:sp>
        <p:nvSpPr>
          <p:cNvPr id="12" name="Shape 10"/>
          <p:cNvSpPr/>
          <p:nvPr/>
        </p:nvSpPr>
        <p:spPr>
          <a:xfrm>
            <a:off x="3227832" y="1170432"/>
            <a:ext cx="2743200" cy="64008"/>
          </a:xfrm>
          <a:prstGeom prst="rect">
            <a:avLst/>
          </a:prstGeom>
          <a:solidFill>
            <a:srgbClr val="C9A84C"/>
          </a:solidFill>
          <a:ln/>
        </p:spPr>
      </p:sp>
      <p:sp>
        <p:nvSpPr>
          <p:cNvPr id="13" name="Text 11"/>
          <p:cNvSpPr/>
          <p:nvPr/>
        </p:nvSpPr>
        <p:spPr>
          <a:xfrm>
            <a:off x="3337560" y="1261872"/>
            <a:ext cx="2523744" cy="274320"/>
          </a:xfrm>
          <a:prstGeom prst="rect">
            <a:avLst/>
          </a:prstGeom>
          <a:noFill/>
          <a:ln/>
        </p:spPr>
        <p:txBody>
          <a:bodyPr wrap="square" lIns="0" tIns="0" rIns="0" bIns="0" rtlCol="0" anchor="ctr"/>
          <a:lstStyle/>
          <a:p>
            <a:pPr indent="0" marL="0">
              <a:buNone/>
            </a:pPr>
            <a:r>
              <a:rPr lang="en-US" sz="1100" b="1" spc="200" kern="0" dirty="0">
                <a:solidFill>
                  <a:srgbClr val="C9A84C"/>
                </a:solidFill>
              </a:rPr>
              <a:t>THE APPROACH</a:t>
            </a:r>
            <a:endParaRPr lang="en-US" sz="1100" dirty="0"/>
          </a:p>
        </p:txBody>
      </p:sp>
      <p:sp>
        <p:nvSpPr>
          <p:cNvPr id="14" name="Text 12"/>
          <p:cNvSpPr/>
          <p:nvPr/>
        </p:nvSpPr>
        <p:spPr>
          <a:xfrm>
            <a:off x="3337560" y="1591056"/>
            <a:ext cx="2523744" cy="2743200"/>
          </a:xfrm>
          <a:prstGeom prst="rect">
            <a:avLst/>
          </a:prstGeom>
          <a:noFill/>
          <a:ln/>
        </p:spPr>
        <p:txBody>
          <a:bodyPr wrap="square" lIns="0" tIns="0" rIns="0" bIns="0" rtlCol="0" anchor="t"/>
          <a:lstStyle/>
          <a:p>
            <a:pPr indent="0" marL="0">
              <a:buNone/>
            </a:pPr>
            <a:r>
              <a:rPr lang="en-US" sz="1050" dirty="0">
                <a:solidFill>
                  <a:srgbClr val="D6EAF8"/>
                </a:solidFill>
              </a:rPr>
              <a:t>Practitioner-directed AI co-authorship. Domain expertise (26yr) provides the frame, context, and critical review. Claude structures, drafts, and self-corrects. The result: accessible depth that neither could produce alone.</a:t>
            </a:r>
            <a:endParaRPr lang="en-US" sz="1050" dirty="0"/>
          </a:p>
        </p:txBody>
      </p:sp>
      <p:sp>
        <p:nvSpPr>
          <p:cNvPr id="15" name="Shape 13"/>
          <p:cNvSpPr/>
          <p:nvPr/>
        </p:nvSpPr>
        <p:spPr>
          <a:xfrm>
            <a:off x="6108192" y="1170432"/>
            <a:ext cx="2743200" cy="3246120"/>
          </a:xfrm>
          <a:prstGeom prst="rect">
            <a:avLst/>
          </a:prstGeom>
          <a:solidFill>
            <a:srgbClr val="1A2F55"/>
          </a:solidFill>
          <a:ln/>
          <a:effectLst>
            <a:outerShdw sx="100000" sy="100000" kx="0" ky="0" algn="bl" rotWithShape="0" blurRad="101600" dist="38100" dir="8100000">
              <a:srgbClr val="000000">
                <a:alpha val="18000"/>
              </a:srgbClr>
            </a:outerShdw>
          </a:effectLst>
        </p:spPr>
      </p:sp>
      <p:sp>
        <p:nvSpPr>
          <p:cNvPr id="16" name="Shape 14"/>
          <p:cNvSpPr/>
          <p:nvPr/>
        </p:nvSpPr>
        <p:spPr>
          <a:xfrm>
            <a:off x="6108192" y="1170432"/>
            <a:ext cx="2743200" cy="64008"/>
          </a:xfrm>
          <a:prstGeom prst="rect">
            <a:avLst/>
          </a:prstGeom>
          <a:solidFill>
            <a:srgbClr val="D6EAF8"/>
          </a:solidFill>
          <a:ln/>
        </p:spPr>
      </p:sp>
      <p:sp>
        <p:nvSpPr>
          <p:cNvPr id="17" name="Text 15"/>
          <p:cNvSpPr/>
          <p:nvPr/>
        </p:nvSpPr>
        <p:spPr>
          <a:xfrm>
            <a:off x="6217920" y="1261872"/>
            <a:ext cx="2523744" cy="274320"/>
          </a:xfrm>
          <a:prstGeom prst="rect">
            <a:avLst/>
          </a:prstGeom>
          <a:noFill/>
          <a:ln/>
        </p:spPr>
        <p:txBody>
          <a:bodyPr wrap="square" lIns="0" tIns="0" rIns="0" bIns="0" rtlCol="0" anchor="ctr"/>
          <a:lstStyle/>
          <a:p>
            <a:pPr indent="0" marL="0">
              <a:buNone/>
            </a:pPr>
            <a:r>
              <a:rPr lang="en-US" sz="1100" b="1" spc="200" kern="0" dirty="0">
                <a:solidFill>
                  <a:srgbClr val="D6EAF8"/>
                </a:solidFill>
              </a:rPr>
              <a:t>THE OUTPUT</a:t>
            </a:r>
            <a:endParaRPr lang="en-US" sz="1100" dirty="0"/>
          </a:p>
        </p:txBody>
      </p:sp>
      <p:sp>
        <p:nvSpPr>
          <p:cNvPr id="18" name="Text 16"/>
          <p:cNvSpPr/>
          <p:nvPr/>
        </p:nvSpPr>
        <p:spPr>
          <a:xfrm>
            <a:off x="6217920" y="1591056"/>
            <a:ext cx="2523744" cy="2743200"/>
          </a:xfrm>
          <a:prstGeom prst="rect">
            <a:avLst/>
          </a:prstGeom>
          <a:noFill/>
          <a:ln/>
        </p:spPr>
        <p:txBody>
          <a:bodyPr wrap="square" lIns="0" tIns="0" rIns="0" bIns="0" rtlCol="0" anchor="t"/>
          <a:lstStyle/>
          <a:p>
            <a:pPr indent="0" marL="0">
              <a:buNone/>
            </a:pPr>
            <a:r>
              <a:rPr lang="en-US" sz="1050" dirty="0">
                <a:solidFill>
                  <a:srgbClr val="D6EAF8"/>
                </a:solidFill>
              </a:rPr>
              <a:t>Topic-by-topic reference documents and slide decks: Basel I–IV (this module), xVA, FRTB, ISDA/netting, UMR margin reform, EMIR/CFTC/MAS reporting, clearing infrastructure — all free to access.</a:t>
            </a:r>
            <a:endParaRPr lang="en-US" sz="1050" dirty="0"/>
          </a:p>
        </p:txBody>
      </p:sp>
      <p:sp>
        <p:nvSpPr>
          <p:cNvPr id="19" name="Text 17"/>
          <p:cNvSpPr/>
          <p:nvPr/>
        </p:nvSpPr>
        <p:spPr>
          <a:xfrm>
            <a:off x="347472" y="4553712"/>
            <a:ext cx="8449056" cy="384048"/>
          </a:xfrm>
          <a:prstGeom prst="rect">
            <a:avLst/>
          </a:prstGeom>
          <a:noFill/>
          <a:ln/>
        </p:spPr>
        <p:txBody>
          <a:bodyPr wrap="square" lIns="0" tIns="0" rIns="0" bIns="0" rtlCol="0" anchor="ctr"/>
          <a:lstStyle/>
          <a:p>
            <a:pPr indent="0" marL="0">
              <a:buNone/>
            </a:pPr>
            <a:r>
              <a:rPr lang="en-US" sz="1100" b="1" dirty="0">
                <a:solidFill>
                  <a:srgbClr val="C9A84C"/>
                </a:solidFill>
              </a:rPr>
              <a:t>Topics ahead: </a:t>
            </a:r>
            <a:pPr indent="0" marL="0">
              <a:buNone/>
            </a:pPr>
            <a:r>
              <a:rPr lang="en-US" sz="1100" dirty="0">
                <a:solidFill>
                  <a:srgbClr val="8899AA"/>
                </a:solidFill>
              </a:rPr>
              <a:t>xVA &amp; Counterparty Risk  |  FRTB Implementation  |  ISDA &amp; Netting  |  UMR Margin Reform  |  EMIR/CFTC/MAS Reporting  |  CCP Architecture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Sources &amp; Closing</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rPr>
              <a:t>Primary Sources &amp; Further Reading</a:t>
            </a:r>
            <a:endParaRPr lang="en-US" sz="2200" dirty="0"/>
          </a:p>
        </p:txBody>
      </p:sp>
      <p:sp>
        <p:nvSpPr>
          <p:cNvPr id="6" name="Shape 4"/>
          <p:cNvSpPr/>
          <p:nvPr/>
        </p:nvSpPr>
        <p:spPr>
          <a:xfrm>
            <a:off x="274320" y="777240"/>
            <a:ext cx="5120640" cy="320040"/>
          </a:xfrm>
          <a:prstGeom prst="rect">
            <a:avLst/>
          </a:prstGeom>
          <a:solidFill>
            <a:srgbClr val="0E6B8A"/>
          </a:solidFill>
          <a:ln/>
        </p:spPr>
      </p:sp>
      <p:sp>
        <p:nvSpPr>
          <p:cNvPr id="7" name="Text 5"/>
          <p:cNvSpPr/>
          <p:nvPr/>
        </p:nvSpPr>
        <p:spPr>
          <a:xfrm>
            <a:off x="274320" y="777240"/>
            <a:ext cx="5120640" cy="320040"/>
          </a:xfrm>
          <a:prstGeom prst="rect">
            <a:avLst/>
          </a:prstGeom>
          <a:noFill/>
          <a:ln/>
        </p:spPr>
        <p:txBody>
          <a:bodyPr wrap="square" lIns="0" tIns="0" rIns="0" bIns="0" rtlCol="0" anchor="ctr"/>
          <a:lstStyle/>
          <a:p>
            <a:pPr algn="ctr" indent="0" marL="0">
              <a:buNone/>
            </a:pPr>
            <a:r>
              <a:rPr lang="en-US" sz="900" b="1" dirty="0">
                <a:solidFill>
                  <a:srgbClr val="FFFFFF"/>
                </a:solidFill>
              </a:rPr>
              <a:t>PRIMARY BCBS / BIS PUBLICATIONS</a:t>
            </a:r>
            <a:endParaRPr lang="en-US" sz="900" dirty="0"/>
          </a:p>
        </p:txBody>
      </p:sp>
      <p:sp>
        <p:nvSpPr>
          <p:cNvPr id="8" name="Shape 6"/>
          <p:cNvSpPr/>
          <p:nvPr/>
        </p:nvSpPr>
        <p:spPr>
          <a:xfrm>
            <a:off x="274320" y="1097280"/>
            <a:ext cx="5120640" cy="347472"/>
          </a:xfrm>
          <a:prstGeom prst="rect">
            <a:avLst/>
          </a:prstGeom>
          <a:solidFill>
            <a:srgbClr val="FFFFFF"/>
          </a:solidFill>
          <a:ln/>
        </p:spPr>
      </p:sp>
      <p:sp>
        <p:nvSpPr>
          <p:cNvPr id="9" name="Shape 7"/>
          <p:cNvSpPr/>
          <p:nvPr/>
        </p:nvSpPr>
        <p:spPr>
          <a:xfrm>
            <a:off x="274320" y="1097280"/>
            <a:ext cx="54864" cy="347472"/>
          </a:xfrm>
          <a:prstGeom prst="rect">
            <a:avLst/>
          </a:prstGeom>
          <a:solidFill>
            <a:srgbClr val="0E6B8A"/>
          </a:solidFill>
          <a:ln/>
        </p:spPr>
      </p:sp>
      <p:sp>
        <p:nvSpPr>
          <p:cNvPr id="10" name="Text 8"/>
          <p:cNvSpPr/>
          <p:nvPr/>
        </p:nvSpPr>
        <p:spPr>
          <a:xfrm>
            <a:off x="393192" y="1097280"/>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(1988) — International Convergence of Capital Measurement and Capital Standards</a:t>
            </a:r>
            <a:endParaRPr lang="en-US" sz="900" dirty="0"/>
          </a:p>
        </p:txBody>
      </p:sp>
      <p:sp>
        <p:nvSpPr>
          <p:cNvPr id="11" name="Shape 9"/>
          <p:cNvSpPr/>
          <p:nvPr/>
        </p:nvSpPr>
        <p:spPr>
          <a:xfrm>
            <a:off x="274320" y="1444752"/>
            <a:ext cx="5120640" cy="347472"/>
          </a:xfrm>
          <a:prstGeom prst="rect">
            <a:avLst/>
          </a:prstGeom>
          <a:solidFill>
            <a:srgbClr val="F4F6F8"/>
          </a:solidFill>
          <a:ln/>
        </p:spPr>
      </p:sp>
      <p:sp>
        <p:nvSpPr>
          <p:cNvPr id="12" name="Shape 10"/>
          <p:cNvSpPr/>
          <p:nvPr/>
        </p:nvSpPr>
        <p:spPr>
          <a:xfrm>
            <a:off x="274320" y="1444752"/>
            <a:ext cx="54864" cy="347472"/>
          </a:xfrm>
          <a:prstGeom prst="rect">
            <a:avLst/>
          </a:prstGeom>
          <a:solidFill>
            <a:srgbClr val="0E6B8A"/>
          </a:solidFill>
          <a:ln/>
        </p:spPr>
      </p:sp>
      <p:sp>
        <p:nvSpPr>
          <p:cNvPr id="13" name="Text 11"/>
          <p:cNvSpPr/>
          <p:nvPr/>
        </p:nvSpPr>
        <p:spPr>
          <a:xfrm>
            <a:off x="393192" y="1444752"/>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(1996) — Amendment to the Capital Accord to Incorporate Market Risks</a:t>
            </a:r>
            <a:endParaRPr lang="en-US" sz="900" dirty="0"/>
          </a:p>
        </p:txBody>
      </p:sp>
      <p:sp>
        <p:nvSpPr>
          <p:cNvPr id="14" name="Shape 12"/>
          <p:cNvSpPr/>
          <p:nvPr/>
        </p:nvSpPr>
        <p:spPr>
          <a:xfrm>
            <a:off x="274320" y="1792224"/>
            <a:ext cx="5120640" cy="347472"/>
          </a:xfrm>
          <a:prstGeom prst="rect">
            <a:avLst/>
          </a:prstGeom>
          <a:solidFill>
            <a:srgbClr val="FFFFFF"/>
          </a:solidFill>
          <a:ln/>
        </p:spPr>
      </p:sp>
      <p:sp>
        <p:nvSpPr>
          <p:cNvPr id="15" name="Shape 13"/>
          <p:cNvSpPr/>
          <p:nvPr/>
        </p:nvSpPr>
        <p:spPr>
          <a:xfrm>
            <a:off x="274320" y="1792224"/>
            <a:ext cx="54864" cy="347472"/>
          </a:xfrm>
          <a:prstGeom prst="rect">
            <a:avLst/>
          </a:prstGeom>
          <a:solidFill>
            <a:srgbClr val="0E6B8A"/>
          </a:solidFill>
          <a:ln/>
        </p:spPr>
      </p:sp>
      <p:sp>
        <p:nvSpPr>
          <p:cNvPr id="16" name="Text 14"/>
          <p:cNvSpPr/>
          <p:nvPr/>
        </p:nvSpPr>
        <p:spPr>
          <a:xfrm>
            <a:off x="393192" y="1792224"/>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(2004/2006) — Basel II Revised Framework (Comprehensive Version)</a:t>
            </a:r>
            <a:endParaRPr lang="en-US" sz="900" dirty="0"/>
          </a:p>
        </p:txBody>
      </p:sp>
      <p:sp>
        <p:nvSpPr>
          <p:cNvPr id="17" name="Shape 15"/>
          <p:cNvSpPr/>
          <p:nvPr/>
        </p:nvSpPr>
        <p:spPr>
          <a:xfrm>
            <a:off x="274320" y="2139696"/>
            <a:ext cx="5120640" cy="347472"/>
          </a:xfrm>
          <a:prstGeom prst="rect">
            <a:avLst/>
          </a:prstGeom>
          <a:solidFill>
            <a:srgbClr val="F4F6F8"/>
          </a:solidFill>
          <a:ln/>
        </p:spPr>
      </p:sp>
      <p:sp>
        <p:nvSpPr>
          <p:cNvPr id="18" name="Shape 16"/>
          <p:cNvSpPr/>
          <p:nvPr/>
        </p:nvSpPr>
        <p:spPr>
          <a:xfrm>
            <a:off x="274320" y="2139696"/>
            <a:ext cx="54864" cy="347472"/>
          </a:xfrm>
          <a:prstGeom prst="rect">
            <a:avLst/>
          </a:prstGeom>
          <a:solidFill>
            <a:srgbClr val="0E6B8A"/>
          </a:solidFill>
          <a:ln/>
        </p:spPr>
      </p:sp>
      <p:sp>
        <p:nvSpPr>
          <p:cNvPr id="19" name="Text 17"/>
          <p:cNvSpPr/>
          <p:nvPr/>
        </p:nvSpPr>
        <p:spPr>
          <a:xfrm>
            <a:off x="393192" y="2139696"/>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(2010/2011) — Basel III: A global regulatory framework</a:t>
            </a:r>
            <a:endParaRPr lang="en-US" sz="900" dirty="0"/>
          </a:p>
        </p:txBody>
      </p:sp>
      <p:sp>
        <p:nvSpPr>
          <p:cNvPr id="20" name="Shape 18"/>
          <p:cNvSpPr/>
          <p:nvPr/>
        </p:nvSpPr>
        <p:spPr>
          <a:xfrm>
            <a:off x="274320" y="2487168"/>
            <a:ext cx="5120640" cy="347472"/>
          </a:xfrm>
          <a:prstGeom prst="rect">
            <a:avLst/>
          </a:prstGeom>
          <a:solidFill>
            <a:srgbClr val="FFFFFF"/>
          </a:solidFill>
          <a:ln/>
        </p:spPr>
      </p:sp>
      <p:sp>
        <p:nvSpPr>
          <p:cNvPr id="21" name="Shape 19"/>
          <p:cNvSpPr/>
          <p:nvPr/>
        </p:nvSpPr>
        <p:spPr>
          <a:xfrm>
            <a:off x="274320" y="2487168"/>
            <a:ext cx="54864" cy="347472"/>
          </a:xfrm>
          <a:prstGeom prst="rect">
            <a:avLst/>
          </a:prstGeom>
          <a:solidFill>
            <a:srgbClr val="0E6B8A"/>
          </a:solidFill>
          <a:ln/>
        </p:spPr>
      </p:sp>
      <p:sp>
        <p:nvSpPr>
          <p:cNvPr id="22" name="Text 20"/>
          <p:cNvSpPr/>
          <p:nvPr/>
        </p:nvSpPr>
        <p:spPr>
          <a:xfrm>
            <a:off x="393192" y="2487168"/>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(2013) — Basel III: Liquidity Coverage Ratio</a:t>
            </a:r>
            <a:endParaRPr lang="en-US" sz="900" dirty="0"/>
          </a:p>
        </p:txBody>
      </p:sp>
      <p:sp>
        <p:nvSpPr>
          <p:cNvPr id="23" name="Shape 21"/>
          <p:cNvSpPr/>
          <p:nvPr/>
        </p:nvSpPr>
        <p:spPr>
          <a:xfrm>
            <a:off x="274320" y="2834640"/>
            <a:ext cx="5120640" cy="347472"/>
          </a:xfrm>
          <a:prstGeom prst="rect">
            <a:avLst/>
          </a:prstGeom>
          <a:solidFill>
            <a:srgbClr val="F4F6F8"/>
          </a:solidFill>
          <a:ln/>
        </p:spPr>
      </p:sp>
      <p:sp>
        <p:nvSpPr>
          <p:cNvPr id="24" name="Shape 22"/>
          <p:cNvSpPr/>
          <p:nvPr/>
        </p:nvSpPr>
        <p:spPr>
          <a:xfrm>
            <a:off x="274320" y="2834640"/>
            <a:ext cx="54864" cy="347472"/>
          </a:xfrm>
          <a:prstGeom prst="rect">
            <a:avLst/>
          </a:prstGeom>
          <a:solidFill>
            <a:srgbClr val="0E6B8A"/>
          </a:solidFill>
          <a:ln/>
        </p:spPr>
      </p:sp>
      <p:sp>
        <p:nvSpPr>
          <p:cNvPr id="25" name="Text 23"/>
          <p:cNvSpPr/>
          <p:nvPr/>
        </p:nvSpPr>
        <p:spPr>
          <a:xfrm>
            <a:off x="393192" y="2834640"/>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(2014) — Basel III: Net Stable Funding Ratio</a:t>
            </a:r>
            <a:endParaRPr lang="en-US" sz="900" dirty="0"/>
          </a:p>
        </p:txBody>
      </p:sp>
      <p:sp>
        <p:nvSpPr>
          <p:cNvPr id="26" name="Shape 24"/>
          <p:cNvSpPr/>
          <p:nvPr/>
        </p:nvSpPr>
        <p:spPr>
          <a:xfrm>
            <a:off x="274320" y="3182112"/>
            <a:ext cx="5120640" cy="347472"/>
          </a:xfrm>
          <a:prstGeom prst="rect">
            <a:avLst/>
          </a:prstGeom>
          <a:solidFill>
            <a:srgbClr val="FFFFFF"/>
          </a:solidFill>
          <a:ln/>
        </p:spPr>
      </p:sp>
      <p:sp>
        <p:nvSpPr>
          <p:cNvPr id="27" name="Shape 25"/>
          <p:cNvSpPr/>
          <p:nvPr/>
        </p:nvSpPr>
        <p:spPr>
          <a:xfrm>
            <a:off x="274320" y="3182112"/>
            <a:ext cx="54864" cy="347472"/>
          </a:xfrm>
          <a:prstGeom prst="rect">
            <a:avLst/>
          </a:prstGeom>
          <a:solidFill>
            <a:srgbClr val="0E6B8A"/>
          </a:solidFill>
          <a:ln/>
        </p:spPr>
      </p:sp>
      <p:sp>
        <p:nvSpPr>
          <p:cNvPr id="28" name="Text 26"/>
          <p:cNvSpPr/>
          <p:nvPr/>
        </p:nvSpPr>
        <p:spPr>
          <a:xfrm>
            <a:off x="393192" y="3182112"/>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(2014) — SA-CCR: Standardised approach for measuring CCR</a:t>
            </a:r>
            <a:endParaRPr lang="en-US" sz="900" dirty="0"/>
          </a:p>
        </p:txBody>
      </p:sp>
      <p:sp>
        <p:nvSpPr>
          <p:cNvPr id="29" name="Shape 27"/>
          <p:cNvSpPr/>
          <p:nvPr/>
        </p:nvSpPr>
        <p:spPr>
          <a:xfrm>
            <a:off x="274320" y="3529584"/>
            <a:ext cx="5120640" cy="347472"/>
          </a:xfrm>
          <a:prstGeom prst="rect">
            <a:avLst/>
          </a:prstGeom>
          <a:solidFill>
            <a:srgbClr val="F4F6F8"/>
          </a:solidFill>
          <a:ln/>
        </p:spPr>
      </p:sp>
      <p:sp>
        <p:nvSpPr>
          <p:cNvPr id="30" name="Shape 28"/>
          <p:cNvSpPr/>
          <p:nvPr/>
        </p:nvSpPr>
        <p:spPr>
          <a:xfrm>
            <a:off x="274320" y="3529584"/>
            <a:ext cx="54864" cy="347472"/>
          </a:xfrm>
          <a:prstGeom prst="rect">
            <a:avLst/>
          </a:prstGeom>
          <a:solidFill>
            <a:srgbClr val="0E6B8A"/>
          </a:solidFill>
          <a:ln/>
        </p:spPr>
      </p:sp>
      <p:sp>
        <p:nvSpPr>
          <p:cNvPr id="31" name="Text 29"/>
          <p:cNvSpPr/>
          <p:nvPr/>
        </p:nvSpPr>
        <p:spPr>
          <a:xfrm>
            <a:off x="393192" y="3529584"/>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(2016) — Standardised Measurement Approach for Operational Risk</a:t>
            </a:r>
            <a:endParaRPr lang="en-US" sz="900" dirty="0"/>
          </a:p>
        </p:txBody>
      </p:sp>
      <p:sp>
        <p:nvSpPr>
          <p:cNvPr id="32" name="Shape 30"/>
          <p:cNvSpPr/>
          <p:nvPr/>
        </p:nvSpPr>
        <p:spPr>
          <a:xfrm>
            <a:off x="274320" y="3877056"/>
            <a:ext cx="5120640" cy="347472"/>
          </a:xfrm>
          <a:prstGeom prst="rect">
            <a:avLst/>
          </a:prstGeom>
          <a:solidFill>
            <a:srgbClr val="FFFFFF"/>
          </a:solidFill>
          <a:ln/>
        </p:spPr>
      </p:sp>
      <p:sp>
        <p:nvSpPr>
          <p:cNvPr id="33" name="Shape 31"/>
          <p:cNvSpPr/>
          <p:nvPr/>
        </p:nvSpPr>
        <p:spPr>
          <a:xfrm>
            <a:off x="274320" y="3877056"/>
            <a:ext cx="54864" cy="347472"/>
          </a:xfrm>
          <a:prstGeom prst="rect">
            <a:avLst/>
          </a:prstGeom>
          <a:solidFill>
            <a:srgbClr val="0E6B8A"/>
          </a:solidFill>
          <a:ln/>
        </p:spPr>
      </p:sp>
      <p:sp>
        <p:nvSpPr>
          <p:cNvPr id="34" name="Text 32"/>
          <p:cNvSpPr/>
          <p:nvPr/>
        </p:nvSpPr>
        <p:spPr>
          <a:xfrm>
            <a:off x="393192" y="3877056"/>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(2017) — Basel III: Finalising post-crisis reforms (Basel IV)</a:t>
            </a:r>
            <a:endParaRPr lang="en-US" sz="900" dirty="0"/>
          </a:p>
        </p:txBody>
      </p:sp>
      <p:sp>
        <p:nvSpPr>
          <p:cNvPr id="35" name="Shape 33"/>
          <p:cNvSpPr/>
          <p:nvPr/>
        </p:nvSpPr>
        <p:spPr>
          <a:xfrm>
            <a:off x="274320" y="4224528"/>
            <a:ext cx="5120640" cy="347472"/>
          </a:xfrm>
          <a:prstGeom prst="rect">
            <a:avLst/>
          </a:prstGeom>
          <a:solidFill>
            <a:srgbClr val="F4F6F8"/>
          </a:solidFill>
          <a:ln/>
        </p:spPr>
      </p:sp>
      <p:sp>
        <p:nvSpPr>
          <p:cNvPr id="36" name="Shape 34"/>
          <p:cNvSpPr/>
          <p:nvPr/>
        </p:nvSpPr>
        <p:spPr>
          <a:xfrm>
            <a:off x="274320" y="4224528"/>
            <a:ext cx="54864" cy="347472"/>
          </a:xfrm>
          <a:prstGeom prst="rect">
            <a:avLst/>
          </a:prstGeom>
          <a:solidFill>
            <a:srgbClr val="0E6B8A"/>
          </a:solidFill>
          <a:ln/>
        </p:spPr>
      </p:sp>
      <p:sp>
        <p:nvSpPr>
          <p:cNvPr id="37" name="Text 35"/>
          <p:cNvSpPr/>
          <p:nvPr/>
        </p:nvSpPr>
        <p:spPr>
          <a:xfrm>
            <a:off x="393192" y="4224528"/>
            <a:ext cx="4956048" cy="347472"/>
          </a:xfrm>
          <a:prstGeom prst="rect">
            <a:avLst/>
          </a:prstGeom>
          <a:noFill/>
          <a:ln/>
        </p:spPr>
        <p:txBody>
          <a:bodyPr wrap="square" lIns="0" tIns="0" rIns="0" bIns="0" rtlCol="0" anchor="ctr"/>
          <a:lstStyle/>
          <a:p>
            <a:pPr indent="0" marL="0">
              <a:buNone/>
            </a:pPr>
            <a:r>
              <a:rPr lang="en-US" sz="900" dirty="0">
                <a:solidFill>
                  <a:srgbClr val="1A1A2E"/>
                </a:solidFill>
              </a:rPr>
              <a:t>BCBS (2019) — Minimum capital requirements for market risk (FRTB final)</a:t>
            </a:r>
            <a:endParaRPr lang="en-US" sz="900" dirty="0"/>
          </a:p>
        </p:txBody>
      </p:sp>
      <p:sp>
        <p:nvSpPr>
          <p:cNvPr id="38" name="Text 36"/>
          <p:cNvSpPr/>
          <p:nvPr/>
        </p:nvSpPr>
        <p:spPr>
          <a:xfrm>
            <a:off x="274320" y="4572000"/>
            <a:ext cx="5120640" cy="256032"/>
          </a:xfrm>
          <a:prstGeom prst="rect">
            <a:avLst/>
          </a:prstGeom>
          <a:noFill/>
          <a:ln/>
        </p:spPr>
        <p:txBody>
          <a:bodyPr wrap="square" lIns="0" tIns="0" rIns="0" bIns="0" rtlCol="0" anchor="ctr"/>
          <a:lstStyle/>
          <a:p>
            <a:pPr indent="0" marL="0">
              <a:buNone/>
            </a:pPr>
            <a:r>
              <a:rPr lang="en-US" sz="850" i="1" dirty="0">
                <a:solidFill>
                  <a:srgbClr val="8899AA"/>
                </a:solidFill>
              </a:rPr>
              <a:t>All BCBS documents freely available at: bis.org/bcbs/publ.htm</a:t>
            </a:r>
            <a:endParaRPr lang="en-US" sz="850" dirty="0"/>
          </a:p>
        </p:txBody>
      </p:sp>
      <p:sp>
        <p:nvSpPr>
          <p:cNvPr id="39" name="Shape 37"/>
          <p:cNvSpPr/>
          <p:nvPr/>
        </p:nvSpPr>
        <p:spPr>
          <a:xfrm>
            <a:off x="5577840" y="777240"/>
            <a:ext cx="3291840" cy="320040"/>
          </a:xfrm>
          <a:prstGeom prst="rect">
            <a:avLst/>
          </a:prstGeom>
          <a:solidFill>
            <a:srgbClr val="1B3A6B"/>
          </a:solidFill>
          <a:ln/>
        </p:spPr>
      </p:sp>
      <p:sp>
        <p:nvSpPr>
          <p:cNvPr id="40" name="Text 38"/>
          <p:cNvSpPr/>
          <p:nvPr/>
        </p:nvSpPr>
        <p:spPr>
          <a:xfrm>
            <a:off x="5577840" y="777240"/>
            <a:ext cx="3291840" cy="320040"/>
          </a:xfrm>
          <a:prstGeom prst="rect">
            <a:avLst/>
          </a:prstGeom>
          <a:noFill/>
          <a:ln/>
        </p:spPr>
        <p:txBody>
          <a:bodyPr wrap="square" lIns="0" tIns="0" rIns="0" bIns="0" rtlCol="0" anchor="ctr"/>
          <a:lstStyle/>
          <a:p>
            <a:pPr algn="ctr" indent="0" marL="0">
              <a:buNone/>
            </a:pPr>
            <a:r>
              <a:rPr lang="en-US" sz="900" b="1" dirty="0">
                <a:solidFill>
                  <a:srgbClr val="FFFFFF"/>
                </a:solidFill>
              </a:rPr>
              <a:t>PRACTITIONER LITERATURE</a:t>
            </a:r>
            <a:endParaRPr lang="en-US" sz="900" dirty="0"/>
          </a:p>
        </p:txBody>
      </p:sp>
      <p:sp>
        <p:nvSpPr>
          <p:cNvPr id="41" name="Shape 39"/>
          <p:cNvSpPr/>
          <p:nvPr/>
        </p:nvSpPr>
        <p:spPr>
          <a:xfrm>
            <a:off x="5577840" y="1097280"/>
            <a:ext cx="3291840" cy="457200"/>
          </a:xfrm>
          <a:prstGeom prst="rect">
            <a:avLst/>
          </a:prstGeom>
          <a:solidFill>
            <a:srgbClr val="FFFFFF"/>
          </a:solidFill>
          <a:ln/>
        </p:spPr>
      </p:sp>
      <p:sp>
        <p:nvSpPr>
          <p:cNvPr id="42" name="Text 40"/>
          <p:cNvSpPr/>
          <p:nvPr/>
        </p:nvSpPr>
        <p:spPr>
          <a:xfrm>
            <a:off x="5669280" y="1097280"/>
            <a:ext cx="3108960" cy="457200"/>
          </a:xfrm>
          <a:prstGeom prst="rect">
            <a:avLst/>
          </a:prstGeom>
          <a:noFill/>
          <a:ln/>
        </p:spPr>
        <p:txBody>
          <a:bodyPr wrap="square" lIns="0" tIns="0" rIns="0" bIns="0" rtlCol="0" anchor="ctr"/>
          <a:lstStyle/>
          <a:p>
            <a:pPr indent="0" marL="0">
              <a:buNone/>
            </a:pPr>
            <a:r>
              <a:rPr lang="en-US" sz="950" dirty="0">
                <a:solidFill>
                  <a:srgbClr val="1A1A2E"/>
                </a:solidFill>
              </a:rPr>
              <a:t>Gregory, J. — The xVA Challenge (Wiley, 2020)</a:t>
            </a:r>
            <a:endParaRPr lang="en-US" sz="950" dirty="0"/>
          </a:p>
        </p:txBody>
      </p:sp>
      <p:sp>
        <p:nvSpPr>
          <p:cNvPr id="43" name="Shape 41"/>
          <p:cNvSpPr/>
          <p:nvPr/>
        </p:nvSpPr>
        <p:spPr>
          <a:xfrm>
            <a:off x="5577840" y="1554480"/>
            <a:ext cx="3291840" cy="457200"/>
          </a:xfrm>
          <a:prstGeom prst="rect">
            <a:avLst/>
          </a:prstGeom>
          <a:solidFill>
            <a:srgbClr val="F4F6F8"/>
          </a:solidFill>
          <a:ln/>
        </p:spPr>
      </p:sp>
      <p:sp>
        <p:nvSpPr>
          <p:cNvPr id="44" name="Text 42"/>
          <p:cNvSpPr/>
          <p:nvPr/>
        </p:nvSpPr>
        <p:spPr>
          <a:xfrm>
            <a:off x="5669280" y="1554480"/>
            <a:ext cx="3108960" cy="457200"/>
          </a:xfrm>
          <a:prstGeom prst="rect">
            <a:avLst/>
          </a:prstGeom>
          <a:noFill/>
          <a:ln/>
        </p:spPr>
        <p:txBody>
          <a:bodyPr wrap="square" lIns="0" tIns="0" rIns="0" bIns="0" rtlCol="0" anchor="ctr"/>
          <a:lstStyle/>
          <a:p>
            <a:pPr indent="0" marL="0">
              <a:buNone/>
            </a:pPr>
            <a:r>
              <a:rPr lang="en-US" sz="950" dirty="0">
                <a:solidFill>
                  <a:srgbClr val="1A1A2E"/>
                </a:solidFill>
              </a:rPr>
              <a:t>Roncalli, T. — Handbook on Financial Risk Management (CRC, 2020)</a:t>
            </a:r>
            <a:endParaRPr lang="en-US" sz="950" dirty="0"/>
          </a:p>
        </p:txBody>
      </p:sp>
      <p:sp>
        <p:nvSpPr>
          <p:cNvPr id="45" name="Shape 43"/>
          <p:cNvSpPr/>
          <p:nvPr/>
        </p:nvSpPr>
        <p:spPr>
          <a:xfrm>
            <a:off x="5577840" y="2011680"/>
            <a:ext cx="3291840" cy="457200"/>
          </a:xfrm>
          <a:prstGeom prst="rect">
            <a:avLst/>
          </a:prstGeom>
          <a:solidFill>
            <a:srgbClr val="FFFFFF"/>
          </a:solidFill>
          <a:ln/>
        </p:spPr>
      </p:sp>
      <p:sp>
        <p:nvSpPr>
          <p:cNvPr id="46" name="Text 44"/>
          <p:cNvSpPr/>
          <p:nvPr/>
        </p:nvSpPr>
        <p:spPr>
          <a:xfrm>
            <a:off x="5669280" y="2011680"/>
            <a:ext cx="3108960" cy="457200"/>
          </a:xfrm>
          <a:prstGeom prst="rect">
            <a:avLst/>
          </a:prstGeom>
          <a:noFill/>
          <a:ln/>
        </p:spPr>
        <p:txBody>
          <a:bodyPr wrap="square" lIns="0" tIns="0" rIns="0" bIns="0" rtlCol="0" anchor="ctr"/>
          <a:lstStyle/>
          <a:p>
            <a:pPr indent="0" marL="0">
              <a:buNone/>
            </a:pPr>
            <a:r>
              <a:rPr lang="en-US" sz="950" dirty="0">
                <a:solidFill>
                  <a:srgbClr val="1A1A2E"/>
                </a:solidFill>
              </a:rPr>
              <a:t>Tarullo, D.K. — Banking on Basel (Peterson Institute, 2008)</a:t>
            </a:r>
            <a:endParaRPr lang="en-US" sz="950" dirty="0"/>
          </a:p>
        </p:txBody>
      </p:sp>
      <p:sp>
        <p:nvSpPr>
          <p:cNvPr id="47" name="Shape 45"/>
          <p:cNvSpPr/>
          <p:nvPr/>
        </p:nvSpPr>
        <p:spPr>
          <a:xfrm>
            <a:off x="5577840" y="2468880"/>
            <a:ext cx="3291840" cy="457200"/>
          </a:xfrm>
          <a:prstGeom prst="rect">
            <a:avLst/>
          </a:prstGeom>
          <a:solidFill>
            <a:srgbClr val="F4F6F8"/>
          </a:solidFill>
          <a:ln/>
        </p:spPr>
      </p:sp>
      <p:sp>
        <p:nvSpPr>
          <p:cNvPr id="48" name="Text 46"/>
          <p:cNvSpPr/>
          <p:nvPr/>
        </p:nvSpPr>
        <p:spPr>
          <a:xfrm>
            <a:off x="5669280" y="2468880"/>
            <a:ext cx="3108960" cy="457200"/>
          </a:xfrm>
          <a:prstGeom prst="rect">
            <a:avLst/>
          </a:prstGeom>
          <a:noFill/>
          <a:ln/>
        </p:spPr>
        <p:txBody>
          <a:bodyPr wrap="square" lIns="0" tIns="0" rIns="0" bIns="0" rtlCol="0" anchor="ctr"/>
          <a:lstStyle/>
          <a:p>
            <a:pPr indent="0" marL="0">
              <a:buNone/>
            </a:pPr>
            <a:r>
              <a:rPr lang="en-US" sz="950" dirty="0">
                <a:solidFill>
                  <a:srgbClr val="1A1A2E"/>
                </a:solidFill>
              </a:rPr>
              <a:t>Cruz, Peters &amp; Shevchenko — Fundamental Aspects of Operational Risk (Wiley, 2015)</a:t>
            </a:r>
            <a:endParaRPr lang="en-US" sz="950" dirty="0"/>
          </a:p>
        </p:txBody>
      </p:sp>
      <p:sp>
        <p:nvSpPr>
          <p:cNvPr id="49" name="Shape 47"/>
          <p:cNvSpPr/>
          <p:nvPr/>
        </p:nvSpPr>
        <p:spPr>
          <a:xfrm>
            <a:off x="5577840" y="3090672"/>
            <a:ext cx="3291840" cy="1737360"/>
          </a:xfrm>
          <a:prstGeom prst="rect">
            <a:avLst/>
          </a:prstGeom>
          <a:solidFill>
            <a:srgbClr val="1B3A6B"/>
          </a:solidFill>
          <a:ln/>
          <a:effectLst>
            <a:outerShdw sx="100000" sy="100000" kx="0" ky="0" algn="bl" rotWithShape="0" blurRad="101600" dist="38100" dir="8100000">
              <a:srgbClr val="000000">
                <a:alpha val="18000"/>
              </a:srgbClr>
            </a:outerShdw>
          </a:effectLst>
        </p:spPr>
      </p:sp>
      <p:sp>
        <p:nvSpPr>
          <p:cNvPr id="50" name="Shape 48"/>
          <p:cNvSpPr/>
          <p:nvPr/>
        </p:nvSpPr>
        <p:spPr>
          <a:xfrm>
            <a:off x="5577840" y="3090672"/>
            <a:ext cx="3291840" cy="54864"/>
          </a:xfrm>
          <a:prstGeom prst="rect">
            <a:avLst/>
          </a:prstGeom>
          <a:solidFill>
            <a:srgbClr val="C9A84C"/>
          </a:solidFill>
          <a:ln/>
        </p:spPr>
      </p:sp>
      <p:sp>
        <p:nvSpPr>
          <p:cNvPr id="51" name="Text 49"/>
          <p:cNvSpPr/>
          <p:nvPr/>
        </p:nvSpPr>
        <p:spPr>
          <a:xfrm>
            <a:off x="5669280" y="3163824"/>
            <a:ext cx="3108960" cy="274320"/>
          </a:xfrm>
          <a:prstGeom prst="rect">
            <a:avLst/>
          </a:prstGeom>
          <a:noFill/>
          <a:ln/>
        </p:spPr>
        <p:txBody>
          <a:bodyPr wrap="square" lIns="0" tIns="0" rIns="0" bIns="0" rtlCol="0" anchor="ctr"/>
          <a:lstStyle/>
          <a:p>
            <a:pPr indent="0" marL="0">
              <a:buNone/>
            </a:pPr>
            <a:r>
              <a:rPr lang="en-US" sz="1100" b="1" dirty="0">
                <a:solidFill>
                  <a:srgbClr val="C9A84C"/>
                </a:solidFill>
              </a:rPr>
              <a:t>About This Work</a:t>
            </a:r>
            <a:endParaRPr lang="en-US" sz="1100" dirty="0"/>
          </a:p>
        </p:txBody>
      </p:sp>
      <p:sp>
        <p:nvSpPr>
          <p:cNvPr id="52" name="Text 50"/>
          <p:cNvSpPr/>
          <p:nvPr/>
        </p:nvSpPr>
        <p:spPr>
          <a:xfrm>
            <a:off x="5669280" y="3474720"/>
            <a:ext cx="3108960" cy="1298448"/>
          </a:xfrm>
          <a:prstGeom prst="rect">
            <a:avLst/>
          </a:prstGeom>
          <a:noFill/>
          <a:ln/>
        </p:spPr>
        <p:txBody>
          <a:bodyPr wrap="square" lIns="0" tIns="0" rIns="0" bIns="0" rtlCol="0" anchor="t"/>
          <a:lstStyle/>
          <a:p>
            <a:pPr indent="0" marL="0">
              <a:buNone/>
            </a:pPr>
            <a:r>
              <a:rPr lang="en-US" sz="900" dirty="0">
                <a:solidFill>
                  <a:srgbClr val="D6EAF8"/>
                </a:solidFill>
              </a:rPr>
              <a:t>Produced through structured dialogue between Sarthaka Nanda (26yr practitioner) and Claude (Anthropic). Domain expertise, practitioner context, and critical review provided by the author. All BCBS citations verifiable. Capital figures in worked examples are illustrative.</a:t>
            </a:r>
            <a:endParaRPr lang="en-US" sz="900" dirty="0"/>
          </a:p>
          <a:p>
            <a:pPr indent="0" marL="0">
              <a:buNone/>
            </a:pPr>
            <a:endParaRPr lang="en-US" sz="900" dirty="0"/>
          </a:p>
          <a:p>
            <a:pPr indent="0" marL="0">
              <a:buNone/>
            </a:pPr>
            <a:r>
              <a:rPr lang="en-US" sz="900" dirty="0">
                <a:solidFill>
                  <a:srgbClr val="D6EAF8"/>
                </a:solidFill>
              </a:rPr>
              <a:t>Published as part of an ongoing knowledge repository initiative for industry practitioners — free to access and share.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Glossary — Part 1 of 3</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6858000" cy="658368"/>
          </a:xfrm>
          <a:prstGeom prst="rect">
            <a:avLst/>
          </a:prstGeom>
          <a:noFill/>
          <a:ln/>
        </p:spPr>
        <p:txBody>
          <a:bodyPr wrap="square" lIns="0" tIns="0" rIns="0" bIns="0" rtlCol="0" anchor="ctr"/>
          <a:lstStyle/>
          <a:p>
            <a:pPr indent="0" marL="0">
              <a:buNone/>
            </a:pPr>
            <a:r>
              <a:rPr lang="en-US" sz="2000" b="1" dirty="0">
                <a:solidFill>
                  <a:srgbClr val="FFFFFF"/>
                </a:solidFill>
              </a:rPr>
              <a:t>Glossary of Key Terms &amp; Abbreviations — Part 1  (A–L)</a:t>
            </a:r>
            <a:endParaRPr lang="en-US" sz="2000" dirty="0"/>
          </a:p>
        </p:txBody>
      </p:sp>
      <p:sp>
        <p:nvSpPr>
          <p:cNvPr id="6" name="Text 4"/>
          <p:cNvSpPr/>
          <p:nvPr/>
        </p:nvSpPr>
        <p:spPr>
          <a:xfrm>
            <a:off x="6949440" y="146304"/>
            <a:ext cx="1965960" cy="384048"/>
          </a:xfrm>
          <a:prstGeom prst="rect">
            <a:avLst/>
          </a:prstGeom>
          <a:noFill/>
          <a:ln/>
        </p:spPr>
        <p:txBody>
          <a:bodyPr wrap="square" lIns="0" tIns="0" rIns="0" bIns="0" rtlCol="0" anchor="ctr"/>
          <a:lstStyle/>
          <a:p>
            <a:pPr indent="0" marL="0">
              <a:buNone/>
            </a:pPr>
            <a:r>
              <a:rPr lang="en-US" sz="800" i="1" dirty="0">
                <a:solidFill>
                  <a:srgbClr val="C9A84C"/>
                </a:solidFill>
              </a:rPr>
              <a:t>Click any term to jump to its relevant slide. Hover for full form.</a:t>
            </a:r>
            <a:endParaRPr lang="en-US" sz="800" dirty="0"/>
          </a:p>
        </p:txBody>
      </p:sp>
      <p:sp>
        <p:nvSpPr>
          <p:cNvPr id="7" name="Shape 5"/>
          <p:cNvSpPr/>
          <p:nvPr/>
        </p:nvSpPr>
        <p:spPr>
          <a:xfrm>
            <a:off x="274320" y="777240"/>
            <a:ext cx="8595360" cy="333756"/>
          </a:xfrm>
          <a:prstGeom prst="rect">
            <a:avLst/>
          </a:prstGeom>
          <a:solidFill>
            <a:srgbClr val="FFFFFF"/>
          </a:solidFill>
          <a:ln/>
        </p:spPr>
      </p:sp>
      <p:sp>
        <p:nvSpPr>
          <p:cNvPr id="8" name="Shape 6"/>
          <p:cNvSpPr/>
          <p:nvPr/>
        </p:nvSpPr>
        <p:spPr>
          <a:xfrm>
            <a:off x="274320" y="777240"/>
            <a:ext cx="914400" cy="333756"/>
          </a:xfrm>
          <a:prstGeom prst="rect">
            <a:avLst/>
          </a:prstGeom>
          <a:solidFill>
            <a:srgbClr val="0E6B8A"/>
          </a:solidFill>
          <a:ln/>
        </p:spPr>
      </p:sp>
      <p:sp>
        <p:nvSpPr>
          <p:cNvPr id="9" name="Text 7">
            <a:hlinkClick r:id="rId1" tooltip="OpRisk method (Basel II/III). → See Basel II slide" action="ppaction://hlinksldjump"/>
          </p:cNvPr>
          <p:cNvSpPr/>
          <p:nvPr/>
        </p:nvSpPr>
        <p:spPr>
          <a:xfrm>
            <a:off x="274320" y="777240"/>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 action="ppaction://hlinksldjump" tooltip="OpRisk method (Basel II/III). → See Basel II slide">
                  <a:extLst>
                    <a:ext uri="{A12FA001-AC4F-418D-AE19-62706E023703}">
                      <ahyp:hlinkClr xmlns:ahyp="http://schemas.microsoft.com/office/drawing/2018/hyperlinkcolor" val="tx"/>
                    </a:ext>
                  </a:extLst>
                </a:hlinkClick>
              </a:rPr>
              <a:t>AMA</a:t>
            </a:r>
            <a:endParaRPr lang="en-US" sz="900" dirty="0"/>
          </a:p>
        </p:txBody>
      </p:sp>
      <p:sp>
        <p:nvSpPr>
          <p:cNvPr id="10" name="Text 8"/>
          <p:cNvSpPr/>
          <p:nvPr/>
        </p:nvSpPr>
        <p:spPr>
          <a:xfrm>
            <a:off x="1234440" y="777240"/>
            <a:ext cx="7589520" cy="333756"/>
          </a:xfrm>
          <a:prstGeom prst="rect">
            <a:avLst/>
          </a:prstGeom>
          <a:noFill/>
          <a:ln/>
        </p:spPr>
        <p:txBody>
          <a:bodyPr wrap="square" lIns="0" tIns="0" rIns="0" bIns="0" rtlCol="0" anchor="ctr"/>
          <a:lstStyle/>
          <a:p>
            <a:pPr indent="0" marL="0">
              <a:buNone/>
            </a:pPr>
            <a:r>
              <a:rPr lang="en-US" sz="900" dirty="0">
                <a:solidFill>
                  <a:srgbClr val="1A1A2E"/>
                </a:solidFill>
              </a:rPr>
              <a:t>Advanced Measurement Approach — Basel II/III method where banks model their own operational risk capital using internal loss data and scenarios.</a:t>
            </a:r>
            <a:endParaRPr lang="en-US" sz="900" dirty="0"/>
          </a:p>
        </p:txBody>
      </p:sp>
      <p:sp>
        <p:nvSpPr>
          <p:cNvPr id="11" name="Shape 9"/>
          <p:cNvSpPr/>
          <p:nvPr/>
        </p:nvSpPr>
        <p:spPr>
          <a:xfrm>
            <a:off x="274320" y="1110996"/>
            <a:ext cx="8595360" cy="333756"/>
          </a:xfrm>
          <a:prstGeom prst="rect">
            <a:avLst/>
          </a:prstGeom>
          <a:solidFill>
            <a:srgbClr val="F4F6F8"/>
          </a:solidFill>
          <a:ln/>
        </p:spPr>
      </p:sp>
      <p:sp>
        <p:nvSpPr>
          <p:cNvPr id="12" name="Shape 10"/>
          <p:cNvSpPr/>
          <p:nvPr/>
        </p:nvSpPr>
        <p:spPr>
          <a:xfrm>
            <a:off x="274320" y="1110996"/>
            <a:ext cx="914400" cy="333756"/>
          </a:xfrm>
          <a:prstGeom prst="rect">
            <a:avLst/>
          </a:prstGeom>
          <a:solidFill>
            <a:srgbClr val="1B3A6B"/>
          </a:solidFill>
          <a:ln/>
        </p:spPr>
      </p:sp>
      <p:sp>
        <p:nvSpPr>
          <p:cNvPr id="13" name="Text 11">
            <a:hlinkClick r:id="rId2" tooltip="Capital Stack. → See Basel III slide" action="ppaction://hlinksldjump"/>
          </p:cNvPr>
          <p:cNvSpPr/>
          <p:nvPr/>
        </p:nvSpPr>
        <p:spPr>
          <a:xfrm>
            <a:off x="274320" y="1110996"/>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2" action="ppaction://hlinksldjump" tooltip="Capital Stack. → See Basel III slide">
                  <a:extLst>
                    <a:ext uri="{A12FA001-AC4F-418D-AE19-62706E023703}">
                      <ahyp:hlinkClr xmlns:ahyp="http://schemas.microsoft.com/office/drawing/2018/hyperlinkcolor" val="tx"/>
                    </a:ext>
                  </a:extLst>
                </a:hlinkClick>
              </a:rPr>
              <a:t>AT1</a:t>
            </a:r>
            <a:endParaRPr lang="en-US" sz="900" dirty="0"/>
          </a:p>
        </p:txBody>
      </p:sp>
      <p:sp>
        <p:nvSpPr>
          <p:cNvPr id="14" name="Text 12"/>
          <p:cNvSpPr/>
          <p:nvPr/>
        </p:nvSpPr>
        <p:spPr>
          <a:xfrm>
            <a:off x="1234440" y="1110996"/>
            <a:ext cx="7589520" cy="333756"/>
          </a:xfrm>
          <a:prstGeom prst="rect">
            <a:avLst/>
          </a:prstGeom>
          <a:noFill/>
          <a:ln/>
        </p:spPr>
        <p:txBody>
          <a:bodyPr wrap="square" lIns="0" tIns="0" rIns="0" bIns="0" rtlCol="0" anchor="ctr"/>
          <a:lstStyle/>
          <a:p>
            <a:pPr indent="0" marL="0">
              <a:buNone/>
            </a:pPr>
            <a:r>
              <a:rPr lang="en-US" sz="900" dirty="0">
                <a:solidFill>
                  <a:srgbClr val="1A1A2E"/>
                </a:solidFill>
              </a:rPr>
              <a:t>Additional Tier 1 — Capital instruments such as contingent convertible bonds (CoCos) that absorb losses when CET1 falls below a trigger level.</a:t>
            </a:r>
            <a:endParaRPr lang="en-US" sz="900" dirty="0"/>
          </a:p>
        </p:txBody>
      </p:sp>
      <p:sp>
        <p:nvSpPr>
          <p:cNvPr id="15" name="Shape 13"/>
          <p:cNvSpPr/>
          <p:nvPr/>
        </p:nvSpPr>
        <p:spPr>
          <a:xfrm>
            <a:off x="274320" y="1444752"/>
            <a:ext cx="8595360" cy="333756"/>
          </a:xfrm>
          <a:prstGeom prst="rect">
            <a:avLst/>
          </a:prstGeom>
          <a:solidFill>
            <a:srgbClr val="FFFFFF"/>
          </a:solidFill>
          <a:ln/>
        </p:spPr>
      </p:sp>
      <p:sp>
        <p:nvSpPr>
          <p:cNvPr id="16" name="Shape 14"/>
          <p:cNvSpPr/>
          <p:nvPr/>
        </p:nvSpPr>
        <p:spPr>
          <a:xfrm>
            <a:off x="274320" y="1444752"/>
            <a:ext cx="914400" cy="333756"/>
          </a:xfrm>
          <a:prstGeom prst="rect">
            <a:avLst/>
          </a:prstGeom>
          <a:solidFill>
            <a:srgbClr val="0E6B8A"/>
          </a:solidFill>
          <a:ln/>
        </p:spPr>
      </p:sp>
      <p:sp>
        <p:nvSpPr>
          <p:cNvPr id="17" name="Text 15">
            <a:hlinkClick r:id="rId3" tooltip="CVA Capital. → See Basel III/IV slides" action="ppaction://hlinksldjump"/>
          </p:cNvPr>
          <p:cNvSpPr/>
          <p:nvPr/>
        </p:nvSpPr>
        <p:spPr>
          <a:xfrm>
            <a:off x="274320" y="1444752"/>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3" action="ppaction://hlinksldjump" tooltip="CVA Capital. → See Basel III/IV slides">
                  <a:extLst>
                    <a:ext uri="{A12FA001-AC4F-418D-AE19-62706E023703}">
                      <ahyp:hlinkClr xmlns:ahyp="http://schemas.microsoft.com/office/drawing/2018/hyperlinkcolor" val="tx"/>
                    </a:ext>
                  </a:extLst>
                </a:hlinkClick>
              </a:rPr>
              <a:t>BA-CVA</a:t>
            </a:r>
            <a:endParaRPr lang="en-US" sz="900" dirty="0"/>
          </a:p>
        </p:txBody>
      </p:sp>
      <p:sp>
        <p:nvSpPr>
          <p:cNvPr id="18" name="Text 16"/>
          <p:cNvSpPr/>
          <p:nvPr/>
        </p:nvSpPr>
        <p:spPr>
          <a:xfrm>
            <a:off x="1234440" y="1444752"/>
            <a:ext cx="7589520" cy="333756"/>
          </a:xfrm>
          <a:prstGeom prst="rect">
            <a:avLst/>
          </a:prstGeom>
          <a:noFill/>
          <a:ln/>
        </p:spPr>
        <p:txBody>
          <a:bodyPr wrap="square" lIns="0" tIns="0" rIns="0" bIns="0" rtlCol="0" anchor="ctr"/>
          <a:lstStyle/>
          <a:p>
            <a:pPr indent="0" marL="0">
              <a:buNone/>
            </a:pPr>
            <a:r>
              <a:rPr lang="en-US" sz="900" dirty="0">
                <a:solidFill>
                  <a:srgbClr val="1A1A2E"/>
                </a:solidFill>
              </a:rPr>
              <a:t>Basic Approach CVA — A simplified formula-based method for calculating CVA capital charge, not requiring a full sensitivity model.</a:t>
            </a:r>
            <a:endParaRPr lang="en-US" sz="900" dirty="0"/>
          </a:p>
        </p:txBody>
      </p:sp>
      <p:sp>
        <p:nvSpPr>
          <p:cNvPr id="19" name="Shape 17"/>
          <p:cNvSpPr/>
          <p:nvPr/>
        </p:nvSpPr>
        <p:spPr>
          <a:xfrm>
            <a:off x="274320" y="1778508"/>
            <a:ext cx="8595360" cy="333756"/>
          </a:xfrm>
          <a:prstGeom prst="rect">
            <a:avLst/>
          </a:prstGeom>
          <a:solidFill>
            <a:srgbClr val="F4F6F8"/>
          </a:solidFill>
          <a:ln/>
        </p:spPr>
      </p:sp>
      <p:sp>
        <p:nvSpPr>
          <p:cNvPr id="20" name="Shape 18"/>
          <p:cNvSpPr/>
          <p:nvPr/>
        </p:nvSpPr>
        <p:spPr>
          <a:xfrm>
            <a:off x="274320" y="1778508"/>
            <a:ext cx="914400" cy="333756"/>
          </a:xfrm>
          <a:prstGeom prst="rect">
            <a:avLst/>
          </a:prstGeom>
          <a:solidFill>
            <a:srgbClr val="1B3A6B"/>
          </a:solidFill>
          <a:ln/>
        </p:spPr>
      </p:sp>
      <p:sp>
        <p:nvSpPr>
          <p:cNvPr id="21" name="Text 19">
            <a:hlinkClick r:id="rId4" tooltip="BCBS explained in full. → See slide 2" action="ppaction://hlinksldjump"/>
          </p:cNvPr>
          <p:cNvSpPr/>
          <p:nvPr/>
        </p:nvSpPr>
        <p:spPr>
          <a:xfrm>
            <a:off x="274320" y="1778508"/>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4" action="ppaction://hlinksldjump" tooltip="BCBS explained in full. → See slide 2">
                  <a:extLst>
                    <a:ext uri="{A12FA001-AC4F-418D-AE19-62706E023703}">
                      <ahyp:hlinkClr xmlns:ahyp="http://schemas.microsoft.com/office/drawing/2018/hyperlinkcolor" val="tx"/>
                    </a:ext>
                  </a:extLst>
                </a:hlinkClick>
              </a:rPr>
              <a:t>BCBS</a:t>
            </a:r>
            <a:endParaRPr lang="en-US" sz="900" dirty="0"/>
          </a:p>
        </p:txBody>
      </p:sp>
      <p:sp>
        <p:nvSpPr>
          <p:cNvPr id="22" name="Text 20"/>
          <p:cNvSpPr/>
          <p:nvPr/>
        </p:nvSpPr>
        <p:spPr>
          <a:xfrm>
            <a:off x="1234440" y="1778508"/>
            <a:ext cx="7589520" cy="333756"/>
          </a:xfrm>
          <a:prstGeom prst="rect">
            <a:avLst/>
          </a:prstGeom>
          <a:noFill/>
          <a:ln/>
        </p:spPr>
        <p:txBody>
          <a:bodyPr wrap="square" lIns="0" tIns="0" rIns="0" bIns="0" rtlCol="0" anchor="ctr"/>
          <a:lstStyle/>
          <a:p>
            <a:pPr indent="0" marL="0">
              <a:buNone/>
            </a:pPr>
            <a:r>
              <a:rPr lang="en-US" sz="900" dirty="0">
                <a:solidFill>
                  <a:srgbClr val="1A1A2E"/>
                </a:solidFill>
              </a:rPr>
              <a:t>Basel Committee on Banking Supervision — The international standard-setting body for bank capital regulation, hosted by the BIS in Basel, Switzerland.</a:t>
            </a:r>
            <a:endParaRPr lang="en-US" sz="900" dirty="0"/>
          </a:p>
        </p:txBody>
      </p:sp>
      <p:sp>
        <p:nvSpPr>
          <p:cNvPr id="23" name="Shape 21"/>
          <p:cNvSpPr/>
          <p:nvPr/>
        </p:nvSpPr>
        <p:spPr>
          <a:xfrm>
            <a:off x="274320" y="2112264"/>
            <a:ext cx="8595360" cy="333756"/>
          </a:xfrm>
          <a:prstGeom prst="rect">
            <a:avLst/>
          </a:prstGeom>
          <a:solidFill>
            <a:srgbClr val="FFFFFF"/>
          </a:solidFill>
          <a:ln/>
        </p:spPr>
      </p:sp>
      <p:sp>
        <p:nvSpPr>
          <p:cNvPr id="24" name="Shape 22"/>
          <p:cNvSpPr/>
          <p:nvPr/>
        </p:nvSpPr>
        <p:spPr>
          <a:xfrm>
            <a:off x="274320" y="2112264"/>
            <a:ext cx="914400" cy="333756"/>
          </a:xfrm>
          <a:prstGeom prst="rect">
            <a:avLst/>
          </a:prstGeom>
          <a:solidFill>
            <a:srgbClr val="0E6B8A"/>
          </a:solidFill>
          <a:ln/>
        </p:spPr>
      </p:sp>
      <p:sp>
        <p:nvSpPr>
          <p:cNvPr id="25" name="Text 23">
            <a:hlinkClick r:id="rId5" tooltip="OpRisk methods. → See Basel II slide" action="ppaction://hlinksldjump"/>
          </p:cNvPr>
          <p:cNvSpPr/>
          <p:nvPr/>
        </p:nvSpPr>
        <p:spPr>
          <a:xfrm>
            <a:off x="274320" y="2112264"/>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5" action="ppaction://hlinksldjump" tooltip="OpRisk methods. → See Basel II slide">
                  <a:extLst>
                    <a:ext uri="{A12FA001-AC4F-418D-AE19-62706E023703}">
                      <ahyp:hlinkClr xmlns:ahyp="http://schemas.microsoft.com/office/drawing/2018/hyperlinkcolor" val="tx"/>
                    </a:ext>
                  </a:extLst>
                </a:hlinkClick>
              </a:rPr>
              <a:t>BIA</a:t>
            </a:r>
            <a:endParaRPr lang="en-US" sz="900" dirty="0"/>
          </a:p>
        </p:txBody>
      </p:sp>
      <p:sp>
        <p:nvSpPr>
          <p:cNvPr id="26" name="Text 24"/>
          <p:cNvSpPr/>
          <p:nvPr/>
        </p:nvSpPr>
        <p:spPr>
          <a:xfrm>
            <a:off x="1234440" y="2112264"/>
            <a:ext cx="7589520" cy="333756"/>
          </a:xfrm>
          <a:prstGeom prst="rect">
            <a:avLst/>
          </a:prstGeom>
          <a:noFill/>
          <a:ln/>
        </p:spPr>
        <p:txBody>
          <a:bodyPr wrap="square" lIns="0" tIns="0" rIns="0" bIns="0" rtlCol="0" anchor="ctr"/>
          <a:lstStyle/>
          <a:p>
            <a:pPr indent="0" marL="0">
              <a:buNone/>
            </a:pPr>
            <a:r>
              <a:rPr lang="en-US" sz="900" dirty="0">
                <a:solidFill>
                  <a:srgbClr val="1A1A2E"/>
                </a:solidFill>
              </a:rPr>
              <a:t>Basic Indicator Approach — Simplest Basel II operational risk method: 15% of average annual gross income (3-year average).</a:t>
            </a:r>
            <a:endParaRPr lang="en-US" sz="900" dirty="0"/>
          </a:p>
        </p:txBody>
      </p:sp>
      <p:sp>
        <p:nvSpPr>
          <p:cNvPr id="27" name="Shape 25"/>
          <p:cNvSpPr/>
          <p:nvPr/>
        </p:nvSpPr>
        <p:spPr>
          <a:xfrm>
            <a:off x="274320" y="2446020"/>
            <a:ext cx="8595360" cy="333756"/>
          </a:xfrm>
          <a:prstGeom prst="rect">
            <a:avLst/>
          </a:prstGeom>
          <a:solidFill>
            <a:srgbClr val="F4F6F8"/>
          </a:solidFill>
          <a:ln/>
        </p:spPr>
      </p:sp>
      <p:sp>
        <p:nvSpPr>
          <p:cNvPr id="28" name="Shape 26"/>
          <p:cNvSpPr/>
          <p:nvPr/>
        </p:nvSpPr>
        <p:spPr>
          <a:xfrm>
            <a:off x="274320" y="2446020"/>
            <a:ext cx="914400" cy="333756"/>
          </a:xfrm>
          <a:prstGeom prst="rect">
            <a:avLst/>
          </a:prstGeom>
          <a:solidFill>
            <a:srgbClr val="1B3A6B"/>
          </a:solidFill>
          <a:ln/>
        </p:spPr>
      </p:sp>
      <p:sp>
        <p:nvSpPr>
          <p:cNvPr id="29" name="Text 27">
            <a:hlinkClick r:id="rId6" tooltip="BCBS context. → See slide 2" action="ppaction://hlinksldjump"/>
          </p:cNvPr>
          <p:cNvSpPr/>
          <p:nvPr/>
        </p:nvSpPr>
        <p:spPr>
          <a:xfrm>
            <a:off x="274320" y="2446020"/>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6" action="ppaction://hlinksldjump" tooltip="BCBS context. → See slide 2">
                  <a:extLst>
                    <a:ext uri="{A12FA001-AC4F-418D-AE19-62706E023703}">
                      <ahyp:hlinkClr xmlns:ahyp="http://schemas.microsoft.com/office/drawing/2018/hyperlinkcolor" val="tx"/>
                    </a:ext>
                  </a:extLst>
                </a:hlinkClick>
              </a:rPr>
              <a:t>BIS</a:t>
            </a:r>
            <a:endParaRPr lang="en-US" sz="900" dirty="0"/>
          </a:p>
        </p:txBody>
      </p:sp>
      <p:sp>
        <p:nvSpPr>
          <p:cNvPr id="30" name="Text 28"/>
          <p:cNvSpPr/>
          <p:nvPr/>
        </p:nvSpPr>
        <p:spPr>
          <a:xfrm>
            <a:off x="1234440" y="2446020"/>
            <a:ext cx="7589520" cy="333756"/>
          </a:xfrm>
          <a:prstGeom prst="rect">
            <a:avLst/>
          </a:prstGeom>
          <a:noFill/>
          <a:ln/>
        </p:spPr>
        <p:txBody>
          <a:bodyPr wrap="square" lIns="0" tIns="0" rIns="0" bIns="0" rtlCol="0" anchor="ctr"/>
          <a:lstStyle/>
          <a:p>
            <a:pPr indent="0" marL="0">
              <a:buNone/>
            </a:pPr>
            <a:r>
              <a:rPr lang="en-US" sz="900" dirty="0">
                <a:solidFill>
                  <a:srgbClr val="1A1A2E"/>
                </a:solidFill>
              </a:rPr>
              <a:t>Bank for International Settlements — The international financial institution hosting the BCBS, acting as a bank for central banks.</a:t>
            </a:r>
            <a:endParaRPr lang="en-US" sz="900" dirty="0"/>
          </a:p>
        </p:txBody>
      </p:sp>
      <p:sp>
        <p:nvSpPr>
          <p:cNvPr id="31" name="Shape 29"/>
          <p:cNvSpPr/>
          <p:nvPr/>
        </p:nvSpPr>
        <p:spPr>
          <a:xfrm>
            <a:off x="274320" y="2779776"/>
            <a:ext cx="8595360" cy="333756"/>
          </a:xfrm>
          <a:prstGeom prst="rect">
            <a:avLst/>
          </a:prstGeom>
          <a:solidFill>
            <a:srgbClr val="FFFFFF"/>
          </a:solidFill>
          <a:ln/>
        </p:spPr>
      </p:sp>
      <p:sp>
        <p:nvSpPr>
          <p:cNvPr id="32" name="Shape 30"/>
          <p:cNvSpPr/>
          <p:nvPr/>
        </p:nvSpPr>
        <p:spPr>
          <a:xfrm>
            <a:off x="274320" y="2779776"/>
            <a:ext cx="914400" cy="333756"/>
          </a:xfrm>
          <a:prstGeom prst="rect">
            <a:avLst/>
          </a:prstGeom>
          <a:solidFill>
            <a:srgbClr val="0E6B8A"/>
          </a:solidFill>
          <a:ln/>
        </p:spPr>
      </p:sp>
      <p:sp>
        <p:nvSpPr>
          <p:cNvPr id="33" name="Text 31">
            <a:hlinkClick r:id="rId7" tooltip="CCP incentive shown in IRS example. → See slide 17" action="ppaction://hlinksldjump"/>
          </p:cNvPr>
          <p:cNvSpPr/>
          <p:nvPr/>
        </p:nvSpPr>
        <p:spPr>
          <a:xfrm>
            <a:off x="274320" y="2779776"/>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7" action="ppaction://hlinksldjump" tooltip="CCP incentive shown in IRS example. → See slide 17">
                  <a:extLst>
                    <a:ext uri="{A12FA001-AC4F-418D-AE19-62706E023703}">
                      <ahyp:hlinkClr xmlns:ahyp="http://schemas.microsoft.com/office/drawing/2018/hyperlinkcolor" val="tx"/>
                    </a:ext>
                  </a:extLst>
                </a:hlinkClick>
              </a:rPr>
              <a:t>CCP</a:t>
            </a:r>
            <a:endParaRPr lang="en-US" sz="900" dirty="0"/>
          </a:p>
        </p:txBody>
      </p:sp>
      <p:sp>
        <p:nvSpPr>
          <p:cNvPr id="34" name="Text 32"/>
          <p:cNvSpPr/>
          <p:nvPr/>
        </p:nvSpPr>
        <p:spPr>
          <a:xfrm>
            <a:off x="1234440" y="2779776"/>
            <a:ext cx="7589520" cy="333756"/>
          </a:xfrm>
          <a:prstGeom prst="rect">
            <a:avLst/>
          </a:prstGeom>
          <a:noFill/>
          <a:ln/>
        </p:spPr>
        <p:txBody>
          <a:bodyPr wrap="square" lIns="0" tIns="0" rIns="0" bIns="0" rtlCol="0" anchor="ctr"/>
          <a:lstStyle/>
          <a:p>
            <a:pPr indent="0" marL="0">
              <a:buNone/>
            </a:pPr>
            <a:r>
              <a:rPr lang="en-US" sz="900" dirty="0">
                <a:solidFill>
                  <a:srgbClr val="1A1A2E"/>
                </a:solidFill>
              </a:rPr>
              <a:t>Central Counterparty — A clearing house that interposes itself between buyer and seller, becoming the counterparty to both sides of a trade.</a:t>
            </a:r>
            <a:endParaRPr lang="en-US" sz="900" dirty="0"/>
          </a:p>
        </p:txBody>
      </p:sp>
      <p:sp>
        <p:nvSpPr>
          <p:cNvPr id="35" name="Shape 33"/>
          <p:cNvSpPr/>
          <p:nvPr/>
        </p:nvSpPr>
        <p:spPr>
          <a:xfrm>
            <a:off x="274320" y="3113532"/>
            <a:ext cx="8595360" cy="333756"/>
          </a:xfrm>
          <a:prstGeom prst="rect">
            <a:avLst/>
          </a:prstGeom>
          <a:solidFill>
            <a:srgbClr val="F4F6F8"/>
          </a:solidFill>
          <a:ln/>
        </p:spPr>
      </p:sp>
      <p:sp>
        <p:nvSpPr>
          <p:cNvPr id="36" name="Shape 34"/>
          <p:cNvSpPr/>
          <p:nvPr/>
        </p:nvSpPr>
        <p:spPr>
          <a:xfrm>
            <a:off x="274320" y="3113532"/>
            <a:ext cx="914400" cy="333756"/>
          </a:xfrm>
          <a:prstGeom prst="rect">
            <a:avLst/>
          </a:prstGeom>
          <a:solidFill>
            <a:srgbClr val="1B3A6B"/>
          </a:solidFill>
          <a:ln/>
        </p:spPr>
      </p:sp>
      <p:sp>
        <p:nvSpPr>
          <p:cNvPr id="37" name="Text 35">
            <a:hlinkClick r:id="rId8" tooltip="Basel III capital buffers. → See Basel III slide" action="ppaction://hlinksldjump"/>
          </p:cNvPr>
          <p:cNvSpPr/>
          <p:nvPr/>
        </p:nvSpPr>
        <p:spPr>
          <a:xfrm>
            <a:off x="274320" y="3113532"/>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8" action="ppaction://hlinksldjump" tooltip="Basel III capital buffers. → See Basel III slide">
                  <a:extLst>
                    <a:ext uri="{A12FA001-AC4F-418D-AE19-62706E023703}">
                      <ahyp:hlinkClr xmlns:ahyp="http://schemas.microsoft.com/office/drawing/2018/hyperlinkcolor" val="tx"/>
                    </a:ext>
                  </a:extLst>
                </a:hlinkClick>
              </a:rPr>
              <a:t>CCyB</a:t>
            </a:r>
            <a:endParaRPr lang="en-US" sz="900" dirty="0"/>
          </a:p>
        </p:txBody>
      </p:sp>
      <p:sp>
        <p:nvSpPr>
          <p:cNvPr id="38" name="Text 36"/>
          <p:cNvSpPr/>
          <p:nvPr/>
        </p:nvSpPr>
        <p:spPr>
          <a:xfrm>
            <a:off x="1234440" y="3113532"/>
            <a:ext cx="7589520" cy="333756"/>
          </a:xfrm>
          <a:prstGeom prst="rect">
            <a:avLst/>
          </a:prstGeom>
          <a:noFill/>
          <a:ln/>
        </p:spPr>
        <p:txBody>
          <a:bodyPr wrap="square" lIns="0" tIns="0" rIns="0" bIns="0" rtlCol="0" anchor="ctr"/>
          <a:lstStyle/>
          <a:p>
            <a:pPr indent="0" marL="0">
              <a:buNone/>
            </a:pPr>
            <a:r>
              <a:rPr lang="en-US" sz="900" dirty="0">
                <a:solidFill>
                  <a:srgbClr val="1A1A2E"/>
                </a:solidFill>
              </a:rPr>
              <a:t>Countercyclical Capital Buffer — A 0–2.5% CET1 add-on set by national regulators during periods of excessive credit growth; released in downturns.</a:t>
            </a:r>
            <a:endParaRPr lang="en-US" sz="900" dirty="0"/>
          </a:p>
        </p:txBody>
      </p:sp>
      <p:sp>
        <p:nvSpPr>
          <p:cNvPr id="39" name="Shape 37"/>
          <p:cNvSpPr/>
          <p:nvPr/>
        </p:nvSpPr>
        <p:spPr>
          <a:xfrm>
            <a:off x="274320" y="3447288"/>
            <a:ext cx="8595360" cy="333756"/>
          </a:xfrm>
          <a:prstGeom prst="rect">
            <a:avLst/>
          </a:prstGeom>
          <a:solidFill>
            <a:srgbClr val="FFFFFF"/>
          </a:solidFill>
          <a:ln/>
        </p:spPr>
      </p:sp>
      <p:sp>
        <p:nvSpPr>
          <p:cNvPr id="40" name="Shape 38"/>
          <p:cNvSpPr/>
          <p:nvPr/>
        </p:nvSpPr>
        <p:spPr>
          <a:xfrm>
            <a:off x="274320" y="3447288"/>
            <a:ext cx="914400" cy="333756"/>
          </a:xfrm>
          <a:prstGeom prst="rect">
            <a:avLst/>
          </a:prstGeom>
          <a:solidFill>
            <a:srgbClr val="0E6B8A"/>
          </a:solidFill>
          <a:ln/>
        </p:spPr>
      </p:sp>
      <p:sp>
        <p:nvSpPr>
          <p:cNvPr id="41" name="Text 39">
            <a:hlinkClick r:id="rId9" tooltip="Used in FX Forward example. → See slide 15" action="ppaction://hlinksldjump"/>
          </p:cNvPr>
          <p:cNvSpPr/>
          <p:nvPr/>
        </p:nvSpPr>
        <p:spPr>
          <a:xfrm>
            <a:off x="274320" y="3447288"/>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9" action="ppaction://hlinksldjump" tooltip="Used in FX Forward example. → See slide 15">
                  <a:extLst>
                    <a:ext uri="{A12FA001-AC4F-418D-AE19-62706E023703}">
                      <ahyp:hlinkClr xmlns:ahyp="http://schemas.microsoft.com/office/drawing/2018/hyperlinkcolor" val="tx"/>
                    </a:ext>
                  </a:extLst>
                </a:hlinkClick>
              </a:rPr>
              <a:t>CEM</a:t>
            </a:r>
            <a:endParaRPr lang="en-US" sz="900" dirty="0"/>
          </a:p>
        </p:txBody>
      </p:sp>
      <p:sp>
        <p:nvSpPr>
          <p:cNvPr id="42" name="Text 40"/>
          <p:cNvSpPr/>
          <p:nvPr/>
        </p:nvSpPr>
        <p:spPr>
          <a:xfrm>
            <a:off x="1234440" y="3447288"/>
            <a:ext cx="7589520" cy="333756"/>
          </a:xfrm>
          <a:prstGeom prst="rect">
            <a:avLst/>
          </a:prstGeom>
          <a:noFill/>
          <a:ln/>
        </p:spPr>
        <p:txBody>
          <a:bodyPr wrap="square" lIns="0" tIns="0" rIns="0" bIns="0" rtlCol="0" anchor="ctr"/>
          <a:lstStyle/>
          <a:p>
            <a:pPr indent="0" marL="0">
              <a:buNone/>
            </a:pPr>
            <a:r>
              <a:rPr lang="en-US" sz="900" dirty="0">
                <a:solidFill>
                  <a:srgbClr val="1A1A2E"/>
                </a:solidFill>
              </a:rPr>
              <a:t>Current Exposure Method — Basel I/II/III method for measuring counterparty credit risk: replacement cost plus a fixed notional add-on percentage.</a:t>
            </a:r>
            <a:endParaRPr lang="en-US" sz="900" dirty="0"/>
          </a:p>
        </p:txBody>
      </p:sp>
      <p:sp>
        <p:nvSpPr>
          <p:cNvPr id="43" name="Shape 41"/>
          <p:cNvSpPr/>
          <p:nvPr/>
        </p:nvSpPr>
        <p:spPr>
          <a:xfrm>
            <a:off x="274320" y="3781044"/>
            <a:ext cx="8595360" cy="333756"/>
          </a:xfrm>
          <a:prstGeom prst="rect">
            <a:avLst/>
          </a:prstGeom>
          <a:solidFill>
            <a:srgbClr val="F4F6F8"/>
          </a:solidFill>
          <a:ln/>
        </p:spPr>
      </p:sp>
      <p:sp>
        <p:nvSpPr>
          <p:cNvPr id="44" name="Shape 42"/>
          <p:cNvSpPr/>
          <p:nvPr/>
        </p:nvSpPr>
        <p:spPr>
          <a:xfrm>
            <a:off x="274320" y="3781044"/>
            <a:ext cx="914400" cy="333756"/>
          </a:xfrm>
          <a:prstGeom prst="rect">
            <a:avLst/>
          </a:prstGeom>
          <a:solidFill>
            <a:srgbClr val="1B3A6B"/>
          </a:solidFill>
          <a:ln/>
        </p:spPr>
      </p:sp>
      <p:sp>
        <p:nvSpPr>
          <p:cNvPr id="45" name="Text 43">
            <a:hlinkClick r:id="rId10" tooltip="Capital Stack. → See Basel III slide" action="ppaction://hlinksldjump"/>
          </p:cNvPr>
          <p:cNvSpPr/>
          <p:nvPr/>
        </p:nvSpPr>
        <p:spPr>
          <a:xfrm>
            <a:off x="274320" y="3781044"/>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0" action="ppaction://hlinksldjump" tooltip="Capital Stack. → See Basel III slide">
                  <a:extLst>
                    <a:ext uri="{A12FA001-AC4F-418D-AE19-62706E023703}">
                      <ahyp:hlinkClr xmlns:ahyp="http://schemas.microsoft.com/office/drawing/2018/hyperlinkcolor" val="tx"/>
                    </a:ext>
                  </a:extLst>
                </a:hlinkClick>
              </a:rPr>
              <a:t>CET1</a:t>
            </a:r>
            <a:endParaRPr lang="en-US" sz="900" dirty="0"/>
          </a:p>
        </p:txBody>
      </p:sp>
      <p:sp>
        <p:nvSpPr>
          <p:cNvPr id="46" name="Text 44"/>
          <p:cNvSpPr/>
          <p:nvPr/>
        </p:nvSpPr>
        <p:spPr>
          <a:xfrm>
            <a:off x="1234440" y="3781044"/>
            <a:ext cx="7589520" cy="333756"/>
          </a:xfrm>
          <a:prstGeom prst="rect">
            <a:avLst/>
          </a:prstGeom>
          <a:noFill/>
          <a:ln/>
        </p:spPr>
        <p:txBody>
          <a:bodyPr wrap="square" lIns="0" tIns="0" rIns="0" bIns="0" rtlCol="0" anchor="ctr"/>
          <a:lstStyle/>
          <a:p>
            <a:pPr indent="0" marL="0">
              <a:buNone/>
            </a:pPr>
            <a:r>
              <a:rPr lang="en-US" sz="900" dirty="0">
                <a:solidFill>
                  <a:srgbClr val="1A1A2E"/>
                </a:solidFill>
              </a:rPr>
              <a:t>Common Equity Tier 1 — The highest quality regulatory capital: common shares plus retained earnings only. Minimum 4.5% of RWA under Basel III/IV.</a:t>
            </a:r>
            <a:endParaRPr lang="en-US" sz="900" dirty="0"/>
          </a:p>
        </p:txBody>
      </p:sp>
      <p:sp>
        <p:nvSpPr>
          <p:cNvPr id="47" name="Shape 45"/>
          <p:cNvSpPr/>
          <p:nvPr/>
        </p:nvSpPr>
        <p:spPr>
          <a:xfrm>
            <a:off x="274320" y="4114800"/>
            <a:ext cx="8595360" cy="333756"/>
          </a:xfrm>
          <a:prstGeom prst="rect">
            <a:avLst/>
          </a:prstGeom>
          <a:solidFill>
            <a:srgbClr val="FFFFFF"/>
          </a:solidFill>
          <a:ln/>
        </p:spPr>
      </p:sp>
      <p:sp>
        <p:nvSpPr>
          <p:cNvPr id="48" name="Shape 46"/>
          <p:cNvSpPr/>
          <p:nvPr/>
        </p:nvSpPr>
        <p:spPr>
          <a:xfrm>
            <a:off x="274320" y="4114800"/>
            <a:ext cx="914400" cy="333756"/>
          </a:xfrm>
          <a:prstGeom prst="rect">
            <a:avLst/>
          </a:prstGeom>
          <a:solidFill>
            <a:srgbClr val="0E6B8A"/>
          </a:solidFill>
          <a:ln/>
        </p:spPr>
      </p:sp>
      <p:sp>
        <p:nvSpPr>
          <p:cNvPr id="49" name="Text 47">
            <a:hlinkClick r:id="rId11" tooltip="AT1 instruments. → See Basel III slide" action="ppaction://hlinksldjump"/>
          </p:cNvPr>
          <p:cNvSpPr/>
          <p:nvPr/>
        </p:nvSpPr>
        <p:spPr>
          <a:xfrm>
            <a:off x="274320" y="4114800"/>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1" action="ppaction://hlinksldjump" tooltip="AT1 instruments. → See Basel III slide">
                  <a:extLst>
                    <a:ext uri="{A12FA001-AC4F-418D-AE19-62706E023703}">
                      <ahyp:hlinkClr xmlns:ahyp="http://schemas.microsoft.com/office/drawing/2018/hyperlinkcolor" val="tx"/>
                    </a:ext>
                  </a:extLst>
                </a:hlinkClick>
              </a:rPr>
              <a:t>CoCo</a:t>
            </a:r>
            <a:endParaRPr lang="en-US" sz="900" dirty="0"/>
          </a:p>
        </p:txBody>
      </p:sp>
      <p:sp>
        <p:nvSpPr>
          <p:cNvPr id="50" name="Text 48"/>
          <p:cNvSpPr/>
          <p:nvPr/>
        </p:nvSpPr>
        <p:spPr>
          <a:xfrm>
            <a:off x="1234440" y="4114800"/>
            <a:ext cx="7589520" cy="333756"/>
          </a:xfrm>
          <a:prstGeom prst="rect">
            <a:avLst/>
          </a:prstGeom>
          <a:noFill/>
          <a:ln/>
        </p:spPr>
        <p:txBody>
          <a:bodyPr wrap="square" lIns="0" tIns="0" rIns="0" bIns="0" rtlCol="0" anchor="ctr"/>
          <a:lstStyle/>
          <a:p>
            <a:pPr indent="0" marL="0">
              <a:buNone/>
            </a:pPr>
            <a:r>
              <a:rPr lang="en-US" sz="900" dirty="0">
                <a:solidFill>
                  <a:srgbClr val="1A1A2E"/>
                </a:solidFill>
              </a:rPr>
              <a:t>Contingent Convertible Bond — A hybrid debt instrument that converts to equity or is written down when a bank's capital falls below a trigger level.</a:t>
            </a:r>
            <a:endParaRPr lang="en-US" sz="900" dirty="0"/>
          </a:p>
        </p:txBody>
      </p:sp>
      <p:sp>
        <p:nvSpPr>
          <p:cNvPr id="51" name="Shape 49"/>
          <p:cNvSpPr/>
          <p:nvPr/>
        </p:nvSpPr>
        <p:spPr>
          <a:xfrm>
            <a:off x="274320" y="4448556"/>
            <a:ext cx="8595360" cy="333756"/>
          </a:xfrm>
          <a:prstGeom prst="rect">
            <a:avLst/>
          </a:prstGeom>
          <a:solidFill>
            <a:srgbClr val="F4F6F8"/>
          </a:solidFill>
          <a:ln/>
        </p:spPr>
      </p:sp>
      <p:sp>
        <p:nvSpPr>
          <p:cNvPr id="52" name="Shape 50"/>
          <p:cNvSpPr/>
          <p:nvPr/>
        </p:nvSpPr>
        <p:spPr>
          <a:xfrm>
            <a:off x="274320" y="4448556"/>
            <a:ext cx="914400" cy="333756"/>
          </a:xfrm>
          <a:prstGeom prst="rect">
            <a:avLst/>
          </a:prstGeom>
          <a:solidFill>
            <a:srgbClr val="1B3A6B"/>
          </a:solidFill>
          <a:ln/>
        </p:spPr>
      </p:sp>
      <p:sp>
        <p:nvSpPr>
          <p:cNvPr id="53" name="Text 51">
            <a:hlinkClick r:id="rId12" tooltip="Basel I CCR. → See Basel I slide" action="ppaction://hlinksldjump"/>
          </p:cNvPr>
          <p:cNvSpPr/>
          <p:nvPr/>
        </p:nvSpPr>
        <p:spPr>
          <a:xfrm>
            <a:off x="274320" y="4448556"/>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2" action="ppaction://hlinksldjump" tooltip="Basel I CCR. → See Basel I slide">
                  <a:extLst>
                    <a:ext uri="{A12FA001-AC4F-418D-AE19-62706E023703}">
                      <ahyp:hlinkClr xmlns:ahyp="http://schemas.microsoft.com/office/drawing/2018/hyperlinkcolor" val="tx"/>
                    </a:ext>
                  </a:extLst>
                </a:hlinkClick>
              </a:rPr>
              <a:t>CRE</a:t>
            </a:r>
            <a:endParaRPr lang="en-US" sz="900" dirty="0"/>
          </a:p>
        </p:txBody>
      </p:sp>
      <p:sp>
        <p:nvSpPr>
          <p:cNvPr id="54" name="Text 52"/>
          <p:cNvSpPr/>
          <p:nvPr/>
        </p:nvSpPr>
        <p:spPr>
          <a:xfrm>
            <a:off x="1234440" y="4448556"/>
            <a:ext cx="7589520" cy="333756"/>
          </a:xfrm>
          <a:prstGeom prst="rect">
            <a:avLst/>
          </a:prstGeom>
          <a:noFill/>
          <a:ln/>
        </p:spPr>
        <p:txBody>
          <a:bodyPr wrap="square" lIns="0" tIns="0" rIns="0" bIns="0" rtlCol="0" anchor="ctr"/>
          <a:lstStyle/>
          <a:p>
            <a:pPr indent="0" marL="0">
              <a:buNone/>
            </a:pPr>
            <a:r>
              <a:rPr lang="en-US" sz="900" dirty="0">
                <a:solidFill>
                  <a:srgbClr val="1A1A2E"/>
                </a:solidFill>
              </a:rPr>
              <a:t>Credit Risk Equivalent — Basel I term for the exposure amount used to calculate counterparty credit risk capital on derivatives.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Glossary — Part 2 of 3</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6858000" cy="658368"/>
          </a:xfrm>
          <a:prstGeom prst="rect">
            <a:avLst/>
          </a:prstGeom>
          <a:noFill/>
          <a:ln/>
        </p:spPr>
        <p:txBody>
          <a:bodyPr wrap="square" lIns="0" tIns="0" rIns="0" bIns="0" rtlCol="0" anchor="ctr"/>
          <a:lstStyle/>
          <a:p>
            <a:pPr indent="0" marL="0">
              <a:buNone/>
            </a:pPr>
            <a:r>
              <a:rPr lang="en-US" sz="2000" b="1" dirty="0">
                <a:solidFill>
                  <a:srgbClr val="FFFFFF"/>
                </a:solidFill>
              </a:rPr>
              <a:t>Glossary of Key Terms &amp; Abbreviations — Part 2  (C–N)</a:t>
            </a:r>
            <a:endParaRPr lang="en-US" sz="2000" dirty="0"/>
          </a:p>
        </p:txBody>
      </p:sp>
      <p:sp>
        <p:nvSpPr>
          <p:cNvPr id="6" name="Text 4"/>
          <p:cNvSpPr/>
          <p:nvPr/>
        </p:nvSpPr>
        <p:spPr>
          <a:xfrm>
            <a:off x="6949440" y="146304"/>
            <a:ext cx="1965960" cy="384048"/>
          </a:xfrm>
          <a:prstGeom prst="rect">
            <a:avLst/>
          </a:prstGeom>
          <a:noFill/>
          <a:ln/>
        </p:spPr>
        <p:txBody>
          <a:bodyPr wrap="square" lIns="0" tIns="0" rIns="0" bIns="0" rtlCol="0" anchor="ctr"/>
          <a:lstStyle/>
          <a:p>
            <a:pPr indent="0" marL="0">
              <a:buNone/>
            </a:pPr>
            <a:r>
              <a:rPr lang="en-US" sz="800" i="1" dirty="0">
                <a:solidFill>
                  <a:srgbClr val="C9A84C"/>
                </a:solidFill>
              </a:rPr>
              <a:t>Click any term to jump to its relevant slide. Hover for full form.</a:t>
            </a:r>
            <a:endParaRPr lang="en-US" sz="800" dirty="0"/>
          </a:p>
        </p:txBody>
      </p:sp>
      <p:sp>
        <p:nvSpPr>
          <p:cNvPr id="7" name="Shape 5"/>
          <p:cNvSpPr/>
          <p:nvPr/>
        </p:nvSpPr>
        <p:spPr>
          <a:xfrm>
            <a:off x="274320" y="777240"/>
            <a:ext cx="8595360" cy="333756"/>
          </a:xfrm>
          <a:prstGeom prst="rect">
            <a:avLst/>
          </a:prstGeom>
          <a:solidFill>
            <a:srgbClr val="FFFFFF"/>
          </a:solidFill>
          <a:ln/>
        </p:spPr>
      </p:sp>
      <p:sp>
        <p:nvSpPr>
          <p:cNvPr id="8" name="Shape 6"/>
          <p:cNvSpPr/>
          <p:nvPr/>
        </p:nvSpPr>
        <p:spPr>
          <a:xfrm>
            <a:off x="274320" y="777240"/>
            <a:ext cx="914400" cy="333756"/>
          </a:xfrm>
          <a:prstGeom prst="rect">
            <a:avLst/>
          </a:prstGeom>
          <a:solidFill>
            <a:srgbClr val="0E6B8A"/>
          </a:solidFill>
          <a:ln/>
        </p:spPr>
      </p:sp>
      <p:sp>
        <p:nvSpPr>
          <p:cNvPr id="9" name="Text 7">
            <a:hlinkClick r:id="rId1" tooltip="CVA Capital introduced in Basel III. → See Basel III slide" action="ppaction://hlinksldjump"/>
          </p:cNvPr>
          <p:cNvSpPr/>
          <p:nvPr/>
        </p:nvSpPr>
        <p:spPr>
          <a:xfrm>
            <a:off x="274320" y="777240"/>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 action="ppaction://hlinksldjump" tooltip="CVA Capital introduced in Basel III. → See Basel III slide">
                  <a:extLst>
                    <a:ext uri="{A12FA001-AC4F-418D-AE19-62706E023703}">
                      <ahyp:hlinkClr xmlns:ahyp="http://schemas.microsoft.com/office/drawing/2018/hyperlinkcolor" val="tx"/>
                    </a:ext>
                  </a:extLst>
                </a:hlinkClick>
              </a:rPr>
              <a:t>CVA</a:t>
            </a:r>
            <a:endParaRPr lang="en-US" sz="900" dirty="0"/>
          </a:p>
        </p:txBody>
      </p:sp>
      <p:sp>
        <p:nvSpPr>
          <p:cNvPr id="10" name="Text 8"/>
          <p:cNvSpPr/>
          <p:nvPr/>
        </p:nvSpPr>
        <p:spPr>
          <a:xfrm>
            <a:off x="1234440" y="777240"/>
            <a:ext cx="7589520" cy="333756"/>
          </a:xfrm>
          <a:prstGeom prst="rect">
            <a:avLst/>
          </a:prstGeom>
          <a:noFill/>
          <a:ln/>
        </p:spPr>
        <p:txBody>
          <a:bodyPr wrap="square" lIns="0" tIns="0" rIns="0" bIns="0" rtlCol="0" anchor="ctr"/>
          <a:lstStyle/>
          <a:p>
            <a:pPr indent="0" marL="0">
              <a:buNone/>
            </a:pPr>
            <a:r>
              <a:rPr lang="en-US" sz="900" dirty="0">
                <a:solidFill>
                  <a:srgbClr val="1A1A2E"/>
                </a:solidFill>
              </a:rPr>
              <a:t>Credit Valuation Adjustment — The market value of counterparty default risk on a derivatives portfolio; the difference between a risk-free and risky price.</a:t>
            </a:r>
            <a:endParaRPr lang="en-US" sz="900" dirty="0"/>
          </a:p>
        </p:txBody>
      </p:sp>
      <p:sp>
        <p:nvSpPr>
          <p:cNvPr id="11" name="Shape 9"/>
          <p:cNvSpPr/>
          <p:nvPr/>
        </p:nvSpPr>
        <p:spPr>
          <a:xfrm>
            <a:off x="274320" y="1110996"/>
            <a:ext cx="8595360" cy="333756"/>
          </a:xfrm>
          <a:prstGeom prst="rect">
            <a:avLst/>
          </a:prstGeom>
          <a:solidFill>
            <a:srgbClr val="F4F6F8"/>
          </a:solidFill>
          <a:ln/>
        </p:spPr>
      </p:sp>
      <p:sp>
        <p:nvSpPr>
          <p:cNvPr id="12" name="Shape 10"/>
          <p:cNvSpPr/>
          <p:nvPr/>
        </p:nvSpPr>
        <p:spPr>
          <a:xfrm>
            <a:off x="274320" y="1110996"/>
            <a:ext cx="914400" cy="333756"/>
          </a:xfrm>
          <a:prstGeom prst="rect">
            <a:avLst/>
          </a:prstGeom>
          <a:solidFill>
            <a:srgbClr val="1B3A6B"/>
          </a:solidFill>
          <a:ln/>
        </p:spPr>
      </p:sp>
      <p:sp>
        <p:nvSpPr>
          <p:cNvPr id="13" name="Text 11">
            <a:hlinkClick r:id="rId2" tooltip="IRB inputs. → See AAA vs BBB slide" action="ppaction://hlinksldjump"/>
          </p:cNvPr>
          <p:cNvSpPr/>
          <p:nvPr/>
        </p:nvSpPr>
        <p:spPr>
          <a:xfrm>
            <a:off x="274320" y="1110996"/>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2" action="ppaction://hlinksldjump" tooltip="IRB inputs. → See AAA vs BBB slide">
                  <a:extLst>
                    <a:ext uri="{A12FA001-AC4F-418D-AE19-62706E023703}">
                      <ahyp:hlinkClr xmlns:ahyp="http://schemas.microsoft.com/office/drawing/2018/hyperlinkcolor" val="tx"/>
                    </a:ext>
                  </a:extLst>
                </a:hlinkClick>
              </a:rPr>
              <a:t>EAD</a:t>
            </a:r>
            <a:endParaRPr lang="en-US" sz="900" dirty="0"/>
          </a:p>
        </p:txBody>
      </p:sp>
      <p:sp>
        <p:nvSpPr>
          <p:cNvPr id="14" name="Text 12"/>
          <p:cNvSpPr/>
          <p:nvPr/>
        </p:nvSpPr>
        <p:spPr>
          <a:xfrm>
            <a:off x="1234440" y="1110996"/>
            <a:ext cx="7589520" cy="333756"/>
          </a:xfrm>
          <a:prstGeom prst="rect">
            <a:avLst/>
          </a:prstGeom>
          <a:noFill/>
          <a:ln/>
        </p:spPr>
        <p:txBody>
          <a:bodyPr wrap="square" lIns="0" tIns="0" rIns="0" bIns="0" rtlCol="0" anchor="ctr"/>
          <a:lstStyle/>
          <a:p>
            <a:pPr indent="0" marL="0">
              <a:buNone/>
            </a:pPr>
            <a:r>
              <a:rPr lang="en-US" sz="900" dirty="0">
                <a:solidFill>
                  <a:srgbClr val="1A1A2E"/>
                </a:solidFill>
              </a:rPr>
              <a:t>Exposure at Default — The estimated exposure to a counterparty at the time of default. One of the three core IRB inputs (with PD and LGD).</a:t>
            </a:r>
            <a:endParaRPr lang="en-US" sz="900" dirty="0"/>
          </a:p>
        </p:txBody>
      </p:sp>
      <p:sp>
        <p:nvSpPr>
          <p:cNvPr id="15" name="Shape 13"/>
          <p:cNvSpPr/>
          <p:nvPr/>
        </p:nvSpPr>
        <p:spPr>
          <a:xfrm>
            <a:off x="274320" y="1444752"/>
            <a:ext cx="8595360" cy="333756"/>
          </a:xfrm>
          <a:prstGeom prst="rect">
            <a:avLst/>
          </a:prstGeom>
          <a:solidFill>
            <a:srgbClr val="FFFFFF"/>
          </a:solidFill>
          <a:ln/>
        </p:spPr>
      </p:sp>
      <p:sp>
        <p:nvSpPr>
          <p:cNvPr id="16" name="Shape 14"/>
          <p:cNvSpPr/>
          <p:nvPr/>
        </p:nvSpPr>
        <p:spPr>
          <a:xfrm>
            <a:off x="274320" y="1444752"/>
            <a:ext cx="914400" cy="333756"/>
          </a:xfrm>
          <a:prstGeom prst="rect">
            <a:avLst/>
          </a:prstGeom>
          <a:solidFill>
            <a:srgbClr val="0E6B8A"/>
          </a:solidFill>
          <a:ln/>
        </p:spPr>
      </p:sp>
      <p:sp>
        <p:nvSpPr>
          <p:cNvPr id="17" name="Text 15">
            <a:hlinkClick r:id="rId3" tooltip="Expected vs unexpected loss. → See slide 3" action="ppaction://hlinksldjump"/>
          </p:cNvPr>
          <p:cNvSpPr/>
          <p:nvPr/>
        </p:nvSpPr>
        <p:spPr>
          <a:xfrm>
            <a:off x="274320" y="1444752"/>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3" action="ppaction://hlinksldjump" tooltip="Expected vs unexpected loss. → See slide 3">
                  <a:extLst>
                    <a:ext uri="{A12FA001-AC4F-418D-AE19-62706E023703}">
                      <ahyp:hlinkClr xmlns:ahyp="http://schemas.microsoft.com/office/drawing/2018/hyperlinkcolor" val="tx"/>
                    </a:ext>
                  </a:extLst>
                </a:hlinkClick>
              </a:rPr>
              <a:t>EL</a:t>
            </a:r>
            <a:endParaRPr lang="en-US" sz="900" dirty="0"/>
          </a:p>
        </p:txBody>
      </p:sp>
      <p:sp>
        <p:nvSpPr>
          <p:cNvPr id="18" name="Text 16"/>
          <p:cNvSpPr/>
          <p:nvPr/>
        </p:nvSpPr>
        <p:spPr>
          <a:xfrm>
            <a:off x="1234440" y="1444752"/>
            <a:ext cx="7589520" cy="333756"/>
          </a:xfrm>
          <a:prstGeom prst="rect">
            <a:avLst/>
          </a:prstGeom>
          <a:noFill/>
          <a:ln/>
        </p:spPr>
        <p:txBody>
          <a:bodyPr wrap="square" lIns="0" tIns="0" rIns="0" bIns="0" rtlCol="0" anchor="ctr"/>
          <a:lstStyle/>
          <a:p>
            <a:pPr indent="0" marL="0">
              <a:buNone/>
            </a:pPr>
            <a:r>
              <a:rPr lang="en-US" sz="900" dirty="0">
                <a:solidFill>
                  <a:srgbClr val="1A1A2E"/>
                </a:solidFill>
              </a:rPr>
              <a:t>Expected Loss — The average loss a bank expects from a portfolio: EL = PD × LGD × EAD. Covered by provisions, not capital.</a:t>
            </a:r>
            <a:endParaRPr lang="en-US" sz="900" dirty="0"/>
          </a:p>
        </p:txBody>
      </p:sp>
      <p:sp>
        <p:nvSpPr>
          <p:cNvPr id="19" name="Shape 17"/>
          <p:cNvSpPr/>
          <p:nvPr/>
        </p:nvSpPr>
        <p:spPr>
          <a:xfrm>
            <a:off x="274320" y="1778508"/>
            <a:ext cx="8595360" cy="333756"/>
          </a:xfrm>
          <a:prstGeom prst="rect">
            <a:avLst/>
          </a:prstGeom>
          <a:solidFill>
            <a:srgbClr val="F4F6F8"/>
          </a:solidFill>
          <a:ln/>
        </p:spPr>
      </p:sp>
      <p:sp>
        <p:nvSpPr>
          <p:cNvPr id="20" name="Shape 18"/>
          <p:cNvSpPr/>
          <p:nvPr/>
        </p:nvSpPr>
        <p:spPr>
          <a:xfrm>
            <a:off x="274320" y="1778508"/>
            <a:ext cx="914400" cy="333756"/>
          </a:xfrm>
          <a:prstGeom prst="rect">
            <a:avLst/>
          </a:prstGeom>
          <a:solidFill>
            <a:srgbClr val="1B3A6B"/>
          </a:solidFill>
          <a:ln/>
        </p:spPr>
      </p:sp>
      <p:sp>
        <p:nvSpPr>
          <p:cNvPr id="21" name="Text 19">
            <a:hlinkClick r:id="rId4" tooltip="FRTB. → See Basel IV slide" action="ppaction://hlinksldjump"/>
          </p:cNvPr>
          <p:cNvSpPr/>
          <p:nvPr/>
        </p:nvSpPr>
        <p:spPr>
          <a:xfrm>
            <a:off x="274320" y="1778508"/>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4" action="ppaction://hlinksldjump" tooltip="FRTB. → See Basel IV slide">
                  <a:extLst>
                    <a:ext uri="{A12FA001-AC4F-418D-AE19-62706E023703}">
                      <ahyp:hlinkClr xmlns:ahyp="http://schemas.microsoft.com/office/drawing/2018/hyperlinkcolor" val="tx"/>
                    </a:ext>
                  </a:extLst>
                </a:hlinkClick>
              </a:rPr>
              <a:t>ES</a:t>
            </a:r>
            <a:endParaRPr lang="en-US" sz="900" dirty="0"/>
          </a:p>
        </p:txBody>
      </p:sp>
      <p:sp>
        <p:nvSpPr>
          <p:cNvPr id="22" name="Text 20"/>
          <p:cNvSpPr/>
          <p:nvPr/>
        </p:nvSpPr>
        <p:spPr>
          <a:xfrm>
            <a:off x="1234440" y="1778508"/>
            <a:ext cx="7589520" cy="333756"/>
          </a:xfrm>
          <a:prstGeom prst="rect">
            <a:avLst/>
          </a:prstGeom>
          <a:noFill/>
          <a:ln/>
        </p:spPr>
        <p:txBody>
          <a:bodyPr wrap="square" lIns="0" tIns="0" rIns="0" bIns="0" rtlCol="0" anchor="ctr"/>
          <a:lstStyle/>
          <a:p>
            <a:pPr indent="0" marL="0">
              <a:buNone/>
            </a:pPr>
            <a:r>
              <a:rPr lang="en-US" sz="900" dirty="0">
                <a:solidFill>
                  <a:srgbClr val="1A1A2E"/>
                </a:solidFill>
              </a:rPr>
              <a:t>Expected Shortfall — The average loss given that the loss exceeds a threshold (e.g. 97.5th percentile). Used in FRTB. Captures tail severity unlike VaR.</a:t>
            </a:r>
            <a:endParaRPr lang="en-US" sz="900" dirty="0"/>
          </a:p>
        </p:txBody>
      </p:sp>
      <p:sp>
        <p:nvSpPr>
          <p:cNvPr id="23" name="Shape 21"/>
          <p:cNvSpPr/>
          <p:nvPr/>
        </p:nvSpPr>
        <p:spPr>
          <a:xfrm>
            <a:off x="274320" y="2112264"/>
            <a:ext cx="8595360" cy="333756"/>
          </a:xfrm>
          <a:prstGeom prst="rect">
            <a:avLst/>
          </a:prstGeom>
          <a:solidFill>
            <a:srgbClr val="FFFFFF"/>
          </a:solidFill>
          <a:ln/>
        </p:spPr>
      </p:sp>
      <p:sp>
        <p:nvSpPr>
          <p:cNvPr id="24" name="Shape 22"/>
          <p:cNvSpPr/>
          <p:nvPr/>
        </p:nvSpPr>
        <p:spPr>
          <a:xfrm>
            <a:off x="274320" y="2112264"/>
            <a:ext cx="914400" cy="333756"/>
          </a:xfrm>
          <a:prstGeom prst="rect">
            <a:avLst/>
          </a:prstGeom>
          <a:solidFill>
            <a:srgbClr val="0E6B8A"/>
          </a:solidFill>
          <a:ln/>
        </p:spPr>
      </p:sp>
      <p:sp>
        <p:nvSpPr>
          <p:cNvPr id="25" name="Text 23">
            <a:hlinkClick r:id="rId5" tooltip="FRTB. → See Basel IV slide" action="ppaction://hlinksldjump"/>
          </p:cNvPr>
          <p:cNvSpPr/>
          <p:nvPr/>
        </p:nvSpPr>
        <p:spPr>
          <a:xfrm>
            <a:off x="274320" y="2112264"/>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5" action="ppaction://hlinksldjump" tooltip="FRTB. → See Basel IV slide">
                  <a:extLst>
                    <a:ext uri="{A12FA001-AC4F-418D-AE19-62706E023703}">
                      <ahyp:hlinkClr xmlns:ahyp="http://schemas.microsoft.com/office/drawing/2018/hyperlinkcolor" val="tx"/>
                    </a:ext>
                  </a:extLst>
                </a:hlinkClick>
              </a:rPr>
              <a:t>FRTB</a:t>
            </a:r>
            <a:endParaRPr lang="en-US" sz="900" dirty="0"/>
          </a:p>
        </p:txBody>
      </p:sp>
      <p:sp>
        <p:nvSpPr>
          <p:cNvPr id="26" name="Text 24"/>
          <p:cNvSpPr/>
          <p:nvPr/>
        </p:nvSpPr>
        <p:spPr>
          <a:xfrm>
            <a:off x="1234440" y="2112264"/>
            <a:ext cx="7589520" cy="333756"/>
          </a:xfrm>
          <a:prstGeom prst="rect">
            <a:avLst/>
          </a:prstGeom>
          <a:noFill/>
          <a:ln/>
        </p:spPr>
        <p:txBody>
          <a:bodyPr wrap="square" lIns="0" tIns="0" rIns="0" bIns="0" rtlCol="0" anchor="ctr"/>
          <a:lstStyle/>
          <a:p>
            <a:pPr indent="0" marL="0">
              <a:buNone/>
            </a:pPr>
            <a:r>
              <a:rPr lang="en-US" sz="900" dirty="0">
                <a:solidFill>
                  <a:srgbClr val="1A1A2E"/>
                </a:solidFill>
              </a:rPr>
              <a:t>Fundamental Review of the Trading Book — Basel IV market risk framework replacing VaR with Expected Shortfall, with liquidity horizons and P&amp;L Attribution Tests.</a:t>
            </a:r>
            <a:endParaRPr lang="en-US" sz="900" dirty="0"/>
          </a:p>
        </p:txBody>
      </p:sp>
      <p:sp>
        <p:nvSpPr>
          <p:cNvPr id="27" name="Shape 25"/>
          <p:cNvSpPr/>
          <p:nvPr/>
        </p:nvSpPr>
        <p:spPr>
          <a:xfrm>
            <a:off x="274320" y="2446020"/>
            <a:ext cx="8595360" cy="333756"/>
          </a:xfrm>
          <a:prstGeom prst="rect">
            <a:avLst/>
          </a:prstGeom>
          <a:solidFill>
            <a:srgbClr val="F4F6F8"/>
          </a:solidFill>
          <a:ln/>
        </p:spPr>
      </p:sp>
      <p:sp>
        <p:nvSpPr>
          <p:cNvPr id="28" name="Shape 26"/>
          <p:cNvSpPr/>
          <p:nvPr/>
        </p:nvSpPr>
        <p:spPr>
          <a:xfrm>
            <a:off x="274320" y="2446020"/>
            <a:ext cx="914400" cy="333756"/>
          </a:xfrm>
          <a:prstGeom prst="rect">
            <a:avLst/>
          </a:prstGeom>
          <a:solidFill>
            <a:srgbClr val="1B3A6B"/>
          </a:solidFill>
          <a:ln/>
        </p:spPr>
      </p:sp>
      <p:sp>
        <p:nvSpPr>
          <p:cNvPr id="29" name="Text 27">
            <a:hlinkClick r:id="rId6" tooltip="G-SIB surcharge. → See Basel III slide" action="ppaction://hlinksldjump"/>
          </p:cNvPr>
          <p:cNvSpPr/>
          <p:nvPr/>
        </p:nvSpPr>
        <p:spPr>
          <a:xfrm>
            <a:off x="274320" y="2446020"/>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6" action="ppaction://hlinksldjump" tooltip="G-SIB surcharge. → See Basel III slide">
                  <a:extLst>
                    <a:ext uri="{A12FA001-AC4F-418D-AE19-62706E023703}">
                      <ahyp:hlinkClr xmlns:ahyp="http://schemas.microsoft.com/office/drawing/2018/hyperlinkcolor" val="tx"/>
                    </a:ext>
                  </a:extLst>
                </a:hlinkClick>
              </a:rPr>
              <a:t>G-SIB</a:t>
            </a:r>
            <a:endParaRPr lang="en-US" sz="900" dirty="0"/>
          </a:p>
        </p:txBody>
      </p:sp>
      <p:sp>
        <p:nvSpPr>
          <p:cNvPr id="30" name="Text 28"/>
          <p:cNvSpPr/>
          <p:nvPr/>
        </p:nvSpPr>
        <p:spPr>
          <a:xfrm>
            <a:off x="1234440" y="2446020"/>
            <a:ext cx="7589520" cy="333756"/>
          </a:xfrm>
          <a:prstGeom prst="rect">
            <a:avLst/>
          </a:prstGeom>
          <a:noFill/>
          <a:ln/>
        </p:spPr>
        <p:txBody>
          <a:bodyPr wrap="square" lIns="0" tIns="0" rIns="0" bIns="0" rtlCol="0" anchor="ctr"/>
          <a:lstStyle/>
          <a:p>
            <a:pPr indent="0" marL="0">
              <a:buNone/>
            </a:pPr>
            <a:r>
              <a:rPr lang="en-US" sz="900" dirty="0">
                <a:solidFill>
                  <a:srgbClr val="1A1A2E"/>
                </a:solidFill>
              </a:rPr>
              <a:t>Global Systemically Important Bank — A bank whose failure could destabilise the global financial system. Subject to additional CET1 surcharge of 1–3.5%.</a:t>
            </a:r>
            <a:endParaRPr lang="en-US" sz="900" dirty="0"/>
          </a:p>
        </p:txBody>
      </p:sp>
      <p:sp>
        <p:nvSpPr>
          <p:cNvPr id="31" name="Shape 29"/>
          <p:cNvSpPr/>
          <p:nvPr/>
        </p:nvSpPr>
        <p:spPr>
          <a:xfrm>
            <a:off x="274320" y="2779776"/>
            <a:ext cx="8595360" cy="333756"/>
          </a:xfrm>
          <a:prstGeom prst="rect">
            <a:avLst/>
          </a:prstGeom>
          <a:solidFill>
            <a:srgbClr val="FFFFFF"/>
          </a:solidFill>
          <a:ln/>
        </p:spPr>
      </p:sp>
      <p:sp>
        <p:nvSpPr>
          <p:cNvPr id="32" name="Shape 30"/>
          <p:cNvSpPr/>
          <p:nvPr/>
        </p:nvSpPr>
        <p:spPr>
          <a:xfrm>
            <a:off x="274320" y="2779776"/>
            <a:ext cx="914400" cy="333756"/>
          </a:xfrm>
          <a:prstGeom prst="rect">
            <a:avLst/>
          </a:prstGeom>
          <a:solidFill>
            <a:srgbClr val="0E6B8A"/>
          </a:solidFill>
          <a:ln/>
        </p:spPr>
      </p:sp>
      <p:sp>
        <p:nvSpPr>
          <p:cNvPr id="33" name="Text 31">
            <a:hlinkClick r:id="rId7" tooltip="Pillar 2. → See Basel II slide" action="ppaction://hlinksldjump"/>
          </p:cNvPr>
          <p:cNvSpPr/>
          <p:nvPr/>
        </p:nvSpPr>
        <p:spPr>
          <a:xfrm>
            <a:off x="274320" y="2779776"/>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7" action="ppaction://hlinksldjump" tooltip="Pillar 2. → See Basel II slide">
                  <a:extLst>
                    <a:ext uri="{A12FA001-AC4F-418D-AE19-62706E023703}">
                      <ahyp:hlinkClr xmlns:ahyp="http://schemas.microsoft.com/office/drawing/2018/hyperlinkcolor" val="tx"/>
                    </a:ext>
                  </a:extLst>
                </a:hlinkClick>
              </a:rPr>
              <a:t>ICAAP</a:t>
            </a:r>
            <a:endParaRPr lang="en-US" sz="900" dirty="0"/>
          </a:p>
        </p:txBody>
      </p:sp>
      <p:sp>
        <p:nvSpPr>
          <p:cNvPr id="34" name="Text 32"/>
          <p:cNvSpPr/>
          <p:nvPr/>
        </p:nvSpPr>
        <p:spPr>
          <a:xfrm>
            <a:off x="1234440" y="2779776"/>
            <a:ext cx="7589520" cy="333756"/>
          </a:xfrm>
          <a:prstGeom prst="rect">
            <a:avLst/>
          </a:prstGeom>
          <a:noFill/>
          <a:ln/>
        </p:spPr>
        <p:txBody>
          <a:bodyPr wrap="square" lIns="0" tIns="0" rIns="0" bIns="0" rtlCol="0" anchor="ctr"/>
          <a:lstStyle/>
          <a:p>
            <a:pPr indent="0" marL="0">
              <a:buNone/>
            </a:pPr>
            <a:r>
              <a:rPr lang="en-US" sz="900" dirty="0">
                <a:solidFill>
                  <a:srgbClr val="1A1A2E"/>
                </a:solidFill>
              </a:rPr>
              <a:t>Internal Capital Adequacy Assessment Process — A bank's own assessment of all material risks and capital needs, required under Basel II/III Pillar 2.</a:t>
            </a:r>
            <a:endParaRPr lang="en-US" sz="900" dirty="0"/>
          </a:p>
        </p:txBody>
      </p:sp>
      <p:sp>
        <p:nvSpPr>
          <p:cNvPr id="35" name="Shape 33"/>
          <p:cNvSpPr/>
          <p:nvPr/>
        </p:nvSpPr>
        <p:spPr>
          <a:xfrm>
            <a:off x="274320" y="3113532"/>
            <a:ext cx="8595360" cy="333756"/>
          </a:xfrm>
          <a:prstGeom prst="rect">
            <a:avLst/>
          </a:prstGeom>
          <a:solidFill>
            <a:srgbClr val="F4F6F8"/>
          </a:solidFill>
          <a:ln/>
        </p:spPr>
      </p:sp>
      <p:sp>
        <p:nvSpPr>
          <p:cNvPr id="36" name="Shape 34"/>
          <p:cNvSpPr/>
          <p:nvPr/>
        </p:nvSpPr>
        <p:spPr>
          <a:xfrm>
            <a:off x="274320" y="3113532"/>
            <a:ext cx="914400" cy="333756"/>
          </a:xfrm>
          <a:prstGeom prst="rect">
            <a:avLst/>
          </a:prstGeom>
          <a:solidFill>
            <a:srgbClr val="1B3A6B"/>
          </a:solidFill>
          <a:ln/>
        </p:spPr>
      </p:sp>
      <p:sp>
        <p:nvSpPr>
          <p:cNvPr id="37" name="Text 35">
            <a:hlinkClick r:id="rId8" tooltip="IRB approach. → See Basel II slide" action="ppaction://hlinksldjump"/>
          </p:cNvPr>
          <p:cNvSpPr/>
          <p:nvPr/>
        </p:nvSpPr>
        <p:spPr>
          <a:xfrm>
            <a:off x="274320" y="3113532"/>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8" action="ppaction://hlinksldjump" tooltip="IRB approach. → See Basel II slide">
                  <a:extLst>
                    <a:ext uri="{A12FA001-AC4F-418D-AE19-62706E023703}">
                      <ahyp:hlinkClr xmlns:ahyp="http://schemas.microsoft.com/office/drawing/2018/hyperlinkcolor" val="tx"/>
                    </a:ext>
                  </a:extLst>
                </a:hlinkClick>
              </a:rPr>
              <a:t>IRB</a:t>
            </a:r>
            <a:endParaRPr lang="en-US" sz="900" dirty="0"/>
          </a:p>
        </p:txBody>
      </p:sp>
      <p:sp>
        <p:nvSpPr>
          <p:cNvPr id="38" name="Text 36"/>
          <p:cNvSpPr/>
          <p:nvPr/>
        </p:nvSpPr>
        <p:spPr>
          <a:xfrm>
            <a:off x="1234440" y="3113532"/>
            <a:ext cx="7589520" cy="333756"/>
          </a:xfrm>
          <a:prstGeom prst="rect">
            <a:avLst/>
          </a:prstGeom>
          <a:noFill/>
          <a:ln/>
        </p:spPr>
        <p:txBody>
          <a:bodyPr wrap="square" lIns="0" tIns="0" rIns="0" bIns="0" rtlCol="0" anchor="ctr"/>
          <a:lstStyle/>
          <a:p>
            <a:pPr indent="0" marL="0">
              <a:buNone/>
            </a:pPr>
            <a:r>
              <a:rPr lang="en-US" sz="900" dirty="0">
                <a:solidFill>
                  <a:srgbClr val="1A1A2E"/>
                </a:solidFill>
              </a:rPr>
              <a:t>Internal Ratings-Based Approach — Credit risk methodology where banks use internal models to estimate PD (F-IRB) or PD/LGD/EAD (A-IRB) for capital.</a:t>
            </a:r>
            <a:endParaRPr lang="en-US" sz="900" dirty="0"/>
          </a:p>
        </p:txBody>
      </p:sp>
      <p:sp>
        <p:nvSpPr>
          <p:cNvPr id="39" name="Shape 37"/>
          <p:cNvSpPr/>
          <p:nvPr/>
        </p:nvSpPr>
        <p:spPr>
          <a:xfrm>
            <a:off x="274320" y="3447288"/>
            <a:ext cx="8595360" cy="333756"/>
          </a:xfrm>
          <a:prstGeom prst="rect">
            <a:avLst/>
          </a:prstGeom>
          <a:solidFill>
            <a:srgbClr val="FFFFFF"/>
          </a:solidFill>
          <a:ln/>
        </p:spPr>
      </p:sp>
      <p:sp>
        <p:nvSpPr>
          <p:cNvPr id="40" name="Shape 38"/>
          <p:cNvSpPr/>
          <p:nvPr/>
        </p:nvSpPr>
        <p:spPr>
          <a:xfrm>
            <a:off x="274320" y="3447288"/>
            <a:ext cx="914400" cy="333756"/>
          </a:xfrm>
          <a:prstGeom prst="rect">
            <a:avLst/>
          </a:prstGeom>
          <a:solidFill>
            <a:srgbClr val="0E6B8A"/>
          </a:solidFill>
          <a:ln/>
        </p:spPr>
      </p:sp>
      <p:sp>
        <p:nvSpPr>
          <p:cNvPr id="41" name="Text 39">
            <a:hlinkClick r:id="rId9" tooltip="Trading book charges. → See Basel III slide" action="ppaction://hlinksldjump"/>
          </p:cNvPr>
          <p:cNvSpPr/>
          <p:nvPr/>
        </p:nvSpPr>
        <p:spPr>
          <a:xfrm>
            <a:off x="274320" y="3447288"/>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9" action="ppaction://hlinksldjump" tooltip="Trading book charges. → See Basel III slide">
                  <a:extLst>
                    <a:ext uri="{A12FA001-AC4F-418D-AE19-62706E023703}">
                      <ahyp:hlinkClr xmlns:ahyp="http://schemas.microsoft.com/office/drawing/2018/hyperlinkcolor" val="tx"/>
                    </a:ext>
                  </a:extLst>
                </a:hlinkClick>
              </a:rPr>
              <a:t>IRC</a:t>
            </a:r>
            <a:endParaRPr lang="en-US" sz="900" dirty="0"/>
          </a:p>
        </p:txBody>
      </p:sp>
      <p:sp>
        <p:nvSpPr>
          <p:cNvPr id="42" name="Text 40"/>
          <p:cNvSpPr/>
          <p:nvPr/>
        </p:nvSpPr>
        <p:spPr>
          <a:xfrm>
            <a:off x="1234440" y="3447288"/>
            <a:ext cx="7589520" cy="333756"/>
          </a:xfrm>
          <a:prstGeom prst="rect">
            <a:avLst/>
          </a:prstGeom>
          <a:noFill/>
          <a:ln/>
        </p:spPr>
        <p:txBody>
          <a:bodyPr wrap="square" lIns="0" tIns="0" rIns="0" bIns="0" rtlCol="0" anchor="ctr"/>
          <a:lstStyle/>
          <a:p>
            <a:pPr indent="0" marL="0">
              <a:buNone/>
            </a:pPr>
            <a:r>
              <a:rPr lang="en-US" sz="900" dirty="0">
                <a:solidFill>
                  <a:srgbClr val="1A1A2E"/>
                </a:solidFill>
              </a:rPr>
              <a:t>Incremental Risk Charge — Basel III trading book charge for default and credit migration risk over a one-year horizon at 99.9% confidence.</a:t>
            </a:r>
            <a:endParaRPr lang="en-US" sz="900" dirty="0"/>
          </a:p>
        </p:txBody>
      </p:sp>
      <p:sp>
        <p:nvSpPr>
          <p:cNvPr id="43" name="Shape 41"/>
          <p:cNvSpPr/>
          <p:nvPr/>
        </p:nvSpPr>
        <p:spPr>
          <a:xfrm>
            <a:off x="274320" y="3781044"/>
            <a:ext cx="8595360" cy="333756"/>
          </a:xfrm>
          <a:prstGeom prst="rect">
            <a:avLst/>
          </a:prstGeom>
          <a:solidFill>
            <a:srgbClr val="F4F6F8"/>
          </a:solidFill>
          <a:ln/>
        </p:spPr>
      </p:sp>
      <p:sp>
        <p:nvSpPr>
          <p:cNvPr id="44" name="Shape 42"/>
          <p:cNvSpPr/>
          <p:nvPr/>
        </p:nvSpPr>
        <p:spPr>
          <a:xfrm>
            <a:off x="274320" y="3781044"/>
            <a:ext cx="914400" cy="333756"/>
          </a:xfrm>
          <a:prstGeom prst="rect">
            <a:avLst/>
          </a:prstGeom>
          <a:solidFill>
            <a:srgbClr val="1B3A6B"/>
          </a:solidFill>
          <a:ln/>
        </p:spPr>
      </p:sp>
      <p:sp>
        <p:nvSpPr>
          <p:cNvPr id="45" name="Text 43">
            <a:hlinkClick r:id="rId10" tooltip="Liquidity Risk → Future Module 2. See scope slide" action="ppaction://hlinksldjump"/>
          </p:cNvPr>
          <p:cNvSpPr/>
          <p:nvPr/>
        </p:nvSpPr>
        <p:spPr>
          <a:xfrm>
            <a:off x="274320" y="3781044"/>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0" action="ppaction://hlinksldjump" tooltip="Liquidity Risk → Future Module 2. See scope slide">
                  <a:extLst>
                    <a:ext uri="{A12FA001-AC4F-418D-AE19-62706E023703}">
                      <ahyp:hlinkClr xmlns:ahyp="http://schemas.microsoft.com/office/drawing/2018/hyperlinkcolor" val="tx"/>
                    </a:ext>
                  </a:extLst>
                </a:hlinkClick>
              </a:rPr>
              <a:t>LCR</a:t>
            </a:r>
            <a:endParaRPr lang="en-US" sz="900" dirty="0"/>
          </a:p>
        </p:txBody>
      </p:sp>
      <p:sp>
        <p:nvSpPr>
          <p:cNvPr id="46" name="Text 44"/>
          <p:cNvSpPr/>
          <p:nvPr/>
        </p:nvSpPr>
        <p:spPr>
          <a:xfrm>
            <a:off x="1234440" y="3781044"/>
            <a:ext cx="7589520" cy="333756"/>
          </a:xfrm>
          <a:prstGeom prst="rect">
            <a:avLst/>
          </a:prstGeom>
          <a:noFill/>
          <a:ln/>
        </p:spPr>
        <p:txBody>
          <a:bodyPr wrap="square" lIns="0" tIns="0" rIns="0" bIns="0" rtlCol="0" anchor="ctr"/>
          <a:lstStyle/>
          <a:p>
            <a:pPr indent="0" marL="0">
              <a:buNone/>
            </a:pPr>
            <a:r>
              <a:rPr lang="en-US" sz="900" dirty="0">
                <a:solidFill>
                  <a:srgbClr val="1A1A2E"/>
                </a:solidFill>
              </a:rPr>
              <a:t>Liquidity Coverage Ratio — Ratio of High Quality Liquid Assets to net stressed cash outflows over 30 days. Must be ≥ 100% under Basel III/IV.</a:t>
            </a:r>
            <a:endParaRPr lang="en-US" sz="900" dirty="0"/>
          </a:p>
        </p:txBody>
      </p:sp>
      <p:sp>
        <p:nvSpPr>
          <p:cNvPr id="47" name="Shape 45"/>
          <p:cNvSpPr/>
          <p:nvPr/>
        </p:nvSpPr>
        <p:spPr>
          <a:xfrm>
            <a:off x="274320" y="4114800"/>
            <a:ext cx="8595360" cy="333756"/>
          </a:xfrm>
          <a:prstGeom prst="rect">
            <a:avLst/>
          </a:prstGeom>
          <a:solidFill>
            <a:srgbClr val="FFFFFF"/>
          </a:solidFill>
          <a:ln/>
        </p:spPr>
      </p:sp>
      <p:sp>
        <p:nvSpPr>
          <p:cNvPr id="48" name="Shape 46"/>
          <p:cNvSpPr/>
          <p:nvPr/>
        </p:nvSpPr>
        <p:spPr>
          <a:xfrm>
            <a:off x="274320" y="4114800"/>
            <a:ext cx="914400" cy="333756"/>
          </a:xfrm>
          <a:prstGeom prst="rect">
            <a:avLst/>
          </a:prstGeom>
          <a:solidFill>
            <a:srgbClr val="0E6B8A"/>
          </a:solidFill>
          <a:ln/>
        </p:spPr>
      </p:sp>
      <p:sp>
        <p:nvSpPr>
          <p:cNvPr id="49" name="Text 47">
            <a:hlinkClick r:id="rId11" tooltip="IRB inputs. → See AAA vs BBB slide" action="ppaction://hlinksldjump"/>
          </p:cNvPr>
          <p:cNvSpPr/>
          <p:nvPr/>
        </p:nvSpPr>
        <p:spPr>
          <a:xfrm>
            <a:off x="274320" y="4114800"/>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1" action="ppaction://hlinksldjump" tooltip="IRB inputs. → See AAA vs BBB slide">
                  <a:extLst>
                    <a:ext uri="{A12FA001-AC4F-418D-AE19-62706E023703}">
                      <ahyp:hlinkClr xmlns:ahyp="http://schemas.microsoft.com/office/drawing/2018/hyperlinkcolor" val="tx"/>
                    </a:ext>
                  </a:extLst>
                </a:hlinkClick>
              </a:rPr>
              <a:t>LGD</a:t>
            </a:r>
            <a:endParaRPr lang="en-US" sz="900" dirty="0"/>
          </a:p>
        </p:txBody>
      </p:sp>
      <p:sp>
        <p:nvSpPr>
          <p:cNvPr id="50" name="Text 48"/>
          <p:cNvSpPr/>
          <p:nvPr/>
        </p:nvSpPr>
        <p:spPr>
          <a:xfrm>
            <a:off x="1234440" y="4114800"/>
            <a:ext cx="7589520" cy="333756"/>
          </a:xfrm>
          <a:prstGeom prst="rect">
            <a:avLst/>
          </a:prstGeom>
          <a:noFill/>
          <a:ln/>
        </p:spPr>
        <p:txBody>
          <a:bodyPr wrap="square" lIns="0" tIns="0" rIns="0" bIns="0" rtlCol="0" anchor="ctr"/>
          <a:lstStyle/>
          <a:p>
            <a:pPr indent="0" marL="0">
              <a:buNone/>
            </a:pPr>
            <a:r>
              <a:rPr lang="en-US" sz="900" dirty="0">
                <a:solidFill>
                  <a:srgbClr val="1A1A2E"/>
                </a:solidFill>
              </a:rPr>
              <a:t>Loss Given Default — The fraction of exposure lost if a counterparty defaults, after recovery. Expressed as a percentage of EAD.</a:t>
            </a:r>
            <a:endParaRPr lang="en-US" sz="900" dirty="0"/>
          </a:p>
        </p:txBody>
      </p:sp>
      <p:sp>
        <p:nvSpPr>
          <p:cNvPr id="51" name="Shape 49"/>
          <p:cNvSpPr/>
          <p:nvPr/>
        </p:nvSpPr>
        <p:spPr>
          <a:xfrm>
            <a:off x="274320" y="4448556"/>
            <a:ext cx="8595360" cy="333756"/>
          </a:xfrm>
          <a:prstGeom prst="rect">
            <a:avLst/>
          </a:prstGeom>
          <a:solidFill>
            <a:srgbClr val="F4F6F8"/>
          </a:solidFill>
          <a:ln/>
        </p:spPr>
      </p:sp>
      <p:sp>
        <p:nvSpPr>
          <p:cNvPr id="52" name="Shape 50"/>
          <p:cNvSpPr/>
          <p:nvPr/>
        </p:nvSpPr>
        <p:spPr>
          <a:xfrm>
            <a:off x="274320" y="4448556"/>
            <a:ext cx="914400" cy="333756"/>
          </a:xfrm>
          <a:prstGeom prst="rect">
            <a:avLst/>
          </a:prstGeom>
          <a:solidFill>
            <a:srgbClr val="1B3A6B"/>
          </a:solidFill>
          <a:ln/>
        </p:spPr>
      </p:sp>
      <p:sp>
        <p:nvSpPr>
          <p:cNvPr id="53" name="Text 51">
            <a:hlinkClick r:id="rId12" tooltip="FRTB. → See Basel IV slide" action="ppaction://hlinksldjump"/>
          </p:cNvPr>
          <p:cNvSpPr/>
          <p:nvPr/>
        </p:nvSpPr>
        <p:spPr>
          <a:xfrm>
            <a:off x="274320" y="4448556"/>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2" action="ppaction://hlinksldjump" tooltip="FRTB. → See Basel IV slide">
                  <a:extLst>
                    <a:ext uri="{A12FA001-AC4F-418D-AE19-62706E023703}">
                      <ahyp:hlinkClr xmlns:ahyp="http://schemas.microsoft.com/office/drawing/2018/hyperlinkcolor" val="tx"/>
                    </a:ext>
                  </a:extLst>
                </a:hlinkClick>
              </a:rPr>
              <a:t>NMRF</a:t>
            </a:r>
            <a:endParaRPr lang="en-US" sz="900" dirty="0"/>
          </a:p>
        </p:txBody>
      </p:sp>
      <p:sp>
        <p:nvSpPr>
          <p:cNvPr id="54" name="Text 52"/>
          <p:cNvSpPr/>
          <p:nvPr/>
        </p:nvSpPr>
        <p:spPr>
          <a:xfrm>
            <a:off x="1234440" y="4448556"/>
            <a:ext cx="7589520" cy="333756"/>
          </a:xfrm>
          <a:prstGeom prst="rect">
            <a:avLst/>
          </a:prstGeom>
          <a:noFill/>
          <a:ln/>
        </p:spPr>
        <p:txBody>
          <a:bodyPr wrap="square" lIns="0" tIns="0" rIns="0" bIns="0" rtlCol="0" anchor="ctr"/>
          <a:lstStyle/>
          <a:p>
            <a:pPr indent="0" marL="0">
              <a:buNone/>
            </a:pPr>
            <a:r>
              <a:rPr lang="en-US" sz="900" dirty="0">
                <a:solidFill>
                  <a:srgbClr val="1A1A2E"/>
                </a:solidFill>
              </a:rPr>
              <a:t>Non-Modellable Risk Factor — A FRTB risk factor with insufficient real price observations. Subject to a punitive standalone stress scenario charge.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0" y="4873752"/>
            <a:ext cx="9144000" cy="269748"/>
          </a:xfrm>
          <a:prstGeom prst="rect">
            <a:avLst/>
          </a:prstGeom>
          <a:solidFill>
            <a:srgbClr val="1B3A6B"/>
          </a:solidFill>
          <a:ln/>
        </p:spPr>
      </p:sp>
      <p:sp>
        <p:nvSpPr>
          <p:cNvPr id="3" name="Text 1"/>
          <p:cNvSpPr/>
          <p:nvPr/>
        </p:nvSpPr>
        <p:spPr>
          <a:xfrm>
            <a:off x="274320" y="4882896"/>
            <a:ext cx="8595360" cy="246888"/>
          </a:xfrm>
          <a:prstGeom prst="rect">
            <a:avLst/>
          </a:prstGeom>
          <a:noFill/>
          <a:ln/>
        </p:spPr>
        <p:txBody>
          <a:bodyPr wrap="square" lIns="0" tIns="0" rIns="0" bIns="0" rtlCol="0" anchor="ctr"/>
          <a:lstStyle/>
          <a:p>
            <a:pPr indent="0" marL="0">
              <a:buNone/>
            </a:pPr>
            <a:r>
              <a:rPr lang="en-US" sz="900" i="1" dirty="0">
                <a:solidFill>
                  <a:srgbClr val="D6EAF8"/>
                </a:solidFill>
              </a:rPr>
              <a:t>The Basel Accords: A Practitioner's Reference  </a:t>
            </a:r>
            <a:pPr indent="0" marL="0">
              <a:buNone/>
            </a:pPr>
            <a:r>
              <a:rPr lang="en-US" sz="900" dirty="0">
                <a:solidFill>
                  <a:srgbClr val="8899AA"/>
                </a:solidFill>
              </a:rPr>
              <a:t> | </a:t>
            </a:r>
            <a:pPr indent="0" marL="0">
              <a:buNone/>
            </a:pPr>
            <a:r>
              <a:rPr lang="en-US" sz="900" b="1" dirty="0">
                <a:solidFill>
                  <a:srgbClr val="C9A84C"/>
                </a:solidFill>
              </a:rPr>
              <a:t>  Glossary — Part 3 of 3</a:t>
            </a:r>
            <a:endParaRPr lang="en-US" sz="900" dirty="0"/>
          </a:p>
        </p:txBody>
      </p:sp>
      <p:sp>
        <p:nvSpPr>
          <p:cNvPr id="4" name="Shape 2"/>
          <p:cNvSpPr/>
          <p:nvPr/>
        </p:nvSpPr>
        <p:spPr>
          <a:xfrm>
            <a:off x="0" y="0"/>
            <a:ext cx="9144000" cy="658368"/>
          </a:xfrm>
          <a:prstGeom prst="rect">
            <a:avLst/>
          </a:prstGeom>
          <a:solidFill>
            <a:srgbClr val="1B3A6B"/>
          </a:solidFill>
          <a:ln/>
        </p:spPr>
      </p:sp>
      <p:sp>
        <p:nvSpPr>
          <p:cNvPr id="5" name="Text 3"/>
          <p:cNvSpPr/>
          <p:nvPr/>
        </p:nvSpPr>
        <p:spPr>
          <a:xfrm>
            <a:off x="365760" y="0"/>
            <a:ext cx="6858000" cy="658368"/>
          </a:xfrm>
          <a:prstGeom prst="rect">
            <a:avLst/>
          </a:prstGeom>
          <a:noFill/>
          <a:ln/>
        </p:spPr>
        <p:txBody>
          <a:bodyPr wrap="square" lIns="0" tIns="0" rIns="0" bIns="0" rtlCol="0" anchor="ctr"/>
          <a:lstStyle/>
          <a:p>
            <a:pPr indent="0" marL="0">
              <a:buNone/>
            </a:pPr>
            <a:r>
              <a:rPr lang="en-US" sz="2000" b="1" dirty="0">
                <a:solidFill>
                  <a:srgbClr val="FFFFFF"/>
                </a:solidFill>
              </a:rPr>
              <a:t>Glossary of Key Terms &amp; Abbreviations — Part 3  (N–W)</a:t>
            </a:r>
            <a:endParaRPr lang="en-US" sz="2000" dirty="0"/>
          </a:p>
        </p:txBody>
      </p:sp>
      <p:sp>
        <p:nvSpPr>
          <p:cNvPr id="6" name="Text 4"/>
          <p:cNvSpPr/>
          <p:nvPr/>
        </p:nvSpPr>
        <p:spPr>
          <a:xfrm>
            <a:off x="6949440" y="146304"/>
            <a:ext cx="1965960" cy="384048"/>
          </a:xfrm>
          <a:prstGeom prst="rect">
            <a:avLst/>
          </a:prstGeom>
          <a:noFill/>
          <a:ln/>
        </p:spPr>
        <p:txBody>
          <a:bodyPr wrap="square" lIns="0" tIns="0" rIns="0" bIns="0" rtlCol="0" anchor="ctr"/>
          <a:lstStyle/>
          <a:p>
            <a:pPr indent="0" marL="0">
              <a:buNone/>
            </a:pPr>
            <a:r>
              <a:rPr lang="en-US" sz="800" i="1" dirty="0">
                <a:solidFill>
                  <a:srgbClr val="C9A84C"/>
                </a:solidFill>
              </a:rPr>
              <a:t>Click any term to jump to its relevant slide. Hover for full form.</a:t>
            </a:r>
            <a:endParaRPr lang="en-US" sz="800" dirty="0"/>
          </a:p>
        </p:txBody>
      </p:sp>
      <p:sp>
        <p:nvSpPr>
          <p:cNvPr id="7" name="Shape 5"/>
          <p:cNvSpPr/>
          <p:nvPr/>
        </p:nvSpPr>
        <p:spPr>
          <a:xfrm>
            <a:off x="274320" y="777240"/>
            <a:ext cx="8595360" cy="333756"/>
          </a:xfrm>
          <a:prstGeom prst="rect">
            <a:avLst/>
          </a:prstGeom>
          <a:solidFill>
            <a:srgbClr val="FFFFFF"/>
          </a:solidFill>
          <a:ln/>
        </p:spPr>
      </p:sp>
      <p:sp>
        <p:nvSpPr>
          <p:cNvPr id="8" name="Shape 6"/>
          <p:cNvSpPr/>
          <p:nvPr/>
        </p:nvSpPr>
        <p:spPr>
          <a:xfrm>
            <a:off x="274320" y="777240"/>
            <a:ext cx="914400" cy="333756"/>
          </a:xfrm>
          <a:prstGeom prst="rect">
            <a:avLst/>
          </a:prstGeom>
          <a:solidFill>
            <a:srgbClr val="0E6B8A"/>
          </a:solidFill>
          <a:ln/>
        </p:spPr>
      </p:sp>
      <p:sp>
        <p:nvSpPr>
          <p:cNvPr id="9" name="Text 7">
            <a:hlinkClick r:id="rId1" tooltip="Liquidity Risk → Future Module 2. See scope slide" action="ppaction://hlinksldjump"/>
          </p:cNvPr>
          <p:cNvSpPr/>
          <p:nvPr/>
        </p:nvSpPr>
        <p:spPr>
          <a:xfrm>
            <a:off x="274320" y="777240"/>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 action="ppaction://hlinksldjump" tooltip="Liquidity Risk → Future Module 2. See scope slide">
                  <a:extLst>
                    <a:ext uri="{A12FA001-AC4F-418D-AE19-62706E023703}">
                      <ahyp:hlinkClr xmlns:ahyp="http://schemas.microsoft.com/office/drawing/2018/hyperlinkcolor" val="tx"/>
                    </a:ext>
                  </a:extLst>
                </a:hlinkClick>
              </a:rPr>
              <a:t>NSFR</a:t>
            </a:r>
            <a:endParaRPr lang="en-US" sz="900" dirty="0"/>
          </a:p>
        </p:txBody>
      </p:sp>
      <p:sp>
        <p:nvSpPr>
          <p:cNvPr id="10" name="Text 8"/>
          <p:cNvSpPr/>
          <p:nvPr/>
        </p:nvSpPr>
        <p:spPr>
          <a:xfrm>
            <a:off x="1234440" y="777240"/>
            <a:ext cx="7589520" cy="333756"/>
          </a:xfrm>
          <a:prstGeom prst="rect">
            <a:avLst/>
          </a:prstGeom>
          <a:noFill/>
          <a:ln/>
        </p:spPr>
        <p:txBody>
          <a:bodyPr wrap="square" lIns="0" tIns="0" rIns="0" bIns="0" rtlCol="0" anchor="ctr"/>
          <a:lstStyle/>
          <a:p>
            <a:pPr indent="0" marL="0">
              <a:buNone/>
            </a:pPr>
            <a:r>
              <a:rPr lang="en-US" sz="900" dirty="0">
                <a:solidFill>
                  <a:srgbClr val="1A1A2E"/>
                </a:solidFill>
              </a:rPr>
              <a:t>Net Stable Funding Ratio — Ratio of Available Stable Funding to Required Stable Funding over one year. Must be ≥ 100% under Basel III/IV.</a:t>
            </a:r>
            <a:endParaRPr lang="en-US" sz="900" dirty="0"/>
          </a:p>
        </p:txBody>
      </p:sp>
      <p:sp>
        <p:nvSpPr>
          <p:cNvPr id="11" name="Shape 9"/>
          <p:cNvSpPr/>
          <p:nvPr/>
        </p:nvSpPr>
        <p:spPr>
          <a:xfrm>
            <a:off x="274320" y="1110996"/>
            <a:ext cx="8595360" cy="333756"/>
          </a:xfrm>
          <a:prstGeom prst="rect">
            <a:avLst/>
          </a:prstGeom>
          <a:solidFill>
            <a:srgbClr val="F4F6F8"/>
          </a:solidFill>
          <a:ln/>
        </p:spPr>
      </p:sp>
      <p:sp>
        <p:nvSpPr>
          <p:cNvPr id="12" name="Shape 10"/>
          <p:cNvSpPr/>
          <p:nvPr/>
        </p:nvSpPr>
        <p:spPr>
          <a:xfrm>
            <a:off x="274320" y="1110996"/>
            <a:ext cx="914400" cy="333756"/>
          </a:xfrm>
          <a:prstGeom prst="rect">
            <a:avLst/>
          </a:prstGeom>
          <a:solidFill>
            <a:srgbClr val="1B3A6B"/>
          </a:solidFill>
          <a:ln/>
        </p:spPr>
      </p:sp>
      <p:sp>
        <p:nvSpPr>
          <p:cNvPr id="13" name="Text 11">
            <a:hlinkClick r:id="rId2" tooltip="IRB inputs. → See AAA vs BBB slide" action="ppaction://hlinksldjump"/>
          </p:cNvPr>
          <p:cNvSpPr/>
          <p:nvPr/>
        </p:nvSpPr>
        <p:spPr>
          <a:xfrm>
            <a:off x="274320" y="1110996"/>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2" action="ppaction://hlinksldjump" tooltip="IRB inputs. → See AAA vs BBB slide">
                  <a:extLst>
                    <a:ext uri="{A12FA001-AC4F-418D-AE19-62706E023703}">
                      <ahyp:hlinkClr xmlns:ahyp="http://schemas.microsoft.com/office/drawing/2018/hyperlinkcolor" val="tx"/>
                    </a:ext>
                  </a:extLst>
                </a:hlinkClick>
              </a:rPr>
              <a:t>PD</a:t>
            </a:r>
            <a:endParaRPr lang="en-US" sz="900" dirty="0"/>
          </a:p>
        </p:txBody>
      </p:sp>
      <p:sp>
        <p:nvSpPr>
          <p:cNvPr id="14" name="Text 12"/>
          <p:cNvSpPr/>
          <p:nvPr/>
        </p:nvSpPr>
        <p:spPr>
          <a:xfrm>
            <a:off x="1234440" y="1110996"/>
            <a:ext cx="7589520" cy="333756"/>
          </a:xfrm>
          <a:prstGeom prst="rect">
            <a:avLst/>
          </a:prstGeom>
          <a:noFill/>
          <a:ln/>
        </p:spPr>
        <p:txBody>
          <a:bodyPr wrap="square" lIns="0" tIns="0" rIns="0" bIns="0" rtlCol="0" anchor="ctr"/>
          <a:lstStyle/>
          <a:p>
            <a:pPr indent="0" marL="0">
              <a:buNone/>
            </a:pPr>
            <a:r>
              <a:rPr lang="en-US" sz="900" dirty="0">
                <a:solidFill>
                  <a:srgbClr val="1A1A2E"/>
                </a:solidFill>
              </a:rPr>
              <a:t>Probability of Default — The likelihood that a borrower or counterparty will default within a given time horizon, typically one year.</a:t>
            </a:r>
            <a:endParaRPr lang="en-US" sz="900" dirty="0"/>
          </a:p>
        </p:txBody>
      </p:sp>
      <p:sp>
        <p:nvSpPr>
          <p:cNvPr id="15" name="Shape 13"/>
          <p:cNvSpPr/>
          <p:nvPr/>
        </p:nvSpPr>
        <p:spPr>
          <a:xfrm>
            <a:off x="274320" y="1444752"/>
            <a:ext cx="8595360" cy="333756"/>
          </a:xfrm>
          <a:prstGeom prst="rect">
            <a:avLst/>
          </a:prstGeom>
          <a:solidFill>
            <a:srgbClr val="FFFFFF"/>
          </a:solidFill>
          <a:ln/>
        </p:spPr>
      </p:sp>
      <p:sp>
        <p:nvSpPr>
          <p:cNvPr id="16" name="Shape 14"/>
          <p:cNvSpPr/>
          <p:nvPr/>
        </p:nvSpPr>
        <p:spPr>
          <a:xfrm>
            <a:off x="274320" y="1444752"/>
            <a:ext cx="914400" cy="333756"/>
          </a:xfrm>
          <a:prstGeom prst="rect">
            <a:avLst/>
          </a:prstGeom>
          <a:solidFill>
            <a:srgbClr val="0E6B8A"/>
          </a:solidFill>
          <a:ln/>
        </p:spPr>
      </p:sp>
      <p:sp>
        <p:nvSpPr>
          <p:cNvPr id="17" name="Text 15">
            <a:hlinkClick r:id="rId3" tooltip="PFE concept. → See Risk Mgmt slide" action="ppaction://hlinksldjump"/>
          </p:cNvPr>
          <p:cNvSpPr/>
          <p:nvPr/>
        </p:nvSpPr>
        <p:spPr>
          <a:xfrm>
            <a:off x="274320" y="1444752"/>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3" action="ppaction://hlinksldjump" tooltip="PFE concept. → See Risk Mgmt slide">
                  <a:extLst>
                    <a:ext uri="{A12FA001-AC4F-418D-AE19-62706E023703}">
                      <ahyp:hlinkClr xmlns:ahyp="http://schemas.microsoft.com/office/drawing/2018/hyperlinkcolor" val="tx"/>
                    </a:ext>
                  </a:extLst>
                </a:hlinkClick>
              </a:rPr>
              <a:t>PFE</a:t>
            </a:r>
            <a:endParaRPr lang="en-US" sz="900" dirty="0"/>
          </a:p>
        </p:txBody>
      </p:sp>
      <p:sp>
        <p:nvSpPr>
          <p:cNvPr id="18" name="Text 16"/>
          <p:cNvSpPr/>
          <p:nvPr/>
        </p:nvSpPr>
        <p:spPr>
          <a:xfrm>
            <a:off x="1234440" y="1444752"/>
            <a:ext cx="7589520" cy="333756"/>
          </a:xfrm>
          <a:prstGeom prst="rect">
            <a:avLst/>
          </a:prstGeom>
          <a:noFill/>
          <a:ln/>
        </p:spPr>
        <p:txBody>
          <a:bodyPr wrap="square" lIns="0" tIns="0" rIns="0" bIns="0" rtlCol="0" anchor="ctr"/>
          <a:lstStyle/>
          <a:p>
            <a:pPr indent="0" marL="0">
              <a:buNone/>
            </a:pPr>
            <a:r>
              <a:rPr lang="en-US" sz="900" dirty="0">
                <a:solidFill>
                  <a:srgbClr val="1A1A2E"/>
                </a:solidFill>
              </a:rPr>
              <a:t>Potential Future Exposure — An estimate of the maximum expected exposure to a counterparty at a future date, at a given confidence level.</a:t>
            </a:r>
            <a:endParaRPr lang="en-US" sz="900" dirty="0"/>
          </a:p>
        </p:txBody>
      </p:sp>
      <p:sp>
        <p:nvSpPr>
          <p:cNvPr id="19" name="Shape 17"/>
          <p:cNvSpPr/>
          <p:nvPr/>
        </p:nvSpPr>
        <p:spPr>
          <a:xfrm>
            <a:off x="274320" y="1778508"/>
            <a:ext cx="8595360" cy="333756"/>
          </a:xfrm>
          <a:prstGeom prst="rect">
            <a:avLst/>
          </a:prstGeom>
          <a:solidFill>
            <a:srgbClr val="F4F6F8"/>
          </a:solidFill>
          <a:ln/>
        </p:spPr>
      </p:sp>
      <p:sp>
        <p:nvSpPr>
          <p:cNvPr id="20" name="Shape 18"/>
          <p:cNvSpPr/>
          <p:nvPr/>
        </p:nvSpPr>
        <p:spPr>
          <a:xfrm>
            <a:off x="274320" y="1778508"/>
            <a:ext cx="914400" cy="333756"/>
          </a:xfrm>
          <a:prstGeom prst="rect">
            <a:avLst/>
          </a:prstGeom>
          <a:solidFill>
            <a:srgbClr val="1B3A6B"/>
          </a:solidFill>
          <a:ln/>
        </p:spPr>
      </p:sp>
      <p:sp>
        <p:nvSpPr>
          <p:cNvPr id="21" name="Text 19">
            <a:hlinkClick r:id="rId4" tooltip="RWA concept throughout. → See Basel I slide" action="ppaction://hlinksldjump"/>
          </p:cNvPr>
          <p:cNvSpPr/>
          <p:nvPr/>
        </p:nvSpPr>
        <p:spPr>
          <a:xfrm>
            <a:off x="274320" y="1778508"/>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4" action="ppaction://hlinksldjump" tooltip="RWA concept throughout. → See Basel I slide">
                  <a:extLst>
                    <a:ext uri="{A12FA001-AC4F-418D-AE19-62706E023703}">
                      <ahyp:hlinkClr xmlns:ahyp="http://schemas.microsoft.com/office/drawing/2018/hyperlinkcolor" val="tx"/>
                    </a:ext>
                  </a:extLst>
                </a:hlinkClick>
              </a:rPr>
              <a:t>RWA</a:t>
            </a:r>
            <a:endParaRPr lang="en-US" sz="900" dirty="0"/>
          </a:p>
        </p:txBody>
      </p:sp>
      <p:sp>
        <p:nvSpPr>
          <p:cNvPr id="22" name="Text 20"/>
          <p:cNvSpPr/>
          <p:nvPr/>
        </p:nvSpPr>
        <p:spPr>
          <a:xfrm>
            <a:off x="1234440" y="1778508"/>
            <a:ext cx="7589520" cy="333756"/>
          </a:xfrm>
          <a:prstGeom prst="rect">
            <a:avLst/>
          </a:prstGeom>
          <a:noFill/>
          <a:ln/>
        </p:spPr>
        <p:txBody>
          <a:bodyPr wrap="square" lIns="0" tIns="0" rIns="0" bIns="0" rtlCol="0" anchor="ctr"/>
          <a:lstStyle/>
          <a:p>
            <a:pPr indent="0" marL="0">
              <a:buNone/>
            </a:pPr>
            <a:r>
              <a:rPr lang="en-US" sz="900" dirty="0">
                <a:solidFill>
                  <a:srgbClr val="1A1A2E"/>
                </a:solidFill>
              </a:rPr>
              <a:t>Risk-Weighted Assets — The denominator of the capital ratio. Assets weighted by risk to reflect their likelihood of causing loss.</a:t>
            </a:r>
            <a:endParaRPr lang="en-US" sz="900" dirty="0"/>
          </a:p>
        </p:txBody>
      </p:sp>
      <p:sp>
        <p:nvSpPr>
          <p:cNvPr id="23" name="Shape 21"/>
          <p:cNvSpPr/>
          <p:nvPr/>
        </p:nvSpPr>
        <p:spPr>
          <a:xfrm>
            <a:off x="274320" y="2112264"/>
            <a:ext cx="8595360" cy="333756"/>
          </a:xfrm>
          <a:prstGeom prst="rect">
            <a:avLst/>
          </a:prstGeom>
          <a:solidFill>
            <a:srgbClr val="FFFFFF"/>
          </a:solidFill>
          <a:ln/>
        </p:spPr>
      </p:sp>
      <p:sp>
        <p:nvSpPr>
          <p:cNvPr id="24" name="Shape 22"/>
          <p:cNvSpPr/>
          <p:nvPr/>
        </p:nvSpPr>
        <p:spPr>
          <a:xfrm>
            <a:off x="274320" y="2112264"/>
            <a:ext cx="914400" cy="333756"/>
          </a:xfrm>
          <a:prstGeom prst="rect">
            <a:avLst/>
          </a:prstGeom>
          <a:solidFill>
            <a:srgbClr val="0E6B8A"/>
          </a:solidFill>
          <a:ln/>
        </p:spPr>
      </p:sp>
      <p:sp>
        <p:nvSpPr>
          <p:cNvPr id="25" name="Text 23">
            <a:hlinkClick r:id="rId5" tooltip="SA vs IRB. → See Basel I/II slides" action="ppaction://hlinksldjump"/>
          </p:cNvPr>
          <p:cNvSpPr/>
          <p:nvPr/>
        </p:nvSpPr>
        <p:spPr>
          <a:xfrm>
            <a:off x="274320" y="2112264"/>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5" action="ppaction://hlinksldjump" tooltip="SA vs IRB. → See Basel I/II slides">
                  <a:extLst>
                    <a:ext uri="{A12FA001-AC4F-418D-AE19-62706E023703}">
                      <ahyp:hlinkClr xmlns:ahyp="http://schemas.microsoft.com/office/drawing/2018/hyperlinkcolor" val="tx"/>
                    </a:ext>
                  </a:extLst>
                </a:hlinkClick>
              </a:rPr>
              <a:t>SA</a:t>
            </a:r>
            <a:endParaRPr lang="en-US" sz="900" dirty="0"/>
          </a:p>
        </p:txBody>
      </p:sp>
      <p:sp>
        <p:nvSpPr>
          <p:cNvPr id="26" name="Text 24"/>
          <p:cNvSpPr/>
          <p:nvPr/>
        </p:nvSpPr>
        <p:spPr>
          <a:xfrm>
            <a:off x="1234440" y="2112264"/>
            <a:ext cx="7589520" cy="333756"/>
          </a:xfrm>
          <a:prstGeom prst="rect">
            <a:avLst/>
          </a:prstGeom>
          <a:noFill/>
          <a:ln/>
        </p:spPr>
        <p:txBody>
          <a:bodyPr wrap="square" lIns="0" tIns="0" rIns="0" bIns="0" rtlCol="0" anchor="ctr"/>
          <a:lstStyle/>
          <a:p>
            <a:pPr indent="0" marL="0">
              <a:buNone/>
            </a:pPr>
            <a:r>
              <a:rPr lang="en-US" sz="900" dirty="0">
                <a:solidFill>
                  <a:srgbClr val="1A1A2E"/>
                </a:solidFill>
              </a:rPr>
              <a:t>Standardised Approach — A regulator-prescribed method for calculating credit or market risk capital, using fixed risk weights or sensitivity factors.</a:t>
            </a:r>
            <a:endParaRPr lang="en-US" sz="900" dirty="0"/>
          </a:p>
        </p:txBody>
      </p:sp>
      <p:sp>
        <p:nvSpPr>
          <p:cNvPr id="27" name="Shape 25"/>
          <p:cNvSpPr/>
          <p:nvPr/>
        </p:nvSpPr>
        <p:spPr>
          <a:xfrm>
            <a:off x="274320" y="2446020"/>
            <a:ext cx="8595360" cy="333756"/>
          </a:xfrm>
          <a:prstGeom prst="rect">
            <a:avLst/>
          </a:prstGeom>
          <a:solidFill>
            <a:srgbClr val="F4F6F8"/>
          </a:solidFill>
          <a:ln/>
        </p:spPr>
      </p:sp>
      <p:sp>
        <p:nvSpPr>
          <p:cNvPr id="28" name="Shape 26"/>
          <p:cNvSpPr/>
          <p:nvPr/>
        </p:nvSpPr>
        <p:spPr>
          <a:xfrm>
            <a:off x="274320" y="2446020"/>
            <a:ext cx="914400" cy="333756"/>
          </a:xfrm>
          <a:prstGeom prst="rect">
            <a:avLst/>
          </a:prstGeom>
          <a:solidFill>
            <a:srgbClr val="1B3A6B"/>
          </a:solidFill>
          <a:ln/>
        </p:spPr>
      </p:sp>
      <p:sp>
        <p:nvSpPr>
          <p:cNvPr id="29" name="Text 27">
            <a:hlinkClick r:id="rId6" tooltip="SA-CCR. → See Basel IV slide" action="ppaction://hlinksldjump"/>
          </p:cNvPr>
          <p:cNvSpPr/>
          <p:nvPr/>
        </p:nvSpPr>
        <p:spPr>
          <a:xfrm>
            <a:off x="274320" y="2446020"/>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6" action="ppaction://hlinksldjump" tooltip="SA-CCR. → See Basel IV slide">
                  <a:extLst>
                    <a:ext uri="{A12FA001-AC4F-418D-AE19-62706E023703}">
                      <ahyp:hlinkClr xmlns:ahyp="http://schemas.microsoft.com/office/drawing/2018/hyperlinkcolor" val="tx"/>
                    </a:ext>
                  </a:extLst>
                </a:hlinkClick>
              </a:rPr>
              <a:t>SA-CCR</a:t>
            </a:r>
            <a:endParaRPr lang="en-US" sz="900" dirty="0"/>
          </a:p>
        </p:txBody>
      </p:sp>
      <p:sp>
        <p:nvSpPr>
          <p:cNvPr id="30" name="Text 28"/>
          <p:cNvSpPr/>
          <p:nvPr/>
        </p:nvSpPr>
        <p:spPr>
          <a:xfrm>
            <a:off x="1234440" y="2446020"/>
            <a:ext cx="7589520" cy="333756"/>
          </a:xfrm>
          <a:prstGeom prst="rect">
            <a:avLst/>
          </a:prstGeom>
          <a:noFill/>
          <a:ln/>
        </p:spPr>
        <p:txBody>
          <a:bodyPr wrap="square" lIns="0" tIns="0" rIns="0" bIns="0" rtlCol="0" anchor="ctr"/>
          <a:lstStyle/>
          <a:p>
            <a:pPr indent="0" marL="0">
              <a:buNone/>
            </a:pPr>
            <a:r>
              <a:rPr lang="en-US" sz="900" dirty="0">
                <a:solidFill>
                  <a:srgbClr val="1A1A2E"/>
                </a:solidFill>
              </a:rPr>
              <a:t>Standardised Approach for Counterparty Credit Risk — Basel IV mandatory method replacing CEM. Recognises netting, margin, and delta-adjusted notionals.</a:t>
            </a:r>
            <a:endParaRPr lang="en-US" sz="900" dirty="0"/>
          </a:p>
        </p:txBody>
      </p:sp>
      <p:sp>
        <p:nvSpPr>
          <p:cNvPr id="31" name="Shape 29"/>
          <p:cNvSpPr/>
          <p:nvPr/>
        </p:nvSpPr>
        <p:spPr>
          <a:xfrm>
            <a:off x="274320" y="2779776"/>
            <a:ext cx="8595360" cy="333756"/>
          </a:xfrm>
          <a:prstGeom prst="rect">
            <a:avLst/>
          </a:prstGeom>
          <a:solidFill>
            <a:srgbClr val="FFFFFF"/>
          </a:solidFill>
          <a:ln/>
        </p:spPr>
      </p:sp>
      <p:sp>
        <p:nvSpPr>
          <p:cNvPr id="32" name="Shape 30"/>
          <p:cNvSpPr/>
          <p:nvPr/>
        </p:nvSpPr>
        <p:spPr>
          <a:xfrm>
            <a:off x="274320" y="2779776"/>
            <a:ext cx="914400" cy="333756"/>
          </a:xfrm>
          <a:prstGeom prst="rect">
            <a:avLst/>
          </a:prstGeom>
          <a:solidFill>
            <a:srgbClr val="0E6B8A"/>
          </a:solidFill>
          <a:ln/>
        </p:spPr>
      </p:sp>
      <p:sp>
        <p:nvSpPr>
          <p:cNvPr id="33" name="Text 31">
            <a:hlinkClick r:id="rId7" tooltip="SA-CVA. → See Basel IV slide" action="ppaction://hlinksldjump"/>
          </p:cNvPr>
          <p:cNvSpPr/>
          <p:nvPr/>
        </p:nvSpPr>
        <p:spPr>
          <a:xfrm>
            <a:off x="274320" y="2779776"/>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7" action="ppaction://hlinksldjump" tooltip="SA-CVA. → See Basel IV slide">
                  <a:extLst>
                    <a:ext uri="{A12FA001-AC4F-418D-AE19-62706E023703}">
                      <ahyp:hlinkClr xmlns:ahyp="http://schemas.microsoft.com/office/drawing/2018/hyperlinkcolor" val="tx"/>
                    </a:ext>
                  </a:extLst>
                </a:hlinkClick>
              </a:rPr>
              <a:t>SA-CVA</a:t>
            </a:r>
            <a:endParaRPr lang="en-US" sz="900" dirty="0"/>
          </a:p>
        </p:txBody>
      </p:sp>
      <p:sp>
        <p:nvSpPr>
          <p:cNvPr id="34" name="Text 32"/>
          <p:cNvSpPr/>
          <p:nvPr/>
        </p:nvSpPr>
        <p:spPr>
          <a:xfrm>
            <a:off x="1234440" y="2779776"/>
            <a:ext cx="7589520" cy="333756"/>
          </a:xfrm>
          <a:prstGeom prst="rect">
            <a:avLst/>
          </a:prstGeom>
          <a:noFill/>
          <a:ln/>
        </p:spPr>
        <p:txBody>
          <a:bodyPr wrap="square" lIns="0" tIns="0" rIns="0" bIns="0" rtlCol="0" anchor="ctr"/>
          <a:lstStyle/>
          <a:p>
            <a:pPr indent="0" marL="0">
              <a:buNone/>
            </a:pPr>
            <a:r>
              <a:rPr lang="en-US" sz="900" dirty="0">
                <a:solidFill>
                  <a:srgbClr val="1A1A2E"/>
                </a:solidFill>
              </a:rPr>
              <a:t>Standardised Approach CVA — A sensitivity-based CVA capital method under Basel IV, consistent with FRTB. Explicitly recognises hedges.</a:t>
            </a:r>
            <a:endParaRPr lang="en-US" sz="900" dirty="0"/>
          </a:p>
        </p:txBody>
      </p:sp>
      <p:sp>
        <p:nvSpPr>
          <p:cNvPr id="35" name="Shape 33"/>
          <p:cNvSpPr/>
          <p:nvPr/>
        </p:nvSpPr>
        <p:spPr>
          <a:xfrm>
            <a:off x="274320" y="3113532"/>
            <a:ext cx="8595360" cy="333756"/>
          </a:xfrm>
          <a:prstGeom prst="rect">
            <a:avLst/>
          </a:prstGeom>
          <a:solidFill>
            <a:srgbClr val="F4F6F8"/>
          </a:solidFill>
          <a:ln/>
        </p:spPr>
      </p:sp>
      <p:sp>
        <p:nvSpPr>
          <p:cNvPr id="36" name="Shape 34"/>
          <p:cNvSpPr/>
          <p:nvPr/>
        </p:nvSpPr>
        <p:spPr>
          <a:xfrm>
            <a:off x="274320" y="3113532"/>
            <a:ext cx="914400" cy="333756"/>
          </a:xfrm>
          <a:prstGeom prst="rect">
            <a:avLst/>
          </a:prstGeom>
          <a:solidFill>
            <a:srgbClr val="1B3A6B"/>
          </a:solidFill>
          <a:ln/>
        </p:spPr>
      </p:sp>
      <p:sp>
        <p:nvSpPr>
          <p:cNvPr id="37" name="Text 35">
            <a:hlinkClick r:id="rId8" tooltip="SMA replaces AMA. → See Basel IV slide" action="ppaction://hlinksldjump"/>
          </p:cNvPr>
          <p:cNvSpPr/>
          <p:nvPr/>
        </p:nvSpPr>
        <p:spPr>
          <a:xfrm>
            <a:off x="274320" y="3113532"/>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8" action="ppaction://hlinksldjump" tooltip="SMA replaces AMA. → See Basel IV slide">
                  <a:extLst>
                    <a:ext uri="{A12FA001-AC4F-418D-AE19-62706E023703}">
                      <ahyp:hlinkClr xmlns:ahyp="http://schemas.microsoft.com/office/drawing/2018/hyperlinkcolor" val="tx"/>
                    </a:ext>
                  </a:extLst>
                </a:hlinkClick>
              </a:rPr>
              <a:t>SMA</a:t>
            </a:r>
            <a:endParaRPr lang="en-US" sz="900" dirty="0"/>
          </a:p>
        </p:txBody>
      </p:sp>
      <p:sp>
        <p:nvSpPr>
          <p:cNvPr id="38" name="Text 36"/>
          <p:cNvSpPr/>
          <p:nvPr/>
        </p:nvSpPr>
        <p:spPr>
          <a:xfrm>
            <a:off x="1234440" y="3113532"/>
            <a:ext cx="7589520" cy="333756"/>
          </a:xfrm>
          <a:prstGeom prst="rect">
            <a:avLst/>
          </a:prstGeom>
          <a:noFill/>
          <a:ln/>
        </p:spPr>
        <p:txBody>
          <a:bodyPr wrap="square" lIns="0" tIns="0" rIns="0" bIns="0" rtlCol="0" anchor="ctr"/>
          <a:lstStyle/>
          <a:p>
            <a:pPr indent="0" marL="0">
              <a:buNone/>
            </a:pPr>
            <a:r>
              <a:rPr lang="en-US" sz="900" dirty="0">
                <a:solidFill>
                  <a:srgbClr val="1A1A2E"/>
                </a:solidFill>
              </a:rPr>
              <a:t>Standardised Measurement Approach — Basel IV single operational risk method replacing BIA, TSA, and AMA. Based on Business Indicator component.</a:t>
            </a:r>
            <a:endParaRPr lang="en-US" sz="900" dirty="0"/>
          </a:p>
        </p:txBody>
      </p:sp>
      <p:sp>
        <p:nvSpPr>
          <p:cNvPr id="39" name="Shape 37"/>
          <p:cNvSpPr/>
          <p:nvPr/>
        </p:nvSpPr>
        <p:spPr>
          <a:xfrm>
            <a:off x="274320" y="3447288"/>
            <a:ext cx="8595360" cy="333756"/>
          </a:xfrm>
          <a:prstGeom prst="rect">
            <a:avLst/>
          </a:prstGeom>
          <a:solidFill>
            <a:srgbClr val="FFFFFF"/>
          </a:solidFill>
          <a:ln/>
        </p:spPr>
      </p:sp>
      <p:sp>
        <p:nvSpPr>
          <p:cNvPr id="40" name="Shape 38"/>
          <p:cNvSpPr/>
          <p:nvPr/>
        </p:nvSpPr>
        <p:spPr>
          <a:xfrm>
            <a:off x="274320" y="3447288"/>
            <a:ext cx="914400" cy="333756"/>
          </a:xfrm>
          <a:prstGeom prst="rect">
            <a:avLst/>
          </a:prstGeom>
          <a:solidFill>
            <a:srgbClr val="0E6B8A"/>
          </a:solidFill>
          <a:ln/>
        </p:spPr>
      </p:sp>
      <p:sp>
        <p:nvSpPr>
          <p:cNvPr id="41" name="Text 39">
            <a:hlinkClick r:id="rId9" tooltip="SVaR. → See Basel III slide" action="ppaction://hlinksldjump"/>
          </p:cNvPr>
          <p:cNvSpPr/>
          <p:nvPr/>
        </p:nvSpPr>
        <p:spPr>
          <a:xfrm>
            <a:off x="274320" y="3447288"/>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9" action="ppaction://hlinksldjump" tooltip="SVaR. → See Basel III slide">
                  <a:extLst>
                    <a:ext uri="{A12FA001-AC4F-418D-AE19-62706E023703}">
                      <ahyp:hlinkClr xmlns:ahyp="http://schemas.microsoft.com/office/drawing/2018/hyperlinkcolor" val="tx"/>
                    </a:ext>
                  </a:extLst>
                </a:hlinkClick>
              </a:rPr>
              <a:t>SVaR</a:t>
            </a:r>
            <a:endParaRPr lang="en-US" sz="900" dirty="0"/>
          </a:p>
        </p:txBody>
      </p:sp>
      <p:sp>
        <p:nvSpPr>
          <p:cNvPr id="42" name="Text 40"/>
          <p:cNvSpPr/>
          <p:nvPr/>
        </p:nvSpPr>
        <p:spPr>
          <a:xfrm>
            <a:off x="1234440" y="3447288"/>
            <a:ext cx="7589520" cy="333756"/>
          </a:xfrm>
          <a:prstGeom prst="rect">
            <a:avLst/>
          </a:prstGeom>
          <a:noFill/>
          <a:ln/>
        </p:spPr>
        <p:txBody>
          <a:bodyPr wrap="square" lIns="0" tIns="0" rIns="0" bIns="0" rtlCol="0" anchor="ctr"/>
          <a:lstStyle/>
          <a:p>
            <a:pPr indent="0" marL="0">
              <a:buNone/>
            </a:pPr>
            <a:r>
              <a:rPr lang="en-US" sz="900" dirty="0">
                <a:solidFill>
                  <a:srgbClr val="1A1A2E"/>
                </a:solidFill>
              </a:rPr>
              <a:t>Stressed Value at Risk — A VaR calculation using a historical stress period (typically 2007–09) to capture crisis-level market risk. Introduced in Basel III.</a:t>
            </a:r>
            <a:endParaRPr lang="en-US" sz="900" dirty="0"/>
          </a:p>
        </p:txBody>
      </p:sp>
      <p:sp>
        <p:nvSpPr>
          <p:cNvPr id="43" name="Shape 41"/>
          <p:cNvSpPr/>
          <p:nvPr/>
        </p:nvSpPr>
        <p:spPr>
          <a:xfrm>
            <a:off x="274320" y="3781044"/>
            <a:ext cx="8595360" cy="333756"/>
          </a:xfrm>
          <a:prstGeom prst="rect">
            <a:avLst/>
          </a:prstGeom>
          <a:solidFill>
            <a:srgbClr val="F4F6F8"/>
          </a:solidFill>
          <a:ln/>
        </p:spPr>
      </p:sp>
      <p:sp>
        <p:nvSpPr>
          <p:cNvPr id="44" name="Shape 42"/>
          <p:cNvSpPr/>
          <p:nvPr/>
        </p:nvSpPr>
        <p:spPr>
          <a:xfrm>
            <a:off x="274320" y="3781044"/>
            <a:ext cx="914400" cy="333756"/>
          </a:xfrm>
          <a:prstGeom prst="rect">
            <a:avLst/>
          </a:prstGeom>
          <a:solidFill>
            <a:srgbClr val="1B3A6B"/>
          </a:solidFill>
          <a:ln/>
        </p:spPr>
      </p:sp>
      <p:sp>
        <p:nvSpPr>
          <p:cNvPr id="45" name="Text 43">
            <a:hlinkClick r:id="rId10" tooltip="OpRisk methods. → See Basel II slide" action="ppaction://hlinksldjump"/>
          </p:cNvPr>
          <p:cNvSpPr/>
          <p:nvPr/>
        </p:nvSpPr>
        <p:spPr>
          <a:xfrm>
            <a:off x="274320" y="3781044"/>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0" action="ppaction://hlinksldjump" tooltip="OpRisk methods. → See Basel II slide">
                  <a:extLst>
                    <a:ext uri="{A12FA001-AC4F-418D-AE19-62706E023703}">
                      <ahyp:hlinkClr xmlns:ahyp="http://schemas.microsoft.com/office/drawing/2018/hyperlinkcolor" val="tx"/>
                    </a:ext>
                  </a:extLst>
                </a:hlinkClick>
              </a:rPr>
              <a:t>TSA</a:t>
            </a:r>
            <a:endParaRPr lang="en-US" sz="900" dirty="0"/>
          </a:p>
        </p:txBody>
      </p:sp>
      <p:sp>
        <p:nvSpPr>
          <p:cNvPr id="46" name="Text 44"/>
          <p:cNvSpPr/>
          <p:nvPr/>
        </p:nvSpPr>
        <p:spPr>
          <a:xfrm>
            <a:off x="1234440" y="3781044"/>
            <a:ext cx="7589520" cy="333756"/>
          </a:xfrm>
          <a:prstGeom prst="rect">
            <a:avLst/>
          </a:prstGeom>
          <a:noFill/>
          <a:ln/>
        </p:spPr>
        <p:txBody>
          <a:bodyPr wrap="square" lIns="0" tIns="0" rIns="0" bIns="0" rtlCol="0" anchor="ctr"/>
          <a:lstStyle/>
          <a:p>
            <a:pPr indent="0" marL="0">
              <a:buNone/>
            </a:pPr>
            <a:r>
              <a:rPr lang="en-US" sz="900" dirty="0">
                <a:solidFill>
                  <a:srgbClr val="1A1A2E"/>
                </a:solidFill>
              </a:rPr>
              <a:t>Standardised Approach (OpRisk) — Basel II method applying beta factors (12–18%) to gross income across 8 defined business lines.</a:t>
            </a:r>
            <a:endParaRPr lang="en-US" sz="900" dirty="0"/>
          </a:p>
        </p:txBody>
      </p:sp>
      <p:sp>
        <p:nvSpPr>
          <p:cNvPr id="47" name="Shape 45"/>
          <p:cNvSpPr/>
          <p:nvPr/>
        </p:nvSpPr>
        <p:spPr>
          <a:xfrm>
            <a:off x="274320" y="4114800"/>
            <a:ext cx="8595360" cy="333756"/>
          </a:xfrm>
          <a:prstGeom prst="rect">
            <a:avLst/>
          </a:prstGeom>
          <a:solidFill>
            <a:srgbClr val="FFFFFF"/>
          </a:solidFill>
          <a:ln/>
        </p:spPr>
      </p:sp>
      <p:sp>
        <p:nvSpPr>
          <p:cNvPr id="48" name="Shape 46"/>
          <p:cNvSpPr/>
          <p:nvPr/>
        </p:nvSpPr>
        <p:spPr>
          <a:xfrm>
            <a:off x="274320" y="4114800"/>
            <a:ext cx="914400" cy="333756"/>
          </a:xfrm>
          <a:prstGeom prst="rect">
            <a:avLst/>
          </a:prstGeom>
          <a:solidFill>
            <a:srgbClr val="0E6B8A"/>
          </a:solidFill>
          <a:ln/>
        </p:spPr>
      </p:sp>
      <p:sp>
        <p:nvSpPr>
          <p:cNvPr id="49" name="Text 47">
            <a:hlinkClick r:id="rId11" tooltip="VaR introduced in Basel II. → See Basel II slide" action="ppaction://hlinksldjump"/>
          </p:cNvPr>
          <p:cNvSpPr/>
          <p:nvPr/>
        </p:nvSpPr>
        <p:spPr>
          <a:xfrm>
            <a:off x="274320" y="4114800"/>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1" action="ppaction://hlinksldjump" tooltip="VaR introduced in Basel II. → See Basel II slide">
                  <a:extLst>
                    <a:ext uri="{A12FA001-AC4F-418D-AE19-62706E023703}">
                      <ahyp:hlinkClr xmlns:ahyp="http://schemas.microsoft.com/office/drawing/2018/hyperlinkcolor" val="tx"/>
                    </a:ext>
                  </a:extLst>
                </a:hlinkClick>
              </a:rPr>
              <a:t>VaR</a:t>
            </a:r>
            <a:endParaRPr lang="en-US" sz="900" dirty="0"/>
          </a:p>
        </p:txBody>
      </p:sp>
      <p:sp>
        <p:nvSpPr>
          <p:cNvPr id="50" name="Text 48"/>
          <p:cNvSpPr/>
          <p:nvPr/>
        </p:nvSpPr>
        <p:spPr>
          <a:xfrm>
            <a:off x="1234440" y="4114800"/>
            <a:ext cx="7589520" cy="333756"/>
          </a:xfrm>
          <a:prstGeom prst="rect">
            <a:avLst/>
          </a:prstGeom>
          <a:noFill/>
          <a:ln/>
        </p:spPr>
        <p:txBody>
          <a:bodyPr wrap="square" lIns="0" tIns="0" rIns="0" bIns="0" rtlCol="0" anchor="ctr"/>
          <a:lstStyle/>
          <a:p>
            <a:pPr indent="0" marL="0">
              <a:buNone/>
            </a:pPr>
            <a:r>
              <a:rPr lang="en-US" sz="900" dirty="0">
                <a:solidFill>
                  <a:srgbClr val="1A1A2E"/>
                </a:solidFill>
              </a:rPr>
              <a:t>Value at Risk — Statistical measure of the maximum loss not exceeded at a given confidence level (e.g. 99%) over a given holding period (e.g. 10 days).</a:t>
            </a:r>
            <a:endParaRPr lang="en-US" sz="900" dirty="0"/>
          </a:p>
        </p:txBody>
      </p:sp>
      <p:sp>
        <p:nvSpPr>
          <p:cNvPr id="51" name="Shape 49"/>
          <p:cNvSpPr/>
          <p:nvPr/>
        </p:nvSpPr>
        <p:spPr>
          <a:xfrm>
            <a:off x="274320" y="4448556"/>
            <a:ext cx="8595360" cy="333756"/>
          </a:xfrm>
          <a:prstGeom prst="rect">
            <a:avLst/>
          </a:prstGeom>
          <a:solidFill>
            <a:srgbClr val="F4F6F8"/>
          </a:solidFill>
          <a:ln/>
        </p:spPr>
      </p:sp>
      <p:sp>
        <p:nvSpPr>
          <p:cNvPr id="52" name="Shape 50"/>
          <p:cNvSpPr/>
          <p:nvPr/>
        </p:nvSpPr>
        <p:spPr>
          <a:xfrm>
            <a:off x="274320" y="4448556"/>
            <a:ext cx="914400" cy="333756"/>
          </a:xfrm>
          <a:prstGeom prst="rect">
            <a:avLst/>
          </a:prstGeom>
          <a:solidFill>
            <a:srgbClr val="1B3A6B"/>
          </a:solidFill>
          <a:ln/>
        </p:spPr>
      </p:sp>
      <p:sp>
        <p:nvSpPr>
          <p:cNvPr id="53" name="Text 51">
            <a:hlinkClick r:id="rId12" tooltip="WWR context in CDS. → See CDS example slide" action="ppaction://hlinksldjump"/>
          </p:cNvPr>
          <p:cNvSpPr/>
          <p:nvPr/>
        </p:nvSpPr>
        <p:spPr>
          <a:xfrm>
            <a:off x="274320" y="4448556"/>
            <a:ext cx="914400" cy="333756"/>
          </a:xfrm>
          <a:prstGeom prst="rect">
            <a:avLst/>
          </a:prstGeom>
          <a:noFill/>
          <a:ln/>
        </p:spPr>
        <p:txBody>
          <a:bodyPr wrap="square" lIns="0" tIns="0" rIns="0" bIns="0" rtlCol="0" anchor="ctr"/>
          <a:lstStyle/>
          <a:p>
            <a:pPr algn="ctr" indent="0" marL="0">
              <a:buNone/>
            </a:pPr>
            <a:r>
              <a:rPr lang="en-US" sz="900" b="1" u="sng" dirty="0">
                <a:solidFill>
                  <a:srgbClr val="FFFFFF"/>
                </a:solidFill>
                <a:hlinkClick r:id="rId12" action="ppaction://hlinksldjump" tooltip="WWR context in CDS. → See CDS example slide">
                  <a:extLst>
                    <a:ext uri="{A12FA001-AC4F-418D-AE19-62706E023703}">
                      <ahyp:hlinkClr xmlns:ahyp="http://schemas.microsoft.com/office/drawing/2018/hyperlinkcolor" val="tx"/>
                    </a:ext>
                  </a:extLst>
                </a:hlinkClick>
              </a:rPr>
              <a:t>WWR</a:t>
            </a:r>
            <a:endParaRPr lang="en-US" sz="900" dirty="0"/>
          </a:p>
        </p:txBody>
      </p:sp>
      <p:sp>
        <p:nvSpPr>
          <p:cNvPr id="54" name="Text 52"/>
          <p:cNvSpPr/>
          <p:nvPr/>
        </p:nvSpPr>
        <p:spPr>
          <a:xfrm>
            <a:off x="1234440" y="4448556"/>
            <a:ext cx="7589520" cy="333756"/>
          </a:xfrm>
          <a:prstGeom prst="rect">
            <a:avLst/>
          </a:prstGeom>
          <a:noFill/>
          <a:ln/>
        </p:spPr>
        <p:txBody>
          <a:bodyPr wrap="square" lIns="0" tIns="0" rIns="0" bIns="0" rtlCol="0" anchor="ctr"/>
          <a:lstStyle/>
          <a:p>
            <a:pPr indent="0" marL="0">
              <a:buNone/>
            </a:pPr>
            <a:r>
              <a:rPr lang="en-US" sz="900" dirty="0">
                <a:solidFill>
                  <a:srgbClr val="1A1A2E"/>
                </a:solidFill>
              </a:rPr>
              <a:t>Wrong-Way Risk — The risk that exposure to a counterparty increases at the same time as that counterparty's credit quality deteriorates.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Basel Accords: From I to IV</dc:title>
  <dc:subject>PptxGenJS Presentation</dc:subject>
  <dc:creator>Sarthaka Nanda</dc:creator>
  <cp:lastModifiedBy>Sarthaka Nanda</cp:lastModifiedBy>
  <cp:revision>1</cp:revision>
  <dcterms:created xsi:type="dcterms:W3CDTF">2026-03-05T00:13:46Z</dcterms:created>
  <dcterms:modified xsi:type="dcterms:W3CDTF">2026-03-05T00:13:46Z</dcterms:modified>
</cp:coreProperties>
</file>