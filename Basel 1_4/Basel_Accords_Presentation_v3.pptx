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3A6B"/>
                </a:solidFill>
                <a:latin typeface="Arial"/>
              </a:defRPr>
            </a:pPr>
            <a:r>
              <a:rPr sz="1100" b="0" i="0" u="none" strike="noStrike">
                <a:solidFill>
                  <a:srgbClr val="1B3A6B"/>
                </a:solidFill>
                <a:latin typeface="Arial"/>
              </a:rPr>
              <a:t>Effective Minimum Capital (% of RWA)</a:t>
            </a:r>
          </a:p>
        </c:rich>
      </c:tx>
      <c:layout/>
      <c:overlay val="0"/>
    </c:title>
    <c:autoTitleDeleted val="0"/>
    <c:plotArea>
      <c:layout/>
      <c:barChart>
        <c:barDir val="col"/>
        <c:grouping val="stacked"/>
        <c:varyColors val="0"/>
        <c:ser>
          <c:idx val="0"/>
          <c:order val="0"/>
          <c:tx>
            <c:strRef>
              <c:f>Sheet1!$B$1</c:f>
              <c:strCache>
                <c:ptCount val="1"/>
                <c:pt idx="0">
                  <c:v>CET1 Minimum</c:v>
                </c:pt>
              </c:strCache>
            </c:strRef>
          </c:tx>
          <c:spPr>
            <a:solidFill>
              <a:srgbClr val="0E6B8A"/>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c:v>
                  </c:pt>
                </c:lvl>
              </c:multiLvlStrCache>
            </c:multiLvlStrRef>
          </c:cat>
          <c:val>
            <c:numRef>
              <c:f>Sheet1!$B$2:$B$5</c:f>
              <c:numCache>
                <c:formatCode>General</c:formatCode>
                <c:ptCount val="4"/>
                <c:pt idx="0">
                  <c:v>4</c:v>
                </c:pt>
                <c:pt idx="1">
                  <c:v>4</c:v>
                </c:pt>
                <c:pt idx="2">
                  <c:v>4.5</c:v>
                </c:pt>
                <c:pt idx="3">
                  <c:v>4.5</c:v>
                </c:pt>
              </c:numCache>
            </c:numRef>
          </c:val>
        </c:ser>
        <c:ser>
          <c:idx val="1"/>
          <c:order val="1"/>
          <c:tx>
            <c:strRef>
              <c:f>Sheet1!$C$1</c:f>
              <c:strCache>
                <c:ptCount val="1"/>
                <c:pt idx="0">
                  <c:v>Conservation Buffer</c:v>
                </c:pt>
              </c:strCache>
            </c:strRef>
          </c:tx>
          <c:spPr>
            <a:solidFill>
              <a:srgbClr val="C9A84C"/>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c:v>
                  </c:pt>
                </c:lvl>
              </c:multiLvlStrCache>
            </c:multiLvlStrRef>
          </c:cat>
          <c:val>
            <c:numRef>
              <c:f>Sheet1!$C$2:$C$5</c:f>
              <c:numCache>
                <c:formatCode>General</c:formatCode>
                <c:ptCount val="4"/>
                <c:pt idx="0">
                  <c:v>0</c:v>
                </c:pt>
                <c:pt idx="1">
                  <c:v>0</c:v>
                </c:pt>
                <c:pt idx="2">
                  <c:v>2.5</c:v>
                </c:pt>
                <c:pt idx="3">
                  <c:v>2.5</c:v>
                </c:pt>
              </c:numCache>
            </c:numRef>
          </c:val>
        </c:ser>
        <c:ser>
          <c:idx val="2"/>
          <c:order val="2"/>
          <c:tx>
            <c:strRef>
              <c:f>Sheet1!$D$1</c:f>
              <c:strCache>
                <c:ptCount val="1"/>
                <c:pt idx="0">
                  <c:v>AT1 / Tier 2</c:v>
                </c:pt>
              </c:strCache>
            </c:strRef>
          </c:tx>
          <c:spPr>
            <a:solidFill>
              <a:srgbClr val="9FBFDF"/>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c:v>
                  </c:pt>
                </c:lvl>
              </c:multiLvlStrCache>
            </c:multiLvlStrRef>
          </c:cat>
          <c:val>
            <c:numRef>
              <c:f>Sheet1!$D$2:$D$5</c:f>
              <c:numCache>
                <c:formatCode>General</c:formatCode>
                <c:ptCount val="4"/>
                <c:pt idx="0">
                  <c:v>4</c:v>
                </c:pt>
                <c:pt idx="1">
                  <c:v>4</c:v>
                </c:pt>
                <c:pt idx="2">
                  <c:v>3.5</c:v>
                </c:pt>
                <c:pt idx="3">
                  <c:v>3.5</c:v>
                </c:pt>
              </c:numCache>
            </c:numRef>
          </c:val>
        </c:ser>
        <c:ser>
          <c:idx val="3"/>
          <c:order val="3"/>
          <c:tx>
            <c:strRef>
              <c:f>Sheet1!$E$1</c:f>
              <c:strCache>
                <c:ptCount val="1"/>
                <c:pt idx="0">
                  <c:v>G-SIB Surcharge (avg)</c:v>
                </c:pt>
              </c:strCache>
            </c:strRef>
          </c:tx>
          <c:spPr>
            <a:solidFill>
              <a:srgbClr val="8B0000"/>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c:v>
                  </c:pt>
                </c:lvl>
              </c:multiLvlStrCache>
            </c:multiLvlStrRef>
          </c:cat>
          <c:val>
            <c:numRef>
              <c:f>Sheet1!$E$2:$E$5</c:f>
              <c:numCache>
                <c:formatCode>General</c:formatCode>
                <c:ptCount val="4"/>
                <c:pt idx="0">
                  <c:v>0</c:v>
                </c:pt>
                <c:pt idx="1">
                  <c:v>0</c:v>
                </c:pt>
                <c:pt idx="2">
                  <c:v>1.5</c:v>
                </c:pt>
                <c:pt idx="3">
                  <c:v>1.5</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A6B"/>
                </a:solidFill>
                <a:latin typeface="Arial"/>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6350" cap="flat">
              <a:solidFill>
                <a:srgbClr val="E0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A1A2E"/>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B3A6B"/>
                </a:solidFill>
                <a:latin typeface="Arial"/>
              </a:defRPr>
            </a:pPr>
            <a:r>
              <a:rPr sz="1000" b="0" i="0" u="none" strike="noStrike">
                <a:solidFill>
                  <a:srgbClr val="1B3A6B"/>
                </a:solidFill>
                <a:latin typeface="Arial"/>
              </a:rPr>
              <a:t>CCR + CVA Capital (€000, bilateral, banking book)</a:t>
            </a:r>
          </a:p>
        </c:rich>
      </c:tx>
      <c:layout/>
      <c:overlay val="0"/>
    </c:title>
    <c:autoTitleDeleted val="0"/>
    <c:plotArea>
      <c:layout/>
      <c:barChart>
        <c:barDir val="col"/>
        <c:grouping val="stacked"/>
        <c:varyColors val="0"/>
        <c:ser>
          <c:idx val="0"/>
          <c:order val="0"/>
          <c:tx>
            <c:strRef>
              <c:f>Sheet1!$B$1</c:f>
              <c:strCache>
                <c:ptCount val="1"/>
                <c:pt idx="0">
                  <c:v>CCR Capital</c:v>
                </c:pt>
              </c:strCache>
            </c:strRef>
          </c:tx>
          <c:spPr>
            <a:solidFill>
              <a:srgbClr val="0E6B8A"/>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 (SA)</c:v>
                  </c:pt>
                  <c:pt idx="2">
                    <c:v>Basel III</c:v>
                  </c:pt>
                  <c:pt idx="3">
                    <c:v>Basel IV</c:v>
                  </c:pt>
                </c:lvl>
              </c:multiLvlStrCache>
            </c:multiLvlStrRef>
          </c:cat>
          <c:val>
            <c:numRef>
              <c:f>Sheet1!$B$2:$B$5</c:f>
              <c:numCache>
                <c:formatCode>General</c:formatCode>
                <c:ptCount val="4"/>
                <c:pt idx="0">
                  <c:v>36</c:v>
                </c:pt>
                <c:pt idx="1">
                  <c:v>18</c:v>
                </c:pt>
                <c:pt idx="2">
                  <c:v>18</c:v>
                </c:pt>
                <c:pt idx="3">
                  <c:v>44</c:v>
                </c:pt>
              </c:numCache>
            </c:numRef>
          </c:val>
        </c:ser>
        <c:ser>
          <c:idx val="1"/>
          <c:order val="1"/>
          <c:tx>
            <c:strRef>
              <c:f>Sheet1!$C$1</c:f>
              <c:strCache>
                <c:ptCount val="1"/>
                <c:pt idx="0">
                  <c:v>CVA Capital</c:v>
                </c:pt>
              </c:strCache>
            </c:strRef>
          </c:tx>
          <c:spPr>
            <a:solidFill>
              <a:srgbClr val="8B0000"/>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 (SA)</c:v>
                  </c:pt>
                  <c:pt idx="2">
                    <c:v>Basel III</c:v>
                  </c:pt>
                  <c:pt idx="3">
                    <c:v>Basel IV</c:v>
                  </c:pt>
                </c:lvl>
              </c:multiLvlStrCache>
            </c:multiLvlStrRef>
          </c:cat>
          <c:val>
            <c:numRef>
              <c:f>Sheet1!$C$2:$C$5</c:f>
              <c:numCache>
                <c:formatCode>General</c:formatCode>
                <c:ptCount val="4"/>
                <c:pt idx="0">
                  <c:v>0</c:v>
                </c:pt>
                <c:pt idx="1">
                  <c:v>0</c:v>
                </c:pt>
                <c:pt idx="2">
                  <c:v>22</c:v>
                </c:pt>
                <c:pt idx="3">
                  <c:v>15</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A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B3A6B"/>
                </a:solidFill>
                <a:latin typeface="Arial"/>
              </a:defRPr>
            </a:pPr>
            <a:r>
              <a:rPr sz="900" b="0" i="0" u="none" strike="noStrike">
                <a:solidFill>
                  <a:srgbClr val="1B3A6B"/>
                </a:solidFill>
                <a:latin typeface="Arial"/>
              </a:rPr>
              <a:t>CDS Capital by Basel Accord ($000)</a:t>
            </a:r>
          </a:p>
        </c:rich>
      </c:tx>
      <c:layout/>
      <c:overlay val="0"/>
    </c:title>
    <c:autoTitleDeleted val="0"/>
    <c:plotArea>
      <c:layout/>
      <c:barChart>
        <c:barDir val="col"/>
        <c:grouping val="stacked"/>
        <c:varyColors val="0"/>
        <c:ser>
          <c:idx val="0"/>
          <c:order val="0"/>
          <c:tx>
            <c:strRef>
              <c:f>Sheet1!$B$1</c:f>
              <c:strCache>
                <c:ptCount val="1"/>
                <c:pt idx="0">
                  <c:v>CCR ($000)</c:v>
                </c:pt>
              </c:strCache>
            </c:strRef>
          </c:tx>
          <c:spPr>
            <a:solidFill>
              <a:srgbClr val="8B0000"/>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c:v>
                  </c:pt>
                </c:lvl>
              </c:multiLvlStrCache>
            </c:multiLvlStrRef>
          </c:cat>
          <c:val>
            <c:numRef>
              <c:f>Sheet1!$B$2:$B$5</c:f>
              <c:numCache>
                <c:formatCode>General</c:formatCode>
                <c:ptCount val="4"/>
                <c:pt idx="0">
                  <c:v>8</c:v>
                </c:pt>
                <c:pt idx="1">
                  <c:v>9.6</c:v>
                </c:pt>
                <c:pt idx="2">
                  <c:v>9.6</c:v>
                </c:pt>
                <c:pt idx="3">
                  <c:v>13</c:v>
                </c:pt>
              </c:numCache>
            </c:numRef>
          </c:val>
        </c:ser>
        <c:ser>
          <c:idx val="1"/>
          <c:order val="1"/>
          <c:tx>
            <c:strRef>
              <c:f>Sheet1!$C$1</c:f>
              <c:strCache>
                <c:ptCount val="1"/>
                <c:pt idx="0">
                  <c:v>CVA ($000)</c:v>
                </c:pt>
              </c:strCache>
            </c:strRef>
          </c:tx>
          <c:spPr>
            <a:solidFill>
              <a:srgbClr val="D4770A"/>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c:v>
                  </c:pt>
                </c:lvl>
              </c:multiLvlStrCache>
            </c:multiLvlStrRef>
          </c:cat>
          <c:val>
            <c:numRef>
              <c:f>Sheet1!$C$2:$C$5</c:f>
              <c:numCache>
                <c:formatCode>General</c:formatCode>
                <c:ptCount val="4"/>
                <c:pt idx="0">
                  <c:v>0</c:v>
                </c:pt>
                <c:pt idx="1">
                  <c:v>0</c:v>
                </c:pt>
                <c:pt idx="2">
                  <c:v>6</c:v>
                </c:pt>
                <c:pt idx="3">
                  <c:v>5</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A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800">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B3A6B"/>
                </a:solidFill>
                <a:latin typeface="Arial"/>
              </a:defRPr>
            </a:pPr>
            <a:r>
              <a:rPr sz="900" b="0" i="0" u="none" strike="noStrike">
                <a:solidFill>
                  <a:srgbClr val="1B3A6B"/>
                </a:solidFill>
                <a:latin typeface="Arial"/>
              </a:rPr>
              <a:t>Gold Forward Capital by Basel Accord ($000)</a:t>
            </a:r>
          </a:p>
        </c:rich>
      </c:tx>
      <c:layout/>
      <c:overlay val="0"/>
    </c:title>
    <c:autoTitleDeleted val="0"/>
    <c:plotArea>
      <c:layout/>
      <c:barChart>
        <c:barDir val="col"/>
        <c:grouping val="stacked"/>
        <c:varyColors val="0"/>
        <c:ser>
          <c:idx val="0"/>
          <c:order val="0"/>
          <c:tx>
            <c:strRef>
              <c:f>Sheet1!$B$1</c:f>
              <c:strCache>
                <c:ptCount val="1"/>
                <c:pt idx="0">
                  <c:v>CCR ($000)</c:v>
                </c:pt>
              </c:strCache>
            </c:strRef>
          </c:tx>
          <c:spPr>
            <a:solidFill>
              <a:srgbClr val="1A6B3A"/>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 (SA)</c:v>
                  </c:pt>
                  <c:pt idx="2">
                    <c:v>Basel III</c:v>
                  </c:pt>
                  <c:pt idx="3">
                    <c:v>Basel IV</c:v>
                  </c:pt>
                </c:lvl>
              </c:multiLvlStrCache>
            </c:multiLvlStrRef>
          </c:cat>
          <c:val>
            <c:numRef>
              <c:f>Sheet1!$B$2:$B$5</c:f>
              <c:numCache>
                <c:formatCode>General</c:formatCode>
                <c:ptCount val="4"/>
                <c:pt idx="0">
                  <c:v>28.2</c:v>
                </c:pt>
                <c:pt idx="1">
                  <c:v>28.2</c:v>
                </c:pt>
                <c:pt idx="2">
                  <c:v>28.2</c:v>
                </c:pt>
                <c:pt idx="3">
                  <c:v>34</c:v>
                </c:pt>
              </c:numCache>
            </c:numRef>
          </c:val>
        </c:ser>
        <c:ser>
          <c:idx val="1"/>
          <c:order val="1"/>
          <c:tx>
            <c:strRef>
              <c:f>Sheet1!$C$1</c:f>
              <c:strCache>
                <c:ptCount val="1"/>
                <c:pt idx="0">
                  <c:v>CVA ($000)</c:v>
                </c:pt>
              </c:strCache>
            </c:strRef>
          </c:tx>
          <c:spPr>
            <a:solidFill>
              <a:srgbClr val="D4770A"/>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 (SA)</c:v>
                  </c:pt>
                  <c:pt idx="2">
                    <c:v>Basel III</c:v>
                  </c:pt>
                  <c:pt idx="3">
                    <c:v>Basel IV</c:v>
                  </c:pt>
                </c:lvl>
              </c:multiLvlStrCache>
            </c:multiLvlStrRef>
          </c:cat>
          <c:val>
            <c:numRef>
              <c:f>Sheet1!$C$2:$C$5</c:f>
              <c:numCache>
                <c:formatCode>General</c:formatCode>
                <c:ptCount val="4"/>
                <c:pt idx="0">
                  <c:v>0</c:v>
                </c:pt>
                <c:pt idx="1">
                  <c:v>0</c:v>
                </c:pt>
                <c:pt idx="2">
                  <c:v>8</c:v>
                </c:pt>
                <c:pt idx="3">
                  <c:v>8</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A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8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10.xml"/><Relationship Id="rId3" Type="http://schemas.openxmlformats.org/officeDocument/2006/relationships/slide" Target="slide10.xml"/><Relationship Id="rId4" Type="http://schemas.openxmlformats.org/officeDocument/2006/relationships/slide" Target="slide2.xml"/><Relationship Id="rId5" Type="http://schemas.openxmlformats.org/officeDocument/2006/relationships/slide" Target="slide9.xml"/><Relationship Id="rId6" Type="http://schemas.openxmlformats.org/officeDocument/2006/relationships/slide" Target="slide2.xml"/><Relationship Id="rId7" Type="http://schemas.openxmlformats.org/officeDocument/2006/relationships/slide" Target="slide17.xml"/><Relationship Id="rId8" Type="http://schemas.openxmlformats.org/officeDocument/2006/relationships/slide" Target="slide10.xml"/><Relationship Id="rId9" Type="http://schemas.openxmlformats.org/officeDocument/2006/relationships/slide" Target="slide15.xml"/><Relationship Id="rId10" Type="http://schemas.openxmlformats.org/officeDocument/2006/relationships/slide" Target="slide10.xml"/><Relationship Id="rId11" Type="http://schemas.openxmlformats.org/officeDocument/2006/relationships/slide" Target="slide10.xml"/><Relationship Id="rId12" Type="http://schemas.openxmlformats.org/officeDocument/2006/relationships/slide" Target="slide7.xml"/><Relationship Id="rId13" Type="http://schemas.openxmlformats.org/officeDocument/2006/relationships/slideLayout" Target="../slideLayouts/slideLayout1.xml"/><Relationship Id="rId1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11.xml"/><Relationship Id="rId3" Type="http://schemas.openxmlformats.org/officeDocument/2006/relationships/slide" Target="slide11.xml"/><Relationship Id="rId4" Type="http://schemas.openxmlformats.org/officeDocument/2006/relationships/slide" Target="slide10.xml"/><Relationship Id="rId5" Type="http://schemas.openxmlformats.org/officeDocument/2006/relationships/slide" Target="slide9.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4.xml"/><Relationship Id="rId9" Type="http://schemas.openxmlformats.org/officeDocument/2006/relationships/slide" Target="slide7.xml"/><Relationship Id="rId10" Type="http://schemas.openxmlformats.org/officeDocument/2006/relationships/slide" Target="slide11.xml"/><Relationship Id="rId11" Type="http://schemas.openxmlformats.org/officeDocument/2006/relationships/slide" Target="slide4.xml"/><Relationship Id="rId12" Type="http://schemas.openxmlformats.org/officeDocument/2006/relationships/slide" Target="slide7.xml"/><Relationship Id="rId13" Type="http://schemas.openxmlformats.org/officeDocument/2006/relationships/slideLayout" Target="../slideLayouts/slideLayout1.xml"/><Relationship Id="rId1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2.xml"/><Relationship Id="rId3" Type="http://schemas.openxmlformats.org/officeDocument/2006/relationships/slide" Target="slide9.xml"/><Relationship Id="rId4" Type="http://schemas.openxmlformats.org/officeDocument/2006/relationships/slide" Target="slide17.xml"/><Relationship Id="rId5" Type="http://schemas.openxmlformats.org/officeDocument/2006/relationships/slide" Target="slide11.xml"/><Relationship Id="rId6" Type="http://schemas.openxmlformats.org/officeDocument/2006/relationships/slide" Target="slide11.xml"/><Relationship Id="rId7" Type="http://schemas.openxmlformats.org/officeDocument/2006/relationships/slide" Target="slide10.xml"/><Relationship Id="rId8" Type="http://schemas.openxmlformats.org/officeDocument/2006/relationships/slide" Target="slide9.xml"/><Relationship Id="rId9" Type="http://schemas.openxmlformats.org/officeDocument/2006/relationships/slide" Target="slide9.xml"/><Relationship Id="rId10" Type="http://schemas.openxmlformats.org/officeDocument/2006/relationships/slide" Target="slide3.xml"/><Relationship Id="rId11" Type="http://schemas.openxmlformats.org/officeDocument/2006/relationships/slideLayout" Target="../slideLayouts/slideLayout1.xml"/><Relationship Id="rId1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p:spPr>
      </p:sp>
      <p:sp>
        <p:nvSpPr>
          <p:cNvPr id="3" name="Shape 1"/>
          <p:cNvSpPr/>
          <p:nvPr/>
        </p:nvSpPr>
        <p:spPr>
          <a:xfrm>
            <a:off x="164592" y="2423160"/>
            <a:ext cx="8979408" cy="36576"/>
          </a:xfrm>
          <a:prstGeom prst="rect">
            <a:avLst/>
          </a:prstGeom>
          <a:solidFill>
            <a:srgbClr val="C9A84C"/>
          </a:solidFill>
          <a:ln/>
        </p:spPr>
      </p:sp>
      <p:sp>
        <p:nvSpPr>
          <p:cNvPr id="4" name="Text 2"/>
          <p:cNvSpPr/>
          <p:nvPr/>
        </p:nvSpPr>
        <p:spPr>
          <a:xfrm>
            <a:off x="365760" y="502920"/>
            <a:ext cx="8412480" cy="457200"/>
          </a:xfrm>
          <a:prstGeom prst="rect">
            <a:avLst/>
          </a:prstGeom>
          <a:noFill/>
          <a:ln/>
        </p:spPr>
        <p:txBody>
          <a:bodyPr wrap="square" lIns="0" tIns="0" rIns="0" bIns="0" rtlCol="0" anchor="ctr"/>
          <a:lstStyle/>
          <a:p>
            <a:pPr indent="0" marL="0">
              <a:buNone/>
            </a:pPr>
            <a:r>
              <a:rPr lang="en-US" sz="1300" b="1" spc="400" kern="0" dirty="0">
                <a:solidFill>
                  <a:srgbClr val="C9A84C"/>
                </a:solidFill>
              </a:rPr>
              <a:t>THE BASEL ACCORDS</a:t>
            </a:r>
            <a:endParaRPr lang="en-US" sz="1300" dirty="0"/>
          </a:p>
        </p:txBody>
      </p:sp>
      <p:sp>
        <p:nvSpPr>
          <p:cNvPr id="5" name="Text 3"/>
          <p:cNvSpPr/>
          <p:nvPr/>
        </p:nvSpPr>
        <p:spPr>
          <a:xfrm>
            <a:off x="365760" y="960120"/>
            <a:ext cx="8412480" cy="1188720"/>
          </a:xfrm>
          <a:prstGeom prst="rect">
            <a:avLst/>
          </a:prstGeom>
          <a:noFill/>
          <a:ln/>
        </p:spPr>
        <p:txBody>
          <a:bodyPr wrap="square" lIns="0" tIns="0" rIns="0" bIns="0" rtlCol="0" anchor="ctr"/>
          <a:lstStyle/>
          <a:p>
            <a:pPr indent="0" marL="0">
              <a:buNone/>
            </a:pPr>
            <a:r>
              <a:rPr lang="en-US" sz="4400" b="1" dirty="0">
                <a:solidFill>
                  <a:srgbClr val="FFFFFF"/>
                </a:solidFill>
              </a:rPr>
              <a:t>From Basel I to Basel IV</a:t>
            </a:r>
            <a:endParaRPr lang="en-US" sz="4400" dirty="0"/>
          </a:p>
        </p:txBody>
      </p:sp>
      <p:sp>
        <p:nvSpPr>
          <p:cNvPr id="6" name="Text 4"/>
          <p:cNvSpPr/>
          <p:nvPr/>
        </p:nvSpPr>
        <p:spPr>
          <a:xfrm>
            <a:off x="365760" y="2514600"/>
            <a:ext cx="7315200" cy="411480"/>
          </a:xfrm>
          <a:prstGeom prst="rect">
            <a:avLst/>
          </a:prstGeom>
          <a:noFill/>
          <a:ln/>
        </p:spPr>
        <p:txBody>
          <a:bodyPr wrap="square" lIns="0" tIns="0" rIns="0" bIns="0" rtlCol="0" anchor="ctr"/>
          <a:lstStyle/>
          <a:p>
            <a:pPr indent="0" marL="0">
              <a:buNone/>
            </a:pPr>
            <a:r>
              <a:rPr lang="en-US" sz="1600" i="1" dirty="0">
                <a:solidFill>
                  <a:srgbClr val="D6EAF8"/>
                </a:solidFill>
              </a:rPr>
              <a:t>A Practitioner's Reference Guide for the Next Generation</a:t>
            </a:r>
            <a:endParaRPr lang="en-US" sz="1600" dirty="0"/>
          </a:p>
        </p:txBody>
      </p:sp>
      <p:sp>
        <p:nvSpPr>
          <p:cNvPr id="7" name="Text 5"/>
          <p:cNvSpPr/>
          <p:nvPr/>
        </p:nvSpPr>
        <p:spPr>
          <a:xfrm>
            <a:off x="365760" y="2999232"/>
            <a:ext cx="8229600" cy="320040"/>
          </a:xfrm>
          <a:prstGeom prst="rect">
            <a:avLst/>
          </a:prstGeom>
          <a:noFill/>
          <a:ln/>
        </p:spPr>
        <p:txBody>
          <a:bodyPr wrap="square" lIns="0" tIns="0" rIns="0" bIns="0" rtlCol="0" anchor="ctr"/>
          <a:lstStyle/>
          <a:p>
            <a:pPr indent="0" marL="0">
              <a:buNone/>
            </a:pPr>
            <a:r>
              <a:rPr lang="en-US" sz="1200" dirty="0">
                <a:solidFill>
                  <a:srgbClr val="8899AA"/>
                </a:solidFill>
              </a:rPr>
              <a:t>Credit Risk  •  Market Risk  •  Operational Risk</a:t>
            </a:r>
            <a:endParaRPr lang="en-US" sz="1200" dirty="0"/>
          </a:p>
        </p:txBody>
      </p:sp>
      <p:sp>
        <p:nvSpPr>
          <p:cNvPr id="8" name="Text 6"/>
          <p:cNvSpPr/>
          <p:nvPr/>
        </p:nvSpPr>
        <p:spPr>
          <a:xfrm>
            <a:off x="365760" y="3383280"/>
            <a:ext cx="8229600" cy="274320"/>
          </a:xfrm>
          <a:prstGeom prst="rect">
            <a:avLst/>
          </a:prstGeom>
          <a:noFill/>
          <a:ln/>
        </p:spPr>
        <p:txBody>
          <a:bodyPr wrap="square" lIns="0" tIns="0" rIns="0" bIns="0" rtlCol="0" anchor="ctr"/>
          <a:lstStyle/>
          <a:p>
            <a:pPr indent="0" marL="0">
              <a:buNone/>
            </a:pPr>
            <a:r>
              <a:rPr lang="en-US" sz="1000" i="1" dirty="0">
                <a:solidFill>
                  <a:srgbClr val="8899AA"/>
                </a:solidFill>
              </a:rPr>
              <a:t>Including Worked Examples: FX Forward  |  Equity Derivative  |  Interest Rate Swap  |  Credit Derivative  |  Precious Metal Forward</a:t>
            </a:r>
            <a:endParaRPr lang="en-US" sz="1000" dirty="0"/>
          </a:p>
        </p:txBody>
      </p:sp>
      <p:sp>
        <p:nvSpPr>
          <p:cNvPr id="9" name="Shape 7"/>
          <p:cNvSpPr/>
          <p:nvPr/>
        </p:nvSpPr>
        <p:spPr>
          <a:xfrm>
            <a:off x="164592" y="4572000"/>
            <a:ext cx="8979408" cy="571500"/>
          </a:xfrm>
          <a:prstGeom prst="rect">
            <a:avLst/>
          </a:prstGeom>
          <a:solidFill>
            <a:srgbClr val="0D2244"/>
          </a:solidFill>
          <a:ln/>
        </p:spPr>
      </p:sp>
      <p:sp>
        <p:nvSpPr>
          <p:cNvPr id="10" name="Text 8"/>
          <p:cNvSpPr/>
          <p:nvPr/>
        </p:nvSpPr>
        <p:spPr>
          <a:xfrm>
            <a:off x="365760" y="4590288"/>
            <a:ext cx="8595360" cy="530352"/>
          </a:xfrm>
          <a:prstGeom prst="rect">
            <a:avLst/>
          </a:prstGeom>
          <a:noFill/>
          <a:ln/>
        </p:spPr>
        <p:txBody>
          <a:bodyPr wrap="square" lIns="0" tIns="0" rIns="0" bIns="0" rtlCol="0" anchor="ctr"/>
          <a:lstStyle/>
          <a:p>
            <a:pPr indent="0" marL="0">
              <a:buNone/>
            </a:pPr>
            <a:r>
              <a:rPr lang="en-US" sz="1000" dirty="0">
                <a:solidFill>
                  <a:srgbClr val="8899AA"/>
                </a:solidFill>
              </a:rPr>
              <a:t>Sarthaka Nanda  |  26 Years, Investment Banking &amp; RegTech  |  Produced with Claude (Anthropic)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What is BCBS?</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What is the BCBS — and How Does It Work?</a:t>
            </a:r>
            <a:endParaRPr lang="en-US" sz="2200" dirty="0"/>
          </a:p>
        </p:txBody>
      </p:sp>
      <p:sp>
        <p:nvSpPr>
          <p:cNvPr id="6" name="Shape 4"/>
          <p:cNvSpPr/>
          <p:nvPr/>
        </p:nvSpPr>
        <p:spPr>
          <a:xfrm>
            <a:off x="256032" y="777240"/>
            <a:ext cx="4206240" cy="39776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7" name="Shape 5"/>
          <p:cNvSpPr/>
          <p:nvPr/>
        </p:nvSpPr>
        <p:spPr>
          <a:xfrm>
            <a:off x="347472" y="914400"/>
            <a:ext cx="512064" cy="512064"/>
          </a:xfrm>
          <a:prstGeom prst="ellipse">
            <a:avLst/>
          </a:prstGeom>
          <a:solidFill>
            <a:srgbClr val="1B3A6B"/>
          </a:solidFill>
          <a:ln w="12700">
            <a:solidFill>
              <a:srgbClr val="1B3A6B"/>
            </a:solidFill>
            <a:prstDash val="solid"/>
          </a:ln>
        </p:spPr>
      </p:sp>
      <p:pic>
        <p:nvPicPr>
          <p:cNvPr id="8" name="Image 0" descr="preencoded.png">    </p:cNvPr>
          <p:cNvPicPr>
            <a:picLocks noChangeAspect="1"/>
          </p:cNvPicPr>
          <p:nvPr/>
        </p:nvPicPr>
        <p:blipFill>
          <a:blip r:embed="rId1"/>
          <a:stretch>
            <a:fillRect/>
          </a:stretch>
        </p:blipFill>
        <p:spPr>
          <a:xfrm>
            <a:off x="449885" y="1016813"/>
            <a:ext cx="307238" cy="307238"/>
          </a:xfrm>
          <a:prstGeom prst="rect">
            <a:avLst/>
          </a:prstGeom>
        </p:spPr>
      </p:pic>
      <p:sp>
        <p:nvSpPr>
          <p:cNvPr id="9" name="Text 6"/>
          <p:cNvSpPr/>
          <p:nvPr/>
        </p:nvSpPr>
        <p:spPr>
          <a:xfrm>
            <a:off x="932688" y="914400"/>
            <a:ext cx="3429000" cy="274320"/>
          </a:xfrm>
          <a:prstGeom prst="rect">
            <a:avLst/>
          </a:prstGeom>
          <a:noFill/>
          <a:ln/>
        </p:spPr>
        <p:txBody>
          <a:bodyPr wrap="square" lIns="0" tIns="0" rIns="0" bIns="0" rtlCol="0" anchor="ctr"/>
          <a:lstStyle/>
          <a:p>
            <a:pPr indent="0" marL="0">
              <a:buNone/>
            </a:pPr>
            <a:r>
              <a:rPr lang="en-US" sz="1050" b="1" dirty="0">
                <a:solidFill>
                  <a:srgbClr val="1B3A6B"/>
                </a:solidFill>
              </a:rPr>
              <a:t>The Basel Committee on Banking Supervision</a:t>
            </a:r>
            <a:endParaRPr lang="en-US" sz="1050" dirty="0"/>
          </a:p>
        </p:txBody>
      </p:sp>
      <p:sp>
        <p:nvSpPr>
          <p:cNvPr id="10" name="Text 7"/>
          <p:cNvSpPr/>
          <p:nvPr/>
        </p:nvSpPr>
        <p:spPr>
          <a:xfrm>
            <a:off x="932688" y="1188720"/>
            <a:ext cx="3429000" cy="594360"/>
          </a:xfrm>
          <a:prstGeom prst="rect">
            <a:avLst/>
          </a:prstGeom>
          <a:noFill/>
          <a:ln/>
        </p:spPr>
        <p:txBody>
          <a:bodyPr wrap="square" lIns="0" tIns="0" rIns="0" bIns="0" rtlCol="0" anchor="ctr"/>
          <a:lstStyle/>
          <a:p>
            <a:pPr indent="0" marL="0">
              <a:buNone/>
            </a:pPr>
            <a:r>
              <a:rPr lang="en-US" sz="900" dirty="0">
                <a:solidFill>
                  <a:srgbClr val="1A1A2E"/>
                </a:solidFill>
              </a:rPr>
              <a:t>Primary global standard-setter for bank capital regulation. Founded 1974 by G10 central bank governors. Hosted by the Bank for International Settlements (BIS) in Basel, Switzerland.</a:t>
            </a:r>
            <a:endParaRPr lang="en-US" sz="900" dirty="0"/>
          </a:p>
        </p:txBody>
      </p:sp>
      <p:sp>
        <p:nvSpPr>
          <p:cNvPr id="11" name="Shape 8"/>
          <p:cNvSpPr/>
          <p:nvPr/>
        </p:nvSpPr>
        <p:spPr>
          <a:xfrm>
            <a:off x="411480" y="1810512"/>
            <a:ext cx="3913632" cy="18288"/>
          </a:xfrm>
          <a:prstGeom prst="rect">
            <a:avLst/>
          </a:prstGeom>
          <a:solidFill>
            <a:srgbClr val="D6EAF8"/>
          </a:solidFill>
          <a:ln/>
        </p:spPr>
      </p:sp>
      <p:sp>
        <p:nvSpPr>
          <p:cNvPr id="12" name="Shape 9"/>
          <p:cNvSpPr/>
          <p:nvPr/>
        </p:nvSpPr>
        <p:spPr>
          <a:xfrm>
            <a:off x="347472" y="1865376"/>
            <a:ext cx="512064" cy="512064"/>
          </a:xfrm>
          <a:prstGeom prst="ellipse">
            <a:avLst/>
          </a:prstGeom>
          <a:solidFill>
            <a:srgbClr val="0E6B8A"/>
          </a:solidFill>
          <a:ln w="12700">
            <a:solidFill>
              <a:srgbClr val="0E6B8A"/>
            </a:solidFill>
            <a:prstDash val="solid"/>
          </a:ln>
        </p:spPr>
      </p:sp>
      <p:pic>
        <p:nvPicPr>
          <p:cNvPr id="13" name="Image 1" descr="preencoded.png">    </p:cNvPr>
          <p:cNvPicPr>
            <a:picLocks noChangeAspect="1"/>
          </p:cNvPicPr>
          <p:nvPr/>
        </p:nvPicPr>
        <p:blipFill>
          <a:blip r:embed="rId2"/>
          <a:stretch>
            <a:fillRect/>
          </a:stretch>
        </p:blipFill>
        <p:spPr>
          <a:xfrm>
            <a:off x="449885" y="1967789"/>
            <a:ext cx="307238" cy="307238"/>
          </a:xfrm>
          <a:prstGeom prst="rect">
            <a:avLst/>
          </a:prstGeom>
        </p:spPr>
      </p:pic>
      <p:sp>
        <p:nvSpPr>
          <p:cNvPr id="14" name="Text 10"/>
          <p:cNvSpPr/>
          <p:nvPr/>
        </p:nvSpPr>
        <p:spPr>
          <a:xfrm>
            <a:off x="932688" y="1865376"/>
            <a:ext cx="3429000" cy="274320"/>
          </a:xfrm>
          <a:prstGeom prst="rect">
            <a:avLst/>
          </a:prstGeom>
          <a:noFill/>
          <a:ln/>
        </p:spPr>
        <p:txBody>
          <a:bodyPr wrap="square" lIns="0" tIns="0" rIns="0" bIns="0" rtlCol="0" anchor="ctr"/>
          <a:lstStyle/>
          <a:p>
            <a:pPr indent="0" marL="0">
              <a:buNone/>
            </a:pPr>
            <a:r>
              <a:rPr lang="en-US" sz="1050" b="1" dirty="0">
                <a:solidFill>
                  <a:srgbClr val="0E6B8A"/>
                </a:solidFill>
              </a:rPr>
              <a:t>45 Members — 28 Jurisdictions</a:t>
            </a:r>
            <a:endParaRPr lang="en-US" sz="1050" dirty="0"/>
          </a:p>
        </p:txBody>
      </p:sp>
      <p:sp>
        <p:nvSpPr>
          <p:cNvPr id="15" name="Text 11"/>
          <p:cNvSpPr/>
          <p:nvPr/>
        </p:nvSpPr>
        <p:spPr>
          <a:xfrm>
            <a:off x="932688" y="2139696"/>
            <a:ext cx="3429000" cy="594360"/>
          </a:xfrm>
          <a:prstGeom prst="rect">
            <a:avLst/>
          </a:prstGeom>
          <a:noFill/>
          <a:ln/>
        </p:spPr>
        <p:txBody>
          <a:bodyPr wrap="square" lIns="0" tIns="0" rIns="0" bIns="0" rtlCol="0" anchor="ctr"/>
          <a:lstStyle/>
          <a:p>
            <a:pPr indent="0" marL="0">
              <a:buNone/>
            </a:pPr>
            <a:r>
              <a:rPr lang="en-US" sz="900" dirty="0">
                <a:solidFill>
                  <a:srgbClr val="1A1A2E"/>
                </a:solidFill>
              </a:rPr>
              <a:t>US Federal Reserve  •  European Central Bank  •  Bank of England  •  MAS Singapore  •  People's Bank of China — and 23 more supervisory authorities.</a:t>
            </a:r>
            <a:endParaRPr lang="en-US" sz="900" dirty="0"/>
          </a:p>
        </p:txBody>
      </p:sp>
      <p:sp>
        <p:nvSpPr>
          <p:cNvPr id="16" name="Shape 12"/>
          <p:cNvSpPr/>
          <p:nvPr/>
        </p:nvSpPr>
        <p:spPr>
          <a:xfrm>
            <a:off x="411480" y="2761488"/>
            <a:ext cx="3913632" cy="18288"/>
          </a:xfrm>
          <a:prstGeom prst="rect">
            <a:avLst/>
          </a:prstGeom>
          <a:solidFill>
            <a:srgbClr val="D6EAF8"/>
          </a:solidFill>
          <a:ln/>
        </p:spPr>
      </p:sp>
      <p:sp>
        <p:nvSpPr>
          <p:cNvPr id="17" name="Shape 13"/>
          <p:cNvSpPr/>
          <p:nvPr/>
        </p:nvSpPr>
        <p:spPr>
          <a:xfrm>
            <a:off x="347472" y="2816352"/>
            <a:ext cx="512064" cy="512064"/>
          </a:xfrm>
          <a:prstGeom prst="ellipse">
            <a:avLst/>
          </a:prstGeom>
          <a:solidFill>
            <a:srgbClr val="C9A84C"/>
          </a:solidFill>
          <a:ln w="12700">
            <a:solidFill>
              <a:srgbClr val="C9A84C"/>
            </a:solidFill>
            <a:prstDash val="solid"/>
          </a:ln>
        </p:spPr>
      </p:sp>
      <p:pic>
        <p:nvPicPr>
          <p:cNvPr id="18" name="Image 2" descr="preencoded.png">    </p:cNvPr>
          <p:cNvPicPr>
            <a:picLocks noChangeAspect="1"/>
          </p:cNvPicPr>
          <p:nvPr/>
        </p:nvPicPr>
        <p:blipFill>
          <a:blip r:embed="rId3"/>
          <a:stretch>
            <a:fillRect/>
          </a:stretch>
        </p:blipFill>
        <p:spPr>
          <a:xfrm>
            <a:off x="449885" y="2918765"/>
            <a:ext cx="307238" cy="307238"/>
          </a:xfrm>
          <a:prstGeom prst="rect">
            <a:avLst/>
          </a:prstGeom>
        </p:spPr>
      </p:pic>
      <p:sp>
        <p:nvSpPr>
          <p:cNvPr id="19" name="Text 14"/>
          <p:cNvSpPr/>
          <p:nvPr/>
        </p:nvSpPr>
        <p:spPr>
          <a:xfrm>
            <a:off x="932688" y="2816352"/>
            <a:ext cx="3429000" cy="274320"/>
          </a:xfrm>
          <a:prstGeom prst="rect">
            <a:avLst/>
          </a:prstGeom>
          <a:noFill/>
          <a:ln/>
        </p:spPr>
        <p:txBody>
          <a:bodyPr wrap="square" lIns="0" tIns="0" rIns="0" bIns="0" rtlCol="0" anchor="ctr"/>
          <a:lstStyle/>
          <a:p>
            <a:pPr indent="0" marL="0">
              <a:buNone/>
            </a:pPr>
            <a:r>
              <a:rPr lang="en-US" sz="1050" b="1" dirty="0">
                <a:solidFill>
                  <a:srgbClr val="C9A84C"/>
                </a:solidFill>
              </a:rPr>
              <a:t>Standards — Not Laws</a:t>
            </a:r>
            <a:endParaRPr lang="en-US" sz="1050" dirty="0"/>
          </a:p>
        </p:txBody>
      </p:sp>
      <p:sp>
        <p:nvSpPr>
          <p:cNvPr id="20" name="Text 15"/>
          <p:cNvSpPr/>
          <p:nvPr/>
        </p:nvSpPr>
        <p:spPr>
          <a:xfrm>
            <a:off x="932688" y="3090672"/>
            <a:ext cx="3429000" cy="594360"/>
          </a:xfrm>
          <a:prstGeom prst="rect">
            <a:avLst/>
          </a:prstGeom>
          <a:noFill/>
          <a:ln/>
        </p:spPr>
        <p:txBody>
          <a:bodyPr wrap="square" lIns="0" tIns="0" rIns="0" bIns="0" rtlCol="0" anchor="ctr"/>
          <a:lstStyle/>
          <a:p>
            <a:pPr indent="0" marL="0">
              <a:buNone/>
            </a:pPr>
            <a:r>
              <a:rPr lang="en-US" sz="900" dirty="0">
                <a:solidFill>
                  <a:srgbClr val="1A1A2E"/>
                </a:solidFill>
              </a:rPr>
              <a:t>BCBS does NOT make laws. Each jurisdiction implements in its own way: EU (CRR3), UK (PRA Rulebook), US (Fed/OCC rules), Singapore (MAS Notice 637). Local implementation may be stricter.</a:t>
            </a:r>
            <a:endParaRPr lang="en-US" sz="900" dirty="0"/>
          </a:p>
        </p:txBody>
      </p:sp>
      <p:sp>
        <p:nvSpPr>
          <p:cNvPr id="21" name="Shape 16"/>
          <p:cNvSpPr/>
          <p:nvPr/>
        </p:nvSpPr>
        <p:spPr>
          <a:xfrm>
            <a:off x="411480" y="3712464"/>
            <a:ext cx="3913632" cy="18288"/>
          </a:xfrm>
          <a:prstGeom prst="rect">
            <a:avLst/>
          </a:prstGeom>
          <a:solidFill>
            <a:srgbClr val="D6EAF8"/>
          </a:solidFill>
          <a:ln/>
        </p:spPr>
      </p:sp>
      <p:sp>
        <p:nvSpPr>
          <p:cNvPr id="22" name="Shape 17"/>
          <p:cNvSpPr/>
          <p:nvPr/>
        </p:nvSpPr>
        <p:spPr>
          <a:xfrm>
            <a:off x="347472" y="3767328"/>
            <a:ext cx="512064" cy="512064"/>
          </a:xfrm>
          <a:prstGeom prst="ellipse">
            <a:avLst/>
          </a:prstGeom>
          <a:solidFill>
            <a:srgbClr val="8B0000"/>
          </a:solidFill>
          <a:ln w="12700">
            <a:solidFill>
              <a:srgbClr val="8B0000"/>
            </a:solidFill>
            <a:prstDash val="solid"/>
          </a:ln>
        </p:spPr>
      </p:sp>
      <p:pic>
        <p:nvPicPr>
          <p:cNvPr id="23" name="Image 3" descr="preencoded.png">    </p:cNvPr>
          <p:cNvPicPr>
            <a:picLocks noChangeAspect="1"/>
          </p:cNvPicPr>
          <p:nvPr/>
        </p:nvPicPr>
        <p:blipFill>
          <a:blip r:embed="rId4"/>
          <a:stretch>
            <a:fillRect/>
          </a:stretch>
        </p:blipFill>
        <p:spPr>
          <a:xfrm>
            <a:off x="449885" y="3869741"/>
            <a:ext cx="307238" cy="307238"/>
          </a:xfrm>
          <a:prstGeom prst="rect">
            <a:avLst/>
          </a:prstGeom>
        </p:spPr>
      </p:pic>
      <p:sp>
        <p:nvSpPr>
          <p:cNvPr id="24" name="Text 18"/>
          <p:cNvSpPr/>
          <p:nvPr/>
        </p:nvSpPr>
        <p:spPr>
          <a:xfrm>
            <a:off x="932688" y="3767328"/>
            <a:ext cx="3429000" cy="274320"/>
          </a:xfrm>
          <a:prstGeom prst="rect">
            <a:avLst/>
          </a:prstGeom>
          <a:noFill/>
          <a:ln/>
        </p:spPr>
        <p:txBody>
          <a:bodyPr wrap="square" lIns="0" tIns="0" rIns="0" bIns="0" rtlCol="0" anchor="ctr"/>
          <a:lstStyle/>
          <a:p>
            <a:pPr indent="0" marL="0">
              <a:buNone/>
            </a:pPr>
            <a:r>
              <a:rPr lang="en-US" sz="1050" b="1" dirty="0">
                <a:solidFill>
                  <a:srgbClr val="8B0000"/>
                </a:solidFill>
              </a:rPr>
              <a:t>Why This Matters to You</a:t>
            </a:r>
            <a:endParaRPr lang="en-US" sz="1050" dirty="0"/>
          </a:p>
        </p:txBody>
      </p:sp>
      <p:sp>
        <p:nvSpPr>
          <p:cNvPr id="25" name="Text 19"/>
          <p:cNvSpPr/>
          <p:nvPr/>
        </p:nvSpPr>
        <p:spPr>
          <a:xfrm>
            <a:off x="932688" y="4041648"/>
            <a:ext cx="3429000" cy="594360"/>
          </a:xfrm>
          <a:prstGeom prst="rect">
            <a:avLst/>
          </a:prstGeom>
          <a:noFill/>
          <a:ln/>
        </p:spPr>
        <p:txBody>
          <a:bodyPr wrap="square" lIns="0" tIns="0" rIns="0" bIns="0" rtlCol="0" anchor="ctr"/>
          <a:lstStyle/>
          <a:p>
            <a:pPr indent="0" marL="0">
              <a:buNone/>
            </a:pPr>
            <a:r>
              <a:rPr lang="en-US" sz="900" dirty="0">
                <a:solidFill>
                  <a:srgbClr val="1A1A2E"/>
                </a:solidFill>
              </a:rPr>
              <a:t>Every bank you will work with operates under Basel rules. Understanding them is fundamental to how banks price risk, manage capital, structure trades, and survive stress periods.</a:t>
            </a:r>
            <a:endParaRPr lang="en-US" sz="900" dirty="0"/>
          </a:p>
        </p:txBody>
      </p:sp>
      <p:sp>
        <p:nvSpPr>
          <p:cNvPr id="26" name="Shape 20"/>
          <p:cNvSpPr/>
          <p:nvPr/>
        </p:nvSpPr>
        <p:spPr>
          <a:xfrm>
            <a:off x="4681728" y="777240"/>
            <a:ext cx="4206240" cy="329184"/>
          </a:xfrm>
          <a:prstGeom prst="rect">
            <a:avLst/>
          </a:prstGeom>
          <a:solidFill>
            <a:srgbClr val="0E6B8A"/>
          </a:solidFill>
          <a:ln/>
        </p:spPr>
      </p:sp>
      <p:sp>
        <p:nvSpPr>
          <p:cNvPr id="27" name="Text 21"/>
          <p:cNvSpPr/>
          <p:nvPr/>
        </p:nvSpPr>
        <p:spPr>
          <a:xfrm>
            <a:off x="4681728" y="777240"/>
            <a:ext cx="4206240" cy="329184"/>
          </a:xfrm>
          <a:prstGeom prst="rect">
            <a:avLst/>
          </a:prstGeom>
          <a:noFill/>
          <a:ln/>
        </p:spPr>
        <p:txBody>
          <a:bodyPr wrap="square" lIns="0" tIns="0" rIns="0" bIns="0" rtlCol="0" anchor="ctr"/>
          <a:lstStyle/>
          <a:p>
            <a:pPr algn="ctr" indent="0" marL="0">
              <a:buNone/>
            </a:pPr>
            <a:r>
              <a:rPr lang="en-US" sz="900" b="1" dirty="0">
                <a:solidFill>
                  <a:srgbClr val="FFFFFF"/>
                </a:solidFill>
              </a:rPr>
              <a:t>HOW A BASEL STANDARD IS BORN</a:t>
            </a:r>
            <a:endParaRPr lang="en-US" sz="900" dirty="0"/>
          </a:p>
        </p:txBody>
      </p:sp>
      <p:sp>
        <p:nvSpPr>
          <p:cNvPr id="28" name="Shape 22"/>
          <p:cNvSpPr/>
          <p:nvPr/>
        </p:nvSpPr>
        <p:spPr>
          <a:xfrm>
            <a:off x="4681728" y="1170432"/>
            <a:ext cx="4206240" cy="612648"/>
          </a:xfrm>
          <a:prstGeom prst="rect">
            <a:avLst/>
          </a:prstGeom>
          <a:solidFill>
            <a:srgbClr val="FFFFFF"/>
          </a:solidFill>
          <a:ln/>
        </p:spPr>
      </p:sp>
      <p:sp>
        <p:nvSpPr>
          <p:cNvPr id="29" name="Shape 23"/>
          <p:cNvSpPr/>
          <p:nvPr/>
        </p:nvSpPr>
        <p:spPr>
          <a:xfrm>
            <a:off x="4736592" y="1280160"/>
            <a:ext cx="384048" cy="384048"/>
          </a:xfrm>
          <a:prstGeom prst="ellipse">
            <a:avLst/>
          </a:prstGeom>
          <a:solidFill>
            <a:srgbClr val="1B3A6B"/>
          </a:solidFill>
          <a:ln w="12700">
            <a:solidFill>
              <a:srgbClr val="1B3A6B"/>
            </a:solidFill>
            <a:prstDash val="solid"/>
          </a:ln>
        </p:spPr>
      </p:sp>
      <p:sp>
        <p:nvSpPr>
          <p:cNvPr id="30" name="Text 24"/>
          <p:cNvSpPr/>
          <p:nvPr/>
        </p:nvSpPr>
        <p:spPr>
          <a:xfrm>
            <a:off x="4736592" y="12801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pic>
        <p:nvPicPr>
          <p:cNvPr id="31" name="Image 4" descr="preencoded.png">    </p:cNvPr>
          <p:cNvPicPr>
            <a:picLocks noChangeAspect="1"/>
          </p:cNvPicPr>
          <p:nvPr/>
        </p:nvPicPr>
        <p:blipFill>
          <a:blip r:embed="rId5"/>
          <a:stretch>
            <a:fillRect/>
          </a:stretch>
        </p:blipFill>
        <p:spPr>
          <a:xfrm>
            <a:off x="5212080" y="1344168"/>
            <a:ext cx="237744" cy="237744"/>
          </a:xfrm>
          <a:prstGeom prst="rect">
            <a:avLst/>
          </a:prstGeom>
        </p:spPr>
      </p:pic>
      <p:sp>
        <p:nvSpPr>
          <p:cNvPr id="32" name="Text 25"/>
          <p:cNvSpPr/>
          <p:nvPr/>
        </p:nvSpPr>
        <p:spPr>
          <a:xfrm>
            <a:off x="5522976" y="1225296"/>
            <a:ext cx="3291840" cy="237744"/>
          </a:xfrm>
          <a:prstGeom prst="rect">
            <a:avLst/>
          </a:prstGeom>
          <a:noFill/>
          <a:ln/>
        </p:spPr>
        <p:txBody>
          <a:bodyPr wrap="square" lIns="0" tIns="0" rIns="0" bIns="0" rtlCol="0" anchor="ctr"/>
          <a:lstStyle/>
          <a:p>
            <a:pPr indent="0" marL="0">
              <a:buNone/>
            </a:pPr>
            <a:r>
              <a:rPr lang="en-US" sz="950" b="1" dirty="0">
                <a:solidFill>
                  <a:srgbClr val="1B3A6B"/>
                </a:solidFill>
              </a:rPr>
              <a:t>Identify Problem</a:t>
            </a:r>
            <a:endParaRPr lang="en-US" sz="950" dirty="0"/>
          </a:p>
        </p:txBody>
      </p:sp>
      <p:sp>
        <p:nvSpPr>
          <p:cNvPr id="33" name="Text 26"/>
          <p:cNvSpPr/>
          <p:nvPr/>
        </p:nvSpPr>
        <p:spPr>
          <a:xfrm>
            <a:off x="5522976" y="1463040"/>
            <a:ext cx="3291840" cy="274320"/>
          </a:xfrm>
          <a:prstGeom prst="rect">
            <a:avLst/>
          </a:prstGeom>
          <a:noFill/>
          <a:ln/>
        </p:spPr>
        <p:txBody>
          <a:bodyPr wrap="square" lIns="0" tIns="0" rIns="0" bIns="0" rtlCol="0" anchor="ctr"/>
          <a:lstStyle/>
          <a:p>
            <a:pPr indent="0" marL="0">
              <a:buNone/>
            </a:pPr>
            <a:r>
              <a:rPr lang="en-US" sz="850" dirty="0">
                <a:solidFill>
                  <a:srgbClr val="8899AA"/>
                </a:solidFill>
              </a:rPr>
              <a:t>Crisis or research reveals a regulatory gap.</a:t>
            </a:r>
            <a:endParaRPr lang="en-US" sz="850" dirty="0"/>
          </a:p>
        </p:txBody>
      </p:sp>
      <p:sp>
        <p:nvSpPr>
          <p:cNvPr id="34" name="Shape 27"/>
          <p:cNvSpPr/>
          <p:nvPr/>
        </p:nvSpPr>
        <p:spPr>
          <a:xfrm>
            <a:off x="4681728" y="1783080"/>
            <a:ext cx="4206240" cy="612648"/>
          </a:xfrm>
          <a:prstGeom prst="rect">
            <a:avLst/>
          </a:prstGeom>
          <a:solidFill>
            <a:srgbClr val="F4F6F8"/>
          </a:solidFill>
          <a:ln/>
        </p:spPr>
      </p:sp>
      <p:sp>
        <p:nvSpPr>
          <p:cNvPr id="35" name="Shape 28"/>
          <p:cNvSpPr/>
          <p:nvPr/>
        </p:nvSpPr>
        <p:spPr>
          <a:xfrm>
            <a:off x="4736592" y="1892808"/>
            <a:ext cx="384048" cy="384048"/>
          </a:xfrm>
          <a:prstGeom prst="ellipse">
            <a:avLst/>
          </a:prstGeom>
          <a:solidFill>
            <a:srgbClr val="0E6B8A"/>
          </a:solidFill>
          <a:ln w="12700">
            <a:solidFill>
              <a:srgbClr val="0E6B8A"/>
            </a:solidFill>
            <a:prstDash val="solid"/>
          </a:ln>
        </p:spPr>
      </p:sp>
      <p:sp>
        <p:nvSpPr>
          <p:cNvPr id="36" name="Text 29"/>
          <p:cNvSpPr/>
          <p:nvPr/>
        </p:nvSpPr>
        <p:spPr>
          <a:xfrm>
            <a:off x="4736592" y="18928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pic>
        <p:nvPicPr>
          <p:cNvPr id="37" name="Image 5" descr="preencoded.png">    </p:cNvPr>
          <p:cNvPicPr>
            <a:picLocks noChangeAspect="1"/>
          </p:cNvPicPr>
          <p:nvPr/>
        </p:nvPicPr>
        <p:blipFill>
          <a:blip r:embed="rId6"/>
          <a:stretch>
            <a:fillRect/>
          </a:stretch>
        </p:blipFill>
        <p:spPr>
          <a:xfrm>
            <a:off x="5212080" y="1956816"/>
            <a:ext cx="237744" cy="237744"/>
          </a:xfrm>
          <a:prstGeom prst="rect">
            <a:avLst/>
          </a:prstGeom>
        </p:spPr>
      </p:pic>
      <p:sp>
        <p:nvSpPr>
          <p:cNvPr id="38" name="Text 30"/>
          <p:cNvSpPr/>
          <p:nvPr/>
        </p:nvSpPr>
        <p:spPr>
          <a:xfrm>
            <a:off x="5522976" y="1837944"/>
            <a:ext cx="3291840" cy="237744"/>
          </a:xfrm>
          <a:prstGeom prst="rect">
            <a:avLst/>
          </a:prstGeom>
          <a:noFill/>
          <a:ln/>
        </p:spPr>
        <p:txBody>
          <a:bodyPr wrap="square" lIns="0" tIns="0" rIns="0" bIns="0" rtlCol="0" anchor="ctr"/>
          <a:lstStyle/>
          <a:p>
            <a:pPr indent="0" marL="0">
              <a:buNone/>
            </a:pPr>
            <a:r>
              <a:rPr lang="en-US" sz="950" b="1" dirty="0">
                <a:solidFill>
                  <a:srgbClr val="0E6B8A"/>
                </a:solidFill>
              </a:rPr>
              <a:t>Consultative Paper</a:t>
            </a:r>
            <a:endParaRPr lang="en-US" sz="950" dirty="0"/>
          </a:p>
        </p:txBody>
      </p:sp>
      <p:sp>
        <p:nvSpPr>
          <p:cNvPr id="39" name="Text 31"/>
          <p:cNvSpPr/>
          <p:nvPr/>
        </p:nvSpPr>
        <p:spPr>
          <a:xfrm>
            <a:off x="5522976" y="2075688"/>
            <a:ext cx="3291840" cy="274320"/>
          </a:xfrm>
          <a:prstGeom prst="rect">
            <a:avLst/>
          </a:prstGeom>
          <a:noFill/>
          <a:ln/>
        </p:spPr>
        <p:txBody>
          <a:bodyPr wrap="square" lIns="0" tIns="0" rIns="0" bIns="0" rtlCol="0" anchor="ctr"/>
          <a:lstStyle/>
          <a:p>
            <a:pPr indent="0" marL="0">
              <a:buNone/>
            </a:pPr>
            <a:r>
              <a:rPr lang="en-US" sz="850" dirty="0">
                <a:solidFill>
                  <a:srgbClr val="8899AA"/>
                </a:solidFill>
              </a:rPr>
              <a:t>BCBS invites comment from banks and academics.</a:t>
            </a:r>
            <a:endParaRPr lang="en-US" sz="850" dirty="0"/>
          </a:p>
        </p:txBody>
      </p:sp>
      <p:sp>
        <p:nvSpPr>
          <p:cNvPr id="40" name="Shape 32"/>
          <p:cNvSpPr/>
          <p:nvPr/>
        </p:nvSpPr>
        <p:spPr>
          <a:xfrm>
            <a:off x="4681728" y="2395728"/>
            <a:ext cx="4206240" cy="612648"/>
          </a:xfrm>
          <a:prstGeom prst="rect">
            <a:avLst/>
          </a:prstGeom>
          <a:solidFill>
            <a:srgbClr val="FFFFFF"/>
          </a:solidFill>
          <a:ln/>
        </p:spPr>
      </p:sp>
      <p:sp>
        <p:nvSpPr>
          <p:cNvPr id="41" name="Shape 33"/>
          <p:cNvSpPr/>
          <p:nvPr/>
        </p:nvSpPr>
        <p:spPr>
          <a:xfrm>
            <a:off x="4736592" y="2505456"/>
            <a:ext cx="384048" cy="384048"/>
          </a:xfrm>
          <a:prstGeom prst="ellipse">
            <a:avLst/>
          </a:prstGeom>
          <a:solidFill>
            <a:srgbClr val="0E6B8A"/>
          </a:solidFill>
          <a:ln w="12700">
            <a:solidFill>
              <a:srgbClr val="0E6B8A"/>
            </a:solidFill>
            <a:prstDash val="solid"/>
          </a:ln>
        </p:spPr>
      </p:sp>
      <p:sp>
        <p:nvSpPr>
          <p:cNvPr id="42" name="Text 34"/>
          <p:cNvSpPr/>
          <p:nvPr/>
        </p:nvSpPr>
        <p:spPr>
          <a:xfrm>
            <a:off x="4736592" y="25054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pic>
        <p:nvPicPr>
          <p:cNvPr id="43" name="Image 6" descr="preencoded.png">    </p:cNvPr>
          <p:cNvPicPr>
            <a:picLocks noChangeAspect="1"/>
          </p:cNvPicPr>
          <p:nvPr/>
        </p:nvPicPr>
        <p:blipFill>
          <a:blip r:embed="rId7"/>
          <a:stretch>
            <a:fillRect/>
          </a:stretch>
        </p:blipFill>
        <p:spPr>
          <a:xfrm>
            <a:off x="5212080" y="2569464"/>
            <a:ext cx="237744" cy="237744"/>
          </a:xfrm>
          <a:prstGeom prst="rect">
            <a:avLst/>
          </a:prstGeom>
        </p:spPr>
      </p:pic>
      <p:sp>
        <p:nvSpPr>
          <p:cNvPr id="44" name="Text 35"/>
          <p:cNvSpPr/>
          <p:nvPr/>
        </p:nvSpPr>
        <p:spPr>
          <a:xfrm>
            <a:off x="5522976" y="2450592"/>
            <a:ext cx="3291840" cy="237744"/>
          </a:xfrm>
          <a:prstGeom prst="rect">
            <a:avLst/>
          </a:prstGeom>
          <a:noFill/>
          <a:ln/>
        </p:spPr>
        <p:txBody>
          <a:bodyPr wrap="square" lIns="0" tIns="0" rIns="0" bIns="0" rtlCol="0" anchor="ctr"/>
          <a:lstStyle/>
          <a:p>
            <a:pPr indent="0" marL="0">
              <a:buNone/>
            </a:pPr>
            <a:r>
              <a:rPr lang="en-US" sz="950" b="1" dirty="0">
                <a:solidFill>
                  <a:srgbClr val="0E6B8A"/>
                </a:solidFill>
              </a:rPr>
              <a:t>Quantitative Impact Study</a:t>
            </a:r>
            <a:endParaRPr lang="en-US" sz="950" dirty="0"/>
          </a:p>
        </p:txBody>
      </p:sp>
      <p:sp>
        <p:nvSpPr>
          <p:cNvPr id="45" name="Text 36"/>
          <p:cNvSpPr/>
          <p:nvPr/>
        </p:nvSpPr>
        <p:spPr>
          <a:xfrm>
            <a:off x="5522976" y="2688336"/>
            <a:ext cx="3291840" cy="274320"/>
          </a:xfrm>
          <a:prstGeom prst="rect">
            <a:avLst/>
          </a:prstGeom>
          <a:noFill/>
          <a:ln/>
        </p:spPr>
        <p:txBody>
          <a:bodyPr wrap="square" lIns="0" tIns="0" rIns="0" bIns="0" rtlCol="0" anchor="ctr"/>
          <a:lstStyle/>
          <a:p>
            <a:pPr indent="0" marL="0">
              <a:buNone/>
            </a:pPr>
            <a:r>
              <a:rPr lang="en-US" sz="850" dirty="0">
                <a:solidFill>
                  <a:srgbClr val="8899AA"/>
                </a:solidFill>
              </a:rPr>
              <a:t>Proposed rules tested on real bank data.</a:t>
            </a:r>
            <a:endParaRPr lang="en-US" sz="850" dirty="0"/>
          </a:p>
        </p:txBody>
      </p:sp>
      <p:sp>
        <p:nvSpPr>
          <p:cNvPr id="46" name="Shape 37"/>
          <p:cNvSpPr/>
          <p:nvPr/>
        </p:nvSpPr>
        <p:spPr>
          <a:xfrm>
            <a:off x="4681728" y="3008376"/>
            <a:ext cx="4206240" cy="612648"/>
          </a:xfrm>
          <a:prstGeom prst="rect">
            <a:avLst/>
          </a:prstGeom>
          <a:solidFill>
            <a:srgbClr val="F4F6F8"/>
          </a:solidFill>
          <a:ln/>
        </p:spPr>
      </p:sp>
      <p:sp>
        <p:nvSpPr>
          <p:cNvPr id="47" name="Shape 38"/>
          <p:cNvSpPr/>
          <p:nvPr/>
        </p:nvSpPr>
        <p:spPr>
          <a:xfrm>
            <a:off x="4736592" y="3118104"/>
            <a:ext cx="384048" cy="384048"/>
          </a:xfrm>
          <a:prstGeom prst="ellipse">
            <a:avLst/>
          </a:prstGeom>
          <a:solidFill>
            <a:srgbClr val="1A6B3A"/>
          </a:solidFill>
          <a:ln w="12700">
            <a:solidFill>
              <a:srgbClr val="1A6B3A"/>
            </a:solidFill>
            <a:prstDash val="solid"/>
          </a:ln>
        </p:spPr>
      </p:sp>
      <p:sp>
        <p:nvSpPr>
          <p:cNvPr id="48" name="Text 39"/>
          <p:cNvSpPr/>
          <p:nvPr/>
        </p:nvSpPr>
        <p:spPr>
          <a:xfrm>
            <a:off x="4736592" y="31181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pic>
        <p:nvPicPr>
          <p:cNvPr id="49" name="Image 7" descr="preencoded.png">    </p:cNvPr>
          <p:cNvPicPr>
            <a:picLocks noChangeAspect="1"/>
          </p:cNvPicPr>
          <p:nvPr/>
        </p:nvPicPr>
        <p:blipFill>
          <a:blip r:embed="rId8"/>
          <a:stretch>
            <a:fillRect/>
          </a:stretch>
        </p:blipFill>
        <p:spPr>
          <a:xfrm>
            <a:off x="5212080" y="3182112"/>
            <a:ext cx="237744" cy="237744"/>
          </a:xfrm>
          <a:prstGeom prst="rect">
            <a:avLst/>
          </a:prstGeom>
        </p:spPr>
      </p:pic>
      <p:sp>
        <p:nvSpPr>
          <p:cNvPr id="50" name="Text 40"/>
          <p:cNvSpPr/>
          <p:nvPr/>
        </p:nvSpPr>
        <p:spPr>
          <a:xfrm>
            <a:off x="5522976" y="3063240"/>
            <a:ext cx="3291840" cy="237744"/>
          </a:xfrm>
          <a:prstGeom prst="rect">
            <a:avLst/>
          </a:prstGeom>
          <a:noFill/>
          <a:ln/>
        </p:spPr>
        <p:txBody>
          <a:bodyPr wrap="square" lIns="0" tIns="0" rIns="0" bIns="0" rtlCol="0" anchor="ctr"/>
          <a:lstStyle/>
          <a:p>
            <a:pPr indent="0" marL="0">
              <a:buNone/>
            </a:pPr>
            <a:r>
              <a:rPr lang="en-US" sz="950" b="1" dirty="0">
                <a:solidFill>
                  <a:srgbClr val="1A6B3A"/>
                </a:solidFill>
              </a:rPr>
              <a:t>Final Standard</a:t>
            </a:r>
            <a:endParaRPr lang="en-US" sz="950" dirty="0"/>
          </a:p>
        </p:txBody>
      </p:sp>
      <p:sp>
        <p:nvSpPr>
          <p:cNvPr id="51" name="Text 41"/>
          <p:cNvSpPr/>
          <p:nvPr/>
        </p:nvSpPr>
        <p:spPr>
          <a:xfrm>
            <a:off x="5522976" y="3300984"/>
            <a:ext cx="3291840" cy="274320"/>
          </a:xfrm>
          <a:prstGeom prst="rect">
            <a:avLst/>
          </a:prstGeom>
          <a:noFill/>
          <a:ln/>
        </p:spPr>
        <p:txBody>
          <a:bodyPr wrap="square" lIns="0" tIns="0" rIns="0" bIns="0" rtlCol="0" anchor="ctr"/>
          <a:lstStyle/>
          <a:p>
            <a:pPr indent="0" marL="0">
              <a:buNone/>
            </a:pPr>
            <a:r>
              <a:rPr lang="en-US" sz="850" dirty="0">
                <a:solidFill>
                  <a:srgbClr val="8899AA"/>
                </a:solidFill>
              </a:rPr>
              <a:t>Rule published with 3–5 year implementation timeline.</a:t>
            </a:r>
            <a:endParaRPr lang="en-US" sz="850" dirty="0"/>
          </a:p>
        </p:txBody>
      </p:sp>
      <p:sp>
        <p:nvSpPr>
          <p:cNvPr id="52" name="Shape 42"/>
          <p:cNvSpPr/>
          <p:nvPr/>
        </p:nvSpPr>
        <p:spPr>
          <a:xfrm>
            <a:off x="4681728" y="3621024"/>
            <a:ext cx="4206240" cy="612648"/>
          </a:xfrm>
          <a:prstGeom prst="rect">
            <a:avLst/>
          </a:prstGeom>
          <a:solidFill>
            <a:srgbClr val="FFFFFF"/>
          </a:solidFill>
          <a:ln/>
        </p:spPr>
      </p:sp>
      <p:sp>
        <p:nvSpPr>
          <p:cNvPr id="53" name="Shape 43"/>
          <p:cNvSpPr/>
          <p:nvPr/>
        </p:nvSpPr>
        <p:spPr>
          <a:xfrm>
            <a:off x="4736592" y="3730752"/>
            <a:ext cx="384048" cy="384048"/>
          </a:xfrm>
          <a:prstGeom prst="ellipse">
            <a:avLst/>
          </a:prstGeom>
          <a:solidFill>
            <a:srgbClr val="C9A84C"/>
          </a:solidFill>
          <a:ln w="12700">
            <a:solidFill>
              <a:srgbClr val="C9A84C"/>
            </a:solidFill>
            <a:prstDash val="solid"/>
          </a:ln>
        </p:spPr>
      </p:sp>
      <p:sp>
        <p:nvSpPr>
          <p:cNvPr id="54" name="Text 44"/>
          <p:cNvSpPr/>
          <p:nvPr/>
        </p:nvSpPr>
        <p:spPr>
          <a:xfrm>
            <a:off x="4736592" y="3730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pic>
        <p:nvPicPr>
          <p:cNvPr id="55" name="Image 8" descr="preencoded.png">    </p:cNvPr>
          <p:cNvPicPr>
            <a:picLocks noChangeAspect="1"/>
          </p:cNvPicPr>
          <p:nvPr/>
        </p:nvPicPr>
        <p:blipFill>
          <a:blip r:embed="rId9"/>
          <a:stretch>
            <a:fillRect/>
          </a:stretch>
        </p:blipFill>
        <p:spPr>
          <a:xfrm>
            <a:off x="5212080" y="3794760"/>
            <a:ext cx="237744" cy="237744"/>
          </a:xfrm>
          <a:prstGeom prst="rect">
            <a:avLst/>
          </a:prstGeom>
        </p:spPr>
      </p:pic>
      <p:sp>
        <p:nvSpPr>
          <p:cNvPr id="56" name="Text 45"/>
          <p:cNvSpPr/>
          <p:nvPr/>
        </p:nvSpPr>
        <p:spPr>
          <a:xfrm>
            <a:off x="5522976" y="3675888"/>
            <a:ext cx="3291840" cy="237744"/>
          </a:xfrm>
          <a:prstGeom prst="rect">
            <a:avLst/>
          </a:prstGeom>
          <a:noFill/>
          <a:ln/>
        </p:spPr>
        <p:txBody>
          <a:bodyPr wrap="square" lIns="0" tIns="0" rIns="0" bIns="0" rtlCol="0" anchor="ctr"/>
          <a:lstStyle/>
          <a:p>
            <a:pPr indent="0" marL="0">
              <a:buNone/>
            </a:pPr>
            <a:r>
              <a:rPr lang="en-US" sz="950" b="1" dirty="0">
                <a:solidFill>
                  <a:srgbClr val="C9A84C"/>
                </a:solidFill>
              </a:rPr>
              <a:t>National Implementation</a:t>
            </a:r>
            <a:endParaRPr lang="en-US" sz="950" dirty="0"/>
          </a:p>
        </p:txBody>
      </p:sp>
      <p:sp>
        <p:nvSpPr>
          <p:cNvPr id="57" name="Text 46"/>
          <p:cNvSpPr/>
          <p:nvPr/>
        </p:nvSpPr>
        <p:spPr>
          <a:xfrm>
            <a:off x="5522976" y="3913632"/>
            <a:ext cx="3291840" cy="274320"/>
          </a:xfrm>
          <a:prstGeom prst="rect">
            <a:avLst/>
          </a:prstGeom>
          <a:noFill/>
          <a:ln/>
        </p:spPr>
        <p:txBody>
          <a:bodyPr wrap="square" lIns="0" tIns="0" rIns="0" bIns="0" rtlCol="0" anchor="ctr"/>
          <a:lstStyle/>
          <a:p>
            <a:pPr indent="0" marL="0">
              <a:buNone/>
            </a:pPr>
            <a:r>
              <a:rPr lang="en-US" sz="850" dirty="0">
                <a:solidFill>
                  <a:srgbClr val="8899AA"/>
                </a:solidFill>
              </a:rPr>
              <a:t>Each jurisdiction translates into local law.</a:t>
            </a:r>
            <a:endParaRPr lang="en-US" sz="850" dirty="0"/>
          </a:p>
        </p:txBody>
      </p:sp>
      <p:sp>
        <p:nvSpPr>
          <p:cNvPr id="58" name="Shape 47"/>
          <p:cNvSpPr/>
          <p:nvPr/>
        </p:nvSpPr>
        <p:spPr>
          <a:xfrm>
            <a:off x="4681728" y="4233672"/>
            <a:ext cx="4206240" cy="612648"/>
          </a:xfrm>
          <a:prstGeom prst="rect">
            <a:avLst/>
          </a:prstGeom>
          <a:solidFill>
            <a:srgbClr val="F4F6F8"/>
          </a:solidFill>
          <a:ln/>
        </p:spPr>
      </p:sp>
      <p:sp>
        <p:nvSpPr>
          <p:cNvPr id="59" name="Shape 48"/>
          <p:cNvSpPr/>
          <p:nvPr/>
        </p:nvSpPr>
        <p:spPr>
          <a:xfrm>
            <a:off x="4736592" y="4343400"/>
            <a:ext cx="384048" cy="384048"/>
          </a:xfrm>
          <a:prstGeom prst="ellipse">
            <a:avLst/>
          </a:prstGeom>
          <a:solidFill>
            <a:srgbClr val="1B3A6B"/>
          </a:solidFill>
          <a:ln w="12700">
            <a:solidFill>
              <a:srgbClr val="1B3A6B"/>
            </a:solidFill>
            <a:prstDash val="solid"/>
          </a:ln>
        </p:spPr>
      </p:sp>
      <p:sp>
        <p:nvSpPr>
          <p:cNvPr id="60" name="Text 49"/>
          <p:cNvSpPr/>
          <p:nvPr/>
        </p:nvSpPr>
        <p:spPr>
          <a:xfrm>
            <a:off x="4736592" y="4343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pic>
        <p:nvPicPr>
          <p:cNvPr id="61" name="Image 9" descr="preencoded.png">    </p:cNvPr>
          <p:cNvPicPr>
            <a:picLocks noChangeAspect="1"/>
          </p:cNvPicPr>
          <p:nvPr/>
        </p:nvPicPr>
        <p:blipFill>
          <a:blip r:embed="rId10"/>
          <a:stretch>
            <a:fillRect/>
          </a:stretch>
        </p:blipFill>
        <p:spPr>
          <a:xfrm>
            <a:off x="5212080" y="4407408"/>
            <a:ext cx="237744" cy="237744"/>
          </a:xfrm>
          <a:prstGeom prst="rect">
            <a:avLst/>
          </a:prstGeom>
        </p:spPr>
      </p:pic>
      <p:sp>
        <p:nvSpPr>
          <p:cNvPr id="62" name="Text 50"/>
          <p:cNvSpPr/>
          <p:nvPr/>
        </p:nvSpPr>
        <p:spPr>
          <a:xfrm>
            <a:off x="5522976" y="4288536"/>
            <a:ext cx="3291840" cy="237744"/>
          </a:xfrm>
          <a:prstGeom prst="rect">
            <a:avLst/>
          </a:prstGeom>
          <a:noFill/>
          <a:ln/>
        </p:spPr>
        <p:txBody>
          <a:bodyPr wrap="square" lIns="0" tIns="0" rIns="0" bIns="0" rtlCol="0" anchor="ctr"/>
          <a:lstStyle/>
          <a:p>
            <a:pPr indent="0" marL="0">
              <a:buNone/>
            </a:pPr>
            <a:r>
              <a:rPr lang="en-US" sz="950" b="1" dirty="0">
                <a:solidFill>
                  <a:srgbClr val="1B3A6B"/>
                </a:solidFill>
              </a:rPr>
              <a:t>Supervisory Review</a:t>
            </a:r>
            <a:endParaRPr lang="en-US" sz="950" dirty="0"/>
          </a:p>
        </p:txBody>
      </p:sp>
      <p:sp>
        <p:nvSpPr>
          <p:cNvPr id="63" name="Text 51"/>
          <p:cNvSpPr/>
          <p:nvPr/>
        </p:nvSpPr>
        <p:spPr>
          <a:xfrm>
            <a:off x="5522976" y="4526280"/>
            <a:ext cx="3291840" cy="274320"/>
          </a:xfrm>
          <a:prstGeom prst="rect">
            <a:avLst/>
          </a:prstGeom>
          <a:noFill/>
          <a:ln/>
        </p:spPr>
        <p:txBody>
          <a:bodyPr wrap="square" lIns="0" tIns="0" rIns="0" bIns="0" rtlCol="0" anchor="ctr"/>
          <a:lstStyle/>
          <a:p>
            <a:pPr indent="0" marL="0">
              <a:buNone/>
            </a:pPr>
            <a:r>
              <a:rPr lang="en-US" sz="850" dirty="0">
                <a:solidFill>
                  <a:srgbClr val="8899AA"/>
                </a:solidFill>
              </a:rPr>
              <a:t>Supervisors assess compliance; Pillar 2 add-ons applied.</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What is Risk?</a:t>
            </a:r>
            <a:endParaRPr lang="en-US" sz="900" dirty="0"/>
          </a:p>
        </p:txBody>
      </p:sp>
      <p:sp>
        <p:nvSpPr>
          <p:cNvPr id="4" name="Shape 2"/>
          <p:cNvSpPr/>
          <p:nvPr/>
        </p:nvSpPr>
        <p:spPr>
          <a:xfrm>
            <a:off x="0" y="0"/>
            <a:ext cx="9144000" cy="658368"/>
          </a:xfrm>
          <a:prstGeom prst="rect">
            <a:avLst/>
          </a:prstGeom>
          <a:solidFill>
            <a:srgbClr val="0E6B8A"/>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What is Risk? — The Three Basel Risk Types</a:t>
            </a:r>
            <a:endParaRPr lang="en-US" sz="2200" dirty="0"/>
          </a:p>
        </p:txBody>
      </p:sp>
      <p:sp>
        <p:nvSpPr>
          <p:cNvPr id="6" name="Shape 4"/>
          <p:cNvSpPr/>
          <p:nvPr/>
        </p:nvSpPr>
        <p:spPr>
          <a:xfrm>
            <a:off x="274320" y="749808"/>
            <a:ext cx="8595360" cy="530352"/>
          </a:xfrm>
          <a:prstGeom prst="rect">
            <a:avLst/>
          </a:prstGeom>
          <a:solidFill>
            <a:srgbClr val="1B3A6B"/>
          </a:solidFill>
          <a:ln/>
        </p:spPr>
      </p:sp>
      <p:sp>
        <p:nvSpPr>
          <p:cNvPr id="7" name="Shape 5"/>
          <p:cNvSpPr/>
          <p:nvPr/>
        </p:nvSpPr>
        <p:spPr>
          <a:xfrm>
            <a:off x="320040" y="795528"/>
            <a:ext cx="420624" cy="420624"/>
          </a:xfrm>
          <a:prstGeom prst="ellipse">
            <a:avLst/>
          </a:prstGeom>
          <a:solidFill>
            <a:srgbClr val="0E6B8A"/>
          </a:solidFill>
          <a:ln w="12700">
            <a:solidFill>
              <a:srgbClr val="0E6B8A"/>
            </a:solidFill>
            <a:prstDash val="solid"/>
          </a:ln>
        </p:spPr>
      </p:sp>
      <p:pic>
        <p:nvPicPr>
          <p:cNvPr id="8" name="Image 0" descr="preencoded.png">    </p:cNvPr>
          <p:cNvPicPr>
            <a:picLocks noChangeAspect="1"/>
          </p:cNvPicPr>
          <p:nvPr/>
        </p:nvPicPr>
        <p:blipFill>
          <a:blip r:embed="rId1"/>
          <a:stretch>
            <a:fillRect/>
          </a:stretch>
        </p:blipFill>
        <p:spPr>
          <a:xfrm>
            <a:off x="404165" y="879653"/>
            <a:ext cx="252374" cy="252374"/>
          </a:xfrm>
          <a:prstGeom prst="rect">
            <a:avLst/>
          </a:prstGeom>
        </p:spPr>
      </p:pic>
      <p:sp>
        <p:nvSpPr>
          <p:cNvPr id="9" name="Text 6"/>
          <p:cNvSpPr/>
          <p:nvPr/>
        </p:nvSpPr>
        <p:spPr>
          <a:xfrm>
            <a:off x="804672" y="749808"/>
            <a:ext cx="7955280" cy="530352"/>
          </a:xfrm>
          <a:prstGeom prst="rect">
            <a:avLst/>
          </a:prstGeom>
          <a:noFill/>
          <a:ln/>
        </p:spPr>
        <p:txBody>
          <a:bodyPr wrap="square" lIns="0" tIns="0" rIns="0" bIns="0" rtlCol="0" anchor="ctr"/>
          <a:lstStyle/>
          <a:p>
            <a:pPr indent="0" marL="0">
              <a:buNone/>
            </a:pPr>
            <a:r>
              <a:rPr lang="en-US" sz="1050" dirty="0">
                <a:solidFill>
                  <a:srgbClr val="D6EAF8"/>
                </a:solidFill>
              </a:rPr>
              <a:t>Total Risk = the possibility that a bank suffers unexpected losses large enough to threaten its solvency. Capital is the buffer that absorbs losses before depositors and creditors are affected.</a:t>
            </a:r>
            <a:endParaRPr lang="en-US" sz="1050" dirty="0"/>
          </a:p>
        </p:txBody>
      </p:sp>
      <p:sp>
        <p:nvSpPr>
          <p:cNvPr id="10" name="Shape 7"/>
          <p:cNvSpPr/>
          <p:nvPr/>
        </p:nvSpPr>
        <p:spPr>
          <a:xfrm>
            <a:off x="256032" y="1389888"/>
            <a:ext cx="2743200" cy="336499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1" name="Shape 8"/>
          <p:cNvSpPr/>
          <p:nvPr/>
        </p:nvSpPr>
        <p:spPr>
          <a:xfrm>
            <a:off x="256032" y="1389888"/>
            <a:ext cx="2743200" cy="658368"/>
          </a:xfrm>
          <a:prstGeom prst="rect">
            <a:avLst/>
          </a:prstGeom>
          <a:solidFill>
            <a:srgbClr val="1B3A6B"/>
          </a:solidFill>
          <a:ln/>
        </p:spPr>
      </p:sp>
      <p:sp>
        <p:nvSpPr>
          <p:cNvPr id="12" name="Shape 9"/>
          <p:cNvSpPr/>
          <p:nvPr/>
        </p:nvSpPr>
        <p:spPr>
          <a:xfrm>
            <a:off x="347472" y="1444752"/>
            <a:ext cx="512064" cy="512064"/>
          </a:xfrm>
          <a:prstGeom prst="ellipse">
            <a:avLst/>
          </a:prstGeom>
          <a:solidFill>
            <a:srgbClr val="0E6B8A"/>
          </a:solidFill>
          <a:ln w="12700">
            <a:solidFill>
              <a:srgbClr val="0E6B8A"/>
            </a:solidFill>
            <a:prstDash val="solid"/>
          </a:ln>
        </p:spPr>
      </p:sp>
      <p:pic>
        <p:nvPicPr>
          <p:cNvPr id="13" name="Image 1" descr="preencoded.png">    </p:cNvPr>
          <p:cNvPicPr>
            <a:picLocks noChangeAspect="1"/>
          </p:cNvPicPr>
          <p:nvPr/>
        </p:nvPicPr>
        <p:blipFill>
          <a:blip r:embed="rId2"/>
          <a:stretch>
            <a:fillRect/>
          </a:stretch>
        </p:blipFill>
        <p:spPr>
          <a:xfrm>
            <a:off x="449885" y="1547165"/>
            <a:ext cx="307238" cy="307238"/>
          </a:xfrm>
          <a:prstGeom prst="rect">
            <a:avLst/>
          </a:prstGeom>
        </p:spPr>
      </p:pic>
      <p:sp>
        <p:nvSpPr>
          <p:cNvPr id="14" name="Text 10"/>
          <p:cNvSpPr/>
          <p:nvPr/>
        </p:nvSpPr>
        <p:spPr>
          <a:xfrm>
            <a:off x="932688" y="1426464"/>
            <a:ext cx="1975104" cy="274320"/>
          </a:xfrm>
          <a:prstGeom prst="rect">
            <a:avLst/>
          </a:prstGeom>
          <a:noFill/>
          <a:ln/>
        </p:spPr>
        <p:txBody>
          <a:bodyPr wrap="square" lIns="0" tIns="0" rIns="0" bIns="0" rtlCol="0" anchor="ctr"/>
          <a:lstStyle/>
          <a:p>
            <a:pPr indent="0" marL="0">
              <a:buNone/>
            </a:pPr>
            <a:r>
              <a:rPr lang="en-US" sz="1000" b="1" dirty="0">
                <a:solidFill>
                  <a:srgbClr val="FFFFFF"/>
                </a:solidFill>
              </a:rPr>
              <a:t>CREDIT RISK</a:t>
            </a:r>
            <a:endParaRPr lang="en-US" sz="1000" dirty="0"/>
          </a:p>
        </p:txBody>
      </p:sp>
      <p:sp>
        <p:nvSpPr>
          <p:cNvPr id="15" name="Text 11"/>
          <p:cNvSpPr/>
          <p:nvPr/>
        </p:nvSpPr>
        <p:spPr>
          <a:xfrm>
            <a:off x="932688" y="1709928"/>
            <a:ext cx="1975104" cy="292608"/>
          </a:xfrm>
          <a:prstGeom prst="rect">
            <a:avLst/>
          </a:prstGeom>
          <a:noFill/>
          <a:ln/>
        </p:spPr>
        <p:txBody>
          <a:bodyPr wrap="square" lIns="0" tIns="0" rIns="0" bIns="0" rtlCol="0" anchor="ctr"/>
          <a:lstStyle/>
          <a:p>
            <a:pPr indent="0" marL="0">
              <a:buNone/>
            </a:pPr>
            <a:r>
              <a:rPr lang="en-US" sz="850" i="1" dirty="0">
                <a:solidFill>
                  <a:srgbClr val="FFFFFF"/>
                </a:solidFill>
              </a:rPr>
              <a:t>The risk that a borrower, issuer, or counterparty fails to meet its financial obligations.</a:t>
            </a:r>
            <a:endParaRPr lang="en-US" sz="850" dirty="0"/>
          </a:p>
        </p:txBody>
      </p:sp>
      <p:sp>
        <p:nvSpPr>
          <p:cNvPr id="16" name="Shape 12"/>
          <p:cNvSpPr/>
          <p:nvPr/>
        </p:nvSpPr>
        <p:spPr>
          <a:xfrm>
            <a:off x="347472" y="2103120"/>
            <a:ext cx="2560320" cy="182880"/>
          </a:xfrm>
          <a:prstGeom prst="rect">
            <a:avLst/>
          </a:prstGeom>
          <a:solidFill>
            <a:srgbClr val="F4F6F8"/>
          </a:solidFill>
          <a:ln/>
        </p:spPr>
      </p:sp>
      <p:sp>
        <p:nvSpPr>
          <p:cNvPr id="17" name="Text 13"/>
          <p:cNvSpPr/>
          <p:nvPr/>
        </p:nvSpPr>
        <p:spPr>
          <a:xfrm>
            <a:off x="347472" y="2103120"/>
            <a:ext cx="2560320" cy="182880"/>
          </a:xfrm>
          <a:prstGeom prst="rect">
            <a:avLst/>
          </a:prstGeom>
          <a:noFill/>
          <a:ln/>
        </p:spPr>
        <p:txBody>
          <a:bodyPr wrap="square" lIns="0" tIns="0" rIns="0" bIns="0" rtlCol="0" anchor="ctr"/>
          <a:lstStyle/>
          <a:p>
            <a:pPr algn="ctr" indent="0" marL="0">
              <a:buNone/>
            </a:pPr>
            <a:r>
              <a:rPr lang="en-US" sz="750" b="1" dirty="0">
                <a:solidFill>
                  <a:srgbClr val="1B3A6B"/>
                </a:solidFill>
              </a:rPr>
              <a:t>EXAMPLES</a:t>
            </a:r>
            <a:endParaRPr lang="en-US" sz="750" dirty="0"/>
          </a:p>
        </p:txBody>
      </p:sp>
      <p:sp>
        <p:nvSpPr>
          <p:cNvPr id="18" name="Text 14"/>
          <p:cNvSpPr/>
          <p:nvPr/>
        </p:nvSpPr>
        <p:spPr>
          <a:xfrm>
            <a:off x="365760" y="2304288"/>
            <a:ext cx="2523744" cy="987552"/>
          </a:xfrm>
          <a:prstGeom prst="rect">
            <a:avLst/>
          </a:prstGeom>
          <a:noFill/>
          <a:ln/>
        </p:spPr>
        <p:txBody>
          <a:bodyPr wrap="square" lIns="0" tIns="0" rIns="0" bIns="0" rtlCol="0" anchor="t"/>
          <a:lstStyle/>
          <a:p>
            <a:pPr indent="0" marL="0">
              <a:buNone/>
            </a:pPr>
            <a:r>
              <a:rPr lang="en-US" sz="880" dirty="0">
                <a:solidFill>
                  <a:srgbClr val="1A1A2E"/>
                </a:solidFill>
              </a:rPr>
              <a:t>• Corporate borrower defaults on loan</a:t>
            </a:r>
            <a:endParaRPr lang="en-US" sz="880" dirty="0"/>
          </a:p>
          <a:p>
            <a:pPr indent="0" marL="0">
              <a:buNone/>
            </a:pPr>
            <a:r>
              <a:rPr lang="en-US" sz="880" dirty="0">
                <a:solidFill>
                  <a:srgbClr val="1A1A2E"/>
                </a:solidFill>
              </a:rPr>
              <a:t>• Bond issuer misses coupon payments</a:t>
            </a:r>
            <a:endParaRPr lang="en-US" sz="880" dirty="0"/>
          </a:p>
          <a:p>
            <a:pPr indent="0" marL="0">
              <a:buNone/>
            </a:pPr>
            <a:r>
              <a:rPr lang="en-US" sz="880" dirty="0">
                <a:solidFill>
                  <a:srgbClr val="1A1A2E"/>
                </a:solidFill>
              </a:rPr>
              <a:t>• Derivatives counterparty cannot settle</a:t>
            </a:r>
            <a:endParaRPr lang="en-US" sz="880" dirty="0"/>
          </a:p>
          <a:p>
            <a:pPr indent="0" marL="0">
              <a:buNone/>
            </a:pPr>
            <a:r>
              <a:rPr lang="en-US" sz="880" dirty="0">
                <a:solidFill>
                  <a:srgbClr val="1A1A2E"/>
                </a:solidFill>
              </a:rPr>
              <a:t>• Mortgage borrower stops paying</a:t>
            </a:r>
            <a:endParaRPr lang="en-US" sz="880" dirty="0"/>
          </a:p>
        </p:txBody>
      </p:sp>
      <p:sp>
        <p:nvSpPr>
          <p:cNvPr id="19" name="Shape 15"/>
          <p:cNvSpPr/>
          <p:nvPr/>
        </p:nvSpPr>
        <p:spPr>
          <a:xfrm>
            <a:off x="347472" y="3310128"/>
            <a:ext cx="2560320" cy="18288"/>
          </a:xfrm>
          <a:prstGeom prst="rect">
            <a:avLst/>
          </a:prstGeom>
          <a:solidFill>
            <a:srgbClr val="D6EAF8"/>
          </a:solidFill>
          <a:ln/>
        </p:spPr>
      </p:sp>
      <p:sp>
        <p:nvSpPr>
          <p:cNvPr id="20" name="Text 16"/>
          <p:cNvSpPr/>
          <p:nvPr/>
        </p:nvSpPr>
        <p:spPr>
          <a:xfrm>
            <a:off x="365760" y="3355848"/>
            <a:ext cx="2523744" cy="1325880"/>
          </a:xfrm>
          <a:prstGeom prst="rect">
            <a:avLst/>
          </a:prstGeom>
          <a:noFill/>
          <a:ln/>
        </p:spPr>
        <p:txBody>
          <a:bodyPr wrap="square" lIns="0" tIns="0" rIns="0" bIns="0" rtlCol="0" anchor="t"/>
          <a:lstStyle/>
          <a:p>
            <a:pPr indent="0" marL="0">
              <a:buNone/>
            </a:pPr>
            <a:r>
              <a:rPr lang="en-US" sz="820" i="1" dirty="0">
                <a:solidFill>
                  <a:srgbClr val="8899AA"/>
                </a:solidFill>
              </a:rPr>
              <a:t>Capital covers the UNEXPECTED portion of losses. Expected losses are provisioned in the accounts.</a:t>
            </a:r>
            <a:endParaRPr lang="en-US" sz="820" dirty="0"/>
          </a:p>
          <a:p>
            <a:pPr indent="0" marL="0">
              <a:buNone/>
            </a:pPr>
            <a:r>
              <a:rPr lang="en-US" sz="820" i="1" dirty="0">
                <a:solidFill>
                  <a:srgbClr val="8899AA"/>
                </a:solidFill>
              </a:rPr>
              <a:t>Largest risk type for most banks. Primary focus of Basel I and II.</a:t>
            </a:r>
            <a:endParaRPr lang="en-US" sz="820" dirty="0"/>
          </a:p>
        </p:txBody>
      </p:sp>
      <p:sp>
        <p:nvSpPr>
          <p:cNvPr id="21" name="Shape 17"/>
          <p:cNvSpPr/>
          <p:nvPr/>
        </p:nvSpPr>
        <p:spPr>
          <a:xfrm>
            <a:off x="3136392" y="1389888"/>
            <a:ext cx="2743200" cy="336499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2" name="Shape 18"/>
          <p:cNvSpPr/>
          <p:nvPr/>
        </p:nvSpPr>
        <p:spPr>
          <a:xfrm>
            <a:off x="3136392" y="1389888"/>
            <a:ext cx="2743200" cy="658368"/>
          </a:xfrm>
          <a:prstGeom prst="rect">
            <a:avLst/>
          </a:prstGeom>
          <a:solidFill>
            <a:srgbClr val="0E6B8A"/>
          </a:solidFill>
          <a:ln/>
        </p:spPr>
      </p:sp>
      <p:sp>
        <p:nvSpPr>
          <p:cNvPr id="23" name="Shape 19"/>
          <p:cNvSpPr/>
          <p:nvPr/>
        </p:nvSpPr>
        <p:spPr>
          <a:xfrm>
            <a:off x="3227832" y="1444752"/>
            <a:ext cx="512064" cy="512064"/>
          </a:xfrm>
          <a:prstGeom prst="ellipse">
            <a:avLst/>
          </a:prstGeom>
          <a:solidFill>
            <a:srgbClr val="0A5070"/>
          </a:solidFill>
          <a:ln w="12700">
            <a:solidFill>
              <a:srgbClr val="0A5070"/>
            </a:solidFill>
            <a:prstDash val="solid"/>
          </a:ln>
        </p:spPr>
      </p:sp>
      <p:pic>
        <p:nvPicPr>
          <p:cNvPr id="24" name="Image 2" descr="preencoded.png">    </p:cNvPr>
          <p:cNvPicPr>
            <a:picLocks noChangeAspect="1"/>
          </p:cNvPicPr>
          <p:nvPr/>
        </p:nvPicPr>
        <p:blipFill>
          <a:blip r:embed="rId3"/>
          <a:stretch>
            <a:fillRect/>
          </a:stretch>
        </p:blipFill>
        <p:spPr>
          <a:xfrm>
            <a:off x="3330245" y="1547165"/>
            <a:ext cx="307238" cy="307238"/>
          </a:xfrm>
          <a:prstGeom prst="rect">
            <a:avLst/>
          </a:prstGeom>
        </p:spPr>
      </p:pic>
      <p:sp>
        <p:nvSpPr>
          <p:cNvPr id="25" name="Text 20"/>
          <p:cNvSpPr/>
          <p:nvPr/>
        </p:nvSpPr>
        <p:spPr>
          <a:xfrm>
            <a:off x="3813048" y="1426464"/>
            <a:ext cx="1975104" cy="274320"/>
          </a:xfrm>
          <a:prstGeom prst="rect">
            <a:avLst/>
          </a:prstGeom>
          <a:noFill/>
          <a:ln/>
        </p:spPr>
        <p:txBody>
          <a:bodyPr wrap="square" lIns="0" tIns="0" rIns="0" bIns="0" rtlCol="0" anchor="ctr"/>
          <a:lstStyle/>
          <a:p>
            <a:pPr indent="0" marL="0">
              <a:buNone/>
            </a:pPr>
            <a:r>
              <a:rPr lang="en-US" sz="1000" b="1" dirty="0">
                <a:solidFill>
                  <a:srgbClr val="FFFFFF"/>
                </a:solidFill>
              </a:rPr>
              <a:t>MARKET RISK</a:t>
            </a:r>
            <a:endParaRPr lang="en-US" sz="1000" dirty="0"/>
          </a:p>
        </p:txBody>
      </p:sp>
      <p:sp>
        <p:nvSpPr>
          <p:cNvPr id="26" name="Text 21"/>
          <p:cNvSpPr/>
          <p:nvPr/>
        </p:nvSpPr>
        <p:spPr>
          <a:xfrm>
            <a:off x="3813048" y="1709928"/>
            <a:ext cx="1975104" cy="292608"/>
          </a:xfrm>
          <a:prstGeom prst="rect">
            <a:avLst/>
          </a:prstGeom>
          <a:noFill/>
          <a:ln/>
        </p:spPr>
        <p:txBody>
          <a:bodyPr wrap="square" lIns="0" tIns="0" rIns="0" bIns="0" rtlCol="0" anchor="ctr"/>
          <a:lstStyle/>
          <a:p>
            <a:pPr indent="0" marL="0">
              <a:buNone/>
            </a:pPr>
            <a:r>
              <a:rPr lang="en-US" sz="850" i="1" dirty="0">
                <a:solidFill>
                  <a:srgbClr val="FFFFFF"/>
                </a:solidFill>
              </a:rPr>
              <a:t>Losses from adverse movements in interest rates, FX, equity prices, and commodities.</a:t>
            </a:r>
            <a:endParaRPr lang="en-US" sz="850" dirty="0"/>
          </a:p>
        </p:txBody>
      </p:sp>
      <p:sp>
        <p:nvSpPr>
          <p:cNvPr id="27" name="Shape 22"/>
          <p:cNvSpPr/>
          <p:nvPr/>
        </p:nvSpPr>
        <p:spPr>
          <a:xfrm>
            <a:off x="3227832" y="2103120"/>
            <a:ext cx="2560320" cy="182880"/>
          </a:xfrm>
          <a:prstGeom prst="rect">
            <a:avLst/>
          </a:prstGeom>
          <a:solidFill>
            <a:srgbClr val="F4F6F8"/>
          </a:solidFill>
          <a:ln/>
        </p:spPr>
      </p:sp>
      <p:sp>
        <p:nvSpPr>
          <p:cNvPr id="28" name="Text 23"/>
          <p:cNvSpPr/>
          <p:nvPr/>
        </p:nvSpPr>
        <p:spPr>
          <a:xfrm>
            <a:off x="3227832" y="2103120"/>
            <a:ext cx="2560320" cy="182880"/>
          </a:xfrm>
          <a:prstGeom prst="rect">
            <a:avLst/>
          </a:prstGeom>
          <a:noFill/>
          <a:ln/>
        </p:spPr>
        <p:txBody>
          <a:bodyPr wrap="square" lIns="0" tIns="0" rIns="0" bIns="0" rtlCol="0" anchor="ctr"/>
          <a:lstStyle/>
          <a:p>
            <a:pPr algn="ctr" indent="0" marL="0">
              <a:buNone/>
            </a:pPr>
            <a:r>
              <a:rPr lang="en-US" sz="750" b="1" dirty="0">
                <a:solidFill>
                  <a:srgbClr val="0E6B8A"/>
                </a:solidFill>
              </a:rPr>
              <a:t>EXAMPLES</a:t>
            </a:r>
            <a:endParaRPr lang="en-US" sz="750" dirty="0"/>
          </a:p>
        </p:txBody>
      </p:sp>
      <p:sp>
        <p:nvSpPr>
          <p:cNvPr id="29" name="Text 24"/>
          <p:cNvSpPr/>
          <p:nvPr/>
        </p:nvSpPr>
        <p:spPr>
          <a:xfrm>
            <a:off x="3246120" y="2304288"/>
            <a:ext cx="2523744" cy="987552"/>
          </a:xfrm>
          <a:prstGeom prst="rect">
            <a:avLst/>
          </a:prstGeom>
          <a:noFill/>
          <a:ln/>
        </p:spPr>
        <p:txBody>
          <a:bodyPr wrap="square" lIns="0" tIns="0" rIns="0" bIns="0" rtlCol="0" anchor="t"/>
          <a:lstStyle/>
          <a:p>
            <a:pPr indent="0" marL="0">
              <a:buNone/>
            </a:pPr>
            <a:r>
              <a:rPr lang="en-US" sz="880" dirty="0">
                <a:solidFill>
                  <a:srgbClr val="1A1A2E"/>
                </a:solidFill>
              </a:rPr>
              <a:t>• Rates rise → bond portfolio value falls</a:t>
            </a:r>
            <a:endParaRPr lang="en-US" sz="880" dirty="0"/>
          </a:p>
          <a:p>
            <a:pPr indent="0" marL="0">
              <a:buNone/>
            </a:pPr>
            <a:r>
              <a:rPr lang="en-US" sz="880" dirty="0">
                <a:solidFill>
                  <a:srgbClr val="1A1A2E"/>
                </a:solidFill>
              </a:rPr>
              <a:t>• Currency depreciates vs home currency</a:t>
            </a:r>
            <a:endParaRPr lang="en-US" sz="880" dirty="0"/>
          </a:p>
          <a:p>
            <a:pPr indent="0" marL="0">
              <a:buNone/>
            </a:pPr>
            <a:r>
              <a:rPr lang="en-US" sz="880" dirty="0">
                <a:solidFill>
                  <a:srgbClr val="1A1A2E"/>
                </a:solidFill>
              </a:rPr>
              <a:t>• Equity market drops sharply</a:t>
            </a:r>
            <a:endParaRPr lang="en-US" sz="880" dirty="0"/>
          </a:p>
          <a:p>
            <a:pPr indent="0" marL="0">
              <a:buNone/>
            </a:pPr>
            <a:r>
              <a:rPr lang="en-US" sz="880" dirty="0">
                <a:solidFill>
                  <a:srgbClr val="1A1A2E"/>
                </a:solidFill>
              </a:rPr>
              <a:t>• Gold price falls on precious metals position</a:t>
            </a:r>
            <a:endParaRPr lang="en-US" sz="880" dirty="0"/>
          </a:p>
        </p:txBody>
      </p:sp>
      <p:sp>
        <p:nvSpPr>
          <p:cNvPr id="30" name="Shape 25"/>
          <p:cNvSpPr/>
          <p:nvPr/>
        </p:nvSpPr>
        <p:spPr>
          <a:xfrm>
            <a:off x="3227832" y="3310128"/>
            <a:ext cx="2560320" cy="18288"/>
          </a:xfrm>
          <a:prstGeom prst="rect">
            <a:avLst/>
          </a:prstGeom>
          <a:solidFill>
            <a:srgbClr val="D6EAF8"/>
          </a:solidFill>
          <a:ln/>
        </p:spPr>
      </p:sp>
      <p:sp>
        <p:nvSpPr>
          <p:cNvPr id="31" name="Text 26"/>
          <p:cNvSpPr/>
          <p:nvPr/>
        </p:nvSpPr>
        <p:spPr>
          <a:xfrm>
            <a:off x="3246120" y="3355848"/>
            <a:ext cx="2523744" cy="1325880"/>
          </a:xfrm>
          <a:prstGeom prst="rect">
            <a:avLst/>
          </a:prstGeom>
          <a:noFill/>
          <a:ln/>
        </p:spPr>
        <p:txBody>
          <a:bodyPr wrap="square" lIns="0" tIns="0" rIns="0" bIns="0" rtlCol="0" anchor="t"/>
          <a:lstStyle/>
          <a:p>
            <a:pPr indent="0" marL="0">
              <a:buNone/>
            </a:pPr>
            <a:r>
              <a:rPr lang="en-US" sz="820" i="1" dirty="0">
                <a:solidFill>
                  <a:srgbClr val="8899AA"/>
                </a:solidFill>
              </a:rPr>
              <a:t>Not addressed until the 1996 Market Risk Amendment. Primarily affects the trading book.</a:t>
            </a:r>
            <a:endParaRPr lang="en-US" sz="820" dirty="0"/>
          </a:p>
          <a:p>
            <a:pPr indent="0" marL="0">
              <a:buNone/>
            </a:pPr>
            <a:r>
              <a:rPr lang="en-US" sz="820" i="1" dirty="0">
                <a:solidFill>
                  <a:srgbClr val="8899AA"/>
                </a:solidFill>
              </a:rPr>
              <a:t>FRTB (Basel IV) is the current framework.</a:t>
            </a:r>
            <a:endParaRPr lang="en-US" sz="820" dirty="0"/>
          </a:p>
        </p:txBody>
      </p:sp>
      <p:sp>
        <p:nvSpPr>
          <p:cNvPr id="32" name="Shape 27"/>
          <p:cNvSpPr/>
          <p:nvPr/>
        </p:nvSpPr>
        <p:spPr>
          <a:xfrm>
            <a:off x="6016752" y="1389888"/>
            <a:ext cx="2743200" cy="336499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3" name="Shape 28"/>
          <p:cNvSpPr/>
          <p:nvPr/>
        </p:nvSpPr>
        <p:spPr>
          <a:xfrm>
            <a:off x="6016752" y="1389888"/>
            <a:ext cx="2743200" cy="658368"/>
          </a:xfrm>
          <a:prstGeom prst="rect">
            <a:avLst/>
          </a:prstGeom>
          <a:solidFill>
            <a:srgbClr val="C9A84C"/>
          </a:solidFill>
          <a:ln/>
        </p:spPr>
      </p:sp>
      <p:sp>
        <p:nvSpPr>
          <p:cNvPr id="34" name="Shape 29"/>
          <p:cNvSpPr/>
          <p:nvPr/>
        </p:nvSpPr>
        <p:spPr>
          <a:xfrm>
            <a:off x="6108192" y="1444752"/>
            <a:ext cx="512064" cy="512064"/>
          </a:xfrm>
          <a:prstGeom prst="ellipse">
            <a:avLst/>
          </a:prstGeom>
          <a:solidFill>
            <a:srgbClr val="9B7000"/>
          </a:solidFill>
          <a:ln w="12700">
            <a:solidFill>
              <a:srgbClr val="9B7000"/>
            </a:solidFill>
            <a:prstDash val="solid"/>
          </a:ln>
        </p:spPr>
      </p:sp>
      <p:pic>
        <p:nvPicPr>
          <p:cNvPr id="35" name="Image 3" descr="preencoded.png">    </p:cNvPr>
          <p:cNvPicPr>
            <a:picLocks noChangeAspect="1"/>
          </p:cNvPicPr>
          <p:nvPr/>
        </p:nvPicPr>
        <p:blipFill>
          <a:blip r:embed="rId4"/>
          <a:stretch>
            <a:fillRect/>
          </a:stretch>
        </p:blipFill>
        <p:spPr>
          <a:xfrm>
            <a:off x="6210605" y="1547165"/>
            <a:ext cx="307238" cy="307238"/>
          </a:xfrm>
          <a:prstGeom prst="rect">
            <a:avLst/>
          </a:prstGeom>
        </p:spPr>
      </p:pic>
      <p:sp>
        <p:nvSpPr>
          <p:cNvPr id="36" name="Text 30"/>
          <p:cNvSpPr/>
          <p:nvPr/>
        </p:nvSpPr>
        <p:spPr>
          <a:xfrm>
            <a:off x="6693408" y="1426464"/>
            <a:ext cx="1975104" cy="274320"/>
          </a:xfrm>
          <a:prstGeom prst="rect">
            <a:avLst/>
          </a:prstGeom>
          <a:noFill/>
          <a:ln/>
        </p:spPr>
        <p:txBody>
          <a:bodyPr wrap="square" lIns="0" tIns="0" rIns="0" bIns="0" rtlCol="0" anchor="ctr"/>
          <a:lstStyle/>
          <a:p>
            <a:pPr indent="0" marL="0">
              <a:buNone/>
            </a:pPr>
            <a:r>
              <a:rPr lang="en-US" sz="1000" b="1" dirty="0">
                <a:solidFill>
                  <a:srgbClr val="FFFFFF"/>
                </a:solidFill>
              </a:rPr>
              <a:t>OPERATIONAL RISK</a:t>
            </a:r>
            <a:endParaRPr lang="en-US" sz="1000" dirty="0"/>
          </a:p>
        </p:txBody>
      </p:sp>
      <p:sp>
        <p:nvSpPr>
          <p:cNvPr id="37" name="Text 31"/>
          <p:cNvSpPr/>
          <p:nvPr/>
        </p:nvSpPr>
        <p:spPr>
          <a:xfrm>
            <a:off x="6693408" y="1709928"/>
            <a:ext cx="1975104" cy="292608"/>
          </a:xfrm>
          <a:prstGeom prst="rect">
            <a:avLst/>
          </a:prstGeom>
          <a:noFill/>
          <a:ln/>
        </p:spPr>
        <p:txBody>
          <a:bodyPr wrap="square" lIns="0" tIns="0" rIns="0" bIns="0" rtlCol="0" anchor="ctr"/>
          <a:lstStyle/>
          <a:p>
            <a:pPr indent="0" marL="0">
              <a:buNone/>
            </a:pPr>
            <a:r>
              <a:rPr lang="en-US" sz="850" i="1" dirty="0">
                <a:solidFill>
                  <a:srgbClr val="FFFFFF"/>
                </a:solidFill>
              </a:rPr>
              <a:t>Losses from failed internal processes, people, systems, or external events.</a:t>
            </a:r>
            <a:endParaRPr lang="en-US" sz="850" dirty="0"/>
          </a:p>
        </p:txBody>
      </p:sp>
      <p:sp>
        <p:nvSpPr>
          <p:cNvPr id="38" name="Shape 32"/>
          <p:cNvSpPr/>
          <p:nvPr/>
        </p:nvSpPr>
        <p:spPr>
          <a:xfrm>
            <a:off x="6108192" y="2103120"/>
            <a:ext cx="2560320" cy="182880"/>
          </a:xfrm>
          <a:prstGeom prst="rect">
            <a:avLst/>
          </a:prstGeom>
          <a:solidFill>
            <a:srgbClr val="F4F6F8"/>
          </a:solidFill>
          <a:ln/>
        </p:spPr>
      </p:sp>
      <p:sp>
        <p:nvSpPr>
          <p:cNvPr id="39" name="Text 33"/>
          <p:cNvSpPr/>
          <p:nvPr/>
        </p:nvSpPr>
        <p:spPr>
          <a:xfrm>
            <a:off x="6108192" y="2103120"/>
            <a:ext cx="2560320" cy="182880"/>
          </a:xfrm>
          <a:prstGeom prst="rect">
            <a:avLst/>
          </a:prstGeom>
          <a:noFill/>
          <a:ln/>
        </p:spPr>
        <p:txBody>
          <a:bodyPr wrap="square" lIns="0" tIns="0" rIns="0" bIns="0" rtlCol="0" anchor="ctr"/>
          <a:lstStyle/>
          <a:p>
            <a:pPr algn="ctr" indent="0" marL="0">
              <a:buNone/>
            </a:pPr>
            <a:r>
              <a:rPr lang="en-US" sz="750" b="1" dirty="0">
                <a:solidFill>
                  <a:srgbClr val="C9A84C"/>
                </a:solidFill>
              </a:rPr>
              <a:t>EXAMPLES</a:t>
            </a:r>
            <a:endParaRPr lang="en-US" sz="750" dirty="0"/>
          </a:p>
        </p:txBody>
      </p:sp>
      <p:sp>
        <p:nvSpPr>
          <p:cNvPr id="40" name="Text 34"/>
          <p:cNvSpPr/>
          <p:nvPr/>
        </p:nvSpPr>
        <p:spPr>
          <a:xfrm>
            <a:off x="6126480" y="2304288"/>
            <a:ext cx="2523744" cy="987552"/>
          </a:xfrm>
          <a:prstGeom prst="rect">
            <a:avLst/>
          </a:prstGeom>
          <a:noFill/>
          <a:ln/>
        </p:spPr>
        <p:txBody>
          <a:bodyPr wrap="square" lIns="0" tIns="0" rIns="0" bIns="0" rtlCol="0" anchor="t"/>
          <a:lstStyle/>
          <a:p>
            <a:pPr indent="0" marL="0">
              <a:buNone/>
            </a:pPr>
            <a:r>
              <a:rPr lang="en-US" sz="880" dirty="0">
                <a:solidFill>
                  <a:srgbClr val="1A1A2E"/>
                </a:solidFill>
              </a:rPr>
              <a:t>• Rogue trader circumvents controls (Barings 1995)</a:t>
            </a:r>
            <a:endParaRPr lang="en-US" sz="880" dirty="0"/>
          </a:p>
          <a:p>
            <a:pPr indent="0" marL="0">
              <a:buNone/>
            </a:pPr>
            <a:r>
              <a:rPr lang="en-US" sz="880" dirty="0">
                <a:solidFill>
                  <a:srgbClr val="1A1A2E"/>
                </a:solidFill>
              </a:rPr>
              <a:t>• System failure causes wrong settlements</a:t>
            </a:r>
            <a:endParaRPr lang="en-US" sz="880" dirty="0"/>
          </a:p>
          <a:p>
            <a:pPr indent="0" marL="0">
              <a:buNone/>
            </a:pPr>
            <a:r>
              <a:rPr lang="en-US" sz="880" dirty="0">
                <a:solidFill>
                  <a:srgbClr val="1A1A2E"/>
                </a:solidFill>
              </a:rPr>
              <a:t>• Fraud by employee or external party</a:t>
            </a:r>
            <a:endParaRPr lang="en-US" sz="880" dirty="0"/>
          </a:p>
          <a:p>
            <a:pPr indent="0" marL="0">
              <a:buNone/>
            </a:pPr>
            <a:r>
              <a:rPr lang="en-US" sz="880" dirty="0">
                <a:solidFill>
                  <a:srgbClr val="1A1A2E"/>
                </a:solidFill>
              </a:rPr>
              <a:t>• Cyber attack disrupts operations</a:t>
            </a:r>
            <a:endParaRPr lang="en-US" sz="880" dirty="0"/>
          </a:p>
        </p:txBody>
      </p:sp>
      <p:sp>
        <p:nvSpPr>
          <p:cNvPr id="41" name="Shape 35"/>
          <p:cNvSpPr/>
          <p:nvPr/>
        </p:nvSpPr>
        <p:spPr>
          <a:xfrm>
            <a:off x="6108192" y="3310128"/>
            <a:ext cx="2560320" cy="18288"/>
          </a:xfrm>
          <a:prstGeom prst="rect">
            <a:avLst/>
          </a:prstGeom>
          <a:solidFill>
            <a:srgbClr val="D6EAF8"/>
          </a:solidFill>
          <a:ln/>
        </p:spPr>
      </p:sp>
      <p:sp>
        <p:nvSpPr>
          <p:cNvPr id="42" name="Text 36"/>
          <p:cNvSpPr/>
          <p:nvPr/>
        </p:nvSpPr>
        <p:spPr>
          <a:xfrm>
            <a:off x="6126480" y="3355848"/>
            <a:ext cx="2523744" cy="1325880"/>
          </a:xfrm>
          <a:prstGeom prst="rect">
            <a:avLst/>
          </a:prstGeom>
          <a:noFill/>
          <a:ln/>
        </p:spPr>
        <p:txBody>
          <a:bodyPr wrap="square" lIns="0" tIns="0" rIns="0" bIns="0" rtlCol="0" anchor="t"/>
          <a:lstStyle/>
          <a:p>
            <a:pPr indent="0" marL="0">
              <a:buNone/>
            </a:pPr>
            <a:r>
              <a:rPr lang="en-US" sz="820" i="1" dirty="0">
                <a:solidFill>
                  <a:srgbClr val="8899AA"/>
                </a:solidFill>
              </a:rPr>
              <a:t>First formally captured in Basel II. Hardest to quantify — no clean model for 'process failure'.</a:t>
            </a:r>
            <a:endParaRPr lang="en-US" sz="820" dirty="0"/>
          </a:p>
          <a:p>
            <a:pPr indent="0" marL="0">
              <a:buNone/>
            </a:pPr>
            <a:r>
              <a:rPr lang="en-US" sz="820" i="1" dirty="0">
                <a:solidFill>
                  <a:srgbClr val="8899AA"/>
                </a:solidFill>
              </a:rPr>
              <a:t>SMA (Basel IV) replaces all prior OpRisk models.</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Scope &amp; Future Modules</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What is Not Covered Here — &amp; What's Coming Next</a:t>
            </a:r>
            <a:endParaRPr lang="en-US" sz="2200" dirty="0"/>
          </a:p>
        </p:txBody>
      </p:sp>
      <p:sp>
        <p:nvSpPr>
          <p:cNvPr id="6" name="Shape 4"/>
          <p:cNvSpPr/>
          <p:nvPr/>
        </p:nvSpPr>
        <p:spPr>
          <a:xfrm>
            <a:off x="274320" y="749808"/>
            <a:ext cx="8595360" cy="502920"/>
          </a:xfrm>
          <a:prstGeom prst="rect">
            <a:avLst/>
          </a:prstGeom>
          <a:solidFill>
            <a:srgbClr val="D6EAF8"/>
          </a:solidFill>
          <a:ln/>
        </p:spPr>
      </p:sp>
      <p:sp>
        <p:nvSpPr>
          <p:cNvPr id="7" name="Text 5"/>
          <p:cNvSpPr/>
          <p:nvPr/>
        </p:nvSpPr>
        <p:spPr>
          <a:xfrm>
            <a:off x="411480" y="749808"/>
            <a:ext cx="8321040" cy="502920"/>
          </a:xfrm>
          <a:prstGeom prst="rect">
            <a:avLst/>
          </a:prstGeom>
          <a:noFill/>
          <a:ln/>
        </p:spPr>
        <p:txBody>
          <a:bodyPr wrap="square" lIns="0" tIns="0" rIns="0" bIns="0" rtlCol="0" anchor="ctr"/>
          <a:lstStyle/>
          <a:p>
            <a:pPr indent="0" marL="0">
              <a:buNone/>
            </a:pPr>
            <a:r>
              <a:rPr lang="en-US" sz="1000" dirty="0">
                <a:solidFill>
                  <a:srgbClr val="1B3A6B"/>
                </a:solidFill>
              </a:rPr>
              <a:t>This module focuses on the three Basel Pillar 1 risk types: Credit, Market, and Operational Risk. Several other material risks are assessed under Pillar 2 (supervisory review) rather than Pillar 1. These will be covered in dedicated future modules.</a:t>
            </a:r>
            <a:endParaRPr lang="en-US" sz="1000" dirty="0"/>
          </a:p>
        </p:txBody>
      </p:sp>
      <p:sp>
        <p:nvSpPr>
          <p:cNvPr id="8" name="Shape 6"/>
          <p:cNvSpPr/>
          <p:nvPr/>
        </p:nvSpPr>
        <p:spPr>
          <a:xfrm>
            <a:off x="256032" y="1353312"/>
            <a:ext cx="2057400" cy="340156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56032" y="1353312"/>
            <a:ext cx="2057400" cy="658368"/>
          </a:xfrm>
          <a:prstGeom prst="rect">
            <a:avLst/>
          </a:prstGeom>
          <a:solidFill>
            <a:srgbClr val="0E6B8A"/>
          </a:solidFill>
          <a:ln/>
        </p:spPr>
      </p:sp>
      <p:sp>
        <p:nvSpPr>
          <p:cNvPr id="10" name="Shape 8"/>
          <p:cNvSpPr/>
          <p:nvPr/>
        </p:nvSpPr>
        <p:spPr>
          <a:xfrm>
            <a:off x="329184" y="1408176"/>
            <a:ext cx="512064" cy="512064"/>
          </a:xfrm>
          <a:prstGeom prst="ellipse">
            <a:avLst/>
          </a:prstGeom>
          <a:solidFill>
            <a:srgbClr val="1B3A6B"/>
          </a:solidFill>
          <a:ln w="12700">
            <a:solidFill>
              <a:srgbClr val="1B3A6B"/>
            </a:solidFill>
            <a:prstDash val="solid"/>
          </a:ln>
        </p:spPr>
      </p:sp>
      <p:pic>
        <p:nvPicPr>
          <p:cNvPr id="11" name="Image 0" descr="preencoded.png">    </p:cNvPr>
          <p:cNvPicPr>
            <a:picLocks noChangeAspect="1"/>
          </p:cNvPicPr>
          <p:nvPr/>
        </p:nvPicPr>
        <p:blipFill>
          <a:blip r:embed="rId1"/>
          <a:stretch>
            <a:fillRect/>
          </a:stretch>
        </p:blipFill>
        <p:spPr>
          <a:xfrm>
            <a:off x="431597" y="1510589"/>
            <a:ext cx="307238" cy="307238"/>
          </a:xfrm>
          <a:prstGeom prst="rect">
            <a:avLst/>
          </a:prstGeom>
        </p:spPr>
      </p:pic>
      <p:sp>
        <p:nvSpPr>
          <p:cNvPr id="12" name="Text 9"/>
          <p:cNvSpPr/>
          <p:nvPr/>
        </p:nvSpPr>
        <p:spPr>
          <a:xfrm>
            <a:off x="914400" y="1408176"/>
            <a:ext cx="1335024" cy="512064"/>
          </a:xfrm>
          <a:prstGeom prst="rect">
            <a:avLst/>
          </a:prstGeom>
          <a:noFill/>
          <a:ln/>
        </p:spPr>
        <p:txBody>
          <a:bodyPr wrap="square" lIns="0" tIns="0" rIns="0" bIns="0" rtlCol="0" anchor="ctr"/>
          <a:lstStyle/>
          <a:p>
            <a:pPr indent="0" marL="0">
              <a:buNone/>
            </a:pPr>
            <a:r>
              <a:rPr lang="en-US" sz="950" b="1" dirty="0">
                <a:solidFill>
                  <a:srgbClr val="FFFFFF"/>
                </a:solidFill>
              </a:rPr>
              <a:t>Liquidity Risk</a:t>
            </a:r>
            <a:endParaRPr lang="en-US" sz="950" dirty="0"/>
          </a:p>
        </p:txBody>
      </p:sp>
      <p:sp>
        <p:nvSpPr>
          <p:cNvPr id="13" name="Text 10"/>
          <p:cNvSpPr/>
          <p:nvPr/>
        </p:nvSpPr>
        <p:spPr>
          <a:xfrm>
            <a:off x="347472" y="2057400"/>
            <a:ext cx="1874520" cy="2450592"/>
          </a:xfrm>
          <a:prstGeom prst="rect">
            <a:avLst/>
          </a:prstGeom>
          <a:noFill/>
          <a:ln/>
        </p:spPr>
        <p:txBody>
          <a:bodyPr wrap="square" lIns="0" tIns="0" rIns="0" bIns="0" rtlCol="0" anchor="t"/>
          <a:lstStyle/>
          <a:p>
            <a:pPr indent="0" marL="0">
              <a:buNone/>
            </a:pPr>
            <a:r>
              <a:rPr lang="en-US" sz="880" dirty="0">
                <a:solidFill>
                  <a:srgbClr val="1A1A2E"/>
                </a:solidFill>
              </a:rPr>
              <a:t>The risk that a bank cannot meet its obligations as they fall due — either because it cannot sell assets quickly enough (market liquidity) or cannot fund itself (funding liquidity).</a:t>
            </a:r>
            <a:endParaRPr lang="en-US" sz="880" dirty="0"/>
          </a:p>
          <a:p>
            <a:pPr indent="0" marL="0">
              <a:buNone/>
            </a:pPr>
            <a:endParaRPr lang="en-US" sz="880" dirty="0"/>
          </a:p>
          <a:p>
            <a:pPr indent="0" marL="0">
              <a:buNone/>
            </a:pPr>
            <a:r>
              <a:rPr lang="en-US" sz="880" dirty="0">
                <a:solidFill>
                  <a:srgbClr val="1A1A2E"/>
                </a:solidFill>
              </a:rPr>
              <a:t>Basel III introduced LCR (30-day survival) and NSFR (1-year structural stability). One of the most important lessons of the 2007–09 crisis.</a:t>
            </a:r>
            <a:endParaRPr lang="en-US" sz="880" dirty="0"/>
          </a:p>
        </p:txBody>
      </p:sp>
      <p:sp>
        <p:nvSpPr>
          <p:cNvPr id="14" name="Shape 11"/>
          <p:cNvSpPr/>
          <p:nvPr/>
        </p:nvSpPr>
        <p:spPr>
          <a:xfrm>
            <a:off x="256032" y="4526280"/>
            <a:ext cx="2057400" cy="228600"/>
          </a:xfrm>
          <a:prstGeom prst="rect">
            <a:avLst/>
          </a:prstGeom>
          <a:solidFill>
            <a:srgbClr val="0E6B8A"/>
          </a:solidFill>
          <a:ln/>
        </p:spPr>
      </p:sp>
      <p:sp>
        <p:nvSpPr>
          <p:cNvPr id="15" name="Text 12"/>
          <p:cNvSpPr/>
          <p:nvPr/>
        </p:nvSpPr>
        <p:spPr>
          <a:xfrm>
            <a:off x="256032" y="4526280"/>
            <a:ext cx="2057400" cy="228600"/>
          </a:xfrm>
          <a:prstGeom prst="rect">
            <a:avLst/>
          </a:prstGeom>
          <a:noFill/>
          <a:ln/>
        </p:spPr>
        <p:txBody>
          <a:bodyPr wrap="square" lIns="0" tIns="0" rIns="0" bIns="0" rtlCol="0" anchor="ctr"/>
          <a:lstStyle/>
          <a:p>
            <a:pPr algn="ctr" indent="0" marL="0">
              <a:buNone/>
            </a:pPr>
            <a:r>
              <a:rPr lang="en-US" sz="800" b="1" dirty="0">
                <a:solidFill>
                  <a:srgbClr val="FFFFFF"/>
                </a:solidFill>
              </a:rPr>
              <a:t>Future Module 2</a:t>
            </a:r>
            <a:endParaRPr lang="en-US" sz="800" dirty="0"/>
          </a:p>
        </p:txBody>
      </p:sp>
      <p:sp>
        <p:nvSpPr>
          <p:cNvPr id="16" name="Shape 13"/>
          <p:cNvSpPr/>
          <p:nvPr/>
        </p:nvSpPr>
        <p:spPr>
          <a:xfrm>
            <a:off x="2432304" y="1353312"/>
            <a:ext cx="2057400" cy="340156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7" name="Shape 14"/>
          <p:cNvSpPr/>
          <p:nvPr/>
        </p:nvSpPr>
        <p:spPr>
          <a:xfrm>
            <a:off x="2432304" y="1353312"/>
            <a:ext cx="2057400" cy="658368"/>
          </a:xfrm>
          <a:prstGeom prst="rect">
            <a:avLst/>
          </a:prstGeom>
          <a:solidFill>
            <a:srgbClr val="1B3A6B"/>
          </a:solidFill>
          <a:ln/>
        </p:spPr>
      </p:sp>
      <p:sp>
        <p:nvSpPr>
          <p:cNvPr id="18" name="Shape 15"/>
          <p:cNvSpPr/>
          <p:nvPr/>
        </p:nvSpPr>
        <p:spPr>
          <a:xfrm>
            <a:off x="2505456" y="1408176"/>
            <a:ext cx="512064" cy="512064"/>
          </a:xfrm>
          <a:prstGeom prst="ellipse">
            <a:avLst/>
          </a:prstGeom>
          <a:solidFill>
            <a:srgbClr val="0E6B8A"/>
          </a:solidFill>
          <a:ln w="12700">
            <a:solidFill>
              <a:srgbClr val="0E6B8A"/>
            </a:solidFill>
            <a:prstDash val="solid"/>
          </a:ln>
        </p:spPr>
      </p:sp>
      <p:pic>
        <p:nvPicPr>
          <p:cNvPr id="19" name="Image 1" descr="preencoded.png">    </p:cNvPr>
          <p:cNvPicPr>
            <a:picLocks noChangeAspect="1"/>
          </p:cNvPicPr>
          <p:nvPr/>
        </p:nvPicPr>
        <p:blipFill>
          <a:blip r:embed="rId2"/>
          <a:stretch>
            <a:fillRect/>
          </a:stretch>
        </p:blipFill>
        <p:spPr>
          <a:xfrm>
            <a:off x="2607869" y="1510589"/>
            <a:ext cx="307238" cy="307238"/>
          </a:xfrm>
          <a:prstGeom prst="rect">
            <a:avLst/>
          </a:prstGeom>
        </p:spPr>
      </p:pic>
      <p:sp>
        <p:nvSpPr>
          <p:cNvPr id="20" name="Text 16"/>
          <p:cNvSpPr/>
          <p:nvPr/>
        </p:nvSpPr>
        <p:spPr>
          <a:xfrm>
            <a:off x="3090672" y="1408176"/>
            <a:ext cx="1335024" cy="512064"/>
          </a:xfrm>
          <a:prstGeom prst="rect">
            <a:avLst/>
          </a:prstGeom>
          <a:noFill/>
          <a:ln/>
        </p:spPr>
        <p:txBody>
          <a:bodyPr wrap="square" lIns="0" tIns="0" rIns="0" bIns="0" rtlCol="0" anchor="ctr"/>
          <a:lstStyle/>
          <a:p>
            <a:pPr indent="0" marL="0">
              <a:buNone/>
            </a:pPr>
            <a:r>
              <a:rPr lang="en-US" sz="950" b="1" dirty="0">
                <a:solidFill>
                  <a:srgbClr val="FFFFFF"/>
                </a:solidFill>
              </a:rPr>
              <a:t>Concentration Risk</a:t>
            </a:r>
            <a:endParaRPr lang="en-US" sz="950" dirty="0"/>
          </a:p>
        </p:txBody>
      </p:sp>
      <p:sp>
        <p:nvSpPr>
          <p:cNvPr id="21" name="Text 17"/>
          <p:cNvSpPr/>
          <p:nvPr/>
        </p:nvSpPr>
        <p:spPr>
          <a:xfrm>
            <a:off x="2523744" y="2057400"/>
            <a:ext cx="1874520" cy="2450592"/>
          </a:xfrm>
          <a:prstGeom prst="rect">
            <a:avLst/>
          </a:prstGeom>
          <a:noFill/>
          <a:ln/>
        </p:spPr>
        <p:txBody>
          <a:bodyPr wrap="square" lIns="0" tIns="0" rIns="0" bIns="0" rtlCol="0" anchor="t"/>
          <a:lstStyle/>
          <a:p>
            <a:pPr indent="0" marL="0">
              <a:buNone/>
            </a:pPr>
            <a:r>
              <a:rPr lang="en-US" sz="880" dirty="0">
                <a:solidFill>
                  <a:srgbClr val="1A1A2E"/>
                </a:solidFill>
              </a:rPr>
              <a:t>The risk of excessive exposure to a single counterparty, sector, geography, or product. A bank with 40% of its loan book in one industry is acutely vulnerable to that sector's downturn.</a:t>
            </a:r>
            <a:endParaRPr lang="en-US" sz="880" dirty="0"/>
          </a:p>
          <a:p>
            <a:pPr indent="0" marL="0">
              <a:buNone/>
            </a:pPr>
            <a:endParaRPr lang="en-US" sz="880" dirty="0"/>
          </a:p>
          <a:p>
            <a:pPr indent="0" marL="0">
              <a:buNone/>
            </a:pPr>
            <a:r>
              <a:rPr lang="en-US" sz="880" dirty="0">
                <a:solidFill>
                  <a:srgbClr val="1A1A2E"/>
                </a:solidFill>
              </a:rPr>
              <a:t>Addressed under Pillar 2 and the Large Exposures framework. Maximum 25% of Tier 1 to any single counterparty.</a:t>
            </a:r>
            <a:endParaRPr lang="en-US" sz="880" dirty="0"/>
          </a:p>
        </p:txBody>
      </p:sp>
      <p:sp>
        <p:nvSpPr>
          <p:cNvPr id="22" name="Shape 18"/>
          <p:cNvSpPr/>
          <p:nvPr/>
        </p:nvSpPr>
        <p:spPr>
          <a:xfrm>
            <a:off x="2432304" y="4526280"/>
            <a:ext cx="2057400" cy="228600"/>
          </a:xfrm>
          <a:prstGeom prst="rect">
            <a:avLst/>
          </a:prstGeom>
          <a:solidFill>
            <a:srgbClr val="1B3A6B"/>
          </a:solidFill>
          <a:ln/>
        </p:spPr>
      </p:sp>
      <p:sp>
        <p:nvSpPr>
          <p:cNvPr id="23" name="Text 19"/>
          <p:cNvSpPr/>
          <p:nvPr/>
        </p:nvSpPr>
        <p:spPr>
          <a:xfrm>
            <a:off x="2432304" y="4526280"/>
            <a:ext cx="2057400" cy="228600"/>
          </a:xfrm>
          <a:prstGeom prst="rect">
            <a:avLst/>
          </a:prstGeom>
          <a:noFill/>
          <a:ln/>
        </p:spPr>
        <p:txBody>
          <a:bodyPr wrap="square" lIns="0" tIns="0" rIns="0" bIns="0" rtlCol="0" anchor="ctr"/>
          <a:lstStyle/>
          <a:p>
            <a:pPr algn="ctr" indent="0" marL="0">
              <a:buNone/>
            </a:pPr>
            <a:r>
              <a:rPr lang="en-US" sz="800" b="1" dirty="0">
                <a:solidFill>
                  <a:srgbClr val="FFFFFF"/>
                </a:solidFill>
              </a:rPr>
              <a:t>Future Module 3</a:t>
            </a:r>
            <a:endParaRPr lang="en-US" sz="800" dirty="0"/>
          </a:p>
        </p:txBody>
      </p:sp>
      <p:sp>
        <p:nvSpPr>
          <p:cNvPr id="24" name="Shape 20"/>
          <p:cNvSpPr/>
          <p:nvPr/>
        </p:nvSpPr>
        <p:spPr>
          <a:xfrm>
            <a:off x="4608576" y="1353312"/>
            <a:ext cx="2057400" cy="340156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5" name="Shape 21"/>
          <p:cNvSpPr/>
          <p:nvPr/>
        </p:nvSpPr>
        <p:spPr>
          <a:xfrm>
            <a:off x="4608576" y="1353312"/>
            <a:ext cx="2057400" cy="658368"/>
          </a:xfrm>
          <a:prstGeom prst="rect">
            <a:avLst/>
          </a:prstGeom>
          <a:solidFill>
            <a:srgbClr val="C9A84C"/>
          </a:solidFill>
          <a:ln/>
        </p:spPr>
      </p:sp>
      <p:sp>
        <p:nvSpPr>
          <p:cNvPr id="26" name="Shape 22"/>
          <p:cNvSpPr/>
          <p:nvPr/>
        </p:nvSpPr>
        <p:spPr>
          <a:xfrm>
            <a:off x="4681728" y="1408176"/>
            <a:ext cx="512064" cy="512064"/>
          </a:xfrm>
          <a:prstGeom prst="ellipse">
            <a:avLst/>
          </a:prstGeom>
          <a:solidFill>
            <a:srgbClr val="9B7000"/>
          </a:solidFill>
          <a:ln w="12700">
            <a:solidFill>
              <a:srgbClr val="9B7000"/>
            </a:solidFill>
            <a:prstDash val="solid"/>
          </a:ln>
        </p:spPr>
      </p:sp>
      <p:pic>
        <p:nvPicPr>
          <p:cNvPr id="27" name="Image 2" descr="preencoded.png">    </p:cNvPr>
          <p:cNvPicPr>
            <a:picLocks noChangeAspect="1"/>
          </p:cNvPicPr>
          <p:nvPr/>
        </p:nvPicPr>
        <p:blipFill>
          <a:blip r:embed="rId3"/>
          <a:stretch>
            <a:fillRect/>
          </a:stretch>
        </p:blipFill>
        <p:spPr>
          <a:xfrm>
            <a:off x="4784141" y="1510589"/>
            <a:ext cx="307238" cy="307238"/>
          </a:xfrm>
          <a:prstGeom prst="rect">
            <a:avLst/>
          </a:prstGeom>
        </p:spPr>
      </p:pic>
      <p:sp>
        <p:nvSpPr>
          <p:cNvPr id="28" name="Text 23"/>
          <p:cNvSpPr/>
          <p:nvPr/>
        </p:nvSpPr>
        <p:spPr>
          <a:xfrm>
            <a:off x="5266944" y="1408176"/>
            <a:ext cx="1335024" cy="512064"/>
          </a:xfrm>
          <a:prstGeom prst="rect">
            <a:avLst/>
          </a:prstGeom>
          <a:noFill/>
          <a:ln/>
        </p:spPr>
        <p:txBody>
          <a:bodyPr wrap="square" lIns="0" tIns="0" rIns="0" bIns="0" rtlCol="0" anchor="ctr"/>
          <a:lstStyle/>
          <a:p>
            <a:pPr indent="0" marL="0">
              <a:buNone/>
            </a:pPr>
            <a:r>
              <a:rPr lang="en-US" sz="950" b="1" dirty="0">
                <a:solidFill>
                  <a:srgbClr val="FFFFFF"/>
                </a:solidFill>
              </a:rPr>
              <a:t>IRRBB</a:t>
            </a:r>
            <a:endParaRPr lang="en-US" sz="950" dirty="0"/>
          </a:p>
        </p:txBody>
      </p:sp>
      <p:sp>
        <p:nvSpPr>
          <p:cNvPr id="29" name="Text 24"/>
          <p:cNvSpPr/>
          <p:nvPr/>
        </p:nvSpPr>
        <p:spPr>
          <a:xfrm>
            <a:off x="4700016" y="2057400"/>
            <a:ext cx="1874520" cy="2450592"/>
          </a:xfrm>
          <a:prstGeom prst="rect">
            <a:avLst/>
          </a:prstGeom>
          <a:noFill/>
          <a:ln/>
        </p:spPr>
        <p:txBody>
          <a:bodyPr wrap="square" lIns="0" tIns="0" rIns="0" bIns="0" rtlCol="0" anchor="t"/>
          <a:lstStyle/>
          <a:p>
            <a:pPr indent="0" marL="0">
              <a:buNone/>
            </a:pPr>
            <a:r>
              <a:rPr lang="en-US" sz="880" dirty="0">
                <a:solidFill>
                  <a:srgbClr val="1A1A2E"/>
                </a:solidFill>
              </a:rPr>
              <a:t>Interest Rate Risk in the Banking Book — changes in interest rates adversely affect the economic value or net interest income of loans and deposits held to maturity.</a:t>
            </a:r>
            <a:endParaRPr lang="en-US" sz="880" dirty="0"/>
          </a:p>
          <a:p>
            <a:pPr indent="0" marL="0">
              <a:buNone/>
            </a:pPr>
            <a:endParaRPr lang="en-US" sz="880" dirty="0"/>
          </a:p>
          <a:p>
            <a:pPr indent="0" marL="0">
              <a:buNone/>
            </a:pPr>
            <a:r>
              <a:rPr lang="en-US" sz="880" dirty="0">
                <a:solidFill>
                  <a:srgbClr val="1A1A2E"/>
                </a:solidFill>
              </a:rPr>
              <a:t>BCBS published dedicated IRRBB standard in 2016. Assessed under Pillar 2 SREP. Highly topical after 2022–23 rate rises.</a:t>
            </a:r>
            <a:endParaRPr lang="en-US" sz="880" dirty="0"/>
          </a:p>
        </p:txBody>
      </p:sp>
      <p:sp>
        <p:nvSpPr>
          <p:cNvPr id="30" name="Shape 25"/>
          <p:cNvSpPr/>
          <p:nvPr/>
        </p:nvSpPr>
        <p:spPr>
          <a:xfrm>
            <a:off x="4608576" y="4526280"/>
            <a:ext cx="2057400" cy="228600"/>
          </a:xfrm>
          <a:prstGeom prst="rect">
            <a:avLst/>
          </a:prstGeom>
          <a:solidFill>
            <a:srgbClr val="C9A84C"/>
          </a:solidFill>
          <a:ln/>
        </p:spPr>
      </p:sp>
      <p:sp>
        <p:nvSpPr>
          <p:cNvPr id="31" name="Text 26"/>
          <p:cNvSpPr/>
          <p:nvPr/>
        </p:nvSpPr>
        <p:spPr>
          <a:xfrm>
            <a:off x="4608576" y="4526280"/>
            <a:ext cx="2057400" cy="228600"/>
          </a:xfrm>
          <a:prstGeom prst="rect">
            <a:avLst/>
          </a:prstGeom>
          <a:noFill/>
          <a:ln/>
        </p:spPr>
        <p:txBody>
          <a:bodyPr wrap="square" lIns="0" tIns="0" rIns="0" bIns="0" rtlCol="0" anchor="ctr"/>
          <a:lstStyle/>
          <a:p>
            <a:pPr algn="ctr" indent="0" marL="0">
              <a:buNone/>
            </a:pPr>
            <a:r>
              <a:rPr lang="en-US" sz="800" b="1" dirty="0">
                <a:solidFill>
                  <a:srgbClr val="FFFFFF"/>
                </a:solidFill>
              </a:rPr>
              <a:t>Future Module 4</a:t>
            </a:r>
            <a:endParaRPr lang="en-US" sz="800" dirty="0"/>
          </a:p>
        </p:txBody>
      </p:sp>
      <p:sp>
        <p:nvSpPr>
          <p:cNvPr id="32" name="Shape 27"/>
          <p:cNvSpPr/>
          <p:nvPr/>
        </p:nvSpPr>
        <p:spPr>
          <a:xfrm>
            <a:off x="6784848" y="1353312"/>
            <a:ext cx="2057400" cy="340156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3" name="Shape 28"/>
          <p:cNvSpPr/>
          <p:nvPr/>
        </p:nvSpPr>
        <p:spPr>
          <a:xfrm>
            <a:off x="6784848" y="1353312"/>
            <a:ext cx="2057400" cy="658368"/>
          </a:xfrm>
          <a:prstGeom prst="rect">
            <a:avLst/>
          </a:prstGeom>
          <a:solidFill>
            <a:srgbClr val="D4770A"/>
          </a:solidFill>
          <a:ln/>
        </p:spPr>
      </p:sp>
      <p:sp>
        <p:nvSpPr>
          <p:cNvPr id="34" name="Shape 29"/>
          <p:cNvSpPr/>
          <p:nvPr/>
        </p:nvSpPr>
        <p:spPr>
          <a:xfrm>
            <a:off x="6858000" y="1408176"/>
            <a:ext cx="512064" cy="512064"/>
          </a:xfrm>
          <a:prstGeom prst="ellipse">
            <a:avLst/>
          </a:prstGeom>
          <a:solidFill>
            <a:srgbClr val="1B3A6B"/>
          </a:solidFill>
          <a:ln w="12700">
            <a:solidFill>
              <a:srgbClr val="1B3A6B"/>
            </a:solidFill>
            <a:prstDash val="solid"/>
          </a:ln>
        </p:spPr>
      </p:sp>
      <p:pic>
        <p:nvPicPr>
          <p:cNvPr id="35" name="Image 3" descr="preencoded.png">    </p:cNvPr>
          <p:cNvPicPr>
            <a:picLocks noChangeAspect="1"/>
          </p:cNvPicPr>
          <p:nvPr/>
        </p:nvPicPr>
        <p:blipFill>
          <a:blip r:embed="rId4"/>
          <a:stretch>
            <a:fillRect/>
          </a:stretch>
        </p:blipFill>
        <p:spPr>
          <a:xfrm>
            <a:off x="6960413" y="1510589"/>
            <a:ext cx="307238" cy="307238"/>
          </a:xfrm>
          <a:prstGeom prst="rect">
            <a:avLst/>
          </a:prstGeom>
        </p:spPr>
      </p:pic>
      <p:sp>
        <p:nvSpPr>
          <p:cNvPr id="36" name="Text 30"/>
          <p:cNvSpPr/>
          <p:nvPr/>
        </p:nvSpPr>
        <p:spPr>
          <a:xfrm>
            <a:off x="7443216" y="1408176"/>
            <a:ext cx="1335024" cy="512064"/>
          </a:xfrm>
          <a:prstGeom prst="rect">
            <a:avLst/>
          </a:prstGeom>
          <a:noFill/>
          <a:ln/>
        </p:spPr>
        <p:txBody>
          <a:bodyPr wrap="square" lIns="0" tIns="0" rIns="0" bIns="0" rtlCol="0" anchor="ctr"/>
          <a:lstStyle/>
          <a:p>
            <a:pPr indent="0" marL="0">
              <a:buNone/>
            </a:pPr>
            <a:r>
              <a:rPr lang="en-US" sz="950" b="1" dirty="0">
                <a:solidFill>
                  <a:srgbClr val="FFFFFF"/>
                </a:solidFill>
              </a:rPr>
              <a:t>Reputational Risk</a:t>
            </a:r>
            <a:endParaRPr lang="en-US" sz="950" dirty="0"/>
          </a:p>
        </p:txBody>
      </p:sp>
      <p:sp>
        <p:nvSpPr>
          <p:cNvPr id="37" name="Text 31"/>
          <p:cNvSpPr/>
          <p:nvPr/>
        </p:nvSpPr>
        <p:spPr>
          <a:xfrm>
            <a:off x="6876288" y="2057400"/>
            <a:ext cx="1874520" cy="2450592"/>
          </a:xfrm>
          <a:prstGeom prst="rect">
            <a:avLst/>
          </a:prstGeom>
          <a:noFill/>
          <a:ln/>
        </p:spPr>
        <p:txBody>
          <a:bodyPr wrap="square" lIns="0" tIns="0" rIns="0" bIns="0" rtlCol="0" anchor="t"/>
          <a:lstStyle/>
          <a:p>
            <a:pPr indent="0" marL="0">
              <a:buNone/>
            </a:pPr>
            <a:r>
              <a:rPr lang="en-US" sz="880" dirty="0">
                <a:solidFill>
                  <a:srgbClr val="1A1A2E"/>
                </a:solidFill>
              </a:rPr>
              <a:t>The risk of loss from damage to the bank's reputation — mis-selling, market manipulation, sanctions violations, and ESG failures.</a:t>
            </a:r>
            <a:endParaRPr lang="en-US" sz="880" dirty="0"/>
          </a:p>
          <a:p>
            <a:pPr indent="0" marL="0">
              <a:buNone/>
            </a:pPr>
            <a:endParaRPr lang="en-US" sz="880" dirty="0"/>
          </a:p>
          <a:p>
            <a:pPr indent="0" marL="0">
              <a:buNone/>
            </a:pPr>
            <a:r>
              <a:rPr lang="en-US" sz="880" dirty="0">
                <a:solidFill>
                  <a:srgbClr val="1A1A2E"/>
                </a:solidFill>
              </a:rPr>
              <a:t>Not formally quantified in Pillar 1. Managed through governance, compliance, and culture frameworks. Can dwarf Pillar 1 capital in real-world impact.</a:t>
            </a:r>
            <a:endParaRPr lang="en-US" sz="880" dirty="0"/>
          </a:p>
        </p:txBody>
      </p:sp>
      <p:sp>
        <p:nvSpPr>
          <p:cNvPr id="38" name="Shape 32"/>
          <p:cNvSpPr/>
          <p:nvPr/>
        </p:nvSpPr>
        <p:spPr>
          <a:xfrm>
            <a:off x="6784848" y="4526280"/>
            <a:ext cx="2057400" cy="228600"/>
          </a:xfrm>
          <a:prstGeom prst="rect">
            <a:avLst/>
          </a:prstGeom>
          <a:solidFill>
            <a:srgbClr val="D4770A"/>
          </a:solidFill>
          <a:ln/>
        </p:spPr>
      </p:sp>
      <p:sp>
        <p:nvSpPr>
          <p:cNvPr id="39" name="Text 33"/>
          <p:cNvSpPr/>
          <p:nvPr/>
        </p:nvSpPr>
        <p:spPr>
          <a:xfrm>
            <a:off x="6784848" y="4526280"/>
            <a:ext cx="2057400" cy="228600"/>
          </a:xfrm>
          <a:prstGeom prst="rect">
            <a:avLst/>
          </a:prstGeom>
          <a:noFill/>
          <a:ln/>
        </p:spPr>
        <p:txBody>
          <a:bodyPr wrap="square" lIns="0" tIns="0" rIns="0" bIns="0" rtlCol="0" anchor="ctr"/>
          <a:lstStyle/>
          <a:p>
            <a:pPr algn="ctr" indent="0" marL="0">
              <a:buNone/>
            </a:pPr>
            <a:r>
              <a:rPr lang="en-US" sz="800" b="1" dirty="0">
                <a:solidFill>
                  <a:srgbClr val="FFFFFF"/>
                </a:solidFill>
              </a:rPr>
              <a:t>Future Module 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Context</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Why Does Bank Capital Regulation Exist?</a:t>
            </a:r>
            <a:endParaRPr lang="en-US" sz="2200" dirty="0"/>
          </a:p>
        </p:txBody>
      </p:sp>
      <p:sp>
        <p:nvSpPr>
          <p:cNvPr id="6" name="Shape 4"/>
          <p:cNvSpPr/>
          <p:nvPr/>
        </p:nvSpPr>
        <p:spPr>
          <a:xfrm>
            <a:off x="256032" y="777240"/>
            <a:ext cx="2743200" cy="32004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7" name="Shape 5"/>
          <p:cNvSpPr/>
          <p:nvPr/>
        </p:nvSpPr>
        <p:spPr>
          <a:xfrm>
            <a:off x="256032" y="777240"/>
            <a:ext cx="2743200" cy="658368"/>
          </a:xfrm>
          <a:prstGeom prst="rect">
            <a:avLst/>
          </a:prstGeom>
          <a:solidFill>
            <a:srgbClr val="0E6B8A"/>
          </a:solidFill>
          <a:ln/>
        </p:spPr>
      </p:sp>
      <p:sp>
        <p:nvSpPr>
          <p:cNvPr id="8" name="Shape 6"/>
          <p:cNvSpPr/>
          <p:nvPr/>
        </p:nvSpPr>
        <p:spPr>
          <a:xfrm>
            <a:off x="347472" y="841248"/>
            <a:ext cx="512064" cy="512064"/>
          </a:xfrm>
          <a:prstGeom prst="ellipse">
            <a:avLst/>
          </a:prstGeom>
          <a:solidFill>
            <a:srgbClr val="0E6B8A"/>
          </a:solidFill>
          <a:ln w="12700">
            <a:solidFill>
              <a:srgbClr val="0E6B8A"/>
            </a:solidFill>
            <a:prstDash val="solid"/>
          </a:ln>
        </p:spPr>
      </p:sp>
      <p:pic>
        <p:nvPicPr>
          <p:cNvPr id="9" name="Image 0" descr="preencoded.png">    </p:cNvPr>
          <p:cNvPicPr>
            <a:picLocks noChangeAspect="1"/>
          </p:cNvPicPr>
          <p:nvPr/>
        </p:nvPicPr>
        <p:blipFill>
          <a:blip r:embed="rId1"/>
          <a:stretch>
            <a:fillRect/>
          </a:stretch>
        </p:blipFill>
        <p:spPr>
          <a:xfrm>
            <a:off x="449885" y="943661"/>
            <a:ext cx="307238" cy="307238"/>
          </a:xfrm>
          <a:prstGeom prst="rect">
            <a:avLst/>
          </a:prstGeom>
        </p:spPr>
      </p:pic>
      <p:sp>
        <p:nvSpPr>
          <p:cNvPr id="10" name="Text 7"/>
          <p:cNvSpPr/>
          <p:nvPr/>
        </p:nvSpPr>
        <p:spPr>
          <a:xfrm>
            <a:off x="932688" y="822960"/>
            <a:ext cx="1975104" cy="530352"/>
          </a:xfrm>
          <a:prstGeom prst="rect">
            <a:avLst/>
          </a:prstGeom>
          <a:noFill/>
          <a:ln/>
        </p:spPr>
        <p:txBody>
          <a:bodyPr wrap="square" lIns="0" tIns="0" rIns="0" bIns="0" rtlCol="0" anchor="ctr"/>
          <a:lstStyle/>
          <a:p>
            <a:pPr indent="0" marL="0">
              <a:buNone/>
            </a:pPr>
            <a:r>
              <a:rPr lang="en-US" sz="1100" b="1" dirty="0">
                <a:solidFill>
                  <a:srgbClr val="FFFFFF"/>
                </a:solidFill>
              </a:rPr>
              <a:t>The Core Problem</a:t>
            </a:r>
            <a:endParaRPr lang="en-US" sz="1100" dirty="0"/>
          </a:p>
        </p:txBody>
      </p:sp>
      <p:sp>
        <p:nvSpPr>
          <p:cNvPr id="11" name="Text 8"/>
          <p:cNvSpPr/>
          <p:nvPr/>
        </p:nvSpPr>
        <p:spPr>
          <a:xfrm>
            <a:off x="384048" y="1481328"/>
            <a:ext cx="2487168" cy="2395728"/>
          </a:xfrm>
          <a:prstGeom prst="rect">
            <a:avLst/>
          </a:prstGeom>
          <a:noFill/>
          <a:ln/>
        </p:spPr>
        <p:txBody>
          <a:bodyPr wrap="square" lIns="0" tIns="0" rIns="0" bIns="0" rtlCol="0" anchor="t"/>
          <a:lstStyle/>
          <a:p>
            <a:pPr indent="0" marL="0">
              <a:buNone/>
            </a:pPr>
            <a:r>
              <a:rPr lang="en-US" sz="1000" dirty="0">
                <a:solidFill>
                  <a:srgbClr val="1A1A2E"/>
                </a:solidFill>
              </a:rPr>
              <a:t>Banks operate with extreme leverage — accepting deposits (liabilities) to fund loans and investments (assets). A small fall in asset values can wipe out equity entirely, making deposits unrecoverable and triggering bank runs.</a:t>
            </a:r>
            <a:endParaRPr lang="en-US" sz="1000" dirty="0"/>
          </a:p>
        </p:txBody>
      </p:sp>
      <p:sp>
        <p:nvSpPr>
          <p:cNvPr id="12" name="Shape 9"/>
          <p:cNvSpPr/>
          <p:nvPr/>
        </p:nvSpPr>
        <p:spPr>
          <a:xfrm>
            <a:off x="3136392" y="777240"/>
            <a:ext cx="2743200" cy="32004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0"/>
          <p:cNvSpPr/>
          <p:nvPr/>
        </p:nvSpPr>
        <p:spPr>
          <a:xfrm>
            <a:off x="3136392" y="777240"/>
            <a:ext cx="2743200" cy="658368"/>
          </a:xfrm>
          <a:prstGeom prst="rect">
            <a:avLst/>
          </a:prstGeom>
          <a:solidFill>
            <a:srgbClr val="1B3A6B"/>
          </a:solidFill>
          <a:ln/>
        </p:spPr>
      </p:sp>
      <p:sp>
        <p:nvSpPr>
          <p:cNvPr id="14" name="Shape 11"/>
          <p:cNvSpPr/>
          <p:nvPr/>
        </p:nvSpPr>
        <p:spPr>
          <a:xfrm>
            <a:off x="3227832" y="841248"/>
            <a:ext cx="512064" cy="512064"/>
          </a:xfrm>
          <a:prstGeom prst="ellipse">
            <a:avLst/>
          </a:prstGeom>
          <a:solidFill>
            <a:srgbClr val="1B3A6B"/>
          </a:solidFill>
          <a:ln w="12700">
            <a:solidFill>
              <a:srgbClr val="1B3A6B"/>
            </a:solidFill>
            <a:prstDash val="solid"/>
          </a:ln>
        </p:spPr>
      </p:sp>
      <p:pic>
        <p:nvPicPr>
          <p:cNvPr id="15" name="Image 1" descr="preencoded.png">    </p:cNvPr>
          <p:cNvPicPr>
            <a:picLocks noChangeAspect="1"/>
          </p:cNvPicPr>
          <p:nvPr/>
        </p:nvPicPr>
        <p:blipFill>
          <a:blip r:embed="rId2"/>
          <a:stretch>
            <a:fillRect/>
          </a:stretch>
        </p:blipFill>
        <p:spPr>
          <a:xfrm>
            <a:off x="3330245" y="943661"/>
            <a:ext cx="307238" cy="307238"/>
          </a:xfrm>
          <a:prstGeom prst="rect">
            <a:avLst/>
          </a:prstGeom>
        </p:spPr>
      </p:pic>
      <p:sp>
        <p:nvSpPr>
          <p:cNvPr id="16" name="Text 12"/>
          <p:cNvSpPr/>
          <p:nvPr/>
        </p:nvSpPr>
        <p:spPr>
          <a:xfrm>
            <a:off x="3813048" y="822960"/>
            <a:ext cx="1975104" cy="530352"/>
          </a:xfrm>
          <a:prstGeom prst="rect">
            <a:avLst/>
          </a:prstGeom>
          <a:noFill/>
          <a:ln/>
        </p:spPr>
        <p:txBody>
          <a:bodyPr wrap="square" lIns="0" tIns="0" rIns="0" bIns="0" rtlCol="0" anchor="ctr"/>
          <a:lstStyle/>
          <a:p>
            <a:pPr indent="0" marL="0">
              <a:buNone/>
            </a:pPr>
            <a:r>
              <a:rPr lang="en-US" sz="1100" b="1" dirty="0">
                <a:solidFill>
                  <a:srgbClr val="FFFFFF"/>
                </a:solidFill>
              </a:rPr>
              <a:t>The Systemic Risk</a:t>
            </a:r>
            <a:endParaRPr lang="en-US" sz="1100" dirty="0"/>
          </a:p>
        </p:txBody>
      </p:sp>
      <p:sp>
        <p:nvSpPr>
          <p:cNvPr id="17" name="Text 13"/>
          <p:cNvSpPr/>
          <p:nvPr/>
        </p:nvSpPr>
        <p:spPr>
          <a:xfrm>
            <a:off x="3264408" y="1481328"/>
            <a:ext cx="2487168" cy="2395728"/>
          </a:xfrm>
          <a:prstGeom prst="rect">
            <a:avLst/>
          </a:prstGeom>
          <a:noFill/>
          <a:ln/>
        </p:spPr>
        <p:txBody>
          <a:bodyPr wrap="square" lIns="0" tIns="0" rIns="0" bIns="0" rtlCol="0" anchor="t"/>
          <a:lstStyle/>
          <a:p>
            <a:pPr indent="0" marL="0">
              <a:buNone/>
            </a:pPr>
            <a:r>
              <a:rPr lang="en-US" sz="1000" dirty="0">
                <a:solidFill>
                  <a:srgbClr val="1A1A2E"/>
                </a:solidFill>
              </a:rPr>
              <a:t>Banking crises are contagious. When one bank fails, counterparties lose money, credit dries up, and economic activity contracts. The 1930s Depression, Latin American crisis (1980s), and 2007–09 GFC are all examples.</a:t>
            </a:r>
            <a:endParaRPr lang="en-US" sz="1000" dirty="0"/>
          </a:p>
        </p:txBody>
      </p:sp>
      <p:sp>
        <p:nvSpPr>
          <p:cNvPr id="18" name="Shape 14"/>
          <p:cNvSpPr/>
          <p:nvPr/>
        </p:nvSpPr>
        <p:spPr>
          <a:xfrm>
            <a:off x="6016752" y="777240"/>
            <a:ext cx="2743200" cy="32004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5"/>
          <p:cNvSpPr/>
          <p:nvPr/>
        </p:nvSpPr>
        <p:spPr>
          <a:xfrm>
            <a:off x="6016752" y="777240"/>
            <a:ext cx="2743200" cy="658368"/>
          </a:xfrm>
          <a:prstGeom prst="rect">
            <a:avLst/>
          </a:prstGeom>
          <a:solidFill>
            <a:srgbClr val="C9A84C"/>
          </a:solidFill>
          <a:ln/>
        </p:spPr>
      </p:sp>
      <p:sp>
        <p:nvSpPr>
          <p:cNvPr id="20" name="Shape 16"/>
          <p:cNvSpPr/>
          <p:nvPr/>
        </p:nvSpPr>
        <p:spPr>
          <a:xfrm>
            <a:off x="6108192" y="841248"/>
            <a:ext cx="512064" cy="512064"/>
          </a:xfrm>
          <a:prstGeom prst="ellipse">
            <a:avLst/>
          </a:prstGeom>
          <a:solidFill>
            <a:srgbClr val="9B7000"/>
          </a:solidFill>
          <a:ln w="12700">
            <a:solidFill>
              <a:srgbClr val="9B7000"/>
            </a:solidFill>
            <a:prstDash val="solid"/>
          </a:ln>
        </p:spPr>
      </p:sp>
      <p:pic>
        <p:nvPicPr>
          <p:cNvPr id="21" name="Image 2" descr="preencoded.png">    </p:cNvPr>
          <p:cNvPicPr>
            <a:picLocks noChangeAspect="1"/>
          </p:cNvPicPr>
          <p:nvPr/>
        </p:nvPicPr>
        <p:blipFill>
          <a:blip r:embed="rId3"/>
          <a:stretch>
            <a:fillRect/>
          </a:stretch>
        </p:blipFill>
        <p:spPr>
          <a:xfrm>
            <a:off x="6210605" y="943661"/>
            <a:ext cx="307238" cy="307238"/>
          </a:xfrm>
          <a:prstGeom prst="rect">
            <a:avLst/>
          </a:prstGeom>
        </p:spPr>
      </p:pic>
      <p:sp>
        <p:nvSpPr>
          <p:cNvPr id="22" name="Text 17"/>
          <p:cNvSpPr/>
          <p:nvPr/>
        </p:nvSpPr>
        <p:spPr>
          <a:xfrm>
            <a:off x="6693408" y="822960"/>
            <a:ext cx="1975104" cy="530352"/>
          </a:xfrm>
          <a:prstGeom prst="rect">
            <a:avLst/>
          </a:prstGeom>
          <a:noFill/>
          <a:ln/>
        </p:spPr>
        <p:txBody>
          <a:bodyPr wrap="square" lIns="0" tIns="0" rIns="0" bIns="0" rtlCol="0" anchor="ctr"/>
          <a:lstStyle/>
          <a:p>
            <a:pPr indent="0" marL="0">
              <a:buNone/>
            </a:pPr>
            <a:r>
              <a:rPr lang="en-US" sz="1100" b="1" dirty="0">
                <a:solidFill>
                  <a:srgbClr val="FFFFFF"/>
                </a:solidFill>
              </a:rPr>
              <a:t>The Regulatory Response</a:t>
            </a:r>
            <a:endParaRPr lang="en-US" sz="1100" dirty="0"/>
          </a:p>
        </p:txBody>
      </p:sp>
      <p:sp>
        <p:nvSpPr>
          <p:cNvPr id="23" name="Text 18"/>
          <p:cNvSpPr/>
          <p:nvPr/>
        </p:nvSpPr>
        <p:spPr>
          <a:xfrm>
            <a:off x="6144768" y="1481328"/>
            <a:ext cx="2487168" cy="2395728"/>
          </a:xfrm>
          <a:prstGeom prst="rect">
            <a:avLst/>
          </a:prstGeom>
          <a:noFill/>
          <a:ln/>
        </p:spPr>
        <p:txBody>
          <a:bodyPr wrap="square" lIns="0" tIns="0" rIns="0" bIns="0" rtlCol="0" anchor="t"/>
          <a:lstStyle/>
          <a:p>
            <a:pPr indent="0" marL="0">
              <a:buNone/>
            </a:pPr>
            <a:r>
              <a:rPr lang="en-US" sz="1000" dirty="0">
                <a:solidFill>
                  <a:srgbClr val="1A1A2E"/>
                </a:solidFill>
              </a:rPr>
              <a:t>Capital requirements force banks to fund a minimum proportion of their assets with equity — money that absorbs losses before depositors are affected. Basel provides the international standard for how much capital banks must hold.</a:t>
            </a:r>
            <a:endParaRPr lang="en-US" sz="1000" dirty="0"/>
          </a:p>
        </p:txBody>
      </p:sp>
      <p:sp>
        <p:nvSpPr>
          <p:cNvPr id="24" name="Shape 19"/>
          <p:cNvSpPr/>
          <p:nvPr/>
        </p:nvSpPr>
        <p:spPr>
          <a:xfrm>
            <a:off x="256032" y="4069080"/>
            <a:ext cx="8631936" cy="530352"/>
          </a:xfrm>
          <a:prstGeom prst="rect">
            <a:avLst/>
          </a:prstGeom>
          <a:solidFill>
            <a:srgbClr val="1B3A6B"/>
          </a:solidFill>
          <a:ln/>
        </p:spPr>
      </p:sp>
      <p:sp>
        <p:nvSpPr>
          <p:cNvPr id="25" name="Text 20"/>
          <p:cNvSpPr/>
          <p:nvPr/>
        </p:nvSpPr>
        <p:spPr>
          <a:xfrm>
            <a:off x="365760" y="4069080"/>
            <a:ext cx="8412480" cy="219456"/>
          </a:xfrm>
          <a:prstGeom prst="rect">
            <a:avLst/>
          </a:prstGeom>
          <a:noFill/>
          <a:ln/>
        </p:spPr>
        <p:txBody>
          <a:bodyPr wrap="square" lIns="0" tIns="0" rIns="0" bIns="0" rtlCol="0" anchor="ctr"/>
          <a:lstStyle/>
          <a:p>
            <a:pPr algn="ctr" indent="0" marL="0">
              <a:buNone/>
            </a:pPr>
            <a:r>
              <a:rPr lang="en-US" sz="850" b="1" dirty="0">
                <a:solidFill>
                  <a:srgbClr val="C9A84C"/>
                </a:solidFill>
              </a:rPr>
              <a:t>BANK BALANCE SHEET — WHY SMALL LOSSES ARE CATASTROPHIC</a:t>
            </a:r>
            <a:endParaRPr lang="en-US" sz="850" dirty="0"/>
          </a:p>
        </p:txBody>
      </p:sp>
      <p:sp>
        <p:nvSpPr>
          <p:cNvPr id="26" name="Text 21"/>
          <p:cNvSpPr/>
          <p:nvPr/>
        </p:nvSpPr>
        <p:spPr>
          <a:xfrm>
            <a:off x="365760" y="4279392"/>
            <a:ext cx="8412480" cy="274320"/>
          </a:xfrm>
          <a:prstGeom prst="rect">
            <a:avLst/>
          </a:prstGeom>
          <a:noFill/>
          <a:ln/>
        </p:spPr>
        <p:txBody>
          <a:bodyPr wrap="square" lIns="0" tIns="0" rIns="0" bIns="0" rtlCol="0" anchor="ctr"/>
          <a:lstStyle/>
          <a:p>
            <a:pPr indent="0" marL="0">
              <a:buNone/>
            </a:pPr>
            <a:r>
              <a:rPr lang="en-US" sz="950" dirty="0">
                <a:solidFill>
                  <a:srgbClr val="D6EAF8"/>
                </a:solidFill>
              </a:rPr>
              <a:t>Assets: $100  |  </a:t>
            </a:r>
            <a:pPr indent="0" marL="0">
              <a:buNone/>
            </a:pPr>
            <a:r>
              <a:rPr lang="en-US" sz="950" dirty="0">
                <a:solidFill>
                  <a:srgbClr val="D6EAF8"/>
                </a:solidFill>
              </a:rPr>
              <a:t>Deposits (liabilities): $96  |  </a:t>
            </a:r>
            <a:pPr indent="0" marL="0">
              <a:buNone/>
            </a:pPr>
            <a:r>
              <a:rPr lang="en-US" sz="950" b="1" dirty="0">
                <a:solidFill>
                  <a:srgbClr val="C9A84C"/>
                </a:solidFill>
              </a:rPr>
              <a:t>Equity: $4  </a:t>
            </a:r>
            <a:pPr indent="0" marL="0">
              <a:buNone/>
            </a:pPr>
            <a:r>
              <a:rPr lang="en-US" sz="950" i="1" dirty="0">
                <a:solidFill>
                  <a:srgbClr val="8899AA"/>
                </a:solidFill>
              </a:rPr>
              <a:t>→  Only a 4% fall in asset value wipes out ALL equity. That is why capital ratios matter.</a:t>
            </a:r>
            <a:endParaRPr lang="en-US" sz="950" dirty="0"/>
          </a:p>
        </p:txBody>
      </p:sp>
      <p:sp>
        <p:nvSpPr>
          <p:cNvPr id="27" name="Shape 22"/>
          <p:cNvSpPr/>
          <p:nvPr/>
        </p:nvSpPr>
        <p:spPr>
          <a:xfrm>
            <a:off x="365760" y="4645152"/>
            <a:ext cx="8412480" cy="594360"/>
          </a:xfrm>
          <a:prstGeom prst="rect">
            <a:avLst/>
          </a:prstGeom>
          <a:solidFill>
            <a:srgbClr val="D6EAF8"/>
          </a:solidFill>
          <a:ln/>
        </p:spPr>
      </p:sp>
      <p:sp>
        <p:nvSpPr>
          <p:cNvPr id="28" name="Shape 23"/>
          <p:cNvSpPr/>
          <p:nvPr/>
        </p:nvSpPr>
        <p:spPr>
          <a:xfrm>
            <a:off x="365760" y="4645152"/>
            <a:ext cx="1005840" cy="594360"/>
          </a:xfrm>
          <a:prstGeom prst="rect">
            <a:avLst/>
          </a:prstGeom>
          <a:solidFill>
            <a:srgbClr val="0E6B8A"/>
          </a:solidFill>
          <a:ln/>
        </p:spPr>
      </p:sp>
      <p:sp>
        <p:nvSpPr>
          <p:cNvPr id="29" name="Text 24"/>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BCBS MISSION</a:t>
            </a:r>
            <a:endParaRPr lang="en-US" sz="900" dirty="0"/>
          </a:p>
        </p:txBody>
      </p:sp>
      <p:sp>
        <p:nvSpPr>
          <p:cNvPr id="30" name="Text 25"/>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Enhance financial stability worldwide through improved banking supervision and global cooperation. Founded 1974 — triggered by Bankhaus Herstatt's failure, which left counterparties with unrecoverable FX settlements.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Risk Management Concepts</a:t>
            </a:r>
            <a:endParaRPr lang="en-US" sz="900" dirty="0"/>
          </a:p>
        </p:txBody>
      </p:sp>
      <p:sp>
        <p:nvSpPr>
          <p:cNvPr id="4" name="Shape 2"/>
          <p:cNvSpPr/>
          <p:nvPr/>
        </p:nvSpPr>
        <p:spPr>
          <a:xfrm>
            <a:off x="0" y="0"/>
            <a:ext cx="9144000" cy="658368"/>
          </a:xfrm>
          <a:prstGeom prst="rect">
            <a:avLst/>
          </a:prstGeom>
          <a:solidFill>
            <a:srgbClr val="0E6B8A"/>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Risk Management: Limits, Exposure &amp; Capital</a:t>
            </a:r>
            <a:endParaRPr lang="en-US" sz="2200" dirty="0"/>
          </a:p>
        </p:txBody>
      </p:sp>
      <p:sp>
        <p:nvSpPr>
          <p:cNvPr id="6" name="Shape 4"/>
          <p:cNvSpPr/>
          <p:nvPr/>
        </p:nvSpPr>
        <p:spPr>
          <a:xfrm>
            <a:off x="256032" y="777240"/>
            <a:ext cx="2743200" cy="39776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7" name="Shape 5"/>
          <p:cNvSpPr/>
          <p:nvPr/>
        </p:nvSpPr>
        <p:spPr>
          <a:xfrm>
            <a:off x="256032" y="777240"/>
            <a:ext cx="2743200" cy="621792"/>
          </a:xfrm>
          <a:prstGeom prst="rect">
            <a:avLst/>
          </a:prstGeom>
          <a:solidFill>
            <a:srgbClr val="1B3A6B"/>
          </a:solidFill>
          <a:ln/>
        </p:spPr>
      </p:sp>
      <p:sp>
        <p:nvSpPr>
          <p:cNvPr id="8" name="Shape 6"/>
          <p:cNvSpPr/>
          <p:nvPr/>
        </p:nvSpPr>
        <p:spPr>
          <a:xfrm>
            <a:off x="347472" y="841248"/>
            <a:ext cx="475488" cy="475488"/>
          </a:xfrm>
          <a:prstGeom prst="ellipse">
            <a:avLst/>
          </a:prstGeom>
          <a:solidFill>
            <a:srgbClr val="1B3A6B"/>
          </a:solidFill>
          <a:ln w="12700">
            <a:solidFill>
              <a:srgbClr val="1B3A6B"/>
            </a:solidFill>
            <a:prstDash val="solid"/>
          </a:ln>
        </p:spPr>
      </p:sp>
      <p:pic>
        <p:nvPicPr>
          <p:cNvPr id="9" name="Image 0" descr="preencoded.png">    </p:cNvPr>
          <p:cNvPicPr>
            <a:picLocks noChangeAspect="1"/>
          </p:cNvPicPr>
          <p:nvPr/>
        </p:nvPicPr>
        <p:blipFill>
          <a:blip r:embed="rId1"/>
          <a:stretch>
            <a:fillRect/>
          </a:stretch>
        </p:blipFill>
        <p:spPr>
          <a:xfrm>
            <a:off x="442570" y="936346"/>
            <a:ext cx="285293" cy="285293"/>
          </a:xfrm>
          <a:prstGeom prst="rect">
            <a:avLst/>
          </a:prstGeom>
        </p:spPr>
      </p:pic>
      <p:sp>
        <p:nvSpPr>
          <p:cNvPr id="10" name="Text 7"/>
          <p:cNvSpPr/>
          <p:nvPr/>
        </p:nvSpPr>
        <p:spPr>
          <a:xfrm>
            <a:off x="896112" y="822960"/>
            <a:ext cx="2011680" cy="530352"/>
          </a:xfrm>
          <a:prstGeom prst="rect">
            <a:avLst/>
          </a:prstGeom>
          <a:noFill/>
          <a:ln/>
        </p:spPr>
        <p:txBody>
          <a:bodyPr wrap="square" lIns="0" tIns="0" rIns="0" bIns="0" rtlCol="0" anchor="ctr"/>
          <a:lstStyle/>
          <a:p>
            <a:pPr indent="0" marL="0">
              <a:buNone/>
            </a:pPr>
            <a:r>
              <a:rPr lang="en-US" sz="1200" b="1" dirty="0">
                <a:solidFill>
                  <a:srgbClr val="FFFFFF"/>
                </a:solidFill>
              </a:rPr>
              <a:t>Risk Limit</a:t>
            </a:r>
            <a:endParaRPr lang="en-US" sz="1200" dirty="0"/>
          </a:p>
        </p:txBody>
      </p:sp>
      <p:sp>
        <p:nvSpPr>
          <p:cNvPr id="11" name="Text 8"/>
          <p:cNvSpPr/>
          <p:nvPr/>
        </p:nvSpPr>
        <p:spPr>
          <a:xfrm>
            <a:off x="365760" y="1463040"/>
            <a:ext cx="2523744" cy="3218688"/>
          </a:xfrm>
          <a:prstGeom prst="rect">
            <a:avLst/>
          </a:prstGeom>
          <a:noFill/>
          <a:ln/>
        </p:spPr>
        <p:txBody>
          <a:bodyPr wrap="square" lIns="0" tIns="0" rIns="0" bIns="0" rtlCol="0" anchor="t"/>
          <a:lstStyle/>
          <a:p>
            <a:pPr indent="0" marL="0">
              <a:buNone/>
            </a:pPr>
            <a:r>
              <a:rPr lang="en-US" sz="920" dirty="0">
                <a:solidFill>
                  <a:srgbClr val="1A1A2E"/>
                </a:solidFill>
              </a:rPr>
              <a:t>A risk limit is the maximum level of risk a bank is willing to accept — set in advance by senior management or the Board.</a:t>
            </a:r>
            <a:endParaRPr lang="en-US" sz="920" dirty="0"/>
          </a:p>
          <a:p>
            <a:pPr indent="0" marL="0">
              <a:buNone/>
            </a:pPr>
            <a:endParaRPr lang="en-US" sz="920" dirty="0"/>
          </a:p>
          <a:p>
            <a:pPr indent="0" marL="0">
              <a:buNone/>
            </a:pPr>
            <a:r>
              <a:rPr lang="en-US" sz="920" dirty="0">
                <a:solidFill>
                  <a:srgbClr val="1A1A2E"/>
                </a:solidFill>
              </a:rPr>
              <a:t>Limits are typically expressed as:</a:t>
            </a:r>
            <a:endParaRPr lang="en-US" sz="920" dirty="0"/>
          </a:p>
          <a:p>
            <a:pPr indent="0" marL="0">
              <a:buNone/>
            </a:pPr>
            <a:r>
              <a:rPr lang="en-US" sz="920" dirty="0">
                <a:solidFill>
                  <a:srgbClr val="1A1A2E"/>
                </a:solidFill>
              </a:rPr>
              <a:t>• Max notional exposure (e.g. max $50m to any single counterparty)</a:t>
            </a:r>
            <a:endParaRPr lang="en-US" sz="920" dirty="0"/>
          </a:p>
          <a:p>
            <a:pPr indent="0" marL="0">
              <a:buNone/>
            </a:pPr>
            <a:r>
              <a:rPr lang="en-US" sz="920" dirty="0">
                <a:solidFill>
                  <a:srgbClr val="1A1A2E"/>
                </a:solidFill>
              </a:rPr>
              <a:t>• Maximum VaR or Expected Shortfall</a:t>
            </a:r>
            <a:endParaRPr lang="en-US" sz="920" dirty="0"/>
          </a:p>
          <a:p>
            <a:pPr indent="0" marL="0">
              <a:buNone/>
            </a:pPr>
            <a:r>
              <a:rPr lang="en-US" sz="920" dirty="0">
                <a:solidFill>
                  <a:srgbClr val="1A1A2E"/>
                </a:solidFill>
              </a:rPr>
              <a:t>• Maximum PV01 (sensitivity to 1bp rate move)</a:t>
            </a:r>
            <a:endParaRPr lang="en-US" sz="920" dirty="0"/>
          </a:p>
          <a:p>
            <a:pPr indent="0" marL="0">
              <a:buNone/>
            </a:pPr>
            <a:r>
              <a:rPr lang="en-US" sz="920" dirty="0">
                <a:solidFill>
                  <a:srgbClr val="1A1A2E"/>
                </a:solidFill>
              </a:rPr>
              <a:t>• Maximum DV01 across a rate curve</a:t>
            </a:r>
            <a:endParaRPr lang="en-US" sz="920" dirty="0"/>
          </a:p>
          <a:p>
            <a:pPr indent="0" marL="0">
              <a:buNone/>
            </a:pPr>
            <a:endParaRPr lang="en-US" sz="920" dirty="0"/>
          </a:p>
          <a:p>
            <a:pPr indent="0" marL="0">
              <a:buNone/>
            </a:pPr>
            <a:r>
              <a:rPr lang="en-US" sz="920" dirty="0">
                <a:solidFill>
                  <a:srgbClr val="1A1A2E"/>
                </a:solidFill>
              </a:rPr>
              <a:t>If a trader breaches a limit, they must reduce the position regardless of whether they think the trade is profitable. Limits protect the bank, not the trade.</a:t>
            </a:r>
            <a:endParaRPr lang="en-US" sz="920" dirty="0"/>
          </a:p>
        </p:txBody>
      </p:sp>
      <p:sp>
        <p:nvSpPr>
          <p:cNvPr id="12" name="Shape 9"/>
          <p:cNvSpPr/>
          <p:nvPr/>
        </p:nvSpPr>
        <p:spPr>
          <a:xfrm>
            <a:off x="3136392" y="777240"/>
            <a:ext cx="2743200" cy="39776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0"/>
          <p:cNvSpPr/>
          <p:nvPr/>
        </p:nvSpPr>
        <p:spPr>
          <a:xfrm>
            <a:off x="3136392" y="777240"/>
            <a:ext cx="2743200" cy="621792"/>
          </a:xfrm>
          <a:prstGeom prst="rect">
            <a:avLst/>
          </a:prstGeom>
          <a:solidFill>
            <a:srgbClr val="0E6B8A"/>
          </a:solidFill>
          <a:ln/>
        </p:spPr>
      </p:sp>
      <p:sp>
        <p:nvSpPr>
          <p:cNvPr id="14" name="Shape 11"/>
          <p:cNvSpPr/>
          <p:nvPr/>
        </p:nvSpPr>
        <p:spPr>
          <a:xfrm>
            <a:off x="3227832" y="841248"/>
            <a:ext cx="475488" cy="475488"/>
          </a:xfrm>
          <a:prstGeom prst="ellipse">
            <a:avLst/>
          </a:prstGeom>
          <a:solidFill>
            <a:srgbClr val="0E6B8A"/>
          </a:solidFill>
          <a:ln w="12700">
            <a:solidFill>
              <a:srgbClr val="0E6B8A"/>
            </a:solidFill>
            <a:prstDash val="solid"/>
          </a:ln>
        </p:spPr>
      </p:sp>
      <p:pic>
        <p:nvPicPr>
          <p:cNvPr id="15" name="Image 1" descr="preencoded.png">    </p:cNvPr>
          <p:cNvPicPr>
            <a:picLocks noChangeAspect="1"/>
          </p:cNvPicPr>
          <p:nvPr/>
        </p:nvPicPr>
        <p:blipFill>
          <a:blip r:embed="rId2"/>
          <a:stretch>
            <a:fillRect/>
          </a:stretch>
        </p:blipFill>
        <p:spPr>
          <a:xfrm>
            <a:off x="3322930" y="936346"/>
            <a:ext cx="285293" cy="285293"/>
          </a:xfrm>
          <a:prstGeom prst="rect">
            <a:avLst/>
          </a:prstGeom>
        </p:spPr>
      </p:pic>
      <p:sp>
        <p:nvSpPr>
          <p:cNvPr id="16" name="Text 12"/>
          <p:cNvSpPr/>
          <p:nvPr/>
        </p:nvSpPr>
        <p:spPr>
          <a:xfrm>
            <a:off x="3776472" y="822960"/>
            <a:ext cx="2011680" cy="530352"/>
          </a:xfrm>
          <a:prstGeom prst="rect">
            <a:avLst/>
          </a:prstGeom>
          <a:noFill/>
          <a:ln/>
        </p:spPr>
        <p:txBody>
          <a:bodyPr wrap="square" lIns="0" tIns="0" rIns="0" bIns="0" rtlCol="0" anchor="ctr"/>
          <a:lstStyle/>
          <a:p>
            <a:pPr indent="0" marL="0">
              <a:buNone/>
            </a:pPr>
            <a:r>
              <a:rPr lang="en-US" sz="1200" b="1" dirty="0">
                <a:solidFill>
                  <a:srgbClr val="FFFFFF"/>
                </a:solidFill>
              </a:rPr>
              <a:t>Actual Exposure</a:t>
            </a:r>
            <a:endParaRPr lang="en-US" sz="1200" dirty="0"/>
          </a:p>
        </p:txBody>
      </p:sp>
      <p:sp>
        <p:nvSpPr>
          <p:cNvPr id="17" name="Text 13"/>
          <p:cNvSpPr/>
          <p:nvPr/>
        </p:nvSpPr>
        <p:spPr>
          <a:xfrm>
            <a:off x="3246120" y="1463040"/>
            <a:ext cx="2523744" cy="3218688"/>
          </a:xfrm>
          <a:prstGeom prst="rect">
            <a:avLst/>
          </a:prstGeom>
          <a:noFill/>
          <a:ln/>
        </p:spPr>
        <p:txBody>
          <a:bodyPr wrap="square" lIns="0" tIns="0" rIns="0" bIns="0" rtlCol="0" anchor="t"/>
          <a:lstStyle/>
          <a:p>
            <a:pPr indent="0" marL="0">
              <a:buNone/>
            </a:pPr>
            <a:r>
              <a:rPr lang="en-US" sz="920" dirty="0">
                <a:solidFill>
                  <a:srgbClr val="1A1A2E"/>
                </a:solidFill>
              </a:rPr>
              <a:t>Exposure is the actual amount at risk at any given moment — what the bank would lose if a counterparty defaulted or markets moved adversely today.</a:t>
            </a:r>
            <a:endParaRPr lang="en-US" sz="920" dirty="0"/>
          </a:p>
          <a:p>
            <a:pPr indent="0" marL="0">
              <a:buNone/>
            </a:pPr>
            <a:endParaRPr lang="en-US" sz="920" dirty="0"/>
          </a:p>
          <a:p>
            <a:pPr indent="0" marL="0">
              <a:buNone/>
            </a:pPr>
            <a:r>
              <a:rPr lang="en-US" sz="920" dirty="0">
                <a:solidFill>
                  <a:srgbClr val="1A1A2E"/>
                </a:solidFill>
              </a:rPr>
              <a:t>For a loan: exposure = outstanding balance.</a:t>
            </a:r>
            <a:endParaRPr lang="en-US" sz="920" dirty="0"/>
          </a:p>
          <a:p>
            <a:pPr indent="0" marL="0">
              <a:buNone/>
            </a:pPr>
            <a:r>
              <a:rPr lang="en-US" sz="920" dirty="0">
                <a:solidFill>
                  <a:srgbClr val="1A1A2E"/>
                </a:solidFill>
              </a:rPr>
              <a:t>For a derivative: exposure = positive mark-to-market (what the counterparty owes you).</a:t>
            </a:r>
            <a:endParaRPr lang="en-US" sz="920" dirty="0"/>
          </a:p>
          <a:p>
            <a:pPr indent="0" marL="0">
              <a:buNone/>
            </a:pPr>
            <a:r>
              <a:rPr lang="en-US" sz="920" dirty="0">
                <a:solidFill>
                  <a:srgbClr val="1A1A2E"/>
                </a:solidFill>
              </a:rPr>
              <a:t>For market risk: exposure = sensitivity to market moves.</a:t>
            </a:r>
            <a:endParaRPr lang="en-US" sz="920" dirty="0"/>
          </a:p>
          <a:p>
            <a:pPr indent="0" marL="0">
              <a:buNone/>
            </a:pPr>
            <a:endParaRPr lang="en-US" sz="920" dirty="0"/>
          </a:p>
          <a:p>
            <a:pPr indent="0" marL="0">
              <a:buNone/>
            </a:pPr>
            <a:r>
              <a:rPr lang="en-US" sz="920" dirty="0">
                <a:solidFill>
                  <a:srgbClr val="1A1A2E"/>
                </a:solidFill>
              </a:rPr>
              <a:t>Exposure changes constantly. A trade can start with low exposure and grow significantly — this is why Potential Future Exposure (PFE) matters.</a:t>
            </a:r>
            <a:endParaRPr lang="en-US" sz="920" dirty="0"/>
          </a:p>
        </p:txBody>
      </p:sp>
      <p:sp>
        <p:nvSpPr>
          <p:cNvPr id="18" name="Shape 14"/>
          <p:cNvSpPr/>
          <p:nvPr/>
        </p:nvSpPr>
        <p:spPr>
          <a:xfrm>
            <a:off x="6016752" y="777240"/>
            <a:ext cx="2743200" cy="39776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5"/>
          <p:cNvSpPr/>
          <p:nvPr/>
        </p:nvSpPr>
        <p:spPr>
          <a:xfrm>
            <a:off x="6016752" y="777240"/>
            <a:ext cx="2743200" cy="621792"/>
          </a:xfrm>
          <a:prstGeom prst="rect">
            <a:avLst/>
          </a:prstGeom>
          <a:solidFill>
            <a:srgbClr val="C9A84C"/>
          </a:solidFill>
          <a:ln/>
        </p:spPr>
      </p:sp>
      <p:sp>
        <p:nvSpPr>
          <p:cNvPr id="20" name="Shape 16"/>
          <p:cNvSpPr/>
          <p:nvPr/>
        </p:nvSpPr>
        <p:spPr>
          <a:xfrm>
            <a:off x="6108192" y="841248"/>
            <a:ext cx="475488" cy="475488"/>
          </a:xfrm>
          <a:prstGeom prst="ellipse">
            <a:avLst/>
          </a:prstGeom>
          <a:solidFill>
            <a:srgbClr val="9B7000"/>
          </a:solidFill>
          <a:ln w="12700">
            <a:solidFill>
              <a:srgbClr val="9B7000"/>
            </a:solidFill>
            <a:prstDash val="solid"/>
          </a:ln>
        </p:spPr>
      </p:sp>
      <p:pic>
        <p:nvPicPr>
          <p:cNvPr id="21" name="Image 2" descr="preencoded.png">    </p:cNvPr>
          <p:cNvPicPr>
            <a:picLocks noChangeAspect="1"/>
          </p:cNvPicPr>
          <p:nvPr/>
        </p:nvPicPr>
        <p:blipFill>
          <a:blip r:embed="rId3"/>
          <a:stretch>
            <a:fillRect/>
          </a:stretch>
        </p:blipFill>
        <p:spPr>
          <a:xfrm>
            <a:off x="6203290" y="936346"/>
            <a:ext cx="285293" cy="285293"/>
          </a:xfrm>
          <a:prstGeom prst="rect">
            <a:avLst/>
          </a:prstGeom>
        </p:spPr>
      </p:pic>
      <p:sp>
        <p:nvSpPr>
          <p:cNvPr id="22" name="Text 17"/>
          <p:cNvSpPr/>
          <p:nvPr/>
        </p:nvSpPr>
        <p:spPr>
          <a:xfrm>
            <a:off x="6656832" y="822960"/>
            <a:ext cx="2011680" cy="530352"/>
          </a:xfrm>
          <a:prstGeom prst="rect">
            <a:avLst/>
          </a:prstGeom>
          <a:noFill/>
          <a:ln/>
        </p:spPr>
        <p:txBody>
          <a:bodyPr wrap="square" lIns="0" tIns="0" rIns="0" bIns="0" rtlCol="0" anchor="ctr"/>
          <a:lstStyle/>
          <a:p>
            <a:pPr indent="0" marL="0">
              <a:buNone/>
            </a:pPr>
            <a:r>
              <a:rPr lang="en-US" sz="1200" b="1" dirty="0">
                <a:solidFill>
                  <a:srgbClr val="FFFFFF"/>
                </a:solidFill>
              </a:rPr>
              <a:t>Capital as the Buffer</a:t>
            </a:r>
            <a:endParaRPr lang="en-US" sz="1200" dirty="0"/>
          </a:p>
        </p:txBody>
      </p:sp>
      <p:sp>
        <p:nvSpPr>
          <p:cNvPr id="23" name="Text 18"/>
          <p:cNvSpPr/>
          <p:nvPr/>
        </p:nvSpPr>
        <p:spPr>
          <a:xfrm>
            <a:off x="6126480" y="1463040"/>
            <a:ext cx="2523744" cy="3218688"/>
          </a:xfrm>
          <a:prstGeom prst="rect">
            <a:avLst/>
          </a:prstGeom>
          <a:noFill/>
          <a:ln/>
        </p:spPr>
        <p:txBody>
          <a:bodyPr wrap="square" lIns="0" tIns="0" rIns="0" bIns="0" rtlCol="0" anchor="t"/>
          <a:lstStyle/>
          <a:p>
            <a:pPr indent="0" marL="0">
              <a:buNone/>
            </a:pPr>
            <a:r>
              <a:rPr lang="en-US" sz="920" dirty="0">
                <a:solidFill>
                  <a:srgbClr val="1A1A2E"/>
                </a:solidFill>
              </a:rPr>
              <a:t>Capital protects the bank — and ultimately depositors — when losses occur.</a:t>
            </a:r>
            <a:endParaRPr lang="en-US" sz="920" dirty="0"/>
          </a:p>
          <a:p>
            <a:pPr indent="0" marL="0">
              <a:buNone/>
            </a:pPr>
            <a:endParaRPr lang="en-US" sz="920" dirty="0"/>
          </a:p>
          <a:p>
            <a:pPr indent="0" marL="0">
              <a:buNone/>
            </a:pPr>
            <a:r>
              <a:rPr lang="en-US" sz="920" dirty="0">
                <a:solidFill>
                  <a:srgbClr val="1A1A2E"/>
                </a:solidFill>
              </a:rPr>
              <a:t>Three layers:</a:t>
            </a:r>
            <a:endParaRPr lang="en-US" sz="920" dirty="0"/>
          </a:p>
          <a:p>
            <a:pPr indent="0" marL="0">
              <a:buNone/>
            </a:pPr>
            <a:r>
              <a:rPr lang="en-US" sz="920" dirty="0">
                <a:solidFill>
                  <a:srgbClr val="1A1A2E"/>
                </a:solidFill>
              </a:rPr>
              <a:t>• Provisions: cover expected losses (priced into lending rates)</a:t>
            </a:r>
            <a:endParaRPr lang="en-US" sz="920" dirty="0"/>
          </a:p>
          <a:p>
            <a:pPr indent="0" marL="0">
              <a:buNone/>
            </a:pPr>
            <a:r>
              <a:rPr lang="en-US" sz="920" dirty="0">
                <a:solidFill>
                  <a:srgbClr val="1A1A2E"/>
                </a:solidFill>
              </a:rPr>
              <a:t>• Capital: covers unexpected losses up to a severe stress level</a:t>
            </a:r>
            <a:endParaRPr lang="en-US" sz="920" dirty="0"/>
          </a:p>
          <a:p>
            <a:pPr indent="0" marL="0">
              <a:buNone/>
            </a:pPr>
            <a:r>
              <a:rPr lang="en-US" sz="920" dirty="0">
                <a:solidFill>
                  <a:srgbClr val="1A1A2E"/>
                </a:solidFill>
              </a:rPr>
              <a:t>• Resolution: for catastrophic losses beyond capital (bail-in, government)</a:t>
            </a:r>
            <a:endParaRPr lang="en-US" sz="920" dirty="0"/>
          </a:p>
          <a:p>
            <a:pPr indent="0" marL="0">
              <a:buNone/>
            </a:pPr>
            <a:endParaRPr lang="en-US" sz="920" dirty="0"/>
          </a:p>
          <a:p>
            <a:pPr indent="0" marL="0">
              <a:buNone/>
            </a:pPr>
            <a:r>
              <a:rPr lang="en-US" sz="920" dirty="0">
                <a:solidFill>
                  <a:srgbClr val="1A1A2E"/>
                </a:solidFill>
              </a:rPr>
              <a:t>Basel sets the minimum capital banks must hold against each type of risk. The more risk a bank takes, the more capital it must hold.</a:t>
            </a:r>
            <a:endParaRPr lang="en-US" sz="920" dirty="0"/>
          </a:p>
        </p:txBody>
      </p:sp>
      <p:sp>
        <p:nvSpPr>
          <p:cNvPr id="24" name="Shape 19"/>
          <p:cNvSpPr/>
          <p:nvPr/>
        </p:nvSpPr>
        <p:spPr>
          <a:xfrm>
            <a:off x="365760" y="4645152"/>
            <a:ext cx="8412480" cy="594360"/>
          </a:xfrm>
          <a:prstGeom prst="rect">
            <a:avLst/>
          </a:prstGeom>
          <a:solidFill>
            <a:srgbClr val="D6EAF8"/>
          </a:solidFill>
          <a:ln/>
        </p:spPr>
      </p:sp>
      <p:sp>
        <p:nvSpPr>
          <p:cNvPr id="25" name="Shape 20"/>
          <p:cNvSpPr/>
          <p:nvPr/>
        </p:nvSpPr>
        <p:spPr>
          <a:xfrm>
            <a:off x="365760" y="4645152"/>
            <a:ext cx="1005840" cy="594360"/>
          </a:xfrm>
          <a:prstGeom prst="rect">
            <a:avLst/>
          </a:prstGeom>
          <a:solidFill>
            <a:srgbClr val="0E6B8A"/>
          </a:solidFill>
          <a:ln/>
        </p:spPr>
      </p:sp>
      <p:sp>
        <p:nvSpPr>
          <p:cNvPr id="26" name="Text 21"/>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KEY POINT</a:t>
            </a:r>
            <a:endParaRPr lang="en-US" sz="900" dirty="0"/>
          </a:p>
        </p:txBody>
      </p:sp>
      <p:sp>
        <p:nvSpPr>
          <p:cNvPr id="27" name="Text 22"/>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Risk limits are set BEFORE trading begins. Capital is held to absorb losses AFTER they occur. Both are essential — limits prevent excessive risk-taking; capital ensures the bank survives when things go wrong despite the limits.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AAA vs BBB — Why Ratings Matter</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Why Counterparty Credit Quality Matters: AAA vs BBB</a:t>
            </a:r>
            <a:endParaRPr lang="en-US" sz="2200" dirty="0"/>
          </a:p>
        </p:txBody>
      </p:sp>
      <p:sp>
        <p:nvSpPr>
          <p:cNvPr id="6" name="Shape 4"/>
          <p:cNvSpPr/>
          <p:nvPr/>
        </p:nvSpPr>
        <p:spPr>
          <a:xfrm>
            <a:off x="274320" y="749808"/>
            <a:ext cx="8595360" cy="475488"/>
          </a:xfrm>
          <a:prstGeom prst="rect">
            <a:avLst/>
          </a:prstGeom>
          <a:solidFill>
            <a:srgbClr val="D6EAF8"/>
          </a:solidFill>
          <a:ln/>
        </p:spPr>
      </p:sp>
      <p:sp>
        <p:nvSpPr>
          <p:cNvPr id="7" name="Text 5"/>
          <p:cNvSpPr/>
          <p:nvPr/>
        </p:nvSpPr>
        <p:spPr>
          <a:xfrm>
            <a:off x="411480" y="749808"/>
            <a:ext cx="8321040" cy="475488"/>
          </a:xfrm>
          <a:prstGeom prst="rect">
            <a:avLst/>
          </a:prstGeom>
          <a:noFill/>
          <a:ln/>
        </p:spPr>
        <p:txBody>
          <a:bodyPr wrap="square" lIns="0" tIns="0" rIns="0" bIns="0" rtlCol="0" anchor="ctr"/>
          <a:lstStyle/>
          <a:p>
            <a:pPr indent="0" marL="0">
              <a:buNone/>
            </a:pPr>
            <a:r>
              <a:rPr lang="en-US" sz="1000" dirty="0">
                <a:solidFill>
                  <a:srgbClr val="1B3A6B"/>
                </a:solidFill>
              </a:rPr>
              <a:t>Same trade, same bank, same notional — but a very different counterparty. This shows why Basel II's move to risk-sensitive capital was a genuine improvement over Basel I's flat buckets.</a:t>
            </a:r>
            <a:endParaRPr lang="en-US" sz="1000" dirty="0"/>
          </a:p>
        </p:txBody>
      </p:sp>
      <p:sp>
        <p:nvSpPr>
          <p:cNvPr id="8" name="Text 6"/>
          <p:cNvSpPr/>
          <p:nvPr/>
        </p:nvSpPr>
        <p:spPr>
          <a:xfrm>
            <a:off x="274320" y="1335024"/>
            <a:ext cx="8595360" cy="292608"/>
          </a:xfrm>
          <a:prstGeom prst="rect">
            <a:avLst/>
          </a:prstGeom>
          <a:noFill/>
          <a:ln/>
        </p:spPr>
        <p:txBody>
          <a:bodyPr wrap="square" lIns="0" tIns="0" rIns="0" bIns="0" rtlCol="0" anchor="ctr"/>
          <a:lstStyle/>
          <a:p>
            <a:pPr indent="0" marL="0">
              <a:buNone/>
            </a:pPr>
            <a:r>
              <a:rPr lang="en-US" sz="1100" b="1" dirty="0">
                <a:solidFill>
                  <a:srgbClr val="1B3A6B"/>
                </a:solidFill>
              </a:rPr>
              <a:t>Trade: 5-year Loan of $10,000,000 to a corporate borrower</a:t>
            </a:r>
            <a:endParaRPr lang="en-US" sz="1100" dirty="0"/>
          </a:p>
        </p:txBody>
      </p:sp>
      <p:sp>
        <p:nvSpPr>
          <p:cNvPr id="9" name="Shape 7"/>
          <p:cNvSpPr/>
          <p:nvPr/>
        </p:nvSpPr>
        <p:spPr>
          <a:xfrm>
            <a:off x="274320" y="1664208"/>
            <a:ext cx="2560320" cy="384048"/>
          </a:xfrm>
          <a:prstGeom prst="rect">
            <a:avLst/>
          </a:prstGeom>
          <a:solidFill>
            <a:srgbClr val="8899AA"/>
          </a:solidFill>
          <a:ln/>
        </p:spPr>
      </p:sp>
      <p:sp>
        <p:nvSpPr>
          <p:cNvPr id="10" name="Text 8"/>
          <p:cNvSpPr/>
          <p:nvPr/>
        </p:nvSpPr>
        <p:spPr>
          <a:xfrm>
            <a:off x="274320" y="1664208"/>
            <a:ext cx="2560320" cy="384048"/>
          </a:xfrm>
          <a:prstGeom prst="rect">
            <a:avLst/>
          </a:prstGeom>
          <a:noFill/>
          <a:ln/>
        </p:spPr>
        <p:txBody>
          <a:bodyPr wrap="square" lIns="0" tIns="0" rIns="0" bIns="0" rtlCol="0" anchor="ctr"/>
          <a:lstStyle/>
          <a:p>
            <a:pPr algn="ctr" indent="0" marL="0">
              <a:buNone/>
            </a:pPr>
            <a:r>
              <a:rPr lang="en-US" sz="1000" b="1" dirty="0">
                <a:solidFill>
                  <a:srgbClr val="FFFFFF"/>
                </a:solidFill>
              </a:rPr>
              <a:t>Parameter</a:t>
            </a:r>
            <a:endParaRPr lang="en-US" sz="1000" dirty="0"/>
          </a:p>
        </p:txBody>
      </p:sp>
      <p:sp>
        <p:nvSpPr>
          <p:cNvPr id="11" name="Shape 9"/>
          <p:cNvSpPr/>
          <p:nvPr/>
        </p:nvSpPr>
        <p:spPr>
          <a:xfrm>
            <a:off x="2834640" y="1664208"/>
            <a:ext cx="2834640" cy="384048"/>
          </a:xfrm>
          <a:prstGeom prst="rect">
            <a:avLst/>
          </a:prstGeom>
          <a:solidFill>
            <a:srgbClr val="1A6B3A"/>
          </a:solidFill>
          <a:ln/>
        </p:spPr>
      </p:sp>
      <p:sp>
        <p:nvSpPr>
          <p:cNvPr id="12" name="Text 10"/>
          <p:cNvSpPr/>
          <p:nvPr/>
        </p:nvSpPr>
        <p:spPr>
          <a:xfrm>
            <a:off x="2834640" y="1664208"/>
            <a:ext cx="2834640" cy="384048"/>
          </a:xfrm>
          <a:prstGeom prst="rect">
            <a:avLst/>
          </a:prstGeom>
          <a:noFill/>
          <a:ln/>
        </p:spPr>
        <p:txBody>
          <a:bodyPr wrap="square" lIns="0" tIns="0" rIns="0" bIns="0" rtlCol="0" anchor="ctr"/>
          <a:lstStyle/>
          <a:p>
            <a:pPr algn="ctr" indent="0" marL="0">
              <a:buNone/>
            </a:pPr>
            <a:r>
              <a:rPr lang="en-US" sz="1000" b="1" dirty="0">
                <a:solidFill>
                  <a:srgbClr val="FFFFFF"/>
                </a:solidFill>
              </a:rPr>
              <a:t>AAA-Rated Corporate</a:t>
            </a:r>
            <a:endParaRPr lang="en-US" sz="1000" dirty="0"/>
          </a:p>
        </p:txBody>
      </p:sp>
      <p:sp>
        <p:nvSpPr>
          <p:cNvPr id="13" name="Shape 11"/>
          <p:cNvSpPr/>
          <p:nvPr/>
        </p:nvSpPr>
        <p:spPr>
          <a:xfrm>
            <a:off x="5669280" y="1664208"/>
            <a:ext cx="2834640" cy="384048"/>
          </a:xfrm>
          <a:prstGeom prst="rect">
            <a:avLst/>
          </a:prstGeom>
          <a:solidFill>
            <a:srgbClr val="D4770A"/>
          </a:solidFill>
          <a:ln/>
        </p:spPr>
      </p:sp>
      <p:sp>
        <p:nvSpPr>
          <p:cNvPr id="14" name="Text 12"/>
          <p:cNvSpPr/>
          <p:nvPr/>
        </p:nvSpPr>
        <p:spPr>
          <a:xfrm>
            <a:off x="5669280" y="1664208"/>
            <a:ext cx="2834640" cy="384048"/>
          </a:xfrm>
          <a:prstGeom prst="rect">
            <a:avLst/>
          </a:prstGeom>
          <a:noFill/>
          <a:ln/>
        </p:spPr>
        <p:txBody>
          <a:bodyPr wrap="square" lIns="0" tIns="0" rIns="0" bIns="0" rtlCol="0" anchor="ctr"/>
          <a:lstStyle/>
          <a:p>
            <a:pPr algn="ctr" indent="0" marL="0">
              <a:buNone/>
            </a:pPr>
            <a:r>
              <a:rPr lang="en-US" sz="1000" b="1" dirty="0">
                <a:solidFill>
                  <a:srgbClr val="FFFFFF"/>
                </a:solidFill>
              </a:rPr>
              <a:t>BBB-Rated Corporate</a:t>
            </a:r>
            <a:endParaRPr lang="en-US" sz="1000" dirty="0"/>
          </a:p>
        </p:txBody>
      </p:sp>
      <p:sp>
        <p:nvSpPr>
          <p:cNvPr id="15" name="Shape 13"/>
          <p:cNvSpPr/>
          <p:nvPr/>
        </p:nvSpPr>
        <p:spPr>
          <a:xfrm>
            <a:off x="274320" y="2048256"/>
            <a:ext cx="2560320" cy="301752"/>
          </a:xfrm>
          <a:prstGeom prst="rect">
            <a:avLst/>
          </a:prstGeom>
          <a:solidFill>
            <a:srgbClr val="FFFFFF"/>
          </a:solidFill>
          <a:ln/>
        </p:spPr>
      </p:sp>
      <p:sp>
        <p:nvSpPr>
          <p:cNvPr id="16" name="Text 14"/>
          <p:cNvSpPr/>
          <p:nvPr/>
        </p:nvSpPr>
        <p:spPr>
          <a:xfrm>
            <a:off x="347472" y="2048256"/>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Credit Rating</a:t>
            </a:r>
            <a:endParaRPr lang="en-US" sz="900" dirty="0"/>
          </a:p>
        </p:txBody>
      </p:sp>
      <p:sp>
        <p:nvSpPr>
          <p:cNvPr id="17" name="Shape 15"/>
          <p:cNvSpPr/>
          <p:nvPr/>
        </p:nvSpPr>
        <p:spPr>
          <a:xfrm>
            <a:off x="2834640" y="2048256"/>
            <a:ext cx="2834640" cy="301752"/>
          </a:xfrm>
          <a:prstGeom prst="rect">
            <a:avLst/>
          </a:prstGeom>
          <a:solidFill>
            <a:srgbClr val="FFFFFF"/>
          </a:solidFill>
          <a:ln/>
        </p:spPr>
      </p:sp>
      <p:sp>
        <p:nvSpPr>
          <p:cNvPr id="18" name="Text 16"/>
          <p:cNvSpPr/>
          <p:nvPr/>
        </p:nvSpPr>
        <p:spPr>
          <a:xfrm>
            <a:off x="2907792" y="2048256"/>
            <a:ext cx="2743200" cy="301752"/>
          </a:xfrm>
          <a:prstGeom prst="rect">
            <a:avLst/>
          </a:prstGeom>
          <a:noFill/>
          <a:ln/>
        </p:spPr>
        <p:txBody>
          <a:bodyPr wrap="square" lIns="0" tIns="0" rIns="0" bIns="0" rtlCol="0" anchor="ctr"/>
          <a:lstStyle/>
          <a:p>
            <a:pPr indent="0" marL="0">
              <a:buNone/>
            </a:pPr>
            <a:r>
              <a:rPr lang="en-US" sz="900" dirty="0">
                <a:solidFill>
                  <a:srgbClr val="1A6B3A"/>
                </a:solidFill>
              </a:rPr>
              <a:t>AAA (Highest quality)</a:t>
            </a:r>
            <a:endParaRPr lang="en-US" sz="900" dirty="0"/>
          </a:p>
        </p:txBody>
      </p:sp>
      <p:sp>
        <p:nvSpPr>
          <p:cNvPr id="19" name="Shape 17"/>
          <p:cNvSpPr/>
          <p:nvPr/>
        </p:nvSpPr>
        <p:spPr>
          <a:xfrm>
            <a:off x="5669280" y="2048256"/>
            <a:ext cx="2834640" cy="301752"/>
          </a:xfrm>
          <a:prstGeom prst="rect">
            <a:avLst/>
          </a:prstGeom>
          <a:solidFill>
            <a:srgbClr val="FFFFFF"/>
          </a:solidFill>
          <a:ln/>
        </p:spPr>
      </p:sp>
      <p:sp>
        <p:nvSpPr>
          <p:cNvPr id="20" name="Text 18"/>
          <p:cNvSpPr/>
          <p:nvPr/>
        </p:nvSpPr>
        <p:spPr>
          <a:xfrm>
            <a:off x="5742432" y="2048256"/>
            <a:ext cx="2743200" cy="301752"/>
          </a:xfrm>
          <a:prstGeom prst="rect">
            <a:avLst/>
          </a:prstGeom>
          <a:noFill/>
          <a:ln/>
        </p:spPr>
        <p:txBody>
          <a:bodyPr wrap="square" lIns="0" tIns="0" rIns="0" bIns="0" rtlCol="0" anchor="ctr"/>
          <a:lstStyle/>
          <a:p>
            <a:pPr indent="0" marL="0">
              <a:buNone/>
            </a:pPr>
            <a:r>
              <a:rPr lang="en-US" sz="900" dirty="0">
                <a:solidFill>
                  <a:srgbClr val="1A1A2E"/>
                </a:solidFill>
              </a:rPr>
              <a:t>BBB (Investment grade, lowest tier)</a:t>
            </a:r>
            <a:endParaRPr lang="en-US" sz="900" dirty="0"/>
          </a:p>
        </p:txBody>
      </p:sp>
      <p:sp>
        <p:nvSpPr>
          <p:cNvPr id="21" name="Shape 19"/>
          <p:cNvSpPr/>
          <p:nvPr/>
        </p:nvSpPr>
        <p:spPr>
          <a:xfrm>
            <a:off x="274320" y="2350008"/>
            <a:ext cx="2560320" cy="301752"/>
          </a:xfrm>
          <a:prstGeom prst="rect">
            <a:avLst/>
          </a:prstGeom>
          <a:solidFill>
            <a:srgbClr val="F4F6F8"/>
          </a:solidFill>
          <a:ln/>
        </p:spPr>
      </p:sp>
      <p:sp>
        <p:nvSpPr>
          <p:cNvPr id="22" name="Text 20"/>
          <p:cNvSpPr/>
          <p:nvPr/>
        </p:nvSpPr>
        <p:spPr>
          <a:xfrm>
            <a:off x="347472" y="2350008"/>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Probability of Default (PD)</a:t>
            </a:r>
            <a:endParaRPr lang="en-US" sz="900" dirty="0"/>
          </a:p>
        </p:txBody>
      </p:sp>
      <p:sp>
        <p:nvSpPr>
          <p:cNvPr id="23" name="Shape 21"/>
          <p:cNvSpPr/>
          <p:nvPr/>
        </p:nvSpPr>
        <p:spPr>
          <a:xfrm>
            <a:off x="2834640" y="2350008"/>
            <a:ext cx="2834640" cy="301752"/>
          </a:xfrm>
          <a:prstGeom prst="rect">
            <a:avLst/>
          </a:prstGeom>
          <a:solidFill>
            <a:srgbClr val="F4F6F8"/>
          </a:solidFill>
          <a:ln/>
        </p:spPr>
      </p:sp>
      <p:sp>
        <p:nvSpPr>
          <p:cNvPr id="24" name="Text 22"/>
          <p:cNvSpPr/>
          <p:nvPr/>
        </p:nvSpPr>
        <p:spPr>
          <a:xfrm>
            <a:off x="2907792" y="2350008"/>
            <a:ext cx="2743200" cy="301752"/>
          </a:xfrm>
          <a:prstGeom prst="rect">
            <a:avLst/>
          </a:prstGeom>
          <a:noFill/>
          <a:ln/>
        </p:spPr>
        <p:txBody>
          <a:bodyPr wrap="square" lIns="0" tIns="0" rIns="0" bIns="0" rtlCol="0" anchor="ctr"/>
          <a:lstStyle/>
          <a:p>
            <a:pPr indent="0" marL="0">
              <a:buNone/>
            </a:pPr>
            <a:r>
              <a:rPr lang="en-US" sz="900" dirty="0">
                <a:solidFill>
                  <a:srgbClr val="1A6B3A"/>
                </a:solidFill>
              </a:rPr>
              <a:t>~0.01% per year</a:t>
            </a:r>
            <a:endParaRPr lang="en-US" sz="900" dirty="0"/>
          </a:p>
        </p:txBody>
      </p:sp>
      <p:sp>
        <p:nvSpPr>
          <p:cNvPr id="25" name="Shape 23"/>
          <p:cNvSpPr/>
          <p:nvPr/>
        </p:nvSpPr>
        <p:spPr>
          <a:xfrm>
            <a:off x="5669280" y="2350008"/>
            <a:ext cx="2834640" cy="301752"/>
          </a:xfrm>
          <a:prstGeom prst="rect">
            <a:avLst/>
          </a:prstGeom>
          <a:solidFill>
            <a:srgbClr val="F4F6F8"/>
          </a:solidFill>
          <a:ln/>
        </p:spPr>
      </p:sp>
      <p:sp>
        <p:nvSpPr>
          <p:cNvPr id="26" name="Text 24"/>
          <p:cNvSpPr/>
          <p:nvPr/>
        </p:nvSpPr>
        <p:spPr>
          <a:xfrm>
            <a:off x="5742432" y="2350008"/>
            <a:ext cx="2743200" cy="301752"/>
          </a:xfrm>
          <a:prstGeom prst="rect">
            <a:avLst/>
          </a:prstGeom>
          <a:noFill/>
          <a:ln/>
        </p:spPr>
        <p:txBody>
          <a:bodyPr wrap="square" lIns="0" tIns="0" rIns="0" bIns="0" rtlCol="0" anchor="ctr"/>
          <a:lstStyle/>
          <a:p>
            <a:pPr indent="0" marL="0">
              <a:buNone/>
            </a:pPr>
            <a:r>
              <a:rPr lang="en-US" sz="900" dirty="0">
                <a:solidFill>
                  <a:srgbClr val="1A1A2E"/>
                </a:solidFill>
              </a:rPr>
              <a:t>~0.20% per year (20× higher)</a:t>
            </a:r>
            <a:endParaRPr lang="en-US" sz="900" dirty="0"/>
          </a:p>
        </p:txBody>
      </p:sp>
      <p:sp>
        <p:nvSpPr>
          <p:cNvPr id="27" name="Shape 25"/>
          <p:cNvSpPr/>
          <p:nvPr/>
        </p:nvSpPr>
        <p:spPr>
          <a:xfrm>
            <a:off x="274320" y="2651760"/>
            <a:ext cx="2560320" cy="301752"/>
          </a:xfrm>
          <a:prstGeom prst="rect">
            <a:avLst/>
          </a:prstGeom>
          <a:solidFill>
            <a:srgbClr val="FFFFFF"/>
          </a:solidFill>
          <a:ln/>
        </p:spPr>
      </p:sp>
      <p:sp>
        <p:nvSpPr>
          <p:cNvPr id="28" name="Text 26"/>
          <p:cNvSpPr/>
          <p:nvPr/>
        </p:nvSpPr>
        <p:spPr>
          <a:xfrm>
            <a:off x="347472" y="2651760"/>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Loss Given Default (LGD)</a:t>
            </a:r>
            <a:endParaRPr lang="en-US" sz="900" dirty="0"/>
          </a:p>
        </p:txBody>
      </p:sp>
      <p:sp>
        <p:nvSpPr>
          <p:cNvPr id="29" name="Shape 27"/>
          <p:cNvSpPr/>
          <p:nvPr/>
        </p:nvSpPr>
        <p:spPr>
          <a:xfrm>
            <a:off x="2834640" y="2651760"/>
            <a:ext cx="2834640" cy="301752"/>
          </a:xfrm>
          <a:prstGeom prst="rect">
            <a:avLst/>
          </a:prstGeom>
          <a:solidFill>
            <a:srgbClr val="FFFFFF"/>
          </a:solidFill>
          <a:ln/>
        </p:spPr>
      </p:sp>
      <p:sp>
        <p:nvSpPr>
          <p:cNvPr id="30" name="Text 28"/>
          <p:cNvSpPr/>
          <p:nvPr/>
        </p:nvSpPr>
        <p:spPr>
          <a:xfrm>
            <a:off x="2907792" y="2651760"/>
            <a:ext cx="2743200" cy="301752"/>
          </a:xfrm>
          <a:prstGeom prst="rect">
            <a:avLst/>
          </a:prstGeom>
          <a:noFill/>
          <a:ln/>
        </p:spPr>
        <p:txBody>
          <a:bodyPr wrap="square" lIns="0" tIns="0" rIns="0" bIns="0" rtlCol="0" anchor="ctr"/>
          <a:lstStyle/>
          <a:p>
            <a:pPr indent="0" marL="0">
              <a:buNone/>
            </a:pPr>
            <a:r>
              <a:rPr lang="en-US" sz="900" dirty="0">
                <a:solidFill>
                  <a:srgbClr val="1A6B3A"/>
                </a:solidFill>
              </a:rPr>
              <a:t>45% (supervisory floor)</a:t>
            </a:r>
            <a:endParaRPr lang="en-US" sz="900" dirty="0"/>
          </a:p>
        </p:txBody>
      </p:sp>
      <p:sp>
        <p:nvSpPr>
          <p:cNvPr id="31" name="Shape 29"/>
          <p:cNvSpPr/>
          <p:nvPr/>
        </p:nvSpPr>
        <p:spPr>
          <a:xfrm>
            <a:off x="5669280" y="2651760"/>
            <a:ext cx="2834640" cy="301752"/>
          </a:xfrm>
          <a:prstGeom prst="rect">
            <a:avLst/>
          </a:prstGeom>
          <a:solidFill>
            <a:srgbClr val="FFFFFF"/>
          </a:solidFill>
          <a:ln/>
        </p:spPr>
      </p:sp>
      <p:sp>
        <p:nvSpPr>
          <p:cNvPr id="32" name="Text 30"/>
          <p:cNvSpPr/>
          <p:nvPr/>
        </p:nvSpPr>
        <p:spPr>
          <a:xfrm>
            <a:off x="5742432" y="2651760"/>
            <a:ext cx="2743200" cy="301752"/>
          </a:xfrm>
          <a:prstGeom prst="rect">
            <a:avLst/>
          </a:prstGeom>
          <a:noFill/>
          <a:ln/>
        </p:spPr>
        <p:txBody>
          <a:bodyPr wrap="square" lIns="0" tIns="0" rIns="0" bIns="0" rtlCol="0" anchor="ctr"/>
          <a:lstStyle/>
          <a:p>
            <a:pPr indent="0" marL="0">
              <a:buNone/>
            </a:pPr>
            <a:r>
              <a:rPr lang="en-US" sz="900" dirty="0">
                <a:solidFill>
                  <a:srgbClr val="1A1A2E"/>
                </a:solidFill>
              </a:rPr>
              <a:t>45% (same)</a:t>
            </a:r>
            <a:endParaRPr lang="en-US" sz="900" dirty="0"/>
          </a:p>
        </p:txBody>
      </p:sp>
      <p:sp>
        <p:nvSpPr>
          <p:cNvPr id="33" name="Shape 31"/>
          <p:cNvSpPr/>
          <p:nvPr/>
        </p:nvSpPr>
        <p:spPr>
          <a:xfrm>
            <a:off x="274320" y="2953512"/>
            <a:ext cx="2560320" cy="301752"/>
          </a:xfrm>
          <a:prstGeom prst="rect">
            <a:avLst/>
          </a:prstGeom>
          <a:solidFill>
            <a:srgbClr val="F4F6F8"/>
          </a:solidFill>
          <a:ln/>
        </p:spPr>
      </p:sp>
      <p:sp>
        <p:nvSpPr>
          <p:cNvPr id="34" name="Text 32"/>
          <p:cNvSpPr/>
          <p:nvPr/>
        </p:nvSpPr>
        <p:spPr>
          <a:xfrm>
            <a:off x="347472" y="2953512"/>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Basel I Risk Weight</a:t>
            </a:r>
            <a:endParaRPr lang="en-US" sz="900" dirty="0"/>
          </a:p>
        </p:txBody>
      </p:sp>
      <p:sp>
        <p:nvSpPr>
          <p:cNvPr id="35" name="Shape 33"/>
          <p:cNvSpPr/>
          <p:nvPr/>
        </p:nvSpPr>
        <p:spPr>
          <a:xfrm>
            <a:off x="2834640" y="2953512"/>
            <a:ext cx="2834640" cy="301752"/>
          </a:xfrm>
          <a:prstGeom prst="rect">
            <a:avLst/>
          </a:prstGeom>
          <a:solidFill>
            <a:srgbClr val="FFF8E1"/>
          </a:solidFill>
          <a:ln/>
        </p:spPr>
      </p:sp>
      <p:sp>
        <p:nvSpPr>
          <p:cNvPr id="36" name="Text 34"/>
          <p:cNvSpPr/>
          <p:nvPr/>
        </p:nvSpPr>
        <p:spPr>
          <a:xfrm>
            <a:off x="2907792" y="2953512"/>
            <a:ext cx="2743200" cy="301752"/>
          </a:xfrm>
          <a:prstGeom prst="rect">
            <a:avLst/>
          </a:prstGeom>
          <a:noFill/>
          <a:ln/>
        </p:spPr>
        <p:txBody>
          <a:bodyPr wrap="square" lIns="0" tIns="0" rIns="0" bIns="0" rtlCol="0" anchor="ctr"/>
          <a:lstStyle/>
          <a:p>
            <a:pPr indent="0" marL="0">
              <a:buNone/>
            </a:pPr>
            <a:r>
              <a:rPr lang="en-US" sz="900" dirty="0">
                <a:solidFill>
                  <a:srgbClr val="8B0000"/>
                </a:solidFill>
              </a:rPr>
              <a:t>100% (same as BBB)</a:t>
            </a:r>
            <a:endParaRPr lang="en-US" sz="900" dirty="0"/>
          </a:p>
        </p:txBody>
      </p:sp>
      <p:sp>
        <p:nvSpPr>
          <p:cNvPr id="37" name="Shape 35"/>
          <p:cNvSpPr/>
          <p:nvPr/>
        </p:nvSpPr>
        <p:spPr>
          <a:xfrm>
            <a:off x="5669280" y="2953512"/>
            <a:ext cx="2834640" cy="301752"/>
          </a:xfrm>
          <a:prstGeom prst="rect">
            <a:avLst/>
          </a:prstGeom>
          <a:solidFill>
            <a:srgbClr val="FFF8E1"/>
          </a:solidFill>
          <a:ln/>
        </p:spPr>
      </p:sp>
      <p:sp>
        <p:nvSpPr>
          <p:cNvPr id="38" name="Text 36"/>
          <p:cNvSpPr/>
          <p:nvPr/>
        </p:nvSpPr>
        <p:spPr>
          <a:xfrm>
            <a:off x="5742432" y="2953512"/>
            <a:ext cx="2743200" cy="301752"/>
          </a:xfrm>
          <a:prstGeom prst="rect">
            <a:avLst/>
          </a:prstGeom>
          <a:noFill/>
          <a:ln/>
        </p:spPr>
        <p:txBody>
          <a:bodyPr wrap="square" lIns="0" tIns="0" rIns="0" bIns="0" rtlCol="0" anchor="ctr"/>
          <a:lstStyle/>
          <a:p>
            <a:pPr indent="0" marL="0">
              <a:buNone/>
            </a:pPr>
            <a:r>
              <a:rPr lang="en-US" sz="900" dirty="0">
                <a:solidFill>
                  <a:srgbClr val="1A1A2E"/>
                </a:solidFill>
              </a:rPr>
              <a:t>100% — Basel I cannot distinguish</a:t>
            </a:r>
            <a:endParaRPr lang="en-US" sz="900" dirty="0"/>
          </a:p>
        </p:txBody>
      </p:sp>
      <p:sp>
        <p:nvSpPr>
          <p:cNvPr id="39" name="Shape 37"/>
          <p:cNvSpPr/>
          <p:nvPr/>
        </p:nvSpPr>
        <p:spPr>
          <a:xfrm>
            <a:off x="274320" y="3255264"/>
            <a:ext cx="2560320" cy="301752"/>
          </a:xfrm>
          <a:prstGeom prst="rect">
            <a:avLst/>
          </a:prstGeom>
          <a:solidFill>
            <a:srgbClr val="FFFFFF"/>
          </a:solidFill>
          <a:ln/>
        </p:spPr>
      </p:sp>
      <p:sp>
        <p:nvSpPr>
          <p:cNvPr id="40" name="Text 38"/>
          <p:cNvSpPr/>
          <p:nvPr/>
        </p:nvSpPr>
        <p:spPr>
          <a:xfrm>
            <a:off x="347472" y="3255264"/>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Basel I Capital Required</a:t>
            </a:r>
            <a:endParaRPr lang="en-US" sz="900" dirty="0"/>
          </a:p>
        </p:txBody>
      </p:sp>
      <p:sp>
        <p:nvSpPr>
          <p:cNvPr id="41" name="Shape 39"/>
          <p:cNvSpPr/>
          <p:nvPr/>
        </p:nvSpPr>
        <p:spPr>
          <a:xfrm>
            <a:off x="2834640" y="3255264"/>
            <a:ext cx="2834640" cy="301752"/>
          </a:xfrm>
          <a:prstGeom prst="rect">
            <a:avLst/>
          </a:prstGeom>
          <a:solidFill>
            <a:srgbClr val="FFF8E1"/>
          </a:solidFill>
          <a:ln/>
        </p:spPr>
      </p:sp>
      <p:sp>
        <p:nvSpPr>
          <p:cNvPr id="42" name="Text 40"/>
          <p:cNvSpPr/>
          <p:nvPr/>
        </p:nvSpPr>
        <p:spPr>
          <a:xfrm>
            <a:off x="2907792" y="3255264"/>
            <a:ext cx="2743200" cy="301752"/>
          </a:xfrm>
          <a:prstGeom prst="rect">
            <a:avLst/>
          </a:prstGeom>
          <a:noFill/>
          <a:ln/>
        </p:spPr>
        <p:txBody>
          <a:bodyPr wrap="square" lIns="0" tIns="0" rIns="0" bIns="0" rtlCol="0" anchor="ctr"/>
          <a:lstStyle/>
          <a:p>
            <a:pPr indent="0" marL="0">
              <a:buNone/>
            </a:pPr>
            <a:r>
              <a:rPr lang="en-US" sz="900" dirty="0">
                <a:solidFill>
                  <a:srgbClr val="8B0000"/>
                </a:solidFill>
              </a:rPr>
              <a:t>$80,000 (8% × $10m × 100%)</a:t>
            </a:r>
            <a:endParaRPr lang="en-US" sz="900" dirty="0"/>
          </a:p>
        </p:txBody>
      </p:sp>
      <p:sp>
        <p:nvSpPr>
          <p:cNvPr id="43" name="Shape 41"/>
          <p:cNvSpPr/>
          <p:nvPr/>
        </p:nvSpPr>
        <p:spPr>
          <a:xfrm>
            <a:off x="5669280" y="3255264"/>
            <a:ext cx="2834640" cy="301752"/>
          </a:xfrm>
          <a:prstGeom prst="rect">
            <a:avLst/>
          </a:prstGeom>
          <a:solidFill>
            <a:srgbClr val="FFF8E1"/>
          </a:solidFill>
          <a:ln/>
        </p:spPr>
      </p:sp>
      <p:sp>
        <p:nvSpPr>
          <p:cNvPr id="44" name="Text 42"/>
          <p:cNvSpPr/>
          <p:nvPr/>
        </p:nvSpPr>
        <p:spPr>
          <a:xfrm>
            <a:off x="5742432" y="3255264"/>
            <a:ext cx="2743200" cy="301752"/>
          </a:xfrm>
          <a:prstGeom prst="rect">
            <a:avLst/>
          </a:prstGeom>
          <a:noFill/>
          <a:ln/>
        </p:spPr>
        <p:txBody>
          <a:bodyPr wrap="square" lIns="0" tIns="0" rIns="0" bIns="0" rtlCol="0" anchor="ctr"/>
          <a:lstStyle/>
          <a:p>
            <a:pPr indent="0" marL="0">
              <a:buNone/>
            </a:pPr>
            <a:r>
              <a:rPr lang="en-US" sz="900" dirty="0">
                <a:solidFill>
                  <a:srgbClr val="1A1A2E"/>
                </a:solidFill>
              </a:rPr>
              <a:t>$80,000 — identical. No differentiation.</a:t>
            </a:r>
            <a:endParaRPr lang="en-US" sz="900" dirty="0"/>
          </a:p>
        </p:txBody>
      </p:sp>
      <p:sp>
        <p:nvSpPr>
          <p:cNvPr id="45" name="Shape 43"/>
          <p:cNvSpPr/>
          <p:nvPr/>
        </p:nvSpPr>
        <p:spPr>
          <a:xfrm>
            <a:off x="274320" y="3557016"/>
            <a:ext cx="2560320" cy="301752"/>
          </a:xfrm>
          <a:prstGeom prst="rect">
            <a:avLst/>
          </a:prstGeom>
          <a:solidFill>
            <a:srgbClr val="F4F6F8"/>
          </a:solidFill>
          <a:ln/>
        </p:spPr>
      </p:sp>
      <p:sp>
        <p:nvSpPr>
          <p:cNvPr id="46" name="Text 44"/>
          <p:cNvSpPr/>
          <p:nvPr/>
        </p:nvSpPr>
        <p:spPr>
          <a:xfrm>
            <a:off x="347472" y="3557016"/>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Basel II SA Risk Weight</a:t>
            </a:r>
            <a:endParaRPr lang="en-US" sz="900" dirty="0"/>
          </a:p>
        </p:txBody>
      </p:sp>
      <p:sp>
        <p:nvSpPr>
          <p:cNvPr id="47" name="Shape 45"/>
          <p:cNvSpPr/>
          <p:nvPr/>
        </p:nvSpPr>
        <p:spPr>
          <a:xfrm>
            <a:off x="2834640" y="3557016"/>
            <a:ext cx="2834640" cy="301752"/>
          </a:xfrm>
          <a:prstGeom prst="rect">
            <a:avLst/>
          </a:prstGeom>
          <a:solidFill>
            <a:srgbClr val="F4F6F8"/>
          </a:solidFill>
          <a:ln/>
        </p:spPr>
      </p:sp>
      <p:sp>
        <p:nvSpPr>
          <p:cNvPr id="48" name="Text 46"/>
          <p:cNvSpPr/>
          <p:nvPr/>
        </p:nvSpPr>
        <p:spPr>
          <a:xfrm>
            <a:off x="2907792" y="3557016"/>
            <a:ext cx="2743200" cy="301752"/>
          </a:xfrm>
          <a:prstGeom prst="rect">
            <a:avLst/>
          </a:prstGeom>
          <a:noFill/>
          <a:ln/>
        </p:spPr>
        <p:txBody>
          <a:bodyPr wrap="square" lIns="0" tIns="0" rIns="0" bIns="0" rtlCol="0" anchor="ctr"/>
          <a:lstStyle/>
          <a:p>
            <a:pPr indent="0" marL="0">
              <a:buNone/>
            </a:pPr>
            <a:r>
              <a:rPr lang="en-US" sz="900" dirty="0">
                <a:solidFill>
                  <a:srgbClr val="1A6B3A"/>
                </a:solidFill>
              </a:rPr>
              <a:t>20% (AAA–AA rated)</a:t>
            </a:r>
            <a:endParaRPr lang="en-US" sz="900" dirty="0"/>
          </a:p>
        </p:txBody>
      </p:sp>
      <p:sp>
        <p:nvSpPr>
          <p:cNvPr id="49" name="Shape 47"/>
          <p:cNvSpPr/>
          <p:nvPr/>
        </p:nvSpPr>
        <p:spPr>
          <a:xfrm>
            <a:off x="5669280" y="3557016"/>
            <a:ext cx="2834640" cy="301752"/>
          </a:xfrm>
          <a:prstGeom prst="rect">
            <a:avLst/>
          </a:prstGeom>
          <a:solidFill>
            <a:srgbClr val="F4F6F8"/>
          </a:solidFill>
          <a:ln/>
        </p:spPr>
      </p:sp>
      <p:sp>
        <p:nvSpPr>
          <p:cNvPr id="50" name="Text 48"/>
          <p:cNvSpPr/>
          <p:nvPr/>
        </p:nvSpPr>
        <p:spPr>
          <a:xfrm>
            <a:off x="5742432" y="3557016"/>
            <a:ext cx="2743200" cy="301752"/>
          </a:xfrm>
          <a:prstGeom prst="rect">
            <a:avLst/>
          </a:prstGeom>
          <a:noFill/>
          <a:ln/>
        </p:spPr>
        <p:txBody>
          <a:bodyPr wrap="square" lIns="0" tIns="0" rIns="0" bIns="0" rtlCol="0" anchor="ctr"/>
          <a:lstStyle/>
          <a:p>
            <a:pPr indent="0" marL="0">
              <a:buNone/>
            </a:pPr>
            <a:r>
              <a:rPr lang="en-US" sz="900" dirty="0">
                <a:solidFill>
                  <a:srgbClr val="1A1A2E"/>
                </a:solidFill>
              </a:rPr>
              <a:t>100% (BBB–BB rated)</a:t>
            </a:r>
            <a:endParaRPr lang="en-US" sz="900" dirty="0"/>
          </a:p>
        </p:txBody>
      </p:sp>
      <p:sp>
        <p:nvSpPr>
          <p:cNvPr id="51" name="Shape 49"/>
          <p:cNvSpPr/>
          <p:nvPr/>
        </p:nvSpPr>
        <p:spPr>
          <a:xfrm>
            <a:off x="274320" y="3858768"/>
            <a:ext cx="2560320" cy="301752"/>
          </a:xfrm>
          <a:prstGeom prst="rect">
            <a:avLst/>
          </a:prstGeom>
          <a:solidFill>
            <a:srgbClr val="FFFFFF"/>
          </a:solidFill>
          <a:ln/>
        </p:spPr>
      </p:sp>
      <p:sp>
        <p:nvSpPr>
          <p:cNvPr id="52" name="Text 50"/>
          <p:cNvSpPr/>
          <p:nvPr/>
        </p:nvSpPr>
        <p:spPr>
          <a:xfrm>
            <a:off x="347472" y="3858768"/>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Basel II SA Capital</a:t>
            </a:r>
            <a:endParaRPr lang="en-US" sz="900" dirty="0"/>
          </a:p>
        </p:txBody>
      </p:sp>
      <p:sp>
        <p:nvSpPr>
          <p:cNvPr id="53" name="Shape 51"/>
          <p:cNvSpPr/>
          <p:nvPr/>
        </p:nvSpPr>
        <p:spPr>
          <a:xfrm>
            <a:off x="2834640" y="3858768"/>
            <a:ext cx="2834640" cy="301752"/>
          </a:xfrm>
          <a:prstGeom prst="rect">
            <a:avLst/>
          </a:prstGeom>
          <a:solidFill>
            <a:srgbClr val="FFFFFF"/>
          </a:solidFill>
          <a:ln/>
        </p:spPr>
      </p:sp>
      <p:sp>
        <p:nvSpPr>
          <p:cNvPr id="54" name="Text 52"/>
          <p:cNvSpPr/>
          <p:nvPr/>
        </p:nvSpPr>
        <p:spPr>
          <a:xfrm>
            <a:off x="2907792" y="3858768"/>
            <a:ext cx="2743200" cy="301752"/>
          </a:xfrm>
          <a:prstGeom prst="rect">
            <a:avLst/>
          </a:prstGeom>
          <a:noFill/>
          <a:ln/>
        </p:spPr>
        <p:txBody>
          <a:bodyPr wrap="square" lIns="0" tIns="0" rIns="0" bIns="0" rtlCol="0" anchor="ctr"/>
          <a:lstStyle/>
          <a:p>
            <a:pPr indent="0" marL="0">
              <a:buNone/>
            </a:pPr>
            <a:r>
              <a:rPr lang="en-US" sz="900" dirty="0">
                <a:solidFill>
                  <a:srgbClr val="1A6B3A"/>
                </a:solidFill>
              </a:rPr>
              <a:t>$16,000</a:t>
            </a:r>
            <a:endParaRPr lang="en-US" sz="900" dirty="0"/>
          </a:p>
        </p:txBody>
      </p:sp>
      <p:sp>
        <p:nvSpPr>
          <p:cNvPr id="55" name="Shape 53"/>
          <p:cNvSpPr/>
          <p:nvPr/>
        </p:nvSpPr>
        <p:spPr>
          <a:xfrm>
            <a:off x="5669280" y="3858768"/>
            <a:ext cx="2834640" cy="301752"/>
          </a:xfrm>
          <a:prstGeom prst="rect">
            <a:avLst/>
          </a:prstGeom>
          <a:solidFill>
            <a:srgbClr val="FFFFFF"/>
          </a:solidFill>
          <a:ln/>
        </p:spPr>
      </p:sp>
      <p:sp>
        <p:nvSpPr>
          <p:cNvPr id="56" name="Text 54"/>
          <p:cNvSpPr/>
          <p:nvPr/>
        </p:nvSpPr>
        <p:spPr>
          <a:xfrm>
            <a:off x="5742432" y="3858768"/>
            <a:ext cx="2743200" cy="301752"/>
          </a:xfrm>
          <a:prstGeom prst="rect">
            <a:avLst/>
          </a:prstGeom>
          <a:noFill/>
          <a:ln/>
        </p:spPr>
        <p:txBody>
          <a:bodyPr wrap="square" lIns="0" tIns="0" rIns="0" bIns="0" rtlCol="0" anchor="ctr"/>
          <a:lstStyle/>
          <a:p>
            <a:pPr indent="0" marL="0">
              <a:buNone/>
            </a:pPr>
            <a:r>
              <a:rPr lang="en-US" sz="900" dirty="0">
                <a:solidFill>
                  <a:srgbClr val="1A1A2E"/>
                </a:solidFill>
              </a:rPr>
              <a:t>$80,000 — 5× more than AAA</a:t>
            </a:r>
            <a:endParaRPr lang="en-US" sz="900" dirty="0"/>
          </a:p>
        </p:txBody>
      </p:sp>
      <p:sp>
        <p:nvSpPr>
          <p:cNvPr id="57" name="Shape 55"/>
          <p:cNvSpPr/>
          <p:nvPr/>
        </p:nvSpPr>
        <p:spPr>
          <a:xfrm>
            <a:off x="274320" y="4160520"/>
            <a:ext cx="2560320" cy="301752"/>
          </a:xfrm>
          <a:prstGeom prst="rect">
            <a:avLst/>
          </a:prstGeom>
          <a:solidFill>
            <a:srgbClr val="F4F6F8"/>
          </a:solidFill>
          <a:ln/>
        </p:spPr>
      </p:sp>
      <p:sp>
        <p:nvSpPr>
          <p:cNvPr id="58" name="Text 56"/>
          <p:cNvSpPr/>
          <p:nvPr/>
        </p:nvSpPr>
        <p:spPr>
          <a:xfrm>
            <a:off x="347472" y="4160520"/>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Basel II A-IRB Capital</a:t>
            </a:r>
            <a:endParaRPr lang="en-US" sz="900" dirty="0"/>
          </a:p>
        </p:txBody>
      </p:sp>
      <p:sp>
        <p:nvSpPr>
          <p:cNvPr id="59" name="Shape 57"/>
          <p:cNvSpPr/>
          <p:nvPr/>
        </p:nvSpPr>
        <p:spPr>
          <a:xfrm>
            <a:off x="2834640" y="4160520"/>
            <a:ext cx="2834640" cy="301752"/>
          </a:xfrm>
          <a:prstGeom prst="rect">
            <a:avLst/>
          </a:prstGeom>
          <a:solidFill>
            <a:srgbClr val="F4F6F8"/>
          </a:solidFill>
          <a:ln/>
        </p:spPr>
      </p:sp>
      <p:sp>
        <p:nvSpPr>
          <p:cNvPr id="60" name="Text 58"/>
          <p:cNvSpPr/>
          <p:nvPr/>
        </p:nvSpPr>
        <p:spPr>
          <a:xfrm>
            <a:off x="2907792" y="4160520"/>
            <a:ext cx="2743200" cy="301752"/>
          </a:xfrm>
          <a:prstGeom prst="rect">
            <a:avLst/>
          </a:prstGeom>
          <a:noFill/>
          <a:ln/>
        </p:spPr>
        <p:txBody>
          <a:bodyPr wrap="square" lIns="0" tIns="0" rIns="0" bIns="0" rtlCol="0" anchor="ctr"/>
          <a:lstStyle/>
          <a:p>
            <a:pPr indent="0" marL="0">
              <a:buNone/>
            </a:pPr>
            <a:r>
              <a:rPr lang="en-US" sz="900" dirty="0">
                <a:solidFill>
                  <a:srgbClr val="1A6B3A"/>
                </a:solidFill>
              </a:rPr>
              <a:t>~$8,000 (PD-driven formula)</a:t>
            </a:r>
            <a:endParaRPr lang="en-US" sz="900" dirty="0"/>
          </a:p>
        </p:txBody>
      </p:sp>
      <p:sp>
        <p:nvSpPr>
          <p:cNvPr id="61" name="Shape 59"/>
          <p:cNvSpPr/>
          <p:nvPr/>
        </p:nvSpPr>
        <p:spPr>
          <a:xfrm>
            <a:off x="5669280" y="4160520"/>
            <a:ext cx="2834640" cy="301752"/>
          </a:xfrm>
          <a:prstGeom prst="rect">
            <a:avLst/>
          </a:prstGeom>
          <a:solidFill>
            <a:srgbClr val="F4F6F8"/>
          </a:solidFill>
          <a:ln/>
        </p:spPr>
      </p:sp>
      <p:sp>
        <p:nvSpPr>
          <p:cNvPr id="62" name="Text 60"/>
          <p:cNvSpPr/>
          <p:nvPr/>
        </p:nvSpPr>
        <p:spPr>
          <a:xfrm>
            <a:off x="5742432" y="4160520"/>
            <a:ext cx="2743200" cy="301752"/>
          </a:xfrm>
          <a:prstGeom prst="rect">
            <a:avLst/>
          </a:prstGeom>
          <a:noFill/>
          <a:ln/>
        </p:spPr>
        <p:txBody>
          <a:bodyPr wrap="square" lIns="0" tIns="0" rIns="0" bIns="0" rtlCol="0" anchor="ctr"/>
          <a:lstStyle/>
          <a:p>
            <a:pPr indent="0" marL="0">
              <a:buNone/>
            </a:pPr>
            <a:r>
              <a:rPr lang="en-US" sz="900" dirty="0">
                <a:solidFill>
                  <a:srgbClr val="1A1A2E"/>
                </a:solidFill>
              </a:rPr>
              <a:t>~$45,000 — reflects actual default risk</a:t>
            </a:r>
            <a:endParaRPr lang="en-US" sz="900" dirty="0"/>
          </a:p>
        </p:txBody>
      </p:sp>
      <p:sp>
        <p:nvSpPr>
          <p:cNvPr id="63" name="Shape 61"/>
          <p:cNvSpPr/>
          <p:nvPr/>
        </p:nvSpPr>
        <p:spPr>
          <a:xfrm>
            <a:off x="274320" y="4462272"/>
            <a:ext cx="2560320" cy="301752"/>
          </a:xfrm>
          <a:prstGeom prst="rect">
            <a:avLst/>
          </a:prstGeom>
          <a:solidFill>
            <a:srgbClr val="FFFFFF"/>
          </a:solidFill>
          <a:ln/>
        </p:spPr>
      </p:sp>
      <p:sp>
        <p:nvSpPr>
          <p:cNvPr id="64" name="Text 62"/>
          <p:cNvSpPr/>
          <p:nvPr/>
        </p:nvSpPr>
        <p:spPr>
          <a:xfrm>
            <a:off x="347472" y="4462272"/>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Basel IV Output Floor Impact</a:t>
            </a:r>
            <a:endParaRPr lang="en-US" sz="900" dirty="0"/>
          </a:p>
        </p:txBody>
      </p:sp>
      <p:sp>
        <p:nvSpPr>
          <p:cNvPr id="65" name="Shape 63"/>
          <p:cNvSpPr/>
          <p:nvPr/>
        </p:nvSpPr>
        <p:spPr>
          <a:xfrm>
            <a:off x="2834640" y="4462272"/>
            <a:ext cx="2834640" cy="301752"/>
          </a:xfrm>
          <a:prstGeom prst="rect">
            <a:avLst/>
          </a:prstGeom>
          <a:solidFill>
            <a:srgbClr val="FFFFFF"/>
          </a:solidFill>
          <a:ln/>
        </p:spPr>
      </p:sp>
      <p:sp>
        <p:nvSpPr>
          <p:cNvPr id="66" name="Text 64"/>
          <p:cNvSpPr/>
          <p:nvPr/>
        </p:nvSpPr>
        <p:spPr>
          <a:xfrm>
            <a:off x="2907792" y="4462272"/>
            <a:ext cx="2743200" cy="301752"/>
          </a:xfrm>
          <a:prstGeom prst="rect">
            <a:avLst/>
          </a:prstGeom>
          <a:noFill/>
          <a:ln/>
        </p:spPr>
        <p:txBody>
          <a:bodyPr wrap="square" lIns="0" tIns="0" rIns="0" bIns="0" rtlCol="0" anchor="ctr"/>
          <a:lstStyle/>
          <a:p>
            <a:pPr indent="0" marL="0">
              <a:buNone/>
            </a:pPr>
            <a:r>
              <a:rPr lang="en-US" sz="900" dirty="0">
                <a:solidFill>
                  <a:srgbClr val="1A6B3A"/>
                </a:solidFill>
              </a:rPr>
              <a:t>72.5% of SA = $11,600</a:t>
            </a:r>
            <a:endParaRPr lang="en-US" sz="900" dirty="0"/>
          </a:p>
        </p:txBody>
      </p:sp>
      <p:sp>
        <p:nvSpPr>
          <p:cNvPr id="67" name="Shape 65"/>
          <p:cNvSpPr/>
          <p:nvPr/>
        </p:nvSpPr>
        <p:spPr>
          <a:xfrm>
            <a:off x="5669280" y="4462272"/>
            <a:ext cx="2834640" cy="301752"/>
          </a:xfrm>
          <a:prstGeom prst="rect">
            <a:avLst/>
          </a:prstGeom>
          <a:solidFill>
            <a:srgbClr val="FFFFFF"/>
          </a:solidFill>
          <a:ln/>
        </p:spPr>
      </p:sp>
      <p:sp>
        <p:nvSpPr>
          <p:cNvPr id="68" name="Text 66"/>
          <p:cNvSpPr/>
          <p:nvPr/>
        </p:nvSpPr>
        <p:spPr>
          <a:xfrm>
            <a:off x="5742432" y="4462272"/>
            <a:ext cx="2743200" cy="301752"/>
          </a:xfrm>
          <a:prstGeom prst="rect">
            <a:avLst/>
          </a:prstGeom>
          <a:noFill/>
          <a:ln/>
        </p:spPr>
        <p:txBody>
          <a:bodyPr wrap="square" lIns="0" tIns="0" rIns="0" bIns="0" rtlCol="0" anchor="ctr"/>
          <a:lstStyle/>
          <a:p>
            <a:pPr indent="0" marL="0">
              <a:buNone/>
            </a:pPr>
            <a:r>
              <a:rPr lang="en-US" sz="900" dirty="0">
                <a:solidFill>
                  <a:srgbClr val="1A1A2E"/>
                </a:solidFill>
              </a:rPr>
              <a:t>72.5% of SA = $58,000</a:t>
            </a:r>
            <a:endParaRPr lang="en-US" sz="900" dirty="0"/>
          </a:p>
        </p:txBody>
      </p:sp>
      <p:sp>
        <p:nvSpPr>
          <p:cNvPr id="69" name="Shape 67"/>
          <p:cNvSpPr/>
          <p:nvPr/>
        </p:nvSpPr>
        <p:spPr>
          <a:xfrm>
            <a:off x="365760" y="4645152"/>
            <a:ext cx="8412480" cy="594360"/>
          </a:xfrm>
          <a:prstGeom prst="rect">
            <a:avLst/>
          </a:prstGeom>
          <a:solidFill>
            <a:srgbClr val="D6EAF8"/>
          </a:solidFill>
          <a:ln/>
        </p:spPr>
      </p:sp>
      <p:sp>
        <p:nvSpPr>
          <p:cNvPr id="70" name="Shape 68"/>
          <p:cNvSpPr/>
          <p:nvPr/>
        </p:nvSpPr>
        <p:spPr>
          <a:xfrm>
            <a:off x="365760" y="4645152"/>
            <a:ext cx="1005840" cy="594360"/>
          </a:xfrm>
          <a:prstGeom prst="rect">
            <a:avLst/>
          </a:prstGeom>
          <a:solidFill>
            <a:srgbClr val="0E6B8A"/>
          </a:solidFill>
          <a:ln/>
        </p:spPr>
      </p:sp>
      <p:sp>
        <p:nvSpPr>
          <p:cNvPr id="71" name="Text 69"/>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KEY LESSON</a:t>
            </a:r>
            <a:endParaRPr lang="en-US" sz="900" dirty="0"/>
          </a:p>
        </p:txBody>
      </p:sp>
      <p:sp>
        <p:nvSpPr>
          <p:cNvPr id="72" name="Text 70"/>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Basel I charged identical capital for AAA and BBB borrowers. Basel II fixed this — AAA requires 5× less SA capital than BBB. Basel IV's output floor ensures models cannot reduce capital below 72.5% of that SA number.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Basel I — 1988</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6400800" cy="658368"/>
          </a:xfrm>
          <a:prstGeom prst="rect">
            <a:avLst/>
          </a:prstGeom>
          <a:noFill/>
          <a:ln/>
        </p:spPr>
        <p:txBody>
          <a:bodyPr wrap="square" lIns="0" tIns="0" rIns="0" bIns="0" rtlCol="0" anchor="ctr"/>
          <a:lstStyle/>
          <a:p>
            <a:pPr indent="0" marL="0">
              <a:buNone/>
            </a:pPr>
            <a:r>
              <a:rPr lang="en-US" sz="2200" b="1" dirty="0">
                <a:solidFill>
                  <a:srgbClr val="FFFFFF"/>
                </a:solidFill>
              </a:rPr>
              <a:t>Basel I  —  The Foundation Framework</a:t>
            </a:r>
            <a:endParaRPr lang="en-US" sz="2200" dirty="0"/>
          </a:p>
        </p:txBody>
      </p:sp>
      <p:sp>
        <p:nvSpPr>
          <p:cNvPr id="6" name="Shape 4"/>
          <p:cNvSpPr/>
          <p:nvPr/>
        </p:nvSpPr>
        <p:spPr>
          <a:xfrm>
            <a:off x="6492240" y="201168"/>
            <a:ext cx="3412541" cy="256032"/>
          </a:xfrm>
          <a:prstGeom prst="rect">
            <a:avLst/>
          </a:prstGeom>
          <a:solidFill>
            <a:srgbClr val="C9A84C"/>
          </a:solidFill>
          <a:ln w="12700">
            <a:solidFill>
              <a:srgbClr val="C9A84C"/>
            </a:solidFill>
            <a:prstDash val="solid"/>
          </a:ln>
        </p:spPr>
      </p:sp>
      <p:sp>
        <p:nvSpPr>
          <p:cNvPr id="7" name="Text 5"/>
          <p:cNvSpPr/>
          <p:nvPr/>
        </p:nvSpPr>
        <p:spPr>
          <a:xfrm>
            <a:off x="6492240" y="201168"/>
            <a:ext cx="3412541" cy="256032"/>
          </a:xfrm>
          <a:prstGeom prst="rect">
            <a:avLst/>
          </a:prstGeom>
          <a:noFill/>
          <a:ln/>
        </p:spPr>
        <p:txBody>
          <a:bodyPr wrap="square" lIns="0" tIns="0" rIns="0" bIns="0" rtlCol="0" anchor="ctr"/>
          <a:lstStyle/>
          <a:p>
            <a:pPr algn="ctr" indent="0" marL="0">
              <a:buNone/>
            </a:pPr>
            <a:r>
              <a:rPr lang="en-US" sz="800" b="1" dirty="0">
                <a:solidFill>
                  <a:srgbClr val="FFFFFF"/>
                </a:solidFill>
              </a:rPr>
              <a:t>1988 · 12 BCBS MEMBERS · EFFECTIVE 1992</a:t>
            </a:r>
            <a:endParaRPr lang="en-US" sz="800" dirty="0"/>
          </a:p>
        </p:txBody>
      </p:sp>
      <p:sp>
        <p:nvSpPr>
          <p:cNvPr id="8" name="Shape 6"/>
          <p:cNvSpPr/>
          <p:nvPr/>
        </p:nvSpPr>
        <p:spPr>
          <a:xfrm>
            <a:off x="274320" y="777240"/>
            <a:ext cx="1920240" cy="10058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74320" y="777240"/>
            <a:ext cx="1920240" cy="64008"/>
          </a:xfrm>
          <a:prstGeom prst="rect">
            <a:avLst/>
          </a:prstGeom>
          <a:solidFill>
            <a:srgbClr val="1B3A6B"/>
          </a:solidFill>
          <a:ln/>
        </p:spPr>
      </p:sp>
      <p:sp>
        <p:nvSpPr>
          <p:cNvPr id="10" name="Text 8"/>
          <p:cNvSpPr/>
          <p:nvPr/>
        </p:nvSpPr>
        <p:spPr>
          <a:xfrm>
            <a:off x="274320" y="868680"/>
            <a:ext cx="1920240" cy="548640"/>
          </a:xfrm>
          <a:prstGeom prst="rect">
            <a:avLst/>
          </a:prstGeom>
          <a:noFill/>
          <a:ln/>
        </p:spPr>
        <p:txBody>
          <a:bodyPr wrap="square" lIns="0" tIns="0" rIns="0" bIns="0" rtlCol="0" anchor="ctr"/>
          <a:lstStyle/>
          <a:p>
            <a:pPr algn="ctr" indent="0" marL="0">
              <a:buNone/>
            </a:pPr>
            <a:r>
              <a:rPr lang="en-US" sz="3200" b="1" dirty="0">
                <a:solidFill>
                  <a:srgbClr val="1B3A6B"/>
                </a:solidFill>
              </a:rPr>
              <a:t>8%</a:t>
            </a:r>
            <a:endParaRPr lang="en-US" sz="3200" dirty="0"/>
          </a:p>
        </p:txBody>
      </p:sp>
      <p:sp>
        <p:nvSpPr>
          <p:cNvPr id="11" name="Text 9"/>
          <p:cNvSpPr/>
          <p:nvPr/>
        </p:nvSpPr>
        <p:spPr>
          <a:xfrm>
            <a:off x="274320" y="1435608"/>
            <a:ext cx="1920240" cy="274320"/>
          </a:xfrm>
          <a:prstGeom prst="rect">
            <a:avLst/>
          </a:prstGeom>
          <a:noFill/>
          <a:ln/>
        </p:spPr>
        <p:txBody>
          <a:bodyPr wrap="square" lIns="0" tIns="0" rIns="0" bIns="0" rtlCol="0" anchor="ctr"/>
          <a:lstStyle/>
          <a:p>
            <a:pPr algn="ctr" indent="0" marL="0">
              <a:buNone/>
            </a:pPr>
            <a:r>
              <a:rPr lang="en-US" sz="1000" dirty="0">
                <a:solidFill>
                  <a:srgbClr val="8899AA"/>
                </a:solidFill>
              </a:rPr>
              <a:t>Min Capital / RWA</a:t>
            </a:r>
            <a:endParaRPr lang="en-US" sz="1000" dirty="0"/>
          </a:p>
        </p:txBody>
      </p:sp>
      <p:sp>
        <p:nvSpPr>
          <p:cNvPr id="12" name="Shape 10"/>
          <p:cNvSpPr/>
          <p:nvPr/>
        </p:nvSpPr>
        <p:spPr>
          <a:xfrm>
            <a:off x="2331720" y="777240"/>
            <a:ext cx="1920240" cy="10058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1"/>
          <p:cNvSpPr/>
          <p:nvPr/>
        </p:nvSpPr>
        <p:spPr>
          <a:xfrm>
            <a:off x="2331720" y="777240"/>
            <a:ext cx="1920240" cy="64008"/>
          </a:xfrm>
          <a:prstGeom prst="rect">
            <a:avLst/>
          </a:prstGeom>
          <a:solidFill>
            <a:srgbClr val="0E6B8A"/>
          </a:solidFill>
          <a:ln/>
        </p:spPr>
      </p:sp>
      <p:sp>
        <p:nvSpPr>
          <p:cNvPr id="14" name="Text 12"/>
          <p:cNvSpPr/>
          <p:nvPr/>
        </p:nvSpPr>
        <p:spPr>
          <a:xfrm>
            <a:off x="2331720" y="868680"/>
            <a:ext cx="1920240" cy="548640"/>
          </a:xfrm>
          <a:prstGeom prst="rect">
            <a:avLst/>
          </a:prstGeom>
          <a:noFill/>
          <a:ln/>
        </p:spPr>
        <p:txBody>
          <a:bodyPr wrap="square" lIns="0" tIns="0" rIns="0" bIns="0" rtlCol="0" anchor="ctr"/>
          <a:lstStyle/>
          <a:p>
            <a:pPr algn="ctr" indent="0" marL="0">
              <a:buNone/>
            </a:pPr>
            <a:r>
              <a:rPr lang="en-US" sz="3200" b="1" dirty="0">
                <a:solidFill>
                  <a:srgbClr val="0E6B8A"/>
                </a:solidFill>
              </a:rPr>
              <a:t>4%</a:t>
            </a:r>
            <a:endParaRPr lang="en-US" sz="3200" dirty="0"/>
          </a:p>
        </p:txBody>
      </p:sp>
      <p:sp>
        <p:nvSpPr>
          <p:cNvPr id="15" name="Text 13"/>
          <p:cNvSpPr/>
          <p:nvPr/>
        </p:nvSpPr>
        <p:spPr>
          <a:xfrm>
            <a:off x="2331720" y="1435608"/>
            <a:ext cx="1920240" cy="274320"/>
          </a:xfrm>
          <a:prstGeom prst="rect">
            <a:avLst/>
          </a:prstGeom>
          <a:noFill/>
          <a:ln/>
        </p:spPr>
        <p:txBody>
          <a:bodyPr wrap="square" lIns="0" tIns="0" rIns="0" bIns="0" rtlCol="0" anchor="ctr"/>
          <a:lstStyle/>
          <a:p>
            <a:pPr algn="ctr" indent="0" marL="0">
              <a:buNone/>
            </a:pPr>
            <a:r>
              <a:rPr lang="en-US" sz="1000" dirty="0">
                <a:solidFill>
                  <a:srgbClr val="8899AA"/>
                </a:solidFill>
              </a:rPr>
              <a:t>Min Tier 1 Capital</a:t>
            </a:r>
            <a:endParaRPr lang="en-US" sz="1000" dirty="0"/>
          </a:p>
        </p:txBody>
      </p:sp>
      <p:sp>
        <p:nvSpPr>
          <p:cNvPr id="16" name="Shape 14"/>
          <p:cNvSpPr/>
          <p:nvPr/>
        </p:nvSpPr>
        <p:spPr>
          <a:xfrm>
            <a:off x="4389120" y="777240"/>
            <a:ext cx="1920240" cy="10058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7" name="Shape 15"/>
          <p:cNvSpPr/>
          <p:nvPr/>
        </p:nvSpPr>
        <p:spPr>
          <a:xfrm>
            <a:off x="4389120" y="777240"/>
            <a:ext cx="1920240" cy="64008"/>
          </a:xfrm>
          <a:prstGeom prst="rect">
            <a:avLst/>
          </a:prstGeom>
          <a:solidFill>
            <a:srgbClr val="C9A84C"/>
          </a:solidFill>
          <a:ln/>
        </p:spPr>
      </p:sp>
      <p:sp>
        <p:nvSpPr>
          <p:cNvPr id="18" name="Text 16"/>
          <p:cNvSpPr/>
          <p:nvPr/>
        </p:nvSpPr>
        <p:spPr>
          <a:xfrm>
            <a:off x="4389120" y="868680"/>
            <a:ext cx="1920240" cy="548640"/>
          </a:xfrm>
          <a:prstGeom prst="rect">
            <a:avLst/>
          </a:prstGeom>
          <a:noFill/>
          <a:ln/>
        </p:spPr>
        <p:txBody>
          <a:bodyPr wrap="square" lIns="0" tIns="0" rIns="0" bIns="0" rtlCol="0" anchor="ctr"/>
          <a:lstStyle/>
          <a:p>
            <a:pPr algn="ctr" indent="0" marL="0">
              <a:buNone/>
            </a:pPr>
            <a:r>
              <a:rPr lang="en-US" sz="3200" b="1" dirty="0">
                <a:solidFill>
                  <a:srgbClr val="C9A84C"/>
                </a:solidFill>
              </a:rPr>
              <a:t>5</a:t>
            </a:r>
            <a:endParaRPr lang="en-US" sz="3200" dirty="0"/>
          </a:p>
        </p:txBody>
      </p:sp>
      <p:sp>
        <p:nvSpPr>
          <p:cNvPr id="19" name="Text 17"/>
          <p:cNvSpPr/>
          <p:nvPr/>
        </p:nvSpPr>
        <p:spPr>
          <a:xfrm>
            <a:off x="4389120" y="1435608"/>
            <a:ext cx="1920240" cy="274320"/>
          </a:xfrm>
          <a:prstGeom prst="rect">
            <a:avLst/>
          </a:prstGeom>
          <a:noFill/>
          <a:ln/>
        </p:spPr>
        <p:txBody>
          <a:bodyPr wrap="square" lIns="0" tIns="0" rIns="0" bIns="0" rtlCol="0" anchor="ctr"/>
          <a:lstStyle/>
          <a:p>
            <a:pPr algn="ctr" indent="0" marL="0">
              <a:buNone/>
            </a:pPr>
            <a:r>
              <a:rPr lang="en-US" sz="1000" dirty="0">
                <a:solidFill>
                  <a:srgbClr val="8899AA"/>
                </a:solidFill>
              </a:rPr>
              <a:t>Risk Weight Buckets</a:t>
            </a:r>
            <a:endParaRPr lang="en-US" sz="1000" dirty="0"/>
          </a:p>
        </p:txBody>
      </p:sp>
      <p:sp>
        <p:nvSpPr>
          <p:cNvPr id="20" name="Shape 18"/>
          <p:cNvSpPr/>
          <p:nvPr/>
        </p:nvSpPr>
        <p:spPr>
          <a:xfrm>
            <a:off x="6446520" y="777240"/>
            <a:ext cx="1920240" cy="10058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1" name="Shape 19"/>
          <p:cNvSpPr/>
          <p:nvPr/>
        </p:nvSpPr>
        <p:spPr>
          <a:xfrm>
            <a:off x="6446520" y="777240"/>
            <a:ext cx="1920240" cy="64008"/>
          </a:xfrm>
          <a:prstGeom prst="rect">
            <a:avLst/>
          </a:prstGeom>
          <a:solidFill>
            <a:srgbClr val="8B0000"/>
          </a:solidFill>
          <a:ln/>
        </p:spPr>
      </p:sp>
      <p:sp>
        <p:nvSpPr>
          <p:cNvPr id="22" name="Text 20"/>
          <p:cNvSpPr/>
          <p:nvPr/>
        </p:nvSpPr>
        <p:spPr>
          <a:xfrm>
            <a:off x="6446520" y="868680"/>
            <a:ext cx="1920240" cy="548640"/>
          </a:xfrm>
          <a:prstGeom prst="rect">
            <a:avLst/>
          </a:prstGeom>
          <a:noFill/>
          <a:ln/>
        </p:spPr>
        <p:txBody>
          <a:bodyPr wrap="square" lIns="0" tIns="0" rIns="0" bIns="0" rtlCol="0" anchor="ctr"/>
          <a:lstStyle/>
          <a:p>
            <a:pPr algn="ctr" indent="0" marL="0">
              <a:buNone/>
            </a:pPr>
            <a:r>
              <a:rPr lang="en-US" sz="3200" b="1" dirty="0">
                <a:solidFill>
                  <a:srgbClr val="8B0000"/>
                </a:solidFill>
              </a:rPr>
              <a:t>1</a:t>
            </a:r>
            <a:endParaRPr lang="en-US" sz="3200" dirty="0"/>
          </a:p>
        </p:txBody>
      </p:sp>
      <p:sp>
        <p:nvSpPr>
          <p:cNvPr id="23" name="Text 21"/>
          <p:cNvSpPr/>
          <p:nvPr/>
        </p:nvSpPr>
        <p:spPr>
          <a:xfrm>
            <a:off x="6446520" y="1435608"/>
            <a:ext cx="1920240" cy="274320"/>
          </a:xfrm>
          <a:prstGeom prst="rect">
            <a:avLst/>
          </a:prstGeom>
          <a:noFill/>
          <a:ln/>
        </p:spPr>
        <p:txBody>
          <a:bodyPr wrap="square" lIns="0" tIns="0" rIns="0" bIns="0" rtlCol="0" anchor="ctr"/>
          <a:lstStyle/>
          <a:p>
            <a:pPr algn="ctr" indent="0" marL="0">
              <a:buNone/>
            </a:pPr>
            <a:r>
              <a:rPr lang="en-US" sz="1000" dirty="0">
                <a:solidFill>
                  <a:srgbClr val="8899AA"/>
                </a:solidFill>
              </a:rPr>
              <a:t>Risk Type Covered</a:t>
            </a:r>
            <a:endParaRPr lang="en-US" sz="1000" dirty="0"/>
          </a:p>
        </p:txBody>
      </p:sp>
      <p:sp>
        <p:nvSpPr>
          <p:cNvPr id="24" name="Shape 22"/>
          <p:cNvSpPr/>
          <p:nvPr/>
        </p:nvSpPr>
        <p:spPr>
          <a:xfrm>
            <a:off x="274320" y="1965960"/>
            <a:ext cx="4114800" cy="320040"/>
          </a:xfrm>
          <a:prstGeom prst="rect">
            <a:avLst/>
          </a:prstGeom>
          <a:solidFill>
            <a:srgbClr val="1B3A6B"/>
          </a:solidFill>
          <a:ln/>
        </p:spPr>
      </p:sp>
      <p:sp>
        <p:nvSpPr>
          <p:cNvPr id="25" name="Text 23"/>
          <p:cNvSpPr/>
          <p:nvPr/>
        </p:nvSpPr>
        <p:spPr>
          <a:xfrm>
            <a:off x="274320" y="1965960"/>
            <a:ext cx="4114800" cy="320040"/>
          </a:xfrm>
          <a:prstGeom prst="rect">
            <a:avLst/>
          </a:prstGeom>
          <a:noFill/>
          <a:ln/>
        </p:spPr>
        <p:txBody>
          <a:bodyPr wrap="square" lIns="0" tIns="0" rIns="0" bIns="0" rtlCol="0" anchor="ctr"/>
          <a:lstStyle/>
          <a:p>
            <a:pPr algn="ctr" indent="0" marL="0">
              <a:buNone/>
            </a:pPr>
            <a:r>
              <a:rPr lang="en-US" sz="1000" b="1" dirty="0">
                <a:solidFill>
                  <a:srgbClr val="FFFFFF"/>
                </a:solidFill>
              </a:rPr>
              <a:t>RISK WEIGHT BUCKETS</a:t>
            </a:r>
            <a:endParaRPr lang="en-US" sz="1000" dirty="0"/>
          </a:p>
        </p:txBody>
      </p:sp>
      <p:sp>
        <p:nvSpPr>
          <p:cNvPr id="26" name="Shape 24"/>
          <p:cNvSpPr/>
          <p:nvPr/>
        </p:nvSpPr>
        <p:spPr>
          <a:xfrm>
            <a:off x="274320" y="2286000"/>
            <a:ext cx="4114800" cy="347472"/>
          </a:xfrm>
          <a:prstGeom prst="rect">
            <a:avLst/>
          </a:prstGeom>
          <a:solidFill>
            <a:srgbClr val="FFFFFF"/>
          </a:solidFill>
          <a:ln/>
        </p:spPr>
      </p:sp>
      <p:sp>
        <p:nvSpPr>
          <p:cNvPr id="27" name="Shape 25"/>
          <p:cNvSpPr/>
          <p:nvPr/>
        </p:nvSpPr>
        <p:spPr>
          <a:xfrm>
            <a:off x="274320" y="2286000"/>
            <a:ext cx="640080" cy="347472"/>
          </a:xfrm>
          <a:prstGeom prst="rect">
            <a:avLst/>
          </a:prstGeom>
          <a:solidFill>
            <a:srgbClr val="0E6B8A"/>
          </a:solidFill>
          <a:ln/>
        </p:spPr>
      </p:sp>
      <p:sp>
        <p:nvSpPr>
          <p:cNvPr id="28" name="Text 26"/>
          <p:cNvSpPr/>
          <p:nvPr/>
        </p:nvSpPr>
        <p:spPr>
          <a:xfrm>
            <a:off x="274320" y="2286000"/>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0%</a:t>
            </a:r>
            <a:endParaRPr lang="en-US" sz="1100" dirty="0"/>
          </a:p>
        </p:txBody>
      </p:sp>
      <p:sp>
        <p:nvSpPr>
          <p:cNvPr id="29" name="Text 27"/>
          <p:cNvSpPr/>
          <p:nvPr/>
        </p:nvSpPr>
        <p:spPr>
          <a:xfrm>
            <a:off x="960120" y="2286000"/>
            <a:ext cx="3383280" cy="347472"/>
          </a:xfrm>
          <a:prstGeom prst="rect">
            <a:avLst/>
          </a:prstGeom>
          <a:noFill/>
          <a:ln/>
        </p:spPr>
        <p:txBody>
          <a:bodyPr wrap="square" lIns="0" tIns="0" rIns="0" bIns="0" rtlCol="0" anchor="ctr"/>
          <a:lstStyle/>
          <a:p>
            <a:pPr indent="0" marL="0">
              <a:buNone/>
            </a:pPr>
            <a:r>
              <a:rPr lang="en-US" sz="1000" dirty="0">
                <a:solidFill>
                  <a:srgbClr val="1A1A2E"/>
                </a:solidFill>
              </a:rPr>
              <a:t>OECD sovereign bonds, central bank claims</a:t>
            </a:r>
            <a:endParaRPr lang="en-US" sz="1000" dirty="0"/>
          </a:p>
        </p:txBody>
      </p:sp>
      <p:sp>
        <p:nvSpPr>
          <p:cNvPr id="30" name="Shape 28"/>
          <p:cNvSpPr/>
          <p:nvPr/>
        </p:nvSpPr>
        <p:spPr>
          <a:xfrm>
            <a:off x="274320" y="2633472"/>
            <a:ext cx="4114800" cy="347472"/>
          </a:xfrm>
          <a:prstGeom prst="rect">
            <a:avLst/>
          </a:prstGeom>
          <a:solidFill>
            <a:srgbClr val="F4F6F8"/>
          </a:solidFill>
          <a:ln/>
        </p:spPr>
      </p:sp>
      <p:sp>
        <p:nvSpPr>
          <p:cNvPr id="31" name="Shape 29"/>
          <p:cNvSpPr/>
          <p:nvPr/>
        </p:nvSpPr>
        <p:spPr>
          <a:xfrm>
            <a:off x="274320" y="2633472"/>
            <a:ext cx="640080" cy="347472"/>
          </a:xfrm>
          <a:prstGeom prst="rect">
            <a:avLst/>
          </a:prstGeom>
          <a:solidFill>
            <a:srgbClr val="0E6B8A"/>
          </a:solidFill>
          <a:ln/>
        </p:spPr>
      </p:sp>
      <p:sp>
        <p:nvSpPr>
          <p:cNvPr id="32" name="Text 30"/>
          <p:cNvSpPr/>
          <p:nvPr/>
        </p:nvSpPr>
        <p:spPr>
          <a:xfrm>
            <a:off x="274320" y="2633472"/>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10%</a:t>
            </a:r>
            <a:endParaRPr lang="en-US" sz="1100" dirty="0"/>
          </a:p>
        </p:txBody>
      </p:sp>
      <p:sp>
        <p:nvSpPr>
          <p:cNvPr id="33" name="Text 31"/>
          <p:cNvSpPr/>
          <p:nvPr/>
        </p:nvSpPr>
        <p:spPr>
          <a:xfrm>
            <a:off x="960120" y="2633472"/>
            <a:ext cx="3383280" cy="347472"/>
          </a:xfrm>
          <a:prstGeom prst="rect">
            <a:avLst/>
          </a:prstGeom>
          <a:noFill/>
          <a:ln/>
        </p:spPr>
        <p:txBody>
          <a:bodyPr wrap="square" lIns="0" tIns="0" rIns="0" bIns="0" rtlCol="0" anchor="ctr"/>
          <a:lstStyle/>
          <a:p>
            <a:pPr indent="0" marL="0">
              <a:buNone/>
            </a:pPr>
            <a:r>
              <a:rPr lang="en-US" sz="1000" dirty="0">
                <a:solidFill>
                  <a:srgbClr val="1A1A2E"/>
                </a:solidFill>
              </a:rPr>
              <a:t>Domestic public sector entities (national discretion)</a:t>
            </a:r>
            <a:endParaRPr lang="en-US" sz="1000" dirty="0"/>
          </a:p>
        </p:txBody>
      </p:sp>
      <p:sp>
        <p:nvSpPr>
          <p:cNvPr id="34" name="Shape 32"/>
          <p:cNvSpPr/>
          <p:nvPr/>
        </p:nvSpPr>
        <p:spPr>
          <a:xfrm>
            <a:off x="274320" y="2980944"/>
            <a:ext cx="4114800" cy="347472"/>
          </a:xfrm>
          <a:prstGeom prst="rect">
            <a:avLst/>
          </a:prstGeom>
          <a:solidFill>
            <a:srgbClr val="FFFFFF"/>
          </a:solidFill>
          <a:ln/>
        </p:spPr>
      </p:sp>
      <p:sp>
        <p:nvSpPr>
          <p:cNvPr id="35" name="Shape 33"/>
          <p:cNvSpPr/>
          <p:nvPr/>
        </p:nvSpPr>
        <p:spPr>
          <a:xfrm>
            <a:off x="274320" y="2980944"/>
            <a:ext cx="640080" cy="347472"/>
          </a:xfrm>
          <a:prstGeom prst="rect">
            <a:avLst/>
          </a:prstGeom>
          <a:solidFill>
            <a:srgbClr val="0E6B8A"/>
          </a:solidFill>
          <a:ln/>
        </p:spPr>
      </p:sp>
      <p:sp>
        <p:nvSpPr>
          <p:cNvPr id="36" name="Text 34"/>
          <p:cNvSpPr/>
          <p:nvPr/>
        </p:nvSpPr>
        <p:spPr>
          <a:xfrm>
            <a:off x="274320" y="2980944"/>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20%</a:t>
            </a:r>
            <a:endParaRPr lang="en-US" sz="1100" dirty="0"/>
          </a:p>
        </p:txBody>
      </p:sp>
      <p:sp>
        <p:nvSpPr>
          <p:cNvPr id="37" name="Text 35"/>
          <p:cNvSpPr/>
          <p:nvPr/>
        </p:nvSpPr>
        <p:spPr>
          <a:xfrm>
            <a:off x="960120" y="2980944"/>
            <a:ext cx="3383280" cy="347472"/>
          </a:xfrm>
          <a:prstGeom prst="rect">
            <a:avLst/>
          </a:prstGeom>
          <a:noFill/>
          <a:ln/>
        </p:spPr>
        <p:txBody>
          <a:bodyPr wrap="square" lIns="0" tIns="0" rIns="0" bIns="0" rtlCol="0" anchor="ctr"/>
          <a:lstStyle/>
          <a:p>
            <a:pPr indent="0" marL="0">
              <a:buNone/>
            </a:pPr>
            <a:r>
              <a:rPr lang="en-US" sz="1000" dirty="0">
                <a:solidFill>
                  <a:srgbClr val="1A1A2E"/>
                </a:solidFill>
              </a:rPr>
              <a:t>Multilateral dev. banks; OECD bank claims ≤ 1yr</a:t>
            </a:r>
            <a:endParaRPr lang="en-US" sz="1000" dirty="0"/>
          </a:p>
        </p:txBody>
      </p:sp>
      <p:sp>
        <p:nvSpPr>
          <p:cNvPr id="38" name="Shape 36"/>
          <p:cNvSpPr/>
          <p:nvPr/>
        </p:nvSpPr>
        <p:spPr>
          <a:xfrm>
            <a:off x="274320" y="3328416"/>
            <a:ext cx="4114800" cy="347472"/>
          </a:xfrm>
          <a:prstGeom prst="rect">
            <a:avLst/>
          </a:prstGeom>
          <a:solidFill>
            <a:srgbClr val="F4F6F8"/>
          </a:solidFill>
          <a:ln/>
        </p:spPr>
      </p:sp>
      <p:sp>
        <p:nvSpPr>
          <p:cNvPr id="39" name="Shape 37"/>
          <p:cNvSpPr/>
          <p:nvPr/>
        </p:nvSpPr>
        <p:spPr>
          <a:xfrm>
            <a:off x="274320" y="3328416"/>
            <a:ext cx="640080" cy="347472"/>
          </a:xfrm>
          <a:prstGeom prst="rect">
            <a:avLst/>
          </a:prstGeom>
          <a:solidFill>
            <a:srgbClr val="D4770A"/>
          </a:solidFill>
          <a:ln/>
        </p:spPr>
      </p:sp>
      <p:sp>
        <p:nvSpPr>
          <p:cNvPr id="40" name="Text 38"/>
          <p:cNvSpPr/>
          <p:nvPr/>
        </p:nvSpPr>
        <p:spPr>
          <a:xfrm>
            <a:off x="274320" y="3328416"/>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50%</a:t>
            </a:r>
            <a:endParaRPr lang="en-US" sz="1100" dirty="0"/>
          </a:p>
        </p:txBody>
      </p:sp>
      <p:sp>
        <p:nvSpPr>
          <p:cNvPr id="41" name="Text 39"/>
          <p:cNvSpPr/>
          <p:nvPr/>
        </p:nvSpPr>
        <p:spPr>
          <a:xfrm>
            <a:off x="960120" y="3328416"/>
            <a:ext cx="3383280" cy="347472"/>
          </a:xfrm>
          <a:prstGeom prst="rect">
            <a:avLst/>
          </a:prstGeom>
          <a:noFill/>
          <a:ln/>
        </p:spPr>
        <p:txBody>
          <a:bodyPr wrap="square" lIns="0" tIns="0" rIns="0" bIns="0" rtlCol="0" anchor="ctr"/>
          <a:lstStyle/>
          <a:p>
            <a:pPr indent="0" marL="0">
              <a:buNone/>
            </a:pPr>
            <a:r>
              <a:rPr lang="en-US" sz="1000" dirty="0">
                <a:solidFill>
                  <a:srgbClr val="1A1A2E"/>
                </a:solidFill>
              </a:rPr>
              <a:t>Residential mortgage loans</a:t>
            </a:r>
            <a:endParaRPr lang="en-US" sz="1000" dirty="0"/>
          </a:p>
        </p:txBody>
      </p:sp>
      <p:sp>
        <p:nvSpPr>
          <p:cNvPr id="42" name="Shape 40"/>
          <p:cNvSpPr/>
          <p:nvPr/>
        </p:nvSpPr>
        <p:spPr>
          <a:xfrm>
            <a:off x="274320" y="3675888"/>
            <a:ext cx="4114800" cy="347472"/>
          </a:xfrm>
          <a:prstGeom prst="rect">
            <a:avLst/>
          </a:prstGeom>
          <a:solidFill>
            <a:srgbClr val="FFFFFF"/>
          </a:solidFill>
          <a:ln/>
        </p:spPr>
      </p:sp>
      <p:sp>
        <p:nvSpPr>
          <p:cNvPr id="43" name="Shape 41"/>
          <p:cNvSpPr/>
          <p:nvPr/>
        </p:nvSpPr>
        <p:spPr>
          <a:xfrm>
            <a:off x="274320" y="3675888"/>
            <a:ext cx="640080" cy="347472"/>
          </a:xfrm>
          <a:prstGeom prst="rect">
            <a:avLst/>
          </a:prstGeom>
          <a:solidFill>
            <a:srgbClr val="8B0000"/>
          </a:solidFill>
          <a:ln/>
        </p:spPr>
      </p:sp>
      <p:sp>
        <p:nvSpPr>
          <p:cNvPr id="44" name="Text 42"/>
          <p:cNvSpPr/>
          <p:nvPr/>
        </p:nvSpPr>
        <p:spPr>
          <a:xfrm>
            <a:off x="274320" y="3675888"/>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100%</a:t>
            </a:r>
            <a:endParaRPr lang="en-US" sz="1100" dirty="0"/>
          </a:p>
        </p:txBody>
      </p:sp>
      <p:sp>
        <p:nvSpPr>
          <p:cNvPr id="45" name="Text 43"/>
          <p:cNvSpPr/>
          <p:nvPr/>
        </p:nvSpPr>
        <p:spPr>
          <a:xfrm>
            <a:off x="960120" y="3675888"/>
            <a:ext cx="3383280" cy="347472"/>
          </a:xfrm>
          <a:prstGeom prst="rect">
            <a:avLst/>
          </a:prstGeom>
          <a:noFill/>
          <a:ln/>
        </p:spPr>
        <p:txBody>
          <a:bodyPr wrap="square" lIns="0" tIns="0" rIns="0" bIns="0" rtlCol="0" anchor="ctr"/>
          <a:lstStyle/>
          <a:p>
            <a:pPr indent="0" marL="0">
              <a:buNone/>
            </a:pPr>
            <a:r>
              <a:rPr lang="en-US" sz="1000" dirty="0">
                <a:solidFill>
                  <a:srgbClr val="1A1A2E"/>
                </a:solidFill>
              </a:rPr>
              <a:t>Corporate, non-OECD banks, all other assets</a:t>
            </a:r>
            <a:endParaRPr lang="en-US" sz="1000" dirty="0"/>
          </a:p>
        </p:txBody>
      </p:sp>
      <p:sp>
        <p:nvSpPr>
          <p:cNvPr id="46" name="Shape 44"/>
          <p:cNvSpPr/>
          <p:nvPr/>
        </p:nvSpPr>
        <p:spPr>
          <a:xfrm>
            <a:off x="4617720" y="1965960"/>
            <a:ext cx="4206240" cy="320040"/>
          </a:xfrm>
          <a:prstGeom prst="rect">
            <a:avLst/>
          </a:prstGeom>
          <a:solidFill>
            <a:srgbClr val="8B0000"/>
          </a:solidFill>
          <a:ln/>
        </p:spPr>
      </p:sp>
      <p:sp>
        <p:nvSpPr>
          <p:cNvPr id="47" name="Text 45"/>
          <p:cNvSpPr/>
          <p:nvPr/>
        </p:nvSpPr>
        <p:spPr>
          <a:xfrm>
            <a:off x="4617720" y="1965960"/>
            <a:ext cx="4206240" cy="320040"/>
          </a:xfrm>
          <a:prstGeom prst="rect">
            <a:avLst/>
          </a:prstGeom>
          <a:noFill/>
          <a:ln/>
        </p:spPr>
        <p:txBody>
          <a:bodyPr wrap="square" lIns="0" tIns="0" rIns="0" bIns="0" rtlCol="0" anchor="ctr"/>
          <a:lstStyle/>
          <a:p>
            <a:pPr algn="ctr" indent="0" marL="0">
              <a:buNone/>
            </a:pPr>
            <a:r>
              <a:rPr lang="en-US" sz="1000" b="1" dirty="0">
                <a:solidFill>
                  <a:srgbClr val="FFFFFF"/>
                </a:solidFill>
              </a:rPr>
              <a:t>KEY LIMITATIONS</a:t>
            </a:r>
            <a:endParaRPr lang="en-US" sz="1000" dirty="0"/>
          </a:p>
        </p:txBody>
      </p:sp>
      <p:sp>
        <p:nvSpPr>
          <p:cNvPr id="48" name="Shape 46"/>
          <p:cNvSpPr/>
          <p:nvPr/>
        </p:nvSpPr>
        <p:spPr>
          <a:xfrm>
            <a:off x="4617720" y="2286000"/>
            <a:ext cx="4206240" cy="347472"/>
          </a:xfrm>
          <a:prstGeom prst="rect">
            <a:avLst/>
          </a:prstGeom>
          <a:solidFill>
            <a:srgbClr val="FFFFFF"/>
          </a:solidFill>
          <a:ln/>
        </p:spPr>
      </p:sp>
      <p:sp>
        <p:nvSpPr>
          <p:cNvPr id="49" name="Shape 47"/>
          <p:cNvSpPr/>
          <p:nvPr/>
        </p:nvSpPr>
        <p:spPr>
          <a:xfrm>
            <a:off x="4617720" y="2414016"/>
            <a:ext cx="54864" cy="91440"/>
          </a:xfrm>
          <a:prstGeom prst="rect">
            <a:avLst/>
          </a:prstGeom>
          <a:solidFill>
            <a:srgbClr val="8B0000"/>
          </a:solidFill>
          <a:ln/>
        </p:spPr>
      </p:sp>
      <p:sp>
        <p:nvSpPr>
          <p:cNvPr id="50" name="Text 48"/>
          <p:cNvSpPr/>
          <p:nvPr/>
        </p:nvSpPr>
        <p:spPr>
          <a:xfrm>
            <a:off x="4736592" y="2286000"/>
            <a:ext cx="4041648" cy="347472"/>
          </a:xfrm>
          <a:prstGeom prst="rect">
            <a:avLst/>
          </a:prstGeom>
          <a:noFill/>
          <a:ln/>
        </p:spPr>
        <p:txBody>
          <a:bodyPr wrap="square" lIns="0" tIns="0" rIns="0" bIns="0" rtlCol="0" anchor="ctr"/>
          <a:lstStyle/>
          <a:p>
            <a:pPr indent="0" marL="0">
              <a:buNone/>
            </a:pPr>
            <a:r>
              <a:rPr lang="en-US" sz="950" dirty="0">
                <a:solidFill>
                  <a:srgbClr val="1A1A2E"/>
                </a:solidFill>
              </a:rPr>
              <a:t>Only credit risk covered — market and operational risk absent</a:t>
            </a:r>
            <a:endParaRPr lang="en-US" sz="950" dirty="0"/>
          </a:p>
        </p:txBody>
      </p:sp>
      <p:sp>
        <p:nvSpPr>
          <p:cNvPr id="51" name="Shape 49"/>
          <p:cNvSpPr/>
          <p:nvPr/>
        </p:nvSpPr>
        <p:spPr>
          <a:xfrm>
            <a:off x="4617720" y="2633472"/>
            <a:ext cx="4206240" cy="347472"/>
          </a:xfrm>
          <a:prstGeom prst="rect">
            <a:avLst/>
          </a:prstGeom>
          <a:solidFill>
            <a:srgbClr val="F4F6F8"/>
          </a:solidFill>
          <a:ln/>
        </p:spPr>
      </p:sp>
      <p:sp>
        <p:nvSpPr>
          <p:cNvPr id="52" name="Shape 50"/>
          <p:cNvSpPr/>
          <p:nvPr/>
        </p:nvSpPr>
        <p:spPr>
          <a:xfrm>
            <a:off x="4617720" y="2761488"/>
            <a:ext cx="54864" cy="91440"/>
          </a:xfrm>
          <a:prstGeom prst="rect">
            <a:avLst/>
          </a:prstGeom>
          <a:solidFill>
            <a:srgbClr val="8B0000"/>
          </a:solidFill>
          <a:ln/>
        </p:spPr>
      </p:sp>
      <p:sp>
        <p:nvSpPr>
          <p:cNvPr id="53" name="Text 51"/>
          <p:cNvSpPr/>
          <p:nvPr/>
        </p:nvSpPr>
        <p:spPr>
          <a:xfrm>
            <a:off x="4736592" y="2633472"/>
            <a:ext cx="4041648" cy="347472"/>
          </a:xfrm>
          <a:prstGeom prst="rect">
            <a:avLst/>
          </a:prstGeom>
          <a:noFill/>
          <a:ln/>
        </p:spPr>
        <p:txBody>
          <a:bodyPr wrap="square" lIns="0" tIns="0" rIns="0" bIns="0" rtlCol="0" anchor="ctr"/>
          <a:lstStyle/>
          <a:p>
            <a:pPr indent="0" marL="0">
              <a:buNone/>
            </a:pPr>
            <a:r>
              <a:rPr lang="en-US" sz="950" dirty="0">
                <a:solidFill>
                  <a:srgbClr val="1A1A2E"/>
                </a:solidFill>
              </a:rPr>
              <a:t>Risk weights based on OECD membership, not credit quality</a:t>
            </a:r>
            <a:endParaRPr lang="en-US" sz="950" dirty="0"/>
          </a:p>
        </p:txBody>
      </p:sp>
      <p:sp>
        <p:nvSpPr>
          <p:cNvPr id="54" name="Shape 52"/>
          <p:cNvSpPr/>
          <p:nvPr/>
        </p:nvSpPr>
        <p:spPr>
          <a:xfrm>
            <a:off x="4617720" y="2980944"/>
            <a:ext cx="4206240" cy="347472"/>
          </a:xfrm>
          <a:prstGeom prst="rect">
            <a:avLst/>
          </a:prstGeom>
          <a:solidFill>
            <a:srgbClr val="FFFFFF"/>
          </a:solidFill>
          <a:ln/>
        </p:spPr>
      </p:sp>
      <p:sp>
        <p:nvSpPr>
          <p:cNvPr id="55" name="Shape 53"/>
          <p:cNvSpPr/>
          <p:nvPr/>
        </p:nvSpPr>
        <p:spPr>
          <a:xfrm>
            <a:off x="4617720" y="3108960"/>
            <a:ext cx="54864" cy="91440"/>
          </a:xfrm>
          <a:prstGeom prst="rect">
            <a:avLst/>
          </a:prstGeom>
          <a:solidFill>
            <a:srgbClr val="8B0000"/>
          </a:solidFill>
          <a:ln/>
        </p:spPr>
      </p:sp>
      <p:sp>
        <p:nvSpPr>
          <p:cNvPr id="56" name="Text 54"/>
          <p:cNvSpPr/>
          <p:nvPr/>
        </p:nvSpPr>
        <p:spPr>
          <a:xfrm>
            <a:off x="4736592" y="2980944"/>
            <a:ext cx="4041648" cy="347472"/>
          </a:xfrm>
          <a:prstGeom prst="rect">
            <a:avLst/>
          </a:prstGeom>
          <a:noFill/>
          <a:ln/>
        </p:spPr>
        <p:txBody>
          <a:bodyPr wrap="square" lIns="0" tIns="0" rIns="0" bIns="0" rtlCol="0" anchor="ctr"/>
          <a:lstStyle/>
          <a:p>
            <a:pPr indent="0" marL="0">
              <a:buNone/>
            </a:pPr>
            <a:r>
              <a:rPr lang="en-US" sz="950" dirty="0">
                <a:solidFill>
                  <a:srgbClr val="1A1A2E"/>
                </a:solidFill>
              </a:rPr>
              <a:t>No sensitivity to borrower creditworthiness within asset classes</a:t>
            </a:r>
            <a:endParaRPr lang="en-US" sz="950" dirty="0"/>
          </a:p>
        </p:txBody>
      </p:sp>
      <p:sp>
        <p:nvSpPr>
          <p:cNvPr id="57" name="Shape 55"/>
          <p:cNvSpPr/>
          <p:nvPr/>
        </p:nvSpPr>
        <p:spPr>
          <a:xfrm>
            <a:off x="4617720" y="3328416"/>
            <a:ext cx="4206240" cy="347472"/>
          </a:xfrm>
          <a:prstGeom prst="rect">
            <a:avLst/>
          </a:prstGeom>
          <a:solidFill>
            <a:srgbClr val="F4F6F8"/>
          </a:solidFill>
          <a:ln/>
        </p:spPr>
      </p:sp>
      <p:sp>
        <p:nvSpPr>
          <p:cNvPr id="58" name="Shape 56"/>
          <p:cNvSpPr/>
          <p:nvPr/>
        </p:nvSpPr>
        <p:spPr>
          <a:xfrm>
            <a:off x="4617720" y="3456432"/>
            <a:ext cx="54864" cy="91440"/>
          </a:xfrm>
          <a:prstGeom prst="rect">
            <a:avLst/>
          </a:prstGeom>
          <a:solidFill>
            <a:srgbClr val="8B0000"/>
          </a:solidFill>
          <a:ln/>
        </p:spPr>
      </p:sp>
      <p:sp>
        <p:nvSpPr>
          <p:cNvPr id="59" name="Text 57"/>
          <p:cNvSpPr/>
          <p:nvPr/>
        </p:nvSpPr>
        <p:spPr>
          <a:xfrm>
            <a:off x="4736592" y="3328416"/>
            <a:ext cx="4041648" cy="347472"/>
          </a:xfrm>
          <a:prstGeom prst="rect">
            <a:avLst/>
          </a:prstGeom>
          <a:noFill/>
          <a:ln/>
        </p:spPr>
        <p:txBody>
          <a:bodyPr wrap="square" lIns="0" tIns="0" rIns="0" bIns="0" rtlCol="0" anchor="ctr"/>
          <a:lstStyle/>
          <a:p>
            <a:pPr indent="0" marL="0">
              <a:buNone/>
            </a:pPr>
            <a:r>
              <a:rPr lang="en-US" sz="950" dirty="0">
                <a:solidFill>
                  <a:srgbClr val="1A1A2E"/>
                </a:solidFill>
              </a:rPr>
              <a:t>Fixed buckets easily gamed via securitisation</a:t>
            </a:r>
            <a:endParaRPr lang="en-US" sz="950" dirty="0"/>
          </a:p>
        </p:txBody>
      </p:sp>
      <p:sp>
        <p:nvSpPr>
          <p:cNvPr id="60" name="Shape 58"/>
          <p:cNvSpPr/>
          <p:nvPr/>
        </p:nvSpPr>
        <p:spPr>
          <a:xfrm>
            <a:off x="4617720" y="3675888"/>
            <a:ext cx="4206240" cy="347472"/>
          </a:xfrm>
          <a:prstGeom prst="rect">
            <a:avLst/>
          </a:prstGeom>
          <a:solidFill>
            <a:srgbClr val="FFFFFF"/>
          </a:solidFill>
          <a:ln/>
        </p:spPr>
      </p:sp>
      <p:sp>
        <p:nvSpPr>
          <p:cNvPr id="61" name="Shape 59"/>
          <p:cNvSpPr/>
          <p:nvPr/>
        </p:nvSpPr>
        <p:spPr>
          <a:xfrm>
            <a:off x="4617720" y="3803904"/>
            <a:ext cx="54864" cy="91440"/>
          </a:xfrm>
          <a:prstGeom prst="rect">
            <a:avLst/>
          </a:prstGeom>
          <a:solidFill>
            <a:srgbClr val="8B0000"/>
          </a:solidFill>
          <a:ln/>
        </p:spPr>
      </p:sp>
      <p:sp>
        <p:nvSpPr>
          <p:cNvPr id="62" name="Text 60"/>
          <p:cNvSpPr/>
          <p:nvPr/>
        </p:nvSpPr>
        <p:spPr>
          <a:xfrm>
            <a:off x="4736592" y="3675888"/>
            <a:ext cx="4041648" cy="347472"/>
          </a:xfrm>
          <a:prstGeom prst="rect">
            <a:avLst/>
          </a:prstGeom>
          <a:noFill/>
          <a:ln/>
        </p:spPr>
        <p:txBody>
          <a:bodyPr wrap="square" lIns="0" tIns="0" rIns="0" bIns="0" rtlCol="0" anchor="ctr"/>
          <a:lstStyle/>
          <a:p>
            <a:pPr indent="0" marL="0">
              <a:buNone/>
            </a:pPr>
            <a:r>
              <a:rPr lang="en-US" sz="950" dirty="0">
                <a:solidFill>
                  <a:srgbClr val="1A1A2E"/>
                </a:solidFill>
              </a:rPr>
              <a:t>No liquidity, leverage, or concentration risk requirements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Basel II — 2004</a:t>
            </a:r>
            <a:endParaRPr lang="en-US" sz="900" dirty="0"/>
          </a:p>
        </p:txBody>
      </p:sp>
      <p:sp>
        <p:nvSpPr>
          <p:cNvPr id="4" name="Shape 2"/>
          <p:cNvSpPr/>
          <p:nvPr/>
        </p:nvSpPr>
        <p:spPr>
          <a:xfrm>
            <a:off x="0" y="0"/>
            <a:ext cx="9144000" cy="658368"/>
          </a:xfrm>
          <a:prstGeom prst="rect">
            <a:avLst/>
          </a:prstGeom>
          <a:solidFill>
            <a:srgbClr val="0E6B8A"/>
          </a:solidFill>
          <a:ln/>
        </p:spPr>
      </p:sp>
      <p:sp>
        <p:nvSpPr>
          <p:cNvPr id="5" name="Text 3"/>
          <p:cNvSpPr/>
          <p:nvPr/>
        </p:nvSpPr>
        <p:spPr>
          <a:xfrm>
            <a:off x="365760" y="0"/>
            <a:ext cx="6400800" cy="658368"/>
          </a:xfrm>
          <a:prstGeom prst="rect">
            <a:avLst/>
          </a:prstGeom>
          <a:noFill/>
          <a:ln/>
        </p:spPr>
        <p:txBody>
          <a:bodyPr wrap="square" lIns="0" tIns="0" rIns="0" bIns="0" rtlCol="0" anchor="ctr"/>
          <a:lstStyle/>
          <a:p>
            <a:pPr indent="0" marL="0">
              <a:buNone/>
            </a:pPr>
            <a:r>
              <a:rPr lang="en-US" sz="2200" b="1" dirty="0">
                <a:solidFill>
                  <a:srgbClr val="FFFFFF"/>
                </a:solidFill>
              </a:rPr>
              <a:t>Basel II  —  The Three Pillars Framework</a:t>
            </a:r>
            <a:endParaRPr lang="en-US" sz="2200" dirty="0"/>
          </a:p>
        </p:txBody>
      </p:sp>
      <p:sp>
        <p:nvSpPr>
          <p:cNvPr id="6" name="Shape 4"/>
          <p:cNvSpPr/>
          <p:nvPr/>
        </p:nvSpPr>
        <p:spPr>
          <a:xfrm>
            <a:off x="6583680" y="201168"/>
            <a:ext cx="2125066" cy="256032"/>
          </a:xfrm>
          <a:prstGeom prst="rect">
            <a:avLst/>
          </a:prstGeom>
          <a:solidFill>
            <a:srgbClr val="C9A84C"/>
          </a:solidFill>
          <a:ln w="12700">
            <a:solidFill>
              <a:srgbClr val="C9A84C"/>
            </a:solidFill>
            <a:prstDash val="solid"/>
          </a:ln>
        </p:spPr>
      </p:sp>
      <p:sp>
        <p:nvSpPr>
          <p:cNvPr id="7" name="Text 5"/>
          <p:cNvSpPr/>
          <p:nvPr/>
        </p:nvSpPr>
        <p:spPr>
          <a:xfrm>
            <a:off x="6583680" y="201168"/>
            <a:ext cx="2125066" cy="256032"/>
          </a:xfrm>
          <a:prstGeom prst="rect">
            <a:avLst/>
          </a:prstGeom>
          <a:noFill/>
          <a:ln/>
        </p:spPr>
        <p:txBody>
          <a:bodyPr wrap="square" lIns="0" tIns="0" rIns="0" bIns="0" rtlCol="0" anchor="ctr"/>
          <a:lstStyle/>
          <a:p>
            <a:pPr algn="ctr" indent="0" marL="0">
              <a:buNone/>
            </a:pPr>
            <a:r>
              <a:rPr lang="en-US" sz="800" b="1" dirty="0">
                <a:solidFill>
                  <a:srgbClr val="FFFFFF"/>
                </a:solidFill>
              </a:rPr>
              <a:t>2004 · IMPLEMENTED 2008</a:t>
            </a:r>
            <a:endParaRPr lang="en-US" sz="800" dirty="0"/>
          </a:p>
        </p:txBody>
      </p:sp>
      <p:sp>
        <p:nvSpPr>
          <p:cNvPr id="8" name="Shape 6"/>
          <p:cNvSpPr/>
          <p:nvPr/>
        </p:nvSpPr>
        <p:spPr>
          <a:xfrm>
            <a:off x="256032" y="777240"/>
            <a:ext cx="2743200" cy="38862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56032" y="777240"/>
            <a:ext cx="2743200" cy="502920"/>
          </a:xfrm>
          <a:prstGeom prst="rect">
            <a:avLst/>
          </a:prstGeom>
          <a:solidFill>
            <a:srgbClr val="1B3A6B"/>
          </a:solidFill>
          <a:ln/>
        </p:spPr>
      </p:sp>
      <p:sp>
        <p:nvSpPr>
          <p:cNvPr id="10" name="Text 8"/>
          <p:cNvSpPr/>
          <p:nvPr/>
        </p:nvSpPr>
        <p:spPr>
          <a:xfrm>
            <a:off x="256032" y="777240"/>
            <a:ext cx="2743200" cy="502920"/>
          </a:xfrm>
          <a:prstGeom prst="rect">
            <a:avLst/>
          </a:prstGeom>
          <a:noFill/>
          <a:ln/>
        </p:spPr>
        <p:txBody>
          <a:bodyPr wrap="square" lIns="0" tIns="0" rIns="0" bIns="0" rtlCol="0" anchor="ctr"/>
          <a:lstStyle/>
          <a:p>
            <a:pPr algn="ctr" indent="0" marL="0">
              <a:buNone/>
            </a:pPr>
            <a:r>
              <a:rPr lang="en-US" sz="1600" b="1" dirty="0">
                <a:solidFill>
                  <a:srgbClr val="FFFFFF"/>
                </a:solidFill>
              </a:rPr>
              <a:t>PILLAR 1</a:t>
            </a:r>
            <a:endParaRPr lang="en-US" sz="1600" dirty="0"/>
          </a:p>
        </p:txBody>
      </p:sp>
      <p:sp>
        <p:nvSpPr>
          <p:cNvPr id="11" name="Text 9"/>
          <p:cNvSpPr/>
          <p:nvPr/>
        </p:nvSpPr>
        <p:spPr>
          <a:xfrm>
            <a:off x="365760" y="1325880"/>
            <a:ext cx="2523744" cy="347472"/>
          </a:xfrm>
          <a:prstGeom prst="rect">
            <a:avLst/>
          </a:prstGeom>
          <a:noFill/>
          <a:ln/>
        </p:spPr>
        <p:txBody>
          <a:bodyPr wrap="square" lIns="0" tIns="0" rIns="0" bIns="0" rtlCol="0" anchor="ctr"/>
          <a:lstStyle/>
          <a:p>
            <a:pPr indent="0" marL="0">
              <a:buNone/>
            </a:pPr>
            <a:r>
              <a:rPr lang="en-US" sz="1200" b="1" dirty="0">
                <a:solidFill>
                  <a:srgbClr val="1B3A6B"/>
                </a:solidFill>
              </a:rPr>
              <a:t>Minimum Capital</a:t>
            </a:r>
            <a:endParaRPr lang="en-US" sz="1200" dirty="0"/>
          </a:p>
        </p:txBody>
      </p:sp>
      <p:sp>
        <p:nvSpPr>
          <p:cNvPr id="12" name="Text 10"/>
          <p:cNvSpPr/>
          <p:nvPr/>
        </p:nvSpPr>
        <p:spPr>
          <a:xfrm>
            <a:off x="365760" y="1719072"/>
            <a:ext cx="2523744" cy="2834640"/>
          </a:xfrm>
          <a:prstGeom prst="rect">
            <a:avLst/>
          </a:prstGeom>
          <a:noFill/>
          <a:ln/>
        </p:spPr>
        <p:txBody>
          <a:bodyPr wrap="square" lIns="0" tIns="0" rIns="0" bIns="0" rtlCol="0" anchor="t"/>
          <a:lstStyle/>
          <a:p>
            <a:pPr indent="0" marL="0">
              <a:buNone/>
            </a:pPr>
            <a:r>
              <a:rPr lang="en-US" sz="1000" dirty="0">
                <a:solidFill>
                  <a:srgbClr val="1A1A2E"/>
                </a:solidFill>
              </a:rPr>
              <a:t>Credit risk: SA / F-IRB / A-IRB based on PD, LGD, EAD.</a:t>
            </a:r>
            <a:endParaRPr lang="en-US" sz="1000" dirty="0"/>
          </a:p>
          <a:p>
            <a:pPr indent="0" marL="0">
              <a:buNone/>
            </a:pPr>
            <a:r>
              <a:rPr lang="en-US" sz="1000" dirty="0">
                <a:solidFill>
                  <a:srgbClr val="1A1A2E"/>
                </a:solidFill>
              </a:rPr>
              <a:t>Market risk: VaR 99%/10-day (1996 Amendment).</a:t>
            </a:r>
            <a:endParaRPr lang="en-US" sz="1000" dirty="0"/>
          </a:p>
          <a:p>
            <a:pPr indent="0" marL="0">
              <a:buNone/>
            </a:pPr>
            <a:r>
              <a:rPr lang="en-US" sz="1000" dirty="0">
                <a:solidFill>
                  <a:srgbClr val="1A1A2E"/>
                </a:solidFill>
              </a:rPr>
              <a:t>Operational risk: BIA / TSA / AMA — first formal OpRisk capital.</a:t>
            </a:r>
            <a:endParaRPr lang="en-US" sz="1000" dirty="0"/>
          </a:p>
        </p:txBody>
      </p:sp>
      <p:sp>
        <p:nvSpPr>
          <p:cNvPr id="13" name="Shape 11"/>
          <p:cNvSpPr/>
          <p:nvPr/>
        </p:nvSpPr>
        <p:spPr>
          <a:xfrm>
            <a:off x="3136392" y="777240"/>
            <a:ext cx="2743200" cy="38862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4" name="Shape 12"/>
          <p:cNvSpPr/>
          <p:nvPr/>
        </p:nvSpPr>
        <p:spPr>
          <a:xfrm>
            <a:off x="3136392" y="777240"/>
            <a:ext cx="2743200" cy="502920"/>
          </a:xfrm>
          <a:prstGeom prst="rect">
            <a:avLst/>
          </a:prstGeom>
          <a:solidFill>
            <a:srgbClr val="0E6B8A"/>
          </a:solidFill>
          <a:ln/>
        </p:spPr>
      </p:sp>
      <p:sp>
        <p:nvSpPr>
          <p:cNvPr id="15" name="Text 13"/>
          <p:cNvSpPr/>
          <p:nvPr/>
        </p:nvSpPr>
        <p:spPr>
          <a:xfrm>
            <a:off x="3136392" y="777240"/>
            <a:ext cx="2743200" cy="502920"/>
          </a:xfrm>
          <a:prstGeom prst="rect">
            <a:avLst/>
          </a:prstGeom>
          <a:noFill/>
          <a:ln/>
        </p:spPr>
        <p:txBody>
          <a:bodyPr wrap="square" lIns="0" tIns="0" rIns="0" bIns="0" rtlCol="0" anchor="ctr"/>
          <a:lstStyle/>
          <a:p>
            <a:pPr algn="ctr" indent="0" marL="0">
              <a:buNone/>
            </a:pPr>
            <a:r>
              <a:rPr lang="en-US" sz="1600" b="1" dirty="0">
                <a:solidFill>
                  <a:srgbClr val="FFFFFF"/>
                </a:solidFill>
              </a:rPr>
              <a:t>PILLAR 2</a:t>
            </a:r>
            <a:endParaRPr lang="en-US" sz="1600" dirty="0"/>
          </a:p>
        </p:txBody>
      </p:sp>
      <p:sp>
        <p:nvSpPr>
          <p:cNvPr id="16" name="Text 14"/>
          <p:cNvSpPr/>
          <p:nvPr/>
        </p:nvSpPr>
        <p:spPr>
          <a:xfrm>
            <a:off x="3246120" y="1325880"/>
            <a:ext cx="2523744" cy="347472"/>
          </a:xfrm>
          <a:prstGeom prst="rect">
            <a:avLst/>
          </a:prstGeom>
          <a:noFill/>
          <a:ln/>
        </p:spPr>
        <p:txBody>
          <a:bodyPr wrap="square" lIns="0" tIns="0" rIns="0" bIns="0" rtlCol="0" anchor="ctr"/>
          <a:lstStyle/>
          <a:p>
            <a:pPr indent="0" marL="0">
              <a:buNone/>
            </a:pPr>
            <a:r>
              <a:rPr lang="en-US" sz="1200" b="1" dirty="0">
                <a:solidFill>
                  <a:srgbClr val="0E6B8A"/>
                </a:solidFill>
              </a:rPr>
              <a:t>Supervisory Review</a:t>
            </a:r>
            <a:endParaRPr lang="en-US" sz="1200" dirty="0"/>
          </a:p>
        </p:txBody>
      </p:sp>
      <p:sp>
        <p:nvSpPr>
          <p:cNvPr id="17" name="Text 15"/>
          <p:cNvSpPr/>
          <p:nvPr/>
        </p:nvSpPr>
        <p:spPr>
          <a:xfrm>
            <a:off x="3246120" y="1719072"/>
            <a:ext cx="2523744" cy="2834640"/>
          </a:xfrm>
          <a:prstGeom prst="rect">
            <a:avLst/>
          </a:prstGeom>
          <a:noFill/>
          <a:ln/>
        </p:spPr>
        <p:txBody>
          <a:bodyPr wrap="square" lIns="0" tIns="0" rIns="0" bIns="0" rtlCol="0" anchor="t"/>
          <a:lstStyle/>
          <a:p>
            <a:pPr indent="0" marL="0">
              <a:buNone/>
            </a:pPr>
            <a:r>
              <a:rPr lang="en-US" sz="1000" dirty="0">
                <a:solidFill>
                  <a:srgbClr val="1A1A2E"/>
                </a:solidFill>
              </a:rPr>
              <a:t>ICAAP: banks self-assess all material risks including those outside Pillar 1 (concentration, IRRBB, liquidity, reputational).</a:t>
            </a:r>
            <a:endParaRPr lang="en-US" sz="1000" dirty="0"/>
          </a:p>
          <a:p>
            <a:pPr indent="0" marL="0">
              <a:buNone/>
            </a:pPr>
            <a:r>
              <a:rPr lang="en-US" sz="1000" dirty="0">
                <a:solidFill>
                  <a:srgbClr val="1A1A2E"/>
                </a:solidFill>
              </a:rPr>
              <a:t>Supervisors can impose Pillar 2 add-ons above the Pillar 1 minimum.</a:t>
            </a:r>
            <a:endParaRPr lang="en-US" sz="1000" dirty="0"/>
          </a:p>
        </p:txBody>
      </p:sp>
      <p:sp>
        <p:nvSpPr>
          <p:cNvPr id="18" name="Shape 16"/>
          <p:cNvSpPr/>
          <p:nvPr/>
        </p:nvSpPr>
        <p:spPr>
          <a:xfrm>
            <a:off x="6016752" y="777240"/>
            <a:ext cx="2743200" cy="38862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7"/>
          <p:cNvSpPr/>
          <p:nvPr/>
        </p:nvSpPr>
        <p:spPr>
          <a:xfrm>
            <a:off x="6016752" y="777240"/>
            <a:ext cx="2743200" cy="502920"/>
          </a:xfrm>
          <a:prstGeom prst="rect">
            <a:avLst/>
          </a:prstGeom>
          <a:solidFill>
            <a:srgbClr val="C9A84C"/>
          </a:solidFill>
          <a:ln/>
        </p:spPr>
      </p:sp>
      <p:sp>
        <p:nvSpPr>
          <p:cNvPr id="20" name="Text 18"/>
          <p:cNvSpPr/>
          <p:nvPr/>
        </p:nvSpPr>
        <p:spPr>
          <a:xfrm>
            <a:off x="6016752" y="777240"/>
            <a:ext cx="2743200" cy="502920"/>
          </a:xfrm>
          <a:prstGeom prst="rect">
            <a:avLst/>
          </a:prstGeom>
          <a:noFill/>
          <a:ln/>
        </p:spPr>
        <p:txBody>
          <a:bodyPr wrap="square" lIns="0" tIns="0" rIns="0" bIns="0" rtlCol="0" anchor="ctr"/>
          <a:lstStyle/>
          <a:p>
            <a:pPr algn="ctr" indent="0" marL="0">
              <a:buNone/>
            </a:pPr>
            <a:r>
              <a:rPr lang="en-US" sz="1600" b="1" dirty="0">
                <a:solidFill>
                  <a:srgbClr val="FFFFFF"/>
                </a:solidFill>
              </a:rPr>
              <a:t>PILLAR 3</a:t>
            </a:r>
            <a:endParaRPr lang="en-US" sz="1600" dirty="0"/>
          </a:p>
        </p:txBody>
      </p:sp>
      <p:sp>
        <p:nvSpPr>
          <p:cNvPr id="21" name="Text 19"/>
          <p:cNvSpPr/>
          <p:nvPr/>
        </p:nvSpPr>
        <p:spPr>
          <a:xfrm>
            <a:off x="6126480" y="1325880"/>
            <a:ext cx="2523744" cy="347472"/>
          </a:xfrm>
          <a:prstGeom prst="rect">
            <a:avLst/>
          </a:prstGeom>
          <a:noFill/>
          <a:ln/>
        </p:spPr>
        <p:txBody>
          <a:bodyPr wrap="square" lIns="0" tIns="0" rIns="0" bIns="0" rtlCol="0" anchor="ctr"/>
          <a:lstStyle/>
          <a:p>
            <a:pPr indent="0" marL="0">
              <a:buNone/>
            </a:pPr>
            <a:r>
              <a:rPr lang="en-US" sz="1200" b="1" dirty="0">
                <a:solidFill>
                  <a:srgbClr val="C9A84C"/>
                </a:solidFill>
              </a:rPr>
              <a:t>Market Discipline</a:t>
            </a:r>
            <a:endParaRPr lang="en-US" sz="1200" dirty="0"/>
          </a:p>
        </p:txBody>
      </p:sp>
      <p:sp>
        <p:nvSpPr>
          <p:cNvPr id="22" name="Text 20"/>
          <p:cNvSpPr/>
          <p:nvPr/>
        </p:nvSpPr>
        <p:spPr>
          <a:xfrm>
            <a:off x="6126480" y="1719072"/>
            <a:ext cx="2523744" cy="2834640"/>
          </a:xfrm>
          <a:prstGeom prst="rect">
            <a:avLst/>
          </a:prstGeom>
          <a:noFill/>
          <a:ln/>
        </p:spPr>
        <p:txBody>
          <a:bodyPr wrap="square" lIns="0" tIns="0" rIns="0" bIns="0" rtlCol="0" anchor="t"/>
          <a:lstStyle/>
          <a:p>
            <a:pPr indent="0" marL="0">
              <a:buNone/>
            </a:pPr>
            <a:r>
              <a:rPr lang="en-US" sz="1000" dirty="0">
                <a:solidFill>
                  <a:srgbClr val="1A1A2E"/>
                </a:solidFill>
              </a:rPr>
              <a:t>Mandatory public disclosure of capital structure, RWA composition, risk exposures, and capital adequacy ratios.</a:t>
            </a:r>
            <a:endParaRPr lang="en-US" sz="1000" dirty="0"/>
          </a:p>
          <a:p>
            <a:pPr indent="0" marL="0">
              <a:buNone/>
            </a:pPr>
            <a:r>
              <a:rPr lang="en-US" sz="1000" dirty="0">
                <a:solidFill>
                  <a:srgbClr val="1A1A2E"/>
                </a:solidFill>
              </a:rPr>
              <a:t>Transparency enables market participants to price risk and exert discipline.</a:t>
            </a:r>
            <a:endParaRPr lang="en-US" sz="1000" dirty="0"/>
          </a:p>
        </p:txBody>
      </p:sp>
      <p:sp>
        <p:nvSpPr>
          <p:cNvPr id="23" name="Shape 21"/>
          <p:cNvSpPr/>
          <p:nvPr/>
        </p:nvSpPr>
        <p:spPr>
          <a:xfrm>
            <a:off x="365760" y="4645152"/>
            <a:ext cx="8412480" cy="594360"/>
          </a:xfrm>
          <a:prstGeom prst="rect">
            <a:avLst/>
          </a:prstGeom>
          <a:solidFill>
            <a:srgbClr val="D6EAF8"/>
          </a:solidFill>
          <a:ln/>
        </p:spPr>
      </p:sp>
      <p:sp>
        <p:nvSpPr>
          <p:cNvPr id="24" name="Shape 22"/>
          <p:cNvSpPr/>
          <p:nvPr/>
        </p:nvSpPr>
        <p:spPr>
          <a:xfrm>
            <a:off x="365760" y="4645152"/>
            <a:ext cx="1005840" cy="594360"/>
          </a:xfrm>
          <a:prstGeom prst="rect">
            <a:avLst/>
          </a:prstGeom>
          <a:solidFill>
            <a:srgbClr val="8B0000"/>
          </a:solidFill>
          <a:ln/>
        </p:spPr>
      </p:sp>
      <p:sp>
        <p:nvSpPr>
          <p:cNvPr id="25" name="Text 23"/>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CRITICAL FLAW</a:t>
            </a:r>
            <a:endParaRPr lang="en-US" sz="900" dirty="0"/>
          </a:p>
        </p:txBody>
      </p:sp>
      <p:sp>
        <p:nvSpPr>
          <p:cNvPr id="26" name="Text 24"/>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Procyclical VaR models and reliance on external credit ratings contributed to the 2007–09 crisis. Capital ratios appeared robust until correlated structured credit exposures collapsed simultaneously.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Basel III — 2010</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6583680" cy="658368"/>
          </a:xfrm>
          <a:prstGeom prst="rect">
            <a:avLst/>
          </a:prstGeom>
          <a:noFill/>
          <a:ln/>
        </p:spPr>
        <p:txBody>
          <a:bodyPr wrap="square" lIns="0" tIns="0" rIns="0" bIns="0" rtlCol="0" anchor="ctr"/>
          <a:lstStyle/>
          <a:p>
            <a:pPr indent="0" marL="0">
              <a:buNone/>
            </a:pPr>
            <a:r>
              <a:rPr lang="en-US" sz="2200" b="1" dirty="0">
                <a:solidFill>
                  <a:srgbClr val="FFFFFF"/>
                </a:solidFill>
              </a:rPr>
              <a:t>Basel III  —  Post-Crisis Strengthening</a:t>
            </a:r>
            <a:endParaRPr lang="en-US" sz="2200" dirty="0"/>
          </a:p>
        </p:txBody>
      </p:sp>
      <p:sp>
        <p:nvSpPr>
          <p:cNvPr id="6" name="Shape 4"/>
          <p:cNvSpPr/>
          <p:nvPr/>
        </p:nvSpPr>
        <p:spPr>
          <a:xfrm>
            <a:off x="6583680" y="201168"/>
            <a:ext cx="1964131" cy="256032"/>
          </a:xfrm>
          <a:prstGeom prst="rect">
            <a:avLst/>
          </a:prstGeom>
          <a:solidFill>
            <a:srgbClr val="C9A84C"/>
          </a:solidFill>
          <a:ln w="12700">
            <a:solidFill>
              <a:srgbClr val="C9A84C"/>
            </a:solidFill>
            <a:prstDash val="solid"/>
          </a:ln>
        </p:spPr>
      </p:sp>
      <p:sp>
        <p:nvSpPr>
          <p:cNvPr id="7" name="Text 5"/>
          <p:cNvSpPr/>
          <p:nvPr/>
        </p:nvSpPr>
        <p:spPr>
          <a:xfrm>
            <a:off x="6583680" y="201168"/>
            <a:ext cx="1964131" cy="256032"/>
          </a:xfrm>
          <a:prstGeom prst="rect">
            <a:avLst/>
          </a:prstGeom>
          <a:noFill/>
          <a:ln/>
        </p:spPr>
        <p:txBody>
          <a:bodyPr wrap="square" lIns="0" tIns="0" rIns="0" bIns="0" rtlCol="0" anchor="ctr"/>
          <a:lstStyle/>
          <a:p>
            <a:pPr algn="ctr" indent="0" marL="0">
              <a:buNone/>
            </a:pPr>
            <a:r>
              <a:rPr lang="en-US" sz="800" b="1" dirty="0">
                <a:solidFill>
                  <a:srgbClr val="FFFFFF"/>
                </a:solidFill>
              </a:rPr>
              <a:t>2010 · PHASED TO 2019</a:t>
            </a:r>
            <a:endParaRPr lang="en-US" sz="800" dirty="0"/>
          </a:p>
        </p:txBody>
      </p:sp>
      <p:sp>
        <p:nvSpPr>
          <p:cNvPr id="8" name="Shape 6"/>
          <p:cNvSpPr/>
          <p:nvPr/>
        </p:nvSpPr>
        <p:spPr>
          <a:xfrm>
            <a:off x="274320" y="777240"/>
            <a:ext cx="3931920" cy="320040"/>
          </a:xfrm>
          <a:prstGeom prst="rect">
            <a:avLst/>
          </a:prstGeom>
          <a:solidFill>
            <a:srgbClr val="1B3A6B"/>
          </a:solidFill>
          <a:ln/>
        </p:spPr>
      </p:sp>
      <p:sp>
        <p:nvSpPr>
          <p:cNvPr id="9" name="Text 7"/>
          <p:cNvSpPr/>
          <p:nvPr/>
        </p:nvSpPr>
        <p:spPr>
          <a:xfrm>
            <a:off x="274320" y="777240"/>
            <a:ext cx="3931920" cy="320040"/>
          </a:xfrm>
          <a:prstGeom prst="rect">
            <a:avLst/>
          </a:prstGeom>
          <a:noFill/>
          <a:ln/>
        </p:spPr>
        <p:txBody>
          <a:bodyPr wrap="square" lIns="0" tIns="0" rIns="0" bIns="0" rtlCol="0" anchor="ctr"/>
          <a:lstStyle/>
          <a:p>
            <a:pPr algn="ctr" indent="0" marL="0">
              <a:buNone/>
            </a:pPr>
            <a:r>
              <a:rPr lang="en-US" sz="900" b="1" dirty="0">
                <a:solidFill>
                  <a:srgbClr val="FFFFFF"/>
                </a:solidFill>
              </a:rPr>
              <a:t>CAPITAL STACK UNDER BASEL III</a:t>
            </a:r>
            <a:endParaRPr lang="en-US" sz="900" dirty="0"/>
          </a:p>
        </p:txBody>
      </p:sp>
      <p:sp>
        <p:nvSpPr>
          <p:cNvPr id="10" name="Shape 8"/>
          <p:cNvSpPr/>
          <p:nvPr/>
        </p:nvSpPr>
        <p:spPr>
          <a:xfrm>
            <a:off x="274320" y="1097280"/>
            <a:ext cx="3931920" cy="475488"/>
          </a:xfrm>
          <a:prstGeom prst="rect">
            <a:avLst/>
          </a:prstGeom>
          <a:solidFill>
            <a:srgbClr val="8B0000"/>
          </a:solidFill>
          <a:ln/>
        </p:spPr>
      </p:sp>
      <p:sp>
        <p:nvSpPr>
          <p:cNvPr id="11" name="Text 9"/>
          <p:cNvSpPr/>
          <p:nvPr/>
        </p:nvSpPr>
        <p:spPr>
          <a:xfrm>
            <a:off x="320040" y="1097280"/>
            <a:ext cx="2560320" cy="475488"/>
          </a:xfrm>
          <a:prstGeom prst="rect">
            <a:avLst/>
          </a:prstGeom>
          <a:noFill/>
          <a:ln/>
        </p:spPr>
        <p:txBody>
          <a:bodyPr wrap="square" lIns="0" tIns="0" rIns="0" bIns="0" rtlCol="0" anchor="ctr"/>
          <a:lstStyle/>
          <a:p>
            <a:pPr indent="0" marL="0">
              <a:buNone/>
            </a:pPr>
            <a:r>
              <a:rPr lang="en-US" sz="950" b="1" dirty="0">
                <a:solidFill>
                  <a:srgbClr val="FFFFFF"/>
                </a:solidFill>
              </a:rPr>
              <a:t>G-SIB Surcharge</a:t>
            </a:r>
            <a:endParaRPr lang="en-US" sz="950" dirty="0"/>
          </a:p>
        </p:txBody>
      </p:sp>
      <p:sp>
        <p:nvSpPr>
          <p:cNvPr id="12" name="Text 10"/>
          <p:cNvSpPr/>
          <p:nvPr/>
        </p:nvSpPr>
        <p:spPr>
          <a:xfrm>
            <a:off x="2834640" y="1097280"/>
            <a:ext cx="1325880" cy="475488"/>
          </a:xfrm>
          <a:prstGeom prst="rect">
            <a:avLst/>
          </a:prstGeom>
          <a:noFill/>
          <a:ln/>
        </p:spPr>
        <p:txBody>
          <a:bodyPr wrap="square" lIns="0" tIns="0" rIns="0" bIns="0" rtlCol="0" anchor="ctr"/>
          <a:lstStyle/>
          <a:p>
            <a:pPr algn="r" indent="0" marL="0">
              <a:buNone/>
            </a:pPr>
            <a:r>
              <a:rPr lang="en-US" sz="900" dirty="0">
                <a:solidFill>
                  <a:srgbClr val="FFFFFF"/>
                </a:solidFill>
              </a:rPr>
              <a:t>1–3.5% CET1</a:t>
            </a:r>
            <a:endParaRPr lang="en-US" sz="900" dirty="0"/>
          </a:p>
        </p:txBody>
      </p:sp>
      <p:sp>
        <p:nvSpPr>
          <p:cNvPr id="13" name="Shape 11"/>
          <p:cNvSpPr/>
          <p:nvPr/>
        </p:nvSpPr>
        <p:spPr>
          <a:xfrm>
            <a:off x="274320" y="1572768"/>
            <a:ext cx="3931920" cy="475488"/>
          </a:xfrm>
          <a:prstGeom prst="rect">
            <a:avLst/>
          </a:prstGeom>
          <a:solidFill>
            <a:srgbClr val="D4770A"/>
          </a:solidFill>
          <a:ln/>
        </p:spPr>
      </p:sp>
      <p:sp>
        <p:nvSpPr>
          <p:cNvPr id="14" name="Text 12"/>
          <p:cNvSpPr/>
          <p:nvPr/>
        </p:nvSpPr>
        <p:spPr>
          <a:xfrm>
            <a:off x="320040" y="1572768"/>
            <a:ext cx="2560320" cy="475488"/>
          </a:xfrm>
          <a:prstGeom prst="rect">
            <a:avLst/>
          </a:prstGeom>
          <a:noFill/>
          <a:ln/>
        </p:spPr>
        <p:txBody>
          <a:bodyPr wrap="square" lIns="0" tIns="0" rIns="0" bIns="0" rtlCol="0" anchor="ctr"/>
          <a:lstStyle/>
          <a:p>
            <a:pPr indent="0" marL="0">
              <a:buNone/>
            </a:pPr>
            <a:r>
              <a:rPr lang="en-US" sz="950" b="1" dirty="0">
                <a:solidFill>
                  <a:srgbClr val="FFFFFF"/>
                </a:solidFill>
              </a:rPr>
              <a:t>Countercyclical Buffer (CCyB)</a:t>
            </a:r>
            <a:endParaRPr lang="en-US" sz="950" dirty="0"/>
          </a:p>
        </p:txBody>
      </p:sp>
      <p:sp>
        <p:nvSpPr>
          <p:cNvPr id="15" name="Text 13"/>
          <p:cNvSpPr/>
          <p:nvPr/>
        </p:nvSpPr>
        <p:spPr>
          <a:xfrm>
            <a:off x="2834640" y="1572768"/>
            <a:ext cx="1325880" cy="475488"/>
          </a:xfrm>
          <a:prstGeom prst="rect">
            <a:avLst/>
          </a:prstGeom>
          <a:noFill/>
          <a:ln/>
        </p:spPr>
        <p:txBody>
          <a:bodyPr wrap="square" lIns="0" tIns="0" rIns="0" bIns="0" rtlCol="0" anchor="ctr"/>
          <a:lstStyle/>
          <a:p>
            <a:pPr algn="r" indent="0" marL="0">
              <a:buNone/>
            </a:pPr>
            <a:r>
              <a:rPr lang="en-US" sz="900" dirty="0">
                <a:solidFill>
                  <a:srgbClr val="FFFFFF"/>
                </a:solidFill>
              </a:rPr>
              <a:t>0–2.5% CET1 (build &amp; release)</a:t>
            </a:r>
            <a:endParaRPr lang="en-US" sz="900" dirty="0"/>
          </a:p>
        </p:txBody>
      </p:sp>
      <p:sp>
        <p:nvSpPr>
          <p:cNvPr id="16" name="Shape 14"/>
          <p:cNvSpPr/>
          <p:nvPr/>
        </p:nvSpPr>
        <p:spPr>
          <a:xfrm>
            <a:off x="274320" y="2048256"/>
            <a:ext cx="3931920" cy="475488"/>
          </a:xfrm>
          <a:prstGeom prst="rect">
            <a:avLst/>
          </a:prstGeom>
          <a:solidFill>
            <a:srgbClr val="C9A84C"/>
          </a:solidFill>
          <a:ln/>
        </p:spPr>
      </p:sp>
      <p:sp>
        <p:nvSpPr>
          <p:cNvPr id="17" name="Text 15"/>
          <p:cNvSpPr/>
          <p:nvPr/>
        </p:nvSpPr>
        <p:spPr>
          <a:xfrm>
            <a:off x="320040" y="2048256"/>
            <a:ext cx="2560320" cy="475488"/>
          </a:xfrm>
          <a:prstGeom prst="rect">
            <a:avLst/>
          </a:prstGeom>
          <a:noFill/>
          <a:ln/>
        </p:spPr>
        <p:txBody>
          <a:bodyPr wrap="square" lIns="0" tIns="0" rIns="0" bIns="0" rtlCol="0" anchor="ctr"/>
          <a:lstStyle/>
          <a:p>
            <a:pPr indent="0" marL="0">
              <a:buNone/>
            </a:pPr>
            <a:r>
              <a:rPr lang="en-US" sz="950" b="1" dirty="0">
                <a:solidFill>
                  <a:srgbClr val="FFFFFF"/>
                </a:solidFill>
              </a:rPr>
              <a:t>Capital Conservation Buffer</a:t>
            </a:r>
            <a:endParaRPr lang="en-US" sz="950" dirty="0"/>
          </a:p>
        </p:txBody>
      </p:sp>
      <p:sp>
        <p:nvSpPr>
          <p:cNvPr id="18" name="Text 16"/>
          <p:cNvSpPr/>
          <p:nvPr/>
        </p:nvSpPr>
        <p:spPr>
          <a:xfrm>
            <a:off x="2834640" y="2048256"/>
            <a:ext cx="1325880" cy="475488"/>
          </a:xfrm>
          <a:prstGeom prst="rect">
            <a:avLst/>
          </a:prstGeom>
          <a:noFill/>
          <a:ln/>
        </p:spPr>
        <p:txBody>
          <a:bodyPr wrap="square" lIns="0" tIns="0" rIns="0" bIns="0" rtlCol="0" anchor="ctr"/>
          <a:lstStyle/>
          <a:p>
            <a:pPr algn="r" indent="0" marL="0">
              <a:buNone/>
            </a:pPr>
            <a:r>
              <a:rPr lang="en-US" sz="900" dirty="0">
                <a:solidFill>
                  <a:srgbClr val="FFFFFF"/>
                </a:solidFill>
              </a:rPr>
              <a:t>+2.5% CET1</a:t>
            </a:r>
            <a:endParaRPr lang="en-US" sz="900" dirty="0"/>
          </a:p>
        </p:txBody>
      </p:sp>
      <p:sp>
        <p:nvSpPr>
          <p:cNvPr id="19" name="Shape 17"/>
          <p:cNvSpPr/>
          <p:nvPr/>
        </p:nvSpPr>
        <p:spPr>
          <a:xfrm>
            <a:off x="274320" y="2523744"/>
            <a:ext cx="3931920" cy="475488"/>
          </a:xfrm>
          <a:prstGeom prst="rect">
            <a:avLst/>
          </a:prstGeom>
          <a:solidFill>
            <a:srgbClr val="9FBFDF"/>
          </a:solidFill>
          <a:ln/>
        </p:spPr>
      </p:sp>
      <p:sp>
        <p:nvSpPr>
          <p:cNvPr id="20" name="Text 18"/>
          <p:cNvSpPr/>
          <p:nvPr/>
        </p:nvSpPr>
        <p:spPr>
          <a:xfrm>
            <a:off x="320040" y="2523744"/>
            <a:ext cx="2560320" cy="475488"/>
          </a:xfrm>
          <a:prstGeom prst="rect">
            <a:avLst/>
          </a:prstGeom>
          <a:noFill/>
          <a:ln/>
        </p:spPr>
        <p:txBody>
          <a:bodyPr wrap="square" lIns="0" tIns="0" rIns="0" bIns="0" rtlCol="0" anchor="ctr"/>
          <a:lstStyle/>
          <a:p>
            <a:pPr indent="0" marL="0">
              <a:buNone/>
            </a:pPr>
            <a:r>
              <a:rPr lang="en-US" sz="950" b="1" dirty="0">
                <a:solidFill>
                  <a:srgbClr val="1B3A6B"/>
                </a:solidFill>
              </a:rPr>
              <a:t>Additional Tier 1 (CoCos etc.)</a:t>
            </a:r>
            <a:endParaRPr lang="en-US" sz="950" dirty="0"/>
          </a:p>
        </p:txBody>
      </p:sp>
      <p:sp>
        <p:nvSpPr>
          <p:cNvPr id="21" name="Text 19"/>
          <p:cNvSpPr/>
          <p:nvPr/>
        </p:nvSpPr>
        <p:spPr>
          <a:xfrm>
            <a:off x="2834640" y="2523744"/>
            <a:ext cx="1325880" cy="475488"/>
          </a:xfrm>
          <a:prstGeom prst="rect">
            <a:avLst/>
          </a:prstGeom>
          <a:noFill/>
          <a:ln/>
        </p:spPr>
        <p:txBody>
          <a:bodyPr wrap="square" lIns="0" tIns="0" rIns="0" bIns="0" rtlCol="0" anchor="ctr"/>
          <a:lstStyle/>
          <a:p>
            <a:pPr algn="r" indent="0" marL="0">
              <a:buNone/>
            </a:pPr>
            <a:r>
              <a:rPr lang="en-US" sz="900" dirty="0">
                <a:solidFill>
                  <a:srgbClr val="1B3A6B"/>
                </a:solidFill>
              </a:rPr>
              <a:t>1.5% of RWA min</a:t>
            </a:r>
            <a:endParaRPr lang="en-US" sz="900" dirty="0"/>
          </a:p>
        </p:txBody>
      </p:sp>
      <p:sp>
        <p:nvSpPr>
          <p:cNvPr id="22" name="Shape 20"/>
          <p:cNvSpPr/>
          <p:nvPr/>
        </p:nvSpPr>
        <p:spPr>
          <a:xfrm>
            <a:off x="274320" y="2999232"/>
            <a:ext cx="3931920" cy="475488"/>
          </a:xfrm>
          <a:prstGeom prst="rect">
            <a:avLst/>
          </a:prstGeom>
          <a:solidFill>
            <a:srgbClr val="C8DCF0"/>
          </a:solidFill>
          <a:ln/>
        </p:spPr>
      </p:sp>
      <p:sp>
        <p:nvSpPr>
          <p:cNvPr id="23" name="Text 21"/>
          <p:cNvSpPr/>
          <p:nvPr/>
        </p:nvSpPr>
        <p:spPr>
          <a:xfrm>
            <a:off x="320040" y="2999232"/>
            <a:ext cx="2560320" cy="475488"/>
          </a:xfrm>
          <a:prstGeom prst="rect">
            <a:avLst/>
          </a:prstGeom>
          <a:noFill/>
          <a:ln/>
        </p:spPr>
        <p:txBody>
          <a:bodyPr wrap="square" lIns="0" tIns="0" rIns="0" bIns="0" rtlCol="0" anchor="ctr"/>
          <a:lstStyle/>
          <a:p>
            <a:pPr indent="0" marL="0">
              <a:buNone/>
            </a:pPr>
            <a:r>
              <a:rPr lang="en-US" sz="950" b="1" dirty="0">
                <a:solidFill>
                  <a:srgbClr val="1B3A6B"/>
                </a:solidFill>
              </a:rPr>
              <a:t>Tier 2 Capital</a:t>
            </a:r>
            <a:endParaRPr lang="en-US" sz="950" dirty="0"/>
          </a:p>
        </p:txBody>
      </p:sp>
      <p:sp>
        <p:nvSpPr>
          <p:cNvPr id="24" name="Text 22"/>
          <p:cNvSpPr/>
          <p:nvPr/>
        </p:nvSpPr>
        <p:spPr>
          <a:xfrm>
            <a:off x="2834640" y="2999232"/>
            <a:ext cx="1325880" cy="475488"/>
          </a:xfrm>
          <a:prstGeom prst="rect">
            <a:avLst/>
          </a:prstGeom>
          <a:noFill/>
          <a:ln/>
        </p:spPr>
        <p:txBody>
          <a:bodyPr wrap="square" lIns="0" tIns="0" rIns="0" bIns="0" rtlCol="0" anchor="ctr"/>
          <a:lstStyle/>
          <a:p>
            <a:pPr algn="r" indent="0" marL="0">
              <a:buNone/>
            </a:pPr>
            <a:r>
              <a:rPr lang="en-US" sz="900" dirty="0">
                <a:solidFill>
                  <a:srgbClr val="1B3A6B"/>
                </a:solidFill>
              </a:rPr>
              <a:t>2% of RWA min</a:t>
            </a:r>
            <a:endParaRPr lang="en-US" sz="900" dirty="0"/>
          </a:p>
        </p:txBody>
      </p:sp>
      <p:sp>
        <p:nvSpPr>
          <p:cNvPr id="25" name="Shape 23"/>
          <p:cNvSpPr/>
          <p:nvPr/>
        </p:nvSpPr>
        <p:spPr>
          <a:xfrm>
            <a:off x="274320" y="3474720"/>
            <a:ext cx="3931920" cy="475488"/>
          </a:xfrm>
          <a:prstGeom prst="rect">
            <a:avLst/>
          </a:prstGeom>
          <a:solidFill>
            <a:srgbClr val="0E6B8A"/>
          </a:solidFill>
          <a:ln/>
        </p:spPr>
      </p:sp>
      <p:sp>
        <p:nvSpPr>
          <p:cNvPr id="26" name="Text 24"/>
          <p:cNvSpPr/>
          <p:nvPr/>
        </p:nvSpPr>
        <p:spPr>
          <a:xfrm>
            <a:off x="320040" y="3474720"/>
            <a:ext cx="2560320" cy="475488"/>
          </a:xfrm>
          <a:prstGeom prst="rect">
            <a:avLst/>
          </a:prstGeom>
          <a:noFill/>
          <a:ln/>
        </p:spPr>
        <p:txBody>
          <a:bodyPr wrap="square" lIns="0" tIns="0" rIns="0" bIns="0" rtlCol="0" anchor="ctr"/>
          <a:lstStyle/>
          <a:p>
            <a:pPr indent="0" marL="0">
              <a:buNone/>
            </a:pPr>
            <a:r>
              <a:rPr lang="en-US" sz="950" b="1" dirty="0">
                <a:solidFill>
                  <a:srgbClr val="FFFFFF"/>
                </a:solidFill>
              </a:rPr>
              <a:t>Common Equity Tier 1 (CET1)</a:t>
            </a:r>
            <a:endParaRPr lang="en-US" sz="950" dirty="0"/>
          </a:p>
        </p:txBody>
      </p:sp>
      <p:sp>
        <p:nvSpPr>
          <p:cNvPr id="27" name="Text 25"/>
          <p:cNvSpPr/>
          <p:nvPr/>
        </p:nvSpPr>
        <p:spPr>
          <a:xfrm>
            <a:off x="2834640" y="3474720"/>
            <a:ext cx="1325880" cy="475488"/>
          </a:xfrm>
          <a:prstGeom prst="rect">
            <a:avLst/>
          </a:prstGeom>
          <a:noFill/>
          <a:ln/>
        </p:spPr>
        <p:txBody>
          <a:bodyPr wrap="square" lIns="0" tIns="0" rIns="0" bIns="0" rtlCol="0" anchor="ctr"/>
          <a:lstStyle/>
          <a:p>
            <a:pPr algn="r" indent="0" marL="0">
              <a:buNone/>
            </a:pPr>
            <a:r>
              <a:rPr lang="en-US" sz="900" dirty="0">
                <a:solidFill>
                  <a:srgbClr val="FFFFFF"/>
                </a:solidFill>
              </a:rPr>
              <a:t>Min 4.5% — common shares + retained earnings only</a:t>
            </a:r>
            <a:endParaRPr lang="en-US" sz="900" dirty="0"/>
          </a:p>
        </p:txBody>
      </p:sp>
      <p:sp>
        <p:nvSpPr>
          <p:cNvPr id="28" name="Shape 26"/>
          <p:cNvSpPr/>
          <p:nvPr/>
        </p:nvSpPr>
        <p:spPr>
          <a:xfrm>
            <a:off x="4434840" y="777240"/>
            <a:ext cx="4434840" cy="98755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9" name="Shape 27"/>
          <p:cNvSpPr/>
          <p:nvPr/>
        </p:nvSpPr>
        <p:spPr>
          <a:xfrm>
            <a:off x="4434840" y="777240"/>
            <a:ext cx="64008" cy="987552"/>
          </a:xfrm>
          <a:prstGeom prst="rect">
            <a:avLst/>
          </a:prstGeom>
          <a:solidFill>
            <a:srgbClr val="1B3A6B"/>
          </a:solidFill>
          <a:ln/>
        </p:spPr>
      </p:sp>
      <p:sp>
        <p:nvSpPr>
          <p:cNvPr id="30" name="Text 28"/>
          <p:cNvSpPr/>
          <p:nvPr/>
        </p:nvSpPr>
        <p:spPr>
          <a:xfrm>
            <a:off x="4572000" y="868680"/>
            <a:ext cx="4251960" cy="320040"/>
          </a:xfrm>
          <a:prstGeom prst="rect">
            <a:avLst/>
          </a:prstGeom>
          <a:noFill/>
          <a:ln/>
        </p:spPr>
        <p:txBody>
          <a:bodyPr wrap="square" lIns="0" tIns="0" rIns="0" bIns="0" rtlCol="0" anchor="ctr"/>
          <a:lstStyle/>
          <a:p>
            <a:pPr indent="0" marL="0">
              <a:buNone/>
            </a:pPr>
            <a:r>
              <a:rPr lang="en-US" sz="1100" b="1" dirty="0">
                <a:solidFill>
                  <a:srgbClr val="1B3A6B"/>
                </a:solidFill>
              </a:rPr>
              <a:t>Leverage Ratio</a:t>
            </a:r>
            <a:endParaRPr lang="en-US" sz="1100" dirty="0"/>
          </a:p>
        </p:txBody>
      </p:sp>
      <p:sp>
        <p:nvSpPr>
          <p:cNvPr id="31" name="Text 29"/>
          <p:cNvSpPr/>
          <p:nvPr/>
        </p:nvSpPr>
        <p:spPr>
          <a:xfrm>
            <a:off x="4572000" y="1161288"/>
            <a:ext cx="4251960" cy="484632"/>
          </a:xfrm>
          <a:prstGeom prst="rect">
            <a:avLst/>
          </a:prstGeom>
          <a:noFill/>
          <a:ln/>
        </p:spPr>
        <p:txBody>
          <a:bodyPr wrap="square" lIns="0" tIns="0" rIns="0" bIns="0" rtlCol="0" anchor="t"/>
          <a:lstStyle/>
          <a:p>
            <a:pPr indent="0" marL="0">
              <a:buNone/>
            </a:pPr>
            <a:r>
              <a:rPr lang="en-US" sz="1000" dirty="0">
                <a:solidFill>
                  <a:srgbClr val="1A1A2E"/>
                </a:solidFill>
              </a:rPr>
              <a:t>Tier 1 ≥ 3% of total exposure (on + off B/S). Non-risk-based backstop preventing excessive gross leverage.</a:t>
            </a:r>
            <a:endParaRPr lang="en-US" sz="1000" dirty="0"/>
          </a:p>
        </p:txBody>
      </p:sp>
      <p:sp>
        <p:nvSpPr>
          <p:cNvPr id="32" name="Shape 30"/>
          <p:cNvSpPr/>
          <p:nvPr/>
        </p:nvSpPr>
        <p:spPr>
          <a:xfrm>
            <a:off x="4434840" y="1819656"/>
            <a:ext cx="4434840" cy="98755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3" name="Shape 31"/>
          <p:cNvSpPr/>
          <p:nvPr/>
        </p:nvSpPr>
        <p:spPr>
          <a:xfrm>
            <a:off x="4434840" y="1819656"/>
            <a:ext cx="64008" cy="987552"/>
          </a:xfrm>
          <a:prstGeom prst="rect">
            <a:avLst/>
          </a:prstGeom>
          <a:solidFill>
            <a:srgbClr val="0E6B8A"/>
          </a:solidFill>
          <a:ln/>
        </p:spPr>
      </p:sp>
      <p:sp>
        <p:nvSpPr>
          <p:cNvPr id="34" name="Text 32"/>
          <p:cNvSpPr/>
          <p:nvPr/>
        </p:nvSpPr>
        <p:spPr>
          <a:xfrm>
            <a:off x="4572000" y="1911096"/>
            <a:ext cx="4251960" cy="320040"/>
          </a:xfrm>
          <a:prstGeom prst="rect">
            <a:avLst/>
          </a:prstGeom>
          <a:noFill/>
          <a:ln/>
        </p:spPr>
        <p:txBody>
          <a:bodyPr wrap="square" lIns="0" tIns="0" rIns="0" bIns="0" rtlCol="0" anchor="ctr"/>
          <a:lstStyle/>
          <a:p>
            <a:pPr indent="0" marL="0">
              <a:buNone/>
            </a:pPr>
            <a:r>
              <a:rPr lang="en-US" sz="1100" b="1" dirty="0">
                <a:solidFill>
                  <a:srgbClr val="0E6B8A"/>
                </a:solidFill>
              </a:rPr>
              <a:t>LCR</a:t>
            </a:r>
            <a:endParaRPr lang="en-US" sz="1100" dirty="0"/>
          </a:p>
        </p:txBody>
      </p:sp>
      <p:sp>
        <p:nvSpPr>
          <p:cNvPr id="35" name="Text 33"/>
          <p:cNvSpPr/>
          <p:nvPr/>
        </p:nvSpPr>
        <p:spPr>
          <a:xfrm>
            <a:off x="4572000" y="2203704"/>
            <a:ext cx="4251960" cy="484632"/>
          </a:xfrm>
          <a:prstGeom prst="rect">
            <a:avLst/>
          </a:prstGeom>
          <a:noFill/>
          <a:ln/>
        </p:spPr>
        <p:txBody>
          <a:bodyPr wrap="square" lIns="0" tIns="0" rIns="0" bIns="0" rtlCol="0" anchor="t"/>
          <a:lstStyle/>
          <a:p>
            <a:pPr indent="0" marL="0">
              <a:buNone/>
            </a:pPr>
            <a:r>
              <a:rPr lang="en-US" sz="1000" dirty="0">
                <a:solidFill>
                  <a:srgbClr val="1A1A2E"/>
                </a:solidFill>
              </a:rPr>
              <a:t>Liquidity Coverage Ratio: HQLA ÷ Net Stressed Outflows (30d) ≥ 100%. Ensures survival through a 30-day liquidity crisis.</a:t>
            </a:r>
            <a:endParaRPr lang="en-US" sz="1000" dirty="0"/>
          </a:p>
        </p:txBody>
      </p:sp>
      <p:sp>
        <p:nvSpPr>
          <p:cNvPr id="36" name="Shape 34"/>
          <p:cNvSpPr/>
          <p:nvPr/>
        </p:nvSpPr>
        <p:spPr>
          <a:xfrm>
            <a:off x="4434840" y="2862072"/>
            <a:ext cx="4434840" cy="98755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7" name="Shape 35"/>
          <p:cNvSpPr/>
          <p:nvPr/>
        </p:nvSpPr>
        <p:spPr>
          <a:xfrm>
            <a:off x="4434840" y="2862072"/>
            <a:ext cx="64008" cy="987552"/>
          </a:xfrm>
          <a:prstGeom prst="rect">
            <a:avLst/>
          </a:prstGeom>
          <a:solidFill>
            <a:srgbClr val="0E6B8A"/>
          </a:solidFill>
          <a:ln/>
        </p:spPr>
      </p:sp>
      <p:sp>
        <p:nvSpPr>
          <p:cNvPr id="38" name="Text 36"/>
          <p:cNvSpPr/>
          <p:nvPr/>
        </p:nvSpPr>
        <p:spPr>
          <a:xfrm>
            <a:off x="4572000" y="2953512"/>
            <a:ext cx="4251960" cy="320040"/>
          </a:xfrm>
          <a:prstGeom prst="rect">
            <a:avLst/>
          </a:prstGeom>
          <a:noFill/>
          <a:ln/>
        </p:spPr>
        <p:txBody>
          <a:bodyPr wrap="square" lIns="0" tIns="0" rIns="0" bIns="0" rtlCol="0" anchor="ctr"/>
          <a:lstStyle/>
          <a:p>
            <a:pPr indent="0" marL="0">
              <a:buNone/>
            </a:pPr>
            <a:r>
              <a:rPr lang="en-US" sz="1100" b="1" dirty="0">
                <a:solidFill>
                  <a:srgbClr val="0E6B8A"/>
                </a:solidFill>
              </a:rPr>
              <a:t>NSFR</a:t>
            </a:r>
            <a:endParaRPr lang="en-US" sz="1100" dirty="0"/>
          </a:p>
        </p:txBody>
      </p:sp>
      <p:sp>
        <p:nvSpPr>
          <p:cNvPr id="39" name="Text 37"/>
          <p:cNvSpPr/>
          <p:nvPr/>
        </p:nvSpPr>
        <p:spPr>
          <a:xfrm>
            <a:off x="4572000" y="3246120"/>
            <a:ext cx="4251960" cy="484632"/>
          </a:xfrm>
          <a:prstGeom prst="rect">
            <a:avLst/>
          </a:prstGeom>
          <a:noFill/>
          <a:ln/>
        </p:spPr>
        <p:txBody>
          <a:bodyPr wrap="square" lIns="0" tIns="0" rIns="0" bIns="0" rtlCol="0" anchor="t"/>
          <a:lstStyle/>
          <a:p>
            <a:pPr indent="0" marL="0">
              <a:buNone/>
            </a:pPr>
            <a:r>
              <a:rPr lang="en-US" sz="1000" dirty="0">
                <a:solidFill>
                  <a:srgbClr val="1A1A2E"/>
                </a:solidFill>
              </a:rPr>
              <a:t>Net Stable Funding Ratio: Available Stable Funding ÷ Required Stable Funding ≥ 100%. Structural 1-year funding stability.</a:t>
            </a:r>
            <a:endParaRPr lang="en-US" sz="1000" dirty="0"/>
          </a:p>
        </p:txBody>
      </p:sp>
      <p:sp>
        <p:nvSpPr>
          <p:cNvPr id="40" name="Shape 38"/>
          <p:cNvSpPr/>
          <p:nvPr/>
        </p:nvSpPr>
        <p:spPr>
          <a:xfrm>
            <a:off x="4434840" y="3904488"/>
            <a:ext cx="4434840" cy="98755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41" name="Shape 39"/>
          <p:cNvSpPr/>
          <p:nvPr/>
        </p:nvSpPr>
        <p:spPr>
          <a:xfrm>
            <a:off x="4434840" y="3904488"/>
            <a:ext cx="64008" cy="987552"/>
          </a:xfrm>
          <a:prstGeom prst="rect">
            <a:avLst/>
          </a:prstGeom>
          <a:solidFill>
            <a:srgbClr val="8B0000"/>
          </a:solidFill>
          <a:ln/>
        </p:spPr>
      </p:sp>
      <p:sp>
        <p:nvSpPr>
          <p:cNvPr id="42" name="Text 40"/>
          <p:cNvSpPr/>
          <p:nvPr/>
        </p:nvSpPr>
        <p:spPr>
          <a:xfrm>
            <a:off x="4572000" y="3995928"/>
            <a:ext cx="4251960" cy="320040"/>
          </a:xfrm>
          <a:prstGeom prst="rect">
            <a:avLst/>
          </a:prstGeom>
          <a:noFill/>
          <a:ln/>
        </p:spPr>
        <p:txBody>
          <a:bodyPr wrap="square" lIns="0" tIns="0" rIns="0" bIns="0" rtlCol="0" anchor="ctr"/>
          <a:lstStyle/>
          <a:p>
            <a:pPr indent="0" marL="0">
              <a:buNone/>
            </a:pPr>
            <a:r>
              <a:rPr lang="en-US" sz="1100" b="1" dirty="0">
                <a:solidFill>
                  <a:srgbClr val="8B0000"/>
                </a:solidFill>
              </a:rPr>
              <a:t>CVA Capital</a:t>
            </a:r>
            <a:endParaRPr lang="en-US" sz="1100" dirty="0"/>
          </a:p>
        </p:txBody>
      </p:sp>
      <p:sp>
        <p:nvSpPr>
          <p:cNvPr id="43" name="Text 41"/>
          <p:cNvSpPr/>
          <p:nvPr/>
        </p:nvSpPr>
        <p:spPr>
          <a:xfrm>
            <a:off x="4572000" y="4288536"/>
            <a:ext cx="4251960" cy="484632"/>
          </a:xfrm>
          <a:prstGeom prst="rect">
            <a:avLst/>
          </a:prstGeom>
          <a:noFill/>
          <a:ln/>
        </p:spPr>
        <p:txBody>
          <a:bodyPr wrap="square" lIns="0" tIns="0" rIns="0" bIns="0" rtlCol="0" anchor="t"/>
          <a:lstStyle/>
          <a:p>
            <a:pPr indent="0" marL="0">
              <a:buNone/>
            </a:pPr>
            <a:r>
              <a:rPr lang="en-US" sz="1000" dirty="0">
                <a:solidFill>
                  <a:srgbClr val="1A1A2E"/>
                </a:solidFill>
              </a:rPr>
              <a:t>NEW: Capital charge for MTM losses on OTC derivative CVA. ~2/3 of crisis counterparty losses were CVA, not defaults.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Basel IV — 2017</a:t>
            </a:r>
            <a:endParaRPr lang="en-US" sz="900" dirty="0"/>
          </a:p>
        </p:txBody>
      </p:sp>
      <p:sp>
        <p:nvSpPr>
          <p:cNvPr id="4" name="Shape 2"/>
          <p:cNvSpPr/>
          <p:nvPr/>
        </p:nvSpPr>
        <p:spPr>
          <a:xfrm>
            <a:off x="0" y="0"/>
            <a:ext cx="9144000" cy="658368"/>
          </a:xfrm>
          <a:prstGeom prst="rect">
            <a:avLst/>
          </a:prstGeom>
          <a:solidFill>
            <a:srgbClr val="0E6B8A"/>
          </a:solidFill>
          <a:ln/>
        </p:spPr>
      </p:sp>
      <p:sp>
        <p:nvSpPr>
          <p:cNvPr id="5" name="Text 3"/>
          <p:cNvSpPr/>
          <p:nvPr/>
        </p:nvSpPr>
        <p:spPr>
          <a:xfrm>
            <a:off x="365760" y="0"/>
            <a:ext cx="6583680" cy="658368"/>
          </a:xfrm>
          <a:prstGeom prst="rect">
            <a:avLst/>
          </a:prstGeom>
          <a:noFill/>
          <a:ln/>
        </p:spPr>
        <p:txBody>
          <a:bodyPr wrap="square" lIns="0" tIns="0" rIns="0" bIns="0" rtlCol="0" anchor="ctr"/>
          <a:lstStyle/>
          <a:p>
            <a:pPr indent="0" marL="0">
              <a:buNone/>
            </a:pPr>
            <a:r>
              <a:rPr lang="en-US" sz="2200" b="1" dirty="0">
                <a:solidFill>
                  <a:srgbClr val="FFFFFF"/>
                </a:solidFill>
              </a:rPr>
              <a:t>Basel IV  —  Finalisation &amp; Model Constraint</a:t>
            </a:r>
            <a:endParaRPr lang="en-US" sz="2200" dirty="0"/>
          </a:p>
        </p:txBody>
      </p:sp>
      <p:sp>
        <p:nvSpPr>
          <p:cNvPr id="6" name="Shape 4"/>
          <p:cNvSpPr/>
          <p:nvPr/>
        </p:nvSpPr>
        <p:spPr>
          <a:xfrm>
            <a:off x="5989320" y="201168"/>
            <a:ext cx="3090672" cy="256032"/>
          </a:xfrm>
          <a:prstGeom prst="rect">
            <a:avLst/>
          </a:prstGeom>
          <a:solidFill>
            <a:srgbClr val="C9A84C"/>
          </a:solidFill>
          <a:ln w="12700">
            <a:solidFill>
              <a:srgbClr val="C9A84C"/>
            </a:solidFill>
            <a:prstDash val="solid"/>
          </a:ln>
        </p:spPr>
      </p:sp>
      <p:sp>
        <p:nvSpPr>
          <p:cNvPr id="7" name="Text 5"/>
          <p:cNvSpPr/>
          <p:nvPr/>
        </p:nvSpPr>
        <p:spPr>
          <a:xfrm>
            <a:off x="5989320" y="201168"/>
            <a:ext cx="3090672" cy="256032"/>
          </a:xfrm>
          <a:prstGeom prst="rect">
            <a:avLst/>
          </a:prstGeom>
          <a:noFill/>
          <a:ln/>
        </p:spPr>
        <p:txBody>
          <a:bodyPr wrap="square" lIns="0" tIns="0" rIns="0" bIns="0" rtlCol="0" anchor="ctr"/>
          <a:lstStyle/>
          <a:p>
            <a:pPr algn="ctr" indent="0" marL="0">
              <a:buNone/>
            </a:pPr>
            <a:r>
              <a:rPr lang="en-US" sz="800" b="1" dirty="0">
                <a:solidFill>
                  <a:srgbClr val="FFFFFF"/>
                </a:solidFill>
              </a:rPr>
              <a:t>DEC 2017 · IMPLEMENTATION 2025–2028</a:t>
            </a:r>
            <a:endParaRPr lang="en-US" sz="800" dirty="0"/>
          </a:p>
        </p:txBody>
      </p:sp>
      <p:sp>
        <p:nvSpPr>
          <p:cNvPr id="8" name="Shape 6"/>
          <p:cNvSpPr/>
          <p:nvPr/>
        </p:nvSpPr>
        <p:spPr>
          <a:xfrm>
            <a:off x="274320" y="777240"/>
            <a:ext cx="8595360" cy="841248"/>
          </a:xfrm>
          <a:prstGeom prst="rect">
            <a:avLst/>
          </a:prstGeom>
          <a:solidFill>
            <a:srgbClr val="1B3A6B"/>
          </a:solidFill>
          <a:ln/>
          <a:effectLst>
            <a:outerShdw sx="100000" sy="100000" kx="0" ky="0" algn="bl" rotWithShape="0" blurRad="101600" dist="38100" dir="8100000">
              <a:srgbClr val="000000">
                <a:alpha val="18000"/>
              </a:srgbClr>
            </a:outerShdw>
          </a:effectLst>
        </p:spPr>
      </p:sp>
      <p:sp>
        <p:nvSpPr>
          <p:cNvPr id="9" name="Shape 7"/>
          <p:cNvSpPr/>
          <p:nvPr/>
        </p:nvSpPr>
        <p:spPr>
          <a:xfrm>
            <a:off x="274320" y="777240"/>
            <a:ext cx="1828800" cy="841248"/>
          </a:xfrm>
          <a:prstGeom prst="rect">
            <a:avLst/>
          </a:prstGeom>
          <a:solidFill>
            <a:srgbClr val="C9A84C"/>
          </a:solidFill>
          <a:ln/>
        </p:spPr>
      </p:sp>
      <p:sp>
        <p:nvSpPr>
          <p:cNvPr id="10" name="Text 8"/>
          <p:cNvSpPr/>
          <p:nvPr/>
        </p:nvSpPr>
        <p:spPr>
          <a:xfrm>
            <a:off x="274320" y="777240"/>
            <a:ext cx="1828800" cy="841248"/>
          </a:xfrm>
          <a:prstGeom prst="rect">
            <a:avLst/>
          </a:prstGeom>
          <a:noFill/>
          <a:ln/>
        </p:spPr>
        <p:txBody>
          <a:bodyPr wrap="square" lIns="0" tIns="0" rIns="0" bIns="0" rtlCol="0" anchor="ctr"/>
          <a:lstStyle/>
          <a:p>
            <a:pPr algn="ctr" indent="0" marL="0">
              <a:buNone/>
            </a:pPr>
            <a:r>
              <a:rPr lang="en-US" sz="1400" b="1" dirty="0">
                <a:solidFill>
                  <a:srgbClr val="1B3A6B"/>
                </a:solidFill>
              </a:rPr>
              <a:t>OUTPUT</a:t>
            </a:r>
            <a:endParaRPr lang="en-US" sz="1400" dirty="0"/>
          </a:p>
          <a:p>
            <a:pPr algn="ctr" indent="0" marL="0">
              <a:buNone/>
            </a:pPr>
            <a:r>
              <a:rPr lang="en-US" sz="1400" b="1" dirty="0">
                <a:solidFill>
                  <a:srgbClr val="1B3A6B"/>
                </a:solidFill>
              </a:rPr>
              <a:t>FLOOR</a:t>
            </a:r>
            <a:endParaRPr lang="en-US" sz="1400" dirty="0"/>
          </a:p>
        </p:txBody>
      </p:sp>
      <p:sp>
        <p:nvSpPr>
          <p:cNvPr id="11" name="Text 9"/>
          <p:cNvSpPr/>
          <p:nvPr/>
        </p:nvSpPr>
        <p:spPr>
          <a:xfrm>
            <a:off x="2240280" y="804672"/>
            <a:ext cx="6400800" cy="402336"/>
          </a:xfrm>
          <a:prstGeom prst="rect">
            <a:avLst/>
          </a:prstGeom>
          <a:noFill/>
          <a:ln/>
        </p:spPr>
        <p:txBody>
          <a:bodyPr wrap="square" lIns="0" tIns="0" rIns="0" bIns="0" rtlCol="0" anchor="ctr"/>
          <a:lstStyle/>
          <a:p>
            <a:pPr indent="0" marL="0">
              <a:buNone/>
            </a:pPr>
            <a:r>
              <a:rPr lang="en-US" sz="1800" b="1" dirty="0">
                <a:solidFill>
                  <a:srgbClr val="FFFFFF"/>
                </a:solidFill>
              </a:rPr>
              <a:t>Internal Model RWA  ≥  72.5%  ×  Standardised RWA</a:t>
            </a:r>
            <a:endParaRPr lang="en-US" sz="1800" dirty="0"/>
          </a:p>
        </p:txBody>
      </p:sp>
      <p:sp>
        <p:nvSpPr>
          <p:cNvPr id="12" name="Text 10"/>
          <p:cNvSpPr/>
          <p:nvPr/>
        </p:nvSpPr>
        <p:spPr>
          <a:xfrm>
            <a:off x="2240280" y="1188720"/>
            <a:ext cx="6400800" cy="365760"/>
          </a:xfrm>
          <a:prstGeom prst="rect">
            <a:avLst/>
          </a:prstGeom>
          <a:noFill/>
          <a:ln/>
        </p:spPr>
        <p:txBody>
          <a:bodyPr wrap="square" lIns="0" tIns="0" rIns="0" bIns="0" rtlCol="0" anchor="ctr"/>
          <a:lstStyle/>
          <a:p>
            <a:pPr indent="0" marL="0">
              <a:buNone/>
            </a:pPr>
            <a:r>
              <a:rPr lang="en-US" sz="950" dirty="0">
                <a:solidFill>
                  <a:srgbClr val="D6EAF8"/>
                </a:solidFill>
              </a:rPr>
              <a:t>No bank can hold less than 72.5% of the capital implied by standardised approaches, regardless of internal model output. Phases in 50% (2025) → 72.5% (2028).</a:t>
            </a:r>
            <a:endParaRPr lang="en-US" sz="950" dirty="0"/>
          </a:p>
        </p:txBody>
      </p:sp>
      <p:sp>
        <p:nvSpPr>
          <p:cNvPr id="13" name="Shape 11"/>
          <p:cNvSpPr/>
          <p:nvPr/>
        </p:nvSpPr>
        <p:spPr>
          <a:xfrm>
            <a:off x="274320" y="1737360"/>
            <a:ext cx="2057400" cy="2926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4" name="Shape 12"/>
          <p:cNvSpPr/>
          <p:nvPr/>
        </p:nvSpPr>
        <p:spPr>
          <a:xfrm>
            <a:off x="274320" y="1737360"/>
            <a:ext cx="2057400" cy="457200"/>
          </a:xfrm>
          <a:prstGeom prst="rect">
            <a:avLst/>
          </a:prstGeom>
          <a:solidFill>
            <a:srgbClr val="1B3A6B"/>
          </a:solidFill>
          <a:ln/>
        </p:spPr>
      </p:sp>
      <p:sp>
        <p:nvSpPr>
          <p:cNvPr id="15" name="Text 13"/>
          <p:cNvSpPr/>
          <p:nvPr/>
        </p:nvSpPr>
        <p:spPr>
          <a:xfrm>
            <a:off x="347472" y="1755648"/>
            <a:ext cx="1920240" cy="246888"/>
          </a:xfrm>
          <a:prstGeom prst="rect">
            <a:avLst/>
          </a:prstGeom>
          <a:noFill/>
          <a:ln/>
        </p:spPr>
        <p:txBody>
          <a:bodyPr wrap="square" lIns="0" tIns="0" rIns="0" bIns="0" rtlCol="0" anchor="ctr"/>
          <a:lstStyle/>
          <a:p>
            <a:pPr indent="0" marL="0">
              <a:buNone/>
            </a:pPr>
            <a:r>
              <a:rPr lang="en-US" sz="1100" b="1" dirty="0">
                <a:solidFill>
                  <a:srgbClr val="FFFFFF"/>
                </a:solidFill>
              </a:rPr>
              <a:t>FRTB</a:t>
            </a:r>
            <a:endParaRPr lang="en-US" sz="1100" dirty="0"/>
          </a:p>
        </p:txBody>
      </p:sp>
      <p:sp>
        <p:nvSpPr>
          <p:cNvPr id="16" name="Text 14"/>
          <p:cNvSpPr/>
          <p:nvPr/>
        </p:nvSpPr>
        <p:spPr>
          <a:xfrm>
            <a:off x="347472" y="1993392"/>
            <a:ext cx="1920240" cy="182880"/>
          </a:xfrm>
          <a:prstGeom prst="rect">
            <a:avLst/>
          </a:prstGeom>
          <a:noFill/>
          <a:ln/>
        </p:spPr>
        <p:txBody>
          <a:bodyPr wrap="square" lIns="0" tIns="0" rIns="0" bIns="0" rtlCol="0" anchor="ctr"/>
          <a:lstStyle/>
          <a:p>
            <a:pPr indent="0" marL="0">
              <a:buNone/>
            </a:pPr>
            <a:r>
              <a:rPr lang="en-US" sz="900" i="1" dirty="0">
                <a:solidFill>
                  <a:srgbClr val="D6EAF8"/>
                </a:solidFill>
              </a:rPr>
              <a:t>Market Risk</a:t>
            </a:r>
            <a:endParaRPr lang="en-US" sz="900" dirty="0"/>
          </a:p>
        </p:txBody>
      </p:sp>
      <p:sp>
        <p:nvSpPr>
          <p:cNvPr id="17" name="Text 15"/>
          <p:cNvSpPr/>
          <p:nvPr/>
        </p:nvSpPr>
        <p:spPr>
          <a:xfrm>
            <a:off x="365760" y="2240280"/>
            <a:ext cx="1874520" cy="2359152"/>
          </a:xfrm>
          <a:prstGeom prst="rect">
            <a:avLst/>
          </a:prstGeom>
          <a:noFill/>
          <a:ln/>
        </p:spPr>
        <p:txBody>
          <a:bodyPr wrap="square" lIns="0" tIns="0" rIns="0" bIns="0" rtlCol="0" anchor="t"/>
          <a:lstStyle/>
          <a:p>
            <a:pPr indent="0" marL="0">
              <a:buNone/>
            </a:pPr>
            <a:r>
              <a:rPr lang="en-US" sz="950" dirty="0">
                <a:solidFill>
                  <a:srgbClr val="1A1A2E"/>
                </a:solidFill>
              </a:rPr>
              <a:t>VaR → Expected Shortfall (97.5%). Liquidity horizons 10–120 days. P&amp;L Attribution Test. NMRF charges for illiquid risk factors.</a:t>
            </a:r>
            <a:endParaRPr lang="en-US" sz="950" dirty="0"/>
          </a:p>
        </p:txBody>
      </p:sp>
      <p:sp>
        <p:nvSpPr>
          <p:cNvPr id="18" name="Shape 16"/>
          <p:cNvSpPr/>
          <p:nvPr/>
        </p:nvSpPr>
        <p:spPr>
          <a:xfrm>
            <a:off x="2450592" y="1737360"/>
            <a:ext cx="2057400" cy="2926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7"/>
          <p:cNvSpPr/>
          <p:nvPr/>
        </p:nvSpPr>
        <p:spPr>
          <a:xfrm>
            <a:off x="2450592" y="1737360"/>
            <a:ext cx="2057400" cy="457200"/>
          </a:xfrm>
          <a:prstGeom prst="rect">
            <a:avLst/>
          </a:prstGeom>
          <a:solidFill>
            <a:srgbClr val="0E6B8A"/>
          </a:solidFill>
          <a:ln/>
        </p:spPr>
      </p:sp>
      <p:sp>
        <p:nvSpPr>
          <p:cNvPr id="20" name="Text 18"/>
          <p:cNvSpPr/>
          <p:nvPr/>
        </p:nvSpPr>
        <p:spPr>
          <a:xfrm>
            <a:off x="2523744" y="1755648"/>
            <a:ext cx="1920240" cy="246888"/>
          </a:xfrm>
          <a:prstGeom prst="rect">
            <a:avLst/>
          </a:prstGeom>
          <a:noFill/>
          <a:ln/>
        </p:spPr>
        <p:txBody>
          <a:bodyPr wrap="square" lIns="0" tIns="0" rIns="0" bIns="0" rtlCol="0" anchor="ctr"/>
          <a:lstStyle/>
          <a:p>
            <a:pPr indent="0" marL="0">
              <a:buNone/>
            </a:pPr>
            <a:r>
              <a:rPr lang="en-US" sz="1100" b="1" dirty="0">
                <a:solidFill>
                  <a:srgbClr val="FFFFFF"/>
                </a:solidFill>
              </a:rPr>
              <a:t>Rev-SA &amp; IRB</a:t>
            </a:r>
            <a:endParaRPr lang="en-US" sz="1100" dirty="0"/>
          </a:p>
        </p:txBody>
      </p:sp>
      <p:sp>
        <p:nvSpPr>
          <p:cNvPr id="21" name="Text 19"/>
          <p:cNvSpPr/>
          <p:nvPr/>
        </p:nvSpPr>
        <p:spPr>
          <a:xfrm>
            <a:off x="2523744" y="1993392"/>
            <a:ext cx="1920240" cy="182880"/>
          </a:xfrm>
          <a:prstGeom prst="rect">
            <a:avLst/>
          </a:prstGeom>
          <a:noFill/>
          <a:ln/>
        </p:spPr>
        <p:txBody>
          <a:bodyPr wrap="square" lIns="0" tIns="0" rIns="0" bIns="0" rtlCol="0" anchor="ctr"/>
          <a:lstStyle/>
          <a:p>
            <a:pPr indent="0" marL="0">
              <a:buNone/>
            </a:pPr>
            <a:r>
              <a:rPr lang="en-US" sz="900" i="1" dirty="0">
                <a:solidFill>
                  <a:srgbClr val="D6EAF8"/>
                </a:solidFill>
              </a:rPr>
              <a:t>Credit Risk</a:t>
            </a:r>
            <a:endParaRPr lang="en-US" sz="900" dirty="0"/>
          </a:p>
        </p:txBody>
      </p:sp>
      <p:sp>
        <p:nvSpPr>
          <p:cNvPr id="22" name="Text 20"/>
          <p:cNvSpPr/>
          <p:nvPr/>
        </p:nvSpPr>
        <p:spPr>
          <a:xfrm>
            <a:off x="2542032" y="2240280"/>
            <a:ext cx="1874520" cy="2359152"/>
          </a:xfrm>
          <a:prstGeom prst="rect">
            <a:avLst/>
          </a:prstGeom>
          <a:noFill/>
          <a:ln/>
        </p:spPr>
        <p:txBody>
          <a:bodyPr wrap="square" lIns="0" tIns="0" rIns="0" bIns="0" rtlCol="0" anchor="t"/>
          <a:lstStyle/>
          <a:p>
            <a:pPr indent="0" marL="0">
              <a:buNone/>
            </a:pPr>
            <a:r>
              <a:rPr lang="en-US" sz="950" dirty="0">
                <a:solidFill>
                  <a:srgbClr val="1A1A2E"/>
                </a:solidFill>
              </a:rPr>
              <a:t>A-IRB restricted for FIs, large corporates, equities. LGD floors (25% unsecured), PD floor 5bps. More granular standardised approach.</a:t>
            </a:r>
            <a:endParaRPr lang="en-US" sz="950" dirty="0"/>
          </a:p>
        </p:txBody>
      </p:sp>
      <p:sp>
        <p:nvSpPr>
          <p:cNvPr id="23" name="Shape 21"/>
          <p:cNvSpPr/>
          <p:nvPr/>
        </p:nvSpPr>
        <p:spPr>
          <a:xfrm>
            <a:off x="4626864" y="1737360"/>
            <a:ext cx="2057400" cy="2926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4" name="Shape 22"/>
          <p:cNvSpPr/>
          <p:nvPr/>
        </p:nvSpPr>
        <p:spPr>
          <a:xfrm>
            <a:off x="4626864" y="1737360"/>
            <a:ext cx="2057400" cy="457200"/>
          </a:xfrm>
          <a:prstGeom prst="rect">
            <a:avLst/>
          </a:prstGeom>
          <a:solidFill>
            <a:srgbClr val="C9A84C"/>
          </a:solidFill>
          <a:ln/>
        </p:spPr>
      </p:sp>
      <p:sp>
        <p:nvSpPr>
          <p:cNvPr id="25" name="Text 23"/>
          <p:cNvSpPr/>
          <p:nvPr/>
        </p:nvSpPr>
        <p:spPr>
          <a:xfrm>
            <a:off x="4700016" y="1755648"/>
            <a:ext cx="1920240" cy="246888"/>
          </a:xfrm>
          <a:prstGeom prst="rect">
            <a:avLst/>
          </a:prstGeom>
          <a:noFill/>
          <a:ln/>
        </p:spPr>
        <p:txBody>
          <a:bodyPr wrap="square" lIns="0" tIns="0" rIns="0" bIns="0" rtlCol="0" anchor="ctr"/>
          <a:lstStyle/>
          <a:p>
            <a:pPr indent="0" marL="0">
              <a:buNone/>
            </a:pPr>
            <a:r>
              <a:rPr lang="en-US" sz="1100" b="1" dirty="0">
                <a:solidFill>
                  <a:srgbClr val="FFFFFF"/>
                </a:solidFill>
              </a:rPr>
              <a:t>SA-CCR Mandatory</a:t>
            </a:r>
            <a:endParaRPr lang="en-US" sz="1100" dirty="0"/>
          </a:p>
        </p:txBody>
      </p:sp>
      <p:sp>
        <p:nvSpPr>
          <p:cNvPr id="26" name="Text 24"/>
          <p:cNvSpPr/>
          <p:nvPr/>
        </p:nvSpPr>
        <p:spPr>
          <a:xfrm>
            <a:off x="4700016" y="1993392"/>
            <a:ext cx="1920240" cy="182880"/>
          </a:xfrm>
          <a:prstGeom prst="rect">
            <a:avLst/>
          </a:prstGeom>
          <a:noFill/>
          <a:ln/>
        </p:spPr>
        <p:txBody>
          <a:bodyPr wrap="square" lIns="0" tIns="0" rIns="0" bIns="0" rtlCol="0" anchor="ctr"/>
          <a:lstStyle/>
          <a:p>
            <a:pPr indent="0" marL="0">
              <a:buNone/>
            </a:pPr>
            <a:r>
              <a:rPr lang="en-US" sz="900" i="1" dirty="0">
                <a:solidFill>
                  <a:srgbClr val="D6EAF8"/>
                </a:solidFill>
              </a:rPr>
              <a:t>Counterparty Risk</a:t>
            </a:r>
            <a:endParaRPr lang="en-US" sz="900" dirty="0"/>
          </a:p>
        </p:txBody>
      </p:sp>
      <p:sp>
        <p:nvSpPr>
          <p:cNvPr id="27" name="Text 25"/>
          <p:cNvSpPr/>
          <p:nvPr/>
        </p:nvSpPr>
        <p:spPr>
          <a:xfrm>
            <a:off x="4718304" y="2240280"/>
            <a:ext cx="1874520" cy="2359152"/>
          </a:xfrm>
          <a:prstGeom prst="rect">
            <a:avLst/>
          </a:prstGeom>
          <a:noFill/>
          <a:ln/>
        </p:spPr>
        <p:txBody>
          <a:bodyPr wrap="square" lIns="0" tIns="0" rIns="0" bIns="0" rtlCol="0" anchor="t"/>
          <a:lstStyle/>
          <a:p>
            <a:pPr indent="0" marL="0">
              <a:buNone/>
            </a:pPr>
            <a:r>
              <a:rPr lang="en-US" sz="950" dirty="0">
                <a:solidFill>
                  <a:srgbClr val="1A1A2E"/>
                </a:solidFill>
              </a:rPr>
              <a:t>Replaces CEM. Recognises netting, margin, delta-adjusted notionals. Alpha multiplier 1.4×. Mandatory for all non-IMM banks.</a:t>
            </a:r>
            <a:endParaRPr lang="en-US" sz="950" dirty="0"/>
          </a:p>
        </p:txBody>
      </p:sp>
      <p:sp>
        <p:nvSpPr>
          <p:cNvPr id="28" name="Shape 26"/>
          <p:cNvSpPr/>
          <p:nvPr/>
        </p:nvSpPr>
        <p:spPr>
          <a:xfrm>
            <a:off x="6803136" y="1737360"/>
            <a:ext cx="2057400" cy="2926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9" name="Shape 27"/>
          <p:cNvSpPr/>
          <p:nvPr/>
        </p:nvSpPr>
        <p:spPr>
          <a:xfrm>
            <a:off x="6803136" y="1737360"/>
            <a:ext cx="2057400" cy="457200"/>
          </a:xfrm>
          <a:prstGeom prst="rect">
            <a:avLst/>
          </a:prstGeom>
          <a:solidFill>
            <a:srgbClr val="8B0000"/>
          </a:solidFill>
          <a:ln/>
        </p:spPr>
      </p:sp>
      <p:sp>
        <p:nvSpPr>
          <p:cNvPr id="30" name="Text 28"/>
          <p:cNvSpPr/>
          <p:nvPr/>
        </p:nvSpPr>
        <p:spPr>
          <a:xfrm>
            <a:off x="6876288" y="1755648"/>
            <a:ext cx="1920240" cy="246888"/>
          </a:xfrm>
          <a:prstGeom prst="rect">
            <a:avLst/>
          </a:prstGeom>
          <a:noFill/>
          <a:ln/>
        </p:spPr>
        <p:txBody>
          <a:bodyPr wrap="square" lIns="0" tIns="0" rIns="0" bIns="0" rtlCol="0" anchor="ctr"/>
          <a:lstStyle/>
          <a:p>
            <a:pPr indent="0" marL="0">
              <a:buNone/>
            </a:pPr>
            <a:r>
              <a:rPr lang="en-US" sz="1100" b="1" dirty="0">
                <a:solidFill>
                  <a:srgbClr val="FFFFFF"/>
                </a:solidFill>
              </a:rPr>
              <a:t>SMA Replaces AMA</a:t>
            </a:r>
            <a:endParaRPr lang="en-US" sz="1100" dirty="0"/>
          </a:p>
        </p:txBody>
      </p:sp>
      <p:sp>
        <p:nvSpPr>
          <p:cNvPr id="31" name="Text 29"/>
          <p:cNvSpPr/>
          <p:nvPr/>
        </p:nvSpPr>
        <p:spPr>
          <a:xfrm>
            <a:off x="6876288" y="1993392"/>
            <a:ext cx="1920240" cy="182880"/>
          </a:xfrm>
          <a:prstGeom prst="rect">
            <a:avLst/>
          </a:prstGeom>
          <a:noFill/>
          <a:ln/>
        </p:spPr>
        <p:txBody>
          <a:bodyPr wrap="square" lIns="0" tIns="0" rIns="0" bIns="0" rtlCol="0" anchor="ctr"/>
          <a:lstStyle/>
          <a:p>
            <a:pPr indent="0" marL="0">
              <a:buNone/>
            </a:pPr>
            <a:r>
              <a:rPr lang="en-US" sz="900" i="1" dirty="0">
                <a:solidFill>
                  <a:srgbClr val="D6EAF8"/>
                </a:solidFill>
              </a:rPr>
              <a:t>Operational Risk</a:t>
            </a:r>
            <a:endParaRPr lang="en-US" sz="900" dirty="0"/>
          </a:p>
        </p:txBody>
      </p:sp>
      <p:sp>
        <p:nvSpPr>
          <p:cNvPr id="32" name="Text 30"/>
          <p:cNvSpPr/>
          <p:nvPr/>
        </p:nvSpPr>
        <p:spPr>
          <a:xfrm>
            <a:off x="6894576" y="2240280"/>
            <a:ext cx="1874520" cy="2359152"/>
          </a:xfrm>
          <a:prstGeom prst="rect">
            <a:avLst/>
          </a:prstGeom>
          <a:noFill/>
          <a:ln/>
        </p:spPr>
        <p:txBody>
          <a:bodyPr wrap="square" lIns="0" tIns="0" rIns="0" bIns="0" rtlCol="0" anchor="t"/>
          <a:lstStyle/>
          <a:p>
            <a:pPr indent="0" marL="0">
              <a:buNone/>
            </a:pPr>
            <a:r>
              <a:rPr lang="en-US" sz="950" dirty="0">
                <a:solidFill>
                  <a:srgbClr val="1A1A2E"/>
                </a:solidFill>
              </a:rPr>
              <a:t>AMA abolished. Single Business Indicator formula with marginal rates 12–18%. Internal Loss Multiplier for large banks (BI &gt; €1bn).</a:t>
            </a:r>
            <a:endParaRPr lang="en-US" sz="950" dirty="0"/>
          </a:p>
        </p:txBody>
      </p:sp>
      <p:sp>
        <p:nvSpPr>
          <p:cNvPr id="33" name="Shape 31"/>
          <p:cNvSpPr/>
          <p:nvPr/>
        </p:nvSpPr>
        <p:spPr>
          <a:xfrm>
            <a:off x="365760" y="4645152"/>
            <a:ext cx="8412480" cy="594360"/>
          </a:xfrm>
          <a:prstGeom prst="rect">
            <a:avLst/>
          </a:prstGeom>
          <a:solidFill>
            <a:srgbClr val="D6EAF8"/>
          </a:solidFill>
          <a:ln/>
        </p:spPr>
      </p:sp>
      <p:sp>
        <p:nvSpPr>
          <p:cNvPr id="34" name="Shape 32"/>
          <p:cNvSpPr/>
          <p:nvPr/>
        </p:nvSpPr>
        <p:spPr>
          <a:xfrm>
            <a:off x="365760" y="4645152"/>
            <a:ext cx="1005840" cy="594360"/>
          </a:xfrm>
          <a:prstGeom prst="rect">
            <a:avLst/>
          </a:prstGeom>
          <a:solidFill>
            <a:srgbClr val="8B0000"/>
          </a:solidFill>
          <a:ln/>
        </p:spPr>
      </p:sp>
      <p:sp>
        <p:nvSpPr>
          <p:cNvPr id="35" name="Text 33"/>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INDUSTRY IMPACT</a:t>
            </a:r>
            <a:endParaRPr lang="en-US" sz="900" dirty="0"/>
          </a:p>
        </p:txBody>
      </p:sp>
      <p:sp>
        <p:nvSpPr>
          <p:cNvPr id="36" name="Text 34"/>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EBA estimates +24% RWA for EU banks at full implementation. FRTB adds 40–60% to market risk RWA for trading-heavy banks. Output floor adds &gt;€130bn required capital across EU sector.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Capital Requirements Evolution</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How Capital Requirements Have Grown: Basel I → IV</a:t>
            </a:r>
            <a:endParaRPr lang="en-US" sz="2200" dirty="0"/>
          </a:p>
        </p:txBody>
      </p:sp>
      <p:graphicFrame>
        <p:nvGraphicFramePr>
          <p:cNvPr id="6" name="Chart 0" descr=""/>
          <p:cNvGraphicFramePr/>
          <p:nvPr/>
        </p:nvGraphicFramePr>
        <p:xfrm>
          <a:off x="274320" y="777240"/>
          <a:ext cx="5029200" cy="39776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532120" y="777240"/>
            <a:ext cx="3337560" cy="365760"/>
          </a:xfrm>
          <a:prstGeom prst="rect">
            <a:avLst/>
          </a:prstGeom>
          <a:solidFill>
            <a:srgbClr val="1B3A6B"/>
          </a:solidFill>
          <a:ln/>
        </p:spPr>
      </p:sp>
      <p:sp>
        <p:nvSpPr>
          <p:cNvPr id="8" name="Text 5"/>
          <p:cNvSpPr/>
          <p:nvPr/>
        </p:nvSpPr>
        <p:spPr>
          <a:xfrm>
            <a:off x="5532120" y="777240"/>
            <a:ext cx="3337560" cy="365760"/>
          </a:xfrm>
          <a:prstGeom prst="rect">
            <a:avLst/>
          </a:prstGeom>
          <a:noFill/>
          <a:ln/>
        </p:spPr>
        <p:txBody>
          <a:bodyPr wrap="square" lIns="0" tIns="0" rIns="0" bIns="0" rtlCol="0" anchor="ctr"/>
          <a:lstStyle/>
          <a:p>
            <a:pPr algn="ctr" indent="0" marL="0">
              <a:buNone/>
            </a:pPr>
            <a:r>
              <a:rPr lang="en-US" sz="900" b="1" dirty="0">
                <a:solidFill>
                  <a:srgbClr val="FFFFFF"/>
                </a:solidFill>
              </a:rPr>
              <a:t>MILESTONE COMPARISON</a:t>
            </a:r>
            <a:endParaRPr lang="en-US" sz="900" dirty="0"/>
          </a:p>
        </p:txBody>
      </p:sp>
      <p:sp>
        <p:nvSpPr>
          <p:cNvPr id="9" name="Shape 6"/>
          <p:cNvSpPr/>
          <p:nvPr/>
        </p:nvSpPr>
        <p:spPr>
          <a:xfrm>
            <a:off x="5532120" y="1143000"/>
            <a:ext cx="1417320" cy="379476"/>
          </a:xfrm>
          <a:prstGeom prst="rect">
            <a:avLst/>
          </a:prstGeom>
          <a:solidFill>
            <a:srgbClr val="1B3A6B"/>
          </a:solidFill>
          <a:ln/>
        </p:spPr>
      </p:sp>
      <p:sp>
        <p:nvSpPr>
          <p:cNvPr id="10" name="Text 7"/>
          <p:cNvSpPr/>
          <p:nvPr/>
        </p:nvSpPr>
        <p:spPr>
          <a:xfrm>
            <a:off x="5532120" y="1143000"/>
            <a:ext cx="1417320" cy="379476"/>
          </a:xfrm>
          <a:prstGeom prst="rect">
            <a:avLst/>
          </a:prstGeom>
          <a:noFill/>
          <a:ln/>
        </p:spPr>
        <p:txBody>
          <a:bodyPr wrap="square" lIns="50800" tIns="50800" rIns="50800" bIns="50800" rtlCol="0" anchor="ctr"/>
          <a:lstStyle/>
          <a:p>
            <a:pPr algn="l" indent="0" marL="0">
              <a:buNone/>
            </a:pPr>
            <a:r>
              <a:rPr lang="en-US" sz="900" b="1" dirty="0">
                <a:solidFill>
                  <a:srgbClr val="FFFFFF"/>
                </a:solidFill>
              </a:rPr>
              <a:t>Feature</a:t>
            </a:r>
            <a:endParaRPr lang="en-US" sz="900" dirty="0"/>
          </a:p>
        </p:txBody>
      </p:sp>
      <p:sp>
        <p:nvSpPr>
          <p:cNvPr id="11" name="Shape 8"/>
          <p:cNvSpPr/>
          <p:nvPr/>
        </p:nvSpPr>
        <p:spPr>
          <a:xfrm>
            <a:off x="6949440" y="1143000"/>
            <a:ext cx="438912" cy="379476"/>
          </a:xfrm>
          <a:prstGeom prst="rect">
            <a:avLst/>
          </a:prstGeom>
          <a:solidFill>
            <a:srgbClr val="1B3A6B"/>
          </a:solidFill>
          <a:ln/>
        </p:spPr>
      </p:sp>
      <p:sp>
        <p:nvSpPr>
          <p:cNvPr id="12" name="Text 9"/>
          <p:cNvSpPr/>
          <p:nvPr/>
        </p:nvSpPr>
        <p:spPr>
          <a:xfrm>
            <a:off x="6949440" y="1143000"/>
            <a:ext cx="438912" cy="379476"/>
          </a:xfrm>
          <a:prstGeom prst="rect">
            <a:avLst/>
          </a:prstGeom>
          <a:noFill/>
          <a:ln/>
        </p:spPr>
        <p:txBody>
          <a:bodyPr wrap="square" lIns="0" tIns="0" rIns="0" bIns="0" rtlCol="0" anchor="ctr"/>
          <a:lstStyle/>
          <a:p>
            <a:pPr algn="ctr" indent="0" marL="0">
              <a:buNone/>
            </a:pPr>
            <a:r>
              <a:rPr lang="en-US" sz="850" b="1" dirty="0">
                <a:solidFill>
                  <a:srgbClr val="FFFFFF"/>
                </a:solidFill>
              </a:rPr>
              <a:t>I</a:t>
            </a:r>
            <a:endParaRPr lang="en-US" sz="850" dirty="0"/>
          </a:p>
        </p:txBody>
      </p:sp>
      <p:sp>
        <p:nvSpPr>
          <p:cNvPr id="13" name="Shape 10"/>
          <p:cNvSpPr/>
          <p:nvPr/>
        </p:nvSpPr>
        <p:spPr>
          <a:xfrm>
            <a:off x="7388352" y="1143000"/>
            <a:ext cx="438912" cy="379476"/>
          </a:xfrm>
          <a:prstGeom prst="rect">
            <a:avLst/>
          </a:prstGeom>
          <a:solidFill>
            <a:srgbClr val="1B3A6B"/>
          </a:solidFill>
          <a:ln/>
        </p:spPr>
      </p:sp>
      <p:sp>
        <p:nvSpPr>
          <p:cNvPr id="14" name="Text 11"/>
          <p:cNvSpPr/>
          <p:nvPr/>
        </p:nvSpPr>
        <p:spPr>
          <a:xfrm>
            <a:off x="7388352" y="1143000"/>
            <a:ext cx="438912" cy="379476"/>
          </a:xfrm>
          <a:prstGeom prst="rect">
            <a:avLst/>
          </a:prstGeom>
          <a:noFill/>
          <a:ln/>
        </p:spPr>
        <p:txBody>
          <a:bodyPr wrap="square" lIns="0" tIns="0" rIns="0" bIns="0" rtlCol="0" anchor="ctr"/>
          <a:lstStyle/>
          <a:p>
            <a:pPr algn="ctr" indent="0" marL="0">
              <a:buNone/>
            </a:pPr>
            <a:r>
              <a:rPr lang="en-US" sz="850" b="1" dirty="0">
                <a:solidFill>
                  <a:srgbClr val="FFFFFF"/>
                </a:solidFill>
              </a:rPr>
              <a:t>II</a:t>
            </a:r>
            <a:endParaRPr lang="en-US" sz="850" dirty="0"/>
          </a:p>
        </p:txBody>
      </p:sp>
      <p:sp>
        <p:nvSpPr>
          <p:cNvPr id="15" name="Shape 12"/>
          <p:cNvSpPr/>
          <p:nvPr/>
        </p:nvSpPr>
        <p:spPr>
          <a:xfrm>
            <a:off x="7827264" y="1143000"/>
            <a:ext cx="438912" cy="379476"/>
          </a:xfrm>
          <a:prstGeom prst="rect">
            <a:avLst/>
          </a:prstGeom>
          <a:solidFill>
            <a:srgbClr val="1B3A6B"/>
          </a:solidFill>
          <a:ln/>
        </p:spPr>
      </p:sp>
      <p:sp>
        <p:nvSpPr>
          <p:cNvPr id="16" name="Text 13"/>
          <p:cNvSpPr/>
          <p:nvPr/>
        </p:nvSpPr>
        <p:spPr>
          <a:xfrm>
            <a:off x="7827264" y="1143000"/>
            <a:ext cx="438912" cy="379476"/>
          </a:xfrm>
          <a:prstGeom prst="rect">
            <a:avLst/>
          </a:prstGeom>
          <a:noFill/>
          <a:ln/>
        </p:spPr>
        <p:txBody>
          <a:bodyPr wrap="square" lIns="0" tIns="0" rIns="0" bIns="0" rtlCol="0" anchor="ctr"/>
          <a:lstStyle/>
          <a:p>
            <a:pPr algn="ctr" indent="0" marL="0">
              <a:buNone/>
            </a:pPr>
            <a:r>
              <a:rPr lang="en-US" sz="850" b="1" dirty="0">
                <a:solidFill>
                  <a:srgbClr val="FFFFFF"/>
                </a:solidFill>
              </a:rPr>
              <a:t>III</a:t>
            </a:r>
            <a:endParaRPr lang="en-US" sz="850" dirty="0"/>
          </a:p>
        </p:txBody>
      </p:sp>
      <p:sp>
        <p:nvSpPr>
          <p:cNvPr id="17" name="Shape 14"/>
          <p:cNvSpPr/>
          <p:nvPr/>
        </p:nvSpPr>
        <p:spPr>
          <a:xfrm>
            <a:off x="8266176" y="1143000"/>
            <a:ext cx="603504" cy="379476"/>
          </a:xfrm>
          <a:prstGeom prst="rect">
            <a:avLst/>
          </a:prstGeom>
          <a:solidFill>
            <a:srgbClr val="1B3A6B"/>
          </a:solidFill>
          <a:ln/>
        </p:spPr>
      </p:sp>
      <p:sp>
        <p:nvSpPr>
          <p:cNvPr id="18" name="Text 15"/>
          <p:cNvSpPr/>
          <p:nvPr/>
        </p:nvSpPr>
        <p:spPr>
          <a:xfrm>
            <a:off x="8266176" y="1143000"/>
            <a:ext cx="603504" cy="379476"/>
          </a:xfrm>
          <a:prstGeom prst="rect">
            <a:avLst/>
          </a:prstGeom>
          <a:noFill/>
          <a:ln/>
        </p:spPr>
        <p:txBody>
          <a:bodyPr wrap="square" lIns="0" tIns="0" rIns="0" bIns="0" rtlCol="0" anchor="ctr"/>
          <a:lstStyle/>
          <a:p>
            <a:pPr algn="ctr" indent="0" marL="0">
              <a:buNone/>
            </a:pPr>
            <a:r>
              <a:rPr lang="en-US" sz="850" b="1" dirty="0">
                <a:solidFill>
                  <a:srgbClr val="FFFFFF"/>
                </a:solidFill>
              </a:rPr>
              <a:t>IV</a:t>
            </a:r>
            <a:endParaRPr lang="en-US" sz="850" dirty="0"/>
          </a:p>
        </p:txBody>
      </p:sp>
      <p:sp>
        <p:nvSpPr>
          <p:cNvPr id="19" name="Shape 16"/>
          <p:cNvSpPr/>
          <p:nvPr/>
        </p:nvSpPr>
        <p:spPr>
          <a:xfrm>
            <a:off x="5532120" y="1522476"/>
            <a:ext cx="1417320" cy="379476"/>
          </a:xfrm>
          <a:prstGeom prst="rect">
            <a:avLst/>
          </a:prstGeom>
          <a:solidFill>
            <a:srgbClr val="F4F6F8"/>
          </a:solidFill>
          <a:ln/>
        </p:spPr>
      </p:sp>
      <p:sp>
        <p:nvSpPr>
          <p:cNvPr id="20" name="Text 17"/>
          <p:cNvSpPr/>
          <p:nvPr/>
        </p:nvSpPr>
        <p:spPr>
          <a:xfrm>
            <a:off x="5532120" y="1522476"/>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Min CET1</a:t>
            </a:r>
            <a:endParaRPr lang="en-US" sz="900" dirty="0"/>
          </a:p>
        </p:txBody>
      </p:sp>
      <p:sp>
        <p:nvSpPr>
          <p:cNvPr id="21" name="Shape 18"/>
          <p:cNvSpPr/>
          <p:nvPr/>
        </p:nvSpPr>
        <p:spPr>
          <a:xfrm>
            <a:off x="6949440" y="1522476"/>
            <a:ext cx="438912" cy="379476"/>
          </a:xfrm>
          <a:prstGeom prst="rect">
            <a:avLst/>
          </a:prstGeom>
          <a:solidFill>
            <a:srgbClr val="F4F6F8"/>
          </a:solidFill>
          <a:ln/>
        </p:spPr>
      </p:sp>
      <p:sp>
        <p:nvSpPr>
          <p:cNvPr id="22" name="Text 19"/>
          <p:cNvSpPr/>
          <p:nvPr/>
        </p:nvSpPr>
        <p:spPr>
          <a:xfrm>
            <a:off x="6949440" y="152247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4%T1</a:t>
            </a:r>
            <a:endParaRPr lang="en-US" sz="850" dirty="0"/>
          </a:p>
        </p:txBody>
      </p:sp>
      <p:sp>
        <p:nvSpPr>
          <p:cNvPr id="23" name="Shape 20"/>
          <p:cNvSpPr/>
          <p:nvPr/>
        </p:nvSpPr>
        <p:spPr>
          <a:xfrm>
            <a:off x="7388352" y="1522476"/>
            <a:ext cx="438912" cy="379476"/>
          </a:xfrm>
          <a:prstGeom prst="rect">
            <a:avLst/>
          </a:prstGeom>
          <a:solidFill>
            <a:srgbClr val="F4F6F8"/>
          </a:solidFill>
          <a:ln/>
        </p:spPr>
      </p:sp>
      <p:sp>
        <p:nvSpPr>
          <p:cNvPr id="24" name="Text 21"/>
          <p:cNvSpPr/>
          <p:nvPr/>
        </p:nvSpPr>
        <p:spPr>
          <a:xfrm>
            <a:off x="7388352" y="152247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4%T1</a:t>
            </a:r>
            <a:endParaRPr lang="en-US" sz="850" dirty="0"/>
          </a:p>
        </p:txBody>
      </p:sp>
      <p:sp>
        <p:nvSpPr>
          <p:cNvPr id="25" name="Shape 22"/>
          <p:cNvSpPr/>
          <p:nvPr/>
        </p:nvSpPr>
        <p:spPr>
          <a:xfrm>
            <a:off x="7827264" y="1522476"/>
            <a:ext cx="438912" cy="379476"/>
          </a:xfrm>
          <a:prstGeom prst="rect">
            <a:avLst/>
          </a:prstGeom>
          <a:solidFill>
            <a:srgbClr val="F4F6F8"/>
          </a:solidFill>
          <a:ln/>
        </p:spPr>
      </p:sp>
      <p:sp>
        <p:nvSpPr>
          <p:cNvPr id="26" name="Text 23"/>
          <p:cNvSpPr/>
          <p:nvPr/>
        </p:nvSpPr>
        <p:spPr>
          <a:xfrm>
            <a:off x="7827264" y="152247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4.5%</a:t>
            </a:r>
            <a:endParaRPr lang="en-US" sz="850" dirty="0"/>
          </a:p>
        </p:txBody>
      </p:sp>
      <p:sp>
        <p:nvSpPr>
          <p:cNvPr id="27" name="Shape 24"/>
          <p:cNvSpPr/>
          <p:nvPr/>
        </p:nvSpPr>
        <p:spPr>
          <a:xfrm>
            <a:off x="8266176" y="1522476"/>
            <a:ext cx="603504" cy="379476"/>
          </a:xfrm>
          <a:prstGeom prst="rect">
            <a:avLst/>
          </a:prstGeom>
          <a:solidFill>
            <a:srgbClr val="F4F6F8"/>
          </a:solidFill>
          <a:ln/>
        </p:spPr>
      </p:sp>
      <p:sp>
        <p:nvSpPr>
          <p:cNvPr id="28" name="Text 25"/>
          <p:cNvSpPr/>
          <p:nvPr/>
        </p:nvSpPr>
        <p:spPr>
          <a:xfrm>
            <a:off x="8266176" y="1522476"/>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4.5%</a:t>
            </a:r>
            <a:endParaRPr lang="en-US" sz="850" dirty="0"/>
          </a:p>
        </p:txBody>
      </p:sp>
      <p:sp>
        <p:nvSpPr>
          <p:cNvPr id="29" name="Shape 26"/>
          <p:cNvSpPr/>
          <p:nvPr/>
        </p:nvSpPr>
        <p:spPr>
          <a:xfrm>
            <a:off x="5532120" y="1901952"/>
            <a:ext cx="1417320" cy="379476"/>
          </a:xfrm>
          <a:prstGeom prst="rect">
            <a:avLst/>
          </a:prstGeom>
          <a:solidFill>
            <a:srgbClr val="FFFFFF"/>
          </a:solidFill>
          <a:ln/>
        </p:spPr>
      </p:sp>
      <p:sp>
        <p:nvSpPr>
          <p:cNvPr id="30" name="Text 27"/>
          <p:cNvSpPr/>
          <p:nvPr/>
        </p:nvSpPr>
        <p:spPr>
          <a:xfrm>
            <a:off x="5532120" y="1901952"/>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Cons. Buffer</a:t>
            </a:r>
            <a:endParaRPr lang="en-US" sz="900" dirty="0"/>
          </a:p>
        </p:txBody>
      </p:sp>
      <p:sp>
        <p:nvSpPr>
          <p:cNvPr id="31" name="Shape 28"/>
          <p:cNvSpPr/>
          <p:nvPr/>
        </p:nvSpPr>
        <p:spPr>
          <a:xfrm>
            <a:off x="6949440" y="1901952"/>
            <a:ext cx="438912" cy="379476"/>
          </a:xfrm>
          <a:prstGeom prst="rect">
            <a:avLst/>
          </a:prstGeom>
          <a:solidFill>
            <a:srgbClr val="FFFFFF"/>
          </a:solidFill>
          <a:ln/>
        </p:spPr>
      </p:sp>
      <p:sp>
        <p:nvSpPr>
          <p:cNvPr id="32" name="Text 29"/>
          <p:cNvSpPr/>
          <p:nvPr/>
        </p:nvSpPr>
        <p:spPr>
          <a:xfrm>
            <a:off x="6949440" y="1901952"/>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33" name="Shape 30"/>
          <p:cNvSpPr/>
          <p:nvPr/>
        </p:nvSpPr>
        <p:spPr>
          <a:xfrm>
            <a:off x="7388352" y="1901952"/>
            <a:ext cx="438912" cy="379476"/>
          </a:xfrm>
          <a:prstGeom prst="rect">
            <a:avLst/>
          </a:prstGeom>
          <a:solidFill>
            <a:srgbClr val="FFFFFF"/>
          </a:solidFill>
          <a:ln/>
        </p:spPr>
      </p:sp>
      <p:sp>
        <p:nvSpPr>
          <p:cNvPr id="34" name="Text 31"/>
          <p:cNvSpPr/>
          <p:nvPr/>
        </p:nvSpPr>
        <p:spPr>
          <a:xfrm>
            <a:off x="7388352" y="1901952"/>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35" name="Shape 32"/>
          <p:cNvSpPr/>
          <p:nvPr/>
        </p:nvSpPr>
        <p:spPr>
          <a:xfrm>
            <a:off x="7827264" y="1901952"/>
            <a:ext cx="438912" cy="379476"/>
          </a:xfrm>
          <a:prstGeom prst="rect">
            <a:avLst/>
          </a:prstGeom>
          <a:solidFill>
            <a:srgbClr val="FFFFFF"/>
          </a:solidFill>
          <a:ln/>
        </p:spPr>
      </p:sp>
      <p:sp>
        <p:nvSpPr>
          <p:cNvPr id="36" name="Text 33"/>
          <p:cNvSpPr/>
          <p:nvPr/>
        </p:nvSpPr>
        <p:spPr>
          <a:xfrm>
            <a:off x="7827264" y="1901952"/>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2.5%</a:t>
            </a:r>
            <a:endParaRPr lang="en-US" sz="850" dirty="0"/>
          </a:p>
        </p:txBody>
      </p:sp>
      <p:sp>
        <p:nvSpPr>
          <p:cNvPr id="37" name="Shape 34"/>
          <p:cNvSpPr/>
          <p:nvPr/>
        </p:nvSpPr>
        <p:spPr>
          <a:xfrm>
            <a:off x="8266176" y="1901952"/>
            <a:ext cx="603504" cy="379476"/>
          </a:xfrm>
          <a:prstGeom prst="rect">
            <a:avLst/>
          </a:prstGeom>
          <a:solidFill>
            <a:srgbClr val="FFFFFF"/>
          </a:solidFill>
          <a:ln/>
        </p:spPr>
      </p:sp>
      <p:sp>
        <p:nvSpPr>
          <p:cNvPr id="38" name="Text 35"/>
          <p:cNvSpPr/>
          <p:nvPr/>
        </p:nvSpPr>
        <p:spPr>
          <a:xfrm>
            <a:off x="8266176" y="1901952"/>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2.5%</a:t>
            </a:r>
            <a:endParaRPr lang="en-US" sz="850" dirty="0"/>
          </a:p>
        </p:txBody>
      </p:sp>
      <p:sp>
        <p:nvSpPr>
          <p:cNvPr id="39" name="Shape 36"/>
          <p:cNvSpPr/>
          <p:nvPr/>
        </p:nvSpPr>
        <p:spPr>
          <a:xfrm>
            <a:off x="5532120" y="2281428"/>
            <a:ext cx="1417320" cy="379476"/>
          </a:xfrm>
          <a:prstGeom prst="rect">
            <a:avLst/>
          </a:prstGeom>
          <a:solidFill>
            <a:srgbClr val="F4F6F8"/>
          </a:solidFill>
          <a:ln/>
        </p:spPr>
      </p:sp>
      <p:sp>
        <p:nvSpPr>
          <p:cNvPr id="40" name="Text 37"/>
          <p:cNvSpPr/>
          <p:nvPr/>
        </p:nvSpPr>
        <p:spPr>
          <a:xfrm>
            <a:off x="5532120" y="2281428"/>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Leverage Ratio</a:t>
            </a:r>
            <a:endParaRPr lang="en-US" sz="900" dirty="0"/>
          </a:p>
        </p:txBody>
      </p:sp>
      <p:sp>
        <p:nvSpPr>
          <p:cNvPr id="41" name="Shape 38"/>
          <p:cNvSpPr/>
          <p:nvPr/>
        </p:nvSpPr>
        <p:spPr>
          <a:xfrm>
            <a:off x="6949440" y="2281428"/>
            <a:ext cx="438912" cy="379476"/>
          </a:xfrm>
          <a:prstGeom prst="rect">
            <a:avLst/>
          </a:prstGeom>
          <a:solidFill>
            <a:srgbClr val="F4F6F8"/>
          </a:solidFill>
          <a:ln/>
        </p:spPr>
      </p:sp>
      <p:sp>
        <p:nvSpPr>
          <p:cNvPr id="42" name="Text 39"/>
          <p:cNvSpPr/>
          <p:nvPr/>
        </p:nvSpPr>
        <p:spPr>
          <a:xfrm>
            <a:off x="6949440" y="228142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43" name="Shape 40"/>
          <p:cNvSpPr/>
          <p:nvPr/>
        </p:nvSpPr>
        <p:spPr>
          <a:xfrm>
            <a:off x="7388352" y="2281428"/>
            <a:ext cx="438912" cy="379476"/>
          </a:xfrm>
          <a:prstGeom prst="rect">
            <a:avLst/>
          </a:prstGeom>
          <a:solidFill>
            <a:srgbClr val="F4F6F8"/>
          </a:solidFill>
          <a:ln/>
        </p:spPr>
      </p:sp>
      <p:sp>
        <p:nvSpPr>
          <p:cNvPr id="44" name="Text 41"/>
          <p:cNvSpPr/>
          <p:nvPr/>
        </p:nvSpPr>
        <p:spPr>
          <a:xfrm>
            <a:off x="7388352" y="228142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45" name="Shape 42"/>
          <p:cNvSpPr/>
          <p:nvPr/>
        </p:nvSpPr>
        <p:spPr>
          <a:xfrm>
            <a:off x="7827264" y="2281428"/>
            <a:ext cx="438912" cy="379476"/>
          </a:xfrm>
          <a:prstGeom prst="rect">
            <a:avLst/>
          </a:prstGeom>
          <a:solidFill>
            <a:srgbClr val="F4F6F8"/>
          </a:solidFill>
          <a:ln/>
        </p:spPr>
      </p:sp>
      <p:sp>
        <p:nvSpPr>
          <p:cNvPr id="46" name="Text 43"/>
          <p:cNvSpPr/>
          <p:nvPr/>
        </p:nvSpPr>
        <p:spPr>
          <a:xfrm>
            <a:off x="7827264" y="2281428"/>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3%</a:t>
            </a:r>
            <a:endParaRPr lang="en-US" sz="850" dirty="0"/>
          </a:p>
        </p:txBody>
      </p:sp>
      <p:sp>
        <p:nvSpPr>
          <p:cNvPr id="47" name="Shape 44"/>
          <p:cNvSpPr/>
          <p:nvPr/>
        </p:nvSpPr>
        <p:spPr>
          <a:xfrm>
            <a:off x="8266176" y="2281428"/>
            <a:ext cx="603504" cy="379476"/>
          </a:xfrm>
          <a:prstGeom prst="rect">
            <a:avLst/>
          </a:prstGeom>
          <a:solidFill>
            <a:srgbClr val="F4F6F8"/>
          </a:solidFill>
          <a:ln/>
        </p:spPr>
      </p:sp>
      <p:sp>
        <p:nvSpPr>
          <p:cNvPr id="48" name="Text 45"/>
          <p:cNvSpPr/>
          <p:nvPr/>
        </p:nvSpPr>
        <p:spPr>
          <a:xfrm>
            <a:off x="8266176" y="2281428"/>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3%</a:t>
            </a:r>
            <a:endParaRPr lang="en-US" sz="850" dirty="0"/>
          </a:p>
        </p:txBody>
      </p:sp>
      <p:sp>
        <p:nvSpPr>
          <p:cNvPr id="49" name="Shape 46"/>
          <p:cNvSpPr/>
          <p:nvPr/>
        </p:nvSpPr>
        <p:spPr>
          <a:xfrm>
            <a:off x="5532120" y="2660904"/>
            <a:ext cx="1417320" cy="379476"/>
          </a:xfrm>
          <a:prstGeom prst="rect">
            <a:avLst/>
          </a:prstGeom>
          <a:solidFill>
            <a:srgbClr val="FFFFFF"/>
          </a:solidFill>
          <a:ln/>
        </p:spPr>
      </p:sp>
      <p:sp>
        <p:nvSpPr>
          <p:cNvPr id="50" name="Text 47"/>
          <p:cNvSpPr/>
          <p:nvPr/>
        </p:nvSpPr>
        <p:spPr>
          <a:xfrm>
            <a:off x="5532120" y="2660904"/>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LCR / NSFR</a:t>
            </a:r>
            <a:endParaRPr lang="en-US" sz="900" dirty="0"/>
          </a:p>
        </p:txBody>
      </p:sp>
      <p:sp>
        <p:nvSpPr>
          <p:cNvPr id="51" name="Shape 48"/>
          <p:cNvSpPr/>
          <p:nvPr/>
        </p:nvSpPr>
        <p:spPr>
          <a:xfrm>
            <a:off x="6949440" y="2660904"/>
            <a:ext cx="438912" cy="379476"/>
          </a:xfrm>
          <a:prstGeom prst="rect">
            <a:avLst/>
          </a:prstGeom>
          <a:solidFill>
            <a:srgbClr val="FFFFFF"/>
          </a:solidFill>
          <a:ln/>
        </p:spPr>
      </p:sp>
      <p:sp>
        <p:nvSpPr>
          <p:cNvPr id="52" name="Text 49"/>
          <p:cNvSpPr/>
          <p:nvPr/>
        </p:nvSpPr>
        <p:spPr>
          <a:xfrm>
            <a:off x="6949440" y="2660904"/>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53" name="Shape 50"/>
          <p:cNvSpPr/>
          <p:nvPr/>
        </p:nvSpPr>
        <p:spPr>
          <a:xfrm>
            <a:off x="7388352" y="2660904"/>
            <a:ext cx="438912" cy="379476"/>
          </a:xfrm>
          <a:prstGeom prst="rect">
            <a:avLst/>
          </a:prstGeom>
          <a:solidFill>
            <a:srgbClr val="FFFFFF"/>
          </a:solidFill>
          <a:ln/>
        </p:spPr>
      </p:sp>
      <p:sp>
        <p:nvSpPr>
          <p:cNvPr id="54" name="Text 51"/>
          <p:cNvSpPr/>
          <p:nvPr/>
        </p:nvSpPr>
        <p:spPr>
          <a:xfrm>
            <a:off x="7388352" y="2660904"/>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55" name="Shape 52"/>
          <p:cNvSpPr/>
          <p:nvPr/>
        </p:nvSpPr>
        <p:spPr>
          <a:xfrm>
            <a:off x="7827264" y="2660904"/>
            <a:ext cx="438912" cy="379476"/>
          </a:xfrm>
          <a:prstGeom prst="rect">
            <a:avLst/>
          </a:prstGeom>
          <a:solidFill>
            <a:srgbClr val="FFFFFF"/>
          </a:solidFill>
          <a:ln/>
        </p:spPr>
      </p:sp>
      <p:sp>
        <p:nvSpPr>
          <p:cNvPr id="56" name="Text 53"/>
          <p:cNvSpPr/>
          <p:nvPr/>
        </p:nvSpPr>
        <p:spPr>
          <a:xfrm>
            <a:off x="7827264" y="2660904"/>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a:t>
            </a:r>
            <a:endParaRPr lang="en-US" sz="850" dirty="0"/>
          </a:p>
        </p:txBody>
      </p:sp>
      <p:sp>
        <p:nvSpPr>
          <p:cNvPr id="57" name="Shape 54"/>
          <p:cNvSpPr/>
          <p:nvPr/>
        </p:nvSpPr>
        <p:spPr>
          <a:xfrm>
            <a:off x="8266176" y="2660904"/>
            <a:ext cx="603504" cy="379476"/>
          </a:xfrm>
          <a:prstGeom prst="rect">
            <a:avLst/>
          </a:prstGeom>
          <a:solidFill>
            <a:srgbClr val="FFFFFF"/>
          </a:solidFill>
          <a:ln/>
        </p:spPr>
      </p:sp>
      <p:sp>
        <p:nvSpPr>
          <p:cNvPr id="58" name="Text 55"/>
          <p:cNvSpPr/>
          <p:nvPr/>
        </p:nvSpPr>
        <p:spPr>
          <a:xfrm>
            <a:off x="8266176" y="2660904"/>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a:t>
            </a:r>
            <a:endParaRPr lang="en-US" sz="850" dirty="0"/>
          </a:p>
        </p:txBody>
      </p:sp>
      <p:sp>
        <p:nvSpPr>
          <p:cNvPr id="59" name="Shape 56"/>
          <p:cNvSpPr/>
          <p:nvPr/>
        </p:nvSpPr>
        <p:spPr>
          <a:xfrm>
            <a:off x="5532120" y="3040380"/>
            <a:ext cx="1417320" cy="379476"/>
          </a:xfrm>
          <a:prstGeom prst="rect">
            <a:avLst/>
          </a:prstGeom>
          <a:solidFill>
            <a:srgbClr val="F4F6F8"/>
          </a:solidFill>
          <a:ln/>
        </p:spPr>
      </p:sp>
      <p:sp>
        <p:nvSpPr>
          <p:cNvPr id="60" name="Text 57"/>
          <p:cNvSpPr/>
          <p:nvPr/>
        </p:nvSpPr>
        <p:spPr>
          <a:xfrm>
            <a:off x="5532120" y="3040380"/>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CVA Capital</a:t>
            </a:r>
            <a:endParaRPr lang="en-US" sz="900" dirty="0"/>
          </a:p>
        </p:txBody>
      </p:sp>
      <p:sp>
        <p:nvSpPr>
          <p:cNvPr id="61" name="Shape 58"/>
          <p:cNvSpPr/>
          <p:nvPr/>
        </p:nvSpPr>
        <p:spPr>
          <a:xfrm>
            <a:off x="6949440" y="3040380"/>
            <a:ext cx="438912" cy="379476"/>
          </a:xfrm>
          <a:prstGeom prst="rect">
            <a:avLst/>
          </a:prstGeom>
          <a:solidFill>
            <a:srgbClr val="F4F6F8"/>
          </a:solidFill>
          <a:ln/>
        </p:spPr>
      </p:sp>
      <p:sp>
        <p:nvSpPr>
          <p:cNvPr id="62" name="Text 59"/>
          <p:cNvSpPr/>
          <p:nvPr/>
        </p:nvSpPr>
        <p:spPr>
          <a:xfrm>
            <a:off x="6949440" y="3040380"/>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63" name="Shape 60"/>
          <p:cNvSpPr/>
          <p:nvPr/>
        </p:nvSpPr>
        <p:spPr>
          <a:xfrm>
            <a:off x="7388352" y="3040380"/>
            <a:ext cx="438912" cy="379476"/>
          </a:xfrm>
          <a:prstGeom prst="rect">
            <a:avLst/>
          </a:prstGeom>
          <a:solidFill>
            <a:srgbClr val="F4F6F8"/>
          </a:solidFill>
          <a:ln/>
        </p:spPr>
      </p:sp>
      <p:sp>
        <p:nvSpPr>
          <p:cNvPr id="64" name="Text 61"/>
          <p:cNvSpPr/>
          <p:nvPr/>
        </p:nvSpPr>
        <p:spPr>
          <a:xfrm>
            <a:off x="7388352" y="3040380"/>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65" name="Shape 62"/>
          <p:cNvSpPr/>
          <p:nvPr/>
        </p:nvSpPr>
        <p:spPr>
          <a:xfrm>
            <a:off x="7827264" y="3040380"/>
            <a:ext cx="438912" cy="379476"/>
          </a:xfrm>
          <a:prstGeom prst="rect">
            <a:avLst/>
          </a:prstGeom>
          <a:solidFill>
            <a:srgbClr val="F4F6F8"/>
          </a:solidFill>
          <a:ln/>
        </p:spPr>
      </p:sp>
      <p:sp>
        <p:nvSpPr>
          <p:cNvPr id="66" name="Text 63"/>
          <p:cNvSpPr/>
          <p:nvPr/>
        </p:nvSpPr>
        <p:spPr>
          <a:xfrm>
            <a:off x="7827264" y="3040380"/>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a:t>
            </a:r>
            <a:endParaRPr lang="en-US" sz="850" dirty="0"/>
          </a:p>
        </p:txBody>
      </p:sp>
      <p:sp>
        <p:nvSpPr>
          <p:cNvPr id="67" name="Shape 64"/>
          <p:cNvSpPr/>
          <p:nvPr/>
        </p:nvSpPr>
        <p:spPr>
          <a:xfrm>
            <a:off x="8266176" y="3040380"/>
            <a:ext cx="603504" cy="379476"/>
          </a:xfrm>
          <a:prstGeom prst="rect">
            <a:avLst/>
          </a:prstGeom>
          <a:solidFill>
            <a:srgbClr val="F4F6F8"/>
          </a:solidFill>
          <a:ln/>
        </p:spPr>
      </p:sp>
      <p:sp>
        <p:nvSpPr>
          <p:cNvPr id="68" name="Text 65"/>
          <p:cNvSpPr/>
          <p:nvPr/>
        </p:nvSpPr>
        <p:spPr>
          <a:xfrm>
            <a:off x="8266176" y="3040380"/>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a:t>
            </a:r>
            <a:endParaRPr lang="en-US" sz="850" dirty="0"/>
          </a:p>
        </p:txBody>
      </p:sp>
      <p:sp>
        <p:nvSpPr>
          <p:cNvPr id="69" name="Shape 66"/>
          <p:cNvSpPr/>
          <p:nvPr/>
        </p:nvSpPr>
        <p:spPr>
          <a:xfrm>
            <a:off x="5532120" y="3419856"/>
            <a:ext cx="1417320" cy="379476"/>
          </a:xfrm>
          <a:prstGeom prst="rect">
            <a:avLst/>
          </a:prstGeom>
          <a:solidFill>
            <a:srgbClr val="FFFFFF"/>
          </a:solidFill>
          <a:ln/>
        </p:spPr>
      </p:sp>
      <p:sp>
        <p:nvSpPr>
          <p:cNvPr id="70" name="Text 67"/>
          <p:cNvSpPr/>
          <p:nvPr/>
        </p:nvSpPr>
        <p:spPr>
          <a:xfrm>
            <a:off x="5532120" y="3419856"/>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Market Risk</a:t>
            </a:r>
            <a:endParaRPr lang="en-US" sz="900" dirty="0"/>
          </a:p>
        </p:txBody>
      </p:sp>
      <p:sp>
        <p:nvSpPr>
          <p:cNvPr id="71" name="Shape 68"/>
          <p:cNvSpPr/>
          <p:nvPr/>
        </p:nvSpPr>
        <p:spPr>
          <a:xfrm>
            <a:off x="6949440" y="3419856"/>
            <a:ext cx="438912" cy="379476"/>
          </a:xfrm>
          <a:prstGeom prst="rect">
            <a:avLst/>
          </a:prstGeom>
          <a:solidFill>
            <a:srgbClr val="FFFFFF"/>
          </a:solidFill>
          <a:ln/>
        </p:spPr>
      </p:sp>
      <p:sp>
        <p:nvSpPr>
          <p:cNvPr id="72" name="Text 69"/>
          <p:cNvSpPr/>
          <p:nvPr/>
        </p:nvSpPr>
        <p:spPr>
          <a:xfrm>
            <a:off x="6949440" y="3419856"/>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73" name="Shape 70"/>
          <p:cNvSpPr/>
          <p:nvPr/>
        </p:nvSpPr>
        <p:spPr>
          <a:xfrm>
            <a:off x="7388352" y="3419856"/>
            <a:ext cx="438912" cy="379476"/>
          </a:xfrm>
          <a:prstGeom prst="rect">
            <a:avLst/>
          </a:prstGeom>
          <a:solidFill>
            <a:srgbClr val="FFFFFF"/>
          </a:solidFill>
          <a:ln/>
        </p:spPr>
      </p:sp>
      <p:sp>
        <p:nvSpPr>
          <p:cNvPr id="74" name="Text 71"/>
          <p:cNvSpPr/>
          <p:nvPr/>
        </p:nvSpPr>
        <p:spPr>
          <a:xfrm>
            <a:off x="7388352" y="341985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VaR</a:t>
            </a:r>
            <a:endParaRPr lang="en-US" sz="850" dirty="0"/>
          </a:p>
        </p:txBody>
      </p:sp>
      <p:sp>
        <p:nvSpPr>
          <p:cNvPr id="75" name="Shape 72"/>
          <p:cNvSpPr/>
          <p:nvPr/>
        </p:nvSpPr>
        <p:spPr>
          <a:xfrm>
            <a:off x="7827264" y="3419856"/>
            <a:ext cx="438912" cy="379476"/>
          </a:xfrm>
          <a:prstGeom prst="rect">
            <a:avLst/>
          </a:prstGeom>
          <a:solidFill>
            <a:srgbClr val="FFFFFF"/>
          </a:solidFill>
          <a:ln/>
        </p:spPr>
      </p:sp>
      <p:sp>
        <p:nvSpPr>
          <p:cNvPr id="76" name="Text 73"/>
          <p:cNvSpPr/>
          <p:nvPr/>
        </p:nvSpPr>
        <p:spPr>
          <a:xfrm>
            <a:off x="7827264" y="341985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SVaR+IRC</a:t>
            </a:r>
            <a:endParaRPr lang="en-US" sz="850" dirty="0"/>
          </a:p>
        </p:txBody>
      </p:sp>
      <p:sp>
        <p:nvSpPr>
          <p:cNvPr id="77" name="Shape 74"/>
          <p:cNvSpPr/>
          <p:nvPr/>
        </p:nvSpPr>
        <p:spPr>
          <a:xfrm>
            <a:off x="8266176" y="3419856"/>
            <a:ext cx="603504" cy="379476"/>
          </a:xfrm>
          <a:prstGeom prst="rect">
            <a:avLst/>
          </a:prstGeom>
          <a:solidFill>
            <a:srgbClr val="FFFFFF"/>
          </a:solidFill>
          <a:ln/>
        </p:spPr>
      </p:sp>
      <p:sp>
        <p:nvSpPr>
          <p:cNvPr id="78" name="Text 75"/>
          <p:cNvSpPr/>
          <p:nvPr/>
        </p:nvSpPr>
        <p:spPr>
          <a:xfrm>
            <a:off x="8266176" y="3419856"/>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FRTB/ES</a:t>
            </a:r>
            <a:endParaRPr lang="en-US" sz="850" dirty="0"/>
          </a:p>
        </p:txBody>
      </p:sp>
      <p:sp>
        <p:nvSpPr>
          <p:cNvPr id="79" name="Shape 76"/>
          <p:cNvSpPr/>
          <p:nvPr/>
        </p:nvSpPr>
        <p:spPr>
          <a:xfrm>
            <a:off x="5532120" y="3799332"/>
            <a:ext cx="1417320" cy="379476"/>
          </a:xfrm>
          <a:prstGeom prst="rect">
            <a:avLst/>
          </a:prstGeom>
          <a:solidFill>
            <a:srgbClr val="F4F6F8"/>
          </a:solidFill>
          <a:ln/>
        </p:spPr>
      </p:sp>
      <p:sp>
        <p:nvSpPr>
          <p:cNvPr id="80" name="Text 77"/>
          <p:cNvSpPr/>
          <p:nvPr/>
        </p:nvSpPr>
        <p:spPr>
          <a:xfrm>
            <a:off x="5532120" y="3799332"/>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OpRisk</a:t>
            </a:r>
            <a:endParaRPr lang="en-US" sz="900" dirty="0"/>
          </a:p>
        </p:txBody>
      </p:sp>
      <p:sp>
        <p:nvSpPr>
          <p:cNvPr id="81" name="Shape 78"/>
          <p:cNvSpPr/>
          <p:nvPr/>
        </p:nvSpPr>
        <p:spPr>
          <a:xfrm>
            <a:off x="6949440" y="3799332"/>
            <a:ext cx="438912" cy="379476"/>
          </a:xfrm>
          <a:prstGeom prst="rect">
            <a:avLst/>
          </a:prstGeom>
          <a:solidFill>
            <a:srgbClr val="F4F6F8"/>
          </a:solidFill>
          <a:ln/>
        </p:spPr>
      </p:sp>
      <p:sp>
        <p:nvSpPr>
          <p:cNvPr id="82" name="Text 79"/>
          <p:cNvSpPr/>
          <p:nvPr/>
        </p:nvSpPr>
        <p:spPr>
          <a:xfrm>
            <a:off x="6949440" y="3799332"/>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83" name="Shape 80"/>
          <p:cNvSpPr/>
          <p:nvPr/>
        </p:nvSpPr>
        <p:spPr>
          <a:xfrm>
            <a:off x="7388352" y="3799332"/>
            <a:ext cx="438912" cy="379476"/>
          </a:xfrm>
          <a:prstGeom prst="rect">
            <a:avLst/>
          </a:prstGeom>
          <a:solidFill>
            <a:srgbClr val="F4F6F8"/>
          </a:solidFill>
          <a:ln/>
        </p:spPr>
      </p:sp>
      <p:sp>
        <p:nvSpPr>
          <p:cNvPr id="84" name="Text 81"/>
          <p:cNvSpPr/>
          <p:nvPr/>
        </p:nvSpPr>
        <p:spPr>
          <a:xfrm>
            <a:off x="7388352" y="3799332"/>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AMA</a:t>
            </a:r>
            <a:endParaRPr lang="en-US" sz="850" dirty="0"/>
          </a:p>
        </p:txBody>
      </p:sp>
      <p:sp>
        <p:nvSpPr>
          <p:cNvPr id="85" name="Shape 82"/>
          <p:cNvSpPr/>
          <p:nvPr/>
        </p:nvSpPr>
        <p:spPr>
          <a:xfrm>
            <a:off x="7827264" y="3799332"/>
            <a:ext cx="438912" cy="379476"/>
          </a:xfrm>
          <a:prstGeom prst="rect">
            <a:avLst/>
          </a:prstGeom>
          <a:solidFill>
            <a:srgbClr val="F4F6F8"/>
          </a:solidFill>
          <a:ln/>
        </p:spPr>
      </p:sp>
      <p:sp>
        <p:nvSpPr>
          <p:cNvPr id="86" name="Text 83"/>
          <p:cNvSpPr/>
          <p:nvPr/>
        </p:nvSpPr>
        <p:spPr>
          <a:xfrm>
            <a:off x="7827264" y="3799332"/>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AMA</a:t>
            </a:r>
            <a:endParaRPr lang="en-US" sz="850" dirty="0"/>
          </a:p>
        </p:txBody>
      </p:sp>
      <p:sp>
        <p:nvSpPr>
          <p:cNvPr id="87" name="Shape 84"/>
          <p:cNvSpPr/>
          <p:nvPr/>
        </p:nvSpPr>
        <p:spPr>
          <a:xfrm>
            <a:off x="8266176" y="3799332"/>
            <a:ext cx="603504" cy="379476"/>
          </a:xfrm>
          <a:prstGeom prst="rect">
            <a:avLst/>
          </a:prstGeom>
          <a:solidFill>
            <a:srgbClr val="F4F6F8"/>
          </a:solidFill>
          <a:ln/>
        </p:spPr>
      </p:sp>
      <p:sp>
        <p:nvSpPr>
          <p:cNvPr id="88" name="Text 85"/>
          <p:cNvSpPr/>
          <p:nvPr/>
        </p:nvSpPr>
        <p:spPr>
          <a:xfrm>
            <a:off x="8266176" y="3799332"/>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SMA</a:t>
            </a:r>
            <a:endParaRPr lang="en-US" sz="850" dirty="0"/>
          </a:p>
        </p:txBody>
      </p:sp>
      <p:sp>
        <p:nvSpPr>
          <p:cNvPr id="89" name="Shape 86"/>
          <p:cNvSpPr/>
          <p:nvPr/>
        </p:nvSpPr>
        <p:spPr>
          <a:xfrm>
            <a:off x="5532120" y="4178808"/>
            <a:ext cx="1417320" cy="379476"/>
          </a:xfrm>
          <a:prstGeom prst="rect">
            <a:avLst/>
          </a:prstGeom>
          <a:solidFill>
            <a:srgbClr val="FFFFFF"/>
          </a:solidFill>
          <a:ln/>
        </p:spPr>
      </p:sp>
      <p:sp>
        <p:nvSpPr>
          <p:cNvPr id="90" name="Text 87"/>
          <p:cNvSpPr/>
          <p:nvPr/>
        </p:nvSpPr>
        <p:spPr>
          <a:xfrm>
            <a:off x="5532120" y="4178808"/>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Output Floor</a:t>
            </a:r>
            <a:endParaRPr lang="en-US" sz="900" dirty="0"/>
          </a:p>
        </p:txBody>
      </p:sp>
      <p:sp>
        <p:nvSpPr>
          <p:cNvPr id="91" name="Shape 88"/>
          <p:cNvSpPr/>
          <p:nvPr/>
        </p:nvSpPr>
        <p:spPr>
          <a:xfrm>
            <a:off x="6949440" y="4178808"/>
            <a:ext cx="438912" cy="379476"/>
          </a:xfrm>
          <a:prstGeom prst="rect">
            <a:avLst/>
          </a:prstGeom>
          <a:solidFill>
            <a:srgbClr val="FFFFFF"/>
          </a:solidFill>
          <a:ln/>
        </p:spPr>
      </p:sp>
      <p:sp>
        <p:nvSpPr>
          <p:cNvPr id="92" name="Text 89"/>
          <p:cNvSpPr/>
          <p:nvPr/>
        </p:nvSpPr>
        <p:spPr>
          <a:xfrm>
            <a:off x="6949440" y="417880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93" name="Shape 90"/>
          <p:cNvSpPr/>
          <p:nvPr/>
        </p:nvSpPr>
        <p:spPr>
          <a:xfrm>
            <a:off x="7388352" y="4178808"/>
            <a:ext cx="438912" cy="379476"/>
          </a:xfrm>
          <a:prstGeom prst="rect">
            <a:avLst/>
          </a:prstGeom>
          <a:solidFill>
            <a:srgbClr val="FFFFFF"/>
          </a:solidFill>
          <a:ln/>
        </p:spPr>
      </p:sp>
      <p:sp>
        <p:nvSpPr>
          <p:cNvPr id="94" name="Text 91"/>
          <p:cNvSpPr/>
          <p:nvPr/>
        </p:nvSpPr>
        <p:spPr>
          <a:xfrm>
            <a:off x="7388352" y="417880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95" name="Shape 92"/>
          <p:cNvSpPr/>
          <p:nvPr/>
        </p:nvSpPr>
        <p:spPr>
          <a:xfrm>
            <a:off x="7827264" y="4178808"/>
            <a:ext cx="438912" cy="379476"/>
          </a:xfrm>
          <a:prstGeom prst="rect">
            <a:avLst/>
          </a:prstGeom>
          <a:solidFill>
            <a:srgbClr val="FFFFFF"/>
          </a:solidFill>
          <a:ln/>
        </p:spPr>
      </p:sp>
      <p:sp>
        <p:nvSpPr>
          <p:cNvPr id="96" name="Text 93"/>
          <p:cNvSpPr/>
          <p:nvPr/>
        </p:nvSpPr>
        <p:spPr>
          <a:xfrm>
            <a:off x="7827264" y="417880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97" name="Shape 94"/>
          <p:cNvSpPr/>
          <p:nvPr/>
        </p:nvSpPr>
        <p:spPr>
          <a:xfrm>
            <a:off x="8266176" y="4178808"/>
            <a:ext cx="603504" cy="379476"/>
          </a:xfrm>
          <a:prstGeom prst="rect">
            <a:avLst/>
          </a:prstGeom>
          <a:solidFill>
            <a:srgbClr val="FFFFFF"/>
          </a:solidFill>
          <a:ln/>
        </p:spPr>
      </p:sp>
      <p:sp>
        <p:nvSpPr>
          <p:cNvPr id="98" name="Text 95"/>
          <p:cNvSpPr/>
          <p:nvPr/>
        </p:nvSpPr>
        <p:spPr>
          <a:xfrm>
            <a:off x="8266176" y="4178808"/>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72.5%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Risk Evolution</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Credit Risk &amp; Market Risk: The Methodology Journey</a:t>
            </a:r>
            <a:endParaRPr lang="en-US" sz="2200" dirty="0"/>
          </a:p>
        </p:txBody>
      </p:sp>
      <p:sp>
        <p:nvSpPr>
          <p:cNvPr id="6" name="Text 4"/>
          <p:cNvSpPr/>
          <p:nvPr/>
        </p:nvSpPr>
        <p:spPr>
          <a:xfrm>
            <a:off x="274320" y="749808"/>
            <a:ext cx="4160520" cy="274320"/>
          </a:xfrm>
          <a:prstGeom prst="rect">
            <a:avLst/>
          </a:prstGeom>
          <a:noFill/>
          <a:ln/>
        </p:spPr>
        <p:txBody>
          <a:bodyPr wrap="square" lIns="0" tIns="0" rIns="0" bIns="0" rtlCol="0" anchor="ctr"/>
          <a:lstStyle/>
          <a:p>
            <a:pPr indent="0" marL="0">
              <a:buNone/>
            </a:pPr>
            <a:r>
              <a:rPr lang="en-US" sz="1000" b="1" dirty="0">
                <a:solidFill>
                  <a:srgbClr val="1B3A6B"/>
                </a:solidFill>
              </a:rPr>
              <a:t>CREDIT RISK</a:t>
            </a:r>
            <a:endParaRPr lang="en-US" sz="1000" dirty="0"/>
          </a:p>
        </p:txBody>
      </p:sp>
      <p:sp>
        <p:nvSpPr>
          <p:cNvPr id="7" name="Shape 5"/>
          <p:cNvSpPr/>
          <p:nvPr/>
        </p:nvSpPr>
        <p:spPr>
          <a:xfrm>
            <a:off x="274320" y="1005840"/>
            <a:ext cx="987552" cy="411480"/>
          </a:xfrm>
          <a:prstGeom prst="rect">
            <a:avLst/>
          </a:prstGeom>
          <a:solidFill>
            <a:srgbClr val="8899AA"/>
          </a:solidFill>
          <a:ln/>
        </p:spPr>
      </p:sp>
      <p:sp>
        <p:nvSpPr>
          <p:cNvPr id="8" name="Text 6"/>
          <p:cNvSpPr/>
          <p:nvPr/>
        </p:nvSpPr>
        <p:spPr>
          <a:xfrm>
            <a:off x="274320" y="1005840"/>
            <a:ext cx="987552" cy="411480"/>
          </a:xfrm>
          <a:prstGeom prst="rect">
            <a:avLst/>
          </a:prstGeom>
          <a:noFill/>
          <a:ln/>
        </p:spPr>
        <p:txBody>
          <a:bodyPr wrap="square" lIns="0" tIns="0" rIns="0" bIns="0" rtlCol="0" anchor="ctr"/>
          <a:lstStyle/>
          <a:p>
            <a:pPr algn="ctr" indent="0" marL="0">
              <a:buNone/>
            </a:pPr>
            <a:r>
              <a:rPr lang="en-US" sz="800" b="1" dirty="0">
                <a:solidFill>
                  <a:srgbClr val="FFFFFF"/>
                </a:solidFill>
              </a:rPr>
              <a:t>Basel I</a:t>
            </a:r>
            <a:endParaRPr lang="en-US" sz="800" dirty="0"/>
          </a:p>
          <a:p>
            <a:pPr algn="ctr" indent="0" marL="0">
              <a:buNone/>
            </a:pPr>
            <a:r>
              <a:rPr lang="en-US" sz="800" b="1" dirty="0">
                <a:solidFill>
                  <a:srgbClr val="FFFFFF"/>
                </a:solidFill>
              </a:rPr>
              <a:t>1988</a:t>
            </a:r>
            <a:endParaRPr lang="en-US" sz="800" dirty="0"/>
          </a:p>
        </p:txBody>
      </p:sp>
      <p:sp>
        <p:nvSpPr>
          <p:cNvPr id="9" name="Shape 7"/>
          <p:cNvSpPr/>
          <p:nvPr/>
        </p:nvSpPr>
        <p:spPr>
          <a:xfrm>
            <a:off x="274320" y="1417320"/>
            <a:ext cx="987552"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0" name="Shape 8"/>
          <p:cNvSpPr/>
          <p:nvPr/>
        </p:nvSpPr>
        <p:spPr>
          <a:xfrm>
            <a:off x="274320" y="1417320"/>
            <a:ext cx="987552" cy="45720"/>
          </a:xfrm>
          <a:prstGeom prst="rect">
            <a:avLst/>
          </a:prstGeom>
          <a:solidFill>
            <a:srgbClr val="8899AA"/>
          </a:solidFill>
          <a:ln/>
        </p:spPr>
      </p:sp>
      <p:sp>
        <p:nvSpPr>
          <p:cNvPr id="11" name="Text 9"/>
          <p:cNvSpPr/>
          <p:nvPr/>
        </p:nvSpPr>
        <p:spPr>
          <a:xfrm>
            <a:off x="320040" y="1463040"/>
            <a:ext cx="896112" cy="274320"/>
          </a:xfrm>
          <a:prstGeom prst="rect">
            <a:avLst/>
          </a:prstGeom>
          <a:noFill/>
          <a:ln/>
        </p:spPr>
        <p:txBody>
          <a:bodyPr wrap="square" lIns="0" tIns="0" rIns="0" bIns="0" rtlCol="0" anchor="ctr"/>
          <a:lstStyle/>
          <a:p>
            <a:pPr indent="0" marL="0">
              <a:buNone/>
            </a:pPr>
            <a:r>
              <a:rPr lang="en-US" sz="850" b="1" dirty="0">
                <a:solidFill>
                  <a:srgbClr val="8899AA"/>
                </a:solidFill>
              </a:rPr>
              <a:t>5 Fixed Buckets</a:t>
            </a:r>
            <a:endParaRPr lang="en-US" sz="850" dirty="0"/>
          </a:p>
        </p:txBody>
      </p:sp>
      <p:sp>
        <p:nvSpPr>
          <p:cNvPr id="12" name="Text 10"/>
          <p:cNvSpPr/>
          <p:nvPr/>
        </p:nvSpPr>
        <p:spPr>
          <a:xfrm>
            <a:off x="320040" y="1764792"/>
            <a:ext cx="896112" cy="2011680"/>
          </a:xfrm>
          <a:prstGeom prst="rect">
            <a:avLst/>
          </a:prstGeom>
          <a:noFill/>
          <a:ln/>
        </p:spPr>
        <p:txBody>
          <a:bodyPr wrap="square" lIns="0" tIns="0" rIns="0" bIns="0" rtlCol="0" anchor="t"/>
          <a:lstStyle/>
          <a:p>
            <a:pPr indent="0" marL="0">
              <a:buNone/>
            </a:pPr>
            <a:r>
              <a:rPr lang="en-US" sz="800" dirty="0">
                <a:solidFill>
                  <a:srgbClr val="1A1A2E"/>
                </a:solidFill>
              </a:rPr>
              <a:t>OECD-based RWs 0/10/20/50/100%.</a:t>
            </a:r>
            <a:endParaRPr lang="en-US" sz="800" dirty="0"/>
          </a:p>
          <a:p>
            <a:pPr indent="0" marL="0">
              <a:buNone/>
            </a:pPr>
            <a:r>
              <a:rPr lang="en-US" sz="800" dirty="0">
                <a:solidFill>
                  <a:srgbClr val="1A1A2E"/>
                </a:solidFill>
              </a:rPr>
              <a:t>CEM for derivatives.</a:t>
            </a:r>
            <a:endParaRPr lang="en-US" sz="800" dirty="0"/>
          </a:p>
          <a:p>
            <a:pPr indent="0" marL="0">
              <a:buNone/>
            </a:pPr>
            <a:r>
              <a:rPr lang="en-US" sz="800" dirty="0">
                <a:solidFill>
                  <a:srgbClr val="1A1A2E"/>
                </a:solidFill>
              </a:rPr>
              <a:t>No credit quality differentiation.</a:t>
            </a:r>
            <a:endParaRPr lang="en-US" sz="800" dirty="0"/>
          </a:p>
        </p:txBody>
      </p:sp>
      <p:sp>
        <p:nvSpPr>
          <p:cNvPr id="13" name="Shape 11"/>
          <p:cNvSpPr/>
          <p:nvPr/>
        </p:nvSpPr>
        <p:spPr>
          <a:xfrm>
            <a:off x="1316736" y="1005840"/>
            <a:ext cx="987552" cy="411480"/>
          </a:xfrm>
          <a:prstGeom prst="rect">
            <a:avLst/>
          </a:prstGeom>
          <a:solidFill>
            <a:srgbClr val="0E6B8A"/>
          </a:solidFill>
          <a:ln/>
        </p:spPr>
      </p:sp>
      <p:sp>
        <p:nvSpPr>
          <p:cNvPr id="14" name="Text 12"/>
          <p:cNvSpPr/>
          <p:nvPr/>
        </p:nvSpPr>
        <p:spPr>
          <a:xfrm>
            <a:off x="1316736" y="1005840"/>
            <a:ext cx="987552" cy="411480"/>
          </a:xfrm>
          <a:prstGeom prst="rect">
            <a:avLst/>
          </a:prstGeom>
          <a:noFill/>
          <a:ln/>
        </p:spPr>
        <p:txBody>
          <a:bodyPr wrap="square" lIns="0" tIns="0" rIns="0" bIns="0" rtlCol="0" anchor="ctr"/>
          <a:lstStyle/>
          <a:p>
            <a:pPr algn="ctr" indent="0" marL="0">
              <a:buNone/>
            </a:pPr>
            <a:r>
              <a:rPr lang="en-US" sz="800" b="1" dirty="0">
                <a:solidFill>
                  <a:srgbClr val="FFFFFF"/>
                </a:solidFill>
              </a:rPr>
              <a:t>Basel II</a:t>
            </a:r>
            <a:endParaRPr lang="en-US" sz="800" dirty="0"/>
          </a:p>
          <a:p>
            <a:pPr algn="ctr" indent="0" marL="0">
              <a:buNone/>
            </a:pPr>
            <a:r>
              <a:rPr lang="en-US" sz="800" b="1" dirty="0">
                <a:solidFill>
                  <a:srgbClr val="FFFFFF"/>
                </a:solidFill>
              </a:rPr>
              <a:t>2004</a:t>
            </a:r>
            <a:endParaRPr lang="en-US" sz="800" dirty="0"/>
          </a:p>
        </p:txBody>
      </p:sp>
      <p:sp>
        <p:nvSpPr>
          <p:cNvPr id="15" name="Shape 13"/>
          <p:cNvSpPr/>
          <p:nvPr/>
        </p:nvSpPr>
        <p:spPr>
          <a:xfrm>
            <a:off x="1316736" y="1417320"/>
            <a:ext cx="987552"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6" name="Shape 14"/>
          <p:cNvSpPr/>
          <p:nvPr/>
        </p:nvSpPr>
        <p:spPr>
          <a:xfrm>
            <a:off x="1316736" y="1417320"/>
            <a:ext cx="987552" cy="45720"/>
          </a:xfrm>
          <a:prstGeom prst="rect">
            <a:avLst/>
          </a:prstGeom>
          <a:solidFill>
            <a:srgbClr val="0E6B8A"/>
          </a:solidFill>
          <a:ln/>
        </p:spPr>
      </p:sp>
      <p:sp>
        <p:nvSpPr>
          <p:cNvPr id="17" name="Text 15"/>
          <p:cNvSpPr/>
          <p:nvPr/>
        </p:nvSpPr>
        <p:spPr>
          <a:xfrm>
            <a:off x="1362456" y="1463040"/>
            <a:ext cx="896112" cy="274320"/>
          </a:xfrm>
          <a:prstGeom prst="rect">
            <a:avLst/>
          </a:prstGeom>
          <a:noFill/>
          <a:ln/>
        </p:spPr>
        <p:txBody>
          <a:bodyPr wrap="square" lIns="0" tIns="0" rIns="0" bIns="0" rtlCol="0" anchor="ctr"/>
          <a:lstStyle/>
          <a:p>
            <a:pPr indent="0" marL="0">
              <a:buNone/>
            </a:pPr>
            <a:r>
              <a:rPr lang="en-US" sz="850" b="1" dirty="0">
                <a:solidFill>
                  <a:srgbClr val="0E6B8A"/>
                </a:solidFill>
              </a:rPr>
              <a:t>Risk-Sensitive Models</a:t>
            </a:r>
            <a:endParaRPr lang="en-US" sz="850" dirty="0"/>
          </a:p>
        </p:txBody>
      </p:sp>
      <p:sp>
        <p:nvSpPr>
          <p:cNvPr id="18" name="Text 16"/>
          <p:cNvSpPr/>
          <p:nvPr/>
        </p:nvSpPr>
        <p:spPr>
          <a:xfrm>
            <a:off x="1362456" y="1764792"/>
            <a:ext cx="896112" cy="2011680"/>
          </a:xfrm>
          <a:prstGeom prst="rect">
            <a:avLst/>
          </a:prstGeom>
          <a:noFill/>
          <a:ln/>
        </p:spPr>
        <p:txBody>
          <a:bodyPr wrap="square" lIns="0" tIns="0" rIns="0" bIns="0" rtlCol="0" anchor="t"/>
          <a:lstStyle/>
          <a:p>
            <a:pPr indent="0" marL="0">
              <a:buNone/>
            </a:pPr>
            <a:r>
              <a:rPr lang="en-US" sz="800" dirty="0">
                <a:solidFill>
                  <a:srgbClr val="1A1A2E"/>
                </a:solidFill>
              </a:rPr>
              <a:t>SA (external ratings).</a:t>
            </a:r>
            <a:endParaRPr lang="en-US" sz="800" dirty="0"/>
          </a:p>
          <a:p>
            <a:pPr indent="0" marL="0">
              <a:buNone/>
            </a:pPr>
            <a:r>
              <a:rPr lang="en-US" sz="800" dirty="0">
                <a:solidFill>
                  <a:srgbClr val="1A1A2E"/>
                </a:solidFill>
              </a:rPr>
              <a:t>F-IRB: bank PD estimates.</a:t>
            </a:r>
            <a:endParaRPr lang="en-US" sz="800" dirty="0"/>
          </a:p>
          <a:p>
            <a:pPr indent="0" marL="0">
              <a:buNone/>
            </a:pPr>
            <a:r>
              <a:rPr lang="en-US" sz="800" dirty="0">
                <a:solidFill>
                  <a:srgbClr val="1A1A2E"/>
                </a:solidFill>
              </a:rPr>
              <a:t>A-IRB: bank PD+LGD+EAD.</a:t>
            </a:r>
            <a:endParaRPr lang="en-US" sz="800" dirty="0"/>
          </a:p>
          <a:p>
            <a:pPr indent="0" marL="0">
              <a:buNone/>
            </a:pPr>
            <a:r>
              <a:rPr lang="en-US" sz="800" dirty="0">
                <a:solidFill>
                  <a:srgbClr val="1A1A2E"/>
                </a:solidFill>
              </a:rPr>
              <a:t>First formal CCR framework.</a:t>
            </a:r>
            <a:endParaRPr lang="en-US" sz="800" dirty="0"/>
          </a:p>
        </p:txBody>
      </p:sp>
      <p:sp>
        <p:nvSpPr>
          <p:cNvPr id="19" name="Shape 17"/>
          <p:cNvSpPr/>
          <p:nvPr/>
        </p:nvSpPr>
        <p:spPr>
          <a:xfrm>
            <a:off x="2359152" y="1005840"/>
            <a:ext cx="987552" cy="411480"/>
          </a:xfrm>
          <a:prstGeom prst="rect">
            <a:avLst/>
          </a:prstGeom>
          <a:solidFill>
            <a:srgbClr val="1B3A6B"/>
          </a:solidFill>
          <a:ln/>
        </p:spPr>
      </p:sp>
      <p:sp>
        <p:nvSpPr>
          <p:cNvPr id="20" name="Text 18"/>
          <p:cNvSpPr/>
          <p:nvPr/>
        </p:nvSpPr>
        <p:spPr>
          <a:xfrm>
            <a:off x="2359152" y="1005840"/>
            <a:ext cx="987552" cy="411480"/>
          </a:xfrm>
          <a:prstGeom prst="rect">
            <a:avLst/>
          </a:prstGeom>
          <a:noFill/>
          <a:ln/>
        </p:spPr>
        <p:txBody>
          <a:bodyPr wrap="square" lIns="0" tIns="0" rIns="0" bIns="0" rtlCol="0" anchor="ctr"/>
          <a:lstStyle/>
          <a:p>
            <a:pPr algn="ctr" indent="0" marL="0">
              <a:buNone/>
            </a:pPr>
            <a:r>
              <a:rPr lang="en-US" sz="800" b="1" dirty="0">
                <a:solidFill>
                  <a:srgbClr val="FFFFFF"/>
                </a:solidFill>
              </a:rPr>
              <a:t>Basel III</a:t>
            </a:r>
            <a:endParaRPr lang="en-US" sz="800" dirty="0"/>
          </a:p>
          <a:p>
            <a:pPr algn="ctr" indent="0" marL="0">
              <a:buNone/>
            </a:pPr>
            <a:r>
              <a:rPr lang="en-US" sz="800" b="1" dirty="0">
                <a:solidFill>
                  <a:srgbClr val="FFFFFF"/>
                </a:solidFill>
              </a:rPr>
              <a:t>2010</a:t>
            </a:r>
            <a:endParaRPr lang="en-US" sz="800" dirty="0"/>
          </a:p>
        </p:txBody>
      </p:sp>
      <p:sp>
        <p:nvSpPr>
          <p:cNvPr id="21" name="Shape 19"/>
          <p:cNvSpPr/>
          <p:nvPr/>
        </p:nvSpPr>
        <p:spPr>
          <a:xfrm>
            <a:off x="2359152" y="1417320"/>
            <a:ext cx="987552"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2" name="Shape 20"/>
          <p:cNvSpPr/>
          <p:nvPr/>
        </p:nvSpPr>
        <p:spPr>
          <a:xfrm>
            <a:off x="2359152" y="1417320"/>
            <a:ext cx="987552" cy="45720"/>
          </a:xfrm>
          <a:prstGeom prst="rect">
            <a:avLst/>
          </a:prstGeom>
          <a:solidFill>
            <a:srgbClr val="1B3A6B"/>
          </a:solidFill>
          <a:ln/>
        </p:spPr>
      </p:sp>
      <p:sp>
        <p:nvSpPr>
          <p:cNvPr id="23" name="Text 21"/>
          <p:cNvSpPr/>
          <p:nvPr/>
        </p:nvSpPr>
        <p:spPr>
          <a:xfrm>
            <a:off x="2404872" y="1463040"/>
            <a:ext cx="896112" cy="274320"/>
          </a:xfrm>
          <a:prstGeom prst="rect">
            <a:avLst/>
          </a:prstGeom>
          <a:noFill/>
          <a:ln/>
        </p:spPr>
        <p:txBody>
          <a:bodyPr wrap="square" lIns="0" tIns="0" rIns="0" bIns="0" rtlCol="0" anchor="ctr"/>
          <a:lstStyle/>
          <a:p>
            <a:pPr indent="0" marL="0">
              <a:buNone/>
            </a:pPr>
            <a:r>
              <a:rPr lang="en-US" sz="850" b="1" dirty="0">
                <a:solidFill>
                  <a:srgbClr val="1B3A6B"/>
                </a:solidFill>
              </a:rPr>
              <a:t>Enhanced + CVA</a:t>
            </a:r>
            <a:endParaRPr lang="en-US" sz="850" dirty="0"/>
          </a:p>
        </p:txBody>
      </p:sp>
      <p:sp>
        <p:nvSpPr>
          <p:cNvPr id="24" name="Text 22"/>
          <p:cNvSpPr/>
          <p:nvPr/>
        </p:nvSpPr>
        <p:spPr>
          <a:xfrm>
            <a:off x="2404872" y="1764792"/>
            <a:ext cx="896112" cy="2011680"/>
          </a:xfrm>
          <a:prstGeom prst="rect">
            <a:avLst/>
          </a:prstGeom>
          <a:noFill/>
          <a:ln/>
        </p:spPr>
        <p:txBody>
          <a:bodyPr wrap="square" lIns="0" tIns="0" rIns="0" bIns="0" rtlCol="0" anchor="t"/>
          <a:lstStyle/>
          <a:p>
            <a:pPr indent="0" marL="0">
              <a:buNone/>
            </a:pPr>
            <a:r>
              <a:rPr lang="en-US" sz="800" dirty="0">
                <a:solidFill>
                  <a:srgbClr val="1A1A2E"/>
                </a:solidFill>
              </a:rPr>
              <a:t>IRB refined; stressed EPE.</a:t>
            </a:r>
            <a:endParaRPr lang="en-US" sz="800" dirty="0"/>
          </a:p>
          <a:p>
            <a:pPr indent="0" marL="0">
              <a:buNone/>
            </a:pPr>
            <a:r>
              <a:rPr lang="en-US" sz="800" dirty="0">
                <a:solidFill>
                  <a:srgbClr val="1A1A2E"/>
                </a:solidFill>
              </a:rPr>
              <a:t>CVA capital introduced.</a:t>
            </a:r>
            <a:endParaRPr lang="en-US" sz="800" dirty="0"/>
          </a:p>
          <a:p>
            <a:pPr indent="0" marL="0">
              <a:buNone/>
            </a:pPr>
            <a:r>
              <a:rPr lang="en-US" sz="800" dirty="0">
                <a:solidFill>
                  <a:srgbClr val="1A1A2E"/>
                </a:solidFill>
              </a:rPr>
              <a:t>CCP incentive (2% RW).</a:t>
            </a:r>
            <a:endParaRPr lang="en-US" sz="800" dirty="0"/>
          </a:p>
        </p:txBody>
      </p:sp>
      <p:sp>
        <p:nvSpPr>
          <p:cNvPr id="25" name="Shape 23"/>
          <p:cNvSpPr/>
          <p:nvPr/>
        </p:nvSpPr>
        <p:spPr>
          <a:xfrm>
            <a:off x="3401568" y="1005840"/>
            <a:ext cx="987552" cy="411480"/>
          </a:xfrm>
          <a:prstGeom prst="rect">
            <a:avLst/>
          </a:prstGeom>
          <a:solidFill>
            <a:srgbClr val="C9A84C"/>
          </a:solidFill>
          <a:ln/>
        </p:spPr>
      </p:sp>
      <p:sp>
        <p:nvSpPr>
          <p:cNvPr id="26" name="Text 24"/>
          <p:cNvSpPr/>
          <p:nvPr/>
        </p:nvSpPr>
        <p:spPr>
          <a:xfrm>
            <a:off x="3401568" y="1005840"/>
            <a:ext cx="987552" cy="411480"/>
          </a:xfrm>
          <a:prstGeom prst="rect">
            <a:avLst/>
          </a:prstGeom>
          <a:noFill/>
          <a:ln/>
        </p:spPr>
        <p:txBody>
          <a:bodyPr wrap="square" lIns="0" tIns="0" rIns="0" bIns="0" rtlCol="0" anchor="ctr"/>
          <a:lstStyle/>
          <a:p>
            <a:pPr algn="ctr" indent="0" marL="0">
              <a:buNone/>
            </a:pPr>
            <a:r>
              <a:rPr lang="en-US" sz="800" b="1" dirty="0">
                <a:solidFill>
                  <a:srgbClr val="FFFFFF"/>
                </a:solidFill>
              </a:rPr>
              <a:t>Basel IV</a:t>
            </a:r>
            <a:endParaRPr lang="en-US" sz="800" dirty="0"/>
          </a:p>
          <a:p>
            <a:pPr algn="ctr" indent="0" marL="0">
              <a:buNone/>
            </a:pPr>
            <a:r>
              <a:rPr lang="en-US" sz="800" b="1" dirty="0">
                <a:solidFill>
                  <a:srgbClr val="FFFFFF"/>
                </a:solidFill>
              </a:rPr>
              <a:t>2017</a:t>
            </a:r>
            <a:endParaRPr lang="en-US" sz="800" dirty="0"/>
          </a:p>
        </p:txBody>
      </p:sp>
      <p:sp>
        <p:nvSpPr>
          <p:cNvPr id="27" name="Shape 25"/>
          <p:cNvSpPr/>
          <p:nvPr/>
        </p:nvSpPr>
        <p:spPr>
          <a:xfrm>
            <a:off x="3401568" y="1417320"/>
            <a:ext cx="987552"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8" name="Shape 26"/>
          <p:cNvSpPr/>
          <p:nvPr/>
        </p:nvSpPr>
        <p:spPr>
          <a:xfrm>
            <a:off x="3401568" y="1417320"/>
            <a:ext cx="987552" cy="45720"/>
          </a:xfrm>
          <a:prstGeom prst="rect">
            <a:avLst/>
          </a:prstGeom>
          <a:solidFill>
            <a:srgbClr val="C9A84C"/>
          </a:solidFill>
          <a:ln/>
        </p:spPr>
      </p:sp>
      <p:sp>
        <p:nvSpPr>
          <p:cNvPr id="29" name="Text 27"/>
          <p:cNvSpPr/>
          <p:nvPr/>
        </p:nvSpPr>
        <p:spPr>
          <a:xfrm>
            <a:off x="3447288" y="1463040"/>
            <a:ext cx="896112" cy="274320"/>
          </a:xfrm>
          <a:prstGeom prst="rect">
            <a:avLst/>
          </a:prstGeom>
          <a:noFill/>
          <a:ln/>
        </p:spPr>
        <p:txBody>
          <a:bodyPr wrap="square" lIns="0" tIns="0" rIns="0" bIns="0" rtlCol="0" anchor="ctr"/>
          <a:lstStyle/>
          <a:p>
            <a:pPr indent="0" marL="0">
              <a:buNone/>
            </a:pPr>
            <a:r>
              <a:rPr lang="en-US" sz="850" b="1" dirty="0">
                <a:solidFill>
                  <a:srgbClr val="C9A84C"/>
                </a:solidFill>
              </a:rPr>
              <a:t>Constrained + Floor</a:t>
            </a:r>
            <a:endParaRPr lang="en-US" sz="850" dirty="0"/>
          </a:p>
        </p:txBody>
      </p:sp>
      <p:sp>
        <p:nvSpPr>
          <p:cNvPr id="30" name="Text 28"/>
          <p:cNvSpPr/>
          <p:nvPr/>
        </p:nvSpPr>
        <p:spPr>
          <a:xfrm>
            <a:off x="3447288" y="1764792"/>
            <a:ext cx="896112" cy="2011680"/>
          </a:xfrm>
          <a:prstGeom prst="rect">
            <a:avLst/>
          </a:prstGeom>
          <a:noFill/>
          <a:ln/>
        </p:spPr>
        <p:txBody>
          <a:bodyPr wrap="square" lIns="0" tIns="0" rIns="0" bIns="0" rtlCol="0" anchor="t"/>
          <a:lstStyle/>
          <a:p>
            <a:pPr indent="0" marL="0">
              <a:buNone/>
            </a:pPr>
            <a:r>
              <a:rPr lang="en-US" sz="800" dirty="0">
                <a:solidFill>
                  <a:srgbClr val="1A1A2E"/>
                </a:solidFill>
              </a:rPr>
              <a:t>A-IRB restricted.</a:t>
            </a:r>
            <a:endParaRPr lang="en-US" sz="800" dirty="0"/>
          </a:p>
          <a:p>
            <a:pPr indent="0" marL="0">
              <a:buNone/>
            </a:pPr>
            <a:r>
              <a:rPr lang="en-US" sz="800" dirty="0">
                <a:solidFill>
                  <a:srgbClr val="1A1A2E"/>
                </a:solidFill>
              </a:rPr>
              <a:t>LGD/PD input floors.</a:t>
            </a:r>
            <a:endParaRPr lang="en-US" sz="800" dirty="0"/>
          </a:p>
          <a:p>
            <a:pPr indent="0" marL="0">
              <a:buNone/>
            </a:pPr>
            <a:r>
              <a:rPr lang="en-US" sz="800" dirty="0">
                <a:solidFill>
                  <a:srgbClr val="1A1A2E"/>
                </a:solidFill>
              </a:rPr>
              <a:t>SA-CCR mandatory.</a:t>
            </a:r>
            <a:endParaRPr lang="en-US" sz="800" dirty="0"/>
          </a:p>
          <a:p>
            <a:pPr indent="0" marL="0">
              <a:buNone/>
            </a:pPr>
            <a:r>
              <a:rPr lang="en-US" sz="800" dirty="0">
                <a:solidFill>
                  <a:srgbClr val="1A1A2E"/>
                </a:solidFill>
              </a:rPr>
              <a:t>72.5% output floor.</a:t>
            </a:r>
            <a:endParaRPr lang="en-US" sz="800" dirty="0"/>
          </a:p>
        </p:txBody>
      </p:sp>
      <p:sp>
        <p:nvSpPr>
          <p:cNvPr id="31" name="Text 29"/>
          <p:cNvSpPr/>
          <p:nvPr/>
        </p:nvSpPr>
        <p:spPr>
          <a:xfrm>
            <a:off x="4617720" y="749808"/>
            <a:ext cx="4251960" cy="274320"/>
          </a:xfrm>
          <a:prstGeom prst="rect">
            <a:avLst/>
          </a:prstGeom>
          <a:noFill/>
          <a:ln/>
        </p:spPr>
        <p:txBody>
          <a:bodyPr wrap="square" lIns="0" tIns="0" rIns="0" bIns="0" rtlCol="0" anchor="ctr"/>
          <a:lstStyle/>
          <a:p>
            <a:pPr indent="0" marL="0">
              <a:buNone/>
            </a:pPr>
            <a:r>
              <a:rPr lang="en-US" sz="1000" b="1" dirty="0">
                <a:solidFill>
                  <a:srgbClr val="0E6B8A"/>
                </a:solidFill>
              </a:rPr>
              <a:t>MARKET RISK</a:t>
            </a:r>
            <a:endParaRPr lang="en-US" sz="1000" dirty="0"/>
          </a:p>
        </p:txBody>
      </p:sp>
      <p:sp>
        <p:nvSpPr>
          <p:cNvPr id="32" name="Shape 30"/>
          <p:cNvSpPr/>
          <p:nvPr/>
        </p:nvSpPr>
        <p:spPr>
          <a:xfrm>
            <a:off x="4617720" y="1005840"/>
            <a:ext cx="795528" cy="411480"/>
          </a:xfrm>
          <a:prstGeom prst="rect">
            <a:avLst/>
          </a:prstGeom>
          <a:solidFill>
            <a:srgbClr val="8899AA"/>
          </a:solidFill>
          <a:ln/>
        </p:spPr>
      </p:sp>
      <p:sp>
        <p:nvSpPr>
          <p:cNvPr id="33" name="Text 31"/>
          <p:cNvSpPr/>
          <p:nvPr/>
        </p:nvSpPr>
        <p:spPr>
          <a:xfrm>
            <a:off x="4617720" y="1005840"/>
            <a:ext cx="795528" cy="411480"/>
          </a:xfrm>
          <a:prstGeom prst="rect">
            <a:avLst/>
          </a:prstGeom>
          <a:noFill/>
          <a:ln/>
        </p:spPr>
        <p:txBody>
          <a:bodyPr wrap="square" lIns="0" tIns="0" rIns="0" bIns="0" rtlCol="0" anchor="ctr"/>
          <a:lstStyle/>
          <a:p>
            <a:pPr algn="ctr" indent="0" marL="0">
              <a:buNone/>
            </a:pPr>
            <a:r>
              <a:rPr lang="en-US" sz="700" b="1" dirty="0">
                <a:solidFill>
                  <a:srgbClr val="FFFFFF"/>
                </a:solidFill>
              </a:rPr>
              <a:t>Basel I</a:t>
            </a:r>
            <a:endParaRPr lang="en-US" sz="700" dirty="0"/>
          </a:p>
          <a:p>
            <a:pPr algn="ctr" indent="0" marL="0">
              <a:buNone/>
            </a:pPr>
            <a:r>
              <a:rPr lang="en-US" sz="700" b="1" dirty="0">
                <a:solidFill>
                  <a:srgbClr val="FFFFFF"/>
                </a:solidFill>
              </a:rPr>
              <a:t>1988</a:t>
            </a:r>
            <a:endParaRPr lang="en-US" sz="700" dirty="0"/>
          </a:p>
        </p:txBody>
      </p:sp>
      <p:sp>
        <p:nvSpPr>
          <p:cNvPr id="34" name="Shape 32"/>
          <p:cNvSpPr/>
          <p:nvPr/>
        </p:nvSpPr>
        <p:spPr>
          <a:xfrm>
            <a:off x="4617720" y="1417320"/>
            <a:ext cx="795528"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5" name="Shape 33"/>
          <p:cNvSpPr/>
          <p:nvPr/>
        </p:nvSpPr>
        <p:spPr>
          <a:xfrm>
            <a:off x="4617720" y="1417320"/>
            <a:ext cx="795528" cy="45720"/>
          </a:xfrm>
          <a:prstGeom prst="rect">
            <a:avLst/>
          </a:prstGeom>
          <a:solidFill>
            <a:srgbClr val="8899AA"/>
          </a:solidFill>
          <a:ln/>
        </p:spPr>
      </p:sp>
      <p:sp>
        <p:nvSpPr>
          <p:cNvPr id="36" name="Text 34"/>
          <p:cNvSpPr/>
          <p:nvPr/>
        </p:nvSpPr>
        <p:spPr>
          <a:xfrm>
            <a:off x="4654296" y="1463040"/>
            <a:ext cx="722376" cy="274320"/>
          </a:xfrm>
          <a:prstGeom prst="rect">
            <a:avLst/>
          </a:prstGeom>
          <a:noFill/>
          <a:ln/>
        </p:spPr>
        <p:txBody>
          <a:bodyPr wrap="square" lIns="0" tIns="0" rIns="0" bIns="0" rtlCol="0" anchor="ctr"/>
          <a:lstStyle/>
          <a:p>
            <a:pPr indent="0" marL="0">
              <a:buNone/>
            </a:pPr>
            <a:r>
              <a:rPr lang="en-US" sz="750" b="1" dirty="0">
                <a:solidFill>
                  <a:srgbClr val="8899AA"/>
                </a:solidFill>
              </a:rPr>
              <a:t>Absent</a:t>
            </a:r>
            <a:endParaRPr lang="en-US" sz="750" dirty="0"/>
          </a:p>
        </p:txBody>
      </p:sp>
      <p:sp>
        <p:nvSpPr>
          <p:cNvPr id="37" name="Text 35"/>
          <p:cNvSpPr/>
          <p:nvPr/>
        </p:nvSpPr>
        <p:spPr>
          <a:xfrm>
            <a:off x="4654296" y="1764792"/>
            <a:ext cx="722376" cy="2011680"/>
          </a:xfrm>
          <a:prstGeom prst="rect">
            <a:avLst/>
          </a:prstGeom>
          <a:noFill/>
          <a:ln/>
        </p:spPr>
        <p:txBody>
          <a:bodyPr wrap="square" lIns="0" tIns="0" rIns="0" bIns="0" rtlCol="0" anchor="t"/>
          <a:lstStyle/>
          <a:p>
            <a:pPr indent="0" marL="0">
              <a:buNone/>
            </a:pPr>
            <a:r>
              <a:rPr lang="en-US" sz="750" dirty="0">
                <a:solidFill>
                  <a:srgbClr val="1A1A2E"/>
                </a:solidFill>
              </a:rPr>
              <a:t>No trading book market risk capital whatsoever.</a:t>
            </a:r>
            <a:endParaRPr lang="en-US" sz="750" dirty="0"/>
          </a:p>
        </p:txBody>
      </p:sp>
      <p:sp>
        <p:nvSpPr>
          <p:cNvPr id="38" name="Shape 36"/>
          <p:cNvSpPr/>
          <p:nvPr/>
        </p:nvSpPr>
        <p:spPr>
          <a:xfrm>
            <a:off x="5468112" y="1005840"/>
            <a:ext cx="795528" cy="411480"/>
          </a:xfrm>
          <a:prstGeom prst="rect">
            <a:avLst/>
          </a:prstGeom>
          <a:solidFill>
            <a:srgbClr val="556677"/>
          </a:solidFill>
          <a:ln/>
        </p:spPr>
      </p:sp>
      <p:sp>
        <p:nvSpPr>
          <p:cNvPr id="39" name="Text 37"/>
          <p:cNvSpPr/>
          <p:nvPr/>
        </p:nvSpPr>
        <p:spPr>
          <a:xfrm>
            <a:off x="5468112" y="1005840"/>
            <a:ext cx="795528" cy="411480"/>
          </a:xfrm>
          <a:prstGeom prst="rect">
            <a:avLst/>
          </a:prstGeom>
          <a:noFill/>
          <a:ln/>
        </p:spPr>
        <p:txBody>
          <a:bodyPr wrap="square" lIns="0" tIns="0" rIns="0" bIns="0" rtlCol="0" anchor="ctr"/>
          <a:lstStyle/>
          <a:p>
            <a:pPr algn="ctr" indent="0" marL="0">
              <a:buNone/>
            </a:pPr>
            <a:r>
              <a:rPr lang="en-US" sz="700" b="1" dirty="0">
                <a:solidFill>
                  <a:srgbClr val="FFFFFF"/>
                </a:solidFill>
              </a:rPr>
              <a:t>1996</a:t>
            </a:r>
            <a:endParaRPr lang="en-US" sz="700" dirty="0"/>
          </a:p>
          <a:p>
            <a:pPr algn="ctr" indent="0" marL="0">
              <a:buNone/>
            </a:pPr>
            <a:r>
              <a:rPr lang="en-US" sz="700" b="1" dirty="0">
                <a:solidFill>
                  <a:srgbClr val="FFFFFF"/>
                </a:solidFill>
              </a:rPr>
              <a:t>Amend.</a:t>
            </a:r>
            <a:endParaRPr lang="en-US" sz="700" dirty="0"/>
          </a:p>
        </p:txBody>
      </p:sp>
      <p:sp>
        <p:nvSpPr>
          <p:cNvPr id="40" name="Shape 38"/>
          <p:cNvSpPr/>
          <p:nvPr/>
        </p:nvSpPr>
        <p:spPr>
          <a:xfrm>
            <a:off x="5468112" y="1417320"/>
            <a:ext cx="795528"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41" name="Shape 39"/>
          <p:cNvSpPr/>
          <p:nvPr/>
        </p:nvSpPr>
        <p:spPr>
          <a:xfrm>
            <a:off x="5468112" y="1417320"/>
            <a:ext cx="795528" cy="45720"/>
          </a:xfrm>
          <a:prstGeom prst="rect">
            <a:avLst/>
          </a:prstGeom>
          <a:solidFill>
            <a:srgbClr val="556677"/>
          </a:solidFill>
          <a:ln/>
        </p:spPr>
      </p:sp>
      <p:sp>
        <p:nvSpPr>
          <p:cNvPr id="42" name="Text 40"/>
          <p:cNvSpPr/>
          <p:nvPr/>
        </p:nvSpPr>
        <p:spPr>
          <a:xfrm>
            <a:off x="5504688" y="1463040"/>
            <a:ext cx="722376" cy="274320"/>
          </a:xfrm>
          <a:prstGeom prst="rect">
            <a:avLst/>
          </a:prstGeom>
          <a:noFill/>
          <a:ln/>
        </p:spPr>
        <p:txBody>
          <a:bodyPr wrap="square" lIns="0" tIns="0" rIns="0" bIns="0" rtlCol="0" anchor="ctr"/>
          <a:lstStyle/>
          <a:p>
            <a:pPr indent="0" marL="0">
              <a:buNone/>
            </a:pPr>
            <a:r>
              <a:rPr lang="en-US" sz="750" b="1" dirty="0">
                <a:solidFill>
                  <a:srgbClr val="556677"/>
                </a:solidFill>
              </a:rPr>
              <a:t>VaR Introduced</a:t>
            </a:r>
            <a:endParaRPr lang="en-US" sz="750" dirty="0"/>
          </a:p>
        </p:txBody>
      </p:sp>
      <p:sp>
        <p:nvSpPr>
          <p:cNvPr id="43" name="Text 41"/>
          <p:cNvSpPr/>
          <p:nvPr/>
        </p:nvSpPr>
        <p:spPr>
          <a:xfrm>
            <a:off x="5504688" y="1764792"/>
            <a:ext cx="722376" cy="2011680"/>
          </a:xfrm>
          <a:prstGeom prst="rect">
            <a:avLst/>
          </a:prstGeom>
          <a:noFill/>
          <a:ln/>
        </p:spPr>
        <p:txBody>
          <a:bodyPr wrap="square" lIns="0" tIns="0" rIns="0" bIns="0" rtlCol="0" anchor="t"/>
          <a:lstStyle/>
          <a:p>
            <a:pPr indent="0" marL="0">
              <a:buNone/>
            </a:pPr>
            <a:r>
              <a:rPr lang="en-US" sz="750" dirty="0">
                <a:solidFill>
                  <a:srgbClr val="1A1A2E"/>
                </a:solidFill>
              </a:rPr>
              <a:t>99%/10-day VaR.</a:t>
            </a:r>
            <a:endParaRPr lang="en-US" sz="750" dirty="0"/>
          </a:p>
          <a:p>
            <a:pPr indent="0" marL="0">
              <a:buNone/>
            </a:pPr>
            <a:r>
              <a:rPr lang="en-US" sz="750" dirty="0">
                <a:solidFill>
                  <a:srgbClr val="1A1A2E"/>
                </a:solidFill>
              </a:rPr>
              <a:t>Multiplier ≥ 3.0.</a:t>
            </a:r>
            <a:endParaRPr lang="en-US" sz="750" dirty="0"/>
          </a:p>
          <a:p>
            <a:pPr indent="0" marL="0">
              <a:buNone/>
            </a:pPr>
            <a:r>
              <a:rPr lang="en-US" sz="750" dirty="0">
                <a:solidFill>
                  <a:srgbClr val="1A1A2E"/>
                </a:solidFill>
              </a:rPr>
              <a:t>Backtesting introduced.</a:t>
            </a:r>
            <a:endParaRPr lang="en-US" sz="750" dirty="0"/>
          </a:p>
        </p:txBody>
      </p:sp>
      <p:sp>
        <p:nvSpPr>
          <p:cNvPr id="44" name="Shape 42"/>
          <p:cNvSpPr/>
          <p:nvPr/>
        </p:nvSpPr>
        <p:spPr>
          <a:xfrm>
            <a:off x="6318504" y="1005840"/>
            <a:ext cx="795528" cy="411480"/>
          </a:xfrm>
          <a:prstGeom prst="rect">
            <a:avLst/>
          </a:prstGeom>
          <a:solidFill>
            <a:srgbClr val="0E6B8A"/>
          </a:solidFill>
          <a:ln/>
        </p:spPr>
      </p:sp>
      <p:sp>
        <p:nvSpPr>
          <p:cNvPr id="45" name="Text 43"/>
          <p:cNvSpPr/>
          <p:nvPr/>
        </p:nvSpPr>
        <p:spPr>
          <a:xfrm>
            <a:off x="6318504" y="1005840"/>
            <a:ext cx="795528" cy="411480"/>
          </a:xfrm>
          <a:prstGeom prst="rect">
            <a:avLst/>
          </a:prstGeom>
          <a:noFill/>
          <a:ln/>
        </p:spPr>
        <p:txBody>
          <a:bodyPr wrap="square" lIns="0" tIns="0" rIns="0" bIns="0" rtlCol="0" anchor="ctr"/>
          <a:lstStyle/>
          <a:p>
            <a:pPr algn="ctr" indent="0" marL="0">
              <a:buNone/>
            </a:pPr>
            <a:r>
              <a:rPr lang="en-US" sz="700" b="1" dirty="0">
                <a:solidFill>
                  <a:srgbClr val="FFFFFF"/>
                </a:solidFill>
              </a:rPr>
              <a:t>Basel II</a:t>
            </a:r>
            <a:endParaRPr lang="en-US" sz="700" dirty="0"/>
          </a:p>
          <a:p>
            <a:pPr algn="ctr" indent="0" marL="0">
              <a:buNone/>
            </a:pPr>
            <a:r>
              <a:rPr lang="en-US" sz="700" b="1" dirty="0">
                <a:solidFill>
                  <a:srgbClr val="FFFFFF"/>
                </a:solidFill>
              </a:rPr>
              <a:t>2004</a:t>
            </a:r>
            <a:endParaRPr lang="en-US" sz="700" dirty="0"/>
          </a:p>
        </p:txBody>
      </p:sp>
      <p:sp>
        <p:nvSpPr>
          <p:cNvPr id="46" name="Shape 44"/>
          <p:cNvSpPr/>
          <p:nvPr/>
        </p:nvSpPr>
        <p:spPr>
          <a:xfrm>
            <a:off x="6318504" y="1417320"/>
            <a:ext cx="795528"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47" name="Shape 45"/>
          <p:cNvSpPr/>
          <p:nvPr/>
        </p:nvSpPr>
        <p:spPr>
          <a:xfrm>
            <a:off x="6318504" y="1417320"/>
            <a:ext cx="795528" cy="45720"/>
          </a:xfrm>
          <a:prstGeom prst="rect">
            <a:avLst/>
          </a:prstGeom>
          <a:solidFill>
            <a:srgbClr val="0E6B8A"/>
          </a:solidFill>
          <a:ln/>
        </p:spPr>
      </p:sp>
      <p:sp>
        <p:nvSpPr>
          <p:cNvPr id="48" name="Text 46"/>
          <p:cNvSpPr/>
          <p:nvPr/>
        </p:nvSpPr>
        <p:spPr>
          <a:xfrm>
            <a:off x="6355080" y="1463040"/>
            <a:ext cx="722376" cy="274320"/>
          </a:xfrm>
          <a:prstGeom prst="rect">
            <a:avLst/>
          </a:prstGeom>
          <a:noFill/>
          <a:ln/>
        </p:spPr>
        <p:txBody>
          <a:bodyPr wrap="square" lIns="0" tIns="0" rIns="0" bIns="0" rtlCol="0" anchor="ctr"/>
          <a:lstStyle/>
          <a:p>
            <a:pPr indent="0" marL="0">
              <a:buNone/>
            </a:pPr>
            <a:r>
              <a:rPr lang="en-US" sz="750" b="1" dirty="0">
                <a:solidFill>
                  <a:srgbClr val="0E6B8A"/>
                </a:solidFill>
              </a:rPr>
              <a:t>VaR Embedded</a:t>
            </a:r>
            <a:endParaRPr lang="en-US" sz="750" dirty="0"/>
          </a:p>
        </p:txBody>
      </p:sp>
      <p:sp>
        <p:nvSpPr>
          <p:cNvPr id="49" name="Text 47"/>
          <p:cNvSpPr/>
          <p:nvPr/>
        </p:nvSpPr>
        <p:spPr>
          <a:xfrm>
            <a:off x="6355080" y="1764792"/>
            <a:ext cx="722376" cy="2011680"/>
          </a:xfrm>
          <a:prstGeom prst="rect">
            <a:avLst/>
          </a:prstGeom>
          <a:noFill/>
          <a:ln/>
        </p:spPr>
        <p:txBody>
          <a:bodyPr wrap="square" lIns="0" tIns="0" rIns="0" bIns="0" rtlCol="0" anchor="t"/>
          <a:lstStyle/>
          <a:p>
            <a:pPr indent="0" marL="0">
              <a:buNone/>
            </a:pPr>
            <a:r>
              <a:rPr lang="en-US" sz="750" dirty="0">
                <a:solidFill>
                  <a:srgbClr val="1A1A2E"/>
                </a:solidFill>
              </a:rPr>
              <a:t>1996 Amendment incorporated into Pillar 1.</a:t>
            </a:r>
            <a:endParaRPr lang="en-US" sz="750" dirty="0"/>
          </a:p>
        </p:txBody>
      </p:sp>
      <p:sp>
        <p:nvSpPr>
          <p:cNvPr id="50" name="Shape 48"/>
          <p:cNvSpPr/>
          <p:nvPr/>
        </p:nvSpPr>
        <p:spPr>
          <a:xfrm>
            <a:off x="7168896" y="1005840"/>
            <a:ext cx="795528" cy="411480"/>
          </a:xfrm>
          <a:prstGeom prst="rect">
            <a:avLst/>
          </a:prstGeom>
          <a:solidFill>
            <a:srgbClr val="1B3A6B"/>
          </a:solidFill>
          <a:ln/>
        </p:spPr>
      </p:sp>
      <p:sp>
        <p:nvSpPr>
          <p:cNvPr id="51" name="Text 49"/>
          <p:cNvSpPr/>
          <p:nvPr/>
        </p:nvSpPr>
        <p:spPr>
          <a:xfrm>
            <a:off x="7168896" y="1005840"/>
            <a:ext cx="795528" cy="411480"/>
          </a:xfrm>
          <a:prstGeom prst="rect">
            <a:avLst/>
          </a:prstGeom>
          <a:noFill/>
          <a:ln/>
        </p:spPr>
        <p:txBody>
          <a:bodyPr wrap="square" lIns="0" tIns="0" rIns="0" bIns="0" rtlCol="0" anchor="ctr"/>
          <a:lstStyle/>
          <a:p>
            <a:pPr algn="ctr" indent="0" marL="0">
              <a:buNone/>
            </a:pPr>
            <a:r>
              <a:rPr lang="en-US" sz="700" b="1" dirty="0">
                <a:solidFill>
                  <a:srgbClr val="FFFFFF"/>
                </a:solidFill>
              </a:rPr>
              <a:t>Basel III</a:t>
            </a:r>
            <a:endParaRPr lang="en-US" sz="700" dirty="0"/>
          </a:p>
          <a:p>
            <a:pPr algn="ctr" indent="0" marL="0">
              <a:buNone/>
            </a:pPr>
            <a:r>
              <a:rPr lang="en-US" sz="700" b="1" dirty="0">
                <a:solidFill>
                  <a:srgbClr val="FFFFFF"/>
                </a:solidFill>
              </a:rPr>
              <a:t>2010</a:t>
            </a:r>
            <a:endParaRPr lang="en-US" sz="700" dirty="0"/>
          </a:p>
        </p:txBody>
      </p:sp>
      <p:sp>
        <p:nvSpPr>
          <p:cNvPr id="52" name="Shape 50"/>
          <p:cNvSpPr/>
          <p:nvPr/>
        </p:nvSpPr>
        <p:spPr>
          <a:xfrm>
            <a:off x="7168896" y="1417320"/>
            <a:ext cx="795528"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53" name="Shape 51"/>
          <p:cNvSpPr/>
          <p:nvPr/>
        </p:nvSpPr>
        <p:spPr>
          <a:xfrm>
            <a:off x="7168896" y="1417320"/>
            <a:ext cx="795528" cy="45720"/>
          </a:xfrm>
          <a:prstGeom prst="rect">
            <a:avLst/>
          </a:prstGeom>
          <a:solidFill>
            <a:srgbClr val="1B3A6B"/>
          </a:solidFill>
          <a:ln/>
        </p:spPr>
      </p:sp>
      <p:sp>
        <p:nvSpPr>
          <p:cNvPr id="54" name="Text 52"/>
          <p:cNvSpPr/>
          <p:nvPr/>
        </p:nvSpPr>
        <p:spPr>
          <a:xfrm>
            <a:off x="7205472" y="1463040"/>
            <a:ext cx="722376" cy="274320"/>
          </a:xfrm>
          <a:prstGeom prst="rect">
            <a:avLst/>
          </a:prstGeom>
          <a:noFill/>
          <a:ln/>
        </p:spPr>
        <p:txBody>
          <a:bodyPr wrap="square" lIns="0" tIns="0" rIns="0" bIns="0" rtlCol="0" anchor="ctr"/>
          <a:lstStyle/>
          <a:p>
            <a:pPr indent="0" marL="0">
              <a:buNone/>
            </a:pPr>
            <a:r>
              <a:rPr lang="en-US" sz="750" b="1" dirty="0">
                <a:solidFill>
                  <a:srgbClr val="1B3A6B"/>
                </a:solidFill>
              </a:rPr>
              <a:t>VaR+SVaR+IRC</a:t>
            </a:r>
            <a:endParaRPr lang="en-US" sz="750" dirty="0"/>
          </a:p>
        </p:txBody>
      </p:sp>
      <p:sp>
        <p:nvSpPr>
          <p:cNvPr id="55" name="Text 53"/>
          <p:cNvSpPr/>
          <p:nvPr/>
        </p:nvSpPr>
        <p:spPr>
          <a:xfrm>
            <a:off x="7205472" y="1764792"/>
            <a:ext cx="722376" cy="2011680"/>
          </a:xfrm>
          <a:prstGeom prst="rect">
            <a:avLst/>
          </a:prstGeom>
          <a:noFill/>
          <a:ln/>
        </p:spPr>
        <p:txBody>
          <a:bodyPr wrap="square" lIns="0" tIns="0" rIns="0" bIns="0" rtlCol="0" anchor="t"/>
          <a:lstStyle/>
          <a:p>
            <a:pPr indent="0" marL="0">
              <a:buNone/>
            </a:pPr>
            <a:r>
              <a:rPr lang="en-US" sz="750" dirty="0">
                <a:solidFill>
                  <a:srgbClr val="1A1A2E"/>
                </a:solidFill>
              </a:rPr>
              <a:t>Stressed VaR (2008 window).</a:t>
            </a:r>
            <a:endParaRPr lang="en-US" sz="750" dirty="0"/>
          </a:p>
          <a:p>
            <a:pPr indent="0" marL="0">
              <a:buNone/>
            </a:pPr>
            <a:r>
              <a:rPr lang="en-US" sz="750" dirty="0">
                <a:solidFill>
                  <a:srgbClr val="1A1A2E"/>
                </a:solidFill>
              </a:rPr>
              <a:t>IRC for default/migration.</a:t>
            </a:r>
            <a:endParaRPr lang="en-US" sz="750" dirty="0"/>
          </a:p>
          <a:p>
            <a:pPr indent="0" marL="0">
              <a:buNone/>
            </a:pPr>
            <a:r>
              <a:rPr lang="en-US" sz="750" dirty="0">
                <a:solidFill>
                  <a:srgbClr val="1A1A2E"/>
                </a:solidFill>
              </a:rPr>
              <a:t>CVA charge added.</a:t>
            </a:r>
            <a:endParaRPr lang="en-US" sz="750" dirty="0"/>
          </a:p>
        </p:txBody>
      </p:sp>
      <p:sp>
        <p:nvSpPr>
          <p:cNvPr id="56" name="Shape 54"/>
          <p:cNvSpPr/>
          <p:nvPr/>
        </p:nvSpPr>
        <p:spPr>
          <a:xfrm>
            <a:off x="8019288" y="1005840"/>
            <a:ext cx="795528" cy="411480"/>
          </a:xfrm>
          <a:prstGeom prst="rect">
            <a:avLst/>
          </a:prstGeom>
          <a:solidFill>
            <a:srgbClr val="C9A84C"/>
          </a:solidFill>
          <a:ln/>
        </p:spPr>
      </p:sp>
      <p:sp>
        <p:nvSpPr>
          <p:cNvPr id="57" name="Text 55"/>
          <p:cNvSpPr/>
          <p:nvPr/>
        </p:nvSpPr>
        <p:spPr>
          <a:xfrm>
            <a:off x="8019288" y="1005840"/>
            <a:ext cx="795528" cy="411480"/>
          </a:xfrm>
          <a:prstGeom prst="rect">
            <a:avLst/>
          </a:prstGeom>
          <a:noFill/>
          <a:ln/>
        </p:spPr>
        <p:txBody>
          <a:bodyPr wrap="square" lIns="0" tIns="0" rIns="0" bIns="0" rtlCol="0" anchor="ctr"/>
          <a:lstStyle/>
          <a:p>
            <a:pPr algn="ctr" indent="0" marL="0">
              <a:buNone/>
            </a:pPr>
            <a:r>
              <a:rPr lang="en-US" sz="700" b="1" dirty="0">
                <a:solidFill>
                  <a:srgbClr val="FFFFFF"/>
                </a:solidFill>
              </a:rPr>
              <a:t>Basel IV</a:t>
            </a:r>
            <a:endParaRPr lang="en-US" sz="700" dirty="0"/>
          </a:p>
          <a:p>
            <a:pPr algn="ctr" indent="0" marL="0">
              <a:buNone/>
            </a:pPr>
            <a:r>
              <a:rPr lang="en-US" sz="700" b="1" dirty="0">
                <a:solidFill>
                  <a:srgbClr val="FFFFFF"/>
                </a:solidFill>
              </a:rPr>
              <a:t>2017</a:t>
            </a:r>
            <a:endParaRPr lang="en-US" sz="700" dirty="0"/>
          </a:p>
        </p:txBody>
      </p:sp>
      <p:sp>
        <p:nvSpPr>
          <p:cNvPr id="58" name="Shape 56"/>
          <p:cNvSpPr/>
          <p:nvPr/>
        </p:nvSpPr>
        <p:spPr>
          <a:xfrm>
            <a:off x="8019288" y="1417320"/>
            <a:ext cx="795528"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59" name="Shape 57"/>
          <p:cNvSpPr/>
          <p:nvPr/>
        </p:nvSpPr>
        <p:spPr>
          <a:xfrm>
            <a:off x="8019288" y="1417320"/>
            <a:ext cx="795528" cy="45720"/>
          </a:xfrm>
          <a:prstGeom prst="rect">
            <a:avLst/>
          </a:prstGeom>
          <a:solidFill>
            <a:srgbClr val="C9A84C"/>
          </a:solidFill>
          <a:ln/>
        </p:spPr>
      </p:sp>
      <p:sp>
        <p:nvSpPr>
          <p:cNvPr id="60" name="Text 58"/>
          <p:cNvSpPr/>
          <p:nvPr/>
        </p:nvSpPr>
        <p:spPr>
          <a:xfrm>
            <a:off x="8055864" y="1463040"/>
            <a:ext cx="722376" cy="274320"/>
          </a:xfrm>
          <a:prstGeom prst="rect">
            <a:avLst/>
          </a:prstGeom>
          <a:noFill/>
          <a:ln/>
        </p:spPr>
        <p:txBody>
          <a:bodyPr wrap="square" lIns="0" tIns="0" rIns="0" bIns="0" rtlCol="0" anchor="ctr"/>
          <a:lstStyle/>
          <a:p>
            <a:pPr indent="0" marL="0">
              <a:buNone/>
            </a:pPr>
            <a:r>
              <a:rPr lang="en-US" sz="750" b="1" dirty="0">
                <a:solidFill>
                  <a:srgbClr val="C9A84C"/>
                </a:solidFill>
              </a:rPr>
              <a:t>FRTB: ES-Based</a:t>
            </a:r>
            <a:endParaRPr lang="en-US" sz="750" dirty="0"/>
          </a:p>
        </p:txBody>
      </p:sp>
      <p:sp>
        <p:nvSpPr>
          <p:cNvPr id="61" name="Text 59"/>
          <p:cNvSpPr/>
          <p:nvPr/>
        </p:nvSpPr>
        <p:spPr>
          <a:xfrm>
            <a:off x="8055864" y="1764792"/>
            <a:ext cx="722376" cy="2011680"/>
          </a:xfrm>
          <a:prstGeom prst="rect">
            <a:avLst/>
          </a:prstGeom>
          <a:noFill/>
          <a:ln/>
        </p:spPr>
        <p:txBody>
          <a:bodyPr wrap="square" lIns="0" tIns="0" rIns="0" bIns="0" rtlCol="0" anchor="t"/>
          <a:lstStyle/>
          <a:p>
            <a:pPr indent="0" marL="0">
              <a:buNone/>
            </a:pPr>
            <a:r>
              <a:rPr lang="en-US" sz="750" dirty="0">
                <a:solidFill>
                  <a:srgbClr val="1A1A2E"/>
                </a:solidFill>
              </a:rPr>
              <a:t>ES 97.5%, liq. horizons.</a:t>
            </a:r>
            <a:endParaRPr lang="en-US" sz="750" dirty="0"/>
          </a:p>
          <a:p>
            <a:pPr indent="0" marL="0">
              <a:buNone/>
            </a:pPr>
            <a:r>
              <a:rPr lang="en-US" sz="750" dirty="0">
                <a:solidFill>
                  <a:srgbClr val="1A1A2E"/>
                </a:solidFill>
              </a:rPr>
              <a:t>P&amp;L Attribution Test.</a:t>
            </a:r>
            <a:endParaRPr lang="en-US" sz="750" dirty="0"/>
          </a:p>
          <a:p>
            <a:pPr indent="0" marL="0">
              <a:buNone/>
            </a:pPr>
            <a:r>
              <a:rPr lang="en-US" sz="750" dirty="0">
                <a:solidFill>
                  <a:srgbClr val="1A1A2E"/>
                </a:solidFill>
              </a:rPr>
              <a:t>NMRF stress charges.</a:t>
            </a:r>
            <a:endParaRPr lang="en-US" sz="750" dirty="0"/>
          </a:p>
        </p:txBody>
      </p:sp>
      <p:sp>
        <p:nvSpPr>
          <p:cNvPr id="62" name="Shape 60"/>
          <p:cNvSpPr/>
          <p:nvPr/>
        </p:nvSpPr>
        <p:spPr>
          <a:xfrm>
            <a:off x="365760" y="3931920"/>
            <a:ext cx="8412480" cy="594360"/>
          </a:xfrm>
          <a:prstGeom prst="rect">
            <a:avLst/>
          </a:prstGeom>
          <a:solidFill>
            <a:srgbClr val="D6EAF8"/>
          </a:solidFill>
          <a:ln/>
        </p:spPr>
      </p:sp>
      <p:sp>
        <p:nvSpPr>
          <p:cNvPr id="63" name="Shape 61"/>
          <p:cNvSpPr/>
          <p:nvPr/>
        </p:nvSpPr>
        <p:spPr>
          <a:xfrm>
            <a:off x="365760" y="3931920"/>
            <a:ext cx="1005840" cy="594360"/>
          </a:xfrm>
          <a:prstGeom prst="rect">
            <a:avLst/>
          </a:prstGeom>
          <a:solidFill>
            <a:srgbClr val="0E6B8A"/>
          </a:solidFill>
          <a:ln/>
        </p:spPr>
      </p:sp>
      <p:sp>
        <p:nvSpPr>
          <p:cNvPr id="64" name="Text 62"/>
          <p:cNvSpPr/>
          <p:nvPr/>
        </p:nvSpPr>
        <p:spPr>
          <a:xfrm>
            <a:off x="365760" y="3931920"/>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DIRECTION</a:t>
            </a:r>
            <a:endParaRPr lang="en-US" sz="900" dirty="0"/>
          </a:p>
        </p:txBody>
      </p:sp>
      <p:sp>
        <p:nvSpPr>
          <p:cNvPr id="65" name="Text 63"/>
          <p:cNvSpPr/>
          <p:nvPr/>
        </p:nvSpPr>
        <p:spPr>
          <a:xfrm>
            <a:off x="1417320" y="3931920"/>
            <a:ext cx="7223760" cy="594360"/>
          </a:xfrm>
          <a:prstGeom prst="rect">
            <a:avLst/>
          </a:prstGeom>
          <a:noFill/>
          <a:ln/>
        </p:spPr>
        <p:txBody>
          <a:bodyPr wrap="square" lIns="0" tIns="0" rIns="0" bIns="0" rtlCol="0" anchor="ctr"/>
          <a:lstStyle/>
          <a:p>
            <a:pPr indent="0" marL="0">
              <a:buNone/>
            </a:pPr>
            <a:r>
              <a:rPr lang="en-US" sz="1000" dirty="0">
                <a:solidFill>
                  <a:srgbClr val="1A1A2E"/>
                </a:solidFill>
              </a:rPr>
              <a:t>Credit: flat rates → risk-sensitive models → constrained models with floors. Market: absent → VaR → stressed VaR → Expected Shortfall. Both trends: more rigour, less model freedom.</a:t>
            </a:r>
            <a:endParaRPr lang="en-US" sz="1000" dirty="0"/>
          </a:p>
        </p:txBody>
      </p:sp>
      <p:sp>
        <p:nvSpPr>
          <p:cNvPr id="66" name="Shape 64"/>
          <p:cNvSpPr/>
          <p:nvPr/>
        </p:nvSpPr>
        <p:spPr>
          <a:xfrm>
            <a:off x="365760" y="4572000"/>
            <a:ext cx="8412480" cy="594360"/>
          </a:xfrm>
          <a:prstGeom prst="rect">
            <a:avLst/>
          </a:prstGeom>
          <a:solidFill>
            <a:srgbClr val="D6EAF8"/>
          </a:solidFill>
          <a:ln/>
        </p:spPr>
      </p:sp>
      <p:sp>
        <p:nvSpPr>
          <p:cNvPr id="67" name="Shape 65"/>
          <p:cNvSpPr/>
          <p:nvPr/>
        </p:nvSpPr>
        <p:spPr>
          <a:xfrm>
            <a:off x="365760" y="4572000"/>
            <a:ext cx="1005840" cy="594360"/>
          </a:xfrm>
          <a:prstGeom prst="rect">
            <a:avLst/>
          </a:prstGeom>
          <a:solidFill>
            <a:srgbClr val="D4770A"/>
          </a:solidFill>
          <a:ln/>
        </p:spPr>
      </p:sp>
      <p:sp>
        <p:nvSpPr>
          <p:cNvPr id="68" name="Text 66"/>
          <p:cNvSpPr/>
          <p:nvPr/>
        </p:nvSpPr>
        <p:spPr>
          <a:xfrm>
            <a:off x="365760" y="4572000"/>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OPERATIONAL RISK</a:t>
            </a:r>
            <a:endParaRPr lang="en-US" sz="900" dirty="0"/>
          </a:p>
        </p:txBody>
      </p:sp>
      <p:sp>
        <p:nvSpPr>
          <p:cNvPr id="69" name="Text 67"/>
          <p:cNvSpPr/>
          <p:nvPr/>
        </p:nvSpPr>
        <p:spPr>
          <a:xfrm>
            <a:off x="1417320" y="4572000"/>
            <a:ext cx="7223760" cy="594360"/>
          </a:xfrm>
          <a:prstGeom prst="rect">
            <a:avLst/>
          </a:prstGeom>
          <a:noFill/>
          <a:ln/>
        </p:spPr>
        <p:txBody>
          <a:bodyPr wrap="square" lIns="0" tIns="0" rIns="0" bIns="0" rtlCol="0" anchor="ctr"/>
          <a:lstStyle/>
          <a:p>
            <a:pPr indent="0" marL="0">
              <a:buNone/>
            </a:pPr>
            <a:r>
              <a:rPr lang="en-US" sz="1000" dirty="0">
                <a:solidFill>
                  <a:srgbClr val="1A1A2E"/>
                </a:solidFill>
              </a:rPr>
              <a:t>Absent (Basel I) → BIA/TSA/AMA (Basel II/III) → SMA only (Basel IV, AMA abolished due to excessive variability between banks).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p:spPr>
      </p:sp>
      <p:sp>
        <p:nvSpPr>
          <p:cNvPr id="3" name="Shape 1"/>
          <p:cNvSpPr/>
          <p:nvPr/>
        </p:nvSpPr>
        <p:spPr>
          <a:xfrm>
            <a:off x="164592" y="2560320"/>
            <a:ext cx="8979408" cy="36576"/>
          </a:xfrm>
          <a:prstGeom prst="rect">
            <a:avLst/>
          </a:prstGeom>
          <a:solidFill>
            <a:srgbClr val="C9A84C"/>
          </a:solidFill>
          <a:ln/>
        </p:spPr>
      </p:sp>
      <p:sp>
        <p:nvSpPr>
          <p:cNvPr id="4" name="Text 2"/>
          <p:cNvSpPr/>
          <p:nvPr/>
        </p:nvSpPr>
        <p:spPr>
          <a:xfrm>
            <a:off x="411480" y="1280160"/>
            <a:ext cx="8412480" cy="1097280"/>
          </a:xfrm>
          <a:prstGeom prst="rect">
            <a:avLst/>
          </a:prstGeom>
          <a:noFill/>
          <a:ln/>
        </p:spPr>
        <p:txBody>
          <a:bodyPr wrap="square" lIns="0" tIns="0" rIns="0" bIns="0" rtlCol="0" anchor="ctr"/>
          <a:lstStyle/>
          <a:p>
            <a:pPr indent="0" marL="0">
              <a:buNone/>
            </a:pPr>
            <a:r>
              <a:rPr lang="en-US" sz="4000" b="1" dirty="0">
                <a:solidFill>
                  <a:srgbClr val="FFFFFF"/>
                </a:solidFill>
              </a:rPr>
              <a:t>Worked Examples</a:t>
            </a:r>
            <a:endParaRPr lang="en-US" sz="4000" dirty="0"/>
          </a:p>
        </p:txBody>
      </p:sp>
      <p:sp>
        <p:nvSpPr>
          <p:cNvPr id="5" name="Text 3"/>
          <p:cNvSpPr/>
          <p:nvPr/>
        </p:nvSpPr>
        <p:spPr>
          <a:xfrm>
            <a:off x="411480" y="2651760"/>
            <a:ext cx="8412480" cy="457200"/>
          </a:xfrm>
          <a:prstGeom prst="rect">
            <a:avLst/>
          </a:prstGeom>
          <a:noFill/>
          <a:ln/>
        </p:spPr>
        <p:txBody>
          <a:bodyPr wrap="square" lIns="0" tIns="0" rIns="0" bIns="0" rtlCol="0" anchor="ctr"/>
          <a:lstStyle/>
          <a:p>
            <a:pPr indent="0" marL="0">
              <a:buNone/>
            </a:pPr>
            <a:r>
              <a:rPr lang="en-US" sz="1600" i="1" dirty="0">
                <a:solidFill>
                  <a:srgbClr val="C9A84C"/>
                </a:solidFill>
              </a:rPr>
              <a:t>How Capital is Calculated Across Basel I → IV for Five Instrument Types</a:t>
            </a:r>
            <a:endParaRPr lang="en-US" sz="1600" dirty="0"/>
          </a:p>
        </p:txBody>
      </p:sp>
      <p:sp>
        <p:nvSpPr>
          <p:cNvPr id="6" name="Shape 4"/>
          <p:cNvSpPr/>
          <p:nvPr/>
        </p:nvSpPr>
        <p:spPr>
          <a:xfrm>
            <a:off x="0" y="4873752"/>
            <a:ext cx="9144000" cy="269748"/>
          </a:xfrm>
          <a:prstGeom prst="rect">
            <a:avLst/>
          </a:prstGeom>
          <a:solidFill>
            <a:srgbClr val="1B3A6B"/>
          </a:solidFill>
          <a:ln/>
        </p:spPr>
      </p:sp>
      <p:sp>
        <p:nvSpPr>
          <p:cNvPr id="7" name="Text 5"/>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Worked Examples</a:t>
            </a:r>
            <a:endParaRPr lang="en-US" sz="900" dirty="0"/>
          </a:p>
        </p:txBody>
      </p:sp>
      <p:sp>
        <p:nvSpPr>
          <p:cNvPr id="8" name="Shape 6"/>
          <p:cNvSpPr/>
          <p:nvPr/>
        </p:nvSpPr>
        <p:spPr>
          <a:xfrm>
            <a:off x="411480" y="3200400"/>
            <a:ext cx="8321040" cy="1600200"/>
          </a:xfrm>
          <a:prstGeom prst="rect">
            <a:avLst/>
          </a:prstGeom>
          <a:solidFill>
            <a:srgbClr val="1A2F55"/>
          </a:solidFill>
          <a:ln/>
        </p:spPr>
      </p:sp>
      <p:sp>
        <p:nvSpPr>
          <p:cNvPr id="9" name="Shape 7"/>
          <p:cNvSpPr/>
          <p:nvPr/>
        </p:nvSpPr>
        <p:spPr>
          <a:xfrm>
            <a:off x="594360" y="3310128"/>
            <a:ext cx="1417320" cy="1298448"/>
          </a:xfrm>
          <a:prstGeom prst="rect">
            <a:avLst/>
          </a:prstGeom>
          <a:solidFill>
            <a:srgbClr val="0E6B8A"/>
          </a:solidFill>
          <a:ln/>
          <a:effectLst>
            <a:outerShdw sx="100000" sy="100000" kx="0" ky="0" algn="bl" rotWithShape="0" blurRad="101600" dist="38100" dir="8100000">
              <a:srgbClr val="000000">
                <a:alpha val="18000"/>
              </a:srgbClr>
            </a:outerShdw>
          </a:effectLst>
        </p:spPr>
      </p:sp>
      <p:sp>
        <p:nvSpPr>
          <p:cNvPr id="10" name="Text 8"/>
          <p:cNvSpPr/>
          <p:nvPr/>
        </p:nvSpPr>
        <p:spPr>
          <a:xfrm>
            <a:off x="594360" y="3337560"/>
            <a:ext cx="1417320" cy="384048"/>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11" name="Text 9"/>
          <p:cNvSpPr/>
          <p:nvPr/>
        </p:nvSpPr>
        <p:spPr>
          <a:xfrm>
            <a:off x="594360" y="3703320"/>
            <a:ext cx="1417320" cy="822960"/>
          </a:xfrm>
          <a:prstGeom prst="rect">
            <a:avLst/>
          </a:prstGeom>
          <a:noFill/>
          <a:ln/>
        </p:spPr>
        <p:txBody>
          <a:bodyPr wrap="square" lIns="0" tIns="0" rIns="0" bIns="0" rtlCol="0" anchor="ctr"/>
          <a:lstStyle/>
          <a:p>
            <a:pPr algn="ctr" indent="0" marL="0">
              <a:buNone/>
            </a:pPr>
            <a:r>
              <a:rPr lang="en-US" sz="900" dirty="0">
                <a:solidFill>
                  <a:srgbClr val="FFFFFF"/>
                </a:solidFill>
              </a:rPr>
              <a:t>FX Forward</a:t>
            </a:r>
            <a:endParaRPr lang="en-US" sz="900" dirty="0"/>
          </a:p>
          <a:p>
            <a:pPr algn="ctr" indent="0" marL="0">
              <a:buNone/>
            </a:pPr>
            <a:r>
              <a:rPr lang="en-US" sz="900" dirty="0">
                <a:solidFill>
                  <a:srgbClr val="FFFFFF"/>
                </a:solidFill>
              </a:rPr>
              <a:t>USD/SGD</a:t>
            </a:r>
            <a:endParaRPr lang="en-US" sz="900" dirty="0"/>
          </a:p>
        </p:txBody>
      </p:sp>
      <p:sp>
        <p:nvSpPr>
          <p:cNvPr id="12" name="Shape 10"/>
          <p:cNvSpPr/>
          <p:nvPr/>
        </p:nvSpPr>
        <p:spPr>
          <a:xfrm>
            <a:off x="2221992" y="3310128"/>
            <a:ext cx="1417320" cy="1298448"/>
          </a:xfrm>
          <a:prstGeom prst="rect">
            <a:avLst/>
          </a:prstGeom>
          <a:solidFill>
            <a:srgbClr val="1B3A6B"/>
          </a:solidFill>
          <a:ln/>
          <a:effectLst>
            <a:outerShdw sx="100000" sy="100000" kx="0" ky="0" algn="bl" rotWithShape="0" blurRad="101600" dist="38100" dir="8100000">
              <a:srgbClr val="000000">
                <a:alpha val="18000"/>
              </a:srgbClr>
            </a:outerShdw>
          </a:effectLst>
        </p:spPr>
      </p:sp>
      <p:sp>
        <p:nvSpPr>
          <p:cNvPr id="13" name="Text 11"/>
          <p:cNvSpPr/>
          <p:nvPr/>
        </p:nvSpPr>
        <p:spPr>
          <a:xfrm>
            <a:off x="2221992" y="3337560"/>
            <a:ext cx="1417320" cy="384048"/>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4" name="Text 12"/>
          <p:cNvSpPr/>
          <p:nvPr/>
        </p:nvSpPr>
        <p:spPr>
          <a:xfrm>
            <a:off x="2221992" y="3703320"/>
            <a:ext cx="1417320" cy="822960"/>
          </a:xfrm>
          <a:prstGeom prst="rect">
            <a:avLst/>
          </a:prstGeom>
          <a:noFill/>
          <a:ln/>
        </p:spPr>
        <p:txBody>
          <a:bodyPr wrap="square" lIns="0" tIns="0" rIns="0" bIns="0" rtlCol="0" anchor="ctr"/>
          <a:lstStyle/>
          <a:p>
            <a:pPr algn="ctr" indent="0" marL="0">
              <a:buNone/>
            </a:pPr>
            <a:r>
              <a:rPr lang="en-US" sz="900" dirty="0">
                <a:solidFill>
                  <a:srgbClr val="FFFFFF"/>
                </a:solidFill>
              </a:rPr>
              <a:t>Equity Derivative</a:t>
            </a:r>
            <a:endParaRPr lang="en-US" sz="900" dirty="0"/>
          </a:p>
          <a:p>
            <a:pPr algn="ctr" indent="0" marL="0">
              <a:buNone/>
            </a:pPr>
            <a:r>
              <a:rPr lang="en-US" sz="900" dirty="0">
                <a:solidFill>
                  <a:srgbClr val="FFFFFF"/>
                </a:solidFill>
              </a:rPr>
              <a:t>FTSE 100 Call</a:t>
            </a:r>
            <a:endParaRPr lang="en-US" sz="900" dirty="0"/>
          </a:p>
        </p:txBody>
      </p:sp>
      <p:sp>
        <p:nvSpPr>
          <p:cNvPr id="15" name="Shape 13"/>
          <p:cNvSpPr/>
          <p:nvPr/>
        </p:nvSpPr>
        <p:spPr>
          <a:xfrm>
            <a:off x="3849624" y="3310128"/>
            <a:ext cx="1417320" cy="1298448"/>
          </a:xfrm>
          <a:prstGeom prst="rect">
            <a:avLst/>
          </a:prstGeom>
          <a:solidFill>
            <a:srgbClr val="C9A84C"/>
          </a:solidFill>
          <a:ln/>
          <a:effectLst>
            <a:outerShdw sx="100000" sy="100000" kx="0" ky="0" algn="bl" rotWithShape="0" blurRad="101600" dist="38100" dir="8100000">
              <a:srgbClr val="000000">
                <a:alpha val="18000"/>
              </a:srgbClr>
            </a:outerShdw>
          </a:effectLst>
        </p:spPr>
      </p:sp>
      <p:sp>
        <p:nvSpPr>
          <p:cNvPr id="16" name="Text 14"/>
          <p:cNvSpPr/>
          <p:nvPr/>
        </p:nvSpPr>
        <p:spPr>
          <a:xfrm>
            <a:off x="3849624" y="3337560"/>
            <a:ext cx="1417320" cy="384048"/>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7" name="Text 15"/>
          <p:cNvSpPr/>
          <p:nvPr/>
        </p:nvSpPr>
        <p:spPr>
          <a:xfrm>
            <a:off x="3849624" y="3703320"/>
            <a:ext cx="1417320" cy="822960"/>
          </a:xfrm>
          <a:prstGeom prst="rect">
            <a:avLst/>
          </a:prstGeom>
          <a:noFill/>
          <a:ln/>
        </p:spPr>
        <p:txBody>
          <a:bodyPr wrap="square" lIns="0" tIns="0" rIns="0" bIns="0" rtlCol="0" anchor="ctr"/>
          <a:lstStyle/>
          <a:p>
            <a:pPr algn="ctr" indent="0" marL="0">
              <a:buNone/>
            </a:pPr>
            <a:r>
              <a:rPr lang="en-US" sz="900" dirty="0">
                <a:solidFill>
                  <a:srgbClr val="FFFFFF"/>
                </a:solidFill>
              </a:rPr>
              <a:t>Interest Rate Swap</a:t>
            </a:r>
            <a:endParaRPr lang="en-US" sz="900" dirty="0"/>
          </a:p>
          <a:p>
            <a:pPr algn="ctr" indent="0" marL="0">
              <a:buNone/>
            </a:pPr>
            <a:r>
              <a:rPr lang="en-US" sz="900" dirty="0">
                <a:solidFill>
                  <a:srgbClr val="FFFFFF"/>
                </a:solidFill>
              </a:rPr>
              <a:t>Fixed/Float EUR</a:t>
            </a:r>
            <a:endParaRPr lang="en-US" sz="900" dirty="0"/>
          </a:p>
        </p:txBody>
      </p:sp>
      <p:sp>
        <p:nvSpPr>
          <p:cNvPr id="18" name="Shape 16"/>
          <p:cNvSpPr/>
          <p:nvPr/>
        </p:nvSpPr>
        <p:spPr>
          <a:xfrm>
            <a:off x="5477256" y="3310128"/>
            <a:ext cx="1417320" cy="1298448"/>
          </a:xfrm>
          <a:prstGeom prst="rect">
            <a:avLst/>
          </a:prstGeom>
          <a:solidFill>
            <a:srgbClr val="8B0000"/>
          </a:solidFill>
          <a:ln/>
          <a:effectLst>
            <a:outerShdw sx="100000" sy="100000" kx="0" ky="0" algn="bl" rotWithShape="0" blurRad="101600" dist="38100" dir="8100000">
              <a:srgbClr val="000000">
                <a:alpha val="18000"/>
              </a:srgbClr>
            </a:outerShdw>
          </a:effectLst>
        </p:spPr>
      </p:sp>
      <p:sp>
        <p:nvSpPr>
          <p:cNvPr id="19" name="Text 17"/>
          <p:cNvSpPr/>
          <p:nvPr/>
        </p:nvSpPr>
        <p:spPr>
          <a:xfrm>
            <a:off x="5477256" y="3337560"/>
            <a:ext cx="1417320" cy="384048"/>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20" name="Text 18"/>
          <p:cNvSpPr/>
          <p:nvPr/>
        </p:nvSpPr>
        <p:spPr>
          <a:xfrm>
            <a:off x="5477256" y="3703320"/>
            <a:ext cx="1417320" cy="822960"/>
          </a:xfrm>
          <a:prstGeom prst="rect">
            <a:avLst/>
          </a:prstGeom>
          <a:noFill/>
          <a:ln/>
        </p:spPr>
        <p:txBody>
          <a:bodyPr wrap="square" lIns="0" tIns="0" rIns="0" bIns="0" rtlCol="0" anchor="ctr"/>
          <a:lstStyle/>
          <a:p>
            <a:pPr algn="ctr" indent="0" marL="0">
              <a:buNone/>
            </a:pPr>
            <a:r>
              <a:rPr lang="en-US" sz="900" dirty="0">
                <a:solidFill>
                  <a:srgbClr val="FFFFFF"/>
                </a:solidFill>
              </a:rPr>
              <a:t>Credit Derivative</a:t>
            </a:r>
            <a:endParaRPr lang="en-US" sz="900" dirty="0"/>
          </a:p>
          <a:p>
            <a:pPr algn="ctr" indent="0" marL="0">
              <a:buNone/>
            </a:pPr>
            <a:r>
              <a:rPr lang="en-US" sz="900" dirty="0">
                <a:solidFill>
                  <a:srgbClr val="FFFFFF"/>
                </a:solidFill>
              </a:rPr>
              <a:t>Single-Name CDS</a:t>
            </a:r>
            <a:endParaRPr lang="en-US" sz="900" dirty="0"/>
          </a:p>
        </p:txBody>
      </p:sp>
      <p:sp>
        <p:nvSpPr>
          <p:cNvPr id="21" name="Shape 19"/>
          <p:cNvSpPr/>
          <p:nvPr/>
        </p:nvSpPr>
        <p:spPr>
          <a:xfrm>
            <a:off x="7104888" y="3310128"/>
            <a:ext cx="1417320" cy="1298448"/>
          </a:xfrm>
          <a:prstGeom prst="rect">
            <a:avLst/>
          </a:prstGeom>
          <a:solidFill>
            <a:srgbClr val="1A6B3A"/>
          </a:solidFill>
          <a:ln/>
          <a:effectLst>
            <a:outerShdw sx="100000" sy="100000" kx="0" ky="0" algn="bl" rotWithShape="0" blurRad="101600" dist="38100" dir="8100000">
              <a:srgbClr val="000000">
                <a:alpha val="18000"/>
              </a:srgbClr>
            </a:outerShdw>
          </a:effectLst>
        </p:spPr>
      </p:sp>
      <p:sp>
        <p:nvSpPr>
          <p:cNvPr id="22" name="Text 20"/>
          <p:cNvSpPr/>
          <p:nvPr/>
        </p:nvSpPr>
        <p:spPr>
          <a:xfrm>
            <a:off x="7104888" y="3337560"/>
            <a:ext cx="1417320" cy="384048"/>
          </a:xfrm>
          <a:prstGeom prst="rect">
            <a:avLst/>
          </a:prstGeom>
          <a:noFill/>
          <a:ln/>
        </p:spPr>
        <p:txBody>
          <a:bodyPr wrap="square" lIns="0" tIns="0" rIns="0" bIns="0" rtlCol="0" anchor="ctr"/>
          <a:lstStyle/>
          <a:p>
            <a:pPr algn="ctr" indent="0" marL="0">
              <a:buNone/>
            </a:pPr>
            <a:r>
              <a:rPr lang="en-US" sz="2000" b="1" dirty="0">
                <a:solidFill>
                  <a:srgbClr val="FFFFFF"/>
                </a:solidFill>
              </a:rPr>
              <a:t>5</a:t>
            </a:r>
            <a:endParaRPr lang="en-US" sz="2000" dirty="0"/>
          </a:p>
        </p:txBody>
      </p:sp>
      <p:sp>
        <p:nvSpPr>
          <p:cNvPr id="23" name="Text 21"/>
          <p:cNvSpPr/>
          <p:nvPr/>
        </p:nvSpPr>
        <p:spPr>
          <a:xfrm>
            <a:off x="7104888" y="3703320"/>
            <a:ext cx="1417320" cy="822960"/>
          </a:xfrm>
          <a:prstGeom prst="rect">
            <a:avLst/>
          </a:prstGeom>
          <a:noFill/>
          <a:ln/>
        </p:spPr>
        <p:txBody>
          <a:bodyPr wrap="square" lIns="0" tIns="0" rIns="0" bIns="0" rtlCol="0" anchor="ctr"/>
          <a:lstStyle/>
          <a:p>
            <a:pPr algn="ctr" indent="0" marL="0">
              <a:buNone/>
            </a:pPr>
            <a:r>
              <a:rPr lang="en-US" sz="900" dirty="0">
                <a:solidFill>
                  <a:srgbClr val="FFFFFF"/>
                </a:solidFill>
              </a:rPr>
              <a:t>Precious Metal</a:t>
            </a:r>
            <a:endParaRPr lang="en-US" sz="900" dirty="0"/>
          </a:p>
          <a:p>
            <a:pPr algn="ctr" indent="0" marL="0">
              <a:buNone/>
            </a:pPr>
            <a:r>
              <a:rPr lang="en-US" sz="900" dirty="0">
                <a:solidFill>
                  <a:srgbClr val="FFFFFF"/>
                </a:solidFill>
              </a:rPr>
              <a:t>Gold Forward</a:t>
            </a:r>
            <a:endParaRPr lang="en-US" sz="900" dirty="0"/>
          </a:p>
        </p:txBody>
      </p:sp>
      <p:sp>
        <p:nvSpPr>
          <p:cNvPr id="24" name="Text 22"/>
          <p:cNvSpPr/>
          <p:nvPr/>
        </p:nvSpPr>
        <p:spPr>
          <a:xfrm>
            <a:off x="411480" y="4645152"/>
            <a:ext cx="8321040" cy="347472"/>
          </a:xfrm>
          <a:prstGeom prst="rect">
            <a:avLst/>
          </a:prstGeom>
          <a:noFill/>
          <a:ln/>
        </p:spPr>
        <p:txBody>
          <a:bodyPr wrap="square" lIns="0" tIns="0" rIns="0" bIns="0" rtlCol="0" anchor="ctr"/>
          <a:lstStyle/>
          <a:p>
            <a:pPr algn="ctr" indent="0" marL="0">
              <a:buNone/>
            </a:pPr>
            <a:r>
              <a:rPr lang="en-US" sz="900" i="1" dirty="0">
                <a:solidFill>
                  <a:srgbClr val="8899AA"/>
                </a:solidFill>
              </a:rPr>
              <a:t>All capital figures are illustrative standalone calculations. Actual regulatory capital depends on netting agreements, collateral, portfolio-level correlations, and jurisdictional implementation.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Example 1: FX Forward</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Example 1: FX Forward — USD/SGD</a:t>
            </a:r>
            <a:endParaRPr lang="en-US" sz="2200" dirty="0"/>
          </a:p>
        </p:txBody>
      </p:sp>
      <p:sp>
        <p:nvSpPr>
          <p:cNvPr id="6" name="Shape 4"/>
          <p:cNvSpPr/>
          <p:nvPr/>
        </p:nvSpPr>
        <p:spPr>
          <a:xfrm>
            <a:off x="274320" y="749808"/>
            <a:ext cx="8595360" cy="475488"/>
          </a:xfrm>
          <a:prstGeom prst="rect">
            <a:avLst/>
          </a:prstGeom>
          <a:solidFill>
            <a:srgbClr val="D6EAF8"/>
          </a:solidFill>
          <a:ln/>
        </p:spPr>
      </p:sp>
      <p:sp>
        <p:nvSpPr>
          <p:cNvPr id="7" name="Text 5"/>
          <p:cNvSpPr/>
          <p:nvPr/>
        </p:nvSpPr>
        <p:spPr>
          <a:xfrm>
            <a:off x="411480" y="749808"/>
            <a:ext cx="8321040" cy="475488"/>
          </a:xfrm>
          <a:prstGeom prst="rect">
            <a:avLst/>
          </a:prstGeom>
          <a:noFill/>
          <a:ln/>
        </p:spPr>
        <p:txBody>
          <a:bodyPr wrap="square" lIns="0" tIns="0" rIns="0" bIns="0" rtlCol="0" anchor="ctr"/>
          <a:lstStyle/>
          <a:p>
            <a:pPr indent="0" marL="0">
              <a:buNone/>
            </a:pPr>
            <a:r>
              <a:rPr lang="en-US" sz="1000" dirty="0">
                <a:solidFill>
                  <a:srgbClr val="1B3A6B"/>
                </a:solidFill>
              </a:rPr>
              <a:t>Bank sells USD 10m / Buys SGD 13.5m  |  6-Month  |  BBB Corporate  |  Bilateral, No Margin  |  MTM: USD +200,000</a:t>
            </a:r>
            <a:endParaRPr lang="en-US" sz="1000" dirty="0"/>
          </a:p>
        </p:txBody>
      </p:sp>
      <p:sp>
        <p:nvSpPr>
          <p:cNvPr id="8" name="Shape 6"/>
          <p:cNvSpPr/>
          <p:nvPr/>
        </p:nvSpPr>
        <p:spPr>
          <a:xfrm>
            <a:off x="256032"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56032" y="1325880"/>
            <a:ext cx="2057400" cy="475488"/>
          </a:xfrm>
          <a:prstGeom prst="rect">
            <a:avLst/>
          </a:prstGeom>
          <a:solidFill>
            <a:srgbClr val="8899AA"/>
          </a:solidFill>
          <a:ln/>
        </p:spPr>
      </p:sp>
      <p:sp>
        <p:nvSpPr>
          <p:cNvPr id="10" name="Text 8"/>
          <p:cNvSpPr/>
          <p:nvPr/>
        </p:nvSpPr>
        <p:spPr>
          <a:xfrm>
            <a:off x="329184"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a:t>
            </a:r>
            <a:endParaRPr lang="en-US" sz="1100" dirty="0"/>
          </a:p>
        </p:txBody>
      </p:sp>
      <p:sp>
        <p:nvSpPr>
          <p:cNvPr id="11" name="Text 9"/>
          <p:cNvSpPr/>
          <p:nvPr/>
        </p:nvSpPr>
        <p:spPr>
          <a:xfrm>
            <a:off x="329184"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Baseline</a:t>
            </a:r>
            <a:endParaRPr lang="en-US" sz="850" dirty="0"/>
          </a:p>
        </p:txBody>
      </p:sp>
      <p:sp>
        <p:nvSpPr>
          <p:cNvPr id="12" name="Text 10"/>
          <p:cNvSpPr/>
          <p:nvPr/>
        </p:nvSpPr>
        <p:spPr>
          <a:xfrm>
            <a:off x="329184" y="1847088"/>
            <a:ext cx="1901952" cy="457200"/>
          </a:xfrm>
          <a:prstGeom prst="rect">
            <a:avLst/>
          </a:prstGeom>
          <a:noFill/>
          <a:ln/>
        </p:spPr>
        <p:txBody>
          <a:bodyPr wrap="square" lIns="0" tIns="0" rIns="0" bIns="0" rtlCol="0" anchor="ctr"/>
          <a:lstStyle/>
          <a:p>
            <a:pPr indent="0" marL="0">
              <a:buNone/>
            </a:pPr>
            <a:r>
              <a:rPr lang="en-US" sz="2200" b="1" dirty="0">
                <a:solidFill>
                  <a:srgbClr val="8899AA"/>
                </a:solidFill>
              </a:rPr>
              <a:t>$24,000</a:t>
            </a:r>
            <a:endParaRPr lang="en-US" sz="2200" dirty="0"/>
          </a:p>
        </p:txBody>
      </p:sp>
      <p:sp>
        <p:nvSpPr>
          <p:cNvPr id="13" name="Text 11"/>
          <p:cNvSpPr/>
          <p:nvPr/>
        </p:nvSpPr>
        <p:spPr>
          <a:xfrm>
            <a:off x="329184"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CEM</a:t>
            </a:r>
            <a:endParaRPr lang="en-US" sz="900" dirty="0"/>
          </a:p>
        </p:txBody>
      </p:sp>
      <p:sp>
        <p:nvSpPr>
          <p:cNvPr id="14" name="Text 12"/>
          <p:cNvSpPr/>
          <p:nvPr/>
        </p:nvSpPr>
        <p:spPr>
          <a:xfrm>
            <a:off x="347472"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RC $200k + Add-on 1%×$10m = $300k EAD.</a:t>
            </a:r>
            <a:endParaRPr lang="en-US" sz="950" dirty="0"/>
          </a:p>
          <a:p>
            <a:pPr indent="0" marL="0">
              <a:buNone/>
            </a:pPr>
            <a:r>
              <a:rPr lang="en-US" sz="950" dirty="0">
                <a:solidFill>
                  <a:srgbClr val="1A1A2E"/>
                </a:solidFill>
              </a:rPr>
              <a:t>100% RW (corporate).</a:t>
            </a:r>
            <a:endParaRPr lang="en-US" sz="950" dirty="0"/>
          </a:p>
          <a:p>
            <a:pPr indent="0" marL="0">
              <a:buNone/>
            </a:pPr>
            <a:r>
              <a:rPr lang="en-US" sz="950" dirty="0">
                <a:solidFill>
                  <a:srgbClr val="1A1A2E"/>
                </a:solidFill>
              </a:rPr>
              <a:t>No market risk capital.</a:t>
            </a:r>
            <a:endParaRPr lang="en-US" sz="950" dirty="0"/>
          </a:p>
        </p:txBody>
      </p:sp>
      <p:sp>
        <p:nvSpPr>
          <p:cNvPr id="15" name="Shape 13"/>
          <p:cNvSpPr/>
          <p:nvPr/>
        </p:nvSpPr>
        <p:spPr>
          <a:xfrm>
            <a:off x="2432304"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6" name="Shape 14"/>
          <p:cNvSpPr/>
          <p:nvPr/>
        </p:nvSpPr>
        <p:spPr>
          <a:xfrm>
            <a:off x="2432304" y="1325880"/>
            <a:ext cx="2057400" cy="475488"/>
          </a:xfrm>
          <a:prstGeom prst="rect">
            <a:avLst/>
          </a:prstGeom>
          <a:solidFill>
            <a:srgbClr val="0E6B8A"/>
          </a:solidFill>
          <a:ln/>
        </p:spPr>
      </p:sp>
      <p:sp>
        <p:nvSpPr>
          <p:cNvPr id="17" name="Text 15"/>
          <p:cNvSpPr/>
          <p:nvPr/>
        </p:nvSpPr>
        <p:spPr>
          <a:xfrm>
            <a:off x="2505456"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II</a:t>
            </a:r>
            <a:endParaRPr lang="en-US" sz="1100" dirty="0"/>
          </a:p>
        </p:txBody>
      </p:sp>
      <p:sp>
        <p:nvSpPr>
          <p:cNvPr id="18" name="Text 16"/>
          <p:cNvSpPr/>
          <p:nvPr/>
        </p:nvSpPr>
        <p:spPr>
          <a:xfrm>
            <a:off x="2505456"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–42% vs I</a:t>
            </a:r>
            <a:endParaRPr lang="en-US" sz="850" dirty="0"/>
          </a:p>
        </p:txBody>
      </p:sp>
      <p:sp>
        <p:nvSpPr>
          <p:cNvPr id="19" name="Text 17"/>
          <p:cNvSpPr/>
          <p:nvPr/>
        </p:nvSpPr>
        <p:spPr>
          <a:xfrm>
            <a:off x="2505456" y="1847088"/>
            <a:ext cx="1901952" cy="457200"/>
          </a:xfrm>
          <a:prstGeom prst="rect">
            <a:avLst/>
          </a:prstGeom>
          <a:noFill/>
          <a:ln/>
        </p:spPr>
        <p:txBody>
          <a:bodyPr wrap="square" lIns="0" tIns="0" rIns="0" bIns="0" rtlCol="0" anchor="ctr"/>
          <a:lstStyle/>
          <a:p>
            <a:pPr indent="0" marL="0">
              <a:buNone/>
            </a:pPr>
            <a:r>
              <a:rPr lang="en-US" sz="2200" b="1" dirty="0">
                <a:solidFill>
                  <a:srgbClr val="0E6B8A"/>
                </a:solidFill>
              </a:rPr>
              <a:t>$14,000</a:t>
            </a:r>
            <a:endParaRPr lang="en-US" sz="2200" dirty="0"/>
          </a:p>
        </p:txBody>
      </p:sp>
      <p:sp>
        <p:nvSpPr>
          <p:cNvPr id="20" name="Text 18"/>
          <p:cNvSpPr/>
          <p:nvPr/>
        </p:nvSpPr>
        <p:spPr>
          <a:xfrm>
            <a:off x="2505456"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A-IRB</a:t>
            </a:r>
            <a:endParaRPr lang="en-US" sz="900" dirty="0"/>
          </a:p>
        </p:txBody>
      </p:sp>
      <p:sp>
        <p:nvSpPr>
          <p:cNvPr id="21" name="Text 19"/>
          <p:cNvSpPr/>
          <p:nvPr/>
        </p:nvSpPr>
        <p:spPr>
          <a:xfrm>
            <a:off x="2523744"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PD 0.35%, LGD 45%.</a:t>
            </a:r>
            <a:endParaRPr lang="en-US" sz="950" dirty="0"/>
          </a:p>
          <a:p>
            <a:pPr indent="0" marL="0">
              <a:buNone/>
            </a:pPr>
            <a:r>
              <a:rPr lang="en-US" sz="950" dirty="0">
                <a:solidFill>
                  <a:srgbClr val="1A1A2E"/>
                </a:solidFill>
              </a:rPr>
              <a:t>EAD $300k (CEM).</a:t>
            </a:r>
            <a:endParaRPr lang="en-US" sz="950" dirty="0"/>
          </a:p>
          <a:p>
            <a:pPr indent="0" marL="0">
              <a:buNone/>
            </a:pPr>
            <a:r>
              <a:rPr lang="en-US" sz="950" dirty="0">
                <a:solidFill>
                  <a:srgbClr val="1A1A2E"/>
                </a:solidFill>
              </a:rPr>
              <a:t>RWA ~$175k.</a:t>
            </a:r>
            <a:endParaRPr lang="en-US" sz="950" dirty="0"/>
          </a:p>
          <a:p>
            <a:pPr indent="0" marL="0">
              <a:buNone/>
            </a:pPr>
            <a:r>
              <a:rPr lang="en-US" sz="950" dirty="0">
                <a:solidFill>
                  <a:srgbClr val="1A1A2E"/>
                </a:solidFill>
              </a:rPr>
              <a:t>Market risk VaR if trading book.</a:t>
            </a:r>
            <a:endParaRPr lang="en-US" sz="950" dirty="0"/>
          </a:p>
        </p:txBody>
      </p:sp>
      <p:sp>
        <p:nvSpPr>
          <p:cNvPr id="22" name="Shape 20"/>
          <p:cNvSpPr/>
          <p:nvPr/>
        </p:nvSpPr>
        <p:spPr>
          <a:xfrm>
            <a:off x="4608576"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3" name="Shape 21"/>
          <p:cNvSpPr/>
          <p:nvPr/>
        </p:nvSpPr>
        <p:spPr>
          <a:xfrm>
            <a:off x="4608576" y="1325880"/>
            <a:ext cx="2057400" cy="475488"/>
          </a:xfrm>
          <a:prstGeom prst="rect">
            <a:avLst/>
          </a:prstGeom>
          <a:solidFill>
            <a:srgbClr val="1B3A6B"/>
          </a:solidFill>
          <a:ln/>
        </p:spPr>
      </p:sp>
      <p:sp>
        <p:nvSpPr>
          <p:cNvPr id="24" name="Text 22"/>
          <p:cNvSpPr/>
          <p:nvPr/>
        </p:nvSpPr>
        <p:spPr>
          <a:xfrm>
            <a:off x="4681728"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III</a:t>
            </a:r>
            <a:endParaRPr lang="en-US" sz="1100" dirty="0"/>
          </a:p>
        </p:txBody>
      </p:sp>
      <p:sp>
        <p:nvSpPr>
          <p:cNvPr id="25" name="Text 23"/>
          <p:cNvSpPr/>
          <p:nvPr/>
        </p:nvSpPr>
        <p:spPr>
          <a:xfrm>
            <a:off x="4681728"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+37% vs II</a:t>
            </a:r>
            <a:endParaRPr lang="en-US" sz="850" dirty="0"/>
          </a:p>
        </p:txBody>
      </p:sp>
      <p:sp>
        <p:nvSpPr>
          <p:cNvPr id="26" name="Text 24"/>
          <p:cNvSpPr/>
          <p:nvPr/>
        </p:nvSpPr>
        <p:spPr>
          <a:xfrm>
            <a:off x="4681728" y="1847088"/>
            <a:ext cx="1901952" cy="457200"/>
          </a:xfrm>
          <a:prstGeom prst="rect">
            <a:avLst/>
          </a:prstGeom>
          <a:noFill/>
          <a:ln/>
        </p:spPr>
        <p:txBody>
          <a:bodyPr wrap="square" lIns="0" tIns="0" rIns="0" bIns="0" rtlCol="0" anchor="ctr"/>
          <a:lstStyle/>
          <a:p>
            <a:pPr indent="0" marL="0">
              <a:buNone/>
            </a:pPr>
            <a:r>
              <a:rPr lang="en-US" sz="2200" b="1" dirty="0">
                <a:solidFill>
                  <a:srgbClr val="1B3A6B"/>
                </a:solidFill>
              </a:rPr>
              <a:t>$33,000+</a:t>
            </a:r>
            <a:endParaRPr lang="en-US" sz="2200" dirty="0"/>
          </a:p>
        </p:txBody>
      </p:sp>
      <p:sp>
        <p:nvSpPr>
          <p:cNvPr id="27" name="Text 25"/>
          <p:cNvSpPr/>
          <p:nvPr/>
        </p:nvSpPr>
        <p:spPr>
          <a:xfrm>
            <a:off x="4681728"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CEM + CVA</a:t>
            </a:r>
            <a:endParaRPr lang="en-US" sz="900" dirty="0"/>
          </a:p>
        </p:txBody>
      </p:sp>
      <p:sp>
        <p:nvSpPr>
          <p:cNvPr id="28" name="Text 26"/>
          <p:cNvSpPr/>
          <p:nvPr/>
        </p:nvSpPr>
        <p:spPr>
          <a:xfrm>
            <a:off x="4700016"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CEM unchanged for CCR.</a:t>
            </a:r>
            <a:endParaRPr lang="en-US" sz="950" dirty="0"/>
          </a:p>
          <a:p>
            <a:pPr indent="0" marL="0">
              <a:buNone/>
            </a:pPr>
            <a:r>
              <a:rPr lang="en-US" sz="950" dirty="0">
                <a:solidFill>
                  <a:srgbClr val="1A1A2E"/>
                </a:solidFill>
              </a:rPr>
              <a:t>NEW: CVA charge ~$9–12k.</a:t>
            </a:r>
            <a:endParaRPr lang="en-US" sz="950" dirty="0"/>
          </a:p>
          <a:p>
            <a:pPr indent="0" marL="0">
              <a:buNone/>
            </a:pPr>
            <a:r>
              <a:rPr lang="en-US" sz="950" dirty="0">
                <a:solidFill>
                  <a:srgbClr val="1A1A2E"/>
                </a:solidFill>
              </a:rPr>
              <a:t>SVaR market risk ×2 if trading book.</a:t>
            </a:r>
            <a:endParaRPr lang="en-US" sz="950" dirty="0"/>
          </a:p>
        </p:txBody>
      </p:sp>
      <p:sp>
        <p:nvSpPr>
          <p:cNvPr id="29" name="Shape 27"/>
          <p:cNvSpPr/>
          <p:nvPr/>
        </p:nvSpPr>
        <p:spPr>
          <a:xfrm>
            <a:off x="6784848"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0" name="Shape 28"/>
          <p:cNvSpPr/>
          <p:nvPr/>
        </p:nvSpPr>
        <p:spPr>
          <a:xfrm>
            <a:off x="6784848" y="1325880"/>
            <a:ext cx="2057400" cy="475488"/>
          </a:xfrm>
          <a:prstGeom prst="rect">
            <a:avLst/>
          </a:prstGeom>
          <a:solidFill>
            <a:srgbClr val="C9A84C"/>
          </a:solidFill>
          <a:ln/>
        </p:spPr>
      </p:sp>
      <p:sp>
        <p:nvSpPr>
          <p:cNvPr id="31" name="Text 29"/>
          <p:cNvSpPr/>
          <p:nvPr/>
        </p:nvSpPr>
        <p:spPr>
          <a:xfrm>
            <a:off x="6858000"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IV</a:t>
            </a:r>
            <a:endParaRPr lang="en-US" sz="1100" dirty="0"/>
          </a:p>
        </p:txBody>
      </p:sp>
      <p:sp>
        <p:nvSpPr>
          <p:cNvPr id="32" name="Text 30"/>
          <p:cNvSpPr/>
          <p:nvPr/>
        </p:nvSpPr>
        <p:spPr>
          <a:xfrm>
            <a:off x="6858000"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+42% vs III</a:t>
            </a:r>
            <a:endParaRPr lang="en-US" sz="850" dirty="0"/>
          </a:p>
        </p:txBody>
      </p:sp>
      <p:sp>
        <p:nvSpPr>
          <p:cNvPr id="33" name="Text 31"/>
          <p:cNvSpPr/>
          <p:nvPr/>
        </p:nvSpPr>
        <p:spPr>
          <a:xfrm>
            <a:off x="6858000" y="1847088"/>
            <a:ext cx="1901952" cy="457200"/>
          </a:xfrm>
          <a:prstGeom prst="rect">
            <a:avLst/>
          </a:prstGeom>
          <a:noFill/>
          <a:ln/>
        </p:spPr>
        <p:txBody>
          <a:bodyPr wrap="square" lIns="0" tIns="0" rIns="0" bIns="0" rtlCol="0" anchor="ctr"/>
          <a:lstStyle/>
          <a:p>
            <a:pPr indent="0" marL="0">
              <a:buNone/>
            </a:pPr>
            <a:r>
              <a:rPr lang="en-US" sz="2200" b="1" dirty="0">
                <a:solidFill>
                  <a:srgbClr val="C9A84C"/>
                </a:solidFill>
              </a:rPr>
              <a:t>$47,000+</a:t>
            </a:r>
            <a:endParaRPr lang="en-US" sz="2200" dirty="0"/>
          </a:p>
        </p:txBody>
      </p:sp>
      <p:sp>
        <p:nvSpPr>
          <p:cNvPr id="34" name="Text 32"/>
          <p:cNvSpPr/>
          <p:nvPr/>
        </p:nvSpPr>
        <p:spPr>
          <a:xfrm>
            <a:off x="6858000"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SA-CCR + FRTB</a:t>
            </a:r>
            <a:endParaRPr lang="en-US" sz="900" dirty="0"/>
          </a:p>
        </p:txBody>
      </p:sp>
      <p:sp>
        <p:nvSpPr>
          <p:cNvPr id="35" name="Text 33"/>
          <p:cNvSpPr/>
          <p:nvPr/>
        </p:nvSpPr>
        <p:spPr>
          <a:xfrm>
            <a:off x="6876288"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SA-CCR: EAD ~$675k (1.4× alpha, 4% SF).</a:t>
            </a:r>
            <a:endParaRPr lang="en-US" sz="950" dirty="0"/>
          </a:p>
          <a:p>
            <a:pPr indent="0" marL="0">
              <a:buNone/>
            </a:pPr>
            <a:r>
              <a:rPr lang="en-US" sz="950" dirty="0">
                <a:solidFill>
                  <a:srgbClr val="1A1A2E"/>
                </a:solidFill>
              </a:rPr>
              <a:t>Output floor may bind IRB.</a:t>
            </a:r>
            <a:endParaRPr lang="en-US" sz="950" dirty="0"/>
          </a:p>
          <a:p>
            <a:pPr indent="0" marL="0">
              <a:buNone/>
            </a:pPr>
            <a:r>
              <a:rPr lang="en-US" sz="950" dirty="0">
                <a:solidFill>
                  <a:srgbClr val="1A1A2E"/>
                </a:solidFill>
              </a:rPr>
              <a:t>FRTB ES if in trading book.</a:t>
            </a:r>
            <a:endParaRPr lang="en-US" sz="950" dirty="0"/>
          </a:p>
        </p:txBody>
      </p:sp>
      <p:sp>
        <p:nvSpPr>
          <p:cNvPr id="36" name="Shape 34"/>
          <p:cNvSpPr/>
          <p:nvPr/>
        </p:nvSpPr>
        <p:spPr>
          <a:xfrm>
            <a:off x="365760" y="4663440"/>
            <a:ext cx="8412480" cy="594360"/>
          </a:xfrm>
          <a:prstGeom prst="rect">
            <a:avLst/>
          </a:prstGeom>
          <a:solidFill>
            <a:srgbClr val="D6EAF8"/>
          </a:solidFill>
          <a:ln/>
        </p:spPr>
      </p:sp>
      <p:sp>
        <p:nvSpPr>
          <p:cNvPr id="37" name="Shape 35"/>
          <p:cNvSpPr/>
          <p:nvPr/>
        </p:nvSpPr>
        <p:spPr>
          <a:xfrm>
            <a:off x="365760" y="4663440"/>
            <a:ext cx="1005840" cy="594360"/>
          </a:xfrm>
          <a:prstGeom prst="rect">
            <a:avLst/>
          </a:prstGeom>
          <a:solidFill>
            <a:srgbClr val="0E6B8A"/>
          </a:solidFill>
          <a:ln/>
        </p:spPr>
      </p:sp>
      <p:sp>
        <p:nvSpPr>
          <p:cNvPr id="38" name="Text 36"/>
          <p:cNvSpPr/>
          <p:nvPr/>
        </p:nvSpPr>
        <p:spPr>
          <a:xfrm>
            <a:off x="365760" y="4663440"/>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SA-CCR NOTE</a:t>
            </a:r>
            <a:endParaRPr lang="en-US" sz="900" dirty="0"/>
          </a:p>
        </p:txBody>
      </p:sp>
      <p:sp>
        <p:nvSpPr>
          <p:cNvPr id="39" name="Text 37"/>
          <p:cNvSpPr/>
          <p:nvPr/>
        </p:nvSpPr>
        <p:spPr>
          <a:xfrm>
            <a:off x="1417320" y="4663440"/>
            <a:ext cx="7223760" cy="594360"/>
          </a:xfrm>
          <a:prstGeom prst="rect">
            <a:avLst/>
          </a:prstGeom>
          <a:noFill/>
          <a:ln/>
        </p:spPr>
        <p:txBody>
          <a:bodyPr wrap="square" lIns="0" tIns="0" rIns="0" bIns="0" rtlCol="0" anchor="ctr"/>
          <a:lstStyle/>
          <a:p>
            <a:pPr indent="0" marL="0">
              <a:buNone/>
            </a:pPr>
            <a:r>
              <a:rPr lang="en-US" sz="1000" dirty="0">
                <a:solidFill>
                  <a:srgbClr val="1A1A2E"/>
                </a:solidFill>
              </a:rPr>
              <a:t>SA-CCR EAD is substantially higher than CEM due to the 1.4× alpha multiplier and maturity-adjusted PFE. For short-dated FX with investment grade counterparties, CVA is often the dominant new charge from Basel III onward.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Example 2: Equity Derivative</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Example 2: Equity Derivative — Long Call on FTSE 100</a:t>
            </a:r>
            <a:endParaRPr lang="en-US" sz="2200" dirty="0"/>
          </a:p>
        </p:txBody>
      </p:sp>
      <p:sp>
        <p:nvSpPr>
          <p:cNvPr id="6" name="Shape 4"/>
          <p:cNvSpPr/>
          <p:nvPr/>
        </p:nvSpPr>
        <p:spPr>
          <a:xfrm>
            <a:off x="274320" y="749808"/>
            <a:ext cx="8595360" cy="475488"/>
          </a:xfrm>
          <a:prstGeom prst="rect">
            <a:avLst/>
          </a:prstGeom>
          <a:solidFill>
            <a:srgbClr val="D6EAF8"/>
          </a:solidFill>
          <a:ln/>
        </p:spPr>
      </p:sp>
      <p:sp>
        <p:nvSpPr>
          <p:cNvPr id="7" name="Text 5"/>
          <p:cNvSpPr/>
          <p:nvPr/>
        </p:nvSpPr>
        <p:spPr>
          <a:xfrm>
            <a:off x="411480" y="749808"/>
            <a:ext cx="8321040" cy="475488"/>
          </a:xfrm>
          <a:prstGeom prst="rect">
            <a:avLst/>
          </a:prstGeom>
          <a:noFill/>
          <a:ln/>
        </p:spPr>
        <p:txBody>
          <a:bodyPr wrap="square" lIns="0" tIns="0" rIns="0" bIns="0" rtlCol="0" anchor="ctr"/>
          <a:lstStyle/>
          <a:p>
            <a:pPr indent="0" marL="0">
              <a:buNone/>
            </a:pPr>
            <a:r>
              <a:rPr lang="en-US" sz="1000" dirty="0">
                <a:solidFill>
                  <a:srgbClr val="1B3A6B"/>
                </a:solidFill>
              </a:rPr>
              <a:t>Long European Call on FTSE 100  |  £5m Notional  |  1yr  |  ATM  |  Delta 0.52  |  Premium £420k  |  AA Bank Counterparty  |  Bilateral</a:t>
            </a:r>
            <a:endParaRPr lang="en-US" sz="1000" dirty="0"/>
          </a:p>
        </p:txBody>
      </p:sp>
      <p:sp>
        <p:nvSpPr>
          <p:cNvPr id="8" name="Shape 6"/>
          <p:cNvSpPr/>
          <p:nvPr/>
        </p:nvSpPr>
        <p:spPr>
          <a:xfrm>
            <a:off x="256032"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56032" y="1325880"/>
            <a:ext cx="2057400" cy="475488"/>
          </a:xfrm>
          <a:prstGeom prst="rect">
            <a:avLst/>
          </a:prstGeom>
          <a:solidFill>
            <a:srgbClr val="8899AA"/>
          </a:solidFill>
          <a:ln/>
        </p:spPr>
      </p:sp>
      <p:sp>
        <p:nvSpPr>
          <p:cNvPr id="10" name="Text 8"/>
          <p:cNvSpPr/>
          <p:nvPr/>
        </p:nvSpPr>
        <p:spPr>
          <a:xfrm>
            <a:off x="329184"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a:t>
            </a:r>
            <a:endParaRPr lang="en-US" sz="1100" dirty="0"/>
          </a:p>
        </p:txBody>
      </p:sp>
      <p:sp>
        <p:nvSpPr>
          <p:cNvPr id="11" name="Text 9"/>
          <p:cNvSpPr/>
          <p:nvPr/>
        </p:nvSpPr>
        <p:spPr>
          <a:xfrm>
            <a:off x="329184"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Baseline</a:t>
            </a:r>
            <a:endParaRPr lang="en-US" sz="850" dirty="0"/>
          </a:p>
        </p:txBody>
      </p:sp>
      <p:sp>
        <p:nvSpPr>
          <p:cNvPr id="12" name="Text 10"/>
          <p:cNvSpPr/>
          <p:nvPr/>
        </p:nvSpPr>
        <p:spPr>
          <a:xfrm>
            <a:off x="329184" y="1847088"/>
            <a:ext cx="1901952" cy="457200"/>
          </a:xfrm>
          <a:prstGeom prst="rect">
            <a:avLst/>
          </a:prstGeom>
          <a:noFill/>
          <a:ln/>
        </p:spPr>
        <p:txBody>
          <a:bodyPr wrap="square" lIns="0" tIns="0" rIns="0" bIns="0" rtlCol="0" anchor="ctr"/>
          <a:lstStyle/>
          <a:p>
            <a:pPr indent="0" marL="0">
              <a:buNone/>
            </a:pPr>
            <a:r>
              <a:rPr lang="en-US" sz="2200" b="1" dirty="0">
                <a:solidFill>
                  <a:srgbClr val="8899AA"/>
                </a:solidFill>
              </a:rPr>
              <a:t>£6,720</a:t>
            </a:r>
            <a:endParaRPr lang="en-US" sz="2200" dirty="0"/>
          </a:p>
        </p:txBody>
      </p:sp>
      <p:sp>
        <p:nvSpPr>
          <p:cNvPr id="13" name="Text 11"/>
          <p:cNvSpPr/>
          <p:nvPr/>
        </p:nvSpPr>
        <p:spPr>
          <a:xfrm>
            <a:off x="329184"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CEM</a:t>
            </a:r>
            <a:endParaRPr lang="en-US" sz="900" dirty="0"/>
          </a:p>
        </p:txBody>
      </p:sp>
      <p:sp>
        <p:nvSpPr>
          <p:cNvPr id="14" name="Text 12"/>
          <p:cNvSpPr/>
          <p:nvPr/>
        </p:nvSpPr>
        <p:spPr>
          <a:xfrm>
            <a:off x="347472"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Premium £420k = CRE. OECD bank = 20% RW.</a:t>
            </a:r>
            <a:endParaRPr lang="en-US" sz="950" dirty="0"/>
          </a:p>
          <a:p>
            <a:pPr indent="0" marL="0">
              <a:buNone/>
            </a:pPr>
            <a:r>
              <a:rPr lang="en-US" sz="950" dirty="0">
                <a:solidFill>
                  <a:srgbClr val="1A1A2E"/>
                </a:solidFill>
              </a:rPr>
              <a:t>NO market risk capital.</a:t>
            </a:r>
            <a:endParaRPr lang="en-US" sz="950" dirty="0"/>
          </a:p>
          <a:p>
            <a:pPr indent="0" marL="0">
              <a:buNone/>
            </a:pPr>
            <a:r>
              <a:rPr lang="en-US" sz="950" dirty="0">
                <a:solidFill>
                  <a:srgbClr val="1A1A2E"/>
                </a:solidFill>
              </a:rPr>
              <a:t>Grotesquely underestimates risk.</a:t>
            </a:r>
            <a:endParaRPr lang="en-US" sz="950" dirty="0"/>
          </a:p>
        </p:txBody>
      </p:sp>
      <p:sp>
        <p:nvSpPr>
          <p:cNvPr id="15" name="Shape 13"/>
          <p:cNvSpPr/>
          <p:nvPr/>
        </p:nvSpPr>
        <p:spPr>
          <a:xfrm>
            <a:off x="2432304"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6" name="Shape 14"/>
          <p:cNvSpPr/>
          <p:nvPr/>
        </p:nvSpPr>
        <p:spPr>
          <a:xfrm>
            <a:off x="2432304" y="1325880"/>
            <a:ext cx="2057400" cy="475488"/>
          </a:xfrm>
          <a:prstGeom prst="rect">
            <a:avLst/>
          </a:prstGeom>
          <a:solidFill>
            <a:srgbClr val="0E6B8A"/>
          </a:solidFill>
          <a:ln/>
        </p:spPr>
      </p:sp>
      <p:sp>
        <p:nvSpPr>
          <p:cNvPr id="17" name="Text 15"/>
          <p:cNvSpPr/>
          <p:nvPr/>
        </p:nvSpPr>
        <p:spPr>
          <a:xfrm>
            <a:off x="2505456"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II</a:t>
            </a:r>
            <a:endParaRPr lang="en-US" sz="1100" dirty="0"/>
          </a:p>
        </p:txBody>
      </p:sp>
      <p:sp>
        <p:nvSpPr>
          <p:cNvPr id="18" name="Text 16"/>
          <p:cNvSpPr/>
          <p:nvPr/>
        </p:nvSpPr>
        <p:spPr>
          <a:xfrm>
            <a:off x="2505456"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Large increase</a:t>
            </a:r>
            <a:endParaRPr lang="en-US" sz="850" dirty="0"/>
          </a:p>
        </p:txBody>
      </p:sp>
      <p:sp>
        <p:nvSpPr>
          <p:cNvPr id="19" name="Text 17"/>
          <p:cNvSpPr/>
          <p:nvPr/>
        </p:nvSpPr>
        <p:spPr>
          <a:xfrm>
            <a:off x="2505456" y="1847088"/>
            <a:ext cx="1901952" cy="457200"/>
          </a:xfrm>
          <a:prstGeom prst="rect">
            <a:avLst/>
          </a:prstGeom>
          <a:noFill/>
          <a:ln/>
        </p:spPr>
        <p:txBody>
          <a:bodyPr wrap="square" lIns="0" tIns="0" rIns="0" bIns="0" rtlCol="0" anchor="ctr"/>
          <a:lstStyle/>
          <a:p>
            <a:pPr indent="0" marL="0">
              <a:buNone/>
            </a:pPr>
            <a:r>
              <a:rPr lang="en-US" sz="2200" b="1" dirty="0">
                <a:solidFill>
                  <a:srgbClr val="0E6B8A"/>
                </a:solidFill>
              </a:rPr>
              <a:t>£215,680</a:t>
            </a:r>
            <a:endParaRPr lang="en-US" sz="2200" dirty="0"/>
          </a:p>
        </p:txBody>
      </p:sp>
      <p:sp>
        <p:nvSpPr>
          <p:cNvPr id="20" name="Text 18"/>
          <p:cNvSpPr/>
          <p:nvPr/>
        </p:nvSpPr>
        <p:spPr>
          <a:xfrm>
            <a:off x="2505456"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SA Market Risk</a:t>
            </a:r>
            <a:endParaRPr lang="en-US" sz="900" dirty="0"/>
          </a:p>
        </p:txBody>
      </p:sp>
      <p:sp>
        <p:nvSpPr>
          <p:cNvPr id="21" name="Text 19"/>
          <p:cNvSpPr/>
          <p:nvPr/>
        </p:nvSpPr>
        <p:spPr>
          <a:xfrm>
            <a:off x="2523744"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CCR £7,680 (AA bank 20%).</a:t>
            </a:r>
            <a:endParaRPr lang="en-US" sz="950" dirty="0"/>
          </a:p>
          <a:p>
            <a:pPr indent="0" marL="0">
              <a:buNone/>
            </a:pPr>
            <a:r>
              <a:rPr lang="en-US" sz="950" dirty="0">
                <a:solidFill>
                  <a:srgbClr val="1A1A2E"/>
                </a:solidFill>
              </a:rPr>
              <a:t>SA market risk: 8% × delta-equiv £2.6m = £208,000.</a:t>
            </a:r>
            <a:endParaRPr lang="en-US" sz="950" dirty="0"/>
          </a:p>
          <a:p>
            <a:pPr indent="0" marL="0">
              <a:buNone/>
            </a:pPr>
            <a:r>
              <a:rPr lang="en-US" sz="950" dirty="0">
                <a:solidFill>
                  <a:srgbClr val="1A1A2E"/>
                </a:solidFill>
              </a:rPr>
              <a:t>0% specific risk for index (corrected).</a:t>
            </a:r>
            <a:endParaRPr lang="en-US" sz="950" dirty="0"/>
          </a:p>
        </p:txBody>
      </p:sp>
      <p:sp>
        <p:nvSpPr>
          <p:cNvPr id="22" name="Shape 20"/>
          <p:cNvSpPr/>
          <p:nvPr/>
        </p:nvSpPr>
        <p:spPr>
          <a:xfrm>
            <a:off x="4608576"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3" name="Shape 21"/>
          <p:cNvSpPr/>
          <p:nvPr/>
        </p:nvSpPr>
        <p:spPr>
          <a:xfrm>
            <a:off x="4608576" y="1325880"/>
            <a:ext cx="2057400" cy="475488"/>
          </a:xfrm>
          <a:prstGeom prst="rect">
            <a:avLst/>
          </a:prstGeom>
          <a:solidFill>
            <a:srgbClr val="1B3A6B"/>
          </a:solidFill>
          <a:ln/>
        </p:spPr>
      </p:sp>
      <p:sp>
        <p:nvSpPr>
          <p:cNvPr id="24" name="Text 22"/>
          <p:cNvSpPr/>
          <p:nvPr/>
        </p:nvSpPr>
        <p:spPr>
          <a:xfrm>
            <a:off x="4681728"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III</a:t>
            </a:r>
            <a:endParaRPr lang="en-US" sz="1100" dirty="0"/>
          </a:p>
        </p:txBody>
      </p:sp>
      <p:sp>
        <p:nvSpPr>
          <p:cNvPr id="25" name="Text 23"/>
          <p:cNvSpPr/>
          <p:nvPr/>
        </p:nvSpPr>
        <p:spPr>
          <a:xfrm>
            <a:off x="4681728"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+47% vs II</a:t>
            </a:r>
            <a:endParaRPr lang="en-US" sz="850" dirty="0"/>
          </a:p>
        </p:txBody>
      </p:sp>
      <p:sp>
        <p:nvSpPr>
          <p:cNvPr id="26" name="Text 24"/>
          <p:cNvSpPr/>
          <p:nvPr/>
        </p:nvSpPr>
        <p:spPr>
          <a:xfrm>
            <a:off x="4681728" y="1847088"/>
            <a:ext cx="1901952" cy="457200"/>
          </a:xfrm>
          <a:prstGeom prst="rect">
            <a:avLst/>
          </a:prstGeom>
          <a:noFill/>
          <a:ln/>
        </p:spPr>
        <p:txBody>
          <a:bodyPr wrap="square" lIns="0" tIns="0" rIns="0" bIns="0" rtlCol="0" anchor="ctr"/>
          <a:lstStyle/>
          <a:p>
            <a:pPr indent="0" marL="0">
              <a:buNone/>
            </a:pPr>
            <a:r>
              <a:rPr lang="en-US" sz="2200" b="1" dirty="0">
                <a:solidFill>
                  <a:srgbClr val="1B3A6B"/>
                </a:solidFill>
              </a:rPr>
              <a:t>£317,680</a:t>
            </a:r>
            <a:endParaRPr lang="en-US" sz="2200" dirty="0"/>
          </a:p>
        </p:txBody>
      </p:sp>
      <p:sp>
        <p:nvSpPr>
          <p:cNvPr id="27" name="Text 25"/>
          <p:cNvSpPr/>
          <p:nvPr/>
        </p:nvSpPr>
        <p:spPr>
          <a:xfrm>
            <a:off x="4681728"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SVaR + CCR</a:t>
            </a:r>
            <a:endParaRPr lang="en-US" sz="900" dirty="0"/>
          </a:p>
        </p:txBody>
      </p:sp>
      <p:sp>
        <p:nvSpPr>
          <p:cNvPr id="28" name="Text 26"/>
          <p:cNvSpPr/>
          <p:nvPr/>
        </p:nvSpPr>
        <p:spPr>
          <a:xfrm>
            <a:off x="4700016"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CCR + CVA ~£18,000.</a:t>
            </a:r>
            <a:endParaRPr lang="en-US" sz="950" dirty="0"/>
          </a:p>
          <a:p>
            <a:pPr indent="0" marL="0">
              <a:buNone/>
            </a:pPr>
            <a:r>
              <a:rPr lang="en-US" sz="950" dirty="0">
                <a:solidFill>
                  <a:srgbClr val="1A1A2E"/>
                </a:solidFill>
              </a:rPr>
              <a:t>SVaR approximately doubles market risk.</a:t>
            </a:r>
            <a:endParaRPr lang="en-US" sz="950" dirty="0"/>
          </a:p>
          <a:p>
            <a:pPr indent="0" marL="0">
              <a:buNone/>
            </a:pPr>
            <a:r>
              <a:rPr lang="en-US" sz="950" dirty="0">
                <a:solidFill>
                  <a:srgbClr val="1A1A2E"/>
                </a:solidFill>
              </a:rPr>
              <a:t>Total market risk ~£300,000.</a:t>
            </a:r>
            <a:endParaRPr lang="en-US" sz="950" dirty="0"/>
          </a:p>
        </p:txBody>
      </p:sp>
      <p:sp>
        <p:nvSpPr>
          <p:cNvPr id="29" name="Shape 27"/>
          <p:cNvSpPr/>
          <p:nvPr/>
        </p:nvSpPr>
        <p:spPr>
          <a:xfrm>
            <a:off x="6784848"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0" name="Shape 28"/>
          <p:cNvSpPr/>
          <p:nvPr/>
        </p:nvSpPr>
        <p:spPr>
          <a:xfrm>
            <a:off x="6784848" y="1325880"/>
            <a:ext cx="2057400" cy="475488"/>
          </a:xfrm>
          <a:prstGeom prst="rect">
            <a:avLst/>
          </a:prstGeom>
          <a:solidFill>
            <a:srgbClr val="C9A84C"/>
          </a:solidFill>
          <a:ln/>
        </p:spPr>
      </p:sp>
      <p:sp>
        <p:nvSpPr>
          <p:cNvPr id="31" name="Text 29"/>
          <p:cNvSpPr/>
          <p:nvPr/>
        </p:nvSpPr>
        <p:spPr>
          <a:xfrm>
            <a:off x="6858000"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IV</a:t>
            </a:r>
            <a:endParaRPr lang="en-US" sz="1100" dirty="0"/>
          </a:p>
        </p:txBody>
      </p:sp>
      <p:sp>
        <p:nvSpPr>
          <p:cNvPr id="32" name="Text 30"/>
          <p:cNvSpPr/>
          <p:nvPr/>
        </p:nvSpPr>
        <p:spPr>
          <a:xfrm>
            <a:off x="6858000"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FRTB-driven</a:t>
            </a:r>
            <a:endParaRPr lang="en-US" sz="850" dirty="0"/>
          </a:p>
        </p:txBody>
      </p:sp>
      <p:sp>
        <p:nvSpPr>
          <p:cNvPr id="33" name="Text 31"/>
          <p:cNvSpPr/>
          <p:nvPr/>
        </p:nvSpPr>
        <p:spPr>
          <a:xfrm>
            <a:off x="6858000" y="1847088"/>
            <a:ext cx="1901952" cy="457200"/>
          </a:xfrm>
          <a:prstGeom prst="rect">
            <a:avLst/>
          </a:prstGeom>
          <a:noFill/>
          <a:ln/>
        </p:spPr>
        <p:txBody>
          <a:bodyPr wrap="square" lIns="0" tIns="0" rIns="0" bIns="0" rtlCol="0" anchor="ctr"/>
          <a:lstStyle/>
          <a:p>
            <a:pPr indent="0" marL="0">
              <a:buNone/>
            </a:pPr>
            <a:r>
              <a:rPr lang="en-US" sz="1600" b="1" dirty="0">
                <a:solidFill>
                  <a:srgbClr val="C9A84C"/>
                </a:solidFill>
              </a:rPr>
              <a:t>£290,000+</a:t>
            </a:r>
            <a:endParaRPr lang="en-US" sz="1600" dirty="0"/>
          </a:p>
        </p:txBody>
      </p:sp>
      <p:sp>
        <p:nvSpPr>
          <p:cNvPr id="34" name="Text 32"/>
          <p:cNvSpPr/>
          <p:nvPr/>
        </p:nvSpPr>
        <p:spPr>
          <a:xfrm>
            <a:off x="6858000"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FRTB + NMRF</a:t>
            </a:r>
            <a:endParaRPr lang="en-US" sz="900" dirty="0"/>
          </a:p>
        </p:txBody>
      </p:sp>
      <p:sp>
        <p:nvSpPr>
          <p:cNvPr id="35" name="Text 33"/>
          <p:cNvSpPr/>
          <p:nvPr/>
        </p:nvSpPr>
        <p:spPr>
          <a:xfrm>
            <a:off x="6876288"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FRTB SA: delta 25% RW + vega 28% RW + curvature ~£380k.</a:t>
            </a:r>
            <a:endParaRPr lang="en-US" sz="950" dirty="0"/>
          </a:p>
          <a:p>
            <a:pPr indent="0" marL="0">
              <a:buNone/>
            </a:pPr>
            <a:r>
              <a:rPr lang="en-US" sz="950" dirty="0">
                <a:solidFill>
                  <a:srgbClr val="1A1A2E"/>
                </a:solidFill>
              </a:rPr>
              <a:t>FRTB IMA: ES 97.5%, 20d LH ~£280k + NMRF.</a:t>
            </a:r>
            <a:endParaRPr lang="en-US" sz="950" dirty="0"/>
          </a:p>
          <a:p>
            <a:pPr indent="0" marL="0">
              <a:buNone/>
            </a:pPr>
            <a:r>
              <a:rPr lang="en-US" sz="950" dirty="0">
                <a:solidFill>
                  <a:srgbClr val="1A1A2E"/>
                </a:solidFill>
              </a:rPr>
              <a:t>Floor = 72.5% × SA.</a:t>
            </a:r>
            <a:endParaRPr lang="en-US" sz="950" dirty="0"/>
          </a:p>
        </p:txBody>
      </p:sp>
      <p:sp>
        <p:nvSpPr>
          <p:cNvPr id="36" name="Shape 34"/>
          <p:cNvSpPr/>
          <p:nvPr/>
        </p:nvSpPr>
        <p:spPr>
          <a:xfrm>
            <a:off x="365760" y="4663440"/>
            <a:ext cx="8412480" cy="594360"/>
          </a:xfrm>
          <a:prstGeom prst="rect">
            <a:avLst/>
          </a:prstGeom>
          <a:solidFill>
            <a:srgbClr val="D6EAF8"/>
          </a:solidFill>
          <a:ln/>
        </p:spPr>
      </p:sp>
      <p:sp>
        <p:nvSpPr>
          <p:cNvPr id="37" name="Shape 35"/>
          <p:cNvSpPr/>
          <p:nvPr/>
        </p:nvSpPr>
        <p:spPr>
          <a:xfrm>
            <a:off x="365760" y="4663440"/>
            <a:ext cx="1005840" cy="594360"/>
          </a:xfrm>
          <a:prstGeom prst="rect">
            <a:avLst/>
          </a:prstGeom>
          <a:solidFill>
            <a:srgbClr val="8B0000"/>
          </a:solidFill>
          <a:ln/>
        </p:spPr>
      </p:sp>
      <p:sp>
        <p:nvSpPr>
          <p:cNvPr id="38" name="Text 36"/>
          <p:cNvSpPr/>
          <p:nvPr/>
        </p:nvSpPr>
        <p:spPr>
          <a:xfrm>
            <a:off x="365760" y="4663440"/>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CORRECTION</a:t>
            </a:r>
            <a:endParaRPr lang="en-US" sz="900" dirty="0"/>
          </a:p>
        </p:txBody>
      </p:sp>
      <p:sp>
        <p:nvSpPr>
          <p:cNvPr id="39" name="Text 37"/>
          <p:cNvSpPr/>
          <p:nvPr/>
        </p:nvSpPr>
        <p:spPr>
          <a:xfrm>
            <a:off x="1417320" y="4663440"/>
            <a:ext cx="7223760" cy="594360"/>
          </a:xfrm>
          <a:prstGeom prst="rect">
            <a:avLst/>
          </a:prstGeom>
          <a:noFill/>
          <a:ln/>
        </p:spPr>
        <p:txBody>
          <a:bodyPr wrap="square" lIns="0" tIns="0" rIns="0" bIns="0" rtlCol="0" anchor="ctr"/>
          <a:lstStyle/>
          <a:p>
            <a:pPr indent="0" marL="0">
              <a:buNone/>
            </a:pPr>
            <a:r>
              <a:rPr lang="en-US" sz="1000" dirty="0">
                <a:solidFill>
                  <a:srgbClr val="1A1A2E"/>
                </a:solidFill>
              </a:rPr>
              <a:t>Prior version incorrectly applied 8% specific risk to FTSE 100 index. Corrected: diversified index positions carry 0% specific risk under SA. Only the 8% general market risk charge applies to the delta-equivalent position.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Example 3: Interest Rate Swap</a:t>
            </a:r>
            <a:endParaRPr lang="en-US" sz="900" dirty="0"/>
          </a:p>
        </p:txBody>
      </p:sp>
      <p:sp>
        <p:nvSpPr>
          <p:cNvPr id="4" name="Shape 2"/>
          <p:cNvSpPr/>
          <p:nvPr/>
        </p:nvSpPr>
        <p:spPr>
          <a:xfrm>
            <a:off x="0" y="0"/>
            <a:ext cx="9144000" cy="658368"/>
          </a:xfrm>
          <a:prstGeom prst="rect">
            <a:avLst/>
          </a:prstGeom>
          <a:solidFill>
            <a:srgbClr val="0E6B8A"/>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Example 3: Interest Rate Swap — Fixed/Float</a:t>
            </a:r>
            <a:endParaRPr lang="en-US" sz="2200" dirty="0"/>
          </a:p>
        </p:txBody>
      </p:sp>
      <p:sp>
        <p:nvSpPr>
          <p:cNvPr id="6" name="Shape 4"/>
          <p:cNvSpPr/>
          <p:nvPr/>
        </p:nvSpPr>
        <p:spPr>
          <a:xfrm>
            <a:off x="274320" y="749808"/>
            <a:ext cx="8595360" cy="475488"/>
          </a:xfrm>
          <a:prstGeom prst="rect">
            <a:avLst/>
          </a:prstGeom>
          <a:solidFill>
            <a:srgbClr val="D6EAF8"/>
          </a:solidFill>
          <a:ln/>
        </p:spPr>
      </p:sp>
      <p:sp>
        <p:nvSpPr>
          <p:cNvPr id="7" name="Text 5"/>
          <p:cNvSpPr/>
          <p:nvPr/>
        </p:nvSpPr>
        <p:spPr>
          <a:xfrm>
            <a:off x="411480" y="749808"/>
            <a:ext cx="8321040" cy="475488"/>
          </a:xfrm>
          <a:prstGeom prst="rect">
            <a:avLst/>
          </a:prstGeom>
          <a:noFill/>
          <a:ln/>
        </p:spPr>
        <p:txBody>
          <a:bodyPr wrap="square" lIns="0" tIns="0" rIns="0" bIns="0" rtlCol="0" anchor="ctr"/>
          <a:lstStyle/>
          <a:p>
            <a:pPr indent="0" marL="0">
              <a:buNone/>
            </a:pPr>
            <a:r>
              <a:rPr lang="en-US" sz="1000" dirty="0">
                <a:solidFill>
                  <a:srgbClr val="1B3A6B"/>
                </a:solidFill>
              </a:rPr>
              <a:t>Pay Fixed 4.5% / Receive 6M EURIBOR  |  €20m  |  5-Year  |  A-rated French Corporate  |  Bilateral, No CCP  |  MTM: +€350,000</a:t>
            </a:r>
            <a:endParaRPr lang="en-US" sz="1000" dirty="0"/>
          </a:p>
        </p:txBody>
      </p:sp>
      <p:graphicFrame>
        <p:nvGraphicFramePr>
          <p:cNvPr id="8" name="Chart 0" descr=""/>
          <p:cNvGraphicFramePr/>
          <p:nvPr/>
        </p:nvGraphicFramePr>
        <p:xfrm>
          <a:off x="274320" y="1325880"/>
          <a:ext cx="4846320" cy="338328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349240" y="1325880"/>
            <a:ext cx="3520440" cy="1664208"/>
          </a:xfrm>
          <a:prstGeom prst="rect">
            <a:avLst/>
          </a:prstGeom>
          <a:solidFill>
            <a:srgbClr val="1B3A6B"/>
          </a:solidFill>
          <a:ln/>
          <a:effectLst>
            <a:outerShdw sx="100000" sy="100000" kx="0" ky="0" algn="bl" rotWithShape="0" blurRad="101600" dist="38100" dir="8100000">
              <a:srgbClr val="000000">
                <a:alpha val="18000"/>
              </a:srgbClr>
            </a:outerShdw>
          </a:effectLst>
        </p:spPr>
      </p:sp>
      <p:sp>
        <p:nvSpPr>
          <p:cNvPr id="10" name="Text 7"/>
          <p:cNvSpPr/>
          <p:nvPr/>
        </p:nvSpPr>
        <p:spPr>
          <a:xfrm>
            <a:off x="5440680" y="1371600"/>
            <a:ext cx="3337560" cy="292608"/>
          </a:xfrm>
          <a:prstGeom prst="rect">
            <a:avLst/>
          </a:prstGeom>
          <a:noFill/>
          <a:ln/>
        </p:spPr>
        <p:txBody>
          <a:bodyPr wrap="square" lIns="0" tIns="0" rIns="0" bIns="0" rtlCol="0" anchor="ctr"/>
          <a:lstStyle/>
          <a:p>
            <a:pPr indent="0" marL="0">
              <a:buNone/>
            </a:pPr>
            <a:r>
              <a:rPr lang="en-US" sz="1100" b="1" dirty="0">
                <a:solidFill>
                  <a:srgbClr val="C9A84C"/>
                </a:solidFill>
              </a:rPr>
              <a:t>THE CCP INCENTIVE</a:t>
            </a:r>
            <a:endParaRPr lang="en-US" sz="1100" dirty="0"/>
          </a:p>
        </p:txBody>
      </p:sp>
      <p:sp>
        <p:nvSpPr>
          <p:cNvPr id="11" name="Text 8"/>
          <p:cNvSpPr/>
          <p:nvPr/>
        </p:nvSpPr>
        <p:spPr>
          <a:xfrm>
            <a:off x="5440680" y="1719072"/>
            <a:ext cx="3337560" cy="1188720"/>
          </a:xfrm>
          <a:prstGeom prst="rect">
            <a:avLst/>
          </a:prstGeom>
          <a:noFill/>
          <a:ln/>
        </p:spPr>
        <p:txBody>
          <a:bodyPr wrap="square" lIns="0" tIns="0" rIns="0" bIns="0" rtlCol="0" anchor="t"/>
          <a:lstStyle/>
          <a:p>
            <a:pPr indent="0" marL="0">
              <a:buNone/>
            </a:pPr>
            <a:r>
              <a:rPr lang="en-US" sz="1000" dirty="0">
                <a:solidFill>
                  <a:srgbClr val="D6EAF8"/>
                </a:solidFill>
              </a:rPr>
              <a:t>Bilateral IRS capital (Basel III):</a:t>
            </a:r>
            <a:pPr indent="0" marL="0">
              <a:buNone/>
            </a:pPr>
            <a:r>
              <a:rPr lang="en-US" sz="1300" b="1" dirty="0">
                <a:solidFill>
                  <a:srgbClr val="FF6666"/>
                </a:solidFill>
              </a:rPr>
              <a:t>  €40,000</a:t>
            </a:r>
            <a:pPr indent="0" marL="0">
              <a:buNone/>
            </a:pPr>
            <a:endParaRPr lang="en-US" sz="1000" dirty="0"/>
          </a:p>
          <a:p>
            <a:pPr indent="0" marL="0">
              <a:buNone/>
            </a:pPr>
            <a:r>
              <a:rPr lang="en-US" sz="1000" dirty="0">
                <a:solidFill>
                  <a:srgbClr val="D6EAF8"/>
                </a:solidFill>
              </a:rPr>
              <a:t>Cleared via LCH SwapClear:</a:t>
            </a:r>
            <a:endParaRPr lang="en-US" sz="1000" dirty="0"/>
          </a:p>
          <a:p>
            <a:pPr indent="0" marL="0">
              <a:buNone/>
            </a:pPr>
            <a:r>
              <a:rPr lang="en-US" sz="1300" b="1" dirty="0">
                <a:solidFill>
                  <a:srgbClr val="00DD88"/>
                </a:solidFill>
              </a:rPr>
              <a:t>  &lt; €1,000</a:t>
            </a:r>
            <a:endParaRPr lang="en-US" sz="1000" dirty="0"/>
          </a:p>
        </p:txBody>
      </p:sp>
      <p:sp>
        <p:nvSpPr>
          <p:cNvPr id="12" name="Shape 9"/>
          <p:cNvSpPr/>
          <p:nvPr/>
        </p:nvSpPr>
        <p:spPr>
          <a:xfrm>
            <a:off x="5349240" y="2990088"/>
            <a:ext cx="3520440" cy="17190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Text 10"/>
          <p:cNvSpPr/>
          <p:nvPr/>
        </p:nvSpPr>
        <p:spPr>
          <a:xfrm>
            <a:off x="5440680" y="3035808"/>
            <a:ext cx="3337560" cy="292608"/>
          </a:xfrm>
          <a:prstGeom prst="rect">
            <a:avLst/>
          </a:prstGeom>
          <a:noFill/>
          <a:ln/>
        </p:spPr>
        <p:txBody>
          <a:bodyPr wrap="square" lIns="0" tIns="0" rIns="0" bIns="0" rtlCol="0" anchor="ctr"/>
          <a:lstStyle/>
          <a:p>
            <a:pPr indent="0" marL="0">
              <a:buNone/>
            </a:pPr>
            <a:r>
              <a:rPr lang="en-US" sz="1000" b="1" dirty="0">
                <a:solidFill>
                  <a:srgbClr val="8B0000"/>
                </a:solidFill>
              </a:rPr>
              <a:t>SA-CCR Duration Factor (Basel IV)</a:t>
            </a:r>
            <a:endParaRPr lang="en-US" sz="1000" dirty="0"/>
          </a:p>
        </p:txBody>
      </p:sp>
      <p:sp>
        <p:nvSpPr>
          <p:cNvPr id="14" name="Text 11"/>
          <p:cNvSpPr/>
          <p:nvPr/>
        </p:nvSpPr>
        <p:spPr>
          <a:xfrm>
            <a:off x="5440680" y="3364992"/>
            <a:ext cx="3337560" cy="1280160"/>
          </a:xfrm>
          <a:prstGeom prst="rect">
            <a:avLst/>
          </a:prstGeom>
          <a:noFill/>
          <a:ln/>
        </p:spPr>
        <p:txBody>
          <a:bodyPr wrap="square" lIns="0" tIns="0" rIns="0" bIns="0" rtlCol="0" anchor="t"/>
          <a:lstStyle/>
          <a:p>
            <a:pPr indent="0" marL="0">
              <a:buNone/>
            </a:pPr>
            <a:r>
              <a:rPr lang="en-US" sz="950" dirty="0">
                <a:solidFill>
                  <a:srgbClr val="1A1A2E"/>
                </a:solidFill>
              </a:rPr>
              <a:t>SD = (exp(−0.05×0) − exp(−0.05×5)) / 0.05 = 4.42yr</a:t>
            </a:r>
            <a:endParaRPr lang="en-US" sz="950" dirty="0"/>
          </a:p>
          <a:p>
            <a:pPr indent="0" marL="0">
              <a:buNone/>
            </a:pPr>
            <a:r>
              <a:rPr lang="en-US" sz="950" dirty="0">
                <a:solidFill>
                  <a:srgbClr val="1A1A2E"/>
                </a:solidFill>
              </a:rPr>
              <a:t>Adj. Notional = €20m × 4.42 = €88.4m</a:t>
            </a:r>
            <a:endParaRPr lang="en-US" sz="950" dirty="0"/>
          </a:p>
          <a:p>
            <a:pPr indent="0" marL="0">
              <a:buNone/>
            </a:pPr>
            <a:r>
              <a:rPr lang="en-US" sz="950" dirty="0">
                <a:solidFill>
                  <a:srgbClr val="1A1A2E"/>
                </a:solidFill>
              </a:rPr>
              <a:t>PFE = 0.5% × €88.4m = €442,000</a:t>
            </a:r>
            <a:endParaRPr lang="en-US" sz="950" dirty="0"/>
          </a:p>
          <a:p>
            <a:pPr indent="0" marL="0">
              <a:buNone/>
            </a:pPr>
            <a:r>
              <a:rPr lang="en-US" sz="950" dirty="0">
                <a:solidFill>
                  <a:srgbClr val="1A1A2E"/>
                </a:solidFill>
              </a:rPr>
              <a:t>EAD = 1.4 × (€350k + €442k) = €1.109m</a:t>
            </a:r>
            <a:endParaRPr lang="en-US" sz="950" dirty="0"/>
          </a:p>
        </p:txBody>
      </p:sp>
      <p:sp>
        <p:nvSpPr>
          <p:cNvPr id="15" name="Shape 12"/>
          <p:cNvSpPr/>
          <p:nvPr/>
        </p:nvSpPr>
        <p:spPr>
          <a:xfrm>
            <a:off x="365760" y="4663440"/>
            <a:ext cx="8412480" cy="594360"/>
          </a:xfrm>
          <a:prstGeom prst="rect">
            <a:avLst/>
          </a:prstGeom>
          <a:solidFill>
            <a:srgbClr val="D6EAF8"/>
          </a:solidFill>
          <a:ln/>
        </p:spPr>
      </p:sp>
      <p:sp>
        <p:nvSpPr>
          <p:cNvPr id="16" name="Shape 13"/>
          <p:cNvSpPr/>
          <p:nvPr/>
        </p:nvSpPr>
        <p:spPr>
          <a:xfrm>
            <a:off x="365760" y="4663440"/>
            <a:ext cx="1005840" cy="594360"/>
          </a:xfrm>
          <a:prstGeom prst="rect">
            <a:avLst/>
          </a:prstGeom>
          <a:solidFill>
            <a:srgbClr val="1A6B3A"/>
          </a:solidFill>
          <a:ln/>
        </p:spPr>
      </p:sp>
      <p:sp>
        <p:nvSpPr>
          <p:cNvPr id="17" name="Text 14"/>
          <p:cNvSpPr/>
          <p:nvPr/>
        </p:nvSpPr>
        <p:spPr>
          <a:xfrm>
            <a:off x="365760" y="4663440"/>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CCP IMPACT</a:t>
            </a:r>
            <a:endParaRPr lang="en-US" sz="900" dirty="0"/>
          </a:p>
        </p:txBody>
      </p:sp>
      <p:sp>
        <p:nvSpPr>
          <p:cNvPr id="18" name="Text 15"/>
          <p:cNvSpPr/>
          <p:nvPr/>
        </p:nvSpPr>
        <p:spPr>
          <a:xfrm>
            <a:off x="1417320" y="4663440"/>
            <a:ext cx="7223760" cy="594360"/>
          </a:xfrm>
          <a:prstGeom prst="rect">
            <a:avLst/>
          </a:prstGeom>
          <a:noFill/>
          <a:ln/>
        </p:spPr>
        <p:txBody>
          <a:bodyPr wrap="square" lIns="0" tIns="0" rIns="0" bIns="0" rtlCol="0" anchor="ctr"/>
          <a:lstStyle/>
          <a:p>
            <a:pPr indent="0" marL="0">
              <a:buNone/>
            </a:pPr>
            <a:r>
              <a:rPr lang="en-US" sz="1000" dirty="0">
                <a:solidFill>
                  <a:srgbClr val="1A1A2E"/>
                </a:solidFill>
              </a:rPr>
              <a:t>LCH SwapClear cleared IRS: ~$100tn (2009) → &gt;$400tn (2020). The 40–50× capital differential between bilateral and cleared IRS is the primary structural driver of central clearing adoption.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Example 4: Credit Default Swap</a:t>
            </a:r>
            <a:endParaRPr lang="en-US" sz="900" dirty="0"/>
          </a:p>
        </p:txBody>
      </p:sp>
      <p:sp>
        <p:nvSpPr>
          <p:cNvPr id="4" name="Shape 2"/>
          <p:cNvSpPr/>
          <p:nvPr/>
        </p:nvSpPr>
        <p:spPr>
          <a:xfrm>
            <a:off x="0" y="0"/>
            <a:ext cx="9144000" cy="658368"/>
          </a:xfrm>
          <a:prstGeom prst="rect">
            <a:avLst/>
          </a:prstGeom>
          <a:solidFill>
            <a:srgbClr val="8B0000"/>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Example 4: Credit Default Swap (CDS) — Single Name</a:t>
            </a:r>
            <a:endParaRPr lang="en-US" sz="2200" dirty="0"/>
          </a:p>
        </p:txBody>
      </p:sp>
      <p:sp>
        <p:nvSpPr>
          <p:cNvPr id="6" name="Shape 4"/>
          <p:cNvSpPr/>
          <p:nvPr/>
        </p:nvSpPr>
        <p:spPr>
          <a:xfrm>
            <a:off x="274320" y="749808"/>
            <a:ext cx="8595360" cy="475488"/>
          </a:xfrm>
          <a:prstGeom prst="rect">
            <a:avLst/>
          </a:prstGeom>
          <a:solidFill>
            <a:srgbClr val="D6EAF8"/>
          </a:solidFill>
          <a:ln/>
        </p:spPr>
      </p:sp>
      <p:sp>
        <p:nvSpPr>
          <p:cNvPr id="7" name="Text 5"/>
          <p:cNvSpPr/>
          <p:nvPr/>
        </p:nvSpPr>
        <p:spPr>
          <a:xfrm>
            <a:off x="411480" y="749808"/>
            <a:ext cx="8321040" cy="475488"/>
          </a:xfrm>
          <a:prstGeom prst="rect">
            <a:avLst/>
          </a:prstGeom>
          <a:noFill/>
          <a:ln/>
        </p:spPr>
        <p:txBody>
          <a:bodyPr wrap="square" lIns="0" tIns="0" rIns="0" bIns="0" rtlCol="0" anchor="ctr"/>
          <a:lstStyle/>
          <a:p>
            <a:pPr indent="0" marL="0">
              <a:buNone/>
            </a:pPr>
            <a:r>
              <a:rPr lang="en-US" sz="950" dirty="0">
                <a:solidFill>
                  <a:srgbClr val="1B3A6B"/>
                </a:solidFill>
              </a:rPr>
              <a:t>Bank buys protection on $10m notional  |  5yr  |  Reference: BBB Corporate  |  Premium: 120bps/yr  |  Counterparty: AA Dealer Bank  |  Bilateral</a:t>
            </a:r>
            <a:endParaRPr lang="en-US" sz="950" dirty="0"/>
          </a:p>
        </p:txBody>
      </p:sp>
      <p:sp>
        <p:nvSpPr>
          <p:cNvPr id="8" name="Shape 6"/>
          <p:cNvSpPr/>
          <p:nvPr/>
        </p:nvSpPr>
        <p:spPr>
          <a:xfrm>
            <a:off x="274320" y="1316736"/>
            <a:ext cx="2834640" cy="20848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74320" y="1316736"/>
            <a:ext cx="2834640" cy="347472"/>
          </a:xfrm>
          <a:prstGeom prst="rect">
            <a:avLst/>
          </a:prstGeom>
          <a:solidFill>
            <a:srgbClr val="8B0000"/>
          </a:solidFill>
          <a:ln/>
        </p:spPr>
      </p:sp>
      <p:sp>
        <p:nvSpPr>
          <p:cNvPr id="10" name="Text 8"/>
          <p:cNvSpPr/>
          <p:nvPr/>
        </p:nvSpPr>
        <p:spPr>
          <a:xfrm>
            <a:off x="365760" y="1316736"/>
            <a:ext cx="2651760" cy="347472"/>
          </a:xfrm>
          <a:prstGeom prst="rect">
            <a:avLst/>
          </a:prstGeom>
          <a:noFill/>
          <a:ln/>
        </p:spPr>
        <p:txBody>
          <a:bodyPr wrap="square" lIns="0" tIns="0" rIns="0" bIns="0" rtlCol="0" anchor="ctr"/>
          <a:lstStyle/>
          <a:p>
            <a:pPr indent="0" marL="0">
              <a:buNone/>
            </a:pPr>
            <a:r>
              <a:rPr lang="en-US" sz="1000" b="1" dirty="0">
                <a:solidFill>
                  <a:srgbClr val="FFFFFF"/>
                </a:solidFill>
              </a:rPr>
              <a:t>What is a CDS?</a:t>
            </a:r>
            <a:endParaRPr lang="en-US" sz="1000" dirty="0"/>
          </a:p>
        </p:txBody>
      </p:sp>
      <p:sp>
        <p:nvSpPr>
          <p:cNvPr id="11" name="Text 9"/>
          <p:cNvSpPr/>
          <p:nvPr/>
        </p:nvSpPr>
        <p:spPr>
          <a:xfrm>
            <a:off x="365760" y="1709928"/>
            <a:ext cx="2651760" cy="1627632"/>
          </a:xfrm>
          <a:prstGeom prst="rect">
            <a:avLst/>
          </a:prstGeom>
          <a:noFill/>
          <a:ln/>
        </p:spPr>
        <p:txBody>
          <a:bodyPr wrap="square" lIns="0" tIns="0" rIns="0" bIns="0" rtlCol="0" anchor="t"/>
          <a:lstStyle/>
          <a:p>
            <a:pPr indent="0" marL="0">
              <a:buNone/>
            </a:pPr>
            <a:r>
              <a:rPr lang="en-US" sz="880" dirty="0">
                <a:solidFill>
                  <a:srgbClr val="1A1A2E"/>
                </a:solidFill>
              </a:rPr>
              <a:t>A Credit Default Swap is an insurance-like contract against the default of a reference entity.</a:t>
            </a:r>
            <a:endParaRPr lang="en-US" sz="880" dirty="0"/>
          </a:p>
          <a:p>
            <a:pPr indent="0" marL="0">
              <a:buNone/>
            </a:pPr>
            <a:endParaRPr lang="en-US" sz="880" dirty="0"/>
          </a:p>
          <a:p>
            <a:pPr indent="0" marL="0">
              <a:buNone/>
            </a:pPr>
            <a:r>
              <a:rPr lang="en-US" sz="880" dirty="0">
                <a:solidFill>
                  <a:srgbClr val="1A1A2E"/>
                </a:solidFill>
              </a:rPr>
              <a:t>Protection Buyer pays periodic premium (120bps/yr × $10m = $120,000/yr).</a:t>
            </a:r>
            <a:endParaRPr lang="en-US" sz="880" dirty="0"/>
          </a:p>
          <a:p>
            <a:pPr indent="0" marL="0">
              <a:buNone/>
            </a:pPr>
            <a:r>
              <a:rPr lang="en-US" sz="880" dirty="0">
                <a:solidFill>
                  <a:srgbClr val="1A1A2E"/>
                </a:solidFill>
              </a:rPr>
              <a:t>Protection Seller pays face value minus recovery if the reference entity defaults.</a:t>
            </a:r>
            <a:endParaRPr lang="en-US" sz="880" dirty="0"/>
          </a:p>
          <a:p>
            <a:pPr indent="0" marL="0">
              <a:buNone/>
            </a:pPr>
            <a:endParaRPr lang="en-US" sz="880" dirty="0"/>
          </a:p>
          <a:p>
            <a:pPr indent="0" marL="0">
              <a:buNone/>
            </a:pPr>
            <a:r>
              <a:rPr lang="en-US" sz="880" dirty="0">
                <a:solidFill>
                  <a:srgbClr val="1A1A2E"/>
                </a:solidFill>
              </a:rPr>
              <a:t>The bank is BUYING protection — it has underlying credit exposure to the BBB corporate and wants to hedge it. Counterparty risk now falls on the AA dealer bank.</a:t>
            </a:r>
            <a:endParaRPr lang="en-US" sz="880" dirty="0"/>
          </a:p>
        </p:txBody>
      </p:sp>
      <p:sp>
        <p:nvSpPr>
          <p:cNvPr id="12" name="Shape 10"/>
          <p:cNvSpPr/>
          <p:nvPr/>
        </p:nvSpPr>
        <p:spPr>
          <a:xfrm>
            <a:off x="3337560" y="1316736"/>
            <a:ext cx="1371600" cy="20848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1"/>
          <p:cNvSpPr/>
          <p:nvPr/>
        </p:nvSpPr>
        <p:spPr>
          <a:xfrm>
            <a:off x="3337560" y="1316736"/>
            <a:ext cx="1371600" cy="347472"/>
          </a:xfrm>
          <a:prstGeom prst="rect">
            <a:avLst/>
          </a:prstGeom>
          <a:solidFill>
            <a:srgbClr val="8899AA"/>
          </a:solidFill>
          <a:ln/>
        </p:spPr>
      </p:sp>
      <p:sp>
        <p:nvSpPr>
          <p:cNvPr id="14" name="Text 12"/>
          <p:cNvSpPr/>
          <p:nvPr/>
        </p:nvSpPr>
        <p:spPr>
          <a:xfrm>
            <a:off x="3392424"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a:t>
            </a:r>
            <a:endParaRPr lang="en-US" sz="1000" dirty="0"/>
          </a:p>
        </p:txBody>
      </p:sp>
      <p:sp>
        <p:nvSpPr>
          <p:cNvPr id="15" name="Text 13"/>
          <p:cNvSpPr/>
          <p:nvPr/>
        </p:nvSpPr>
        <p:spPr>
          <a:xfrm>
            <a:off x="3392424" y="1709928"/>
            <a:ext cx="1261872" cy="384048"/>
          </a:xfrm>
          <a:prstGeom prst="rect">
            <a:avLst/>
          </a:prstGeom>
          <a:noFill/>
          <a:ln/>
        </p:spPr>
        <p:txBody>
          <a:bodyPr wrap="square" lIns="0" tIns="0" rIns="0" bIns="0" rtlCol="0" anchor="ctr"/>
          <a:lstStyle/>
          <a:p>
            <a:pPr indent="0" marL="0">
              <a:buNone/>
            </a:pPr>
            <a:r>
              <a:rPr lang="en-US" sz="1600" b="1" dirty="0">
                <a:solidFill>
                  <a:srgbClr val="8899AA"/>
                </a:solidFill>
              </a:rPr>
              <a:t>$8,000</a:t>
            </a:r>
            <a:endParaRPr lang="en-US" sz="1600" dirty="0"/>
          </a:p>
        </p:txBody>
      </p:sp>
      <p:sp>
        <p:nvSpPr>
          <p:cNvPr id="16" name="Text 14"/>
          <p:cNvSpPr/>
          <p:nvPr/>
        </p:nvSpPr>
        <p:spPr>
          <a:xfrm>
            <a:off x="3392424" y="210312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CEM</a:t>
            </a:r>
            <a:endParaRPr lang="en-US" sz="800" dirty="0"/>
          </a:p>
        </p:txBody>
      </p:sp>
      <p:sp>
        <p:nvSpPr>
          <p:cNvPr id="17" name="Text 15"/>
          <p:cNvSpPr/>
          <p:nvPr/>
        </p:nvSpPr>
        <p:spPr>
          <a:xfrm>
            <a:off x="3392424" y="2331720"/>
            <a:ext cx="1261872" cy="1005840"/>
          </a:xfrm>
          <a:prstGeom prst="rect">
            <a:avLst/>
          </a:prstGeom>
          <a:noFill/>
          <a:ln/>
        </p:spPr>
        <p:txBody>
          <a:bodyPr wrap="square" lIns="0" tIns="0" rIns="0" bIns="0" rtlCol="0" anchor="t"/>
          <a:lstStyle/>
          <a:p>
            <a:pPr indent="0" marL="0">
              <a:buNone/>
            </a:pPr>
            <a:r>
              <a:rPr lang="en-US" sz="800" dirty="0">
                <a:solidFill>
                  <a:srgbClr val="1A1A2E"/>
                </a:solidFill>
              </a:rPr>
              <a:t>CRE=RC+5%×$10m. EAD=$500k. OECD bank=20% RW. Capital=$8k (counterparty only). No hedge offset.</a:t>
            </a:r>
            <a:endParaRPr lang="en-US" sz="800" dirty="0"/>
          </a:p>
        </p:txBody>
      </p:sp>
      <p:sp>
        <p:nvSpPr>
          <p:cNvPr id="18" name="Shape 16"/>
          <p:cNvSpPr/>
          <p:nvPr/>
        </p:nvSpPr>
        <p:spPr>
          <a:xfrm>
            <a:off x="4791456" y="1316736"/>
            <a:ext cx="1371600" cy="20848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7"/>
          <p:cNvSpPr/>
          <p:nvPr/>
        </p:nvSpPr>
        <p:spPr>
          <a:xfrm>
            <a:off x="4791456" y="1316736"/>
            <a:ext cx="1371600" cy="347472"/>
          </a:xfrm>
          <a:prstGeom prst="rect">
            <a:avLst/>
          </a:prstGeom>
          <a:solidFill>
            <a:srgbClr val="0E6B8A"/>
          </a:solidFill>
          <a:ln/>
        </p:spPr>
      </p:sp>
      <p:sp>
        <p:nvSpPr>
          <p:cNvPr id="20" name="Text 18"/>
          <p:cNvSpPr/>
          <p:nvPr/>
        </p:nvSpPr>
        <p:spPr>
          <a:xfrm>
            <a:off x="4846320"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II</a:t>
            </a:r>
            <a:endParaRPr lang="en-US" sz="1000" dirty="0"/>
          </a:p>
        </p:txBody>
      </p:sp>
      <p:sp>
        <p:nvSpPr>
          <p:cNvPr id="21" name="Text 19"/>
          <p:cNvSpPr/>
          <p:nvPr/>
        </p:nvSpPr>
        <p:spPr>
          <a:xfrm>
            <a:off x="4846320" y="1709928"/>
            <a:ext cx="1261872" cy="384048"/>
          </a:xfrm>
          <a:prstGeom prst="rect">
            <a:avLst/>
          </a:prstGeom>
          <a:noFill/>
          <a:ln/>
        </p:spPr>
        <p:txBody>
          <a:bodyPr wrap="square" lIns="0" tIns="0" rIns="0" bIns="0" rtlCol="0" anchor="ctr"/>
          <a:lstStyle/>
          <a:p>
            <a:pPr indent="0" marL="0">
              <a:buNone/>
            </a:pPr>
            <a:r>
              <a:rPr lang="en-US" sz="1600" b="1" dirty="0">
                <a:solidFill>
                  <a:srgbClr val="0E6B8A"/>
                </a:solidFill>
              </a:rPr>
              <a:t>$9,600</a:t>
            </a:r>
            <a:endParaRPr lang="en-US" sz="1600" dirty="0"/>
          </a:p>
        </p:txBody>
      </p:sp>
      <p:sp>
        <p:nvSpPr>
          <p:cNvPr id="22" name="Text 20"/>
          <p:cNvSpPr/>
          <p:nvPr/>
        </p:nvSpPr>
        <p:spPr>
          <a:xfrm>
            <a:off x="4846320" y="210312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SA / IRB</a:t>
            </a:r>
            <a:endParaRPr lang="en-US" sz="800" dirty="0"/>
          </a:p>
        </p:txBody>
      </p:sp>
      <p:sp>
        <p:nvSpPr>
          <p:cNvPr id="23" name="Text 21"/>
          <p:cNvSpPr/>
          <p:nvPr/>
        </p:nvSpPr>
        <p:spPr>
          <a:xfrm>
            <a:off x="4846320" y="2331720"/>
            <a:ext cx="1261872" cy="1005840"/>
          </a:xfrm>
          <a:prstGeom prst="rect">
            <a:avLst/>
          </a:prstGeom>
          <a:noFill/>
          <a:ln/>
        </p:spPr>
        <p:txBody>
          <a:bodyPr wrap="square" lIns="0" tIns="0" rIns="0" bIns="0" rtlCol="0" anchor="t"/>
          <a:lstStyle/>
          <a:p>
            <a:pPr indent="0" marL="0">
              <a:buNone/>
            </a:pPr>
            <a:r>
              <a:rPr lang="en-US" sz="800" dirty="0">
                <a:solidFill>
                  <a:srgbClr val="1A1A2E"/>
                </a:solidFill>
              </a:rPr>
              <a:t>AA dealer: 20% RW under SA.</a:t>
            </a:r>
            <a:endParaRPr lang="en-US" sz="800" dirty="0"/>
          </a:p>
          <a:p>
            <a:pPr indent="0" marL="0">
              <a:buNone/>
            </a:pPr>
            <a:r>
              <a:rPr lang="en-US" sz="800" dirty="0">
                <a:solidFill>
                  <a:srgbClr val="1A1A2E"/>
                </a:solidFill>
              </a:rPr>
              <a:t>EAD $600k (CEM).</a:t>
            </a:r>
            <a:endParaRPr lang="en-US" sz="800" dirty="0"/>
          </a:p>
          <a:p>
            <a:pPr indent="0" marL="0">
              <a:buNone/>
            </a:pPr>
            <a:r>
              <a:rPr lang="en-US" sz="800" dirty="0">
                <a:solidFill>
                  <a:srgbClr val="1A1A2E"/>
                </a:solidFill>
              </a:rPr>
              <a:t>Credit hedge may reduce underlying loan capital: double-default framework.</a:t>
            </a:r>
            <a:endParaRPr lang="en-US" sz="800" dirty="0"/>
          </a:p>
        </p:txBody>
      </p:sp>
      <p:sp>
        <p:nvSpPr>
          <p:cNvPr id="24" name="Shape 22"/>
          <p:cNvSpPr/>
          <p:nvPr/>
        </p:nvSpPr>
        <p:spPr>
          <a:xfrm>
            <a:off x="6245352" y="1316736"/>
            <a:ext cx="1371600" cy="20848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5" name="Shape 23"/>
          <p:cNvSpPr/>
          <p:nvPr/>
        </p:nvSpPr>
        <p:spPr>
          <a:xfrm>
            <a:off x="6245352" y="1316736"/>
            <a:ext cx="1371600" cy="347472"/>
          </a:xfrm>
          <a:prstGeom prst="rect">
            <a:avLst/>
          </a:prstGeom>
          <a:solidFill>
            <a:srgbClr val="1B3A6B"/>
          </a:solidFill>
          <a:ln/>
        </p:spPr>
      </p:sp>
      <p:sp>
        <p:nvSpPr>
          <p:cNvPr id="26" name="Text 24"/>
          <p:cNvSpPr/>
          <p:nvPr/>
        </p:nvSpPr>
        <p:spPr>
          <a:xfrm>
            <a:off x="6300216"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III</a:t>
            </a:r>
            <a:endParaRPr lang="en-US" sz="1000" dirty="0"/>
          </a:p>
        </p:txBody>
      </p:sp>
      <p:sp>
        <p:nvSpPr>
          <p:cNvPr id="27" name="Text 25"/>
          <p:cNvSpPr/>
          <p:nvPr/>
        </p:nvSpPr>
        <p:spPr>
          <a:xfrm>
            <a:off x="6300216" y="1709928"/>
            <a:ext cx="1261872" cy="384048"/>
          </a:xfrm>
          <a:prstGeom prst="rect">
            <a:avLst/>
          </a:prstGeom>
          <a:noFill/>
          <a:ln/>
        </p:spPr>
        <p:txBody>
          <a:bodyPr wrap="square" lIns="0" tIns="0" rIns="0" bIns="0" rtlCol="0" anchor="ctr"/>
          <a:lstStyle/>
          <a:p>
            <a:pPr indent="0" marL="0">
              <a:buNone/>
            </a:pPr>
            <a:r>
              <a:rPr lang="en-US" sz="1600" b="1" dirty="0">
                <a:solidFill>
                  <a:srgbClr val="1B3A6B"/>
                </a:solidFill>
              </a:rPr>
              <a:t>$14,400+</a:t>
            </a:r>
            <a:endParaRPr lang="en-US" sz="1600" dirty="0"/>
          </a:p>
        </p:txBody>
      </p:sp>
      <p:sp>
        <p:nvSpPr>
          <p:cNvPr id="28" name="Text 26"/>
          <p:cNvSpPr/>
          <p:nvPr/>
        </p:nvSpPr>
        <p:spPr>
          <a:xfrm>
            <a:off x="6300216" y="210312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CEM + CVA</a:t>
            </a:r>
            <a:endParaRPr lang="en-US" sz="800" dirty="0"/>
          </a:p>
        </p:txBody>
      </p:sp>
      <p:sp>
        <p:nvSpPr>
          <p:cNvPr id="29" name="Text 27"/>
          <p:cNvSpPr/>
          <p:nvPr/>
        </p:nvSpPr>
        <p:spPr>
          <a:xfrm>
            <a:off x="6300216" y="2331720"/>
            <a:ext cx="1261872" cy="1005840"/>
          </a:xfrm>
          <a:prstGeom prst="rect">
            <a:avLst/>
          </a:prstGeom>
          <a:noFill/>
          <a:ln/>
        </p:spPr>
        <p:txBody>
          <a:bodyPr wrap="square" lIns="0" tIns="0" rIns="0" bIns="0" rtlCol="0" anchor="t"/>
          <a:lstStyle/>
          <a:p>
            <a:pPr indent="0" marL="0">
              <a:buNone/>
            </a:pPr>
            <a:r>
              <a:rPr lang="en-US" sz="800" dirty="0">
                <a:solidFill>
                  <a:srgbClr val="1A1A2E"/>
                </a:solidFill>
              </a:rPr>
              <a:t>CEM CCR unchanged.</a:t>
            </a:r>
            <a:endParaRPr lang="en-US" sz="800" dirty="0"/>
          </a:p>
          <a:p>
            <a:pPr indent="0" marL="0">
              <a:buNone/>
            </a:pPr>
            <a:r>
              <a:rPr lang="en-US" sz="800" dirty="0">
                <a:solidFill>
                  <a:srgbClr val="1A1A2E"/>
                </a:solidFill>
              </a:rPr>
              <a:t>CVA charge NEW: ~$5–8k for BBB at 3-month.</a:t>
            </a:r>
            <a:endParaRPr lang="en-US" sz="800" dirty="0"/>
          </a:p>
          <a:p>
            <a:pPr indent="0" marL="0">
              <a:buNone/>
            </a:pPr>
            <a:r>
              <a:rPr lang="en-US" sz="800" dirty="0">
                <a:solidFill>
                  <a:srgbClr val="1A1A2E"/>
                </a:solidFill>
              </a:rPr>
              <a:t>Double default if hedging underlying.</a:t>
            </a:r>
            <a:endParaRPr lang="en-US" sz="800" dirty="0"/>
          </a:p>
        </p:txBody>
      </p:sp>
      <p:sp>
        <p:nvSpPr>
          <p:cNvPr id="30" name="Shape 28"/>
          <p:cNvSpPr/>
          <p:nvPr/>
        </p:nvSpPr>
        <p:spPr>
          <a:xfrm>
            <a:off x="7699248" y="1316736"/>
            <a:ext cx="1371600" cy="20848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1" name="Shape 29"/>
          <p:cNvSpPr/>
          <p:nvPr/>
        </p:nvSpPr>
        <p:spPr>
          <a:xfrm>
            <a:off x="7699248" y="1316736"/>
            <a:ext cx="1371600" cy="347472"/>
          </a:xfrm>
          <a:prstGeom prst="rect">
            <a:avLst/>
          </a:prstGeom>
          <a:solidFill>
            <a:srgbClr val="8B0000"/>
          </a:solidFill>
          <a:ln/>
        </p:spPr>
      </p:sp>
      <p:sp>
        <p:nvSpPr>
          <p:cNvPr id="32" name="Text 30"/>
          <p:cNvSpPr/>
          <p:nvPr/>
        </p:nvSpPr>
        <p:spPr>
          <a:xfrm>
            <a:off x="7754112"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IV</a:t>
            </a:r>
            <a:endParaRPr lang="en-US" sz="1000" dirty="0"/>
          </a:p>
        </p:txBody>
      </p:sp>
      <p:sp>
        <p:nvSpPr>
          <p:cNvPr id="33" name="Text 31"/>
          <p:cNvSpPr/>
          <p:nvPr/>
        </p:nvSpPr>
        <p:spPr>
          <a:xfrm>
            <a:off x="7754112" y="1709928"/>
            <a:ext cx="1261872" cy="384048"/>
          </a:xfrm>
          <a:prstGeom prst="rect">
            <a:avLst/>
          </a:prstGeom>
          <a:noFill/>
          <a:ln/>
        </p:spPr>
        <p:txBody>
          <a:bodyPr wrap="square" lIns="0" tIns="0" rIns="0" bIns="0" rtlCol="0" anchor="ctr"/>
          <a:lstStyle/>
          <a:p>
            <a:pPr indent="0" marL="0">
              <a:buNone/>
            </a:pPr>
            <a:r>
              <a:rPr lang="en-US" sz="1600" b="1" dirty="0">
                <a:solidFill>
                  <a:srgbClr val="8B0000"/>
                </a:solidFill>
              </a:rPr>
              <a:t>$18,000+</a:t>
            </a:r>
            <a:endParaRPr lang="en-US" sz="1600" dirty="0"/>
          </a:p>
        </p:txBody>
      </p:sp>
      <p:sp>
        <p:nvSpPr>
          <p:cNvPr id="34" name="Text 32"/>
          <p:cNvSpPr/>
          <p:nvPr/>
        </p:nvSpPr>
        <p:spPr>
          <a:xfrm>
            <a:off x="7754112" y="210312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SA-CCR + FRTB-CVA</a:t>
            </a:r>
            <a:endParaRPr lang="en-US" sz="800" dirty="0"/>
          </a:p>
        </p:txBody>
      </p:sp>
      <p:sp>
        <p:nvSpPr>
          <p:cNvPr id="35" name="Text 33"/>
          <p:cNvSpPr/>
          <p:nvPr/>
        </p:nvSpPr>
        <p:spPr>
          <a:xfrm>
            <a:off x="7754112" y="2331720"/>
            <a:ext cx="1261872" cy="1005840"/>
          </a:xfrm>
          <a:prstGeom prst="rect">
            <a:avLst/>
          </a:prstGeom>
          <a:noFill/>
          <a:ln/>
        </p:spPr>
        <p:txBody>
          <a:bodyPr wrap="square" lIns="0" tIns="0" rIns="0" bIns="0" rtlCol="0" anchor="t"/>
          <a:lstStyle/>
          <a:p>
            <a:pPr indent="0" marL="0">
              <a:buNone/>
            </a:pPr>
            <a:r>
              <a:rPr lang="en-US" sz="800" dirty="0">
                <a:solidFill>
                  <a:srgbClr val="1A1A2E"/>
                </a:solidFill>
              </a:rPr>
              <a:t>SA-CCR: credit derivative SF 5% for IG reference entity.</a:t>
            </a:r>
            <a:endParaRPr lang="en-US" sz="800" dirty="0"/>
          </a:p>
          <a:p>
            <a:pPr indent="0" marL="0">
              <a:buNone/>
            </a:pPr>
            <a:r>
              <a:rPr lang="en-US" sz="800" dirty="0">
                <a:solidFill>
                  <a:srgbClr val="1A1A2E"/>
                </a:solidFill>
              </a:rPr>
              <a:t>FRTB: credit spread sensitivity if trading book.</a:t>
            </a:r>
            <a:endParaRPr lang="en-US" sz="800" dirty="0"/>
          </a:p>
          <a:p>
            <a:pPr indent="0" marL="0">
              <a:buNone/>
            </a:pPr>
            <a:r>
              <a:rPr lang="en-US" sz="800" dirty="0">
                <a:solidFill>
                  <a:srgbClr val="1A1A2E"/>
                </a:solidFill>
              </a:rPr>
              <a:t>SA-CVA with hedge recognition.</a:t>
            </a:r>
            <a:endParaRPr lang="en-US" sz="800" dirty="0"/>
          </a:p>
        </p:txBody>
      </p:sp>
      <p:graphicFrame>
        <p:nvGraphicFramePr>
          <p:cNvPr id="36" name="Chart 0" descr=""/>
          <p:cNvGraphicFramePr/>
          <p:nvPr/>
        </p:nvGraphicFramePr>
        <p:xfrm>
          <a:off x="274320" y="3520440"/>
          <a:ext cx="5029200" cy="1234440"/>
        </p:xfrm>
        <a:graphic xmlns:a="http://schemas.openxmlformats.org/drawingml/2006/main">
          <a:graphicData uri="http://schemas.openxmlformats.org/drawingml/2006/chart">
            <c:chart xmlns:c="http://schemas.openxmlformats.org/drawingml/2006/chart" r:id="rId1"/>
          </a:graphicData>
        </a:graphic>
      </p:graphicFrame>
      <p:sp>
        <p:nvSpPr>
          <p:cNvPr id="37" name="Shape 34"/>
          <p:cNvSpPr/>
          <p:nvPr/>
        </p:nvSpPr>
        <p:spPr>
          <a:xfrm>
            <a:off x="365760" y="4818888"/>
            <a:ext cx="8412480" cy="594360"/>
          </a:xfrm>
          <a:prstGeom prst="rect">
            <a:avLst/>
          </a:prstGeom>
          <a:solidFill>
            <a:srgbClr val="D6EAF8"/>
          </a:solidFill>
          <a:ln/>
        </p:spPr>
      </p:sp>
      <p:sp>
        <p:nvSpPr>
          <p:cNvPr id="38" name="Shape 35"/>
          <p:cNvSpPr/>
          <p:nvPr/>
        </p:nvSpPr>
        <p:spPr>
          <a:xfrm>
            <a:off x="365760" y="4818888"/>
            <a:ext cx="1005840" cy="594360"/>
          </a:xfrm>
          <a:prstGeom prst="rect">
            <a:avLst/>
          </a:prstGeom>
          <a:solidFill>
            <a:srgbClr val="8B0000"/>
          </a:solidFill>
          <a:ln/>
        </p:spPr>
      </p:sp>
      <p:sp>
        <p:nvSpPr>
          <p:cNvPr id="39" name="Text 36"/>
          <p:cNvSpPr/>
          <p:nvPr/>
        </p:nvSpPr>
        <p:spPr>
          <a:xfrm>
            <a:off x="365760" y="4818888"/>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KEY CONCEPT</a:t>
            </a:r>
            <a:endParaRPr lang="en-US" sz="900" dirty="0"/>
          </a:p>
        </p:txBody>
      </p:sp>
      <p:sp>
        <p:nvSpPr>
          <p:cNvPr id="40" name="Text 37"/>
          <p:cNvSpPr/>
          <p:nvPr/>
        </p:nvSpPr>
        <p:spPr>
          <a:xfrm>
            <a:off x="1417320" y="4818888"/>
            <a:ext cx="7223760" cy="594360"/>
          </a:xfrm>
          <a:prstGeom prst="rect">
            <a:avLst/>
          </a:prstGeom>
          <a:noFill/>
          <a:ln/>
        </p:spPr>
        <p:txBody>
          <a:bodyPr wrap="square" lIns="0" tIns="0" rIns="0" bIns="0" rtlCol="0" anchor="ctr"/>
          <a:lstStyle/>
          <a:p>
            <a:pPr indent="0" marL="0">
              <a:buNone/>
            </a:pPr>
            <a:r>
              <a:rPr lang="en-US" sz="1000" dirty="0">
                <a:solidFill>
                  <a:srgbClr val="1A1A2E"/>
                </a:solidFill>
              </a:rPr>
              <a:t>A CDS introduces counterparty risk on the protection seller in addition to the original credit risk on the reference entity. Basel III/IV require capital for both. The double-default framework can reduce capital if the bank is genuinely hedging an underlying exposure.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Example 5: Gold Forward</a:t>
            </a:r>
            <a:endParaRPr lang="en-US" sz="900" dirty="0"/>
          </a:p>
        </p:txBody>
      </p:sp>
      <p:sp>
        <p:nvSpPr>
          <p:cNvPr id="4" name="Shape 2"/>
          <p:cNvSpPr/>
          <p:nvPr/>
        </p:nvSpPr>
        <p:spPr>
          <a:xfrm>
            <a:off x="0" y="0"/>
            <a:ext cx="9144000" cy="658368"/>
          </a:xfrm>
          <a:prstGeom prst="rect">
            <a:avLst/>
          </a:prstGeom>
          <a:solidFill>
            <a:srgbClr val="1A6B3A"/>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Example 5: Precious Metal Forward — Gold (XAU/USD)</a:t>
            </a:r>
            <a:endParaRPr lang="en-US" sz="2200" dirty="0"/>
          </a:p>
        </p:txBody>
      </p:sp>
      <p:sp>
        <p:nvSpPr>
          <p:cNvPr id="6" name="Shape 4"/>
          <p:cNvSpPr/>
          <p:nvPr/>
        </p:nvSpPr>
        <p:spPr>
          <a:xfrm>
            <a:off x="274320" y="749808"/>
            <a:ext cx="8595360" cy="475488"/>
          </a:xfrm>
          <a:prstGeom prst="rect">
            <a:avLst/>
          </a:prstGeom>
          <a:solidFill>
            <a:srgbClr val="D6EAF8"/>
          </a:solidFill>
          <a:ln/>
        </p:spPr>
      </p:sp>
      <p:sp>
        <p:nvSpPr>
          <p:cNvPr id="7" name="Text 5"/>
          <p:cNvSpPr/>
          <p:nvPr/>
        </p:nvSpPr>
        <p:spPr>
          <a:xfrm>
            <a:off x="411480" y="749808"/>
            <a:ext cx="8321040" cy="475488"/>
          </a:xfrm>
          <a:prstGeom prst="rect">
            <a:avLst/>
          </a:prstGeom>
          <a:noFill/>
          <a:ln/>
        </p:spPr>
        <p:txBody>
          <a:bodyPr wrap="square" lIns="0" tIns="0" rIns="0" bIns="0" rtlCol="0" anchor="ctr"/>
          <a:lstStyle/>
          <a:p>
            <a:pPr indent="0" marL="0">
              <a:buNone/>
            </a:pPr>
            <a:r>
              <a:rPr lang="en-US" sz="950" dirty="0">
                <a:solidFill>
                  <a:srgbClr val="1B3A6B"/>
                </a:solidFill>
              </a:rPr>
              <a:t>Bank sells 1,000 troy oz Gold forward  |  3-Month delivery  |  Forward price: $2,350/oz  |  Total notional: $2,350,000  |  BBB corporate  |  Bilateral, No Margin  |  MTM at inception: $0</a:t>
            </a:r>
            <a:endParaRPr lang="en-US" sz="950" dirty="0"/>
          </a:p>
        </p:txBody>
      </p:sp>
      <p:sp>
        <p:nvSpPr>
          <p:cNvPr id="8" name="Shape 6"/>
          <p:cNvSpPr/>
          <p:nvPr/>
        </p:nvSpPr>
        <p:spPr>
          <a:xfrm>
            <a:off x="274320" y="1316736"/>
            <a:ext cx="2834640" cy="21762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74320" y="1316736"/>
            <a:ext cx="2834640" cy="347472"/>
          </a:xfrm>
          <a:prstGeom prst="rect">
            <a:avLst/>
          </a:prstGeom>
          <a:solidFill>
            <a:srgbClr val="1A6B3A"/>
          </a:solidFill>
          <a:ln/>
        </p:spPr>
      </p:sp>
      <p:sp>
        <p:nvSpPr>
          <p:cNvPr id="10" name="Text 8"/>
          <p:cNvSpPr/>
          <p:nvPr/>
        </p:nvSpPr>
        <p:spPr>
          <a:xfrm>
            <a:off x="365760" y="1316736"/>
            <a:ext cx="2651760" cy="347472"/>
          </a:xfrm>
          <a:prstGeom prst="rect">
            <a:avLst/>
          </a:prstGeom>
          <a:noFill/>
          <a:ln/>
        </p:spPr>
        <p:txBody>
          <a:bodyPr wrap="square" lIns="0" tIns="0" rIns="0" bIns="0" rtlCol="0" anchor="ctr"/>
          <a:lstStyle/>
          <a:p>
            <a:pPr indent="0" marL="0">
              <a:buNone/>
            </a:pPr>
            <a:r>
              <a:rPr lang="en-US" sz="1000" b="1" dirty="0">
                <a:solidFill>
                  <a:srgbClr val="FFFFFF"/>
                </a:solidFill>
              </a:rPr>
              <a:t>What is a Gold Forward?</a:t>
            </a:r>
            <a:endParaRPr lang="en-US" sz="1000" dirty="0"/>
          </a:p>
        </p:txBody>
      </p:sp>
      <p:sp>
        <p:nvSpPr>
          <p:cNvPr id="11" name="Text 9"/>
          <p:cNvSpPr/>
          <p:nvPr/>
        </p:nvSpPr>
        <p:spPr>
          <a:xfrm>
            <a:off x="365760" y="1709928"/>
            <a:ext cx="2651760" cy="1719072"/>
          </a:xfrm>
          <a:prstGeom prst="rect">
            <a:avLst/>
          </a:prstGeom>
          <a:noFill/>
          <a:ln/>
        </p:spPr>
        <p:txBody>
          <a:bodyPr wrap="square" lIns="0" tIns="0" rIns="0" bIns="0" rtlCol="0" anchor="t"/>
          <a:lstStyle/>
          <a:p>
            <a:pPr indent="0" marL="0">
              <a:buNone/>
            </a:pPr>
            <a:r>
              <a:rPr lang="en-US" sz="880" dirty="0">
                <a:solidFill>
                  <a:srgbClr val="1A1A2E"/>
                </a:solidFill>
              </a:rPr>
              <a:t>An agreement to sell a fixed quantity of gold at a pre-agreed price on a future date.</a:t>
            </a:r>
            <a:endParaRPr lang="en-US" sz="880" dirty="0"/>
          </a:p>
          <a:p>
            <a:pPr indent="0" marL="0">
              <a:buNone/>
            </a:pPr>
            <a:endParaRPr lang="en-US" sz="880" dirty="0"/>
          </a:p>
          <a:p>
            <a:pPr indent="0" marL="0">
              <a:buNone/>
            </a:pPr>
            <a:r>
              <a:rPr lang="en-US" sz="880" dirty="0">
                <a:solidFill>
                  <a:srgbClr val="1A1A2E"/>
                </a:solidFill>
              </a:rPr>
              <a:t>Risk drivers for the bank (seller):</a:t>
            </a:r>
            <a:endParaRPr lang="en-US" sz="880" dirty="0"/>
          </a:p>
          <a:p>
            <a:pPr indent="0" marL="0">
              <a:buNone/>
            </a:pPr>
            <a:r>
              <a:rPr lang="en-US" sz="880" dirty="0">
                <a:solidFill>
                  <a:srgbClr val="1A1A2E"/>
                </a:solidFill>
              </a:rPr>
              <a:t>• Gold price risk: if gold rises, bank delivers at lower agreed price — a loss</a:t>
            </a:r>
            <a:endParaRPr lang="en-US" sz="880" dirty="0"/>
          </a:p>
          <a:p>
            <a:pPr indent="0" marL="0">
              <a:buNone/>
            </a:pPr>
            <a:r>
              <a:rPr lang="en-US" sz="880" dirty="0">
                <a:solidFill>
                  <a:srgbClr val="1A1A2E"/>
                </a:solidFill>
              </a:rPr>
              <a:t>• FX risk: gold priced in USD; non-USD books carry FX risk</a:t>
            </a:r>
            <a:endParaRPr lang="en-US" sz="880" dirty="0"/>
          </a:p>
          <a:p>
            <a:pPr indent="0" marL="0">
              <a:buNone/>
            </a:pPr>
            <a:r>
              <a:rPr lang="en-US" sz="880" dirty="0">
                <a:solidFill>
                  <a:srgbClr val="1A1A2E"/>
                </a:solidFill>
              </a:rPr>
              <a:t>• Counterparty credit risk: if BBB buyer defaults before delivery, bank loses the MTM gain</a:t>
            </a:r>
            <a:endParaRPr lang="en-US" sz="880" dirty="0"/>
          </a:p>
          <a:p>
            <a:pPr indent="0" marL="0">
              <a:buNone/>
            </a:pPr>
            <a:endParaRPr lang="en-US" sz="880" dirty="0"/>
          </a:p>
          <a:p>
            <a:pPr indent="0" marL="0">
              <a:buNone/>
            </a:pPr>
            <a:r>
              <a:rPr lang="en-US" sz="880" dirty="0">
                <a:solidFill>
                  <a:srgbClr val="1A1A2E"/>
                </a:solidFill>
              </a:rPr>
              <a:t>Gold is treated as a commodity under Basel, not as a currency — though its behaviour is more FX-like than industrial commodities.</a:t>
            </a:r>
            <a:endParaRPr lang="en-US" sz="880" dirty="0"/>
          </a:p>
        </p:txBody>
      </p:sp>
      <p:sp>
        <p:nvSpPr>
          <p:cNvPr id="12" name="Shape 10"/>
          <p:cNvSpPr/>
          <p:nvPr/>
        </p:nvSpPr>
        <p:spPr>
          <a:xfrm>
            <a:off x="3337560" y="1316736"/>
            <a:ext cx="1371600" cy="21762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1"/>
          <p:cNvSpPr/>
          <p:nvPr/>
        </p:nvSpPr>
        <p:spPr>
          <a:xfrm>
            <a:off x="3337560" y="1316736"/>
            <a:ext cx="1371600" cy="347472"/>
          </a:xfrm>
          <a:prstGeom prst="rect">
            <a:avLst/>
          </a:prstGeom>
          <a:solidFill>
            <a:srgbClr val="8899AA"/>
          </a:solidFill>
          <a:ln/>
        </p:spPr>
      </p:sp>
      <p:sp>
        <p:nvSpPr>
          <p:cNvPr id="14" name="Text 12"/>
          <p:cNvSpPr/>
          <p:nvPr/>
        </p:nvSpPr>
        <p:spPr>
          <a:xfrm>
            <a:off x="3392424"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a:t>
            </a:r>
            <a:endParaRPr lang="en-US" sz="1000" dirty="0"/>
          </a:p>
        </p:txBody>
      </p:sp>
      <p:sp>
        <p:nvSpPr>
          <p:cNvPr id="15" name="Text 13"/>
          <p:cNvSpPr/>
          <p:nvPr/>
        </p:nvSpPr>
        <p:spPr>
          <a:xfrm>
            <a:off x="3392424" y="1709928"/>
            <a:ext cx="1261872" cy="384048"/>
          </a:xfrm>
          <a:prstGeom prst="rect">
            <a:avLst/>
          </a:prstGeom>
          <a:noFill/>
          <a:ln/>
        </p:spPr>
        <p:txBody>
          <a:bodyPr wrap="square" lIns="0" tIns="0" rIns="0" bIns="0" rtlCol="0" anchor="ctr"/>
          <a:lstStyle/>
          <a:p>
            <a:pPr indent="0" marL="0">
              <a:buNone/>
            </a:pPr>
            <a:r>
              <a:rPr lang="en-US" sz="1300" b="1" dirty="0">
                <a:solidFill>
                  <a:srgbClr val="8899AA"/>
                </a:solidFill>
              </a:rPr>
              <a:t>$28,200</a:t>
            </a:r>
            <a:endParaRPr lang="en-US" sz="1300" dirty="0"/>
          </a:p>
        </p:txBody>
      </p:sp>
      <p:sp>
        <p:nvSpPr>
          <p:cNvPr id="16" name="Text 14"/>
          <p:cNvSpPr/>
          <p:nvPr/>
        </p:nvSpPr>
        <p:spPr>
          <a:xfrm>
            <a:off x="3392424" y="214884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CEM + RW</a:t>
            </a:r>
            <a:endParaRPr lang="en-US" sz="800" dirty="0"/>
          </a:p>
        </p:txBody>
      </p:sp>
      <p:sp>
        <p:nvSpPr>
          <p:cNvPr id="17" name="Text 15"/>
          <p:cNvSpPr/>
          <p:nvPr/>
        </p:nvSpPr>
        <p:spPr>
          <a:xfrm>
            <a:off x="3392424" y="2377440"/>
            <a:ext cx="1261872" cy="1051560"/>
          </a:xfrm>
          <a:prstGeom prst="rect">
            <a:avLst/>
          </a:prstGeom>
          <a:noFill/>
          <a:ln/>
        </p:spPr>
        <p:txBody>
          <a:bodyPr wrap="square" lIns="0" tIns="0" rIns="0" bIns="0" rtlCol="0" anchor="t"/>
          <a:lstStyle/>
          <a:p>
            <a:pPr indent="0" marL="0">
              <a:buNone/>
            </a:pPr>
            <a:r>
              <a:rPr lang="en-US" sz="800" dirty="0">
                <a:solidFill>
                  <a:srgbClr val="1A1A2E"/>
                </a:solidFill>
              </a:rPr>
              <a:t>Add-on: 15%×$2.35m(commodity&lt;1yr)=$352,500.</a:t>
            </a:r>
            <a:endParaRPr lang="en-US" sz="800" dirty="0"/>
          </a:p>
          <a:p>
            <a:pPr indent="0" marL="0">
              <a:buNone/>
            </a:pPr>
            <a:r>
              <a:rPr lang="en-US" sz="800" dirty="0">
                <a:solidFill>
                  <a:srgbClr val="1A1A2E"/>
                </a:solidFill>
              </a:rPr>
              <a:t>BBB corp: 100% RW. Capital=$28,200.</a:t>
            </a:r>
            <a:endParaRPr lang="en-US" sz="800" dirty="0"/>
          </a:p>
          <a:p>
            <a:pPr indent="0" marL="0">
              <a:buNone/>
            </a:pPr>
            <a:r>
              <a:rPr lang="en-US" sz="800" dirty="0">
                <a:solidFill>
                  <a:srgbClr val="1A1A2E"/>
                </a:solidFill>
              </a:rPr>
              <a:t>Market risk: none.</a:t>
            </a:r>
            <a:endParaRPr lang="en-US" sz="800" dirty="0"/>
          </a:p>
        </p:txBody>
      </p:sp>
      <p:sp>
        <p:nvSpPr>
          <p:cNvPr id="18" name="Shape 16"/>
          <p:cNvSpPr/>
          <p:nvPr/>
        </p:nvSpPr>
        <p:spPr>
          <a:xfrm>
            <a:off x="4791456" y="1316736"/>
            <a:ext cx="1371600" cy="21762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7"/>
          <p:cNvSpPr/>
          <p:nvPr/>
        </p:nvSpPr>
        <p:spPr>
          <a:xfrm>
            <a:off x="4791456" y="1316736"/>
            <a:ext cx="1371600" cy="347472"/>
          </a:xfrm>
          <a:prstGeom prst="rect">
            <a:avLst/>
          </a:prstGeom>
          <a:solidFill>
            <a:srgbClr val="0E6B8A"/>
          </a:solidFill>
          <a:ln/>
        </p:spPr>
      </p:sp>
      <p:sp>
        <p:nvSpPr>
          <p:cNvPr id="20" name="Text 18"/>
          <p:cNvSpPr/>
          <p:nvPr/>
        </p:nvSpPr>
        <p:spPr>
          <a:xfrm>
            <a:off x="4846320"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II</a:t>
            </a:r>
            <a:endParaRPr lang="en-US" sz="1000" dirty="0"/>
          </a:p>
        </p:txBody>
      </p:sp>
      <p:sp>
        <p:nvSpPr>
          <p:cNvPr id="21" name="Text 19"/>
          <p:cNvSpPr/>
          <p:nvPr/>
        </p:nvSpPr>
        <p:spPr>
          <a:xfrm>
            <a:off x="4846320" y="1709928"/>
            <a:ext cx="1261872" cy="384048"/>
          </a:xfrm>
          <a:prstGeom prst="rect">
            <a:avLst/>
          </a:prstGeom>
          <a:noFill/>
          <a:ln/>
        </p:spPr>
        <p:txBody>
          <a:bodyPr wrap="square" lIns="0" tIns="0" rIns="0" bIns="0" rtlCol="0" anchor="ctr"/>
          <a:lstStyle/>
          <a:p>
            <a:pPr indent="0" marL="0">
              <a:buNone/>
            </a:pPr>
            <a:r>
              <a:rPr lang="en-US" sz="1300" b="1" dirty="0">
                <a:solidFill>
                  <a:srgbClr val="0E6B8A"/>
                </a:solidFill>
              </a:rPr>
              <a:t>$28,200 SA</a:t>
            </a:r>
            <a:endParaRPr lang="en-US" sz="1300" dirty="0"/>
          </a:p>
          <a:p>
            <a:pPr indent="0" marL="0">
              <a:buNone/>
            </a:pPr>
            <a:r>
              <a:rPr lang="en-US" sz="1300" b="1" dirty="0">
                <a:solidFill>
                  <a:srgbClr val="0E6B8A"/>
                </a:solidFill>
              </a:rPr>
              <a:t>$17,000 IRB</a:t>
            </a:r>
            <a:endParaRPr lang="en-US" sz="1300" dirty="0"/>
          </a:p>
        </p:txBody>
      </p:sp>
      <p:sp>
        <p:nvSpPr>
          <p:cNvPr id="22" name="Text 20"/>
          <p:cNvSpPr/>
          <p:nvPr/>
        </p:nvSpPr>
        <p:spPr>
          <a:xfrm>
            <a:off x="4846320" y="214884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SA / A-IRB</a:t>
            </a:r>
            <a:endParaRPr lang="en-US" sz="800" dirty="0"/>
          </a:p>
        </p:txBody>
      </p:sp>
      <p:sp>
        <p:nvSpPr>
          <p:cNvPr id="23" name="Text 21"/>
          <p:cNvSpPr/>
          <p:nvPr/>
        </p:nvSpPr>
        <p:spPr>
          <a:xfrm>
            <a:off x="4846320" y="2377440"/>
            <a:ext cx="1261872" cy="1051560"/>
          </a:xfrm>
          <a:prstGeom prst="rect">
            <a:avLst/>
          </a:prstGeom>
          <a:noFill/>
          <a:ln/>
        </p:spPr>
        <p:txBody>
          <a:bodyPr wrap="square" lIns="0" tIns="0" rIns="0" bIns="0" rtlCol="0" anchor="t"/>
          <a:lstStyle/>
          <a:p>
            <a:pPr indent="0" marL="0">
              <a:buNone/>
            </a:pPr>
            <a:r>
              <a:rPr lang="en-US" sz="800" dirty="0">
                <a:solidFill>
                  <a:srgbClr val="1A1A2E"/>
                </a:solidFill>
              </a:rPr>
              <a:t>SA: 100% RW on CEM EAD.</a:t>
            </a:r>
            <a:endParaRPr lang="en-US" sz="800" dirty="0"/>
          </a:p>
          <a:p>
            <a:pPr indent="0" marL="0">
              <a:buNone/>
            </a:pPr>
            <a:r>
              <a:rPr lang="en-US" sz="800" dirty="0">
                <a:solidFill>
                  <a:srgbClr val="1A1A2E"/>
                </a:solidFill>
              </a:rPr>
              <a:t>IRB: PD 0.20%, LGD 45% = ~40% saving.</a:t>
            </a:r>
            <a:endParaRPr lang="en-US" sz="800" dirty="0"/>
          </a:p>
          <a:p>
            <a:pPr indent="0" marL="0">
              <a:buNone/>
            </a:pPr>
            <a:r>
              <a:rPr lang="en-US" sz="800" dirty="0">
                <a:solidFill>
                  <a:srgbClr val="1A1A2E"/>
                </a:solidFill>
              </a:rPr>
              <a:t>Market risk: commodity VaR if trading book.</a:t>
            </a:r>
            <a:endParaRPr lang="en-US" sz="800" dirty="0"/>
          </a:p>
        </p:txBody>
      </p:sp>
      <p:sp>
        <p:nvSpPr>
          <p:cNvPr id="24" name="Shape 22"/>
          <p:cNvSpPr/>
          <p:nvPr/>
        </p:nvSpPr>
        <p:spPr>
          <a:xfrm>
            <a:off x="6245352" y="1316736"/>
            <a:ext cx="1371600" cy="21762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5" name="Shape 23"/>
          <p:cNvSpPr/>
          <p:nvPr/>
        </p:nvSpPr>
        <p:spPr>
          <a:xfrm>
            <a:off x="6245352" y="1316736"/>
            <a:ext cx="1371600" cy="347472"/>
          </a:xfrm>
          <a:prstGeom prst="rect">
            <a:avLst/>
          </a:prstGeom>
          <a:solidFill>
            <a:srgbClr val="1B3A6B"/>
          </a:solidFill>
          <a:ln/>
        </p:spPr>
      </p:sp>
      <p:sp>
        <p:nvSpPr>
          <p:cNvPr id="26" name="Text 24"/>
          <p:cNvSpPr/>
          <p:nvPr/>
        </p:nvSpPr>
        <p:spPr>
          <a:xfrm>
            <a:off x="6300216"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III</a:t>
            </a:r>
            <a:endParaRPr lang="en-US" sz="1000" dirty="0"/>
          </a:p>
        </p:txBody>
      </p:sp>
      <p:sp>
        <p:nvSpPr>
          <p:cNvPr id="27" name="Text 25"/>
          <p:cNvSpPr/>
          <p:nvPr/>
        </p:nvSpPr>
        <p:spPr>
          <a:xfrm>
            <a:off x="6300216" y="1709928"/>
            <a:ext cx="1261872" cy="384048"/>
          </a:xfrm>
          <a:prstGeom prst="rect">
            <a:avLst/>
          </a:prstGeom>
          <a:noFill/>
          <a:ln/>
        </p:spPr>
        <p:txBody>
          <a:bodyPr wrap="square" lIns="0" tIns="0" rIns="0" bIns="0" rtlCol="0" anchor="ctr"/>
          <a:lstStyle/>
          <a:p>
            <a:pPr indent="0" marL="0">
              <a:buNone/>
            </a:pPr>
            <a:r>
              <a:rPr lang="en-US" sz="1300" b="1" dirty="0">
                <a:solidFill>
                  <a:srgbClr val="1B3A6B"/>
                </a:solidFill>
              </a:rPr>
              <a:t>$34,000+</a:t>
            </a:r>
            <a:endParaRPr lang="en-US" sz="1300" dirty="0"/>
          </a:p>
        </p:txBody>
      </p:sp>
      <p:sp>
        <p:nvSpPr>
          <p:cNvPr id="28" name="Text 26"/>
          <p:cNvSpPr/>
          <p:nvPr/>
        </p:nvSpPr>
        <p:spPr>
          <a:xfrm>
            <a:off x="6300216" y="214884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CEM + CVA</a:t>
            </a:r>
            <a:endParaRPr lang="en-US" sz="800" dirty="0"/>
          </a:p>
        </p:txBody>
      </p:sp>
      <p:sp>
        <p:nvSpPr>
          <p:cNvPr id="29" name="Text 27"/>
          <p:cNvSpPr/>
          <p:nvPr/>
        </p:nvSpPr>
        <p:spPr>
          <a:xfrm>
            <a:off x="6300216" y="2377440"/>
            <a:ext cx="1261872" cy="1051560"/>
          </a:xfrm>
          <a:prstGeom prst="rect">
            <a:avLst/>
          </a:prstGeom>
          <a:noFill/>
          <a:ln/>
        </p:spPr>
        <p:txBody>
          <a:bodyPr wrap="square" lIns="0" tIns="0" rIns="0" bIns="0" rtlCol="0" anchor="t"/>
          <a:lstStyle/>
          <a:p>
            <a:pPr indent="0" marL="0">
              <a:buNone/>
            </a:pPr>
            <a:r>
              <a:rPr lang="en-US" sz="800" dirty="0">
                <a:solidFill>
                  <a:srgbClr val="1A1A2E"/>
                </a:solidFill>
              </a:rPr>
              <a:t>CEM CCR unchanged.</a:t>
            </a:r>
            <a:endParaRPr lang="en-US" sz="800" dirty="0"/>
          </a:p>
          <a:p>
            <a:pPr indent="0" marL="0">
              <a:buNone/>
            </a:pPr>
            <a:r>
              <a:rPr lang="en-US" sz="800" dirty="0">
                <a:solidFill>
                  <a:srgbClr val="1A1A2E"/>
                </a:solidFill>
              </a:rPr>
              <a:t>CVA charge NEW: ~$6–10k for BBB at 3-month maturity.</a:t>
            </a:r>
            <a:endParaRPr lang="en-US" sz="800" dirty="0"/>
          </a:p>
          <a:p>
            <a:pPr indent="0" marL="0">
              <a:buNone/>
            </a:pPr>
            <a:r>
              <a:rPr lang="en-US" sz="800" dirty="0">
                <a:solidFill>
                  <a:srgbClr val="1A1A2E"/>
                </a:solidFill>
              </a:rPr>
              <a:t>SVaR if in trading book.</a:t>
            </a:r>
            <a:endParaRPr lang="en-US" sz="800" dirty="0"/>
          </a:p>
        </p:txBody>
      </p:sp>
      <p:sp>
        <p:nvSpPr>
          <p:cNvPr id="30" name="Shape 28"/>
          <p:cNvSpPr/>
          <p:nvPr/>
        </p:nvSpPr>
        <p:spPr>
          <a:xfrm>
            <a:off x="7699248" y="1316736"/>
            <a:ext cx="1371600" cy="21762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1" name="Shape 29"/>
          <p:cNvSpPr/>
          <p:nvPr/>
        </p:nvSpPr>
        <p:spPr>
          <a:xfrm>
            <a:off x="7699248" y="1316736"/>
            <a:ext cx="1371600" cy="347472"/>
          </a:xfrm>
          <a:prstGeom prst="rect">
            <a:avLst/>
          </a:prstGeom>
          <a:solidFill>
            <a:srgbClr val="C9A84C"/>
          </a:solidFill>
          <a:ln/>
        </p:spPr>
      </p:sp>
      <p:sp>
        <p:nvSpPr>
          <p:cNvPr id="32" name="Text 30"/>
          <p:cNvSpPr/>
          <p:nvPr/>
        </p:nvSpPr>
        <p:spPr>
          <a:xfrm>
            <a:off x="7754112"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IV</a:t>
            </a:r>
            <a:endParaRPr lang="en-US" sz="1000" dirty="0"/>
          </a:p>
        </p:txBody>
      </p:sp>
      <p:sp>
        <p:nvSpPr>
          <p:cNvPr id="33" name="Text 31"/>
          <p:cNvSpPr/>
          <p:nvPr/>
        </p:nvSpPr>
        <p:spPr>
          <a:xfrm>
            <a:off x="7754112" y="1709928"/>
            <a:ext cx="1261872" cy="384048"/>
          </a:xfrm>
          <a:prstGeom prst="rect">
            <a:avLst/>
          </a:prstGeom>
          <a:noFill/>
          <a:ln/>
        </p:spPr>
        <p:txBody>
          <a:bodyPr wrap="square" lIns="0" tIns="0" rIns="0" bIns="0" rtlCol="0" anchor="ctr"/>
          <a:lstStyle/>
          <a:p>
            <a:pPr indent="0" marL="0">
              <a:buNone/>
            </a:pPr>
            <a:r>
              <a:rPr lang="en-US" sz="1300" b="1" dirty="0">
                <a:solidFill>
                  <a:srgbClr val="C9A84C"/>
                </a:solidFill>
              </a:rPr>
              <a:t>$42,000+</a:t>
            </a:r>
            <a:endParaRPr lang="en-US" sz="1300" dirty="0"/>
          </a:p>
        </p:txBody>
      </p:sp>
      <p:sp>
        <p:nvSpPr>
          <p:cNvPr id="34" name="Text 32"/>
          <p:cNvSpPr/>
          <p:nvPr/>
        </p:nvSpPr>
        <p:spPr>
          <a:xfrm>
            <a:off x="7754112" y="214884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SA-CCR + FRTB</a:t>
            </a:r>
            <a:endParaRPr lang="en-US" sz="800" dirty="0"/>
          </a:p>
        </p:txBody>
      </p:sp>
      <p:sp>
        <p:nvSpPr>
          <p:cNvPr id="35" name="Text 33"/>
          <p:cNvSpPr/>
          <p:nvPr/>
        </p:nvSpPr>
        <p:spPr>
          <a:xfrm>
            <a:off x="7754112" y="2377440"/>
            <a:ext cx="1261872" cy="1051560"/>
          </a:xfrm>
          <a:prstGeom prst="rect">
            <a:avLst/>
          </a:prstGeom>
          <a:noFill/>
          <a:ln/>
        </p:spPr>
        <p:txBody>
          <a:bodyPr wrap="square" lIns="0" tIns="0" rIns="0" bIns="0" rtlCol="0" anchor="t"/>
          <a:lstStyle/>
          <a:p>
            <a:pPr indent="0" marL="0">
              <a:buNone/>
            </a:pPr>
            <a:r>
              <a:rPr lang="en-US" sz="800" dirty="0">
                <a:solidFill>
                  <a:srgbClr val="1A1A2E"/>
                </a:solidFill>
              </a:rPr>
              <a:t>SA-CCR: commodity SF 18% (precious metals).</a:t>
            </a:r>
            <a:endParaRPr lang="en-US" sz="800" dirty="0"/>
          </a:p>
          <a:p>
            <a:pPr indent="0" marL="0">
              <a:buNone/>
            </a:pPr>
            <a:r>
              <a:rPr lang="en-US" sz="800" dirty="0">
                <a:solidFill>
                  <a:srgbClr val="1A1A2E"/>
                </a:solidFill>
              </a:rPr>
              <a:t>Adj notional $2.35m × MF. PFE significant.</a:t>
            </a:r>
            <a:endParaRPr lang="en-US" sz="800" dirty="0"/>
          </a:p>
          <a:p>
            <a:pPr indent="0" marL="0">
              <a:buNone/>
            </a:pPr>
            <a:r>
              <a:rPr lang="en-US" sz="800" dirty="0">
                <a:solidFill>
                  <a:srgbClr val="1A1A2E"/>
                </a:solidFill>
              </a:rPr>
              <a:t>FRTB: commodity risk factor, 20d LH for gold.</a:t>
            </a:r>
            <a:endParaRPr lang="en-US" sz="800" dirty="0"/>
          </a:p>
        </p:txBody>
      </p:sp>
      <p:graphicFrame>
        <p:nvGraphicFramePr>
          <p:cNvPr id="36" name="Chart 0" descr=""/>
          <p:cNvGraphicFramePr/>
          <p:nvPr/>
        </p:nvGraphicFramePr>
        <p:xfrm>
          <a:off x="274320" y="3584448"/>
          <a:ext cx="5029200" cy="1170432"/>
        </p:xfrm>
        <a:graphic xmlns:a="http://schemas.openxmlformats.org/drawingml/2006/main">
          <a:graphicData uri="http://schemas.openxmlformats.org/drawingml/2006/chart">
            <c:chart xmlns:c="http://schemas.openxmlformats.org/drawingml/2006/chart" r:id="rId1"/>
          </a:graphicData>
        </a:graphic>
      </p:graphicFrame>
      <p:sp>
        <p:nvSpPr>
          <p:cNvPr id="37" name="Shape 34"/>
          <p:cNvSpPr/>
          <p:nvPr/>
        </p:nvSpPr>
        <p:spPr>
          <a:xfrm>
            <a:off x="365760" y="4818888"/>
            <a:ext cx="8412480" cy="594360"/>
          </a:xfrm>
          <a:prstGeom prst="rect">
            <a:avLst/>
          </a:prstGeom>
          <a:solidFill>
            <a:srgbClr val="D6EAF8"/>
          </a:solidFill>
          <a:ln/>
        </p:spPr>
      </p:sp>
      <p:sp>
        <p:nvSpPr>
          <p:cNvPr id="38" name="Shape 35"/>
          <p:cNvSpPr/>
          <p:nvPr/>
        </p:nvSpPr>
        <p:spPr>
          <a:xfrm>
            <a:off x="365760" y="4818888"/>
            <a:ext cx="1005840" cy="594360"/>
          </a:xfrm>
          <a:prstGeom prst="rect">
            <a:avLst/>
          </a:prstGeom>
          <a:solidFill>
            <a:srgbClr val="1A6B3A"/>
          </a:solidFill>
          <a:ln/>
        </p:spPr>
      </p:sp>
      <p:sp>
        <p:nvSpPr>
          <p:cNvPr id="39" name="Text 36"/>
          <p:cNvSpPr/>
          <p:nvPr/>
        </p:nvSpPr>
        <p:spPr>
          <a:xfrm>
            <a:off x="365760" y="4818888"/>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COMMODITY NOTE</a:t>
            </a:r>
            <a:endParaRPr lang="en-US" sz="900" dirty="0"/>
          </a:p>
        </p:txBody>
      </p:sp>
      <p:sp>
        <p:nvSpPr>
          <p:cNvPr id="40" name="Text 37"/>
          <p:cNvSpPr/>
          <p:nvPr/>
        </p:nvSpPr>
        <p:spPr>
          <a:xfrm>
            <a:off x="1417320" y="4818888"/>
            <a:ext cx="7223760" cy="594360"/>
          </a:xfrm>
          <a:prstGeom prst="rect">
            <a:avLst/>
          </a:prstGeom>
          <a:noFill/>
          <a:ln/>
        </p:spPr>
        <p:txBody>
          <a:bodyPr wrap="square" lIns="0" tIns="0" rIns="0" bIns="0" rtlCol="0" anchor="ctr"/>
          <a:lstStyle/>
          <a:p>
            <a:pPr indent="0" marL="0">
              <a:buNone/>
            </a:pPr>
            <a:r>
              <a:rPr lang="en-US" sz="1000" dirty="0">
                <a:solidFill>
                  <a:srgbClr val="1A1A2E"/>
                </a:solidFill>
              </a:rPr>
              <a:t>Basel treats precious metals as commodities with SA-CCR supervisory factor of 18% — the highest commodity category, reflecting gold's price volatility. Under FRTB, gold is a separate risk factor bucket within the commodity risk class.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Critical Self-Review</a:t>
            </a:r>
            <a:endParaRPr lang="en-US" sz="900" dirty="0"/>
          </a:p>
        </p:txBody>
      </p:sp>
      <p:sp>
        <p:nvSpPr>
          <p:cNvPr id="4" name="Shape 2"/>
          <p:cNvSpPr/>
          <p:nvPr/>
        </p:nvSpPr>
        <p:spPr>
          <a:xfrm>
            <a:off x="0" y="0"/>
            <a:ext cx="9144000" cy="658368"/>
          </a:xfrm>
          <a:prstGeom prst="rect">
            <a:avLst/>
          </a:prstGeom>
          <a:solidFill>
            <a:srgbClr val="8B0000"/>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Critical Self-Review: Errors Found &amp; Corrected</a:t>
            </a:r>
            <a:endParaRPr lang="en-US" sz="2200" dirty="0"/>
          </a:p>
        </p:txBody>
      </p:sp>
      <p:sp>
        <p:nvSpPr>
          <p:cNvPr id="6" name="Shape 4"/>
          <p:cNvSpPr/>
          <p:nvPr/>
        </p:nvSpPr>
        <p:spPr>
          <a:xfrm>
            <a:off x="256032" y="777240"/>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7" name="Shape 5"/>
          <p:cNvSpPr/>
          <p:nvPr/>
        </p:nvSpPr>
        <p:spPr>
          <a:xfrm>
            <a:off x="256032" y="777240"/>
            <a:ext cx="502920" cy="1298448"/>
          </a:xfrm>
          <a:prstGeom prst="rect">
            <a:avLst/>
          </a:prstGeom>
          <a:solidFill>
            <a:srgbClr val="8B0000"/>
          </a:solidFill>
          <a:ln/>
        </p:spPr>
      </p:sp>
      <p:sp>
        <p:nvSpPr>
          <p:cNvPr id="8" name="Text 6"/>
          <p:cNvSpPr/>
          <p:nvPr/>
        </p:nvSpPr>
        <p:spPr>
          <a:xfrm>
            <a:off x="256032" y="1097280"/>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9" name="Text 7"/>
          <p:cNvSpPr/>
          <p:nvPr/>
        </p:nvSpPr>
        <p:spPr>
          <a:xfrm>
            <a:off x="256032" y="1581912"/>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HIGH</a:t>
            </a:r>
            <a:endParaRPr lang="en-US" sz="700" dirty="0"/>
          </a:p>
        </p:txBody>
      </p:sp>
      <p:sp>
        <p:nvSpPr>
          <p:cNvPr id="10" name="Text 8"/>
          <p:cNvSpPr/>
          <p:nvPr/>
        </p:nvSpPr>
        <p:spPr>
          <a:xfrm>
            <a:off x="850392" y="850392"/>
            <a:ext cx="3474720" cy="274320"/>
          </a:xfrm>
          <a:prstGeom prst="rect">
            <a:avLst/>
          </a:prstGeom>
          <a:noFill/>
          <a:ln/>
        </p:spPr>
        <p:txBody>
          <a:bodyPr wrap="square" lIns="0" tIns="0" rIns="0" bIns="0" rtlCol="0" anchor="ctr"/>
          <a:lstStyle/>
          <a:p>
            <a:pPr indent="0" marL="0">
              <a:buNone/>
            </a:pPr>
            <a:r>
              <a:rPr lang="en-US" sz="1050" b="1" dirty="0">
                <a:solidFill>
                  <a:srgbClr val="8B0000"/>
                </a:solidFill>
              </a:rPr>
              <a:t>SA-CCR Attribution</a:t>
            </a:r>
            <a:endParaRPr lang="en-US" sz="1050" dirty="0"/>
          </a:p>
        </p:txBody>
      </p:sp>
      <p:sp>
        <p:nvSpPr>
          <p:cNvPr id="11" name="Text 9"/>
          <p:cNvSpPr/>
          <p:nvPr/>
        </p:nvSpPr>
        <p:spPr>
          <a:xfrm>
            <a:off x="850392" y="1124712"/>
            <a:ext cx="3474720" cy="877824"/>
          </a:xfrm>
          <a:prstGeom prst="rect">
            <a:avLst/>
          </a:prstGeom>
          <a:noFill/>
          <a:ln/>
        </p:spPr>
        <p:txBody>
          <a:bodyPr wrap="square" lIns="0" tIns="0" rIns="0" bIns="0" rtlCol="0" anchor="t"/>
          <a:lstStyle/>
          <a:p>
            <a:pPr indent="0" marL="0">
              <a:buNone/>
            </a:pPr>
            <a:r>
              <a:rPr lang="en-US" sz="900" dirty="0">
                <a:solidFill>
                  <a:srgbClr val="1A1A2E"/>
                </a:solidFill>
              </a:rPr>
              <a:t>Misassigned SA-CCR to Basel III. Corrected: finalised March 2014 — a Basel IV element. Basel III retained CEM and IMM.</a:t>
            </a:r>
            <a:endParaRPr lang="en-US" sz="900" dirty="0"/>
          </a:p>
        </p:txBody>
      </p:sp>
      <p:sp>
        <p:nvSpPr>
          <p:cNvPr id="12" name="Shape 10"/>
          <p:cNvSpPr/>
          <p:nvPr/>
        </p:nvSpPr>
        <p:spPr>
          <a:xfrm>
            <a:off x="256032" y="2167128"/>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1"/>
          <p:cNvSpPr/>
          <p:nvPr/>
        </p:nvSpPr>
        <p:spPr>
          <a:xfrm>
            <a:off x="256032" y="2167128"/>
            <a:ext cx="502920" cy="1298448"/>
          </a:xfrm>
          <a:prstGeom prst="rect">
            <a:avLst/>
          </a:prstGeom>
          <a:solidFill>
            <a:srgbClr val="8B0000"/>
          </a:solidFill>
          <a:ln/>
        </p:spPr>
      </p:sp>
      <p:sp>
        <p:nvSpPr>
          <p:cNvPr id="14" name="Text 12"/>
          <p:cNvSpPr/>
          <p:nvPr/>
        </p:nvSpPr>
        <p:spPr>
          <a:xfrm>
            <a:off x="256032" y="2487168"/>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15" name="Text 13"/>
          <p:cNvSpPr/>
          <p:nvPr/>
        </p:nvSpPr>
        <p:spPr>
          <a:xfrm>
            <a:off x="256032" y="2971800"/>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HIGH</a:t>
            </a:r>
            <a:endParaRPr lang="en-US" sz="700" dirty="0"/>
          </a:p>
        </p:txBody>
      </p:sp>
      <p:sp>
        <p:nvSpPr>
          <p:cNvPr id="16" name="Text 14"/>
          <p:cNvSpPr/>
          <p:nvPr/>
        </p:nvSpPr>
        <p:spPr>
          <a:xfrm>
            <a:off x="850392" y="2240280"/>
            <a:ext cx="3474720" cy="274320"/>
          </a:xfrm>
          <a:prstGeom prst="rect">
            <a:avLst/>
          </a:prstGeom>
          <a:noFill/>
          <a:ln/>
        </p:spPr>
        <p:txBody>
          <a:bodyPr wrap="square" lIns="0" tIns="0" rIns="0" bIns="0" rtlCol="0" anchor="ctr"/>
          <a:lstStyle/>
          <a:p>
            <a:pPr indent="0" marL="0">
              <a:buNone/>
            </a:pPr>
            <a:r>
              <a:rPr lang="en-US" sz="1050" b="1" dirty="0">
                <a:solidFill>
                  <a:srgbClr val="8B0000"/>
                </a:solidFill>
              </a:rPr>
              <a:t>Equity Index Specific Risk</a:t>
            </a:r>
            <a:endParaRPr lang="en-US" sz="1050" dirty="0"/>
          </a:p>
        </p:txBody>
      </p:sp>
      <p:sp>
        <p:nvSpPr>
          <p:cNvPr id="17" name="Text 15"/>
          <p:cNvSpPr/>
          <p:nvPr/>
        </p:nvSpPr>
        <p:spPr>
          <a:xfrm>
            <a:off x="850392" y="2514600"/>
            <a:ext cx="3474720" cy="877824"/>
          </a:xfrm>
          <a:prstGeom prst="rect">
            <a:avLst/>
          </a:prstGeom>
          <a:noFill/>
          <a:ln/>
        </p:spPr>
        <p:txBody>
          <a:bodyPr wrap="square" lIns="0" tIns="0" rIns="0" bIns="0" rtlCol="0" anchor="t"/>
          <a:lstStyle/>
          <a:p>
            <a:pPr indent="0" marL="0">
              <a:buNone/>
            </a:pPr>
            <a:r>
              <a:rPr lang="en-US" sz="900" dirty="0">
                <a:solidFill>
                  <a:srgbClr val="1A1A2E"/>
                </a:solidFill>
              </a:rPr>
              <a:t>Applied 8% specific risk to FTSE 100 index option. Corrected: diversified index = 0% specific risk. Only 8% general market risk applies.</a:t>
            </a:r>
            <a:endParaRPr lang="en-US" sz="900" dirty="0"/>
          </a:p>
        </p:txBody>
      </p:sp>
      <p:sp>
        <p:nvSpPr>
          <p:cNvPr id="18" name="Shape 16"/>
          <p:cNvSpPr/>
          <p:nvPr/>
        </p:nvSpPr>
        <p:spPr>
          <a:xfrm>
            <a:off x="256032" y="3557016"/>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7"/>
          <p:cNvSpPr/>
          <p:nvPr/>
        </p:nvSpPr>
        <p:spPr>
          <a:xfrm>
            <a:off x="256032" y="3557016"/>
            <a:ext cx="502920" cy="1298448"/>
          </a:xfrm>
          <a:prstGeom prst="rect">
            <a:avLst/>
          </a:prstGeom>
          <a:solidFill>
            <a:srgbClr val="D4770A"/>
          </a:solidFill>
          <a:ln/>
        </p:spPr>
      </p:sp>
      <p:sp>
        <p:nvSpPr>
          <p:cNvPr id="20" name="Text 18"/>
          <p:cNvSpPr/>
          <p:nvPr/>
        </p:nvSpPr>
        <p:spPr>
          <a:xfrm>
            <a:off x="256032" y="3877056"/>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21" name="Text 19"/>
          <p:cNvSpPr/>
          <p:nvPr/>
        </p:nvSpPr>
        <p:spPr>
          <a:xfrm>
            <a:off x="256032" y="4361688"/>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MED</a:t>
            </a:r>
            <a:endParaRPr lang="en-US" sz="700" dirty="0"/>
          </a:p>
        </p:txBody>
      </p:sp>
      <p:sp>
        <p:nvSpPr>
          <p:cNvPr id="22" name="Text 20"/>
          <p:cNvSpPr/>
          <p:nvPr/>
        </p:nvSpPr>
        <p:spPr>
          <a:xfrm>
            <a:off x="850392" y="3630168"/>
            <a:ext cx="3474720" cy="274320"/>
          </a:xfrm>
          <a:prstGeom prst="rect">
            <a:avLst/>
          </a:prstGeom>
          <a:noFill/>
          <a:ln/>
        </p:spPr>
        <p:txBody>
          <a:bodyPr wrap="square" lIns="0" tIns="0" rIns="0" bIns="0" rtlCol="0" anchor="ctr"/>
          <a:lstStyle/>
          <a:p>
            <a:pPr indent="0" marL="0">
              <a:buNone/>
            </a:pPr>
            <a:r>
              <a:rPr lang="en-US" sz="1050" b="1" dirty="0">
                <a:solidFill>
                  <a:srgbClr val="D4770A"/>
                </a:solidFill>
              </a:rPr>
              <a:t>SA-CCR Duration Formula</a:t>
            </a:r>
            <a:endParaRPr lang="en-US" sz="1050" dirty="0"/>
          </a:p>
        </p:txBody>
      </p:sp>
      <p:sp>
        <p:nvSpPr>
          <p:cNvPr id="23" name="Text 21"/>
          <p:cNvSpPr/>
          <p:nvPr/>
        </p:nvSpPr>
        <p:spPr>
          <a:xfrm>
            <a:off x="850392" y="3904488"/>
            <a:ext cx="3474720" cy="877824"/>
          </a:xfrm>
          <a:prstGeom prst="rect">
            <a:avLst/>
          </a:prstGeom>
          <a:noFill/>
          <a:ln/>
        </p:spPr>
        <p:txBody>
          <a:bodyPr wrap="square" lIns="0" tIns="0" rIns="0" bIns="0" rtlCol="0" anchor="t"/>
          <a:lstStyle/>
          <a:p>
            <a:pPr indent="0" marL="0">
              <a:buNone/>
            </a:pPr>
            <a:r>
              <a:rPr lang="en-US" sz="900" dirty="0">
                <a:solidFill>
                  <a:srgbClr val="1A1A2E"/>
                </a:solidFill>
              </a:rPr>
              <a:t>Used '0.85×ln(1+T)/T'. Corrected: SD=(exp(−0.05S)−exp(−0.05E))/0.05. For 5yr IRS: SD=4.42yr.</a:t>
            </a:r>
            <a:endParaRPr lang="en-US" sz="900" dirty="0"/>
          </a:p>
        </p:txBody>
      </p:sp>
      <p:sp>
        <p:nvSpPr>
          <p:cNvPr id="24" name="Shape 22"/>
          <p:cNvSpPr/>
          <p:nvPr/>
        </p:nvSpPr>
        <p:spPr>
          <a:xfrm>
            <a:off x="4599432" y="777240"/>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5" name="Shape 23"/>
          <p:cNvSpPr/>
          <p:nvPr/>
        </p:nvSpPr>
        <p:spPr>
          <a:xfrm>
            <a:off x="4599432" y="777240"/>
            <a:ext cx="502920" cy="1298448"/>
          </a:xfrm>
          <a:prstGeom prst="rect">
            <a:avLst/>
          </a:prstGeom>
          <a:solidFill>
            <a:srgbClr val="0E6B8A"/>
          </a:solidFill>
          <a:ln/>
        </p:spPr>
      </p:sp>
      <p:sp>
        <p:nvSpPr>
          <p:cNvPr id="26" name="Text 24"/>
          <p:cNvSpPr/>
          <p:nvPr/>
        </p:nvSpPr>
        <p:spPr>
          <a:xfrm>
            <a:off x="4599432" y="1097280"/>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04</a:t>
            </a:r>
            <a:endParaRPr lang="en-US" sz="1600" dirty="0"/>
          </a:p>
        </p:txBody>
      </p:sp>
      <p:sp>
        <p:nvSpPr>
          <p:cNvPr id="27" name="Text 25"/>
          <p:cNvSpPr/>
          <p:nvPr/>
        </p:nvSpPr>
        <p:spPr>
          <a:xfrm>
            <a:off x="4599432" y="1581912"/>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LOW</a:t>
            </a:r>
            <a:endParaRPr lang="en-US" sz="700" dirty="0"/>
          </a:p>
        </p:txBody>
      </p:sp>
      <p:sp>
        <p:nvSpPr>
          <p:cNvPr id="28" name="Text 26"/>
          <p:cNvSpPr/>
          <p:nvPr/>
        </p:nvSpPr>
        <p:spPr>
          <a:xfrm>
            <a:off x="5193792" y="850392"/>
            <a:ext cx="3474720" cy="274320"/>
          </a:xfrm>
          <a:prstGeom prst="rect">
            <a:avLst/>
          </a:prstGeom>
          <a:noFill/>
          <a:ln/>
        </p:spPr>
        <p:txBody>
          <a:bodyPr wrap="square" lIns="0" tIns="0" rIns="0" bIns="0" rtlCol="0" anchor="ctr"/>
          <a:lstStyle/>
          <a:p>
            <a:pPr indent="0" marL="0">
              <a:buNone/>
            </a:pPr>
            <a:r>
              <a:rPr lang="en-US" sz="1050" b="1" dirty="0">
                <a:solidFill>
                  <a:srgbClr val="0E6B8A"/>
                </a:solidFill>
              </a:rPr>
              <a:t>BCBS Founding Members</a:t>
            </a:r>
            <a:endParaRPr lang="en-US" sz="1050" dirty="0"/>
          </a:p>
        </p:txBody>
      </p:sp>
      <p:sp>
        <p:nvSpPr>
          <p:cNvPr id="29" name="Text 27"/>
          <p:cNvSpPr/>
          <p:nvPr/>
        </p:nvSpPr>
        <p:spPr>
          <a:xfrm>
            <a:off x="5193792" y="1124712"/>
            <a:ext cx="3474720" cy="877824"/>
          </a:xfrm>
          <a:prstGeom prst="rect">
            <a:avLst/>
          </a:prstGeom>
          <a:noFill/>
          <a:ln/>
        </p:spPr>
        <p:txBody>
          <a:bodyPr wrap="square" lIns="0" tIns="0" rIns="0" bIns="0" rtlCol="0" anchor="t"/>
          <a:lstStyle/>
          <a:p>
            <a:pPr indent="0" marL="0">
              <a:buNone/>
            </a:pPr>
            <a:r>
              <a:rPr lang="en-US" sz="900" dirty="0">
                <a:solidFill>
                  <a:srgbClr val="1A1A2E"/>
                </a:solidFill>
              </a:rPr>
              <a:t>Stated '14 countries'. Corrected: 12 member jurisdictions (Belgium, Canada, France, Germany, Italy, Japan, Luxembourg, Netherlands, Sweden, Switzerland, UK, US).</a:t>
            </a:r>
            <a:endParaRPr lang="en-US" sz="900" dirty="0"/>
          </a:p>
        </p:txBody>
      </p:sp>
      <p:sp>
        <p:nvSpPr>
          <p:cNvPr id="30" name="Shape 28"/>
          <p:cNvSpPr/>
          <p:nvPr/>
        </p:nvSpPr>
        <p:spPr>
          <a:xfrm>
            <a:off x="4599432" y="2167128"/>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1" name="Shape 29"/>
          <p:cNvSpPr/>
          <p:nvPr/>
        </p:nvSpPr>
        <p:spPr>
          <a:xfrm>
            <a:off x="4599432" y="2167128"/>
            <a:ext cx="502920" cy="1298448"/>
          </a:xfrm>
          <a:prstGeom prst="rect">
            <a:avLst/>
          </a:prstGeom>
          <a:solidFill>
            <a:srgbClr val="0E6B8A"/>
          </a:solidFill>
          <a:ln/>
        </p:spPr>
      </p:sp>
      <p:sp>
        <p:nvSpPr>
          <p:cNvPr id="32" name="Text 30"/>
          <p:cNvSpPr/>
          <p:nvPr/>
        </p:nvSpPr>
        <p:spPr>
          <a:xfrm>
            <a:off x="4599432" y="2487168"/>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05</a:t>
            </a:r>
            <a:endParaRPr lang="en-US" sz="1600" dirty="0"/>
          </a:p>
        </p:txBody>
      </p:sp>
      <p:sp>
        <p:nvSpPr>
          <p:cNvPr id="33" name="Text 31"/>
          <p:cNvSpPr/>
          <p:nvPr/>
        </p:nvSpPr>
        <p:spPr>
          <a:xfrm>
            <a:off x="4599432" y="2971800"/>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LOW</a:t>
            </a:r>
            <a:endParaRPr lang="en-US" sz="700" dirty="0"/>
          </a:p>
        </p:txBody>
      </p:sp>
      <p:sp>
        <p:nvSpPr>
          <p:cNvPr id="34" name="Text 32"/>
          <p:cNvSpPr/>
          <p:nvPr/>
        </p:nvSpPr>
        <p:spPr>
          <a:xfrm>
            <a:off x="5193792" y="2240280"/>
            <a:ext cx="3474720" cy="274320"/>
          </a:xfrm>
          <a:prstGeom prst="rect">
            <a:avLst/>
          </a:prstGeom>
          <a:noFill/>
          <a:ln/>
        </p:spPr>
        <p:txBody>
          <a:bodyPr wrap="square" lIns="0" tIns="0" rIns="0" bIns="0" rtlCol="0" anchor="ctr"/>
          <a:lstStyle/>
          <a:p>
            <a:pPr indent="0" marL="0">
              <a:buNone/>
            </a:pPr>
            <a:r>
              <a:rPr lang="en-US" sz="1050" b="1" dirty="0">
                <a:solidFill>
                  <a:srgbClr val="0E6B8A"/>
                </a:solidFill>
              </a:rPr>
              <a:t>CCyB Release Mechanism</a:t>
            </a:r>
            <a:endParaRPr lang="en-US" sz="1050" dirty="0"/>
          </a:p>
        </p:txBody>
      </p:sp>
      <p:sp>
        <p:nvSpPr>
          <p:cNvPr id="35" name="Text 33"/>
          <p:cNvSpPr/>
          <p:nvPr/>
        </p:nvSpPr>
        <p:spPr>
          <a:xfrm>
            <a:off x="5193792" y="2514600"/>
            <a:ext cx="3474720" cy="877824"/>
          </a:xfrm>
          <a:prstGeom prst="rect">
            <a:avLst/>
          </a:prstGeom>
          <a:noFill/>
          <a:ln/>
        </p:spPr>
        <p:txBody>
          <a:bodyPr wrap="square" lIns="0" tIns="0" rIns="0" bIns="0" rtlCol="0" anchor="t"/>
          <a:lstStyle/>
          <a:p>
            <a:pPr indent="0" marL="0">
              <a:buNone/>
            </a:pPr>
            <a:r>
              <a:rPr lang="en-US" sz="900" dirty="0">
                <a:solidFill>
                  <a:srgbClr val="1A1A2E"/>
                </a:solidFill>
              </a:rPr>
              <a:t>Described only build-up. Corrected: the release mechanism in downturns is equally important to the macro-prudential design.</a:t>
            </a:r>
            <a:endParaRPr lang="en-US" sz="900" dirty="0"/>
          </a:p>
        </p:txBody>
      </p:sp>
      <p:sp>
        <p:nvSpPr>
          <p:cNvPr id="36" name="Shape 34"/>
          <p:cNvSpPr/>
          <p:nvPr/>
        </p:nvSpPr>
        <p:spPr>
          <a:xfrm>
            <a:off x="4599432" y="3557016"/>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7" name="Shape 35"/>
          <p:cNvSpPr/>
          <p:nvPr/>
        </p:nvSpPr>
        <p:spPr>
          <a:xfrm>
            <a:off x="4599432" y="3557016"/>
            <a:ext cx="502920" cy="1298448"/>
          </a:xfrm>
          <a:prstGeom prst="rect">
            <a:avLst/>
          </a:prstGeom>
          <a:solidFill>
            <a:srgbClr val="0E6B8A"/>
          </a:solidFill>
          <a:ln/>
        </p:spPr>
      </p:sp>
      <p:sp>
        <p:nvSpPr>
          <p:cNvPr id="38" name="Text 36"/>
          <p:cNvSpPr/>
          <p:nvPr/>
        </p:nvSpPr>
        <p:spPr>
          <a:xfrm>
            <a:off x="4599432" y="3877056"/>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06</a:t>
            </a:r>
            <a:endParaRPr lang="en-US" sz="1600" dirty="0"/>
          </a:p>
        </p:txBody>
      </p:sp>
      <p:sp>
        <p:nvSpPr>
          <p:cNvPr id="39" name="Text 37"/>
          <p:cNvSpPr/>
          <p:nvPr/>
        </p:nvSpPr>
        <p:spPr>
          <a:xfrm>
            <a:off x="4599432" y="4361688"/>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LOW</a:t>
            </a:r>
            <a:endParaRPr lang="en-US" sz="700" dirty="0"/>
          </a:p>
        </p:txBody>
      </p:sp>
      <p:sp>
        <p:nvSpPr>
          <p:cNvPr id="40" name="Text 38"/>
          <p:cNvSpPr/>
          <p:nvPr/>
        </p:nvSpPr>
        <p:spPr>
          <a:xfrm>
            <a:off x="5193792" y="3630168"/>
            <a:ext cx="3474720" cy="274320"/>
          </a:xfrm>
          <a:prstGeom prst="rect">
            <a:avLst/>
          </a:prstGeom>
          <a:noFill/>
          <a:ln/>
        </p:spPr>
        <p:txBody>
          <a:bodyPr wrap="square" lIns="0" tIns="0" rIns="0" bIns="0" rtlCol="0" anchor="ctr"/>
          <a:lstStyle/>
          <a:p>
            <a:pPr indent="0" marL="0">
              <a:buNone/>
            </a:pPr>
            <a:r>
              <a:rPr lang="en-US" sz="1050" b="1" dirty="0">
                <a:solidFill>
                  <a:srgbClr val="0E6B8A"/>
                </a:solidFill>
              </a:rPr>
              <a:t>Market Risk Capital Formula</a:t>
            </a:r>
            <a:endParaRPr lang="en-US" sz="1050" dirty="0"/>
          </a:p>
        </p:txBody>
      </p:sp>
      <p:sp>
        <p:nvSpPr>
          <p:cNvPr id="41" name="Text 39"/>
          <p:cNvSpPr/>
          <p:nvPr/>
        </p:nvSpPr>
        <p:spPr>
          <a:xfrm>
            <a:off x="5193792" y="3904488"/>
            <a:ext cx="3474720" cy="877824"/>
          </a:xfrm>
          <a:prstGeom prst="rect">
            <a:avLst/>
          </a:prstGeom>
          <a:noFill/>
          <a:ln/>
        </p:spPr>
        <p:txBody>
          <a:bodyPr wrap="square" lIns="0" tIns="0" rIns="0" bIns="0" rtlCol="0" anchor="t"/>
          <a:lstStyle/>
          <a:p>
            <a:pPr indent="0" marL="0">
              <a:buNone/>
            </a:pPr>
            <a:r>
              <a:rPr lang="en-US" sz="900" dirty="0">
                <a:solidFill>
                  <a:srgbClr val="1A1A2E"/>
                </a:solidFill>
              </a:rPr>
              <a:t>Expression ambiguous. Corrected: capital=max(VaR_{t-1}, mc×avg₆₀VaR), VaR on 10-day basis. mc≥3.0 rising to 4.0 with exceptions.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The Knowledge Repository</a:t>
            </a:r>
            <a:endParaRPr lang="en-US" sz="900" dirty="0"/>
          </a:p>
        </p:txBody>
      </p:sp>
      <p:sp>
        <p:nvSpPr>
          <p:cNvPr id="4" name="Shape 2"/>
          <p:cNvSpPr/>
          <p:nvPr/>
        </p:nvSpPr>
        <p:spPr>
          <a:xfrm>
            <a:off x="0" y="0"/>
            <a:ext cx="164592" cy="5143500"/>
          </a:xfrm>
          <a:prstGeom prst="rect">
            <a:avLst/>
          </a:prstGeom>
          <a:solidFill>
            <a:srgbClr val="C9A84C"/>
          </a:solidFill>
          <a:ln/>
        </p:spPr>
      </p:sp>
      <p:sp>
        <p:nvSpPr>
          <p:cNvPr id="5" name="Text 3"/>
          <p:cNvSpPr/>
          <p:nvPr/>
        </p:nvSpPr>
        <p:spPr>
          <a:xfrm>
            <a:off x="365760" y="182880"/>
            <a:ext cx="8412480" cy="548640"/>
          </a:xfrm>
          <a:prstGeom prst="rect">
            <a:avLst/>
          </a:prstGeom>
          <a:noFill/>
          <a:ln/>
        </p:spPr>
        <p:txBody>
          <a:bodyPr wrap="square" lIns="0" tIns="0" rIns="0" bIns="0" rtlCol="0" anchor="ctr"/>
          <a:lstStyle/>
          <a:p>
            <a:pPr indent="0" marL="0">
              <a:buNone/>
            </a:pPr>
            <a:r>
              <a:rPr lang="en-US" sz="2600" b="1" dirty="0">
                <a:solidFill>
                  <a:srgbClr val="FFFFFF"/>
                </a:solidFill>
              </a:rPr>
              <a:t>Building an Industry Knowledge Repository</a:t>
            </a:r>
            <a:endParaRPr lang="en-US" sz="2600" dirty="0"/>
          </a:p>
        </p:txBody>
      </p:sp>
      <p:sp>
        <p:nvSpPr>
          <p:cNvPr id="6" name="Text 4"/>
          <p:cNvSpPr/>
          <p:nvPr/>
        </p:nvSpPr>
        <p:spPr>
          <a:xfrm>
            <a:off x="365760" y="749808"/>
            <a:ext cx="8412480" cy="320040"/>
          </a:xfrm>
          <a:prstGeom prst="rect">
            <a:avLst/>
          </a:prstGeom>
          <a:noFill/>
          <a:ln/>
        </p:spPr>
        <p:txBody>
          <a:bodyPr wrap="square" lIns="0" tIns="0" rIns="0" bIns="0" rtlCol="0" anchor="ctr"/>
          <a:lstStyle/>
          <a:p>
            <a:pPr indent="0" marL="0">
              <a:buNone/>
            </a:pPr>
            <a:r>
              <a:rPr lang="en-US" sz="1300" i="1" dirty="0">
                <a:solidFill>
                  <a:srgbClr val="C9A84C"/>
                </a:solidFill>
              </a:rPr>
              <a:t>Making practitioner expertise accessible to the next generation — free, structured, continuously updated</a:t>
            </a:r>
            <a:endParaRPr lang="en-US" sz="1300" dirty="0"/>
          </a:p>
        </p:txBody>
      </p:sp>
      <p:sp>
        <p:nvSpPr>
          <p:cNvPr id="7" name="Shape 5"/>
          <p:cNvSpPr/>
          <p:nvPr/>
        </p:nvSpPr>
        <p:spPr>
          <a:xfrm>
            <a:off x="347472" y="1170432"/>
            <a:ext cx="2743200" cy="3246120"/>
          </a:xfrm>
          <a:prstGeom prst="rect">
            <a:avLst/>
          </a:prstGeom>
          <a:solidFill>
            <a:srgbClr val="1A2F55"/>
          </a:solidFill>
          <a:ln/>
          <a:effectLst>
            <a:outerShdw sx="100000" sy="100000" kx="0" ky="0" algn="bl" rotWithShape="0" blurRad="101600" dist="38100" dir="8100000">
              <a:srgbClr val="000000">
                <a:alpha val="18000"/>
              </a:srgbClr>
            </a:outerShdw>
          </a:effectLst>
        </p:spPr>
      </p:sp>
      <p:sp>
        <p:nvSpPr>
          <p:cNvPr id="8" name="Shape 6"/>
          <p:cNvSpPr/>
          <p:nvPr/>
        </p:nvSpPr>
        <p:spPr>
          <a:xfrm>
            <a:off x="347472" y="1170432"/>
            <a:ext cx="2743200" cy="64008"/>
          </a:xfrm>
          <a:prstGeom prst="rect">
            <a:avLst/>
          </a:prstGeom>
          <a:solidFill>
            <a:srgbClr val="0E6B8A"/>
          </a:solidFill>
          <a:ln/>
        </p:spPr>
      </p:sp>
      <p:sp>
        <p:nvSpPr>
          <p:cNvPr id="9" name="Text 7"/>
          <p:cNvSpPr/>
          <p:nvPr/>
        </p:nvSpPr>
        <p:spPr>
          <a:xfrm>
            <a:off x="457200" y="1261872"/>
            <a:ext cx="2523744" cy="274320"/>
          </a:xfrm>
          <a:prstGeom prst="rect">
            <a:avLst/>
          </a:prstGeom>
          <a:noFill/>
          <a:ln/>
        </p:spPr>
        <p:txBody>
          <a:bodyPr wrap="square" lIns="0" tIns="0" rIns="0" bIns="0" rtlCol="0" anchor="ctr"/>
          <a:lstStyle/>
          <a:p>
            <a:pPr indent="0" marL="0">
              <a:buNone/>
            </a:pPr>
            <a:r>
              <a:rPr lang="en-US" sz="1100" b="1" spc="200" kern="0" dirty="0">
                <a:solidFill>
                  <a:srgbClr val="0E6B8A"/>
                </a:solidFill>
              </a:rPr>
              <a:t>THE PROBLEM</a:t>
            </a:r>
            <a:endParaRPr lang="en-US" sz="1100" dirty="0"/>
          </a:p>
        </p:txBody>
      </p:sp>
      <p:sp>
        <p:nvSpPr>
          <p:cNvPr id="10" name="Text 8"/>
          <p:cNvSpPr/>
          <p:nvPr/>
        </p:nvSpPr>
        <p:spPr>
          <a:xfrm>
            <a:off x="457200" y="1591056"/>
            <a:ext cx="2523744" cy="2743200"/>
          </a:xfrm>
          <a:prstGeom prst="rect">
            <a:avLst/>
          </a:prstGeom>
          <a:noFill/>
          <a:ln/>
        </p:spPr>
        <p:txBody>
          <a:bodyPr wrap="square" lIns="0" tIns="0" rIns="0" bIns="0" rtlCol="0" anchor="t"/>
          <a:lstStyle/>
          <a:p>
            <a:pPr indent="0" marL="0">
              <a:buNone/>
            </a:pPr>
            <a:r>
              <a:rPr lang="en-US" sz="1050" dirty="0">
                <a:solidFill>
                  <a:srgbClr val="D6EAF8"/>
                </a:solidFill>
              </a:rPr>
              <a:t>Institutional knowledge lives in the heads of experienced practitioners. BIS papers are dense. Online summaries skip the nuance. Juniors entering Reg-Tech, Credit Risk, or Derivatives have no accessible practitioner-grade reference.</a:t>
            </a:r>
            <a:endParaRPr lang="en-US" sz="1050" dirty="0"/>
          </a:p>
        </p:txBody>
      </p:sp>
      <p:sp>
        <p:nvSpPr>
          <p:cNvPr id="11" name="Shape 9"/>
          <p:cNvSpPr/>
          <p:nvPr/>
        </p:nvSpPr>
        <p:spPr>
          <a:xfrm>
            <a:off x="3227832" y="1170432"/>
            <a:ext cx="2743200" cy="3246120"/>
          </a:xfrm>
          <a:prstGeom prst="rect">
            <a:avLst/>
          </a:prstGeom>
          <a:solidFill>
            <a:srgbClr val="1A2F55"/>
          </a:solidFill>
          <a:ln/>
          <a:effectLst>
            <a:outerShdw sx="100000" sy="100000" kx="0" ky="0" algn="bl" rotWithShape="0" blurRad="101600" dist="38100" dir="8100000">
              <a:srgbClr val="000000">
                <a:alpha val="18000"/>
              </a:srgbClr>
            </a:outerShdw>
          </a:effectLst>
        </p:spPr>
      </p:sp>
      <p:sp>
        <p:nvSpPr>
          <p:cNvPr id="12" name="Shape 10"/>
          <p:cNvSpPr/>
          <p:nvPr/>
        </p:nvSpPr>
        <p:spPr>
          <a:xfrm>
            <a:off x="3227832" y="1170432"/>
            <a:ext cx="2743200" cy="64008"/>
          </a:xfrm>
          <a:prstGeom prst="rect">
            <a:avLst/>
          </a:prstGeom>
          <a:solidFill>
            <a:srgbClr val="C9A84C"/>
          </a:solidFill>
          <a:ln/>
        </p:spPr>
      </p:sp>
      <p:sp>
        <p:nvSpPr>
          <p:cNvPr id="13" name="Text 11"/>
          <p:cNvSpPr/>
          <p:nvPr/>
        </p:nvSpPr>
        <p:spPr>
          <a:xfrm>
            <a:off x="3337560" y="1261872"/>
            <a:ext cx="2523744" cy="274320"/>
          </a:xfrm>
          <a:prstGeom prst="rect">
            <a:avLst/>
          </a:prstGeom>
          <a:noFill/>
          <a:ln/>
        </p:spPr>
        <p:txBody>
          <a:bodyPr wrap="square" lIns="0" tIns="0" rIns="0" bIns="0" rtlCol="0" anchor="ctr"/>
          <a:lstStyle/>
          <a:p>
            <a:pPr indent="0" marL="0">
              <a:buNone/>
            </a:pPr>
            <a:r>
              <a:rPr lang="en-US" sz="1100" b="1" spc="200" kern="0" dirty="0">
                <a:solidFill>
                  <a:srgbClr val="C9A84C"/>
                </a:solidFill>
              </a:rPr>
              <a:t>THE APPROACH</a:t>
            </a:r>
            <a:endParaRPr lang="en-US" sz="1100" dirty="0"/>
          </a:p>
        </p:txBody>
      </p:sp>
      <p:sp>
        <p:nvSpPr>
          <p:cNvPr id="14" name="Text 12"/>
          <p:cNvSpPr/>
          <p:nvPr/>
        </p:nvSpPr>
        <p:spPr>
          <a:xfrm>
            <a:off x="3337560" y="1591056"/>
            <a:ext cx="2523744" cy="2743200"/>
          </a:xfrm>
          <a:prstGeom prst="rect">
            <a:avLst/>
          </a:prstGeom>
          <a:noFill/>
          <a:ln/>
        </p:spPr>
        <p:txBody>
          <a:bodyPr wrap="square" lIns="0" tIns="0" rIns="0" bIns="0" rtlCol="0" anchor="t"/>
          <a:lstStyle/>
          <a:p>
            <a:pPr indent="0" marL="0">
              <a:buNone/>
            </a:pPr>
            <a:r>
              <a:rPr lang="en-US" sz="1050" dirty="0">
                <a:solidFill>
                  <a:srgbClr val="D6EAF8"/>
                </a:solidFill>
              </a:rPr>
              <a:t>Practitioner-directed AI co-authorship. Domain expertise (26yr) provides the frame, context, and critical review. Claude structures, drafts, and self-corrects. The result: accessible depth that neither could produce alone.</a:t>
            </a:r>
            <a:endParaRPr lang="en-US" sz="1050" dirty="0"/>
          </a:p>
        </p:txBody>
      </p:sp>
      <p:sp>
        <p:nvSpPr>
          <p:cNvPr id="15" name="Shape 13"/>
          <p:cNvSpPr/>
          <p:nvPr/>
        </p:nvSpPr>
        <p:spPr>
          <a:xfrm>
            <a:off x="6108192" y="1170432"/>
            <a:ext cx="2743200" cy="3246120"/>
          </a:xfrm>
          <a:prstGeom prst="rect">
            <a:avLst/>
          </a:prstGeom>
          <a:solidFill>
            <a:srgbClr val="1A2F55"/>
          </a:solidFill>
          <a:ln/>
          <a:effectLst>
            <a:outerShdw sx="100000" sy="100000" kx="0" ky="0" algn="bl" rotWithShape="0" blurRad="101600" dist="38100" dir="8100000">
              <a:srgbClr val="000000">
                <a:alpha val="18000"/>
              </a:srgbClr>
            </a:outerShdw>
          </a:effectLst>
        </p:spPr>
      </p:sp>
      <p:sp>
        <p:nvSpPr>
          <p:cNvPr id="16" name="Shape 14"/>
          <p:cNvSpPr/>
          <p:nvPr/>
        </p:nvSpPr>
        <p:spPr>
          <a:xfrm>
            <a:off x="6108192" y="1170432"/>
            <a:ext cx="2743200" cy="64008"/>
          </a:xfrm>
          <a:prstGeom prst="rect">
            <a:avLst/>
          </a:prstGeom>
          <a:solidFill>
            <a:srgbClr val="D6EAF8"/>
          </a:solidFill>
          <a:ln/>
        </p:spPr>
      </p:sp>
      <p:sp>
        <p:nvSpPr>
          <p:cNvPr id="17" name="Text 15"/>
          <p:cNvSpPr/>
          <p:nvPr/>
        </p:nvSpPr>
        <p:spPr>
          <a:xfrm>
            <a:off x="6217920" y="1261872"/>
            <a:ext cx="2523744" cy="274320"/>
          </a:xfrm>
          <a:prstGeom prst="rect">
            <a:avLst/>
          </a:prstGeom>
          <a:noFill/>
          <a:ln/>
        </p:spPr>
        <p:txBody>
          <a:bodyPr wrap="square" lIns="0" tIns="0" rIns="0" bIns="0" rtlCol="0" anchor="ctr"/>
          <a:lstStyle/>
          <a:p>
            <a:pPr indent="0" marL="0">
              <a:buNone/>
            </a:pPr>
            <a:r>
              <a:rPr lang="en-US" sz="1100" b="1" spc="200" kern="0" dirty="0">
                <a:solidFill>
                  <a:srgbClr val="D6EAF8"/>
                </a:solidFill>
              </a:rPr>
              <a:t>THE OUTPUT</a:t>
            </a:r>
            <a:endParaRPr lang="en-US" sz="1100" dirty="0"/>
          </a:p>
        </p:txBody>
      </p:sp>
      <p:sp>
        <p:nvSpPr>
          <p:cNvPr id="18" name="Text 16"/>
          <p:cNvSpPr/>
          <p:nvPr/>
        </p:nvSpPr>
        <p:spPr>
          <a:xfrm>
            <a:off x="6217920" y="1591056"/>
            <a:ext cx="2523744" cy="2743200"/>
          </a:xfrm>
          <a:prstGeom prst="rect">
            <a:avLst/>
          </a:prstGeom>
          <a:noFill/>
          <a:ln/>
        </p:spPr>
        <p:txBody>
          <a:bodyPr wrap="square" lIns="0" tIns="0" rIns="0" bIns="0" rtlCol="0" anchor="t"/>
          <a:lstStyle/>
          <a:p>
            <a:pPr indent="0" marL="0">
              <a:buNone/>
            </a:pPr>
            <a:r>
              <a:rPr lang="en-US" sz="1050" dirty="0">
                <a:solidFill>
                  <a:srgbClr val="D6EAF8"/>
                </a:solidFill>
              </a:rPr>
              <a:t>Topic-by-topic reference documents and slide decks: Basel I–IV (this module), xVA, FRTB, ISDA/netting, UMR margin reform, EMIR/CFTC/MAS reporting, clearing infrastructure — all free to access.</a:t>
            </a:r>
            <a:endParaRPr lang="en-US" sz="1050" dirty="0"/>
          </a:p>
        </p:txBody>
      </p:sp>
      <p:sp>
        <p:nvSpPr>
          <p:cNvPr id="19" name="Text 17"/>
          <p:cNvSpPr/>
          <p:nvPr/>
        </p:nvSpPr>
        <p:spPr>
          <a:xfrm>
            <a:off x="347472" y="4553712"/>
            <a:ext cx="8449056" cy="384048"/>
          </a:xfrm>
          <a:prstGeom prst="rect">
            <a:avLst/>
          </a:prstGeom>
          <a:noFill/>
          <a:ln/>
        </p:spPr>
        <p:txBody>
          <a:bodyPr wrap="square" lIns="0" tIns="0" rIns="0" bIns="0" rtlCol="0" anchor="ctr"/>
          <a:lstStyle/>
          <a:p>
            <a:pPr indent="0" marL="0">
              <a:buNone/>
            </a:pPr>
            <a:r>
              <a:rPr lang="en-US" sz="1100" b="1" dirty="0">
                <a:solidFill>
                  <a:srgbClr val="C9A84C"/>
                </a:solidFill>
              </a:rPr>
              <a:t>Topics ahead: </a:t>
            </a:r>
            <a:pPr indent="0" marL="0">
              <a:buNone/>
            </a:pPr>
            <a:r>
              <a:rPr lang="en-US" sz="1100" dirty="0">
                <a:solidFill>
                  <a:srgbClr val="8899AA"/>
                </a:solidFill>
              </a:rPr>
              <a:t>xVA &amp; Counterparty Risk  |  FRTB Implementation  |  ISDA &amp; Netting  |  UMR Margin Reform  |  EMIR/CFTC/MAS Reporting  |  CCP Architecture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Sources &amp; Closing</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Primary Sources &amp; Further Reading</a:t>
            </a:r>
            <a:endParaRPr lang="en-US" sz="2200" dirty="0"/>
          </a:p>
        </p:txBody>
      </p:sp>
      <p:sp>
        <p:nvSpPr>
          <p:cNvPr id="6" name="Shape 4"/>
          <p:cNvSpPr/>
          <p:nvPr/>
        </p:nvSpPr>
        <p:spPr>
          <a:xfrm>
            <a:off x="274320" y="777240"/>
            <a:ext cx="5120640" cy="320040"/>
          </a:xfrm>
          <a:prstGeom prst="rect">
            <a:avLst/>
          </a:prstGeom>
          <a:solidFill>
            <a:srgbClr val="0E6B8A"/>
          </a:solidFill>
          <a:ln/>
        </p:spPr>
      </p:sp>
      <p:sp>
        <p:nvSpPr>
          <p:cNvPr id="7" name="Text 5"/>
          <p:cNvSpPr/>
          <p:nvPr/>
        </p:nvSpPr>
        <p:spPr>
          <a:xfrm>
            <a:off x="274320" y="777240"/>
            <a:ext cx="5120640" cy="320040"/>
          </a:xfrm>
          <a:prstGeom prst="rect">
            <a:avLst/>
          </a:prstGeom>
          <a:noFill/>
          <a:ln/>
        </p:spPr>
        <p:txBody>
          <a:bodyPr wrap="square" lIns="0" tIns="0" rIns="0" bIns="0" rtlCol="0" anchor="ctr"/>
          <a:lstStyle/>
          <a:p>
            <a:pPr algn="ctr" indent="0" marL="0">
              <a:buNone/>
            </a:pPr>
            <a:r>
              <a:rPr lang="en-US" sz="900" b="1" dirty="0">
                <a:solidFill>
                  <a:srgbClr val="FFFFFF"/>
                </a:solidFill>
              </a:rPr>
              <a:t>PRIMARY BCBS / BIS PUBLICATIONS</a:t>
            </a:r>
            <a:endParaRPr lang="en-US" sz="900" dirty="0"/>
          </a:p>
        </p:txBody>
      </p:sp>
      <p:sp>
        <p:nvSpPr>
          <p:cNvPr id="8" name="Shape 6"/>
          <p:cNvSpPr/>
          <p:nvPr/>
        </p:nvSpPr>
        <p:spPr>
          <a:xfrm>
            <a:off x="274320" y="1097280"/>
            <a:ext cx="5120640" cy="347472"/>
          </a:xfrm>
          <a:prstGeom prst="rect">
            <a:avLst/>
          </a:prstGeom>
          <a:solidFill>
            <a:srgbClr val="FFFFFF"/>
          </a:solidFill>
          <a:ln/>
        </p:spPr>
      </p:sp>
      <p:sp>
        <p:nvSpPr>
          <p:cNvPr id="9" name="Shape 7"/>
          <p:cNvSpPr/>
          <p:nvPr/>
        </p:nvSpPr>
        <p:spPr>
          <a:xfrm>
            <a:off x="274320" y="1097280"/>
            <a:ext cx="54864" cy="347472"/>
          </a:xfrm>
          <a:prstGeom prst="rect">
            <a:avLst/>
          </a:prstGeom>
          <a:solidFill>
            <a:srgbClr val="0E6B8A"/>
          </a:solidFill>
          <a:ln/>
        </p:spPr>
      </p:sp>
      <p:sp>
        <p:nvSpPr>
          <p:cNvPr id="10" name="Text 8"/>
          <p:cNvSpPr/>
          <p:nvPr/>
        </p:nvSpPr>
        <p:spPr>
          <a:xfrm>
            <a:off x="393192" y="1097280"/>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(1988) — International Convergence of Capital Measurement and Capital Standards</a:t>
            </a:r>
            <a:endParaRPr lang="en-US" sz="900" dirty="0"/>
          </a:p>
        </p:txBody>
      </p:sp>
      <p:sp>
        <p:nvSpPr>
          <p:cNvPr id="11" name="Shape 9"/>
          <p:cNvSpPr/>
          <p:nvPr/>
        </p:nvSpPr>
        <p:spPr>
          <a:xfrm>
            <a:off x="274320" y="1444752"/>
            <a:ext cx="5120640" cy="347472"/>
          </a:xfrm>
          <a:prstGeom prst="rect">
            <a:avLst/>
          </a:prstGeom>
          <a:solidFill>
            <a:srgbClr val="F4F6F8"/>
          </a:solidFill>
          <a:ln/>
        </p:spPr>
      </p:sp>
      <p:sp>
        <p:nvSpPr>
          <p:cNvPr id="12" name="Shape 10"/>
          <p:cNvSpPr/>
          <p:nvPr/>
        </p:nvSpPr>
        <p:spPr>
          <a:xfrm>
            <a:off x="274320" y="1444752"/>
            <a:ext cx="54864" cy="347472"/>
          </a:xfrm>
          <a:prstGeom prst="rect">
            <a:avLst/>
          </a:prstGeom>
          <a:solidFill>
            <a:srgbClr val="0E6B8A"/>
          </a:solidFill>
          <a:ln/>
        </p:spPr>
      </p:sp>
      <p:sp>
        <p:nvSpPr>
          <p:cNvPr id="13" name="Text 11"/>
          <p:cNvSpPr/>
          <p:nvPr/>
        </p:nvSpPr>
        <p:spPr>
          <a:xfrm>
            <a:off x="393192" y="1444752"/>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(1996) — Amendment to the Capital Accord to Incorporate Market Risks</a:t>
            </a:r>
            <a:endParaRPr lang="en-US" sz="900" dirty="0"/>
          </a:p>
        </p:txBody>
      </p:sp>
      <p:sp>
        <p:nvSpPr>
          <p:cNvPr id="14" name="Shape 12"/>
          <p:cNvSpPr/>
          <p:nvPr/>
        </p:nvSpPr>
        <p:spPr>
          <a:xfrm>
            <a:off x="274320" y="1792224"/>
            <a:ext cx="5120640" cy="347472"/>
          </a:xfrm>
          <a:prstGeom prst="rect">
            <a:avLst/>
          </a:prstGeom>
          <a:solidFill>
            <a:srgbClr val="FFFFFF"/>
          </a:solidFill>
          <a:ln/>
        </p:spPr>
      </p:sp>
      <p:sp>
        <p:nvSpPr>
          <p:cNvPr id="15" name="Shape 13"/>
          <p:cNvSpPr/>
          <p:nvPr/>
        </p:nvSpPr>
        <p:spPr>
          <a:xfrm>
            <a:off x="274320" y="1792224"/>
            <a:ext cx="54864" cy="347472"/>
          </a:xfrm>
          <a:prstGeom prst="rect">
            <a:avLst/>
          </a:prstGeom>
          <a:solidFill>
            <a:srgbClr val="0E6B8A"/>
          </a:solidFill>
          <a:ln/>
        </p:spPr>
      </p:sp>
      <p:sp>
        <p:nvSpPr>
          <p:cNvPr id="16" name="Text 14"/>
          <p:cNvSpPr/>
          <p:nvPr/>
        </p:nvSpPr>
        <p:spPr>
          <a:xfrm>
            <a:off x="393192" y="1792224"/>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(2004/2006) — Basel II Revised Framework (Comprehensive Version)</a:t>
            </a:r>
            <a:endParaRPr lang="en-US" sz="900" dirty="0"/>
          </a:p>
        </p:txBody>
      </p:sp>
      <p:sp>
        <p:nvSpPr>
          <p:cNvPr id="17" name="Shape 15"/>
          <p:cNvSpPr/>
          <p:nvPr/>
        </p:nvSpPr>
        <p:spPr>
          <a:xfrm>
            <a:off x="274320" y="2139696"/>
            <a:ext cx="5120640" cy="347472"/>
          </a:xfrm>
          <a:prstGeom prst="rect">
            <a:avLst/>
          </a:prstGeom>
          <a:solidFill>
            <a:srgbClr val="F4F6F8"/>
          </a:solidFill>
          <a:ln/>
        </p:spPr>
      </p:sp>
      <p:sp>
        <p:nvSpPr>
          <p:cNvPr id="18" name="Shape 16"/>
          <p:cNvSpPr/>
          <p:nvPr/>
        </p:nvSpPr>
        <p:spPr>
          <a:xfrm>
            <a:off x="274320" y="2139696"/>
            <a:ext cx="54864" cy="347472"/>
          </a:xfrm>
          <a:prstGeom prst="rect">
            <a:avLst/>
          </a:prstGeom>
          <a:solidFill>
            <a:srgbClr val="0E6B8A"/>
          </a:solidFill>
          <a:ln/>
        </p:spPr>
      </p:sp>
      <p:sp>
        <p:nvSpPr>
          <p:cNvPr id="19" name="Text 17"/>
          <p:cNvSpPr/>
          <p:nvPr/>
        </p:nvSpPr>
        <p:spPr>
          <a:xfrm>
            <a:off x="393192" y="2139696"/>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(2010/2011) — Basel III: A global regulatory framework</a:t>
            </a:r>
            <a:endParaRPr lang="en-US" sz="900" dirty="0"/>
          </a:p>
        </p:txBody>
      </p:sp>
      <p:sp>
        <p:nvSpPr>
          <p:cNvPr id="20" name="Shape 18"/>
          <p:cNvSpPr/>
          <p:nvPr/>
        </p:nvSpPr>
        <p:spPr>
          <a:xfrm>
            <a:off x="274320" y="2487168"/>
            <a:ext cx="5120640" cy="347472"/>
          </a:xfrm>
          <a:prstGeom prst="rect">
            <a:avLst/>
          </a:prstGeom>
          <a:solidFill>
            <a:srgbClr val="FFFFFF"/>
          </a:solidFill>
          <a:ln/>
        </p:spPr>
      </p:sp>
      <p:sp>
        <p:nvSpPr>
          <p:cNvPr id="21" name="Shape 19"/>
          <p:cNvSpPr/>
          <p:nvPr/>
        </p:nvSpPr>
        <p:spPr>
          <a:xfrm>
            <a:off x="274320" y="2487168"/>
            <a:ext cx="54864" cy="347472"/>
          </a:xfrm>
          <a:prstGeom prst="rect">
            <a:avLst/>
          </a:prstGeom>
          <a:solidFill>
            <a:srgbClr val="0E6B8A"/>
          </a:solidFill>
          <a:ln/>
        </p:spPr>
      </p:sp>
      <p:sp>
        <p:nvSpPr>
          <p:cNvPr id="22" name="Text 20"/>
          <p:cNvSpPr/>
          <p:nvPr/>
        </p:nvSpPr>
        <p:spPr>
          <a:xfrm>
            <a:off x="393192" y="2487168"/>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(2013) — Basel III: Liquidity Coverage Ratio</a:t>
            </a:r>
            <a:endParaRPr lang="en-US" sz="900" dirty="0"/>
          </a:p>
        </p:txBody>
      </p:sp>
      <p:sp>
        <p:nvSpPr>
          <p:cNvPr id="23" name="Shape 21"/>
          <p:cNvSpPr/>
          <p:nvPr/>
        </p:nvSpPr>
        <p:spPr>
          <a:xfrm>
            <a:off x="274320" y="2834640"/>
            <a:ext cx="5120640" cy="347472"/>
          </a:xfrm>
          <a:prstGeom prst="rect">
            <a:avLst/>
          </a:prstGeom>
          <a:solidFill>
            <a:srgbClr val="F4F6F8"/>
          </a:solidFill>
          <a:ln/>
        </p:spPr>
      </p:sp>
      <p:sp>
        <p:nvSpPr>
          <p:cNvPr id="24" name="Shape 22"/>
          <p:cNvSpPr/>
          <p:nvPr/>
        </p:nvSpPr>
        <p:spPr>
          <a:xfrm>
            <a:off x="274320" y="2834640"/>
            <a:ext cx="54864" cy="347472"/>
          </a:xfrm>
          <a:prstGeom prst="rect">
            <a:avLst/>
          </a:prstGeom>
          <a:solidFill>
            <a:srgbClr val="0E6B8A"/>
          </a:solidFill>
          <a:ln/>
        </p:spPr>
      </p:sp>
      <p:sp>
        <p:nvSpPr>
          <p:cNvPr id="25" name="Text 23"/>
          <p:cNvSpPr/>
          <p:nvPr/>
        </p:nvSpPr>
        <p:spPr>
          <a:xfrm>
            <a:off x="393192" y="2834640"/>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(2014) — Basel III: Net Stable Funding Ratio</a:t>
            </a:r>
            <a:endParaRPr lang="en-US" sz="900" dirty="0"/>
          </a:p>
        </p:txBody>
      </p:sp>
      <p:sp>
        <p:nvSpPr>
          <p:cNvPr id="26" name="Shape 24"/>
          <p:cNvSpPr/>
          <p:nvPr/>
        </p:nvSpPr>
        <p:spPr>
          <a:xfrm>
            <a:off x="274320" y="3182112"/>
            <a:ext cx="5120640" cy="347472"/>
          </a:xfrm>
          <a:prstGeom prst="rect">
            <a:avLst/>
          </a:prstGeom>
          <a:solidFill>
            <a:srgbClr val="FFFFFF"/>
          </a:solidFill>
          <a:ln/>
        </p:spPr>
      </p:sp>
      <p:sp>
        <p:nvSpPr>
          <p:cNvPr id="27" name="Shape 25"/>
          <p:cNvSpPr/>
          <p:nvPr/>
        </p:nvSpPr>
        <p:spPr>
          <a:xfrm>
            <a:off x="274320" y="3182112"/>
            <a:ext cx="54864" cy="347472"/>
          </a:xfrm>
          <a:prstGeom prst="rect">
            <a:avLst/>
          </a:prstGeom>
          <a:solidFill>
            <a:srgbClr val="0E6B8A"/>
          </a:solidFill>
          <a:ln/>
        </p:spPr>
      </p:sp>
      <p:sp>
        <p:nvSpPr>
          <p:cNvPr id="28" name="Text 26"/>
          <p:cNvSpPr/>
          <p:nvPr/>
        </p:nvSpPr>
        <p:spPr>
          <a:xfrm>
            <a:off x="393192" y="3182112"/>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(2014) — SA-CCR: Standardised approach for measuring CCR</a:t>
            </a:r>
            <a:endParaRPr lang="en-US" sz="900" dirty="0"/>
          </a:p>
        </p:txBody>
      </p:sp>
      <p:sp>
        <p:nvSpPr>
          <p:cNvPr id="29" name="Shape 27"/>
          <p:cNvSpPr/>
          <p:nvPr/>
        </p:nvSpPr>
        <p:spPr>
          <a:xfrm>
            <a:off x="274320" y="3529584"/>
            <a:ext cx="5120640" cy="347472"/>
          </a:xfrm>
          <a:prstGeom prst="rect">
            <a:avLst/>
          </a:prstGeom>
          <a:solidFill>
            <a:srgbClr val="F4F6F8"/>
          </a:solidFill>
          <a:ln/>
        </p:spPr>
      </p:sp>
      <p:sp>
        <p:nvSpPr>
          <p:cNvPr id="30" name="Shape 28"/>
          <p:cNvSpPr/>
          <p:nvPr/>
        </p:nvSpPr>
        <p:spPr>
          <a:xfrm>
            <a:off x="274320" y="3529584"/>
            <a:ext cx="54864" cy="347472"/>
          </a:xfrm>
          <a:prstGeom prst="rect">
            <a:avLst/>
          </a:prstGeom>
          <a:solidFill>
            <a:srgbClr val="0E6B8A"/>
          </a:solidFill>
          <a:ln/>
        </p:spPr>
      </p:sp>
      <p:sp>
        <p:nvSpPr>
          <p:cNvPr id="31" name="Text 29"/>
          <p:cNvSpPr/>
          <p:nvPr/>
        </p:nvSpPr>
        <p:spPr>
          <a:xfrm>
            <a:off x="393192" y="3529584"/>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(2016) — Standardised Measurement Approach for Operational Risk</a:t>
            </a:r>
            <a:endParaRPr lang="en-US" sz="900" dirty="0"/>
          </a:p>
        </p:txBody>
      </p:sp>
      <p:sp>
        <p:nvSpPr>
          <p:cNvPr id="32" name="Shape 30"/>
          <p:cNvSpPr/>
          <p:nvPr/>
        </p:nvSpPr>
        <p:spPr>
          <a:xfrm>
            <a:off x="274320" y="3877056"/>
            <a:ext cx="5120640" cy="347472"/>
          </a:xfrm>
          <a:prstGeom prst="rect">
            <a:avLst/>
          </a:prstGeom>
          <a:solidFill>
            <a:srgbClr val="FFFFFF"/>
          </a:solidFill>
          <a:ln/>
        </p:spPr>
      </p:sp>
      <p:sp>
        <p:nvSpPr>
          <p:cNvPr id="33" name="Shape 31"/>
          <p:cNvSpPr/>
          <p:nvPr/>
        </p:nvSpPr>
        <p:spPr>
          <a:xfrm>
            <a:off x="274320" y="3877056"/>
            <a:ext cx="54864" cy="347472"/>
          </a:xfrm>
          <a:prstGeom prst="rect">
            <a:avLst/>
          </a:prstGeom>
          <a:solidFill>
            <a:srgbClr val="0E6B8A"/>
          </a:solidFill>
          <a:ln/>
        </p:spPr>
      </p:sp>
      <p:sp>
        <p:nvSpPr>
          <p:cNvPr id="34" name="Text 32"/>
          <p:cNvSpPr/>
          <p:nvPr/>
        </p:nvSpPr>
        <p:spPr>
          <a:xfrm>
            <a:off x="393192" y="3877056"/>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(2017) — Basel III: Finalising post-crisis reforms (Basel IV)</a:t>
            </a:r>
            <a:endParaRPr lang="en-US" sz="900" dirty="0"/>
          </a:p>
        </p:txBody>
      </p:sp>
      <p:sp>
        <p:nvSpPr>
          <p:cNvPr id="35" name="Shape 33"/>
          <p:cNvSpPr/>
          <p:nvPr/>
        </p:nvSpPr>
        <p:spPr>
          <a:xfrm>
            <a:off x="274320" y="4224528"/>
            <a:ext cx="5120640" cy="347472"/>
          </a:xfrm>
          <a:prstGeom prst="rect">
            <a:avLst/>
          </a:prstGeom>
          <a:solidFill>
            <a:srgbClr val="F4F6F8"/>
          </a:solidFill>
          <a:ln/>
        </p:spPr>
      </p:sp>
      <p:sp>
        <p:nvSpPr>
          <p:cNvPr id="36" name="Shape 34"/>
          <p:cNvSpPr/>
          <p:nvPr/>
        </p:nvSpPr>
        <p:spPr>
          <a:xfrm>
            <a:off x="274320" y="4224528"/>
            <a:ext cx="54864" cy="347472"/>
          </a:xfrm>
          <a:prstGeom prst="rect">
            <a:avLst/>
          </a:prstGeom>
          <a:solidFill>
            <a:srgbClr val="0E6B8A"/>
          </a:solidFill>
          <a:ln/>
        </p:spPr>
      </p:sp>
      <p:sp>
        <p:nvSpPr>
          <p:cNvPr id="37" name="Text 35"/>
          <p:cNvSpPr/>
          <p:nvPr/>
        </p:nvSpPr>
        <p:spPr>
          <a:xfrm>
            <a:off x="393192" y="4224528"/>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(2019) — Minimum capital requirements for market risk (FRTB final)</a:t>
            </a:r>
            <a:endParaRPr lang="en-US" sz="900" dirty="0"/>
          </a:p>
        </p:txBody>
      </p:sp>
      <p:sp>
        <p:nvSpPr>
          <p:cNvPr id="38" name="Text 36"/>
          <p:cNvSpPr/>
          <p:nvPr/>
        </p:nvSpPr>
        <p:spPr>
          <a:xfrm>
            <a:off x="274320" y="4572000"/>
            <a:ext cx="5120640" cy="256032"/>
          </a:xfrm>
          <a:prstGeom prst="rect">
            <a:avLst/>
          </a:prstGeom>
          <a:noFill/>
          <a:ln/>
        </p:spPr>
        <p:txBody>
          <a:bodyPr wrap="square" lIns="0" tIns="0" rIns="0" bIns="0" rtlCol="0" anchor="ctr"/>
          <a:lstStyle/>
          <a:p>
            <a:pPr indent="0" marL="0">
              <a:buNone/>
            </a:pPr>
            <a:r>
              <a:rPr lang="en-US" sz="850" i="1" dirty="0">
                <a:solidFill>
                  <a:srgbClr val="8899AA"/>
                </a:solidFill>
              </a:rPr>
              <a:t>All BCBS documents freely available at: bis.org/bcbs/publ.htm</a:t>
            </a:r>
            <a:endParaRPr lang="en-US" sz="850" dirty="0"/>
          </a:p>
        </p:txBody>
      </p:sp>
      <p:sp>
        <p:nvSpPr>
          <p:cNvPr id="39" name="Shape 37"/>
          <p:cNvSpPr/>
          <p:nvPr/>
        </p:nvSpPr>
        <p:spPr>
          <a:xfrm>
            <a:off x="5577840" y="777240"/>
            <a:ext cx="3291840" cy="320040"/>
          </a:xfrm>
          <a:prstGeom prst="rect">
            <a:avLst/>
          </a:prstGeom>
          <a:solidFill>
            <a:srgbClr val="1B3A6B"/>
          </a:solidFill>
          <a:ln/>
        </p:spPr>
      </p:sp>
      <p:sp>
        <p:nvSpPr>
          <p:cNvPr id="40" name="Text 38"/>
          <p:cNvSpPr/>
          <p:nvPr/>
        </p:nvSpPr>
        <p:spPr>
          <a:xfrm>
            <a:off x="5577840" y="777240"/>
            <a:ext cx="3291840" cy="320040"/>
          </a:xfrm>
          <a:prstGeom prst="rect">
            <a:avLst/>
          </a:prstGeom>
          <a:noFill/>
          <a:ln/>
        </p:spPr>
        <p:txBody>
          <a:bodyPr wrap="square" lIns="0" tIns="0" rIns="0" bIns="0" rtlCol="0" anchor="ctr"/>
          <a:lstStyle/>
          <a:p>
            <a:pPr algn="ctr" indent="0" marL="0">
              <a:buNone/>
            </a:pPr>
            <a:r>
              <a:rPr lang="en-US" sz="900" b="1" dirty="0">
                <a:solidFill>
                  <a:srgbClr val="FFFFFF"/>
                </a:solidFill>
              </a:rPr>
              <a:t>PRACTITIONER LITERATURE</a:t>
            </a:r>
            <a:endParaRPr lang="en-US" sz="900" dirty="0"/>
          </a:p>
        </p:txBody>
      </p:sp>
      <p:sp>
        <p:nvSpPr>
          <p:cNvPr id="41" name="Shape 39"/>
          <p:cNvSpPr/>
          <p:nvPr/>
        </p:nvSpPr>
        <p:spPr>
          <a:xfrm>
            <a:off x="5577840" y="1097280"/>
            <a:ext cx="3291840" cy="457200"/>
          </a:xfrm>
          <a:prstGeom prst="rect">
            <a:avLst/>
          </a:prstGeom>
          <a:solidFill>
            <a:srgbClr val="FFFFFF"/>
          </a:solidFill>
          <a:ln/>
        </p:spPr>
      </p:sp>
      <p:sp>
        <p:nvSpPr>
          <p:cNvPr id="42" name="Text 40"/>
          <p:cNvSpPr/>
          <p:nvPr/>
        </p:nvSpPr>
        <p:spPr>
          <a:xfrm>
            <a:off x="5669280" y="1097280"/>
            <a:ext cx="3108960" cy="457200"/>
          </a:xfrm>
          <a:prstGeom prst="rect">
            <a:avLst/>
          </a:prstGeom>
          <a:noFill/>
          <a:ln/>
        </p:spPr>
        <p:txBody>
          <a:bodyPr wrap="square" lIns="0" tIns="0" rIns="0" bIns="0" rtlCol="0" anchor="ctr"/>
          <a:lstStyle/>
          <a:p>
            <a:pPr indent="0" marL="0">
              <a:buNone/>
            </a:pPr>
            <a:r>
              <a:rPr lang="en-US" sz="950" dirty="0">
                <a:solidFill>
                  <a:srgbClr val="1A1A2E"/>
                </a:solidFill>
              </a:rPr>
              <a:t>Gregory, J. — The xVA Challenge (Wiley, 2020)</a:t>
            </a:r>
            <a:endParaRPr lang="en-US" sz="950" dirty="0"/>
          </a:p>
        </p:txBody>
      </p:sp>
      <p:sp>
        <p:nvSpPr>
          <p:cNvPr id="43" name="Shape 41"/>
          <p:cNvSpPr/>
          <p:nvPr/>
        </p:nvSpPr>
        <p:spPr>
          <a:xfrm>
            <a:off x="5577840" y="1554480"/>
            <a:ext cx="3291840" cy="457200"/>
          </a:xfrm>
          <a:prstGeom prst="rect">
            <a:avLst/>
          </a:prstGeom>
          <a:solidFill>
            <a:srgbClr val="F4F6F8"/>
          </a:solidFill>
          <a:ln/>
        </p:spPr>
      </p:sp>
      <p:sp>
        <p:nvSpPr>
          <p:cNvPr id="44" name="Text 42"/>
          <p:cNvSpPr/>
          <p:nvPr/>
        </p:nvSpPr>
        <p:spPr>
          <a:xfrm>
            <a:off x="5669280" y="1554480"/>
            <a:ext cx="3108960" cy="457200"/>
          </a:xfrm>
          <a:prstGeom prst="rect">
            <a:avLst/>
          </a:prstGeom>
          <a:noFill/>
          <a:ln/>
        </p:spPr>
        <p:txBody>
          <a:bodyPr wrap="square" lIns="0" tIns="0" rIns="0" bIns="0" rtlCol="0" anchor="ctr"/>
          <a:lstStyle/>
          <a:p>
            <a:pPr indent="0" marL="0">
              <a:buNone/>
            </a:pPr>
            <a:r>
              <a:rPr lang="en-US" sz="950" dirty="0">
                <a:solidFill>
                  <a:srgbClr val="1A1A2E"/>
                </a:solidFill>
              </a:rPr>
              <a:t>Roncalli, T. — Handbook on Financial Risk Management (CRC, 2020)</a:t>
            </a:r>
            <a:endParaRPr lang="en-US" sz="950" dirty="0"/>
          </a:p>
        </p:txBody>
      </p:sp>
      <p:sp>
        <p:nvSpPr>
          <p:cNvPr id="45" name="Shape 43"/>
          <p:cNvSpPr/>
          <p:nvPr/>
        </p:nvSpPr>
        <p:spPr>
          <a:xfrm>
            <a:off x="5577840" y="2011680"/>
            <a:ext cx="3291840" cy="457200"/>
          </a:xfrm>
          <a:prstGeom prst="rect">
            <a:avLst/>
          </a:prstGeom>
          <a:solidFill>
            <a:srgbClr val="FFFFFF"/>
          </a:solidFill>
          <a:ln/>
        </p:spPr>
      </p:sp>
      <p:sp>
        <p:nvSpPr>
          <p:cNvPr id="46" name="Text 44"/>
          <p:cNvSpPr/>
          <p:nvPr/>
        </p:nvSpPr>
        <p:spPr>
          <a:xfrm>
            <a:off x="5669280" y="2011680"/>
            <a:ext cx="3108960" cy="457200"/>
          </a:xfrm>
          <a:prstGeom prst="rect">
            <a:avLst/>
          </a:prstGeom>
          <a:noFill/>
          <a:ln/>
        </p:spPr>
        <p:txBody>
          <a:bodyPr wrap="square" lIns="0" tIns="0" rIns="0" bIns="0" rtlCol="0" anchor="ctr"/>
          <a:lstStyle/>
          <a:p>
            <a:pPr indent="0" marL="0">
              <a:buNone/>
            </a:pPr>
            <a:r>
              <a:rPr lang="en-US" sz="950" dirty="0">
                <a:solidFill>
                  <a:srgbClr val="1A1A2E"/>
                </a:solidFill>
              </a:rPr>
              <a:t>Tarullo, D.K. — Banking on Basel (Peterson Institute, 2008)</a:t>
            </a:r>
            <a:endParaRPr lang="en-US" sz="950" dirty="0"/>
          </a:p>
        </p:txBody>
      </p:sp>
      <p:sp>
        <p:nvSpPr>
          <p:cNvPr id="47" name="Shape 45"/>
          <p:cNvSpPr/>
          <p:nvPr/>
        </p:nvSpPr>
        <p:spPr>
          <a:xfrm>
            <a:off x="5577840" y="2468880"/>
            <a:ext cx="3291840" cy="457200"/>
          </a:xfrm>
          <a:prstGeom prst="rect">
            <a:avLst/>
          </a:prstGeom>
          <a:solidFill>
            <a:srgbClr val="F4F6F8"/>
          </a:solidFill>
          <a:ln/>
        </p:spPr>
      </p:sp>
      <p:sp>
        <p:nvSpPr>
          <p:cNvPr id="48" name="Text 46"/>
          <p:cNvSpPr/>
          <p:nvPr/>
        </p:nvSpPr>
        <p:spPr>
          <a:xfrm>
            <a:off x="5669280" y="2468880"/>
            <a:ext cx="3108960" cy="457200"/>
          </a:xfrm>
          <a:prstGeom prst="rect">
            <a:avLst/>
          </a:prstGeom>
          <a:noFill/>
          <a:ln/>
        </p:spPr>
        <p:txBody>
          <a:bodyPr wrap="square" lIns="0" tIns="0" rIns="0" bIns="0" rtlCol="0" anchor="ctr"/>
          <a:lstStyle/>
          <a:p>
            <a:pPr indent="0" marL="0">
              <a:buNone/>
            </a:pPr>
            <a:r>
              <a:rPr lang="en-US" sz="950" dirty="0">
                <a:solidFill>
                  <a:srgbClr val="1A1A2E"/>
                </a:solidFill>
              </a:rPr>
              <a:t>Cruz, Peters &amp; Shevchenko — Fundamental Aspects of Operational Risk (Wiley, 2015)</a:t>
            </a:r>
            <a:endParaRPr lang="en-US" sz="950" dirty="0"/>
          </a:p>
        </p:txBody>
      </p:sp>
      <p:sp>
        <p:nvSpPr>
          <p:cNvPr id="49" name="Shape 47"/>
          <p:cNvSpPr/>
          <p:nvPr/>
        </p:nvSpPr>
        <p:spPr>
          <a:xfrm>
            <a:off x="5577840" y="3090672"/>
            <a:ext cx="3291840" cy="1737360"/>
          </a:xfrm>
          <a:prstGeom prst="rect">
            <a:avLst/>
          </a:prstGeom>
          <a:solidFill>
            <a:srgbClr val="1B3A6B"/>
          </a:solidFill>
          <a:ln/>
          <a:effectLst>
            <a:outerShdw sx="100000" sy="100000" kx="0" ky="0" algn="bl" rotWithShape="0" blurRad="101600" dist="38100" dir="8100000">
              <a:srgbClr val="000000">
                <a:alpha val="18000"/>
              </a:srgbClr>
            </a:outerShdw>
          </a:effectLst>
        </p:spPr>
      </p:sp>
      <p:sp>
        <p:nvSpPr>
          <p:cNvPr id="50" name="Shape 48"/>
          <p:cNvSpPr/>
          <p:nvPr/>
        </p:nvSpPr>
        <p:spPr>
          <a:xfrm>
            <a:off x="5577840" y="3090672"/>
            <a:ext cx="3291840" cy="54864"/>
          </a:xfrm>
          <a:prstGeom prst="rect">
            <a:avLst/>
          </a:prstGeom>
          <a:solidFill>
            <a:srgbClr val="C9A84C"/>
          </a:solidFill>
          <a:ln/>
        </p:spPr>
      </p:sp>
      <p:sp>
        <p:nvSpPr>
          <p:cNvPr id="51" name="Text 49"/>
          <p:cNvSpPr/>
          <p:nvPr/>
        </p:nvSpPr>
        <p:spPr>
          <a:xfrm>
            <a:off x="5669280" y="3163824"/>
            <a:ext cx="3108960" cy="274320"/>
          </a:xfrm>
          <a:prstGeom prst="rect">
            <a:avLst/>
          </a:prstGeom>
          <a:noFill/>
          <a:ln/>
        </p:spPr>
        <p:txBody>
          <a:bodyPr wrap="square" lIns="0" tIns="0" rIns="0" bIns="0" rtlCol="0" anchor="ctr"/>
          <a:lstStyle/>
          <a:p>
            <a:pPr indent="0" marL="0">
              <a:buNone/>
            </a:pPr>
            <a:r>
              <a:rPr lang="en-US" sz="1100" b="1" dirty="0">
                <a:solidFill>
                  <a:srgbClr val="C9A84C"/>
                </a:solidFill>
              </a:rPr>
              <a:t>About This Work</a:t>
            </a:r>
            <a:endParaRPr lang="en-US" sz="1100" dirty="0"/>
          </a:p>
        </p:txBody>
      </p:sp>
      <p:sp>
        <p:nvSpPr>
          <p:cNvPr id="52" name="Text 50"/>
          <p:cNvSpPr/>
          <p:nvPr/>
        </p:nvSpPr>
        <p:spPr>
          <a:xfrm>
            <a:off x="5669280" y="3474720"/>
            <a:ext cx="3108960" cy="1298448"/>
          </a:xfrm>
          <a:prstGeom prst="rect">
            <a:avLst/>
          </a:prstGeom>
          <a:noFill/>
          <a:ln/>
        </p:spPr>
        <p:txBody>
          <a:bodyPr wrap="square" lIns="0" tIns="0" rIns="0" bIns="0" rtlCol="0" anchor="t"/>
          <a:lstStyle/>
          <a:p>
            <a:pPr indent="0" marL="0">
              <a:buNone/>
            </a:pPr>
            <a:r>
              <a:rPr lang="en-US" sz="900" dirty="0">
                <a:solidFill>
                  <a:srgbClr val="D6EAF8"/>
                </a:solidFill>
              </a:rPr>
              <a:t>Produced through structured dialogue between Sarthaka Nanda (26yr practitioner) and Claude (Anthropic). Domain expertise, practitioner context, and critical review provided by the author. All BCBS citations verifiable. Capital figures in worked examples are illustrative.</a:t>
            </a:r>
            <a:endParaRPr lang="en-US" sz="900" dirty="0"/>
          </a:p>
          <a:p>
            <a:pPr indent="0" marL="0">
              <a:buNone/>
            </a:pPr>
            <a:endParaRPr lang="en-US" sz="900" dirty="0"/>
          </a:p>
          <a:p>
            <a:pPr indent="0" marL="0">
              <a:buNone/>
            </a:pPr>
            <a:r>
              <a:rPr lang="en-US" sz="900" dirty="0">
                <a:solidFill>
                  <a:srgbClr val="D6EAF8"/>
                </a:solidFill>
              </a:rPr>
              <a:t>Published as part of an ongoing knowledge repository initiative for industry practitioners — free to access and share.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Glossary 1/3</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6949440" cy="658368"/>
          </a:xfrm>
          <a:prstGeom prst="rect">
            <a:avLst/>
          </a:prstGeom>
          <a:noFill/>
          <a:ln/>
        </p:spPr>
        <p:txBody>
          <a:bodyPr wrap="square" lIns="0" tIns="0" rIns="0" bIns="0" rtlCol="0" anchor="ctr"/>
          <a:lstStyle/>
          <a:p>
            <a:pPr indent="0" marL="0">
              <a:buNone/>
            </a:pPr>
            <a:r>
              <a:rPr lang="en-US" sz="1900" b="1" dirty="0">
                <a:solidFill>
                  <a:srgbClr val="FFFFFF"/>
                </a:solidFill>
              </a:rPr>
              <a:t>Glossary of Key Terms &amp; Abbreviations  —  Part 1  (AMA → LGD)</a:t>
            </a:r>
            <a:endParaRPr lang="en-US" sz="1900" dirty="0"/>
          </a:p>
        </p:txBody>
      </p:sp>
      <p:sp>
        <p:nvSpPr>
          <p:cNvPr id="6" name="Shape 4"/>
          <p:cNvSpPr/>
          <p:nvPr/>
        </p:nvSpPr>
        <p:spPr>
          <a:xfrm>
            <a:off x="7040880" y="91440"/>
            <a:ext cx="1920240" cy="475488"/>
          </a:xfrm>
          <a:prstGeom prst="rect">
            <a:avLst/>
          </a:prstGeom>
          <a:solidFill>
            <a:srgbClr val="0E6B8A"/>
          </a:solidFill>
          <a:ln/>
        </p:spPr>
      </p:sp>
      <p:sp>
        <p:nvSpPr>
          <p:cNvPr id="7" name="Text 5"/>
          <p:cNvSpPr/>
          <p:nvPr/>
        </p:nvSpPr>
        <p:spPr>
          <a:xfrm>
            <a:off x="7059168" y="91440"/>
            <a:ext cx="1883664" cy="475488"/>
          </a:xfrm>
          <a:prstGeom prst="rect">
            <a:avLst/>
          </a:prstGeom>
          <a:noFill/>
          <a:ln/>
        </p:spPr>
        <p:txBody>
          <a:bodyPr wrap="square" lIns="0" tIns="0" rIns="0" bIns="0" rtlCol="0" anchor="ctr"/>
          <a:lstStyle/>
          <a:p>
            <a:pPr algn="ctr" indent="0" marL="0">
              <a:buNone/>
            </a:pPr>
            <a:r>
              <a:rPr lang="en-US" sz="800" i="1" dirty="0">
                <a:solidFill>
                  <a:srgbClr val="FFFFFF"/>
                </a:solidFill>
              </a:rPr>
              <a:t>Click abbrev.</a:t>
            </a:r>
            <a:endParaRPr lang="en-US" sz="800" dirty="0"/>
          </a:p>
          <a:p>
            <a:pPr algn="ctr" indent="0" marL="0">
              <a:buNone/>
            </a:pPr>
            <a:r>
              <a:rPr lang="en-US" sz="800" i="1" dirty="0">
                <a:solidFill>
                  <a:srgbClr val="FFFFFF"/>
                </a:solidFill>
              </a:rPr>
              <a:t>for related slide</a:t>
            </a:r>
            <a:endParaRPr lang="en-US" sz="800" dirty="0"/>
          </a:p>
        </p:txBody>
      </p:sp>
      <p:sp>
        <p:nvSpPr>
          <p:cNvPr id="8" name="Shape 6"/>
          <p:cNvSpPr/>
          <p:nvPr/>
        </p:nvSpPr>
        <p:spPr>
          <a:xfrm>
            <a:off x="274320" y="749808"/>
            <a:ext cx="8595360" cy="333756"/>
          </a:xfrm>
          <a:prstGeom prst="rect">
            <a:avLst/>
          </a:prstGeom>
          <a:solidFill>
            <a:srgbClr val="FFFFFF"/>
          </a:solidFill>
          <a:ln/>
        </p:spPr>
      </p:sp>
      <p:sp>
        <p:nvSpPr>
          <p:cNvPr id="9" name="Shape 7"/>
          <p:cNvSpPr/>
          <p:nvPr/>
        </p:nvSpPr>
        <p:spPr>
          <a:xfrm>
            <a:off x="274320" y="749808"/>
            <a:ext cx="914400" cy="333756"/>
          </a:xfrm>
          <a:prstGeom prst="rect">
            <a:avLst/>
          </a:prstGeom>
          <a:solidFill>
            <a:srgbClr val="0E6B8A"/>
          </a:solidFill>
          <a:ln/>
        </p:spPr>
      </p:sp>
      <p:sp>
        <p:nvSpPr>
          <p:cNvPr id="10" name="Text 8">
            <a:hlinkClick r:id="rId1" tooltip="OpRisk: bank-modelled capital (Basel II/III)" action="ppaction://hlinksldjump"/>
          </p:cNvPr>
          <p:cNvSpPr/>
          <p:nvPr/>
        </p:nvSpPr>
        <p:spPr>
          <a:xfrm>
            <a:off x="274320" y="749808"/>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 action="ppaction://hlinksldjump" tooltip="OpRisk: bank-modelled capital (Basel II/III)">
                  <a:extLst>
                    <a:ext uri="{A12FA001-AC4F-418D-AE19-62706E023703}">
                      <ahyp:hlinkClr xmlns:ahyp="http://schemas.microsoft.com/office/drawing/2018/hyperlinkcolor" val="tx"/>
                    </a:ext>
                  </a:extLst>
                </a:hlinkClick>
              </a:rPr>
              <a:t>AMA</a:t>
            </a:r>
            <a:endParaRPr lang="en-US" sz="900" dirty="0"/>
          </a:p>
        </p:txBody>
      </p:sp>
      <p:sp>
        <p:nvSpPr>
          <p:cNvPr id="11" name="Text 9"/>
          <p:cNvSpPr/>
          <p:nvPr/>
        </p:nvSpPr>
        <p:spPr>
          <a:xfrm>
            <a:off x="1234440" y="749808"/>
            <a:ext cx="7589520" cy="333756"/>
          </a:xfrm>
          <a:prstGeom prst="rect">
            <a:avLst/>
          </a:prstGeom>
          <a:noFill/>
          <a:ln/>
        </p:spPr>
        <p:txBody>
          <a:bodyPr wrap="square" lIns="0" tIns="0" rIns="0" bIns="0" rtlCol="0" anchor="ctr"/>
          <a:lstStyle/>
          <a:p>
            <a:pPr indent="0" marL="0">
              <a:buNone/>
            </a:pPr>
            <a:r>
              <a:rPr lang="en-US" sz="900" dirty="0">
                <a:solidFill>
                  <a:srgbClr val="1A1A2E"/>
                </a:solidFill>
              </a:rPr>
              <a:t>Advanced Measurement Approach — Basel II/III method where banks model their own operational risk capital using internal loss data and scenario analysis.</a:t>
            </a:r>
            <a:endParaRPr lang="en-US" sz="900" dirty="0"/>
          </a:p>
        </p:txBody>
      </p:sp>
      <p:sp>
        <p:nvSpPr>
          <p:cNvPr id="12" name="Shape 10"/>
          <p:cNvSpPr/>
          <p:nvPr/>
        </p:nvSpPr>
        <p:spPr>
          <a:xfrm>
            <a:off x="274320" y="1083564"/>
            <a:ext cx="8595360" cy="333756"/>
          </a:xfrm>
          <a:prstGeom prst="rect">
            <a:avLst/>
          </a:prstGeom>
          <a:solidFill>
            <a:srgbClr val="F4F6F8"/>
          </a:solidFill>
          <a:ln/>
        </p:spPr>
      </p:sp>
      <p:sp>
        <p:nvSpPr>
          <p:cNvPr id="13" name="Shape 11"/>
          <p:cNvSpPr/>
          <p:nvPr/>
        </p:nvSpPr>
        <p:spPr>
          <a:xfrm>
            <a:off x="274320" y="1083564"/>
            <a:ext cx="914400" cy="333756"/>
          </a:xfrm>
          <a:prstGeom prst="rect">
            <a:avLst/>
          </a:prstGeom>
          <a:solidFill>
            <a:srgbClr val="1B3A6B"/>
          </a:solidFill>
          <a:ln/>
        </p:spPr>
      </p:sp>
      <p:sp>
        <p:nvSpPr>
          <p:cNvPr id="14" name="Text 12">
            <a:hlinkClick r:id="rId2" tooltip="Capital Stack: CoCos &amp; hybrid instruments. See Basel III →" action="ppaction://hlinksldjump"/>
          </p:cNvPr>
          <p:cNvSpPr/>
          <p:nvPr/>
        </p:nvSpPr>
        <p:spPr>
          <a:xfrm>
            <a:off x="274320" y="1083564"/>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2" action="ppaction://hlinksldjump" tooltip="Capital Stack: CoCos &amp; hybrid instruments. See Basel III →">
                  <a:extLst>
                    <a:ext uri="{A12FA001-AC4F-418D-AE19-62706E023703}">
                      <ahyp:hlinkClr xmlns:ahyp="http://schemas.microsoft.com/office/drawing/2018/hyperlinkcolor" val="tx"/>
                    </a:ext>
                  </a:extLst>
                </a:hlinkClick>
              </a:rPr>
              <a:t>AT1</a:t>
            </a:r>
            <a:endParaRPr lang="en-US" sz="900" dirty="0"/>
          </a:p>
        </p:txBody>
      </p:sp>
      <p:sp>
        <p:nvSpPr>
          <p:cNvPr id="15" name="Text 13"/>
          <p:cNvSpPr/>
          <p:nvPr/>
        </p:nvSpPr>
        <p:spPr>
          <a:xfrm>
            <a:off x="1234440" y="1083564"/>
            <a:ext cx="7589520" cy="333756"/>
          </a:xfrm>
          <a:prstGeom prst="rect">
            <a:avLst/>
          </a:prstGeom>
          <a:noFill/>
          <a:ln/>
        </p:spPr>
        <p:txBody>
          <a:bodyPr wrap="square" lIns="0" tIns="0" rIns="0" bIns="0" rtlCol="0" anchor="ctr"/>
          <a:lstStyle/>
          <a:p>
            <a:pPr indent="0" marL="0">
              <a:buNone/>
            </a:pPr>
            <a:r>
              <a:rPr lang="en-US" sz="900" dirty="0">
                <a:solidFill>
                  <a:srgbClr val="1A1A2E"/>
                </a:solidFill>
              </a:rPr>
              <a:t>Additional Tier 1 — Capital instruments such as contingent convertible bonds (CoCos) that absorb losses when CET1 falls below a trigger level.</a:t>
            </a:r>
            <a:endParaRPr lang="en-US" sz="900" dirty="0"/>
          </a:p>
        </p:txBody>
      </p:sp>
      <p:sp>
        <p:nvSpPr>
          <p:cNvPr id="16" name="Shape 14"/>
          <p:cNvSpPr/>
          <p:nvPr/>
        </p:nvSpPr>
        <p:spPr>
          <a:xfrm>
            <a:off x="274320" y="1417320"/>
            <a:ext cx="8595360" cy="333756"/>
          </a:xfrm>
          <a:prstGeom prst="rect">
            <a:avLst/>
          </a:prstGeom>
          <a:solidFill>
            <a:srgbClr val="FFFFFF"/>
          </a:solidFill>
          <a:ln/>
        </p:spPr>
      </p:sp>
      <p:sp>
        <p:nvSpPr>
          <p:cNvPr id="17" name="Shape 15"/>
          <p:cNvSpPr/>
          <p:nvPr/>
        </p:nvSpPr>
        <p:spPr>
          <a:xfrm>
            <a:off x="274320" y="1417320"/>
            <a:ext cx="914400" cy="333756"/>
          </a:xfrm>
          <a:prstGeom prst="rect">
            <a:avLst/>
          </a:prstGeom>
          <a:solidFill>
            <a:srgbClr val="0E6B8A"/>
          </a:solidFill>
          <a:ln/>
        </p:spPr>
      </p:sp>
      <p:sp>
        <p:nvSpPr>
          <p:cNvPr id="18" name="Text 16">
            <a:hlinkClick r:id="rId3" tooltip="CVA Capital (simplified method). See Basel III/IV →" action="ppaction://hlinksldjump"/>
          </p:cNvPr>
          <p:cNvSpPr/>
          <p:nvPr/>
        </p:nvSpPr>
        <p:spPr>
          <a:xfrm>
            <a:off x="274320" y="141732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3" action="ppaction://hlinksldjump" tooltip="CVA Capital (simplified method). See Basel III/IV →">
                  <a:extLst>
                    <a:ext uri="{A12FA001-AC4F-418D-AE19-62706E023703}">
                      <ahyp:hlinkClr xmlns:ahyp="http://schemas.microsoft.com/office/drawing/2018/hyperlinkcolor" val="tx"/>
                    </a:ext>
                  </a:extLst>
                </a:hlinkClick>
              </a:rPr>
              <a:t>BA-CVA</a:t>
            </a:r>
            <a:endParaRPr lang="en-US" sz="900" dirty="0"/>
          </a:p>
        </p:txBody>
      </p:sp>
      <p:sp>
        <p:nvSpPr>
          <p:cNvPr id="19" name="Text 17"/>
          <p:cNvSpPr/>
          <p:nvPr/>
        </p:nvSpPr>
        <p:spPr>
          <a:xfrm>
            <a:off x="1234440" y="1417320"/>
            <a:ext cx="7589520" cy="333756"/>
          </a:xfrm>
          <a:prstGeom prst="rect">
            <a:avLst/>
          </a:prstGeom>
          <a:noFill/>
          <a:ln/>
        </p:spPr>
        <p:txBody>
          <a:bodyPr wrap="square" lIns="0" tIns="0" rIns="0" bIns="0" rtlCol="0" anchor="ctr"/>
          <a:lstStyle/>
          <a:p>
            <a:pPr indent="0" marL="0">
              <a:buNone/>
            </a:pPr>
            <a:r>
              <a:rPr lang="en-US" sz="900" dirty="0">
                <a:solidFill>
                  <a:srgbClr val="1A1A2E"/>
                </a:solidFill>
              </a:rPr>
              <a:t>Basic Approach CVA — Simplified formula for CVA capital charge. Does not require a full sensitivity model. Used by banks not approved for SA-CVA.</a:t>
            </a:r>
            <a:endParaRPr lang="en-US" sz="900" dirty="0"/>
          </a:p>
        </p:txBody>
      </p:sp>
      <p:sp>
        <p:nvSpPr>
          <p:cNvPr id="20" name="Shape 18"/>
          <p:cNvSpPr/>
          <p:nvPr/>
        </p:nvSpPr>
        <p:spPr>
          <a:xfrm>
            <a:off x="274320" y="1751076"/>
            <a:ext cx="8595360" cy="333756"/>
          </a:xfrm>
          <a:prstGeom prst="rect">
            <a:avLst/>
          </a:prstGeom>
          <a:solidFill>
            <a:srgbClr val="F4F6F8"/>
          </a:solidFill>
          <a:ln/>
        </p:spPr>
      </p:sp>
      <p:sp>
        <p:nvSpPr>
          <p:cNvPr id="21" name="Shape 19"/>
          <p:cNvSpPr/>
          <p:nvPr/>
        </p:nvSpPr>
        <p:spPr>
          <a:xfrm>
            <a:off x="274320" y="1751076"/>
            <a:ext cx="914400" cy="333756"/>
          </a:xfrm>
          <a:prstGeom prst="rect">
            <a:avLst/>
          </a:prstGeom>
          <a:solidFill>
            <a:srgbClr val="1B3A6B"/>
          </a:solidFill>
          <a:ln/>
        </p:spPr>
      </p:sp>
      <p:sp>
        <p:nvSpPr>
          <p:cNvPr id="22" name="Text 20">
            <a:hlinkClick r:id="rId4" tooltip="Global bank regulator standard-setter. See slide 2 →" action="ppaction://hlinksldjump"/>
          </p:cNvPr>
          <p:cNvSpPr/>
          <p:nvPr/>
        </p:nvSpPr>
        <p:spPr>
          <a:xfrm>
            <a:off x="274320" y="175107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4" action="ppaction://hlinksldjump" tooltip="Global bank regulator standard-setter. See slide 2 →">
                  <a:extLst>
                    <a:ext uri="{A12FA001-AC4F-418D-AE19-62706E023703}">
                      <ahyp:hlinkClr xmlns:ahyp="http://schemas.microsoft.com/office/drawing/2018/hyperlinkcolor" val="tx"/>
                    </a:ext>
                  </a:extLst>
                </a:hlinkClick>
              </a:rPr>
              <a:t>BCBS</a:t>
            </a:r>
            <a:endParaRPr lang="en-US" sz="900" dirty="0"/>
          </a:p>
        </p:txBody>
      </p:sp>
      <p:sp>
        <p:nvSpPr>
          <p:cNvPr id="23" name="Text 21"/>
          <p:cNvSpPr/>
          <p:nvPr/>
        </p:nvSpPr>
        <p:spPr>
          <a:xfrm>
            <a:off x="1234440" y="1751076"/>
            <a:ext cx="7589520" cy="333756"/>
          </a:xfrm>
          <a:prstGeom prst="rect">
            <a:avLst/>
          </a:prstGeom>
          <a:noFill/>
          <a:ln/>
        </p:spPr>
        <p:txBody>
          <a:bodyPr wrap="square" lIns="0" tIns="0" rIns="0" bIns="0" rtlCol="0" anchor="ctr"/>
          <a:lstStyle/>
          <a:p>
            <a:pPr indent="0" marL="0">
              <a:buNone/>
            </a:pPr>
            <a:r>
              <a:rPr lang="en-US" sz="900" dirty="0">
                <a:solidFill>
                  <a:srgbClr val="1A1A2E"/>
                </a:solidFill>
              </a:rPr>
              <a:t>Basel Committee on Banking Supervision — The international standard-setting body for bank capital regulation, hosted by the BIS in Basel, Switzerland.</a:t>
            </a:r>
            <a:endParaRPr lang="en-US" sz="900" dirty="0"/>
          </a:p>
        </p:txBody>
      </p:sp>
      <p:sp>
        <p:nvSpPr>
          <p:cNvPr id="24" name="Shape 22"/>
          <p:cNvSpPr/>
          <p:nvPr/>
        </p:nvSpPr>
        <p:spPr>
          <a:xfrm>
            <a:off x="274320" y="2084832"/>
            <a:ext cx="8595360" cy="333756"/>
          </a:xfrm>
          <a:prstGeom prst="rect">
            <a:avLst/>
          </a:prstGeom>
          <a:solidFill>
            <a:srgbClr val="FFFFFF"/>
          </a:solidFill>
          <a:ln/>
        </p:spPr>
      </p:sp>
      <p:sp>
        <p:nvSpPr>
          <p:cNvPr id="25" name="Shape 23"/>
          <p:cNvSpPr/>
          <p:nvPr/>
        </p:nvSpPr>
        <p:spPr>
          <a:xfrm>
            <a:off x="274320" y="2084832"/>
            <a:ext cx="914400" cy="333756"/>
          </a:xfrm>
          <a:prstGeom prst="rect">
            <a:avLst/>
          </a:prstGeom>
          <a:solidFill>
            <a:srgbClr val="0E6B8A"/>
          </a:solidFill>
          <a:ln/>
        </p:spPr>
      </p:sp>
      <p:sp>
        <p:nvSpPr>
          <p:cNvPr id="26" name="Text 24">
            <a:hlinkClick r:id="rId5" tooltip="OpRisk (simplest method). See Basel II →" action="ppaction://hlinksldjump"/>
          </p:cNvPr>
          <p:cNvSpPr/>
          <p:nvPr/>
        </p:nvSpPr>
        <p:spPr>
          <a:xfrm>
            <a:off x="274320" y="2084832"/>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5" action="ppaction://hlinksldjump" tooltip="OpRisk (simplest method). See Basel II →">
                  <a:extLst>
                    <a:ext uri="{A12FA001-AC4F-418D-AE19-62706E023703}">
                      <ahyp:hlinkClr xmlns:ahyp="http://schemas.microsoft.com/office/drawing/2018/hyperlinkcolor" val="tx"/>
                    </a:ext>
                  </a:extLst>
                </a:hlinkClick>
              </a:rPr>
              <a:t>BIA</a:t>
            </a:r>
            <a:endParaRPr lang="en-US" sz="900" dirty="0"/>
          </a:p>
        </p:txBody>
      </p:sp>
      <p:sp>
        <p:nvSpPr>
          <p:cNvPr id="27" name="Text 25"/>
          <p:cNvSpPr/>
          <p:nvPr/>
        </p:nvSpPr>
        <p:spPr>
          <a:xfrm>
            <a:off x="1234440" y="2084832"/>
            <a:ext cx="7589520" cy="333756"/>
          </a:xfrm>
          <a:prstGeom prst="rect">
            <a:avLst/>
          </a:prstGeom>
          <a:noFill/>
          <a:ln/>
        </p:spPr>
        <p:txBody>
          <a:bodyPr wrap="square" lIns="0" tIns="0" rIns="0" bIns="0" rtlCol="0" anchor="ctr"/>
          <a:lstStyle/>
          <a:p>
            <a:pPr indent="0" marL="0">
              <a:buNone/>
            </a:pPr>
            <a:r>
              <a:rPr lang="en-US" sz="900" dirty="0">
                <a:solidFill>
                  <a:srgbClr val="1A1A2E"/>
                </a:solidFill>
              </a:rPr>
              <a:t>Basic Indicator Approach — Simplest Basel II operational risk method: 15% × average annual gross income over 3 years.</a:t>
            </a:r>
            <a:endParaRPr lang="en-US" sz="900" dirty="0"/>
          </a:p>
        </p:txBody>
      </p:sp>
      <p:sp>
        <p:nvSpPr>
          <p:cNvPr id="28" name="Shape 26"/>
          <p:cNvSpPr/>
          <p:nvPr/>
        </p:nvSpPr>
        <p:spPr>
          <a:xfrm>
            <a:off x="274320" y="2418588"/>
            <a:ext cx="8595360" cy="333756"/>
          </a:xfrm>
          <a:prstGeom prst="rect">
            <a:avLst/>
          </a:prstGeom>
          <a:solidFill>
            <a:srgbClr val="F4F6F8"/>
          </a:solidFill>
          <a:ln/>
        </p:spPr>
      </p:sp>
      <p:sp>
        <p:nvSpPr>
          <p:cNvPr id="29" name="Shape 27"/>
          <p:cNvSpPr/>
          <p:nvPr/>
        </p:nvSpPr>
        <p:spPr>
          <a:xfrm>
            <a:off x="274320" y="2418588"/>
            <a:ext cx="914400" cy="333756"/>
          </a:xfrm>
          <a:prstGeom prst="rect">
            <a:avLst/>
          </a:prstGeom>
          <a:solidFill>
            <a:srgbClr val="1B3A6B"/>
          </a:solidFill>
          <a:ln/>
        </p:spPr>
      </p:sp>
      <p:sp>
        <p:nvSpPr>
          <p:cNvPr id="30" name="Text 28">
            <a:hlinkClick r:id="rId6" tooltip="BCBS host institution. See slide 2 →" action="ppaction://hlinksldjump"/>
          </p:cNvPr>
          <p:cNvSpPr/>
          <p:nvPr/>
        </p:nvSpPr>
        <p:spPr>
          <a:xfrm>
            <a:off x="274320" y="2418588"/>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6" action="ppaction://hlinksldjump" tooltip="BCBS host institution. See slide 2 →">
                  <a:extLst>
                    <a:ext uri="{A12FA001-AC4F-418D-AE19-62706E023703}">
                      <ahyp:hlinkClr xmlns:ahyp="http://schemas.microsoft.com/office/drawing/2018/hyperlinkcolor" val="tx"/>
                    </a:ext>
                  </a:extLst>
                </a:hlinkClick>
              </a:rPr>
              <a:t>BIS</a:t>
            </a:r>
            <a:endParaRPr lang="en-US" sz="900" dirty="0"/>
          </a:p>
        </p:txBody>
      </p:sp>
      <p:sp>
        <p:nvSpPr>
          <p:cNvPr id="31" name="Text 29"/>
          <p:cNvSpPr/>
          <p:nvPr/>
        </p:nvSpPr>
        <p:spPr>
          <a:xfrm>
            <a:off x="1234440" y="2418588"/>
            <a:ext cx="7589520" cy="333756"/>
          </a:xfrm>
          <a:prstGeom prst="rect">
            <a:avLst/>
          </a:prstGeom>
          <a:noFill/>
          <a:ln/>
        </p:spPr>
        <p:txBody>
          <a:bodyPr wrap="square" lIns="0" tIns="0" rIns="0" bIns="0" rtlCol="0" anchor="ctr"/>
          <a:lstStyle/>
          <a:p>
            <a:pPr indent="0" marL="0">
              <a:buNone/>
            </a:pPr>
            <a:r>
              <a:rPr lang="en-US" sz="900" dirty="0">
                <a:solidFill>
                  <a:srgbClr val="1A1A2E"/>
                </a:solidFill>
              </a:rPr>
              <a:t>Bank for International Settlements — The international financial institution that hosts the BCBS and acts as a bank for central banks.</a:t>
            </a:r>
            <a:endParaRPr lang="en-US" sz="900" dirty="0"/>
          </a:p>
        </p:txBody>
      </p:sp>
      <p:sp>
        <p:nvSpPr>
          <p:cNvPr id="32" name="Shape 30"/>
          <p:cNvSpPr/>
          <p:nvPr/>
        </p:nvSpPr>
        <p:spPr>
          <a:xfrm>
            <a:off x="274320" y="2752344"/>
            <a:ext cx="8595360" cy="333756"/>
          </a:xfrm>
          <a:prstGeom prst="rect">
            <a:avLst/>
          </a:prstGeom>
          <a:solidFill>
            <a:srgbClr val="FFFFFF"/>
          </a:solidFill>
          <a:ln/>
        </p:spPr>
      </p:sp>
      <p:sp>
        <p:nvSpPr>
          <p:cNvPr id="33" name="Shape 31"/>
          <p:cNvSpPr/>
          <p:nvPr/>
        </p:nvSpPr>
        <p:spPr>
          <a:xfrm>
            <a:off x="274320" y="2752344"/>
            <a:ext cx="914400" cy="333756"/>
          </a:xfrm>
          <a:prstGeom prst="rect">
            <a:avLst/>
          </a:prstGeom>
          <a:solidFill>
            <a:srgbClr val="0E6B8A"/>
          </a:solidFill>
          <a:ln/>
        </p:spPr>
      </p:sp>
      <p:sp>
        <p:nvSpPr>
          <p:cNvPr id="34" name="Text 32">
            <a:hlinkClick r:id="rId7" tooltip="Clearing house. See IRS example →" action="ppaction://hlinksldjump"/>
          </p:cNvPr>
          <p:cNvSpPr/>
          <p:nvPr/>
        </p:nvSpPr>
        <p:spPr>
          <a:xfrm>
            <a:off x="274320" y="2752344"/>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7" action="ppaction://hlinksldjump" tooltip="Clearing house. See IRS example →">
                  <a:extLst>
                    <a:ext uri="{A12FA001-AC4F-418D-AE19-62706E023703}">
                      <ahyp:hlinkClr xmlns:ahyp="http://schemas.microsoft.com/office/drawing/2018/hyperlinkcolor" val="tx"/>
                    </a:ext>
                  </a:extLst>
                </a:hlinkClick>
              </a:rPr>
              <a:t>CCP</a:t>
            </a:r>
            <a:endParaRPr lang="en-US" sz="900" dirty="0"/>
          </a:p>
        </p:txBody>
      </p:sp>
      <p:sp>
        <p:nvSpPr>
          <p:cNvPr id="35" name="Text 33"/>
          <p:cNvSpPr/>
          <p:nvPr/>
        </p:nvSpPr>
        <p:spPr>
          <a:xfrm>
            <a:off x="1234440" y="2752344"/>
            <a:ext cx="7589520" cy="333756"/>
          </a:xfrm>
          <a:prstGeom prst="rect">
            <a:avLst/>
          </a:prstGeom>
          <a:noFill/>
          <a:ln/>
        </p:spPr>
        <p:txBody>
          <a:bodyPr wrap="square" lIns="0" tIns="0" rIns="0" bIns="0" rtlCol="0" anchor="ctr"/>
          <a:lstStyle/>
          <a:p>
            <a:pPr indent="0" marL="0">
              <a:buNone/>
            </a:pPr>
            <a:r>
              <a:rPr lang="en-US" sz="900" dirty="0">
                <a:solidFill>
                  <a:srgbClr val="1A1A2E"/>
                </a:solidFill>
              </a:rPr>
              <a:t>Central Counterparty — A clearing house that interposes itself between buyer and seller, becoming the counterparty to both sides of a trade.</a:t>
            </a:r>
            <a:endParaRPr lang="en-US" sz="900" dirty="0"/>
          </a:p>
        </p:txBody>
      </p:sp>
      <p:sp>
        <p:nvSpPr>
          <p:cNvPr id="36" name="Shape 34"/>
          <p:cNvSpPr/>
          <p:nvPr/>
        </p:nvSpPr>
        <p:spPr>
          <a:xfrm>
            <a:off x="274320" y="3086100"/>
            <a:ext cx="8595360" cy="333756"/>
          </a:xfrm>
          <a:prstGeom prst="rect">
            <a:avLst/>
          </a:prstGeom>
          <a:solidFill>
            <a:srgbClr val="F4F6F8"/>
          </a:solidFill>
          <a:ln/>
        </p:spPr>
      </p:sp>
      <p:sp>
        <p:nvSpPr>
          <p:cNvPr id="37" name="Shape 35"/>
          <p:cNvSpPr/>
          <p:nvPr/>
        </p:nvSpPr>
        <p:spPr>
          <a:xfrm>
            <a:off x="274320" y="3086100"/>
            <a:ext cx="914400" cy="333756"/>
          </a:xfrm>
          <a:prstGeom prst="rect">
            <a:avLst/>
          </a:prstGeom>
          <a:solidFill>
            <a:srgbClr val="1B3A6B"/>
          </a:solidFill>
          <a:ln/>
        </p:spPr>
      </p:sp>
      <p:sp>
        <p:nvSpPr>
          <p:cNvPr id="38" name="Text 36">
            <a:hlinkClick r:id="rId8" tooltip="Basel III macro-prudential buffer. See Basel III →" action="ppaction://hlinksldjump"/>
          </p:cNvPr>
          <p:cNvSpPr/>
          <p:nvPr/>
        </p:nvSpPr>
        <p:spPr>
          <a:xfrm>
            <a:off x="274320" y="308610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8" action="ppaction://hlinksldjump" tooltip="Basel III macro-prudential buffer. See Basel III →">
                  <a:extLst>
                    <a:ext uri="{A12FA001-AC4F-418D-AE19-62706E023703}">
                      <ahyp:hlinkClr xmlns:ahyp="http://schemas.microsoft.com/office/drawing/2018/hyperlinkcolor" val="tx"/>
                    </a:ext>
                  </a:extLst>
                </a:hlinkClick>
              </a:rPr>
              <a:t>CCyB</a:t>
            </a:r>
            <a:endParaRPr lang="en-US" sz="900" dirty="0"/>
          </a:p>
        </p:txBody>
      </p:sp>
      <p:sp>
        <p:nvSpPr>
          <p:cNvPr id="39" name="Text 37"/>
          <p:cNvSpPr/>
          <p:nvPr/>
        </p:nvSpPr>
        <p:spPr>
          <a:xfrm>
            <a:off x="1234440" y="3086100"/>
            <a:ext cx="7589520" cy="333756"/>
          </a:xfrm>
          <a:prstGeom prst="rect">
            <a:avLst/>
          </a:prstGeom>
          <a:noFill/>
          <a:ln/>
        </p:spPr>
        <p:txBody>
          <a:bodyPr wrap="square" lIns="0" tIns="0" rIns="0" bIns="0" rtlCol="0" anchor="ctr"/>
          <a:lstStyle/>
          <a:p>
            <a:pPr indent="0" marL="0">
              <a:buNone/>
            </a:pPr>
            <a:r>
              <a:rPr lang="en-US" sz="900" dirty="0">
                <a:solidFill>
                  <a:srgbClr val="1A1A2E"/>
                </a:solidFill>
              </a:rPr>
              <a:t>Countercyclical Capital Buffer — A 0–2.5% CET1 add-on set by national regulators during periods of excessive credit growth; released in downturns.</a:t>
            </a:r>
            <a:endParaRPr lang="en-US" sz="900" dirty="0"/>
          </a:p>
        </p:txBody>
      </p:sp>
      <p:sp>
        <p:nvSpPr>
          <p:cNvPr id="40" name="Shape 38"/>
          <p:cNvSpPr/>
          <p:nvPr/>
        </p:nvSpPr>
        <p:spPr>
          <a:xfrm>
            <a:off x="274320" y="3419856"/>
            <a:ext cx="8595360" cy="333756"/>
          </a:xfrm>
          <a:prstGeom prst="rect">
            <a:avLst/>
          </a:prstGeom>
          <a:solidFill>
            <a:srgbClr val="FFFFFF"/>
          </a:solidFill>
          <a:ln/>
        </p:spPr>
      </p:sp>
      <p:sp>
        <p:nvSpPr>
          <p:cNvPr id="41" name="Shape 39"/>
          <p:cNvSpPr/>
          <p:nvPr/>
        </p:nvSpPr>
        <p:spPr>
          <a:xfrm>
            <a:off x="274320" y="3419856"/>
            <a:ext cx="914400" cy="333756"/>
          </a:xfrm>
          <a:prstGeom prst="rect">
            <a:avLst/>
          </a:prstGeom>
          <a:solidFill>
            <a:srgbClr val="0E6B8A"/>
          </a:solidFill>
          <a:ln/>
        </p:spPr>
      </p:sp>
      <p:sp>
        <p:nvSpPr>
          <p:cNvPr id="42" name="Text 40">
            <a:hlinkClick r:id="rId9" tooltip="CCR method (pre-Basel IV). See FX Forward example →" action="ppaction://hlinksldjump"/>
          </p:cNvPr>
          <p:cNvSpPr/>
          <p:nvPr/>
        </p:nvSpPr>
        <p:spPr>
          <a:xfrm>
            <a:off x="274320" y="341985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9" action="ppaction://hlinksldjump" tooltip="CCR method (pre-Basel IV). See FX Forward example →">
                  <a:extLst>
                    <a:ext uri="{A12FA001-AC4F-418D-AE19-62706E023703}">
                      <ahyp:hlinkClr xmlns:ahyp="http://schemas.microsoft.com/office/drawing/2018/hyperlinkcolor" val="tx"/>
                    </a:ext>
                  </a:extLst>
                </a:hlinkClick>
              </a:rPr>
              <a:t>CEM</a:t>
            </a:r>
            <a:endParaRPr lang="en-US" sz="900" dirty="0"/>
          </a:p>
        </p:txBody>
      </p:sp>
      <p:sp>
        <p:nvSpPr>
          <p:cNvPr id="43" name="Text 41"/>
          <p:cNvSpPr/>
          <p:nvPr/>
        </p:nvSpPr>
        <p:spPr>
          <a:xfrm>
            <a:off x="1234440" y="3419856"/>
            <a:ext cx="7589520" cy="333756"/>
          </a:xfrm>
          <a:prstGeom prst="rect">
            <a:avLst/>
          </a:prstGeom>
          <a:noFill/>
          <a:ln/>
        </p:spPr>
        <p:txBody>
          <a:bodyPr wrap="square" lIns="0" tIns="0" rIns="0" bIns="0" rtlCol="0" anchor="ctr"/>
          <a:lstStyle/>
          <a:p>
            <a:pPr indent="0" marL="0">
              <a:buNone/>
            </a:pPr>
            <a:r>
              <a:rPr lang="en-US" sz="900" dirty="0">
                <a:solidFill>
                  <a:srgbClr val="1A1A2E"/>
                </a:solidFill>
              </a:rPr>
              <a:t>Current Exposure Method — Basel I/II/III method for CCR: replacement cost plus a fixed notional add-on. Replaced by SA-CCR under Basel IV.</a:t>
            </a:r>
            <a:endParaRPr lang="en-US" sz="900" dirty="0"/>
          </a:p>
        </p:txBody>
      </p:sp>
      <p:sp>
        <p:nvSpPr>
          <p:cNvPr id="44" name="Shape 42"/>
          <p:cNvSpPr/>
          <p:nvPr/>
        </p:nvSpPr>
        <p:spPr>
          <a:xfrm>
            <a:off x="274320" y="3753612"/>
            <a:ext cx="8595360" cy="333756"/>
          </a:xfrm>
          <a:prstGeom prst="rect">
            <a:avLst/>
          </a:prstGeom>
          <a:solidFill>
            <a:srgbClr val="F4F6F8"/>
          </a:solidFill>
          <a:ln/>
        </p:spPr>
      </p:sp>
      <p:sp>
        <p:nvSpPr>
          <p:cNvPr id="45" name="Shape 43"/>
          <p:cNvSpPr/>
          <p:nvPr/>
        </p:nvSpPr>
        <p:spPr>
          <a:xfrm>
            <a:off x="274320" y="3753612"/>
            <a:ext cx="914400" cy="333756"/>
          </a:xfrm>
          <a:prstGeom prst="rect">
            <a:avLst/>
          </a:prstGeom>
          <a:solidFill>
            <a:srgbClr val="1B3A6B"/>
          </a:solidFill>
          <a:ln/>
        </p:spPr>
      </p:sp>
      <p:sp>
        <p:nvSpPr>
          <p:cNvPr id="46" name="Text 44">
            <a:hlinkClick r:id="rId10" tooltip="Core capital ratio. Min 4.5%. See Basel III →" action="ppaction://hlinksldjump"/>
          </p:cNvPr>
          <p:cNvSpPr/>
          <p:nvPr/>
        </p:nvSpPr>
        <p:spPr>
          <a:xfrm>
            <a:off x="274320" y="3753612"/>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0" action="ppaction://hlinksldjump" tooltip="Core capital ratio. Min 4.5%. See Basel III →">
                  <a:extLst>
                    <a:ext uri="{A12FA001-AC4F-418D-AE19-62706E023703}">
                      <ahyp:hlinkClr xmlns:ahyp="http://schemas.microsoft.com/office/drawing/2018/hyperlinkcolor" val="tx"/>
                    </a:ext>
                  </a:extLst>
                </a:hlinkClick>
              </a:rPr>
              <a:t>CET1</a:t>
            </a:r>
            <a:endParaRPr lang="en-US" sz="900" dirty="0"/>
          </a:p>
        </p:txBody>
      </p:sp>
      <p:sp>
        <p:nvSpPr>
          <p:cNvPr id="47" name="Text 45"/>
          <p:cNvSpPr/>
          <p:nvPr/>
        </p:nvSpPr>
        <p:spPr>
          <a:xfrm>
            <a:off x="1234440" y="3753612"/>
            <a:ext cx="7589520" cy="333756"/>
          </a:xfrm>
          <a:prstGeom prst="rect">
            <a:avLst/>
          </a:prstGeom>
          <a:noFill/>
          <a:ln/>
        </p:spPr>
        <p:txBody>
          <a:bodyPr wrap="square" lIns="0" tIns="0" rIns="0" bIns="0" rtlCol="0" anchor="ctr"/>
          <a:lstStyle/>
          <a:p>
            <a:pPr indent="0" marL="0">
              <a:buNone/>
            </a:pPr>
            <a:r>
              <a:rPr lang="en-US" sz="900" dirty="0">
                <a:solidFill>
                  <a:srgbClr val="1A1A2E"/>
                </a:solidFill>
              </a:rPr>
              <a:t>Common Equity Tier 1 — Highest quality regulatory capital: common shares plus retained earnings only. Minimum 4.5% of RWA under Basel III/IV.</a:t>
            </a:r>
            <a:endParaRPr lang="en-US" sz="900" dirty="0"/>
          </a:p>
        </p:txBody>
      </p:sp>
      <p:sp>
        <p:nvSpPr>
          <p:cNvPr id="48" name="Shape 46"/>
          <p:cNvSpPr/>
          <p:nvPr/>
        </p:nvSpPr>
        <p:spPr>
          <a:xfrm>
            <a:off x="274320" y="4087368"/>
            <a:ext cx="8595360" cy="333756"/>
          </a:xfrm>
          <a:prstGeom prst="rect">
            <a:avLst/>
          </a:prstGeom>
          <a:solidFill>
            <a:srgbClr val="FFFFFF"/>
          </a:solidFill>
          <a:ln/>
        </p:spPr>
      </p:sp>
      <p:sp>
        <p:nvSpPr>
          <p:cNvPr id="49" name="Shape 47"/>
          <p:cNvSpPr/>
          <p:nvPr/>
        </p:nvSpPr>
        <p:spPr>
          <a:xfrm>
            <a:off x="274320" y="4087368"/>
            <a:ext cx="914400" cy="333756"/>
          </a:xfrm>
          <a:prstGeom prst="rect">
            <a:avLst/>
          </a:prstGeom>
          <a:solidFill>
            <a:srgbClr val="0E6B8A"/>
          </a:solidFill>
          <a:ln/>
        </p:spPr>
      </p:sp>
      <p:sp>
        <p:nvSpPr>
          <p:cNvPr id="50" name="Text 48">
            <a:hlinkClick r:id="rId11" tooltip="Counterparty risk market value. See Basel III →" action="ppaction://hlinksldjump"/>
          </p:cNvPr>
          <p:cNvSpPr/>
          <p:nvPr/>
        </p:nvSpPr>
        <p:spPr>
          <a:xfrm>
            <a:off x="274320" y="4087368"/>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1" action="ppaction://hlinksldjump" tooltip="Counterparty risk market value. See Basel III →">
                  <a:extLst>
                    <a:ext uri="{A12FA001-AC4F-418D-AE19-62706E023703}">
                      <ahyp:hlinkClr xmlns:ahyp="http://schemas.microsoft.com/office/drawing/2018/hyperlinkcolor" val="tx"/>
                    </a:ext>
                  </a:extLst>
                </a:hlinkClick>
              </a:rPr>
              <a:t>CVA</a:t>
            </a:r>
            <a:endParaRPr lang="en-US" sz="900" dirty="0"/>
          </a:p>
        </p:txBody>
      </p:sp>
      <p:sp>
        <p:nvSpPr>
          <p:cNvPr id="51" name="Text 49"/>
          <p:cNvSpPr/>
          <p:nvPr/>
        </p:nvSpPr>
        <p:spPr>
          <a:xfrm>
            <a:off x="1234440" y="4087368"/>
            <a:ext cx="7589520" cy="333756"/>
          </a:xfrm>
          <a:prstGeom prst="rect">
            <a:avLst/>
          </a:prstGeom>
          <a:noFill/>
          <a:ln/>
        </p:spPr>
        <p:txBody>
          <a:bodyPr wrap="square" lIns="0" tIns="0" rIns="0" bIns="0" rtlCol="0" anchor="ctr"/>
          <a:lstStyle/>
          <a:p>
            <a:pPr indent="0" marL="0">
              <a:buNone/>
            </a:pPr>
            <a:r>
              <a:rPr lang="en-US" sz="900" dirty="0">
                <a:solidFill>
                  <a:srgbClr val="1A1A2E"/>
                </a:solidFill>
              </a:rPr>
              <a:t>Credit Valuation Adjustment — The market value of counterparty default risk on a derivatives portfolio; the difference between a risk-free price and a risky price.</a:t>
            </a:r>
            <a:endParaRPr lang="en-US" sz="900" dirty="0"/>
          </a:p>
        </p:txBody>
      </p:sp>
      <p:sp>
        <p:nvSpPr>
          <p:cNvPr id="52" name="Shape 50"/>
          <p:cNvSpPr/>
          <p:nvPr/>
        </p:nvSpPr>
        <p:spPr>
          <a:xfrm>
            <a:off x="274320" y="4421124"/>
            <a:ext cx="8595360" cy="333756"/>
          </a:xfrm>
          <a:prstGeom prst="rect">
            <a:avLst/>
          </a:prstGeom>
          <a:solidFill>
            <a:srgbClr val="F4F6F8"/>
          </a:solidFill>
          <a:ln/>
        </p:spPr>
      </p:sp>
      <p:sp>
        <p:nvSpPr>
          <p:cNvPr id="53" name="Shape 51"/>
          <p:cNvSpPr/>
          <p:nvPr/>
        </p:nvSpPr>
        <p:spPr>
          <a:xfrm>
            <a:off x="274320" y="4421124"/>
            <a:ext cx="914400" cy="333756"/>
          </a:xfrm>
          <a:prstGeom prst="rect">
            <a:avLst/>
          </a:prstGeom>
          <a:solidFill>
            <a:srgbClr val="1B3A6B"/>
          </a:solidFill>
          <a:ln/>
        </p:spPr>
      </p:sp>
      <p:sp>
        <p:nvSpPr>
          <p:cNvPr id="54" name="Text 52">
            <a:hlinkClick r:id="rId12" tooltip="IRB input: exposure at default. See AAA/BBB →" action="ppaction://hlinksldjump"/>
          </p:cNvPr>
          <p:cNvSpPr/>
          <p:nvPr/>
        </p:nvSpPr>
        <p:spPr>
          <a:xfrm>
            <a:off x="274320" y="4421124"/>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2" action="ppaction://hlinksldjump" tooltip="IRB input: exposure at default. See AAA/BBB →">
                  <a:extLst>
                    <a:ext uri="{A12FA001-AC4F-418D-AE19-62706E023703}">
                      <ahyp:hlinkClr xmlns:ahyp="http://schemas.microsoft.com/office/drawing/2018/hyperlinkcolor" val="tx"/>
                    </a:ext>
                  </a:extLst>
                </a:hlinkClick>
              </a:rPr>
              <a:t>EAD</a:t>
            </a:r>
            <a:endParaRPr lang="en-US" sz="900" dirty="0"/>
          </a:p>
        </p:txBody>
      </p:sp>
      <p:sp>
        <p:nvSpPr>
          <p:cNvPr id="55" name="Text 53"/>
          <p:cNvSpPr/>
          <p:nvPr/>
        </p:nvSpPr>
        <p:spPr>
          <a:xfrm>
            <a:off x="1234440" y="4421124"/>
            <a:ext cx="7589520" cy="333756"/>
          </a:xfrm>
          <a:prstGeom prst="rect">
            <a:avLst/>
          </a:prstGeom>
          <a:noFill/>
          <a:ln/>
        </p:spPr>
        <p:txBody>
          <a:bodyPr wrap="square" lIns="0" tIns="0" rIns="0" bIns="0" rtlCol="0" anchor="ctr"/>
          <a:lstStyle/>
          <a:p>
            <a:pPr indent="0" marL="0">
              <a:buNone/>
            </a:pPr>
            <a:r>
              <a:rPr lang="en-US" sz="900" dirty="0">
                <a:solidFill>
                  <a:srgbClr val="1A1A2E"/>
                </a:solidFill>
              </a:rPr>
              <a:t>Exposure at Default — The estimated exposure to a counterparty at the time of default. One of the three core IRB inputs.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Glossary 2/3</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6949440" cy="658368"/>
          </a:xfrm>
          <a:prstGeom prst="rect">
            <a:avLst/>
          </a:prstGeom>
          <a:noFill/>
          <a:ln/>
        </p:spPr>
        <p:txBody>
          <a:bodyPr wrap="square" lIns="0" tIns="0" rIns="0" bIns="0" rtlCol="0" anchor="ctr"/>
          <a:lstStyle/>
          <a:p>
            <a:pPr indent="0" marL="0">
              <a:buNone/>
            </a:pPr>
            <a:r>
              <a:rPr lang="en-US" sz="1900" b="1" dirty="0">
                <a:solidFill>
                  <a:srgbClr val="FFFFFF"/>
                </a:solidFill>
              </a:rPr>
              <a:t>Glossary of Key Terms &amp; Abbreviations  —  Part 2  (NMRF → NSFR)</a:t>
            </a:r>
            <a:endParaRPr lang="en-US" sz="1900" dirty="0"/>
          </a:p>
        </p:txBody>
      </p:sp>
      <p:sp>
        <p:nvSpPr>
          <p:cNvPr id="6" name="Shape 4"/>
          <p:cNvSpPr/>
          <p:nvPr/>
        </p:nvSpPr>
        <p:spPr>
          <a:xfrm>
            <a:off x="7040880" y="91440"/>
            <a:ext cx="1920240" cy="475488"/>
          </a:xfrm>
          <a:prstGeom prst="rect">
            <a:avLst/>
          </a:prstGeom>
          <a:solidFill>
            <a:srgbClr val="0E6B8A"/>
          </a:solidFill>
          <a:ln/>
        </p:spPr>
      </p:sp>
      <p:sp>
        <p:nvSpPr>
          <p:cNvPr id="7" name="Text 5"/>
          <p:cNvSpPr/>
          <p:nvPr/>
        </p:nvSpPr>
        <p:spPr>
          <a:xfrm>
            <a:off x="7059168" y="91440"/>
            <a:ext cx="1883664" cy="475488"/>
          </a:xfrm>
          <a:prstGeom prst="rect">
            <a:avLst/>
          </a:prstGeom>
          <a:noFill/>
          <a:ln/>
        </p:spPr>
        <p:txBody>
          <a:bodyPr wrap="square" lIns="0" tIns="0" rIns="0" bIns="0" rtlCol="0" anchor="ctr"/>
          <a:lstStyle/>
          <a:p>
            <a:pPr algn="ctr" indent="0" marL="0">
              <a:buNone/>
            </a:pPr>
            <a:r>
              <a:rPr lang="en-US" sz="800" i="1" dirty="0">
                <a:solidFill>
                  <a:srgbClr val="FFFFFF"/>
                </a:solidFill>
              </a:rPr>
              <a:t>Click abbrev.</a:t>
            </a:r>
            <a:endParaRPr lang="en-US" sz="800" dirty="0"/>
          </a:p>
          <a:p>
            <a:pPr algn="ctr" indent="0" marL="0">
              <a:buNone/>
            </a:pPr>
            <a:r>
              <a:rPr lang="en-US" sz="800" i="1" dirty="0">
                <a:solidFill>
                  <a:srgbClr val="FFFFFF"/>
                </a:solidFill>
              </a:rPr>
              <a:t>for related slide</a:t>
            </a:r>
            <a:endParaRPr lang="en-US" sz="800" dirty="0"/>
          </a:p>
        </p:txBody>
      </p:sp>
      <p:sp>
        <p:nvSpPr>
          <p:cNvPr id="8" name="Shape 6"/>
          <p:cNvSpPr/>
          <p:nvPr/>
        </p:nvSpPr>
        <p:spPr>
          <a:xfrm>
            <a:off x="274320" y="749808"/>
            <a:ext cx="8595360" cy="333756"/>
          </a:xfrm>
          <a:prstGeom prst="rect">
            <a:avLst/>
          </a:prstGeom>
          <a:solidFill>
            <a:srgbClr val="FFFFFF"/>
          </a:solidFill>
          <a:ln/>
        </p:spPr>
      </p:sp>
      <p:sp>
        <p:nvSpPr>
          <p:cNvPr id="9" name="Shape 7"/>
          <p:cNvSpPr/>
          <p:nvPr/>
        </p:nvSpPr>
        <p:spPr>
          <a:xfrm>
            <a:off x="274320" y="749808"/>
            <a:ext cx="914400" cy="333756"/>
          </a:xfrm>
          <a:prstGeom prst="rect">
            <a:avLst/>
          </a:prstGeom>
          <a:solidFill>
            <a:srgbClr val="0E6B8A"/>
          </a:solidFill>
          <a:ln/>
        </p:spPr>
      </p:sp>
      <p:sp>
        <p:nvSpPr>
          <p:cNvPr id="10" name="Text 8">
            <a:hlinkClick r:id="rId1" tooltip="EL = PD × LGD × EAD. See AAA/BBB →" action="ppaction://hlinksldjump"/>
          </p:cNvPr>
          <p:cNvSpPr/>
          <p:nvPr/>
        </p:nvSpPr>
        <p:spPr>
          <a:xfrm>
            <a:off x="274320" y="749808"/>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 action="ppaction://hlinksldjump" tooltip="EL = PD × LGD × EAD. See AAA/BBB →">
                  <a:extLst>
                    <a:ext uri="{A12FA001-AC4F-418D-AE19-62706E023703}">
                      <ahyp:hlinkClr xmlns:ahyp="http://schemas.microsoft.com/office/drawing/2018/hyperlinkcolor" val="tx"/>
                    </a:ext>
                  </a:extLst>
                </a:hlinkClick>
              </a:rPr>
              <a:t>EL</a:t>
            </a:r>
            <a:endParaRPr lang="en-US" sz="900" dirty="0"/>
          </a:p>
        </p:txBody>
      </p:sp>
      <p:sp>
        <p:nvSpPr>
          <p:cNvPr id="11" name="Text 9"/>
          <p:cNvSpPr/>
          <p:nvPr/>
        </p:nvSpPr>
        <p:spPr>
          <a:xfrm>
            <a:off x="1234440" y="749808"/>
            <a:ext cx="7589520" cy="333756"/>
          </a:xfrm>
          <a:prstGeom prst="rect">
            <a:avLst/>
          </a:prstGeom>
          <a:noFill/>
          <a:ln/>
        </p:spPr>
        <p:txBody>
          <a:bodyPr wrap="square" lIns="0" tIns="0" rIns="0" bIns="0" rtlCol="0" anchor="ctr"/>
          <a:lstStyle/>
          <a:p>
            <a:pPr indent="0" marL="0">
              <a:buNone/>
            </a:pPr>
            <a:r>
              <a:rPr lang="en-US" sz="900" dirty="0">
                <a:solidFill>
                  <a:srgbClr val="1A1A2E"/>
                </a:solidFill>
              </a:rPr>
              <a:t>Expected Loss — The average loss a bank expects from a portfolio: EL = PD × LGD × EAD. Covered by provisions, not capital.</a:t>
            </a:r>
            <a:endParaRPr lang="en-US" sz="900" dirty="0"/>
          </a:p>
        </p:txBody>
      </p:sp>
      <p:sp>
        <p:nvSpPr>
          <p:cNvPr id="12" name="Shape 10"/>
          <p:cNvSpPr/>
          <p:nvPr/>
        </p:nvSpPr>
        <p:spPr>
          <a:xfrm>
            <a:off x="274320" y="1083564"/>
            <a:ext cx="8595360" cy="333756"/>
          </a:xfrm>
          <a:prstGeom prst="rect">
            <a:avLst/>
          </a:prstGeom>
          <a:solidFill>
            <a:srgbClr val="F4F6F8"/>
          </a:solidFill>
          <a:ln/>
        </p:spPr>
      </p:sp>
      <p:sp>
        <p:nvSpPr>
          <p:cNvPr id="13" name="Shape 11"/>
          <p:cNvSpPr/>
          <p:nvPr/>
        </p:nvSpPr>
        <p:spPr>
          <a:xfrm>
            <a:off x="274320" y="1083564"/>
            <a:ext cx="914400" cy="333756"/>
          </a:xfrm>
          <a:prstGeom prst="rect">
            <a:avLst/>
          </a:prstGeom>
          <a:solidFill>
            <a:srgbClr val="1B3A6B"/>
          </a:solidFill>
          <a:ln/>
        </p:spPr>
      </p:sp>
      <p:sp>
        <p:nvSpPr>
          <p:cNvPr id="14" name="Text 12">
            <a:hlinkClick r:id="rId2" tooltip="FRTB risk measure. See Basel IV →" action="ppaction://hlinksldjump"/>
          </p:cNvPr>
          <p:cNvSpPr/>
          <p:nvPr/>
        </p:nvSpPr>
        <p:spPr>
          <a:xfrm>
            <a:off x="274320" y="1083564"/>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2" action="ppaction://hlinksldjump" tooltip="FRTB risk measure. See Basel IV →">
                  <a:extLst>
                    <a:ext uri="{A12FA001-AC4F-418D-AE19-62706E023703}">
                      <ahyp:hlinkClr xmlns:ahyp="http://schemas.microsoft.com/office/drawing/2018/hyperlinkcolor" val="tx"/>
                    </a:ext>
                  </a:extLst>
                </a:hlinkClick>
              </a:rPr>
              <a:t>ES</a:t>
            </a:r>
            <a:endParaRPr lang="en-US" sz="900" dirty="0"/>
          </a:p>
        </p:txBody>
      </p:sp>
      <p:sp>
        <p:nvSpPr>
          <p:cNvPr id="15" name="Text 13"/>
          <p:cNvSpPr/>
          <p:nvPr/>
        </p:nvSpPr>
        <p:spPr>
          <a:xfrm>
            <a:off x="1234440" y="1083564"/>
            <a:ext cx="7589520" cy="333756"/>
          </a:xfrm>
          <a:prstGeom prst="rect">
            <a:avLst/>
          </a:prstGeom>
          <a:noFill/>
          <a:ln/>
        </p:spPr>
        <p:txBody>
          <a:bodyPr wrap="square" lIns="0" tIns="0" rIns="0" bIns="0" rtlCol="0" anchor="ctr"/>
          <a:lstStyle/>
          <a:p>
            <a:pPr indent="0" marL="0">
              <a:buNone/>
            </a:pPr>
            <a:r>
              <a:rPr lang="en-US" sz="900" dirty="0">
                <a:solidFill>
                  <a:srgbClr val="1A1A2E"/>
                </a:solidFill>
              </a:rPr>
              <a:t>Expected Shortfall — Average loss given that the loss exceeds a threshold (e.g. 97.5th percentile). Used in FRTB. Captures tail severity unlike VaR.</a:t>
            </a:r>
            <a:endParaRPr lang="en-US" sz="900" dirty="0"/>
          </a:p>
        </p:txBody>
      </p:sp>
      <p:sp>
        <p:nvSpPr>
          <p:cNvPr id="16" name="Shape 14"/>
          <p:cNvSpPr/>
          <p:nvPr/>
        </p:nvSpPr>
        <p:spPr>
          <a:xfrm>
            <a:off x="274320" y="1417320"/>
            <a:ext cx="8595360" cy="333756"/>
          </a:xfrm>
          <a:prstGeom prst="rect">
            <a:avLst/>
          </a:prstGeom>
          <a:solidFill>
            <a:srgbClr val="FFFFFF"/>
          </a:solidFill>
          <a:ln/>
        </p:spPr>
      </p:sp>
      <p:sp>
        <p:nvSpPr>
          <p:cNvPr id="17" name="Shape 15"/>
          <p:cNvSpPr/>
          <p:nvPr/>
        </p:nvSpPr>
        <p:spPr>
          <a:xfrm>
            <a:off x="274320" y="1417320"/>
            <a:ext cx="914400" cy="333756"/>
          </a:xfrm>
          <a:prstGeom prst="rect">
            <a:avLst/>
          </a:prstGeom>
          <a:solidFill>
            <a:srgbClr val="0E6B8A"/>
          </a:solidFill>
          <a:ln/>
        </p:spPr>
      </p:sp>
      <p:sp>
        <p:nvSpPr>
          <p:cNvPr id="18" name="Text 16">
            <a:hlinkClick r:id="rId3" tooltip="Basel IV market risk overhaul. See Basel IV →" action="ppaction://hlinksldjump"/>
          </p:cNvPr>
          <p:cNvSpPr/>
          <p:nvPr/>
        </p:nvSpPr>
        <p:spPr>
          <a:xfrm>
            <a:off x="274320" y="141732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3" action="ppaction://hlinksldjump" tooltip="Basel IV market risk overhaul. See Basel IV →">
                  <a:extLst>
                    <a:ext uri="{A12FA001-AC4F-418D-AE19-62706E023703}">
                      <ahyp:hlinkClr xmlns:ahyp="http://schemas.microsoft.com/office/drawing/2018/hyperlinkcolor" val="tx"/>
                    </a:ext>
                  </a:extLst>
                </a:hlinkClick>
              </a:rPr>
              <a:t>FRTB</a:t>
            </a:r>
            <a:endParaRPr lang="en-US" sz="900" dirty="0"/>
          </a:p>
        </p:txBody>
      </p:sp>
      <p:sp>
        <p:nvSpPr>
          <p:cNvPr id="19" name="Text 17"/>
          <p:cNvSpPr/>
          <p:nvPr/>
        </p:nvSpPr>
        <p:spPr>
          <a:xfrm>
            <a:off x="1234440" y="1417320"/>
            <a:ext cx="7589520" cy="333756"/>
          </a:xfrm>
          <a:prstGeom prst="rect">
            <a:avLst/>
          </a:prstGeom>
          <a:noFill/>
          <a:ln/>
        </p:spPr>
        <p:txBody>
          <a:bodyPr wrap="square" lIns="0" tIns="0" rIns="0" bIns="0" rtlCol="0" anchor="ctr"/>
          <a:lstStyle/>
          <a:p>
            <a:pPr indent="0" marL="0">
              <a:buNone/>
            </a:pPr>
            <a:r>
              <a:rPr lang="en-US" sz="900" dirty="0">
                <a:solidFill>
                  <a:srgbClr val="1A1A2E"/>
                </a:solidFill>
              </a:rPr>
              <a:t>Fundamental Review of the Trading Book — Basel IV market risk framework. Replaces VaR with ES, introduces liquidity horizons, P&amp;L Attribution Test, and NMRF charges.</a:t>
            </a:r>
            <a:endParaRPr lang="en-US" sz="900" dirty="0"/>
          </a:p>
        </p:txBody>
      </p:sp>
      <p:sp>
        <p:nvSpPr>
          <p:cNvPr id="20" name="Shape 18"/>
          <p:cNvSpPr/>
          <p:nvPr/>
        </p:nvSpPr>
        <p:spPr>
          <a:xfrm>
            <a:off x="274320" y="1751076"/>
            <a:ext cx="8595360" cy="333756"/>
          </a:xfrm>
          <a:prstGeom prst="rect">
            <a:avLst/>
          </a:prstGeom>
          <a:solidFill>
            <a:srgbClr val="F4F6F8"/>
          </a:solidFill>
          <a:ln/>
        </p:spPr>
      </p:sp>
      <p:sp>
        <p:nvSpPr>
          <p:cNvPr id="21" name="Shape 19"/>
          <p:cNvSpPr/>
          <p:nvPr/>
        </p:nvSpPr>
        <p:spPr>
          <a:xfrm>
            <a:off x="274320" y="1751076"/>
            <a:ext cx="914400" cy="333756"/>
          </a:xfrm>
          <a:prstGeom prst="rect">
            <a:avLst/>
          </a:prstGeom>
          <a:solidFill>
            <a:srgbClr val="1B3A6B"/>
          </a:solidFill>
          <a:ln/>
        </p:spPr>
      </p:sp>
      <p:sp>
        <p:nvSpPr>
          <p:cNvPr id="22" name="Text 20">
            <a:hlinkClick r:id="rId4" tooltip="Too-big-to-fail surcharge. See Basel III →" action="ppaction://hlinksldjump"/>
          </p:cNvPr>
          <p:cNvSpPr/>
          <p:nvPr/>
        </p:nvSpPr>
        <p:spPr>
          <a:xfrm>
            <a:off x="274320" y="175107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4" action="ppaction://hlinksldjump" tooltip="Too-big-to-fail surcharge. See Basel III →">
                  <a:extLst>
                    <a:ext uri="{A12FA001-AC4F-418D-AE19-62706E023703}">
                      <ahyp:hlinkClr xmlns:ahyp="http://schemas.microsoft.com/office/drawing/2018/hyperlinkcolor" val="tx"/>
                    </a:ext>
                  </a:extLst>
                </a:hlinkClick>
              </a:rPr>
              <a:t>G-SIB</a:t>
            </a:r>
            <a:endParaRPr lang="en-US" sz="900" dirty="0"/>
          </a:p>
        </p:txBody>
      </p:sp>
      <p:sp>
        <p:nvSpPr>
          <p:cNvPr id="23" name="Text 21"/>
          <p:cNvSpPr/>
          <p:nvPr/>
        </p:nvSpPr>
        <p:spPr>
          <a:xfrm>
            <a:off x="1234440" y="1751076"/>
            <a:ext cx="7589520" cy="333756"/>
          </a:xfrm>
          <a:prstGeom prst="rect">
            <a:avLst/>
          </a:prstGeom>
          <a:noFill/>
          <a:ln/>
        </p:spPr>
        <p:txBody>
          <a:bodyPr wrap="square" lIns="0" tIns="0" rIns="0" bIns="0" rtlCol="0" anchor="ctr"/>
          <a:lstStyle/>
          <a:p>
            <a:pPr indent="0" marL="0">
              <a:buNone/>
            </a:pPr>
            <a:r>
              <a:rPr lang="en-US" sz="900" dirty="0">
                <a:solidFill>
                  <a:srgbClr val="1A1A2E"/>
                </a:solidFill>
              </a:rPr>
              <a:t>Global Systemically Important Bank — A bank whose failure could destabilise the global financial system. Subject to additional CET1 surcharge of 1–3.5%.</a:t>
            </a:r>
            <a:endParaRPr lang="en-US" sz="900" dirty="0"/>
          </a:p>
        </p:txBody>
      </p:sp>
      <p:sp>
        <p:nvSpPr>
          <p:cNvPr id="24" name="Shape 22"/>
          <p:cNvSpPr/>
          <p:nvPr/>
        </p:nvSpPr>
        <p:spPr>
          <a:xfrm>
            <a:off x="274320" y="2084832"/>
            <a:ext cx="8595360" cy="333756"/>
          </a:xfrm>
          <a:prstGeom prst="rect">
            <a:avLst/>
          </a:prstGeom>
          <a:solidFill>
            <a:srgbClr val="FFFFFF"/>
          </a:solidFill>
          <a:ln/>
        </p:spPr>
      </p:sp>
      <p:sp>
        <p:nvSpPr>
          <p:cNvPr id="25" name="Shape 23"/>
          <p:cNvSpPr/>
          <p:nvPr/>
        </p:nvSpPr>
        <p:spPr>
          <a:xfrm>
            <a:off x="274320" y="2084832"/>
            <a:ext cx="914400" cy="333756"/>
          </a:xfrm>
          <a:prstGeom prst="rect">
            <a:avLst/>
          </a:prstGeom>
          <a:solidFill>
            <a:srgbClr val="0E6B8A"/>
          </a:solidFill>
          <a:ln/>
        </p:spPr>
      </p:sp>
      <p:sp>
        <p:nvSpPr>
          <p:cNvPr id="26" name="Text 24">
            <a:hlinkClick r:id="rId5" tooltip="Pillar 2 self-assessment. See Basel II →" action="ppaction://hlinksldjump"/>
          </p:cNvPr>
          <p:cNvSpPr/>
          <p:nvPr/>
        </p:nvSpPr>
        <p:spPr>
          <a:xfrm>
            <a:off x="274320" y="2084832"/>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5" action="ppaction://hlinksldjump" tooltip="Pillar 2 self-assessment. See Basel II →">
                  <a:extLst>
                    <a:ext uri="{A12FA001-AC4F-418D-AE19-62706E023703}">
                      <ahyp:hlinkClr xmlns:ahyp="http://schemas.microsoft.com/office/drawing/2018/hyperlinkcolor" val="tx"/>
                    </a:ext>
                  </a:extLst>
                </a:hlinkClick>
              </a:rPr>
              <a:t>ICAAP</a:t>
            </a:r>
            <a:endParaRPr lang="en-US" sz="900" dirty="0"/>
          </a:p>
        </p:txBody>
      </p:sp>
      <p:sp>
        <p:nvSpPr>
          <p:cNvPr id="27" name="Text 25"/>
          <p:cNvSpPr/>
          <p:nvPr/>
        </p:nvSpPr>
        <p:spPr>
          <a:xfrm>
            <a:off x="1234440" y="2084832"/>
            <a:ext cx="7589520" cy="333756"/>
          </a:xfrm>
          <a:prstGeom prst="rect">
            <a:avLst/>
          </a:prstGeom>
          <a:noFill/>
          <a:ln/>
        </p:spPr>
        <p:txBody>
          <a:bodyPr wrap="square" lIns="0" tIns="0" rIns="0" bIns="0" rtlCol="0" anchor="ctr"/>
          <a:lstStyle/>
          <a:p>
            <a:pPr indent="0" marL="0">
              <a:buNone/>
            </a:pPr>
            <a:r>
              <a:rPr lang="en-US" sz="900" dirty="0">
                <a:solidFill>
                  <a:srgbClr val="1A1A2E"/>
                </a:solidFill>
              </a:rPr>
              <a:t>Internal Capital Adequacy Assessment Process — A bank's own assessment of its capital needs covering all material risks. Required under Pillar 2.</a:t>
            </a:r>
            <a:endParaRPr lang="en-US" sz="900" dirty="0"/>
          </a:p>
        </p:txBody>
      </p:sp>
      <p:sp>
        <p:nvSpPr>
          <p:cNvPr id="28" name="Shape 26"/>
          <p:cNvSpPr/>
          <p:nvPr/>
        </p:nvSpPr>
        <p:spPr>
          <a:xfrm>
            <a:off x="274320" y="2418588"/>
            <a:ext cx="8595360" cy="333756"/>
          </a:xfrm>
          <a:prstGeom prst="rect">
            <a:avLst/>
          </a:prstGeom>
          <a:solidFill>
            <a:srgbClr val="F4F6F8"/>
          </a:solidFill>
          <a:ln/>
        </p:spPr>
      </p:sp>
      <p:sp>
        <p:nvSpPr>
          <p:cNvPr id="29" name="Shape 27"/>
          <p:cNvSpPr/>
          <p:nvPr/>
        </p:nvSpPr>
        <p:spPr>
          <a:xfrm>
            <a:off x="274320" y="2418588"/>
            <a:ext cx="914400" cy="333756"/>
          </a:xfrm>
          <a:prstGeom prst="rect">
            <a:avLst/>
          </a:prstGeom>
          <a:solidFill>
            <a:srgbClr val="1B3A6B"/>
          </a:solidFill>
          <a:ln/>
        </p:spPr>
      </p:sp>
      <p:sp>
        <p:nvSpPr>
          <p:cNvPr id="30" name="Text 28">
            <a:hlinkClick r:id="rId6" tooltip="Internal credit risk models. See Basel II →" action="ppaction://hlinksldjump"/>
          </p:cNvPr>
          <p:cNvSpPr/>
          <p:nvPr/>
        </p:nvSpPr>
        <p:spPr>
          <a:xfrm>
            <a:off x="274320" y="2418588"/>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6" action="ppaction://hlinksldjump" tooltip="Internal credit risk models. See Basel II →">
                  <a:extLst>
                    <a:ext uri="{A12FA001-AC4F-418D-AE19-62706E023703}">
                      <ahyp:hlinkClr xmlns:ahyp="http://schemas.microsoft.com/office/drawing/2018/hyperlinkcolor" val="tx"/>
                    </a:ext>
                  </a:extLst>
                </a:hlinkClick>
              </a:rPr>
              <a:t>IRB</a:t>
            </a:r>
            <a:endParaRPr lang="en-US" sz="900" dirty="0"/>
          </a:p>
        </p:txBody>
      </p:sp>
      <p:sp>
        <p:nvSpPr>
          <p:cNvPr id="31" name="Text 29"/>
          <p:cNvSpPr/>
          <p:nvPr/>
        </p:nvSpPr>
        <p:spPr>
          <a:xfrm>
            <a:off x="1234440" y="2418588"/>
            <a:ext cx="7589520" cy="333756"/>
          </a:xfrm>
          <a:prstGeom prst="rect">
            <a:avLst/>
          </a:prstGeom>
          <a:noFill/>
          <a:ln/>
        </p:spPr>
        <p:txBody>
          <a:bodyPr wrap="square" lIns="0" tIns="0" rIns="0" bIns="0" rtlCol="0" anchor="ctr"/>
          <a:lstStyle/>
          <a:p>
            <a:pPr indent="0" marL="0">
              <a:buNone/>
            </a:pPr>
            <a:r>
              <a:rPr lang="en-US" sz="900" dirty="0">
                <a:solidFill>
                  <a:srgbClr val="1A1A2E"/>
                </a:solidFill>
              </a:rPr>
              <a:t>Internal Ratings-Based Approach — Credit risk methodology where banks use internal models to estimate PD (F-IRB) or PD/LGD/EAD (A-IRB) for capital.</a:t>
            </a:r>
            <a:endParaRPr lang="en-US" sz="900" dirty="0"/>
          </a:p>
        </p:txBody>
      </p:sp>
      <p:sp>
        <p:nvSpPr>
          <p:cNvPr id="32" name="Shape 30"/>
          <p:cNvSpPr/>
          <p:nvPr/>
        </p:nvSpPr>
        <p:spPr>
          <a:xfrm>
            <a:off x="274320" y="2752344"/>
            <a:ext cx="8595360" cy="333756"/>
          </a:xfrm>
          <a:prstGeom prst="rect">
            <a:avLst/>
          </a:prstGeom>
          <a:solidFill>
            <a:srgbClr val="FFFFFF"/>
          </a:solidFill>
          <a:ln/>
        </p:spPr>
      </p:sp>
      <p:sp>
        <p:nvSpPr>
          <p:cNvPr id="33" name="Shape 31"/>
          <p:cNvSpPr/>
          <p:nvPr/>
        </p:nvSpPr>
        <p:spPr>
          <a:xfrm>
            <a:off x="274320" y="2752344"/>
            <a:ext cx="914400" cy="333756"/>
          </a:xfrm>
          <a:prstGeom prst="rect">
            <a:avLst/>
          </a:prstGeom>
          <a:solidFill>
            <a:srgbClr val="0E6B8A"/>
          </a:solidFill>
          <a:ln/>
        </p:spPr>
      </p:sp>
      <p:sp>
        <p:nvSpPr>
          <p:cNvPr id="34" name="Text 32">
            <a:hlinkClick r:id="rId7" tooltip="Trading book credit risk charge. See Basel III →" action="ppaction://hlinksldjump"/>
          </p:cNvPr>
          <p:cNvSpPr/>
          <p:nvPr/>
        </p:nvSpPr>
        <p:spPr>
          <a:xfrm>
            <a:off x="274320" y="2752344"/>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7" action="ppaction://hlinksldjump" tooltip="Trading book credit risk charge. See Basel III →">
                  <a:extLst>
                    <a:ext uri="{A12FA001-AC4F-418D-AE19-62706E023703}">
                      <ahyp:hlinkClr xmlns:ahyp="http://schemas.microsoft.com/office/drawing/2018/hyperlinkcolor" val="tx"/>
                    </a:ext>
                  </a:extLst>
                </a:hlinkClick>
              </a:rPr>
              <a:t>IRC</a:t>
            </a:r>
            <a:endParaRPr lang="en-US" sz="900" dirty="0"/>
          </a:p>
        </p:txBody>
      </p:sp>
      <p:sp>
        <p:nvSpPr>
          <p:cNvPr id="35" name="Text 33"/>
          <p:cNvSpPr/>
          <p:nvPr/>
        </p:nvSpPr>
        <p:spPr>
          <a:xfrm>
            <a:off x="1234440" y="2752344"/>
            <a:ext cx="7589520" cy="333756"/>
          </a:xfrm>
          <a:prstGeom prst="rect">
            <a:avLst/>
          </a:prstGeom>
          <a:noFill/>
          <a:ln/>
        </p:spPr>
        <p:txBody>
          <a:bodyPr wrap="square" lIns="0" tIns="0" rIns="0" bIns="0" rtlCol="0" anchor="ctr"/>
          <a:lstStyle/>
          <a:p>
            <a:pPr indent="0" marL="0">
              <a:buNone/>
            </a:pPr>
            <a:r>
              <a:rPr lang="en-US" sz="900" dirty="0">
                <a:solidFill>
                  <a:srgbClr val="1A1A2E"/>
                </a:solidFill>
              </a:rPr>
              <a:t>Incremental Risk Charge — Basel III trading book charge for default and credit migration risk over a one-year horizon at 99.9% confidence.</a:t>
            </a:r>
            <a:endParaRPr lang="en-US" sz="900" dirty="0"/>
          </a:p>
        </p:txBody>
      </p:sp>
      <p:sp>
        <p:nvSpPr>
          <p:cNvPr id="36" name="Shape 34"/>
          <p:cNvSpPr/>
          <p:nvPr/>
        </p:nvSpPr>
        <p:spPr>
          <a:xfrm>
            <a:off x="274320" y="3086100"/>
            <a:ext cx="8595360" cy="333756"/>
          </a:xfrm>
          <a:prstGeom prst="rect">
            <a:avLst/>
          </a:prstGeom>
          <a:solidFill>
            <a:srgbClr val="F4F6F8"/>
          </a:solidFill>
          <a:ln/>
        </p:spPr>
      </p:sp>
      <p:sp>
        <p:nvSpPr>
          <p:cNvPr id="37" name="Shape 35"/>
          <p:cNvSpPr/>
          <p:nvPr/>
        </p:nvSpPr>
        <p:spPr>
          <a:xfrm>
            <a:off x="274320" y="3086100"/>
            <a:ext cx="914400" cy="333756"/>
          </a:xfrm>
          <a:prstGeom prst="rect">
            <a:avLst/>
          </a:prstGeom>
          <a:solidFill>
            <a:srgbClr val="1B3A6B"/>
          </a:solidFill>
          <a:ln/>
        </p:spPr>
      </p:sp>
      <p:sp>
        <p:nvSpPr>
          <p:cNvPr id="38" name="Text 36">
            <a:hlinkClick r:id="rId8" tooltip="30-day liquidity survival ratio. See Future Module 2 →" action="ppaction://hlinksldjump"/>
          </p:cNvPr>
          <p:cNvSpPr/>
          <p:nvPr/>
        </p:nvSpPr>
        <p:spPr>
          <a:xfrm>
            <a:off x="274320" y="308610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8" action="ppaction://hlinksldjump" tooltip="30-day liquidity survival ratio. See Future Module 2 →">
                  <a:extLst>
                    <a:ext uri="{A12FA001-AC4F-418D-AE19-62706E023703}">
                      <ahyp:hlinkClr xmlns:ahyp="http://schemas.microsoft.com/office/drawing/2018/hyperlinkcolor" val="tx"/>
                    </a:ext>
                  </a:extLst>
                </a:hlinkClick>
              </a:rPr>
              <a:t>LCR</a:t>
            </a:r>
            <a:endParaRPr lang="en-US" sz="900" dirty="0"/>
          </a:p>
        </p:txBody>
      </p:sp>
      <p:sp>
        <p:nvSpPr>
          <p:cNvPr id="39" name="Text 37"/>
          <p:cNvSpPr/>
          <p:nvPr/>
        </p:nvSpPr>
        <p:spPr>
          <a:xfrm>
            <a:off x="1234440" y="3086100"/>
            <a:ext cx="7589520" cy="333756"/>
          </a:xfrm>
          <a:prstGeom prst="rect">
            <a:avLst/>
          </a:prstGeom>
          <a:noFill/>
          <a:ln/>
        </p:spPr>
        <p:txBody>
          <a:bodyPr wrap="square" lIns="0" tIns="0" rIns="0" bIns="0" rtlCol="0" anchor="ctr"/>
          <a:lstStyle/>
          <a:p>
            <a:pPr indent="0" marL="0">
              <a:buNone/>
            </a:pPr>
            <a:r>
              <a:rPr lang="en-US" sz="900" dirty="0">
                <a:solidFill>
                  <a:srgbClr val="1A1A2E"/>
                </a:solidFill>
              </a:rPr>
              <a:t>Liquidity Coverage Ratio — Ratio of High Quality Liquid Assets to net stressed cash outflows over 30 days. Must be ≥ 100% under Basel III.</a:t>
            </a:r>
            <a:endParaRPr lang="en-US" sz="900" dirty="0"/>
          </a:p>
        </p:txBody>
      </p:sp>
      <p:sp>
        <p:nvSpPr>
          <p:cNvPr id="40" name="Shape 38"/>
          <p:cNvSpPr/>
          <p:nvPr/>
        </p:nvSpPr>
        <p:spPr>
          <a:xfrm>
            <a:off x="274320" y="3419856"/>
            <a:ext cx="8595360" cy="333756"/>
          </a:xfrm>
          <a:prstGeom prst="rect">
            <a:avLst/>
          </a:prstGeom>
          <a:solidFill>
            <a:srgbClr val="FFFFFF"/>
          </a:solidFill>
          <a:ln/>
        </p:spPr>
      </p:sp>
      <p:sp>
        <p:nvSpPr>
          <p:cNvPr id="41" name="Shape 39"/>
          <p:cNvSpPr/>
          <p:nvPr/>
        </p:nvSpPr>
        <p:spPr>
          <a:xfrm>
            <a:off x="274320" y="3419856"/>
            <a:ext cx="914400" cy="333756"/>
          </a:xfrm>
          <a:prstGeom prst="rect">
            <a:avLst/>
          </a:prstGeom>
          <a:solidFill>
            <a:srgbClr val="0E6B8A"/>
          </a:solidFill>
          <a:ln/>
        </p:spPr>
      </p:sp>
      <p:sp>
        <p:nvSpPr>
          <p:cNvPr id="42" name="Text 40">
            <a:hlinkClick r:id="rId9" tooltip="IRB input: loss severity. See AAA/BBB →" action="ppaction://hlinksldjump"/>
          </p:cNvPr>
          <p:cNvSpPr/>
          <p:nvPr/>
        </p:nvSpPr>
        <p:spPr>
          <a:xfrm>
            <a:off x="274320" y="341985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9" action="ppaction://hlinksldjump" tooltip="IRB input: loss severity. See AAA/BBB →">
                  <a:extLst>
                    <a:ext uri="{A12FA001-AC4F-418D-AE19-62706E023703}">
                      <ahyp:hlinkClr xmlns:ahyp="http://schemas.microsoft.com/office/drawing/2018/hyperlinkcolor" val="tx"/>
                    </a:ext>
                  </a:extLst>
                </a:hlinkClick>
              </a:rPr>
              <a:t>LGD</a:t>
            </a:r>
            <a:endParaRPr lang="en-US" sz="900" dirty="0"/>
          </a:p>
        </p:txBody>
      </p:sp>
      <p:sp>
        <p:nvSpPr>
          <p:cNvPr id="43" name="Text 41"/>
          <p:cNvSpPr/>
          <p:nvPr/>
        </p:nvSpPr>
        <p:spPr>
          <a:xfrm>
            <a:off x="1234440" y="3419856"/>
            <a:ext cx="7589520" cy="333756"/>
          </a:xfrm>
          <a:prstGeom prst="rect">
            <a:avLst/>
          </a:prstGeom>
          <a:noFill/>
          <a:ln/>
        </p:spPr>
        <p:txBody>
          <a:bodyPr wrap="square" lIns="0" tIns="0" rIns="0" bIns="0" rtlCol="0" anchor="ctr"/>
          <a:lstStyle/>
          <a:p>
            <a:pPr indent="0" marL="0">
              <a:buNone/>
            </a:pPr>
            <a:r>
              <a:rPr lang="en-US" sz="900" dirty="0">
                <a:solidFill>
                  <a:srgbClr val="1A1A2E"/>
                </a:solidFill>
              </a:rPr>
              <a:t>Loss Given Default — The fraction of exposure that is lost if a counterparty defaults, after recovery. Expressed as % of EAD.</a:t>
            </a:r>
            <a:endParaRPr lang="en-US" sz="900" dirty="0"/>
          </a:p>
        </p:txBody>
      </p:sp>
      <p:sp>
        <p:nvSpPr>
          <p:cNvPr id="44" name="Shape 42"/>
          <p:cNvSpPr/>
          <p:nvPr/>
        </p:nvSpPr>
        <p:spPr>
          <a:xfrm>
            <a:off x="274320" y="3753612"/>
            <a:ext cx="8595360" cy="333756"/>
          </a:xfrm>
          <a:prstGeom prst="rect">
            <a:avLst/>
          </a:prstGeom>
          <a:solidFill>
            <a:srgbClr val="F4F6F8"/>
          </a:solidFill>
          <a:ln/>
        </p:spPr>
      </p:sp>
      <p:sp>
        <p:nvSpPr>
          <p:cNvPr id="45" name="Shape 43"/>
          <p:cNvSpPr/>
          <p:nvPr/>
        </p:nvSpPr>
        <p:spPr>
          <a:xfrm>
            <a:off x="274320" y="3753612"/>
            <a:ext cx="914400" cy="333756"/>
          </a:xfrm>
          <a:prstGeom prst="rect">
            <a:avLst/>
          </a:prstGeom>
          <a:solidFill>
            <a:srgbClr val="1B3A6B"/>
          </a:solidFill>
          <a:ln/>
        </p:spPr>
      </p:sp>
      <p:sp>
        <p:nvSpPr>
          <p:cNvPr id="46" name="Text 44">
            <a:hlinkClick r:id="rId10" tooltip="FRTB illiquid risk factor. See Basel IV →" action="ppaction://hlinksldjump"/>
          </p:cNvPr>
          <p:cNvSpPr/>
          <p:nvPr/>
        </p:nvSpPr>
        <p:spPr>
          <a:xfrm>
            <a:off x="274320" y="3753612"/>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0" action="ppaction://hlinksldjump" tooltip="FRTB illiquid risk factor. See Basel IV →">
                  <a:extLst>
                    <a:ext uri="{A12FA001-AC4F-418D-AE19-62706E023703}">
                      <ahyp:hlinkClr xmlns:ahyp="http://schemas.microsoft.com/office/drawing/2018/hyperlinkcolor" val="tx"/>
                    </a:ext>
                  </a:extLst>
                </a:hlinkClick>
              </a:rPr>
              <a:t>NMRF</a:t>
            </a:r>
            <a:endParaRPr lang="en-US" sz="900" dirty="0"/>
          </a:p>
        </p:txBody>
      </p:sp>
      <p:sp>
        <p:nvSpPr>
          <p:cNvPr id="47" name="Text 45"/>
          <p:cNvSpPr/>
          <p:nvPr/>
        </p:nvSpPr>
        <p:spPr>
          <a:xfrm>
            <a:off x="1234440" y="3753612"/>
            <a:ext cx="7589520" cy="333756"/>
          </a:xfrm>
          <a:prstGeom prst="rect">
            <a:avLst/>
          </a:prstGeom>
          <a:noFill/>
          <a:ln/>
        </p:spPr>
        <p:txBody>
          <a:bodyPr wrap="square" lIns="0" tIns="0" rIns="0" bIns="0" rtlCol="0" anchor="ctr"/>
          <a:lstStyle/>
          <a:p>
            <a:pPr indent="0" marL="0">
              <a:buNone/>
            </a:pPr>
            <a:r>
              <a:rPr lang="en-US" sz="900" dirty="0">
                <a:solidFill>
                  <a:srgbClr val="1A1A2E"/>
                </a:solidFill>
              </a:rPr>
              <a:t>Non-Modellable Risk Factor — A risk factor under FRTB with insufficient real price observations. Subject to a punitive standalone stress scenario charge.</a:t>
            </a:r>
            <a:endParaRPr lang="en-US" sz="900" dirty="0"/>
          </a:p>
        </p:txBody>
      </p:sp>
      <p:sp>
        <p:nvSpPr>
          <p:cNvPr id="48" name="Shape 46"/>
          <p:cNvSpPr/>
          <p:nvPr/>
        </p:nvSpPr>
        <p:spPr>
          <a:xfrm>
            <a:off x="274320" y="4087368"/>
            <a:ext cx="8595360" cy="333756"/>
          </a:xfrm>
          <a:prstGeom prst="rect">
            <a:avLst/>
          </a:prstGeom>
          <a:solidFill>
            <a:srgbClr val="FFFFFF"/>
          </a:solidFill>
          <a:ln/>
        </p:spPr>
      </p:sp>
      <p:sp>
        <p:nvSpPr>
          <p:cNvPr id="49" name="Shape 47"/>
          <p:cNvSpPr/>
          <p:nvPr/>
        </p:nvSpPr>
        <p:spPr>
          <a:xfrm>
            <a:off x="274320" y="4087368"/>
            <a:ext cx="914400" cy="333756"/>
          </a:xfrm>
          <a:prstGeom prst="rect">
            <a:avLst/>
          </a:prstGeom>
          <a:solidFill>
            <a:srgbClr val="0E6B8A"/>
          </a:solidFill>
          <a:ln/>
        </p:spPr>
      </p:sp>
      <p:sp>
        <p:nvSpPr>
          <p:cNvPr id="50" name="Text 48">
            <a:hlinkClick r:id="rId11" tooltip="1-year structural funding stability ratio. See Future Module 2 →" action="ppaction://hlinksldjump"/>
          </p:cNvPr>
          <p:cNvSpPr/>
          <p:nvPr/>
        </p:nvSpPr>
        <p:spPr>
          <a:xfrm>
            <a:off x="274320" y="4087368"/>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1" action="ppaction://hlinksldjump" tooltip="1-year structural funding stability ratio. See Future Module 2 →">
                  <a:extLst>
                    <a:ext uri="{A12FA001-AC4F-418D-AE19-62706E023703}">
                      <ahyp:hlinkClr xmlns:ahyp="http://schemas.microsoft.com/office/drawing/2018/hyperlinkcolor" val="tx"/>
                    </a:ext>
                  </a:extLst>
                </a:hlinkClick>
              </a:rPr>
              <a:t>NSFR</a:t>
            </a:r>
            <a:endParaRPr lang="en-US" sz="900" dirty="0"/>
          </a:p>
        </p:txBody>
      </p:sp>
      <p:sp>
        <p:nvSpPr>
          <p:cNvPr id="51" name="Text 49"/>
          <p:cNvSpPr/>
          <p:nvPr/>
        </p:nvSpPr>
        <p:spPr>
          <a:xfrm>
            <a:off x="1234440" y="4087368"/>
            <a:ext cx="7589520" cy="333756"/>
          </a:xfrm>
          <a:prstGeom prst="rect">
            <a:avLst/>
          </a:prstGeom>
          <a:noFill/>
          <a:ln/>
        </p:spPr>
        <p:txBody>
          <a:bodyPr wrap="square" lIns="0" tIns="0" rIns="0" bIns="0" rtlCol="0" anchor="ctr"/>
          <a:lstStyle/>
          <a:p>
            <a:pPr indent="0" marL="0">
              <a:buNone/>
            </a:pPr>
            <a:r>
              <a:rPr lang="en-US" sz="900" dirty="0">
                <a:solidFill>
                  <a:srgbClr val="1A1A2E"/>
                </a:solidFill>
              </a:rPr>
              <a:t>Net Stable Funding Ratio — Ratio of Available Stable Funding to Required Stable Funding over 1 year. Must be ≥ 100% under Basel III.</a:t>
            </a:r>
            <a:endParaRPr lang="en-US" sz="900" dirty="0"/>
          </a:p>
        </p:txBody>
      </p:sp>
      <p:sp>
        <p:nvSpPr>
          <p:cNvPr id="52" name="Shape 50"/>
          <p:cNvSpPr/>
          <p:nvPr/>
        </p:nvSpPr>
        <p:spPr>
          <a:xfrm>
            <a:off x="274320" y="4421124"/>
            <a:ext cx="8595360" cy="333756"/>
          </a:xfrm>
          <a:prstGeom prst="rect">
            <a:avLst/>
          </a:prstGeom>
          <a:solidFill>
            <a:srgbClr val="F4F6F8"/>
          </a:solidFill>
          <a:ln/>
        </p:spPr>
      </p:sp>
      <p:sp>
        <p:nvSpPr>
          <p:cNvPr id="53" name="Shape 51"/>
          <p:cNvSpPr/>
          <p:nvPr/>
        </p:nvSpPr>
        <p:spPr>
          <a:xfrm>
            <a:off x="274320" y="4421124"/>
            <a:ext cx="914400" cy="333756"/>
          </a:xfrm>
          <a:prstGeom prst="rect">
            <a:avLst/>
          </a:prstGeom>
          <a:solidFill>
            <a:srgbClr val="1B3A6B"/>
          </a:solidFill>
          <a:ln/>
        </p:spPr>
      </p:sp>
      <p:sp>
        <p:nvSpPr>
          <p:cNvPr id="54" name="Text 52">
            <a:hlinkClick r:id="rId12" tooltip="IRB input: default probability. See AAA/BBB →" action="ppaction://hlinksldjump"/>
          </p:cNvPr>
          <p:cNvSpPr/>
          <p:nvPr/>
        </p:nvSpPr>
        <p:spPr>
          <a:xfrm>
            <a:off x="274320" y="4421124"/>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2" action="ppaction://hlinksldjump" tooltip="IRB input: default probability. See AAA/BBB →">
                  <a:extLst>
                    <a:ext uri="{A12FA001-AC4F-418D-AE19-62706E023703}">
                      <ahyp:hlinkClr xmlns:ahyp="http://schemas.microsoft.com/office/drawing/2018/hyperlinkcolor" val="tx"/>
                    </a:ext>
                  </a:extLst>
                </a:hlinkClick>
              </a:rPr>
              <a:t>PD</a:t>
            </a:r>
            <a:endParaRPr lang="en-US" sz="900" dirty="0"/>
          </a:p>
        </p:txBody>
      </p:sp>
      <p:sp>
        <p:nvSpPr>
          <p:cNvPr id="55" name="Text 53"/>
          <p:cNvSpPr/>
          <p:nvPr/>
        </p:nvSpPr>
        <p:spPr>
          <a:xfrm>
            <a:off x="1234440" y="4421124"/>
            <a:ext cx="7589520" cy="333756"/>
          </a:xfrm>
          <a:prstGeom prst="rect">
            <a:avLst/>
          </a:prstGeom>
          <a:noFill/>
          <a:ln/>
        </p:spPr>
        <p:txBody>
          <a:bodyPr wrap="square" lIns="0" tIns="0" rIns="0" bIns="0" rtlCol="0" anchor="ctr"/>
          <a:lstStyle/>
          <a:p>
            <a:pPr indent="0" marL="0">
              <a:buNone/>
            </a:pPr>
            <a:r>
              <a:rPr lang="en-US" sz="900" dirty="0">
                <a:solidFill>
                  <a:srgbClr val="1A1A2E"/>
                </a:solidFill>
              </a:rPr>
              <a:t>Probability of Default — The likelihood that a borrower or counterparty will default within a given time horizon (typically 1 year). Core IRB input.</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Glossary 3/3</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6949440" cy="658368"/>
          </a:xfrm>
          <a:prstGeom prst="rect">
            <a:avLst/>
          </a:prstGeom>
          <a:noFill/>
          <a:ln/>
        </p:spPr>
        <p:txBody>
          <a:bodyPr wrap="square" lIns="0" tIns="0" rIns="0" bIns="0" rtlCol="0" anchor="ctr"/>
          <a:lstStyle/>
          <a:p>
            <a:pPr indent="0" marL="0">
              <a:buNone/>
            </a:pPr>
            <a:r>
              <a:rPr lang="en-US" sz="1900" b="1" dirty="0">
                <a:solidFill>
                  <a:srgbClr val="FFFFFF"/>
                </a:solidFill>
              </a:rPr>
              <a:t>Glossary of Key Terms &amp; Abbreviations  —  Part 3  (PD → WWR)</a:t>
            </a:r>
            <a:endParaRPr lang="en-US" sz="1900" dirty="0"/>
          </a:p>
        </p:txBody>
      </p:sp>
      <p:sp>
        <p:nvSpPr>
          <p:cNvPr id="6" name="Shape 4"/>
          <p:cNvSpPr/>
          <p:nvPr/>
        </p:nvSpPr>
        <p:spPr>
          <a:xfrm>
            <a:off x="7040880" y="91440"/>
            <a:ext cx="1920240" cy="475488"/>
          </a:xfrm>
          <a:prstGeom prst="rect">
            <a:avLst/>
          </a:prstGeom>
          <a:solidFill>
            <a:srgbClr val="0E6B8A"/>
          </a:solidFill>
          <a:ln/>
        </p:spPr>
      </p:sp>
      <p:sp>
        <p:nvSpPr>
          <p:cNvPr id="7" name="Text 5"/>
          <p:cNvSpPr/>
          <p:nvPr/>
        </p:nvSpPr>
        <p:spPr>
          <a:xfrm>
            <a:off x="7059168" y="91440"/>
            <a:ext cx="1883664" cy="475488"/>
          </a:xfrm>
          <a:prstGeom prst="rect">
            <a:avLst/>
          </a:prstGeom>
          <a:noFill/>
          <a:ln/>
        </p:spPr>
        <p:txBody>
          <a:bodyPr wrap="square" lIns="0" tIns="0" rIns="0" bIns="0" rtlCol="0" anchor="ctr"/>
          <a:lstStyle/>
          <a:p>
            <a:pPr algn="ctr" indent="0" marL="0">
              <a:buNone/>
            </a:pPr>
            <a:r>
              <a:rPr lang="en-US" sz="800" i="1" dirty="0">
                <a:solidFill>
                  <a:srgbClr val="FFFFFF"/>
                </a:solidFill>
              </a:rPr>
              <a:t>Click abbrev.</a:t>
            </a:r>
            <a:endParaRPr lang="en-US" sz="800" dirty="0"/>
          </a:p>
          <a:p>
            <a:pPr algn="ctr" indent="0" marL="0">
              <a:buNone/>
            </a:pPr>
            <a:r>
              <a:rPr lang="en-US" sz="800" i="1" dirty="0">
                <a:solidFill>
                  <a:srgbClr val="FFFFFF"/>
                </a:solidFill>
              </a:rPr>
              <a:t>for related slide</a:t>
            </a:r>
            <a:endParaRPr lang="en-US" sz="800" dirty="0"/>
          </a:p>
        </p:txBody>
      </p:sp>
      <p:sp>
        <p:nvSpPr>
          <p:cNvPr id="8" name="Shape 6"/>
          <p:cNvSpPr/>
          <p:nvPr/>
        </p:nvSpPr>
        <p:spPr>
          <a:xfrm>
            <a:off x="274320" y="749808"/>
            <a:ext cx="8595360" cy="333756"/>
          </a:xfrm>
          <a:prstGeom prst="rect">
            <a:avLst/>
          </a:prstGeom>
          <a:solidFill>
            <a:srgbClr val="FFFFFF"/>
          </a:solidFill>
          <a:ln/>
        </p:spPr>
      </p:sp>
      <p:sp>
        <p:nvSpPr>
          <p:cNvPr id="9" name="Shape 7"/>
          <p:cNvSpPr/>
          <p:nvPr/>
        </p:nvSpPr>
        <p:spPr>
          <a:xfrm>
            <a:off x="274320" y="749808"/>
            <a:ext cx="914400" cy="333756"/>
          </a:xfrm>
          <a:prstGeom prst="rect">
            <a:avLst/>
          </a:prstGeom>
          <a:solidFill>
            <a:srgbClr val="0E6B8A"/>
          </a:solidFill>
          <a:ln/>
        </p:spPr>
      </p:sp>
      <p:sp>
        <p:nvSpPr>
          <p:cNvPr id="10" name="Text 8">
            <a:hlinkClick r:id="rId1" tooltip="Forward-looking exposure estimate. See IRS example →" action="ppaction://hlinksldjump"/>
          </p:cNvPr>
          <p:cNvSpPr/>
          <p:nvPr/>
        </p:nvSpPr>
        <p:spPr>
          <a:xfrm>
            <a:off x="274320" y="749808"/>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 action="ppaction://hlinksldjump" tooltip="Forward-looking exposure estimate. See IRS example →">
                  <a:extLst>
                    <a:ext uri="{A12FA001-AC4F-418D-AE19-62706E023703}">
                      <ahyp:hlinkClr xmlns:ahyp="http://schemas.microsoft.com/office/drawing/2018/hyperlinkcolor" val="tx"/>
                    </a:ext>
                  </a:extLst>
                </a:hlinkClick>
              </a:rPr>
              <a:t>PFE</a:t>
            </a:r>
            <a:endParaRPr lang="en-US" sz="900" dirty="0"/>
          </a:p>
        </p:txBody>
      </p:sp>
      <p:sp>
        <p:nvSpPr>
          <p:cNvPr id="11" name="Text 9"/>
          <p:cNvSpPr/>
          <p:nvPr/>
        </p:nvSpPr>
        <p:spPr>
          <a:xfrm>
            <a:off x="1234440" y="749808"/>
            <a:ext cx="7589520" cy="333756"/>
          </a:xfrm>
          <a:prstGeom prst="rect">
            <a:avLst/>
          </a:prstGeom>
          <a:noFill/>
          <a:ln/>
        </p:spPr>
        <p:txBody>
          <a:bodyPr wrap="square" lIns="0" tIns="0" rIns="0" bIns="0" rtlCol="0" anchor="ctr"/>
          <a:lstStyle/>
          <a:p>
            <a:pPr indent="0" marL="0">
              <a:buNone/>
            </a:pPr>
            <a:r>
              <a:rPr lang="en-US" sz="900" dirty="0">
                <a:solidFill>
                  <a:srgbClr val="1A1A2E"/>
                </a:solidFill>
              </a:rPr>
              <a:t>Potential Future Exposure — Maximum expected exposure to a counterparty at a future date, at a given confidence level. Used in SA-CCR and CEM.</a:t>
            </a:r>
            <a:endParaRPr lang="en-US" sz="900" dirty="0"/>
          </a:p>
        </p:txBody>
      </p:sp>
      <p:sp>
        <p:nvSpPr>
          <p:cNvPr id="12" name="Shape 10"/>
          <p:cNvSpPr/>
          <p:nvPr/>
        </p:nvSpPr>
        <p:spPr>
          <a:xfrm>
            <a:off x="274320" y="1083564"/>
            <a:ext cx="8595360" cy="333756"/>
          </a:xfrm>
          <a:prstGeom prst="rect">
            <a:avLst/>
          </a:prstGeom>
          <a:solidFill>
            <a:srgbClr val="F4F6F8"/>
          </a:solidFill>
          <a:ln/>
        </p:spPr>
      </p:sp>
      <p:sp>
        <p:nvSpPr>
          <p:cNvPr id="13" name="Shape 11"/>
          <p:cNvSpPr/>
          <p:nvPr/>
        </p:nvSpPr>
        <p:spPr>
          <a:xfrm>
            <a:off x="274320" y="1083564"/>
            <a:ext cx="914400" cy="333756"/>
          </a:xfrm>
          <a:prstGeom prst="rect">
            <a:avLst/>
          </a:prstGeom>
          <a:solidFill>
            <a:srgbClr val="1B3A6B"/>
          </a:solidFill>
          <a:ln/>
        </p:spPr>
      </p:sp>
      <p:sp>
        <p:nvSpPr>
          <p:cNvPr id="14" name="Text 12">
            <a:hlinkClick r:id="rId2" tooltip="Capital ratio denominator. See Capital Evolution →" action="ppaction://hlinksldjump"/>
          </p:cNvPr>
          <p:cNvSpPr/>
          <p:nvPr/>
        </p:nvSpPr>
        <p:spPr>
          <a:xfrm>
            <a:off x="274320" y="1083564"/>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2" action="ppaction://hlinksldjump" tooltip="Capital ratio denominator. See Capital Evolution →">
                  <a:extLst>
                    <a:ext uri="{A12FA001-AC4F-418D-AE19-62706E023703}">
                      <ahyp:hlinkClr xmlns:ahyp="http://schemas.microsoft.com/office/drawing/2018/hyperlinkcolor" val="tx"/>
                    </a:ext>
                  </a:extLst>
                </a:hlinkClick>
              </a:rPr>
              <a:t>RWA</a:t>
            </a:r>
            <a:endParaRPr lang="en-US" sz="900" dirty="0"/>
          </a:p>
        </p:txBody>
      </p:sp>
      <p:sp>
        <p:nvSpPr>
          <p:cNvPr id="15" name="Text 13"/>
          <p:cNvSpPr/>
          <p:nvPr/>
        </p:nvSpPr>
        <p:spPr>
          <a:xfrm>
            <a:off x="1234440" y="1083564"/>
            <a:ext cx="7589520" cy="333756"/>
          </a:xfrm>
          <a:prstGeom prst="rect">
            <a:avLst/>
          </a:prstGeom>
          <a:noFill/>
          <a:ln/>
        </p:spPr>
        <p:txBody>
          <a:bodyPr wrap="square" lIns="0" tIns="0" rIns="0" bIns="0" rtlCol="0" anchor="ctr"/>
          <a:lstStyle/>
          <a:p>
            <a:pPr indent="0" marL="0">
              <a:buNone/>
            </a:pPr>
            <a:r>
              <a:rPr lang="en-US" sz="900" dirty="0">
                <a:solidFill>
                  <a:srgbClr val="1A1A2E"/>
                </a:solidFill>
              </a:rPr>
              <a:t>Risk-Weighted Assets — The denominator of the capital ratio. Assets weighted by risk to reflect their likelihood of causing loss.</a:t>
            </a:r>
            <a:endParaRPr lang="en-US" sz="900" dirty="0"/>
          </a:p>
        </p:txBody>
      </p:sp>
      <p:sp>
        <p:nvSpPr>
          <p:cNvPr id="16" name="Shape 14"/>
          <p:cNvSpPr/>
          <p:nvPr/>
        </p:nvSpPr>
        <p:spPr>
          <a:xfrm>
            <a:off x="274320" y="1417320"/>
            <a:ext cx="8595360" cy="333756"/>
          </a:xfrm>
          <a:prstGeom prst="rect">
            <a:avLst/>
          </a:prstGeom>
          <a:solidFill>
            <a:srgbClr val="FFFFFF"/>
          </a:solidFill>
          <a:ln/>
        </p:spPr>
      </p:sp>
      <p:sp>
        <p:nvSpPr>
          <p:cNvPr id="17" name="Shape 15"/>
          <p:cNvSpPr/>
          <p:nvPr/>
        </p:nvSpPr>
        <p:spPr>
          <a:xfrm>
            <a:off x="274320" y="1417320"/>
            <a:ext cx="914400" cy="333756"/>
          </a:xfrm>
          <a:prstGeom prst="rect">
            <a:avLst/>
          </a:prstGeom>
          <a:solidFill>
            <a:srgbClr val="0E6B8A"/>
          </a:solidFill>
          <a:ln/>
        </p:spPr>
      </p:sp>
      <p:sp>
        <p:nvSpPr>
          <p:cNvPr id="18" name="Text 16">
            <a:hlinkClick r:id="rId3" tooltip="Regulator-prescribed risk weights. See Basel II →" action="ppaction://hlinksldjump"/>
          </p:cNvPr>
          <p:cNvSpPr/>
          <p:nvPr/>
        </p:nvSpPr>
        <p:spPr>
          <a:xfrm>
            <a:off x="274320" y="141732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3" action="ppaction://hlinksldjump" tooltip="Regulator-prescribed risk weights. See Basel II →">
                  <a:extLst>
                    <a:ext uri="{A12FA001-AC4F-418D-AE19-62706E023703}">
                      <ahyp:hlinkClr xmlns:ahyp="http://schemas.microsoft.com/office/drawing/2018/hyperlinkcolor" val="tx"/>
                    </a:ext>
                  </a:extLst>
                </a:hlinkClick>
              </a:rPr>
              <a:t>SA</a:t>
            </a:r>
            <a:endParaRPr lang="en-US" sz="900" dirty="0"/>
          </a:p>
        </p:txBody>
      </p:sp>
      <p:sp>
        <p:nvSpPr>
          <p:cNvPr id="19" name="Text 17"/>
          <p:cNvSpPr/>
          <p:nvPr/>
        </p:nvSpPr>
        <p:spPr>
          <a:xfrm>
            <a:off x="1234440" y="1417320"/>
            <a:ext cx="7589520" cy="333756"/>
          </a:xfrm>
          <a:prstGeom prst="rect">
            <a:avLst/>
          </a:prstGeom>
          <a:noFill/>
          <a:ln/>
        </p:spPr>
        <p:txBody>
          <a:bodyPr wrap="square" lIns="0" tIns="0" rIns="0" bIns="0" rtlCol="0" anchor="ctr"/>
          <a:lstStyle/>
          <a:p>
            <a:pPr indent="0" marL="0">
              <a:buNone/>
            </a:pPr>
            <a:r>
              <a:rPr lang="en-US" sz="900" dirty="0">
                <a:solidFill>
                  <a:srgbClr val="1A1A2E"/>
                </a:solidFill>
              </a:rPr>
              <a:t>Standardised Approach — A regulator-prescribed method for calculating credit or market risk capital, using fixed risk weights or sensitivity factors.</a:t>
            </a:r>
            <a:endParaRPr lang="en-US" sz="900" dirty="0"/>
          </a:p>
        </p:txBody>
      </p:sp>
      <p:sp>
        <p:nvSpPr>
          <p:cNvPr id="20" name="Shape 18"/>
          <p:cNvSpPr/>
          <p:nvPr/>
        </p:nvSpPr>
        <p:spPr>
          <a:xfrm>
            <a:off x="274320" y="1751076"/>
            <a:ext cx="8595360" cy="333756"/>
          </a:xfrm>
          <a:prstGeom prst="rect">
            <a:avLst/>
          </a:prstGeom>
          <a:solidFill>
            <a:srgbClr val="F4F6F8"/>
          </a:solidFill>
          <a:ln/>
        </p:spPr>
      </p:sp>
      <p:sp>
        <p:nvSpPr>
          <p:cNvPr id="21" name="Shape 19"/>
          <p:cNvSpPr/>
          <p:nvPr/>
        </p:nvSpPr>
        <p:spPr>
          <a:xfrm>
            <a:off x="274320" y="1751076"/>
            <a:ext cx="914400" cy="333756"/>
          </a:xfrm>
          <a:prstGeom prst="rect">
            <a:avLst/>
          </a:prstGeom>
          <a:solidFill>
            <a:srgbClr val="1B3A6B"/>
          </a:solidFill>
          <a:ln/>
        </p:spPr>
      </p:sp>
      <p:sp>
        <p:nvSpPr>
          <p:cNvPr id="22" name="Text 20">
            <a:hlinkClick r:id="rId4" tooltip="CCR method (Basel IV). See IRS example →" action="ppaction://hlinksldjump"/>
          </p:cNvPr>
          <p:cNvSpPr/>
          <p:nvPr/>
        </p:nvSpPr>
        <p:spPr>
          <a:xfrm>
            <a:off x="274320" y="175107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4" action="ppaction://hlinksldjump" tooltip="CCR method (Basel IV). See IRS example →">
                  <a:extLst>
                    <a:ext uri="{A12FA001-AC4F-418D-AE19-62706E023703}">
                      <ahyp:hlinkClr xmlns:ahyp="http://schemas.microsoft.com/office/drawing/2018/hyperlinkcolor" val="tx"/>
                    </a:ext>
                  </a:extLst>
                </a:hlinkClick>
              </a:rPr>
              <a:t>SA-CCR</a:t>
            </a:r>
            <a:endParaRPr lang="en-US" sz="900" dirty="0"/>
          </a:p>
        </p:txBody>
      </p:sp>
      <p:sp>
        <p:nvSpPr>
          <p:cNvPr id="23" name="Text 21"/>
          <p:cNvSpPr/>
          <p:nvPr/>
        </p:nvSpPr>
        <p:spPr>
          <a:xfrm>
            <a:off x="1234440" y="1751076"/>
            <a:ext cx="7589520" cy="333756"/>
          </a:xfrm>
          <a:prstGeom prst="rect">
            <a:avLst/>
          </a:prstGeom>
          <a:noFill/>
          <a:ln/>
        </p:spPr>
        <p:txBody>
          <a:bodyPr wrap="square" lIns="0" tIns="0" rIns="0" bIns="0" rtlCol="0" anchor="ctr"/>
          <a:lstStyle/>
          <a:p>
            <a:pPr indent="0" marL="0">
              <a:buNone/>
            </a:pPr>
            <a:r>
              <a:rPr lang="en-US" sz="900" dirty="0">
                <a:solidFill>
                  <a:srgbClr val="1A1A2E"/>
                </a:solidFill>
              </a:rPr>
              <a:t>Standardised Approach for Counterparty Credit Risk — Basel IV mandatory method replacing CEM. Recognises netting, margin, and delta-adjusted notionals. Alpha factor 1.4×.</a:t>
            </a:r>
            <a:endParaRPr lang="en-US" sz="900" dirty="0"/>
          </a:p>
        </p:txBody>
      </p:sp>
      <p:sp>
        <p:nvSpPr>
          <p:cNvPr id="24" name="Shape 22"/>
          <p:cNvSpPr/>
          <p:nvPr/>
        </p:nvSpPr>
        <p:spPr>
          <a:xfrm>
            <a:off x="274320" y="2084832"/>
            <a:ext cx="8595360" cy="333756"/>
          </a:xfrm>
          <a:prstGeom prst="rect">
            <a:avLst/>
          </a:prstGeom>
          <a:solidFill>
            <a:srgbClr val="FFFFFF"/>
          </a:solidFill>
          <a:ln/>
        </p:spPr>
      </p:sp>
      <p:sp>
        <p:nvSpPr>
          <p:cNvPr id="25" name="Shape 23"/>
          <p:cNvSpPr/>
          <p:nvPr/>
        </p:nvSpPr>
        <p:spPr>
          <a:xfrm>
            <a:off x="274320" y="2084832"/>
            <a:ext cx="914400" cy="333756"/>
          </a:xfrm>
          <a:prstGeom prst="rect">
            <a:avLst/>
          </a:prstGeom>
          <a:solidFill>
            <a:srgbClr val="0E6B8A"/>
          </a:solidFill>
          <a:ln/>
        </p:spPr>
      </p:sp>
      <p:sp>
        <p:nvSpPr>
          <p:cNvPr id="26" name="Text 24">
            <a:hlinkClick r:id="rId5" tooltip="Basel IV CVA capital (sensitivity-based). See Basel IV →" action="ppaction://hlinksldjump"/>
          </p:cNvPr>
          <p:cNvSpPr/>
          <p:nvPr/>
        </p:nvSpPr>
        <p:spPr>
          <a:xfrm>
            <a:off x="274320" y="2084832"/>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5" action="ppaction://hlinksldjump" tooltip="Basel IV CVA capital (sensitivity-based). See Basel IV →">
                  <a:extLst>
                    <a:ext uri="{A12FA001-AC4F-418D-AE19-62706E023703}">
                      <ahyp:hlinkClr xmlns:ahyp="http://schemas.microsoft.com/office/drawing/2018/hyperlinkcolor" val="tx"/>
                    </a:ext>
                  </a:extLst>
                </a:hlinkClick>
              </a:rPr>
              <a:t>SA-CVA</a:t>
            </a:r>
            <a:endParaRPr lang="en-US" sz="900" dirty="0"/>
          </a:p>
        </p:txBody>
      </p:sp>
      <p:sp>
        <p:nvSpPr>
          <p:cNvPr id="27" name="Text 25"/>
          <p:cNvSpPr/>
          <p:nvPr/>
        </p:nvSpPr>
        <p:spPr>
          <a:xfrm>
            <a:off x="1234440" y="2084832"/>
            <a:ext cx="7589520" cy="333756"/>
          </a:xfrm>
          <a:prstGeom prst="rect">
            <a:avLst/>
          </a:prstGeom>
          <a:noFill/>
          <a:ln/>
        </p:spPr>
        <p:txBody>
          <a:bodyPr wrap="square" lIns="0" tIns="0" rIns="0" bIns="0" rtlCol="0" anchor="ctr"/>
          <a:lstStyle/>
          <a:p>
            <a:pPr indent="0" marL="0">
              <a:buNone/>
            </a:pPr>
            <a:r>
              <a:rPr lang="en-US" sz="900" dirty="0">
                <a:solidFill>
                  <a:srgbClr val="1A1A2E"/>
                </a:solidFill>
              </a:rPr>
              <a:t>Standardised Approach CVA — A sensitivity-based method for CVA capital under Basel IV. Consistent with FRTB. Recognises hedges explicitly.</a:t>
            </a:r>
            <a:endParaRPr lang="en-US" sz="900" dirty="0"/>
          </a:p>
        </p:txBody>
      </p:sp>
      <p:sp>
        <p:nvSpPr>
          <p:cNvPr id="28" name="Shape 26"/>
          <p:cNvSpPr/>
          <p:nvPr/>
        </p:nvSpPr>
        <p:spPr>
          <a:xfrm>
            <a:off x="274320" y="2418588"/>
            <a:ext cx="8595360" cy="333756"/>
          </a:xfrm>
          <a:prstGeom prst="rect">
            <a:avLst/>
          </a:prstGeom>
          <a:solidFill>
            <a:srgbClr val="F4F6F8"/>
          </a:solidFill>
          <a:ln/>
        </p:spPr>
      </p:sp>
      <p:sp>
        <p:nvSpPr>
          <p:cNvPr id="29" name="Shape 27"/>
          <p:cNvSpPr/>
          <p:nvPr/>
        </p:nvSpPr>
        <p:spPr>
          <a:xfrm>
            <a:off x="274320" y="2418588"/>
            <a:ext cx="914400" cy="333756"/>
          </a:xfrm>
          <a:prstGeom prst="rect">
            <a:avLst/>
          </a:prstGeom>
          <a:solidFill>
            <a:srgbClr val="1B3A6B"/>
          </a:solidFill>
          <a:ln/>
        </p:spPr>
      </p:sp>
      <p:sp>
        <p:nvSpPr>
          <p:cNvPr id="30" name="Text 28">
            <a:hlinkClick r:id="rId6" tooltip="Basel IV OpRisk single method. See Basel IV →" action="ppaction://hlinksldjump"/>
          </p:cNvPr>
          <p:cNvSpPr/>
          <p:nvPr/>
        </p:nvSpPr>
        <p:spPr>
          <a:xfrm>
            <a:off x="274320" y="2418588"/>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6" action="ppaction://hlinksldjump" tooltip="Basel IV OpRisk single method. See Basel IV →">
                  <a:extLst>
                    <a:ext uri="{A12FA001-AC4F-418D-AE19-62706E023703}">
                      <ahyp:hlinkClr xmlns:ahyp="http://schemas.microsoft.com/office/drawing/2018/hyperlinkcolor" val="tx"/>
                    </a:ext>
                  </a:extLst>
                </a:hlinkClick>
              </a:rPr>
              <a:t>SMA</a:t>
            </a:r>
            <a:endParaRPr lang="en-US" sz="900" dirty="0"/>
          </a:p>
        </p:txBody>
      </p:sp>
      <p:sp>
        <p:nvSpPr>
          <p:cNvPr id="31" name="Text 29"/>
          <p:cNvSpPr/>
          <p:nvPr/>
        </p:nvSpPr>
        <p:spPr>
          <a:xfrm>
            <a:off x="1234440" y="2418588"/>
            <a:ext cx="7589520" cy="333756"/>
          </a:xfrm>
          <a:prstGeom prst="rect">
            <a:avLst/>
          </a:prstGeom>
          <a:noFill/>
          <a:ln/>
        </p:spPr>
        <p:txBody>
          <a:bodyPr wrap="square" lIns="0" tIns="0" rIns="0" bIns="0" rtlCol="0" anchor="ctr"/>
          <a:lstStyle/>
          <a:p>
            <a:pPr indent="0" marL="0">
              <a:buNone/>
            </a:pPr>
            <a:r>
              <a:rPr lang="en-US" sz="900" dirty="0">
                <a:solidFill>
                  <a:srgbClr val="1A1A2E"/>
                </a:solidFill>
              </a:rPr>
              <a:t>Standardised Measurement Approach — Basel IV single operational risk capital method replacing BIA/TSA/AMA. Based on Business Indicator component.</a:t>
            </a:r>
            <a:endParaRPr lang="en-US" sz="900" dirty="0"/>
          </a:p>
        </p:txBody>
      </p:sp>
      <p:sp>
        <p:nvSpPr>
          <p:cNvPr id="32" name="Shape 30"/>
          <p:cNvSpPr/>
          <p:nvPr/>
        </p:nvSpPr>
        <p:spPr>
          <a:xfrm>
            <a:off x="274320" y="2752344"/>
            <a:ext cx="8595360" cy="333756"/>
          </a:xfrm>
          <a:prstGeom prst="rect">
            <a:avLst/>
          </a:prstGeom>
          <a:solidFill>
            <a:srgbClr val="FFFFFF"/>
          </a:solidFill>
          <a:ln/>
        </p:spPr>
      </p:sp>
      <p:sp>
        <p:nvSpPr>
          <p:cNvPr id="33" name="Shape 31"/>
          <p:cNvSpPr/>
          <p:nvPr/>
        </p:nvSpPr>
        <p:spPr>
          <a:xfrm>
            <a:off x="274320" y="2752344"/>
            <a:ext cx="914400" cy="333756"/>
          </a:xfrm>
          <a:prstGeom prst="rect">
            <a:avLst/>
          </a:prstGeom>
          <a:solidFill>
            <a:srgbClr val="0E6B8A"/>
          </a:solidFill>
          <a:ln/>
        </p:spPr>
      </p:sp>
      <p:sp>
        <p:nvSpPr>
          <p:cNvPr id="34" name="Text 32">
            <a:hlinkClick r:id="rId7" tooltip="Stressed VaR. See Basel III →" action="ppaction://hlinksldjump"/>
          </p:cNvPr>
          <p:cNvSpPr/>
          <p:nvPr/>
        </p:nvSpPr>
        <p:spPr>
          <a:xfrm>
            <a:off x="274320" y="2752344"/>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7" action="ppaction://hlinksldjump" tooltip="Stressed VaR. See Basel III →">
                  <a:extLst>
                    <a:ext uri="{A12FA001-AC4F-418D-AE19-62706E023703}">
                      <ahyp:hlinkClr xmlns:ahyp="http://schemas.microsoft.com/office/drawing/2018/hyperlinkcolor" val="tx"/>
                    </a:ext>
                  </a:extLst>
                </a:hlinkClick>
              </a:rPr>
              <a:t>SVaR</a:t>
            </a:r>
            <a:endParaRPr lang="en-US" sz="900" dirty="0"/>
          </a:p>
        </p:txBody>
      </p:sp>
      <p:sp>
        <p:nvSpPr>
          <p:cNvPr id="35" name="Text 33"/>
          <p:cNvSpPr/>
          <p:nvPr/>
        </p:nvSpPr>
        <p:spPr>
          <a:xfrm>
            <a:off x="1234440" y="2752344"/>
            <a:ext cx="7589520" cy="333756"/>
          </a:xfrm>
          <a:prstGeom prst="rect">
            <a:avLst/>
          </a:prstGeom>
          <a:noFill/>
          <a:ln/>
        </p:spPr>
        <p:txBody>
          <a:bodyPr wrap="square" lIns="0" tIns="0" rIns="0" bIns="0" rtlCol="0" anchor="ctr"/>
          <a:lstStyle/>
          <a:p>
            <a:pPr indent="0" marL="0">
              <a:buNone/>
            </a:pPr>
            <a:r>
              <a:rPr lang="en-US" sz="900" dirty="0">
                <a:solidFill>
                  <a:srgbClr val="1A1A2E"/>
                </a:solidFill>
              </a:rPr>
              <a:t>Stressed Value at Risk — A VaR calculation using a historical stress period (typically 2007–09) to capture crisis-level market risk. Introduced in Basel III.</a:t>
            </a:r>
            <a:endParaRPr lang="en-US" sz="900" dirty="0"/>
          </a:p>
        </p:txBody>
      </p:sp>
      <p:sp>
        <p:nvSpPr>
          <p:cNvPr id="36" name="Shape 34"/>
          <p:cNvSpPr/>
          <p:nvPr/>
        </p:nvSpPr>
        <p:spPr>
          <a:xfrm>
            <a:off x="274320" y="3086100"/>
            <a:ext cx="8595360" cy="333756"/>
          </a:xfrm>
          <a:prstGeom prst="rect">
            <a:avLst/>
          </a:prstGeom>
          <a:solidFill>
            <a:srgbClr val="F4F6F8"/>
          </a:solidFill>
          <a:ln/>
        </p:spPr>
      </p:sp>
      <p:sp>
        <p:nvSpPr>
          <p:cNvPr id="37" name="Shape 35"/>
          <p:cNvSpPr/>
          <p:nvPr/>
        </p:nvSpPr>
        <p:spPr>
          <a:xfrm>
            <a:off x="274320" y="3086100"/>
            <a:ext cx="914400" cy="333756"/>
          </a:xfrm>
          <a:prstGeom prst="rect">
            <a:avLst/>
          </a:prstGeom>
          <a:solidFill>
            <a:srgbClr val="1B3A6B"/>
          </a:solidFill>
          <a:ln/>
        </p:spPr>
      </p:sp>
      <p:sp>
        <p:nvSpPr>
          <p:cNvPr id="38" name="Text 36">
            <a:hlinkClick r:id="rId8" tooltip="OpRisk (medium method). See Basel II →" action="ppaction://hlinksldjump"/>
          </p:cNvPr>
          <p:cNvSpPr/>
          <p:nvPr/>
        </p:nvSpPr>
        <p:spPr>
          <a:xfrm>
            <a:off x="274320" y="308610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8" action="ppaction://hlinksldjump" tooltip="OpRisk (medium method). See Basel II →">
                  <a:extLst>
                    <a:ext uri="{A12FA001-AC4F-418D-AE19-62706E023703}">
                      <ahyp:hlinkClr xmlns:ahyp="http://schemas.microsoft.com/office/drawing/2018/hyperlinkcolor" val="tx"/>
                    </a:ext>
                  </a:extLst>
                </a:hlinkClick>
              </a:rPr>
              <a:t>TSA</a:t>
            </a:r>
            <a:endParaRPr lang="en-US" sz="900" dirty="0"/>
          </a:p>
        </p:txBody>
      </p:sp>
      <p:sp>
        <p:nvSpPr>
          <p:cNvPr id="39" name="Text 37"/>
          <p:cNvSpPr/>
          <p:nvPr/>
        </p:nvSpPr>
        <p:spPr>
          <a:xfrm>
            <a:off x="1234440" y="3086100"/>
            <a:ext cx="7589520" cy="333756"/>
          </a:xfrm>
          <a:prstGeom prst="rect">
            <a:avLst/>
          </a:prstGeom>
          <a:noFill/>
          <a:ln/>
        </p:spPr>
        <p:txBody>
          <a:bodyPr wrap="square" lIns="0" tIns="0" rIns="0" bIns="0" rtlCol="0" anchor="ctr"/>
          <a:lstStyle/>
          <a:p>
            <a:pPr indent="0" marL="0">
              <a:buNone/>
            </a:pPr>
            <a:r>
              <a:rPr lang="en-US" sz="900" dirty="0">
                <a:solidFill>
                  <a:srgbClr val="1A1A2E"/>
                </a:solidFill>
              </a:rPr>
              <a:t>Standardised Approach (OpRisk) — Basel II method applying beta factors (12–18%) to gross income across 8 defined business lines.</a:t>
            </a:r>
            <a:endParaRPr lang="en-US" sz="900" dirty="0"/>
          </a:p>
        </p:txBody>
      </p:sp>
      <p:sp>
        <p:nvSpPr>
          <p:cNvPr id="40" name="Shape 38"/>
          <p:cNvSpPr/>
          <p:nvPr/>
        </p:nvSpPr>
        <p:spPr>
          <a:xfrm>
            <a:off x="274320" y="3419856"/>
            <a:ext cx="8595360" cy="333756"/>
          </a:xfrm>
          <a:prstGeom prst="rect">
            <a:avLst/>
          </a:prstGeom>
          <a:solidFill>
            <a:srgbClr val="FFFFFF"/>
          </a:solidFill>
          <a:ln/>
        </p:spPr>
      </p:sp>
      <p:sp>
        <p:nvSpPr>
          <p:cNvPr id="41" name="Shape 39"/>
          <p:cNvSpPr/>
          <p:nvPr/>
        </p:nvSpPr>
        <p:spPr>
          <a:xfrm>
            <a:off x="274320" y="3419856"/>
            <a:ext cx="914400" cy="333756"/>
          </a:xfrm>
          <a:prstGeom prst="rect">
            <a:avLst/>
          </a:prstGeom>
          <a:solidFill>
            <a:srgbClr val="0E6B8A"/>
          </a:solidFill>
          <a:ln/>
        </p:spPr>
      </p:sp>
      <p:sp>
        <p:nvSpPr>
          <p:cNvPr id="42" name="Text 40">
            <a:hlinkClick r:id="rId9" tooltip="Risk measure: worst-case loss at confidence level. See Basel II →" action="ppaction://hlinksldjump"/>
          </p:cNvPr>
          <p:cNvSpPr/>
          <p:nvPr/>
        </p:nvSpPr>
        <p:spPr>
          <a:xfrm>
            <a:off x="274320" y="341985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9" action="ppaction://hlinksldjump" tooltip="Risk measure: worst-case loss at confidence level. See Basel II →">
                  <a:extLst>
                    <a:ext uri="{A12FA001-AC4F-418D-AE19-62706E023703}">
                      <ahyp:hlinkClr xmlns:ahyp="http://schemas.microsoft.com/office/drawing/2018/hyperlinkcolor" val="tx"/>
                    </a:ext>
                  </a:extLst>
                </a:hlinkClick>
              </a:rPr>
              <a:t>VaR</a:t>
            </a:r>
            <a:endParaRPr lang="en-US" sz="900" dirty="0"/>
          </a:p>
        </p:txBody>
      </p:sp>
      <p:sp>
        <p:nvSpPr>
          <p:cNvPr id="43" name="Text 41"/>
          <p:cNvSpPr/>
          <p:nvPr/>
        </p:nvSpPr>
        <p:spPr>
          <a:xfrm>
            <a:off x="1234440" y="3419856"/>
            <a:ext cx="7589520" cy="333756"/>
          </a:xfrm>
          <a:prstGeom prst="rect">
            <a:avLst/>
          </a:prstGeom>
          <a:noFill/>
          <a:ln/>
        </p:spPr>
        <p:txBody>
          <a:bodyPr wrap="square" lIns="0" tIns="0" rIns="0" bIns="0" rtlCol="0" anchor="ctr"/>
          <a:lstStyle/>
          <a:p>
            <a:pPr indent="0" marL="0">
              <a:buNone/>
            </a:pPr>
            <a:r>
              <a:rPr lang="en-US" sz="900" dirty="0">
                <a:solidFill>
                  <a:srgbClr val="1A1A2E"/>
                </a:solidFill>
              </a:rPr>
              <a:t>Value at Risk — Maximum loss not exceeded at a given confidence level (e.g. 99%) over a given holding period (e.g. 10 days).</a:t>
            </a:r>
            <a:endParaRPr lang="en-US" sz="900" dirty="0"/>
          </a:p>
        </p:txBody>
      </p:sp>
      <p:sp>
        <p:nvSpPr>
          <p:cNvPr id="44" name="Shape 42"/>
          <p:cNvSpPr/>
          <p:nvPr/>
        </p:nvSpPr>
        <p:spPr>
          <a:xfrm>
            <a:off x="274320" y="3753612"/>
            <a:ext cx="8595360" cy="333756"/>
          </a:xfrm>
          <a:prstGeom prst="rect">
            <a:avLst/>
          </a:prstGeom>
          <a:solidFill>
            <a:srgbClr val="F4F6F8"/>
          </a:solidFill>
          <a:ln/>
        </p:spPr>
      </p:sp>
      <p:sp>
        <p:nvSpPr>
          <p:cNvPr id="45" name="Shape 43"/>
          <p:cNvSpPr/>
          <p:nvPr/>
        </p:nvSpPr>
        <p:spPr>
          <a:xfrm>
            <a:off x="274320" y="3753612"/>
            <a:ext cx="914400" cy="333756"/>
          </a:xfrm>
          <a:prstGeom prst="rect">
            <a:avLst/>
          </a:prstGeom>
          <a:solidFill>
            <a:srgbClr val="1B3A6B"/>
          </a:solidFill>
          <a:ln/>
        </p:spPr>
      </p:sp>
      <p:sp>
        <p:nvSpPr>
          <p:cNvPr id="46" name="Text 44">
            <a:hlinkClick r:id="rId10" tooltip="Adverse correlation: exposure ↑ when creditworthiness ↓" action="ppaction://hlinksldjump"/>
          </p:cNvPr>
          <p:cNvSpPr/>
          <p:nvPr/>
        </p:nvSpPr>
        <p:spPr>
          <a:xfrm>
            <a:off x="274320" y="3753612"/>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0" action="ppaction://hlinksldjump" tooltip="Adverse correlation: exposure ↑ when creditworthiness ↓">
                  <a:extLst>
                    <a:ext uri="{A12FA001-AC4F-418D-AE19-62706E023703}">
                      <ahyp:hlinkClr xmlns:ahyp="http://schemas.microsoft.com/office/drawing/2018/hyperlinkcolor" val="tx"/>
                    </a:ext>
                  </a:extLst>
                </a:hlinkClick>
              </a:rPr>
              <a:t>WWR</a:t>
            </a:r>
            <a:endParaRPr lang="en-US" sz="900" dirty="0"/>
          </a:p>
        </p:txBody>
      </p:sp>
      <p:sp>
        <p:nvSpPr>
          <p:cNvPr id="47" name="Text 45"/>
          <p:cNvSpPr/>
          <p:nvPr/>
        </p:nvSpPr>
        <p:spPr>
          <a:xfrm>
            <a:off x="1234440" y="3753612"/>
            <a:ext cx="7589520" cy="333756"/>
          </a:xfrm>
          <a:prstGeom prst="rect">
            <a:avLst/>
          </a:prstGeom>
          <a:noFill/>
          <a:ln/>
        </p:spPr>
        <p:txBody>
          <a:bodyPr wrap="square" lIns="0" tIns="0" rIns="0" bIns="0" rtlCol="0" anchor="ctr"/>
          <a:lstStyle/>
          <a:p>
            <a:pPr indent="0" marL="0">
              <a:buNone/>
            </a:pPr>
            <a:r>
              <a:rPr lang="en-US" sz="900" dirty="0">
                <a:solidFill>
                  <a:srgbClr val="1A1A2E"/>
                </a:solidFill>
              </a:rPr>
              <a:t>Wrong-Way Risk — The risk that exposure to a counterparty increases at the same time as the counterparty's credit quality deteriorates.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Basel Accords: From I to IV — A Practitioner's Reference</dc:title>
  <dc:subject>PptxGenJS Presentation</dc:subject>
  <dc:creator>Sarthaka Nanda</dc:creator>
  <cp:lastModifiedBy>Sarthaka Nanda</cp:lastModifiedBy>
  <cp:revision>1</cp:revision>
  <dcterms:created xsi:type="dcterms:W3CDTF">2026-03-05T00:17:46Z</dcterms:created>
  <dcterms:modified xsi:type="dcterms:W3CDTF">2026-03-05T00:17:46Z</dcterms:modified>
</cp:coreProperties>
</file>