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3A6B"/>
                </a:solidFill>
                <a:latin typeface="Arial"/>
              </a:defRPr>
            </a:pPr>
            <a:r>
              <a:rPr sz="1100" b="0" i="0" u="none" strike="noStrike">
                <a:solidFill>
                  <a:srgbClr val="1B3A6B"/>
                </a:solidFill>
                <a:latin typeface="Arial"/>
              </a:rPr>
              <a:t>Effective Minimum Capital (% of RWA)</a:t>
            </a:r>
          </a:p>
        </c:rich>
      </c:tx>
      <c:layout/>
      <c:overlay val="0"/>
    </c:title>
    <c:autoTitleDeleted val="0"/>
    <c:plotArea>
      <c:layout/>
      <c:barChart>
        <c:barDir val="col"/>
        <c:grouping val="stacked"/>
        <c:varyColors val="0"/>
        <c:ser>
          <c:idx val="0"/>
          <c:order val="0"/>
          <c:tx>
            <c:strRef>
              <c:f>Sheet1!$B$1</c:f>
              <c:strCache>
                <c:ptCount val="1"/>
                <c:pt idx="0">
                  <c:v>CET1 Minimum</c:v>
                </c:pt>
              </c:strCache>
            </c:strRef>
          </c:tx>
          <c:spPr>
            <a:solidFill>
              <a:srgbClr val="0E6B8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 (incl. floor)</c:v>
                  </c:pt>
                </c:lvl>
              </c:multiLvlStrCache>
            </c:multiLvlStrRef>
          </c:cat>
          <c:val>
            <c:numRef>
              <c:f>Sheet1!$B$2:$B$5</c:f>
              <c:numCache>
                <c:formatCode>General</c:formatCode>
                <c:ptCount val="4"/>
                <c:pt idx="0">
                  <c:v>4</c:v>
                </c:pt>
                <c:pt idx="1">
                  <c:v>4</c:v>
                </c:pt>
                <c:pt idx="2">
                  <c:v>4.5</c:v>
                </c:pt>
                <c:pt idx="3">
                  <c:v>4.5</c:v>
                </c:pt>
              </c:numCache>
            </c:numRef>
          </c:val>
        </c:ser>
        <c:ser>
          <c:idx val="1"/>
          <c:order val="1"/>
          <c:tx>
            <c:strRef>
              <c:f>Sheet1!$C$1</c:f>
              <c:strCache>
                <c:ptCount val="1"/>
                <c:pt idx="0">
                  <c:v>Conservation Buffer</c:v>
                </c:pt>
              </c:strCache>
            </c:strRef>
          </c:tx>
          <c:spPr>
            <a:solidFill>
              <a:srgbClr val="C9A84C"/>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 (incl. floor)</c:v>
                  </c:pt>
                </c:lvl>
              </c:multiLvlStrCache>
            </c:multiLvlStrRef>
          </c:cat>
          <c:val>
            <c:numRef>
              <c:f>Sheet1!$C$2:$C$5</c:f>
              <c:numCache>
                <c:formatCode>General</c:formatCode>
                <c:ptCount val="4"/>
                <c:pt idx="0">
                  <c:v>0</c:v>
                </c:pt>
                <c:pt idx="1">
                  <c:v>0</c:v>
                </c:pt>
                <c:pt idx="2">
                  <c:v>2.5</c:v>
                </c:pt>
                <c:pt idx="3">
                  <c:v>2.5</c:v>
                </c:pt>
              </c:numCache>
            </c:numRef>
          </c:val>
        </c:ser>
        <c:ser>
          <c:idx val="2"/>
          <c:order val="2"/>
          <c:tx>
            <c:strRef>
              <c:f>Sheet1!$D$1</c:f>
              <c:strCache>
                <c:ptCount val="1"/>
                <c:pt idx="0">
                  <c:v>AT1 / Tier 2</c:v>
                </c:pt>
              </c:strCache>
            </c:strRef>
          </c:tx>
          <c:spPr>
            <a:solidFill>
              <a:srgbClr val="9FBFDF"/>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 (incl. floor)</c:v>
                  </c:pt>
                </c:lvl>
              </c:multiLvlStrCache>
            </c:multiLvlStrRef>
          </c:cat>
          <c:val>
            <c:numRef>
              <c:f>Sheet1!$D$2:$D$5</c:f>
              <c:numCache>
                <c:formatCode>General</c:formatCode>
                <c:ptCount val="4"/>
                <c:pt idx="0">
                  <c:v>4</c:v>
                </c:pt>
                <c:pt idx="1">
                  <c:v>4</c:v>
                </c:pt>
                <c:pt idx="2">
                  <c:v>3.5</c:v>
                </c:pt>
                <c:pt idx="3">
                  <c:v>3.5</c:v>
                </c:pt>
              </c:numCache>
            </c:numRef>
          </c:val>
        </c:ser>
        <c:ser>
          <c:idx val="3"/>
          <c:order val="3"/>
          <c:tx>
            <c:strRef>
              <c:f>Sheet1!$E$1</c:f>
              <c:strCache>
                <c:ptCount val="1"/>
                <c:pt idx="0">
                  <c:v>G-SIB Surcharge (avg)</c:v>
                </c:pt>
              </c:strCache>
            </c:strRef>
          </c:tx>
          <c:spPr>
            <a:solidFill>
              <a:srgbClr val="8B000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 (incl. floor)</c:v>
                  </c:pt>
                </c:lvl>
              </c:multiLvlStrCache>
            </c:multiLvlStrRef>
          </c:cat>
          <c:val>
            <c:numRef>
              <c:f>Sheet1!$E$2:$E$5</c:f>
              <c:numCache>
                <c:formatCode>General</c:formatCode>
                <c:ptCount val="4"/>
                <c:pt idx="0">
                  <c:v>0</c:v>
                </c:pt>
                <c:pt idx="1">
                  <c:v>0</c:v>
                </c:pt>
                <c:pt idx="2">
                  <c:v>1.5</c:v>
                </c:pt>
                <c:pt idx="3">
                  <c:v>1.5</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2E"/>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B3A6B"/>
                </a:solidFill>
                <a:latin typeface="Arial"/>
              </a:defRPr>
            </a:pPr>
            <a:r>
              <a:rPr sz="1000" b="0" i="0" u="none" strike="noStrike">
                <a:solidFill>
                  <a:srgbClr val="1B3A6B"/>
                </a:solidFill>
                <a:latin typeface="Arial"/>
              </a:rPr>
              <a:t>CCR + CVA Capital (€000, bilateral, banking book)</a:t>
            </a:r>
          </a:p>
        </c:rich>
      </c:tx>
      <c:layout/>
      <c:overlay val="0"/>
    </c:title>
    <c:autoTitleDeleted val="0"/>
    <c:plotArea>
      <c:layout/>
      <c:barChart>
        <c:barDir val="col"/>
        <c:grouping val="stacked"/>
        <c:varyColors val="0"/>
        <c:ser>
          <c:idx val="0"/>
          <c:order val="0"/>
          <c:tx>
            <c:strRef>
              <c:f>Sheet1!$B$1</c:f>
              <c:strCache>
                <c:ptCount val="1"/>
                <c:pt idx="0">
                  <c:v>CCR Capital</c:v>
                </c:pt>
              </c:strCache>
            </c:strRef>
          </c:tx>
          <c:spPr>
            <a:solidFill>
              <a:srgbClr val="0E6B8A"/>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Sheet1!$B$2:$B$5</c:f>
              <c:numCache>
                <c:formatCode>General</c:formatCode>
                <c:ptCount val="4"/>
                <c:pt idx="0">
                  <c:v>36</c:v>
                </c:pt>
                <c:pt idx="1">
                  <c:v>18</c:v>
                </c:pt>
                <c:pt idx="2">
                  <c:v>18</c:v>
                </c:pt>
                <c:pt idx="3">
                  <c:v>44</c:v>
                </c:pt>
              </c:numCache>
            </c:numRef>
          </c:val>
        </c:ser>
        <c:ser>
          <c:idx val="1"/>
          <c:order val="1"/>
          <c:tx>
            <c:strRef>
              <c:f>Sheet1!$C$1</c:f>
              <c:strCache>
                <c:ptCount val="1"/>
                <c:pt idx="0">
                  <c:v>CVA Capital</c:v>
                </c:pt>
              </c:strCache>
            </c:strRef>
          </c:tx>
          <c:spPr>
            <a:solidFill>
              <a:srgbClr val="8B0000"/>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Sheet1!$C$2:$C$5</c:f>
              <c:numCache>
                <c:formatCode>General</c:formatCode>
                <c:ptCount val="4"/>
                <c:pt idx="0">
                  <c:v>0</c:v>
                </c:pt>
                <c:pt idx="1">
                  <c:v>0</c:v>
                </c:pt>
                <c:pt idx="2">
                  <c:v>22</c:v>
                </c:pt>
                <c:pt idx="3">
                  <c:v>15</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p:spPr>
      </p:sp>
      <p:sp>
        <p:nvSpPr>
          <p:cNvPr id="3" name="Shape 1"/>
          <p:cNvSpPr/>
          <p:nvPr/>
        </p:nvSpPr>
        <p:spPr>
          <a:xfrm>
            <a:off x="164592" y="2423160"/>
            <a:ext cx="8979408" cy="36576"/>
          </a:xfrm>
          <a:prstGeom prst="rect">
            <a:avLst/>
          </a:prstGeom>
          <a:solidFill>
            <a:srgbClr val="C9A84C"/>
          </a:solidFill>
          <a:ln/>
        </p:spPr>
      </p:sp>
      <p:sp>
        <p:nvSpPr>
          <p:cNvPr id="4" name="Text 2"/>
          <p:cNvSpPr/>
          <p:nvPr/>
        </p:nvSpPr>
        <p:spPr>
          <a:xfrm>
            <a:off x="365760" y="502920"/>
            <a:ext cx="8412480" cy="457200"/>
          </a:xfrm>
          <a:prstGeom prst="rect">
            <a:avLst/>
          </a:prstGeom>
          <a:noFill/>
          <a:ln/>
        </p:spPr>
        <p:txBody>
          <a:bodyPr wrap="square" lIns="0" tIns="0" rIns="0" bIns="0" rtlCol="0" anchor="ctr"/>
          <a:lstStyle/>
          <a:p>
            <a:pPr indent="0" marL="0">
              <a:buNone/>
            </a:pPr>
            <a:r>
              <a:rPr lang="en-US" sz="1300" b="1" spc="400" kern="0" dirty="0">
                <a:solidFill>
                  <a:srgbClr val="C9A84C"/>
                </a:solidFill>
              </a:rPr>
              <a:t>THE BASEL ACCORDS</a:t>
            </a:r>
            <a:endParaRPr lang="en-US" sz="1300" dirty="0"/>
          </a:p>
        </p:txBody>
      </p:sp>
      <p:sp>
        <p:nvSpPr>
          <p:cNvPr id="5" name="Text 3"/>
          <p:cNvSpPr/>
          <p:nvPr/>
        </p:nvSpPr>
        <p:spPr>
          <a:xfrm>
            <a:off x="365760" y="960120"/>
            <a:ext cx="8412480" cy="1188720"/>
          </a:xfrm>
          <a:prstGeom prst="rect">
            <a:avLst/>
          </a:prstGeom>
          <a:noFill/>
          <a:ln/>
        </p:spPr>
        <p:txBody>
          <a:bodyPr wrap="square" lIns="0" tIns="0" rIns="0" bIns="0" rtlCol="0" anchor="ctr"/>
          <a:lstStyle/>
          <a:p>
            <a:pPr indent="0" marL="0">
              <a:buNone/>
            </a:pPr>
            <a:r>
              <a:rPr lang="en-US" sz="4400" b="1" dirty="0">
                <a:solidFill>
                  <a:srgbClr val="FFFFFF"/>
                </a:solidFill>
              </a:rPr>
              <a:t>From Basel I to Basel IV</a:t>
            </a:r>
            <a:endParaRPr lang="en-US" sz="4400" dirty="0"/>
          </a:p>
        </p:txBody>
      </p:sp>
      <p:sp>
        <p:nvSpPr>
          <p:cNvPr id="6" name="Text 4"/>
          <p:cNvSpPr/>
          <p:nvPr/>
        </p:nvSpPr>
        <p:spPr>
          <a:xfrm>
            <a:off x="365760" y="2514600"/>
            <a:ext cx="6400800" cy="411480"/>
          </a:xfrm>
          <a:prstGeom prst="rect">
            <a:avLst/>
          </a:prstGeom>
          <a:noFill/>
          <a:ln/>
        </p:spPr>
        <p:txBody>
          <a:bodyPr wrap="square" lIns="0" tIns="0" rIns="0" bIns="0" rtlCol="0" anchor="ctr"/>
          <a:lstStyle/>
          <a:p>
            <a:pPr indent="0" marL="0">
              <a:buNone/>
            </a:pPr>
            <a:r>
              <a:rPr lang="en-US" sz="1700" i="1" dirty="0">
                <a:solidFill>
                  <a:srgbClr val="D6EAF8"/>
                </a:solidFill>
              </a:rPr>
              <a:t>A Practitioner's Reference Guide</a:t>
            </a:r>
            <a:endParaRPr lang="en-US" sz="1700" dirty="0"/>
          </a:p>
        </p:txBody>
      </p:sp>
      <p:sp>
        <p:nvSpPr>
          <p:cNvPr id="7" name="Text 5"/>
          <p:cNvSpPr/>
          <p:nvPr/>
        </p:nvSpPr>
        <p:spPr>
          <a:xfrm>
            <a:off x="365760" y="2999232"/>
            <a:ext cx="8229600" cy="320040"/>
          </a:xfrm>
          <a:prstGeom prst="rect">
            <a:avLst/>
          </a:prstGeom>
          <a:noFill/>
          <a:ln/>
        </p:spPr>
        <p:txBody>
          <a:bodyPr wrap="square" lIns="0" tIns="0" rIns="0" bIns="0" rtlCol="0" anchor="ctr"/>
          <a:lstStyle/>
          <a:p>
            <a:pPr indent="0" marL="0">
              <a:buNone/>
            </a:pPr>
            <a:r>
              <a:rPr lang="en-US" sz="1200" dirty="0">
                <a:solidFill>
                  <a:srgbClr val="8899AA"/>
                </a:solidFill>
              </a:rPr>
              <a:t>Credit Risk  •  Market Risk  •  Operational Risk</a:t>
            </a:r>
            <a:endParaRPr lang="en-US" sz="1200" dirty="0"/>
          </a:p>
        </p:txBody>
      </p:sp>
      <p:sp>
        <p:nvSpPr>
          <p:cNvPr id="8" name="Text 6"/>
          <p:cNvSpPr/>
          <p:nvPr/>
        </p:nvSpPr>
        <p:spPr>
          <a:xfrm>
            <a:off x="365760" y="3383280"/>
            <a:ext cx="8229600" cy="274320"/>
          </a:xfrm>
          <a:prstGeom prst="rect">
            <a:avLst/>
          </a:prstGeom>
          <a:noFill/>
          <a:ln/>
        </p:spPr>
        <p:txBody>
          <a:bodyPr wrap="square" lIns="0" tIns="0" rIns="0" bIns="0" rtlCol="0" anchor="ctr"/>
          <a:lstStyle/>
          <a:p>
            <a:pPr indent="0" marL="0">
              <a:buNone/>
            </a:pPr>
            <a:r>
              <a:rPr lang="en-US" sz="1100" i="1" dirty="0">
                <a:solidFill>
                  <a:srgbClr val="8899AA"/>
                </a:solidFill>
              </a:rPr>
              <a:t>Including Worked Examples: FX Forward  |  Equity Derivative  |  Interest Rate Swap</a:t>
            </a:r>
            <a:endParaRPr lang="en-US" sz="1100" dirty="0"/>
          </a:p>
        </p:txBody>
      </p:sp>
      <p:sp>
        <p:nvSpPr>
          <p:cNvPr id="9" name="Shape 7"/>
          <p:cNvSpPr/>
          <p:nvPr/>
        </p:nvSpPr>
        <p:spPr>
          <a:xfrm>
            <a:off x="164592" y="4572000"/>
            <a:ext cx="8979408" cy="571500"/>
          </a:xfrm>
          <a:prstGeom prst="rect">
            <a:avLst/>
          </a:prstGeom>
          <a:solidFill>
            <a:srgbClr val="0D2244"/>
          </a:solidFill>
          <a:ln/>
        </p:spPr>
      </p:sp>
      <p:sp>
        <p:nvSpPr>
          <p:cNvPr id="10" name="Text 8"/>
          <p:cNvSpPr/>
          <p:nvPr/>
        </p:nvSpPr>
        <p:spPr>
          <a:xfrm>
            <a:off x="365760" y="4590288"/>
            <a:ext cx="8595360" cy="530352"/>
          </a:xfrm>
          <a:prstGeom prst="rect">
            <a:avLst/>
          </a:prstGeom>
          <a:noFill/>
          <a:ln/>
        </p:spPr>
        <p:txBody>
          <a:bodyPr wrap="square" lIns="0" tIns="0" rIns="0" bIns="0" rtlCol="0" anchor="ctr"/>
          <a:lstStyle/>
          <a:p>
            <a:pPr indent="0" marL="0">
              <a:buNone/>
            </a:pPr>
            <a:r>
              <a:rPr lang="en-US" sz="1000" dirty="0">
                <a:solidFill>
                  <a:srgbClr val="8899AA"/>
                </a:solidFill>
              </a:rPr>
              <a:t>Sarthaka Nanda  |  26 Years, Investment Banking &amp; RegTech  |  UBS AG  |  Produced with Claude (Anthropic)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Context</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Why Does Bank Capital Regulation Exist?</a:t>
            </a:r>
            <a:endParaRPr lang="en-US" sz="2200" dirty="0"/>
          </a:p>
        </p:txBody>
      </p:sp>
      <p:sp>
        <p:nvSpPr>
          <p:cNvPr id="6" name="Shape 4"/>
          <p:cNvSpPr/>
          <p:nvPr/>
        </p:nvSpPr>
        <p:spPr>
          <a:xfrm>
            <a:off x="274320" y="777240"/>
            <a:ext cx="2743200" cy="22860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74320" y="777240"/>
            <a:ext cx="64008" cy="2286000"/>
          </a:xfrm>
          <a:prstGeom prst="rect">
            <a:avLst/>
          </a:prstGeom>
          <a:solidFill>
            <a:srgbClr val="0E6B8A"/>
          </a:solidFill>
          <a:ln/>
        </p:spPr>
      </p:sp>
      <p:sp>
        <p:nvSpPr>
          <p:cNvPr id="8" name="Text 6"/>
          <p:cNvSpPr/>
          <p:nvPr/>
        </p:nvSpPr>
        <p:spPr>
          <a:xfrm>
            <a:off x="411480" y="868680"/>
            <a:ext cx="2560320" cy="320040"/>
          </a:xfrm>
          <a:prstGeom prst="rect">
            <a:avLst/>
          </a:prstGeom>
          <a:noFill/>
          <a:ln/>
        </p:spPr>
        <p:txBody>
          <a:bodyPr wrap="square" lIns="0" tIns="0" rIns="0" bIns="0" rtlCol="0" anchor="ctr"/>
          <a:lstStyle/>
          <a:p>
            <a:pPr indent="0" marL="0">
              <a:buNone/>
            </a:pPr>
            <a:r>
              <a:rPr lang="en-US" sz="1100" b="1" dirty="0">
                <a:solidFill>
                  <a:srgbClr val="0E6B8A"/>
                </a:solidFill>
              </a:rPr>
              <a:t>The Core Problem</a:t>
            </a:r>
            <a:endParaRPr lang="en-US" sz="1100" dirty="0"/>
          </a:p>
        </p:txBody>
      </p:sp>
      <p:sp>
        <p:nvSpPr>
          <p:cNvPr id="9" name="Text 7"/>
          <p:cNvSpPr/>
          <p:nvPr/>
        </p:nvSpPr>
        <p:spPr>
          <a:xfrm>
            <a:off x="411480" y="1161288"/>
            <a:ext cx="2560320" cy="1783080"/>
          </a:xfrm>
          <a:prstGeom prst="rect">
            <a:avLst/>
          </a:prstGeom>
          <a:noFill/>
          <a:ln/>
        </p:spPr>
        <p:txBody>
          <a:bodyPr wrap="square" lIns="0" tIns="0" rIns="0" bIns="0" rtlCol="0" anchor="t"/>
          <a:lstStyle/>
          <a:p>
            <a:pPr indent="0" marL="0">
              <a:buNone/>
            </a:pPr>
            <a:r>
              <a:rPr lang="en-US" sz="1000" dirty="0">
                <a:solidFill>
                  <a:srgbClr val="1A1A2E"/>
                </a:solidFill>
              </a:rPr>
              <a:t>Banks operate with extreme leverage — accepting deposits (liabilities) to fund loans and investments (assets). A small fall in asset values can wipe out equity entirely, making deposits unrecoverable and triggering bank runs.</a:t>
            </a:r>
            <a:endParaRPr lang="en-US" sz="1000" dirty="0"/>
          </a:p>
        </p:txBody>
      </p:sp>
      <p:sp>
        <p:nvSpPr>
          <p:cNvPr id="10" name="Shape 8"/>
          <p:cNvSpPr/>
          <p:nvPr/>
        </p:nvSpPr>
        <p:spPr>
          <a:xfrm>
            <a:off x="3154680" y="777240"/>
            <a:ext cx="2743200" cy="22860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1" name="Shape 9"/>
          <p:cNvSpPr/>
          <p:nvPr/>
        </p:nvSpPr>
        <p:spPr>
          <a:xfrm>
            <a:off x="3154680" y="777240"/>
            <a:ext cx="64008" cy="2286000"/>
          </a:xfrm>
          <a:prstGeom prst="rect">
            <a:avLst/>
          </a:prstGeom>
          <a:solidFill>
            <a:srgbClr val="1B3A6B"/>
          </a:solidFill>
          <a:ln/>
        </p:spPr>
      </p:sp>
      <p:sp>
        <p:nvSpPr>
          <p:cNvPr id="12" name="Text 10"/>
          <p:cNvSpPr/>
          <p:nvPr/>
        </p:nvSpPr>
        <p:spPr>
          <a:xfrm>
            <a:off x="3291840" y="868680"/>
            <a:ext cx="2560320" cy="320040"/>
          </a:xfrm>
          <a:prstGeom prst="rect">
            <a:avLst/>
          </a:prstGeom>
          <a:noFill/>
          <a:ln/>
        </p:spPr>
        <p:txBody>
          <a:bodyPr wrap="square" lIns="0" tIns="0" rIns="0" bIns="0" rtlCol="0" anchor="ctr"/>
          <a:lstStyle/>
          <a:p>
            <a:pPr indent="0" marL="0">
              <a:buNone/>
            </a:pPr>
            <a:r>
              <a:rPr lang="en-US" sz="1100" b="1" dirty="0">
                <a:solidFill>
                  <a:srgbClr val="1B3A6B"/>
                </a:solidFill>
              </a:rPr>
              <a:t>The Systemic Risk</a:t>
            </a:r>
            <a:endParaRPr lang="en-US" sz="1100" dirty="0"/>
          </a:p>
        </p:txBody>
      </p:sp>
      <p:sp>
        <p:nvSpPr>
          <p:cNvPr id="13" name="Text 11"/>
          <p:cNvSpPr/>
          <p:nvPr/>
        </p:nvSpPr>
        <p:spPr>
          <a:xfrm>
            <a:off x="3291840" y="1161288"/>
            <a:ext cx="2560320" cy="1783080"/>
          </a:xfrm>
          <a:prstGeom prst="rect">
            <a:avLst/>
          </a:prstGeom>
          <a:noFill/>
          <a:ln/>
        </p:spPr>
        <p:txBody>
          <a:bodyPr wrap="square" lIns="0" tIns="0" rIns="0" bIns="0" rtlCol="0" anchor="t"/>
          <a:lstStyle/>
          <a:p>
            <a:pPr indent="0" marL="0">
              <a:buNone/>
            </a:pPr>
            <a:r>
              <a:rPr lang="en-US" sz="1000" dirty="0">
                <a:solidFill>
                  <a:srgbClr val="1A1A2E"/>
                </a:solidFill>
              </a:rPr>
              <a:t>Banking crises are contagious. When one bank fails, counterparties lose money, credit dries up, and economic activity contracts. The 1930s Depression, Latin American crisis (1980s), and 2007–09 GFC are all examples.</a:t>
            </a:r>
            <a:endParaRPr lang="en-US" sz="1000" dirty="0"/>
          </a:p>
        </p:txBody>
      </p:sp>
      <p:sp>
        <p:nvSpPr>
          <p:cNvPr id="14" name="Shape 12"/>
          <p:cNvSpPr/>
          <p:nvPr/>
        </p:nvSpPr>
        <p:spPr>
          <a:xfrm>
            <a:off x="6035040" y="777240"/>
            <a:ext cx="2743200" cy="22860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5" name="Shape 13"/>
          <p:cNvSpPr/>
          <p:nvPr/>
        </p:nvSpPr>
        <p:spPr>
          <a:xfrm>
            <a:off x="6035040" y="777240"/>
            <a:ext cx="64008" cy="2286000"/>
          </a:xfrm>
          <a:prstGeom prst="rect">
            <a:avLst/>
          </a:prstGeom>
          <a:solidFill>
            <a:srgbClr val="C9A84C"/>
          </a:solidFill>
          <a:ln/>
        </p:spPr>
      </p:sp>
      <p:sp>
        <p:nvSpPr>
          <p:cNvPr id="16" name="Text 14"/>
          <p:cNvSpPr/>
          <p:nvPr/>
        </p:nvSpPr>
        <p:spPr>
          <a:xfrm>
            <a:off x="6172200" y="868680"/>
            <a:ext cx="2560320" cy="320040"/>
          </a:xfrm>
          <a:prstGeom prst="rect">
            <a:avLst/>
          </a:prstGeom>
          <a:noFill/>
          <a:ln/>
        </p:spPr>
        <p:txBody>
          <a:bodyPr wrap="square" lIns="0" tIns="0" rIns="0" bIns="0" rtlCol="0" anchor="ctr"/>
          <a:lstStyle/>
          <a:p>
            <a:pPr indent="0" marL="0">
              <a:buNone/>
            </a:pPr>
            <a:r>
              <a:rPr lang="en-US" sz="1100" b="1" dirty="0">
                <a:solidFill>
                  <a:srgbClr val="C9A84C"/>
                </a:solidFill>
              </a:rPr>
              <a:t>The Regulatory Response</a:t>
            </a:r>
            <a:endParaRPr lang="en-US" sz="1100" dirty="0"/>
          </a:p>
        </p:txBody>
      </p:sp>
      <p:sp>
        <p:nvSpPr>
          <p:cNvPr id="17" name="Text 15"/>
          <p:cNvSpPr/>
          <p:nvPr/>
        </p:nvSpPr>
        <p:spPr>
          <a:xfrm>
            <a:off x="6172200" y="1161288"/>
            <a:ext cx="2560320" cy="1783080"/>
          </a:xfrm>
          <a:prstGeom prst="rect">
            <a:avLst/>
          </a:prstGeom>
          <a:noFill/>
          <a:ln/>
        </p:spPr>
        <p:txBody>
          <a:bodyPr wrap="square" lIns="0" tIns="0" rIns="0" bIns="0" rtlCol="0" anchor="t"/>
          <a:lstStyle/>
          <a:p>
            <a:pPr indent="0" marL="0">
              <a:buNone/>
            </a:pPr>
            <a:r>
              <a:rPr lang="en-US" sz="1000" dirty="0">
                <a:solidFill>
                  <a:srgbClr val="1A1A2E"/>
                </a:solidFill>
              </a:rPr>
              <a:t>Capital requirements force banks to fund a minimum proportion of their assets with equity — money that absorbs losses before depositors are affected. Basel provides the international standard.</a:t>
            </a:r>
            <a:endParaRPr lang="en-US" sz="1000" dirty="0"/>
          </a:p>
        </p:txBody>
      </p:sp>
      <p:sp>
        <p:nvSpPr>
          <p:cNvPr id="18" name="Shape 16"/>
          <p:cNvSpPr/>
          <p:nvPr/>
        </p:nvSpPr>
        <p:spPr>
          <a:xfrm>
            <a:off x="365760" y="4645152"/>
            <a:ext cx="8412480" cy="594360"/>
          </a:xfrm>
          <a:prstGeom prst="rect">
            <a:avLst/>
          </a:prstGeom>
          <a:solidFill>
            <a:srgbClr val="D6EAF8"/>
          </a:solidFill>
          <a:ln/>
        </p:spPr>
      </p:sp>
      <p:sp>
        <p:nvSpPr>
          <p:cNvPr id="19" name="Shape 17"/>
          <p:cNvSpPr/>
          <p:nvPr/>
        </p:nvSpPr>
        <p:spPr>
          <a:xfrm>
            <a:off x="365760" y="4645152"/>
            <a:ext cx="1005840" cy="594360"/>
          </a:xfrm>
          <a:prstGeom prst="rect">
            <a:avLst/>
          </a:prstGeom>
          <a:solidFill>
            <a:srgbClr val="0E6B8A"/>
          </a:solidFill>
          <a:ln/>
        </p:spPr>
      </p:sp>
      <p:sp>
        <p:nvSpPr>
          <p:cNvPr id="20" name="Text 18"/>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BCBS MISSION</a:t>
            </a:r>
            <a:endParaRPr lang="en-US" sz="900" dirty="0"/>
          </a:p>
        </p:txBody>
      </p:sp>
      <p:sp>
        <p:nvSpPr>
          <p:cNvPr id="21" name="Text 19"/>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Enhance financial stability worldwide by improving the quality of banking supervision and promoting cooperation among bank supervisors globally. Founded 1974 by G10 central bank governors following the failure of Bankhaus Herstatt.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 — 1988</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  —  The Foundation Framework</a:t>
            </a:r>
            <a:endParaRPr lang="en-US" sz="2200" dirty="0"/>
          </a:p>
        </p:txBody>
      </p:sp>
      <p:sp>
        <p:nvSpPr>
          <p:cNvPr id="6" name="Shape 4"/>
          <p:cNvSpPr/>
          <p:nvPr/>
        </p:nvSpPr>
        <p:spPr>
          <a:xfrm>
            <a:off x="6492240" y="201168"/>
            <a:ext cx="3412541" cy="256032"/>
          </a:xfrm>
          <a:prstGeom prst="rect">
            <a:avLst/>
          </a:prstGeom>
          <a:solidFill>
            <a:srgbClr val="C9A84C"/>
          </a:solidFill>
          <a:ln w="12700">
            <a:solidFill>
              <a:srgbClr val="C9A84C"/>
            </a:solidFill>
            <a:prstDash val="solid"/>
          </a:ln>
        </p:spPr>
      </p:sp>
      <p:sp>
        <p:nvSpPr>
          <p:cNvPr id="7" name="Text 5"/>
          <p:cNvSpPr/>
          <p:nvPr/>
        </p:nvSpPr>
        <p:spPr>
          <a:xfrm>
            <a:off x="6492240" y="201168"/>
            <a:ext cx="3412541" cy="256032"/>
          </a:xfrm>
          <a:prstGeom prst="rect">
            <a:avLst/>
          </a:prstGeom>
          <a:noFill/>
          <a:ln/>
        </p:spPr>
        <p:txBody>
          <a:bodyPr wrap="square" lIns="0" tIns="0" rIns="0" bIns="0" rtlCol="0" anchor="ctr"/>
          <a:lstStyle/>
          <a:p>
            <a:pPr algn="ctr" indent="0" marL="0">
              <a:buNone/>
            </a:pPr>
            <a:r>
              <a:rPr lang="en-US" sz="800" b="1" dirty="0">
                <a:solidFill>
                  <a:srgbClr val="FFFFFF"/>
                </a:solidFill>
              </a:rPr>
              <a:t>1988 · 12 BCBS MEMBERS · EFFECTIVE 1992</a:t>
            </a:r>
            <a:endParaRPr lang="en-US" sz="800" dirty="0"/>
          </a:p>
        </p:txBody>
      </p:sp>
      <p:sp>
        <p:nvSpPr>
          <p:cNvPr id="8" name="Shape 6"/>
          <p:cNvSpPr/>
          <p:nvPr/>
        </p:nvSpPr>
        <p:spPr>
          <a:xfrm>
            <a:off x="2743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920240" cy="64008"/>
          </a:xfrm>
          <a:prstGeom prst="rect">
            <a:avLst/>
          </a:prstGeom>
          <a:solidFill>
            <a:srgbClr val="1B3A6B"/>
          </a:solidFill>
          <a:ln/>
        </p:spPr>
      </p:sp>
      <p:sp>
        <p:nvSpPr>
          <p:cNvPr id="10" name="Text 8"/>
          <p:cNvSpPr/>
          <p:nvPr/>
        </p:nvSpPr>
        <p:spPr>
          <a:xfrm>
            <a:off x="274320" y="868680"/>
            <a:ext cx="1920240" cy="548640"/>
          </a:xfrm>
          <a:prstGeom prst="rect">
            <a:avLst/>
          </a:prstGeom>
          <a:noFill/>
          <a:ln/>
        </p:spPr>
        <p:txBody>
          <a:bodyPr wrap="square" lIns="0" tIns="0" rIns="0" bIns="0" rtlCol="0" anchor="ctr"/>
          <a:lstStyle/>
          <a:p>
            <a:pPr algn="ctr" indent="0" marL="0">
              <a:buNone/>
            </a:pPr>
            <a:r>
              <a:rPr lang="en-US" sz="3200" b="1" dirty="0">
                <a:solidFill>
                  <a:srgbClr val="1B3A6B"/>
                </a:solidFill>
              </a:rPr>
              <a:t>8%</a:t>
            </a:r>
            <a:endParaRPr lang="en-US" sz="3200" dirty="0"/>
          </a:p>
        </p:txBody>
      </p:sp>
      <p:sp>
        <p:nvSpPr>
          <p:cNvPr id="11" name="Text 9"/>
          <p:cNvSpPr/>
          <p:nvPr/>
        </p:nvSpPr>
        <p:spPr>
          <a:xfrm>
            <a:off x="2743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Capital / RWA</a:t>
            </a:r>
            <a:endParaRPr lang="en-US" sz="1000" dirty="0"/>
          </a:p>
        </p:txBody>
      </p:sp>
      <p:sp>
        <p:nvSpPr>
          <p:cNvPr id="12" name="Shape 10"/>
          <p:cNvSpPr/>
          <p:nvPr/>
        </p:nvSpPr>
        <p:spPr>
          <a:xfrm>
            <a:off x="23317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331720" y="777240"/>
            <a:ext cx="1920240" cy="64008"/>
          </a:xfrm>
          <a:prstGeom prst="rect">
            <a:avLst/>
          </a:prstGeom>
          <a:solidFill>
            <a:srgbClr val="0E6B8A"/>
          </a:solidFill>
          <a:ln/>
        </p:spPr>
      </p:sp>
      <p:sp>
        <p:nvSpPr>
          <p:cNvPr id="14" name="Text 12"/>
          <p:cNvSpPr/>
          <p:nvPr/>
        </p:nvSpPr>
        <p:spPr>
          <a:xfrm>
            <a:off x="2331720" y="868680"/>
            <a:ext cx="1920240" cy="548640"/>
          </a:xfrm>
          <a:prstGeom prst="rect">
            <a:avLst/>
          </a:prstGeom>
          <a:noFill/>
          <a:ln/>
        </p:spPr>
        <p:txBody>
          <a:bodyPr wrap="square" lIns="0" tIns="0" rIns="0" bIns="0" rtlCol="0" anchor="ctr"/>
          <a:lstStyle/>
          <a:p>
            <a:pPr algn="ctr" indent="0" marL="0">
              <a:buNone/>
            </a:pPr>
            <a:r>
              <a:rPr lang="en-US" sz="3200" b="1" dirty="0">
                <a:solidFill>
                  <a:srgbClr val="0E6B8A"/>
                </a:solidFill>
              </a:rPr>
              <a:t>4%</a:t>
            </a:r>
            <a:endParaRPr lang="en-US" sz="3200" dirty="0"/>
          </a:p>
        </p:txBody>
      </p:sp>
      <p:sp>
        <p:nvSpPr>
          <p:cNvPr id="15" name="Text 13"/>
          <p:cNvSpPr/>
          <p:nvPr/>
        </p:nvSpPr>
        <p:spPr>
          <a:xfrm>
            <a:off x="23317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Tier 1 Capital</a:t>
            </a:r>
            <a:endParaRPr lang="en-US" sz="1000" dirty="0"/>
          </a:p>
        </p:txBody>
      </p:sp>
      <p:sp>
        <p:nvSpPr>
          <p:cNvPr id="16" name="Shape 14"/>
          <p:cNvSpPr/>
          <p:nvPr/>
        </p:nvSpPr>
        <p:spPr>
          <a:xfrm>
            <a:off x="43891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4389120" y="777240"/>
            <a:ext cx="1920240" cy="64008"/>
          </a:xfrm>
          <a:prstGeom prst="rect">
            <a:avLst/>
          </a:prstGeom>
          <a:solidFill>
            <a:srgbClr val="C9A84C"/>
          </a:solidFill>
          <a:ln/>
        </p:spPr>
      </p:sp>
      <p:sp>
        <p:nvSpPr>
          <p:cNvPr id="18" name="Text 16"/>
          <p:cNvSpPr/>
          <p:nvPr/>
        </p:nvSpPr>
        <p:spPr>
          <a:xfrm>
            <a:off x="4389120" y="868680"/>
            <a:ext cx="1920240" cy="548640"/>
          </a:xfrm>
          <a:prstGeom prst="rect">
            <a:avLst/>
          </a:prstGeom>
          <a:noFill/>
          <a:ln/>
        </p:spPr>
        <p:txBody>
          <a:bodyPr wrap="square" lIns="0" tIns="0" rIns="0" bIns="0" rtlCol="0" anchor="ctr"/>
          <a:lstStyle/>
          <a:p>
            <a:pPr algn="ctr" indent="0" marL="0">
              <a:buNone/>
            </a:pPr>
            <a:r>
              <a:rPr lang="en-US" sz="3200" b="1" dirty="0">
                <a:solidFill>
                  <a:srgbClr val="C9A84C"/>
                </a:solidFill>
              </a:rPr>
              <a:t>5</a:t>
            </a:r>
            <a:endParaRPr lang="en-US" sz="3200" dirty="0"/>
          </a:p>
        </p:txBody>
      </p:sp>
      <p:sp>
        <p:nvSpPr>
          <p:cNvPr id="19" name="Text 17"/>
          <p:cNvSpPr/>
          <p:nvPr/>
        </p:nvSpPr>
        <p:spPr>
          <a:xfrm>
            <a:off x="43891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Weight Buckets</a:t>
            </a:r>
            <a:endParaRPr lang="en-US" sz="1000" dirty="0"/>
          </a:p>
        </p:txBody>
      </p:sp>
      <p:sp>
        <p:nvSpPr>
          <p:cNvPr id="20" name="Shape 18"/>
          <p:cNvSpPr/>
          <p:nvPr/>
        </p:nvSpPr>
        <p:spPr>
          <a:xfrm>
            <a:off x="64465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6446520" y="777240"/>
            <a:ext cx="1920240" cy="64008"/>
          </a:xfrm>
          <a:prstGeom prst="rect">
            <a:avLst/>
          </a:prstGeom>
          <a:solidFill>
            <a:srgbClr val="8B0000"/>
          </a:solidFill>
          <a:ln/>
        </p:spPr>
      </p:sp>
      <p:sp>
        <p:nvSpPr>
          <p:cNvPr id="22" name="Text 20"/>
          <p:cNvSpPr/>
          <p:nvPr/>
        </p:nvSpPr>
        <p:spPr>
          <a:xfrm>
            <a:off x="6446520" y="868680"/>
            <a:ext cx="1920240" cy="548640"/>
          </a:xfrm>
          <a:prstGeom prst="rect">
            <a:avLst/>
          </a:prstGeom>
          <a:noFill/>
          <a:ln/>
        </p:spPr>
        <p:txBody>
          <a:bodyPr wrap="square" lIns="0" tIns="0" rIns="0" bIns="0" rtlCol="0" anchor="ctr"/>
          <a:lstStyle/>
          <a:p>
            <a:pPr algn="ctr" indent="0" marL="0">
              <a:buNone/>
            </a:pPr>
            <a:r>
              <a:rPr lang="en-US" sz="3200" b="1" dirty="0">
                <a:solidFill>
                  <a:srgbClr val="8B0000"/>
                </a:solidFill>
              </a:rPr>
              <a:t>1</a:t>
            </a:r>
            <a:endParaRPr lang="en-US" sz="3200" dirty="0"/>
          </a:p>
        </p:txBody>
      </p:sp>
      <p:sp>
        <p:nvSpPr>
          <p:cNvPr id="23" name="Text 21"/>
          <p:cNvSpPr/>
          <p:nvPr/>
        </p:nvSpPr>
        <p:spPr>
          <a:xfrm>
            <a:off x="64465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Type Covered</a:t>
            </a:r>
            <a:endParaRPr lang="en-US" sz="1000" dirty="0"/>
          </a:p>
        </p:txBody>
      </p:sp>
      <p:sp>
        <p:nvSpPr>
          <p:cNvPr id="24" name="Shape 22"/>
          <p:cNvSpPr/>
          <p:nvPr/>
        </p:nvSpPr>
        <p:spPr>
          <a:xfrm>
            <a:off x="274320" y="1965960"/>
            <a:ext cx="4114800" cy="320040"/>
          </a:xfrm>
          <a:prstGeom prst="rect">
            <a:avLst/>
          </a:prstGeom>
          <a:solidFill>
            <a:srgbClr val="1B3A6B"/>
          </a:solidFill>
          <a:ln/>
        </p:spPr>
      </p:sp>
      <p:sp>
        <p:nvSpPr>
          <p:cNvPr id="25" name="Text 23"/>
          <p:cNvSpPr/>
          <p:nvPr/>
        </p:nvSpPr>
        <p:spPr>
          <a:xfrm>
            <a:off x="274320" y="1965960"/>
            <a:ext cx="4114800" cy="320040"/>
          </a:xfrm>
          <a:prstGeom prst="rect">
            <a:avLst/>
          </a:prstGeom>
          <a:noFill/>
          <a:ln/>
        </p:spPr>
        <p:txBody>
          <a:bodyPr wrap="square" lIns="0" tIns="0" rIns="0" bIns="0" rtlCol="0" anchor="ctr"/>
          <a:lstStyle/>
          <a:p>
            <a:pPr algn="ctr" indent="0" marL="0">
              <a:buNone/>
            </a:pPr>
            <a:r>
              <a:rPr lang="en-US" sz="1000" b="1" dirty="0">
                <a:solidFill>
                  <a:srgbClr val="FFFFFF"/>
                </a:solidFill>
              </a:rPr>
              <a:t>RISK WEIGHT BUCKETS</a:t>
            </a:r>
            <a:endParaRPr lang="en-US" sz="1000" dirty="0"/>
          </a:p>
        </p:txBody>
      </p:sp>
      <p:sp>
        <p:nvSpPr>
          <p:cNvPr id="26" name="Shape 24"/>
          <p:cNvSpPr/>
          <p:nvPr/>
        </p:nvSpPr>
        <p:spPr>
          <a:xfrm>
            <a:off x="274320" y="2286000"/>
            <a:ext cx="4114800" cy="347472"/>
          </a:xfrm>
          <a:prstGeom prst="rect">
            <a:avLst/>
          </a:prstGeom>
          <a:solidFill>
            <a:srgbClr val="FFFFFF"/>
          </a:solidFill>
          <a:ln/>
        </p:spPr>
      </p:sp>
      <p:sp>
        <p:nvSpPr>
          <p:cNvPr id="27" name="Shape 25"/>
          <p:cNvSpPr/>
          <p:nvPr/>
        </p:nvSpPr>
        <p:spPr>
          <a:xfrm>
            <a:off x="274320" y="2286000"/>
            <a:ext cx="640080" cy="347472"/>
          </a:xfrm>
          <a:prstGeom prst="rect">
            <a:avLst/>
          </a:prstGeom>
          <a:solidFill>
            <a:srgbClr val="0E6B8A"/>
          </a:solidFill>
          <a:ln/>
        </p:spPr>
      </p:sp>
      <p:sp>
        <p:nvSpPr>
          <p:cNvPr id="28" name="Text 26"/>
          <p:cNvSpPr/>
          <p:nvPr/>
        </p:nvSpPr>
        <p:spPr>
          <a:xfrm>
            <a:off x="274320" y="2286000"/>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0%</a:t>
            </a:r>
            <a:endParaRPr lang="en-US" sz="1100" dirty="0"/>
          </a:p>
        </p:txBody>
      </p:sp>
      <p:sp>
        <p:nvSpPr>
          <p:cNvPr id="29" name="Text 27"/>
          <p:cNvSpPr/>
          <p:nvPr/>
        </p:nvSpPr>
        <p:spPr>
          <a:xfrm>
            <a:off x="960120" y="2286000"/>
            <a:ext cx="3383280" cy="347472"/>
          </a:xfrm>
          <a:prstGeom prst="rect">
            <a:avLst/>
          </a:prstGeom>
          <a:noFill/>
          <a:ln/>
        </p:spPr>
        <p:txBody>
          <a:bodyPr wrap="square" lIns="0" tIns="0" rIns="0" bIns="0" rtlCol="0" anchor="ctr"/>
          <a:lstStyle/>
          <a:p>
            <a:pPr indent="0" marL="0">
              <a:buNone/>
            </a:pPr>
            <a:r>
              <a:rPr lang="en-US" sz="1000" dirty="0">
                <a:solidFill>
                  <a:srgbClr val="1A1A2E"/>
                </a:solidFill>
              </a:rPr>
              <a:t>OECD sovereign bonds, central bank claims</a:t>
            </a:r>
            <a:endParaRPr lang="en-US" sz="1000" dirty="0"/>
          </a:p>
        </p:txBody>
      </p:sp>
      <p:sp>
        <p:nvSpPr>
          <p:cNvPr id="30" name="Shape 28"/>
          <p:cNvSpPr/>
          <p:nvPr/>
        </p:nvSpPr>
        <p:spPr>
          <a:xfrm>
            <a:off x="274320" y="2633472"/>
            <a:ext cx="4114800" cy="347472"/>
          </a:xfrm>
          <a:prstGeom prst="rect">
            <a:avLst/>
          </a:prstGeom>
          <a:solidFill>
            <a:srgbClr val="F4F6F8"/>
          </a:solidFill>
          <a:ln/>
        </p:spPr>
      </p:sp>
      <p:sp>
        <p:nvSpPr>
          <p:cNvPr id="31" name="Shape 29"/>
          <p:cNvSpPr/>
          <p:nvPr/>
        </p:nvSpPr>
        <p:spPr>
          <a:xfrm>
            <a:off x="274320" y="2633472"/>
            <a:ext cx="640080" cy="347472"/>
          </a:xfrm>
          <a:prstGeom prst="rect">
            <a:avLst/>
          </a:prstGeom>
          <a:solidFill>
            <a:srgbClr val="0E6B8A"/>
          </a:solidFill>
          <a:ln/>
        </p:spPr>
      </p:sp>
      <p:sp>
        <p:nvSpPr>
          <p:cNvPr id="32" name="Text 30"/>
          <p:cNvSpPr/>
          <p:nvPr/>
        </p:nvSpPr>
        <p:spPr>
          <a:xfrm>
            <a:off x="274320" y="2633472"/>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33" name="Text 31"/>
          <p:cNvSpPr/>
          <p:nvPr/>
        </p:nvSpPr>
        <p:spPr>
          <a:xfrm>
            <a:off x="960120" y="2633472"/>
            <a:ext cx="3383280" cy="347472"/>
          </a:xfrm>
          <a:prstGeom prst="rect">
            <a:avLst/>
          </a:prstGeom>
          <a:noFill/>
          <a:ln/>
        </p:spPr>
        <p:txBody>
          <a:bodyPr wrap="square" lIns="0" tIns="0" rIns="0" bIns="0" rtlCol="0" anchor="ctr"/>
          <a:lstStyle/>
          <a:p>
            <a:pPr indent="0" marL="0">
              <a:buNone/>
            </a:pPr>
            <a:r>
              <a:rPr lang="en-US" sz="1000" dirty="0">
                <a:solidFill>
                  <a:srgbClr val="1A1A2E"/>
                </a:solidFill>
              </a:rPr>
              <a:t>Domestic public sector entities (national discretion)</a:t>
            </a:r>
            <a:endParaRPr lang="en-US" sz="1000" dirty="0"/>
          </a:p>
        </p:txBody>
      </p:sp>
      <p:sp>
        <p:nvSpPr>
          <p:cNvPr id="34" name="Shape 32"/>
          <p:cNvSpPr/>
          <p:nvPr/>
        </p:nvSpPr>
        <p:spPr>
          <a:xfrm>
            <a:off x="274320" y="2980944"/>
            <a:ext cx="4114800" cy="347472"/>
          </a:xfrm>
          <a:prstGeom prst="rect">
            <a:avLst/>
          </a:prstGeom>
          <a:solidFill>
            <a:srgbClr val="FFFFFF"/>
          </a:solidFill>
          <a:ln/>
        </p:spPr>
      </p:sp>
      <p:sp>
        <p:nvSpPr>
          <p:cNvPr id="35" name="Shape 33"/>
          <p:cNvSpPr/>
          <p:nvPr/>
        </p:nvSpPr>
        <p:spPr>
          <a:xfrm>
            <a:off x="274320" y="2980944"/>
            <a:ext cx="640080" cy="347472"/>
          </a:xfrm>
          <a:prstGeom prst="rect">
            <a:avLst/>
          </a:prstGeom>
          <a:solidFill>
            <a:srgbClr val="0E6B8A"/>
          </a:solidFill>
          <a:ln/>
        </p:spPr>
      </p:sp>
      <p:sp>
        <p:nvSpPr>
          <p:cNvPr id="36" name="Text 34"/>
          <p:cNvSpPr/>
          <p:nvPr/>
        </p:nvSpPr>
        <p:spPr>
          <a:xfrm>
            <a:off x="274320" y="2980944"/>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20%</a:t>
            </a:r>
            <a:endParaRPr lang="en-US" sz="1100" dirty="0"/>
          </a:p>
        </p:txBody>
      </p:sp>
      <p:sp>
        <p:nvSpPr>
          <p:cNvPr id="37" name="Text 35"/>
          <p:cNvSpPr/>
          <p:nvPr/>
        </p:nvSpPr>
        <p:spPr>
          <a:xfrm>
            <a:off x="960120" y="2980944"/>
            <a:ext cx="3383280" cy="347472"/>
          </a:xfrm>
          <a:prstGeom prst="rect">
            <a:avLst/>
          </a:prstGeom>
          <a:noFill/>
          <a:ln/>
        </p:spPr>
        <p:txBody>
          <a:bodyPr wrap="square" lIns="0" tIns="0" rIns="0" bIns="0" rtlCol="0" anchor="ctr"/>
          <a:lstStyle/>
          <a:p>
            <a:pPr indent="0" marL="0">
              <a:buNone/>
            </a:pPr>
            <a:r>
              <a:rPr lang="en-US" sz="1000" dirty="0">
                <a:solidFill>
                  <a:srgbClr val="1A1A2E"/>
                </a:solidFill>
              </a:rPr>
              <a:t>Multilateral dev. banks; OECD bank claims ≤ 1yr</a:t>
            </a:r>
            <a:endParaRPr lang="en-US" sz="1000" dirty="0"/>
          </a:p>
        </p:txBody>
      </p:sp>
      <p:sp>
        <p:nvSpPr>
          <p:cNvPr id="38" name="Shape 36"/>
          <p:cNvSpPr/>
          <p:nvPr/>
        </p:nvSpPr>
        <p:spPr>
          <a:xfrm>
            <a:off x="274320" y="3328416"/>
            <a:ext cx="4114800" cy="347472"/>
          </a:xfrm>
          <a:prstGeom prst="rect">
            <a:avLst/>
          </a:prstGeom>
          <a:solidFill>
            <a:srgbClr val="F4F6F8"/>
          </a:solidFill>
          <a:ln/>
        </p:spPr>
      </p:sp>
      <p:sp>
        <p:nvSpPr>
          <p:cNvPr id="39" name="Shape 37"/>
          <p:cNvSpPr/>
          <p:nvPr/>
        </p:nvSpPr>
        <p:spPr>
          <a:xfrm>
            <a:off x="274320" y="3328416"/>
            <a:ext cx="640080" cy="347472"/>
          </a:xfrm>
          <a:prstGeom prst="rect">
            <a:avLst/>
          </a:prstGeom>
          <a:solidFill>
            <a:srgbClr val="D4770A"/>
          </a:solidFill>
          <a:ln/>
        </p:spPr>
      </p:sp>
      <p:sp>
        <p:nvSpPr>
          <p:cNvPr id="40" name="Text 38"/>
          <p:cNvSpPr/>
          <p:nvPr/>
        </p:nvSpPr>
        <p:spPr>
          <a:xfrm>
            <a:off x="274320" y="3328416"/>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50%</a:t>
            </a:r>
            <a:endParaRPr lang="en-US" sz="1100" dirty="0"/>
          </a:p>
        </p:txBody>
      </p:sp>
      <p:sp>
        <p:nvSpPr>
          <p:cNvPr id="41" name="Text 39"/>
          <p:cNvSpPr/>
          <p:nvPr/>
        </p:nvSpPr>
        <p:spPr>
          <a:xfrm>
            <a:off x="960120" y="3328416"/>
            <a:ext cx="3383280" cy="347472"/>
          </a:xfrm>
          <a:prstGeom prst="rect">
            <a:avLst/>
          </a:prstGeom>
          <a:noFill/>
          <a:ln/>
        </p:spPr>
        <p:txBody>
          <a:bodyPr wrap="square" lIns="0" tIns="0" rIns="0" bIns="0" rtlCol="0" anchor="ctr"/>
          <a:lstStyle/>
          <a:p>
            <a:pPr indent="0" marL="0">
              <a:buNone/>
            </a:pPr>
            <a:r>
              <a:rPr lang="en-US" sz="1000" dirty="0">
                <a:solidFill>
                  <a:srgbClr val="1A1A2E"/>
                </a:solidFill>
              </a:rPr>
              <a:t>Residential mortgage loans</a:t>
            </a:r>
            <a:endParaRPr lang="en-US" sz="1000" dirty="0"/>
          </a:p>
        </p:txBody>
      </p:sp>
      <p:sp>
        <p:nvSpPr>
          <p:cNvPr id="42" name="Shape 40"/>
          <p:cNvSpPr/>
          <p:nvPr/>
        </p:nvSpPr>
        <p:spPr>
          <a:xfrm>
            <a:off x="274320" y="3675888"/>
            <a:ext cx="4114800" cy="347472"/>
          </a:xfrm>
          <a:prstGeom prst="rect">
            <a:avLst/>
          </a:prstGeom>
          <a:solidFill>
            <a:srgbClr val="FFFFFF"/>
          </a:solidFill>
          <a:ln/>
        </p:spPr>
      </p:sp>
      <p:sp>
        <p:nvSpPr>
          <p:cNvPr id="43" name="Shape 41"/>
          <p:cNvSpPr/>
          <p:nvPr/>
        </p:nvSpPr>
        <p:spPr>
          <a:xfrm>
            <a:off x="274320" y="3675888"/>
            <a:ext cx="640080" cy="347472"/>
          </a:xfrm>
          <a:prstGeom prst="rect">
            <a:avLst/>
          </a:prstGeom>
          <a:solidFill>
            <a:srgbClr val="8B0000"/>
          </a:solidFill>
          <a:ln/>
        </p:spPr>
      </p:sp>
      <p:sp>
        <p:nvSpPr>
          <p:cNvPr id="44" name="Text 42"/>
          <p:cNvSpPr/>
          <p:nvPr/>
        </p:nvSpPr>
        <p:spPr>
          <a:xfrm>
            <a:off x="274320" y="3675888"/>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100%</a:t>
            </a:r>
            <a:endParaRPr lang="en-US" sz="1100" dirty="0"/>
          </a:p>
        </p:txBody>
      </p:sp>
      <p:sp>
        <p:nvSpPr>
          <p:cNvPr id="45" name="Text 43"/>
          <p:cNvSpPr/>
          <p:nvPr/>
        </p:nvSpPr>
        <p:spPr>
          <a:xfrm>
            <a:off x="960120" y="3675888"/>
            <a:ext cx="3383280" cy="347472"/>
          </a:xfrm>
          <a:prstGeom prst="rect">
            <a:avLst/>
          </a:prstGeom>
          <a:noFill/>
          <a:ln/>
        </p:spPr>
        <p:txBody>
          <a:bodyPr wrap="square" lIns="0" tIns="0" rIns="0" bIns="0" rtlCol="0" anchor="ctr"/>
          <a:lstStyle/>
          <a:p>
            <a:pPr indent="0" marL="0">
              <a:buNone/>
            </a:pPr>
            <a:r>
              <a:rPr lang="en-US" sz="1000" dirty="0">
                <a:solidFill>
                  <a:srgbClr val="1A1A2E"/>
                </a:solidFill>
              </a:rPr>
              <a:t>Corporate, non-OECD banks, all other assets</a:t>
            </a:r>
            <a:endParaRPr lang="en-US" sz="1000" dirty="0"/>
          </a:p>
        </p:txBody>
      </p:sp>
      <p:sp>
        <p:nvSpPr>
          <p:cNvPr id="46" name="Text 44"/>
          <p:cNvSpPr/>
          <p:nvPr/>
        </p:nvSpPr>
        <p:spPr>
          <a:xfrm>
            <a:off x="4617720" y="1965960"/>
            <a:ext cx="4206240" cy="320040"/>
          </a:xfrm>
          <a:prstGeom prst="rect">
            <a:avLst/>
          </a:prstGeom>
          <a:solidFill>
            <a:srgbClr val="8B0000"/>
          </a:solidFill>
          <a:ln/>
        </p:spPr>
        <p:txBody>
          <a:bodyPr wrap="square" lIns="0" tIns="0" rIns="0" bIns="0" rtlCol="0" anchor="ctr"/>
          <a:lstStyle/>
          <a:p>
            <a:pPr algn="ctr" indent="0" marL="0">
              <a:buNone/>
            </a:pPr>
            <a:r>
              <a:rPr lang="en-US" sz="1000" b="1" dirty="0">
                <a:solidFill>
                  <a:srgbClr val="FFFFFF"/>
                </a:solidFill>
              </a:rPr>
              <a:t>KEY LIMITATION</a:t>
            </a:r>
            <a:endParaRPr lang="en-US" sz="1000" dirty="0"/>
          </a:p>
        </p:txBody>
      </p:sp>
      <p:sp>
        <p:nvSpPr>
          <p:cNvPr id="47" name="Shape 45"/>
          <p:cNvSpPr/>
          <p:nvPr/>
        </p:nvSpPr>
        <p:spPr>
          <a:xfrm>
            <a:off x="4617720" y="1965960"/>
            <a:ext cx="4206240" cy="320040"/>
          </a:xfrm>
          <a:prstGeom prst="rect">
            <a:avLst/>
          </a:prstGeom>
          <a:solidFill>
            <a:srgbClr val="8B0000"/>
          </a:solidFill>
          <a:ln/>
        </p:spPr>
      </p:sp>
      <p:sp>
        <p:nvSpPr>
          <p:cNvPr id="48" name="Text 46"/>
          <p:cNvSpPr/>
          <p:nvPr/>
        </p:nvSpPr>
        <p:spPr>
          <a:xfrm>
            <a:off x="4617720" y="1965960"/>
            <a:ext cx="4206240" cy="320040"/>
          </a:xfrm>
          <a:prstGeom prst="rect">
            <a:avLst/>
          </a:prstGeom>
          <a:noFill/>
          <a:ln/>
        </p:spPr>
        <p:txBody>
          <a:bodyPr wrap="square" lIns="0" tIns="0" rIns="0" bIns="0" rtlCol="0" anchor="ctr"/>
          <a:lstStyle/>
          <a:p>
            <a:pPr algn="ctr" indent="0" marL="0">
              <a:buNone/>
            </a:pPr>
            <a:r>
              <a:rPr lang="en-US" sz="1000" b="1" dirty="0">
                <a:solidFill>
                  <a:srgbClr val="FFFFFF"/>
                </a:solidFill>
              </a:rPr>
              <a:t>KEY LIMITATION</a:t>
            </a:r>
            <a:endParaRPr lang="en-US" sz="1000" dirty="0"/>
          </a:p>
        </p:txBody>
      </p:sp>
      <p:sp>
        <p:nvSpPr>
          <p:cNvPr id="49" name="Shape 47"/>
          <p:cNvSpPr/>
          <p:nvPr/>
        </p:nvSpPr>
        <p:spPr>
          <a:xfrm>
            <a:off x="4617720" y="2286000"/>
            <a:ext cx="4206240" cy="347472"/>
          </a:xfrm>
          <a:prstGeom prst="rect">
            <a:avLst/>
          </a:prstGeom>
          <a:solidFill>
            <a:srgbClr val="FFFFFF"/>
          </a:solidFill>
          <a:ln/>
        </p:spPr>
      </p:sp>
      <p:sp>
        <p:nvSpPr>
          <p:cNvPr id="50" name="Shape 48"/>
          <p:cNvSpPr/>
          <p:nvPr/>
        </p:nvSpPr>
        <p:spPr>
          <a:xfrm>
            <a:off x="4617720" y="2414016"/>
            <a:ext cx="54864" cy="91440"/>
          </a:xfrm>
          <a:prstGeom prst="rect">
            <a:avLst/>
          </a:prstGeom>
          <a:solidFill>
            <a:srgbClr val="8B0000"/>
          </a:solidFill>
          <a:ln/>
        </p:spPr>
      </p:sp>
      <p:sp>
        <p:nvSpPr>
          <p:cNvPr id="51" name="Text 49"/>
          <p:cNvSpPr/>
          <p:nvPr/>
        </p:nvSpPr>
        <p:spPr>
          <a:xfrm>
            <a:off x="4736592" y="2286000"/>
            <a:ext cx="4041648" cy="347472"/>
          </a:xfrm>
          <a:prstGeom prst="rect">
            <a:avLst/>
          </a:prstGeom>
          <a:noFill/>
          <a:ln/>
        </p:spPr>
        <p:txBody>
          <a:bodyPr wrap="square" lIns="0" tIns="0" rIns="0" bIns="0" rtlCol="0" anchor="ctr"/>
          <a:lstStyle/>
          <a:p>
            <a:pPr indent="0" marL="0">
              <a:buNone/>
            </a:pPr>
            <a:r>
              <a:rPr lang="en-US" sz="950" dirty="0">
                <a:solidFill>
                  <a:srgbClr val="1A1A2E"/>
                </a:solidFill>
              </a:rPr>
              <a:t>Only credit risk covered — market and operational risk entirely absent</a:t>
            </a:r>
            <a:endParaRPr lang="en-US" sz="950" dirty="0"/>
          </a:p>
        </p:txBody>
      </p:sp>
      <p:sp>
        <p:nvSpPr>
          <p:cNvPr id="52" name="Shape 50"/>
          <p:cNvSpPr/>
          <p:nvPr/>
        </p:nvSpPr>
        <p:spPr>
          <a:xfrm>
            <a:off x="4617720" y="2633472"/>
            <a:ext cx="4206240" cy="347472"/>
          </a:xfrm>
          <a:prstGeom prst="rect">
            <a:avLst/>
          </a:prstGeom>
          <a:solidFill>
            <a:srgbClr val="F4F6F8"/>
          </a:solidFill>
          <a:ln/>
        </p:spPr>
      </p:sp>
      <p:sp>
        <p:nvSpPr>
          <p:cNvPr id="53" name="Shape 51"/>
          <p:cNvSpPr/>
          <p:nvPr/>
        </p:nvSpPr>
        <p:spPr>
          <a:xfrm>
            <a:off x="4617720" y="2761488"/>
            <a:ext cx="54864" cy="91440"/>
          </a:xfrm>
          <a:prstGeom prst="rect">
            <a:avLst/>
          </a:prstGeom>
          <a:solidFill>
            <a:srgbClr val="8B0000"/>
          </a:solidFill>
          <a:ln/>
        </p:spPr>
      </p:sp>
      <p:sp>
        <p:nvSpPr>
          <p:cNvPr id="54" name="Text 52"/>
          <p:cNvSpPr/>
          <p:nvPr/>
        </p:nvSpPr>
        <p:spPr>
          <a:xfrm>
            <a:off x="4736592" y="2633472"/>
            <a:ext cx="4041648" cy="347472"/>
          </a:xfrm>
          <a:prstGeom prst="rect">
            <a:avLst/>
          </a:prstGeom>
          <a:noFill/>
          <a:ln/>
        </p:spPr>
        <p:txBody>
          <a:bodyPr wrap="square" lIns="0" tIns="0" rIns="0" bIns="0" rtlCol="0" anchor="ctr"/>
          <a:lstStyle/>
          <a:p>
            <a:pPr indent="0" marL="0">
              <a:buNone/>
            </a:pPr>
            <a:r>
              <a:rPr lang="en-US" sz="950" dirty="0">
                <a:solidFill>
                  <a:srgbClr val="1A1A2E"/>
                </a:solidFill>
              </a:rPr>
              <a:t>Risk weights based on OECD membership, not actual credit quality</a:t>
            </a:r>
            <a:endParaRPr lang="en-US" sz="950" dirty="0"/>
          </a:p>
        </p:txBody>
      </p:sp>
      <p:sp>
        <p:nvSpPr>
          <p:cNvPr id="55" name="Shape 53"/>
          <p:cNvSpPr/>
          <p:nvPr/>
        </p:nvSpPr>
        <p:spPr>
          <a:xfrm>
            <a:off x="4617720" y="2980944"/>
            <a:ext cx="4206240" cy="347472"/>
          </a:xfrm>
          <a:prstGeom prst="rect">
            <a:avLst/>
          </a:prstGeom>
          <a:solidFill>
            <a:srgbClr val="FFFFFF"/>
          </a:solidFill>
          <a:ln/>
        </p:spPr>
      </p:sp>
      <p:sp>
        <p:nvSpPr>
          <p:cNvPr id="56" name="Shape 54"/>
          <p:cNvSpPr/>
          <p:nvPr/>
        </p:nvSpPr>
        <p:spPr>
          <a:xfrm>
            <a:off x="4617720" y="3108960"/>
            <a:ext cx="54864" cy="91440"/>
          </a:xfrm>
          <a:prstGeom prst="rect">
            <a:avLst/>
          </a:prstGeom>
          <a:solidFill>
            <a:srgbClr val="8B0000"/>
          </a:solidFill>
          <a:ln/>
        </p:spPr>
      </p:sp>
      <p:sp>
        <p:nvSpPr>
          <p:cNvPr id="57" name="Text 55"/>
          <p:cNvSpPr/>
          <p:nvPr/>
        </p:nvSpPr>
        <p:spPr>
          <a:xfrm>
            <a:off x="4736592" y="2980944"/>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sensitivity to borrower creditworthiness within asset classes</a:t>
            </a:r>
            <a:endParaRPr lang="en-US" sz="950" dirty="0"/>
          </a:p>
        </p:txBody>
      </p:sp>
      <p:sp>
        <p:nvSpPr>
          <p:cNvPr id="58" name="Shape 56"/>
          <p:cNvSpPr/>
          <p:nvPr/>
        </p:nvSpPr>
        <p:spPr>
          <a:xfrm>
            <a:off x="4617720" y="3328416"/>
            <a:ext cx="4206240" cy="347472"/>
          </a:xfrm>
          <a:prstGeom prst="rect">
            <a:avLst/>
          </a:prstGeom>
          <a:solidFill>
            <a:srgbClr val="F4F6F8"/>
          </a:solidFill>
          <a:ln/>
        </p:spPr>
      </p:sp>
      <p:sp>
        <p:nvSpPr>
          <p:cNvPr id="59" name="Shape 57"/>
          <p:cNvSpPr/>
          <p:nvPr/>
        </p:nvSpPr>
        <p:spPr>
          <a:xfrm>
            <a:off x="4617720" y="3456432"/>
            <a:ext cx="54864" cy="91440"/>
          </a:xfrm>
          <a:prstGeom prst="rect">
            <a:avLst/>
          </a:prstGeom>
          <a:solidFill>
            <a:srgbClr val="8B0000"/>
          </a:solidFill>
          <a:ln/>
        </p:spPr>
      </p:sp>
      <p:sp>
        <p:nvSpPr>
          <p:cNvPr id="60" name="Text 58"/>
          <p:cNvSpPr/>
          <p:nvPr/>
        </p:nvSpPr>
        <p:spPr>
          <a:xfrm>
            <a:off x="4736592" y="3328416"/>
            <a:ext cx="4041648" cy="347472"/>
          </a:xfrm>
          <a:prstGeom prst="rect">
            <a:avLst/>
          </a:prstGeom>
          <a:noFill/>
          <a:ln/>
        </p:spPr>
        <p:txBody>
          <a:bodyPr wrap="square" lIns="0" tIns="0" rIns="0" bIns="0" rtlCol="0" anchor="ctr"/>
          <a:lstStyle/>
          <a:p>
            <a:pPr indent="0" marL="0">
              <a:buNone/>
            </a:pPr>
            <a:r>
              <a:rPr lang="en-US" sz="950" dirty="0">
                <a:solidFill>
                  <a:srgbClr val="1A1A2E"/>
                </a:solidFill>
              </a:rPr>
              <a:t>Fixed buckets easily gamed via securitisation and off-balance-sheet vehicles</a:t>
            </a:r>
            <a:endParaRPr lang="en-US" sz="950" dirty="0"/>
          </a:p>
        </p:txBody>
      </p:sp>
      <p:sp>
        <p:nvSpPr>
          <p:cNvPr id="61" name="Shape 59"/>
          <p:cNvSpPr/>
          <p:nvPr/>
        </p:nvSpPr>
        <p:spPr>
          <a:xfrm>
            <a:off x="4617720" y="3675888"/>
            <a:ext cx="4206240" cy="347472"/>
          </a:xfrm>
          <a:prstGeom prst="rect">
            <a:avLst/>
          </a:prstGeom>
          <a:solidFill>
            <a:srgbClr val="FFFFFF"/>
          </a:solidFill>
          <a:ln/>
        </p:spPr>
      </p:sp>
      <p:sp>
        <p:nvSpPr>
          <p:cNvPr id="62" name="Shape 60"/>
          <p:cNvSpPr/>
          <p:nvPr/>
        </p:nvSpPr>
        <p:spPr>
          <a:xfrm>
            <a:off x="4617720" y="3803904"/>
            <a:ext cx="54864" cy="91440"/>
          </a:xfrm>
          <a:prstGeom prst="rect">
            <a:avLst/>
          </a:prstGeom>
          <a:solidFill>
            <a:srgbClr val="8B0000"/>
          </a:solidFill>
          <a:ln/>
        </p:spPr>
      </p:sp>
      <p:sp>
        <p:nvSpPr>
          <p:cNvPr id="63" name="Text 61"/>
          <p:cNvSpPr/>
          <p:nvPr/>
        </p:nvSpPr>
        <p:spPr>
          <a:xfrm>
            <a:off x="4736592" y="3675888"/>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liquidity, leverage, or concentration risk requirements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 — 2004</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II  —  The Three Pillars Framework</a:t>
            </a:r>
            <a:endParaRPr lang="en-US" sz="2200" dirty="0"/>
          </a:p>
        </p:txBody>
      </p:sp>
      <p:sp>
        <p:nvSpPr>
          <p:cNvPr id="6" name="Shape 4"/>
          <p:cNvSpPr/>
          <p:nvPr/>
        </p:nvSpPr>
        <p:spPr>
          <a:xfrm>
            <a:off x="6583680" y="201168"/>
            <a:ext cx="2125066" cy="256032"/>
          </a:xfrm>
          <a:prstGeom prst="rect">
            <a:avLst/>
          </a:prstGeom>
          <a:solidFill>
            <a:srgbClr val="C9A84C"/>
          </a:solidFill>
          <a:ln w="12700">
            <a:solidFill>
              <a:srgbClr val="C9A84C"/>
            </a:solidFill>
            <a:prstDash val="solid"/>
          </a:ln>
        </p:spPr>
      </p:sp>
      <p:sp>
        <p:nvSpPr>
          <p:cNvPr id="7" name="Text 5"/>
          <p:cNvSpPr/>
          <p:nvPr/>
        </p:nvSpPr>
        <p:spPr>
          <a:xfrm>
            <a:off x="6583680" y="201168"/>
            <a:ext cx="2125066" cy="256032"/>
          </a:xfrm>
          <a:prstGeom prst="rect">
            <a:avLst/>
          </a:prstGeom>
          <a:noFill/>
          <a:ln/>
        </p:spPr>
        <p:txBody>
          <a:bodyPr wrap="square" lIns="0" tIns="0" rIns="0" bIns="0" rtlCol="0" anchor="ctr"/>
          <a:lstStyle/>
          <a:p>
            <a:pPr algn="ctr" indent="0" marL="0">
              <a:buNone/>
            </a:pPr>
            <a:r>
              <a:rPr lang="en-US" sz="800" b="1" dirty="0">
                <a:solidFill>
                  <a:srgbClr val="FFFFFF"/>
                </a:solidFill>
              </a:rPr>
              <a:t>2004 · IMPLEMENTED 2008</a:t>
            </a:r>
            <a:endParaRPr lang="en-US" sz="800" dirty="0"/>
          </a:p>
        </p:txBody>
      </p:sp>
      <p:sp>
        <p:nvSpPr>
          <p:cNvPr id="8" name="Shape 6"/>
          <p:cNvSpPr/>
          <p:nvPr/>
        </p:nvSpPr>
        <p:spPr>
          <a:xfrm>
            <a:off x="25603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777240"/>
            <a:ext cx="2743200" cy="502920"/>
          </a:xfrm>
          <a:prstGeom prst="rect">
            <a:avLst/>
          </a:prstGeom>
          <a:solidFill>
            <a:srgbClr val="1B3A6B"/>
          </a:solidFill>
          <a:ln/>
        </p:spPr>
      </p:sp>
      <p:sp>
        <p:nvSpPr>
          <p:cNvPr id="10" name="Text 8"/>
          <p:cNvSpPr/>
          <p:nvPr/>
        </p:nvSpPr>
        <p:spPr>
          <a:xfrm>
            <a:off x="25603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1</a:t>
            </a:r>
            <a:endParaRPr lang="en-US" sz="1600" dirty="0"/>
          </a:p>
        </p:txBody>
      </p:sp>
      <p:sp>
        <p:nvSpPr>
          <p:cNvPr id="11" name="Text 9"/>
          <p:cNvSpPr/>
          <p:nvPr/>
        </p:nvSpPr>
        <p:spPr>
          <a:xfrm>
            <a:off x="365760" y="1325880"/>
            <a:ext cx="2523744" cy="365760"/>
          </a:xfrm>
          <a:prstGeom prst="rect">
            <a:avLst/>
          </a:prstGeom>
          <a:noFill/>
          <a:ln/>
        </p:spPr>
        <p:txBody>
          <a:bodyPr wrap="square" lIns="0" tIns="0" rIns="0" bIns="0" rtlCol="0" anchor="ctr"/>
          <a:lstStyle/>
          <a:p>
            <a:pPr indent="0" marL="0">
              <a:buNone/>
            </a:pPr>
            <a:r>
              <a:rPr lang="en-US" sz="1200" b="1" dirty="0">
                <a:solidFill>
                  <a:srgbClr val="1B3A6B"/>
                </a:solidFill>
              </a:rPr>
              <a:t>Minimum Capital</a:t>
            </a:r>
            <a:endParaRPr lang="en-US" sz="1200" dirty="0"/>
          </a:p>
        </p:txBody>
      </p:sp>
      <p:sp>
        <p:nvSpPr>
          <p:cNvPr id="12" name="Text 10"/>
          <p:cNvSpPr/>
          <p:nvPr/>
        </p:nvSpPr>
        <p:spPr>
          <a:xfrm>
            <a:off x="36576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Credit risk: SA / F-IRB / A-IRB based on PD, LGD, EAD.</a:t>
            </a:r>
            <a:endParaRPr lang="en-US" sz="1000" dirty="0"/>
          </a:p>
          <a:p>
            <a:pPr indent="0" marL="0">
              <a:buNone/>
            </a:pPr>
            <a:r>
              <a:rPr lang="en-US" sz="1000" dirty="0">
                <a:solidFill>
                  <a:srgbClr val="1A1A2E"/>
                </a:solidFill>
              </a:rPr>
              <a:t>Market risk: VaR 99%/10-day (1996 Amendment incorporated).</a:t>
            </a:r>
            <a:endParaRPr lang="en-US" sz="1000" dirty="0"/>
          </a:p>
          <a:p>
            <a:pPr indent="0" marL="0">
              <a:buNone/>
            </a:pPr>
            <a:r>
              <a:rPr lang="en-US" sz="1000" dirty="0">
                <a:solidFill>
                  <a:srgbClr val="1A1A2E"/>
                </a:solidFill>
              </a:rPr>
              <a:t>Operational risk: BIA / TSA / AMA — first formal OpRisk capital.</a:t>
            </a:r>
            <a:endParaRPr lang="en-US" sz="1000" dirty="0"/>
          </a:p>
        </p:txBody>
      </p:sp>
      <p:sp>
        <p:nvSpPr>
          <p:cNvPr id="13" name="Shape 11"/>
          <p:cNvSpPr/>
          <p:nvPr/>
        </p:nvSpPr>
        <p:spPr>
          <a:xfrm>
            <a:off x="313639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3136392" y="777240"/>
            <a:ext cx="2743200" cy="502920"/>
          </a:xfrm>
          <a:prstGeom prst="rect">
            <a:avLst/>
          </a:prstGeom>
          <a:solidFill>
            <a:srgbClr val="0E6B8A"/>
          </a:solidFill>
          <a:ln/>
        </p:spPr>
      </p:sp>
      <p:sp>
        <p:nvSpPr>
          <p:cNvPr id="15" name="Text 13"/>
          <p:cNvSpPr/>
          <p:nvPr/>
        </p:nvSpPr>
        <p:spPr>
          <a:xfrm>
            <a:off x="313639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2</a:t>
            </a:r>
            <a:endParaRPr lang="en-US" sz="1600" dirty="0"/>
          </a:p>
        </p:txBody>
      </p:sp>
      <p:sp>
        <p:nvSpPr>
          <p:cNvPr id="16" name="Text 14"/>
          <p:cNvSpPr/>
          <p:nvPr/>
        </p:nvSpPr>
        <p:spPr>
          <a:xfrm>
            <a:off x="3246120" y="1325880"/>
            <a:ext cx="2523744" cy="365760"/>
          </a:xfrm>
          <a:prstGeom prst="rect">
            <a:avLst/>
          </a:prstGeom>
          <a:noFill/>
          <a:ln/>
        </p:spPr>
        <p:txBody>
          <a:bodyPr wrap="square" lIns="0" tIns="0" rIns="0" bIns="0" rtlCol="0" anchor="ctr"/>
          <a:lstStyle/>
          <a:p>
            <a:pPr indent="0" marL="0">
              <a:buNone/>
            </a:pPr>
            <a:r>
              <a:rPr lang="en-US" sz="1200" b="1" dirty="0">
                <a:solidFill>
                  <a:srgbClr val="0E6B8A"/>
                </a:solidFill>
              </a:rPr>
              <a:t>Supervisory Review</a:t>
            </a:r>
            <a:endParaRPr lang="en-US" sz="1200" dirty="0"/>
          </a:p>
        </p:txBody>
      </p:sp>
      <p:sp>
        <p:nvSpPr>
          <p:cNvPr id="17" name="Text 15"/>
          <p:cNvSpPr/>
          <p:nvPr/>
        </p:nvSpPr>
        <p:spPr>
          <a:xfrm>
            <a:off x="324612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ICAAP: banks self-assess all material risks including those outside Pillar 1 (concentration, IRRBB, liquidity, reputational).</a:t>
            </a:r>
            <a:endParaRPr lang="en-US" sz="1000" dirty="0"/>
          </a:p>
          <a:p>
            <a:pPr indent="0" marL="0">
              <a:buNone/>
            </a:pPr>
            <a:r>
              <a:rPr lang="en-US" sz="1000" dirty="0">
                <a:solidFill>
                  <a:srgbClr val="1A1A2E"/>
                </a:solidFill>
              </a:rPr>
              <a:t>Supervisors can impose Pillar 2 add-ons above the Pillar 1 minimum.</a:t>
            </a:r>
            <a:endParaRPr lang="en-US" sz="1000" dirty="0"/>
          </a:p>
        </p:txBody>
      </p:sp>
      <p:sp>
        <p:nvSpPr>
          <p:cNvPr id="18" name="Shape 16"/>
          <p:cNvSpPr/>
          <p:nvPr/>
        </p:nvSpPr>
        <p:spPr>
          <a:xfrm>
            <a:off x="601675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6016752" y="777240"/>
            <a:ext cx="2743200" cy="502920"/>
          </a:xfrm>
          <a:prstGeom prst="rect">
            <a:avLst/>
          </a:prstGeom>
          <a:solidFill>
            <a:srgbClr val="C9A84C"/>
          </a:solidFill>
          <a:ln/>
        </p:spPr>
      </p:sp>
      <p:sp>
        <p:nvSpPr>
          <p:cNvPr id="20" name="Text 18"/>
          <p:cNvSpPr/>
          <p:nvPr/>
        </p:nvSpPr>
        <p:spPr>
          <a:xfrm>
            <a:off x="601675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3</a:t>
            </a:r>
            <a:endParaRPr lang="en-US" sz="1600" dirty="0"/>
          </a:p>
        </p:txBody>
      </p:sp>
      <p:sp>
        <p:nvSpPr>
          <p:cNvPr id="21" name="Text 19"/>
          <p:cNvSpPr/>
          <p:nvPr/>
        </p:nvSpPr>
        <p:spPr>
          <a:xfrm>
            <a:off x="6126480" y="1325880"/>
            <a:ext cx="2523744" cy="365760"/>
          </a:xfrm>
          <a:prstGeom prst="rect">
            <a:avLst/>
          </a:prstGeom>
          <a:noFill/>
          <a:ln/>
        </p:spPr>
        <p:txBody>
          <a:bodyPr wrap="square" lIns="0" tIns="0" rIns="0" bIns="0" rtlCol="0" anchor="ctr"/>
          <a:lstStyle/>
          <a:p>
            <a:pPr indent="0" marL="0">
              <a:buNone/>
            </a:pPr>
            <a:r>
              <a:rPr lang="en-US" sz="1200" b="1" dirty="0">
                <a:solidFill>
                  <a:srgbClr val="C9A84C"/>
                </a:solidFill>
              </a:rPr>
              <a:t>Market Discipline</a:t>
            </a:r>
            <a:endParaRPr lang="en-US" sz="1200" dirty="0"/>
          </a:p>
        </p:txBody>
      </p:sp>
      <p:sp>
        <p:nvSpPr>
          <p:cNvPr id="22" name="Text 20"/>
          <p:cNvSpPr/>
          <p:nvPr/>
        </p:nvSpPr>
        <p:spPr>
          <a:xfrm>
            <a:off x="612648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Mandatory public disclosure of capital structure, RWA composition, risk exposures, and capital adequacy ratios.</a:t>
            </a:r>
            <a:endParaRPr lang="en-US" sz="1000" dirty="0"/>
          </a:p>
          <a:p>
            <a:pPr indent="0" marL="0">
              <a:buNone/>
            </a:pPr>
            <a:r>
              <a:rPr lang="en-US" sz="1000" dirty="0">
                <a:solidFill>
                  <a:srgbClr val="1A1A2E"/>
                </a:solidFill>
              </a:rPr>
              <a:t>Transparency enables market participants to price risk and exert discipline.</a:t>
            </a:r>
            <a:endParaRPr lang="en-US" sz="1000" dirty="0"/>
          </a:p>
        </p:txBody>
      </p:sp>
      <p:sp>
        <p:nvSpPr>
          <p:cNvPr id="23" name="Shape 21"/>
          <p:cNvSpPr/>
          <p:nvPr/>
        </p:nvSpPr>
        <p:spPr>
          <a:xfrm>
            <a:off x="365760" y="4645152"/>
            <a:ext cx="8412480" cy="594360"/>
          </a:xfrm>
          <a:prstGeom prst="rect">
            <a:avLst/>
          </a:prstGeom>
          <a:solidFill>
            <a:srgbClr val="D6EAF8"/>
          </a:solidFill>
          <a:ln/>
        </p:spPr>
      </p:sp>
      <p:sp>
        <p:nvSpPr>
          <p:cNvPr id="24" name="Shape 22"/>
          <p:cNvSpPr/>
          <p:nvPr/>
        </p:nvSpPr>
        <p:spPr>
          <a:xfrm>
            <a:off x="365760" y="4645152"/>
            <a:ext cx="1005840" cy="594360"/>
          </a:xfrm>
          <a:prstGeom prst="rect">
            <a:avLst/>
          </a:prstGeom>
          <a:solidFill>
            <a:srgbClr val="8B0000"/>
          </a:solidFill>
          <a:ln/>
        </p:spPr>
      </p:sp>
      <p:sp>
        <p:nvSpPr>
          <p:cNvPr id="25" name="Text 2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CRITICAL FLAW</a:t>
            </a:r>
            <a:endParaRPr lang="en-US" sz="900" dirty="0"/>
          </a:p>
        </p:txBody>
      </p:sp>
      <p:sp>
        <p:nvSpPr>
          <p:cNvPr id="26" name="Text 2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Basel II's procyclical VaR models and reliance on external credit ratings contributed to the 2007–09 crisis. Capital ratios appeared sound until correlated structured credit exposures collapsed simultaneously.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III — 2010</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III  —  Post-Crisis Strengthening</a:t>
            </a:r>
            <a:endParaRPr lang="en-US" sz="2200" dirty="0"/>
          </a:p>
        </p:txBody>
      </p:sp>
      <p:sp>
        <p:nvSpPr>
          <p:cNvPr id="6" name="Shape 4"/>
          <p:cNvSpPr/>
          <p:nvPr/>
        </p:nvSpPr>
        <p:spPr>
          <a:xfrm>
            <a:off x="6583680" y="201168"/>
            <a:ext cx="1964131" cy="256032"/>
          </a:xfrm>
          <a:prstGeom prst="rect">
            <a:avLst/>
          </a:prstGeom>
          <a:solidFill>
            <a:srgbClr val="C9A84C"/>
          </a:solidFill>
          <a:ln w="12700">
            <a:solidFill>
              <a:srgbClr val="C9A84C"/>
            </a:solidFill>
            <a:prstDash val="solid"/>
          </a:ln>
        </p:spPr>
      </p:sp>
      <p:sp>
        <p:nvSpPr>
          <p:cNvPr id="7" name="Text 5"/>
          <p:cNvSpPr/>
          <p:nvPr/>
        </p:nvSpPr>
        <p:spPr>
          <a:xfrm>
            <a:off x="6583680" y="201168"/>
            <a:ext cx="1964131" cy="256032"/>
          </a:xfrm>
          <a:prstGeom prst="rect">
            <a:avLst/>
          </a:prstGeom>
          <a:noFill/>
          <a:ln/>
        </p:spPr>
        <p:txBody>
          <a:bodyPr wrap="square" lIns="0" tIns="0" rIns="0" bIns="0" rtlCol="0" anchor="ctr"/>
          <a:lstStyle/>
          <a:p>
            <a:pPr algn="ctr" indent="0" marL="0">
              <a:buNone/>
            </a:pPr>
            <a:r>
              <a:rPr lang="en-US" sz="800" b="1" dirty="0">
                <a:solidFill>
                  <a:srgbClr val="FFFFFF"/>
                </a:solidFill>
              </a:rPr>
              <a:t>2010 · PHASED TO 2019</a:t>
            </a:r>
            <a:endParaRPr lang="en-US" sz="800" dirty="0"/>
          </a:p>
        </p:txBody>
      </p:sp>
      <p:sp>
        <p:nvSpPr>
          <p:cNvPr id="8" name="Shape 6"/>
          <p:cNvSpPr/>
          <p:nvPr/>
        </p:nvSpPr>
        <p:spPr>
          <a:xfrm>
            <a:off x="274320" y="777240"/>
            <a:ext cx="3931920" cy="320040"/>
          </a:xfrm>
          <a:prstGeom prst="rect">
            <a:avLst/>
          </a:prstGeom>
          <a:solidFill>
            <a:srgbClr val="1B3A6B"/>
          </a:solidFill>
          <a:ln/>
        </p:spPr>
      </p:sp>
      <p:sp>
        <p:nvSpPr>
          <p:cNvPr id="9" name="Text 7"/>
          <p:cNvSpPr/>
          <p:nvPr/>
        </p:nvSpPr>
        <p:spPr>
          <a:xfrm>
            <a:off x="274320" y="777240"/>
            <a:ext cx="3931920" cy="320040"/>
          </a:xfrm>
          <a:prstGeom prst="rect">
            <a:avLst/>
          </a:prstGeom>
          <a:noFill/>
          <a:ln/>
        </p:spPr>
        <p:txBody>
          <a:bodyPr wrap="square" lIns="0" tIns="0" rIns="0" bIns="0" rtlCol="0" anchor="ctr"/>
          <a:lstStyle/>
          <a:p>
            <a:pPr algn="ctr" indent="0" marL="0">
              <a:buNone/>
            </a:pPr>
            <a:r>
              <a:rPr lang="en-US" sz="900" b="1" dirty="0">
                <a:solidFill>
                  <a:srgbClr val="FFFFFF"/>
                </a:solidFill>
              </a:rPr>
              <a:t>CAPITAL STACK UNDER BASEL III</a:t>
            </a:r>
            <a:endParaRPr lang="en-US" sz="900" dirty="0"/>
          </a:p>
        </p:txBody>
      </p:sp>
      <p:sp>
        <p:nvSpPr>
          <p:cNvPr id="10" name="Shape 8"/>
          <p:cNvSpPr/>
          <p:nvPr/>
        </p:nvSpPr>
        <p:spPr>
          <a:xfrm>
            <a:off x="274320" y="1097280"/>
            <a:ext cx="3931920" cy="475488"/>
          </a:xfrm>
          <a:prstGeom prst="rect">
            <a:avLst/>
          </a:prstGeom>
          <a:solidFill>
            <a:srgbClr val="8B0000"/>
          </a:solidFill>
          <a:ln/>
        </p:spPr>
      </p:sp>
      <p:sp>
        <p:nvSpPr>
          <p:cNvPr id="11" name="Text 9"/>
          <p:cNvSpPr/>
          <p:nvPr/>
        </p:nvSpPr>
        <p:spPr>
          <a:xfrm>
            <a:off x="320040" y="109728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G-SIB Surcharge</a:t>
            </a:r>
            <a:endParaRPr lang="en-US" sz="950" dirty="0"/>
          </a:p>
        </p:txBody>
      </p:sp>
      <p:sp>
        <p:nvSpPr>
          <p:cNvPr id="12" name="Text 10"/>
          <p:cNvSpPr/>
          <p:nvPr/>
        </p:nvSpPr>
        <p:spPr>
          <a:xfrm>
            <a:off x="2834640" y="109728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1–3.5% CET1</a:t>
            </a:r>
            <a:endParaRPr lang="en-US" sz="900" dirty="0"/>
          </a:p>
        </p:txBody>
      </p:sp>
      <p:sp>
        <p:nvSpPr>
          <p:cNvPr id="13" name="Shape 11"/>
          <p:cNvSpPr/>
          <p:nvPr/>
        </p:nvSpPr>
        <p:spPr>
          <a:xfrm>
            <a:off x="274320" y="1572768"/>
            <a:ext cx="3931920" cy="475488"/>
          </a:xfrm>
          <a:prstGeom prst="rect">
            <a:avLst/>
          </a:prstGeom>
          <a:solidFill>
            <a:srgbClr val="D4770A"/>
          </a:solidFill>
          <a:ln/>
        </p:spPr>
      </p:sp>
      <p:sp>
        <p:nvSpPr>
          <p:cNvPr id="14" name="Text 12"/>
          <p:cNvSpPr/>
          <p:nvPr/>
        </p:nvSpPr>
        <p:spPr>
          <a:xfrm>
            <a:off x="320040" y="1572768"/>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Countercyclical Buffer (CCyB)</a:t>
            </a:r>
            <a:endParaRPr lang="en-US" sz="950" dirty="0"/>
          </a:p>
        </p:txBody>
      </p:sp>
      <p:sp>
        <p:nvSpPr>
          <p:cNvPr id="15" name="Text 13"/>
          <p:cNvSpPr/>
          <p:nvPr/>
        </p:nvSpPr>
        <p:spPr>
          <a:xfrm>
            <a:off x="2834640" y="1572768"/>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0–2.5% CET1  (build &amp; release)</a:t>
            </a:r>
            <a:endParaRPr lang="en-US" sz="900" dirty="0"/>
          </a:p>
        </p:txBody>
      </p:sp>
      <p:sp>
        <p:nvSpPr>
          <p:cNvPr id="16" name="Shape 14"/>
          <p:cNvSpPr/>
          <p:nvPr/>
        </p:nvSpPr>
        <p:spPr>
          <a:xfrm>
            <a:off x="274320" y="2048256"/>
            <a:ext cx="3931920" cy="475488"/>
          </a:xfrm>
          <a:prstGeom prst="rect">
            <a:avLst/>
          </a:prstGeom>
          <a:solidFill>
            <a:srgbClr val="C9A84C"/>
          </a:solidFill>
          <a:ln/>
        </p:spPr>
      </p:sp>
      <p:sp>
        <p:nvSpPr>
          <p:cNvPr id="17" name="Text 15"/>
          <p:cNvSpPr/>
          <p:nvPr/>
        </p:nvSpPr>
        <p:spPr>
          <a:xfrm>
            <a:off x="320040" y="2048256"/>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Capital Conservation Buffer</a:t>
            </a:r>
            <a:endParaRPr lang="en-US" sz="950" dirty="0"/>
          </a:p>
        </p:txBody>
      </p:sp>
      <p:sp>
        <p:nvSpPr>
          <p:cNvPr id="18" name="Text 16"/>
          <p:cNvSpPr/>
          <p:nvPr/>
        </p:nvSpPr>
        <p:spPr>
          <a:xfrm>
            <a:off x="2834640" y="2048256"/>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+2.5% CET1</a:t>
            </a:r>
            <a:endParaRPr lang="en-US" sz="900" dirty="0"/>
          </a:p>
        </p:txBody>
      </p:sp>
      <p:sp>
        <p:nvSpPr>
          <p:cNvPr id="19" name="Shape 17"/>
          <p:cNvSpPr/>
          <p:nvPr/>
        </p:nvSpPr>
        <p:spPr>
          <a:xfrm>
            <a:off x="274320" y="2523744"/>
            <a:ext cx="3931920" cy="475488"/>
          </a:xfrm>
          <a:prstGeom prst="rect">
            <a:avLst/>
          </a:prstGeom>
          <a:solidFill>
            <a:srgbClr val="9FBFDF"/>
          </a:solidFill>
          <a:ln/>
        </p:spPr>
      </p:sp>
      <p:sp>
        <p:nvSpPr>
          <p:cNvPr id="20" name="Text 18"/>
          <p:cNvSpPr/>
          <p:nvPr/>
        </p:nvSpPr>
        <p:spPr>
          <a:xfrm>
            <a:off x="320040" y="2523744"/>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Additional Tier 1 (CoCos etc.)</a:t>
            </a:r>
            <a:endParaRPr lang="en-US" sz="950" dirty="0"/>
          </a:p>
        </p:txBody>
      </p:sp>
      <p:sp>
        <p:nvSpPr>
          <p:cNvPr id="21" name="Text 19"/>
          <p:cNvSpPr/>
          <p:nvPr/>
        </p:nvSpPr>
        <p:spPr>
          <a:xfrm>
            <a:off x="2834640" y="2523744"/>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1.5% of RWA min</a:t>
            </a:r>
            <a:endParaRPr lang="en-US" sz="900" dirty="0"/>
          </a:p>
        </p:txBody>
      </p:sp>
      <p:sp>
        <p:nvSpPr>
          <p:cNvPr id="22" name="Shape 20"/>
          <p:cNvSpPr/>
          <p:nvPr/>
        </p:nvSpPr>
        <p:spPr>
          <a:xfrm>
            <a:off x="274320" y="2999232"/>
            <a:ext cx="3931920" cy="475488"/>
          </a:xfrm>
          <a:prstGeom prst="rect">
            <a:avLst/>
          </a:prstGeom>
          <a:solidFill>
            <a:srgbClr val="C8DCF0"/>
          </a:solidFill>
          <a:ln/>
        </p:spPr>
      </p:sp>
      <p:sp>
        <p:nvSpPr>
          <p:cNvPr id="23" name="Text 21"/>
          <p:cNvSpPr/>
          <p:nvPr/>
        </p:nvSpPr>
        <p:spPr>
          <a:xfrm>
            <a:off x="320040" y="2999232"/>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Tier 2 Capital</a:t>
            </a:r>
            <a:endParaRPr lang="en-US" sz="950" dirty="0"/>
          </a:p>
        </p:txBody>
      </p:sp>
      <p:sp>
        <p:nvSpPr>
          <p:cNvPr id="24" name="Text 22"/>
          <p:cNvSpPr/>
          <p:nvPr/>
        </p:nvSpPr>
        <p:spPr>
          <a:xfrm>
            <a:off x="2834640" y="2999232"/>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2% of RWA min</a:t>
            </a:r>
            <a:endParaRPr lang="en-US" sz="900" dirty="0"/>
          </a:p>
        </p:txBody>
      </p:sp>
      <p:sp>
        <p:nvSpPr>
          <p:cNvPr id="25" name="Shape 23"/>
          <p:cNvSpPr/>
          <p:nvPr/>
        </p:nvSpPr>
        <p:spPr>
          <a:xfrm>
            <a:off x="274320" y="3474720"/>
            <a:ext cx="3931920" cy="475488"/>
          </a:xfrm>
          <a:prstGeom prst="rect">
            <a:avLst/>
          </a:prstGeom>
          <a:solidFill>
            <a:srgbClr val="0E6B8A"/>
          </a:solidFill>
          <a:ln/>
        </p:spPr>
      </p:sp>
      <p:sp>
        <p:nvSpPr>
          <p:cNvPr id="26" name="Text 24"/>
          <p:cNvSpPr/>
          <p:nvPr/>
        </p:nvSpPr>
        <p:spPr>
          <a:xfrm>
            <a:off x="320040" y="347472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Common Equity Tier 1 (CET1)</a:t>
            </a:r>
            <a:endParaRPr lang="en-US" sz="950" dirty="0"/>
          </a:p>
        </p:txBody>
      </p:sp>
      <p:sp>
        <p:nvSpPr>
          <p:cNvPr id="27" name="Text 25"/>
          <p:cNvSpPr/>
          <p:nvPr/>
        </p:nvSpPr>
        <p:spPr>
          <a:xfrm>
            <a:off x="2834640" y="347472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Min 4.5% — common shares + retained earnings only</a:t>
            </a:r>
            <a:endParaRPr lang="en-US" sz="900" dirty="0"/>
          </a:p>
        </p:txBody>
      </p:sp>
      <p:sp>
        <p:nvSpPr>
          <p:cNvPr id="28" name="Shape 26"/>
          <p:cNvSpPr/>
          <p:nvPr/>
        </p:nvSpPr>
        <p:spPr>
          <a:xfrm>
            <a:off x="4434840" y="777240"/>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4434840" y="777240"/>
            <a:ext cx="64008" cy="987552"/>
          </a:xfrm>
          <a:prstGeom prst="rect">
            <a:avLst/>
          </a:prstGeom>
          <a:solidFill>
            <a:srgbClr val="1B3A6B"/>
          </a:solidFill>
          <a:ln/>
        </p:spPr>
      </p:sp>
      <p:sp>
        <p:nvSpPr>
          <p:cNvPr id="30" name="Text 28"/>
          <p:cNvSpPr/>
          <p:nvPr/>
        </p:nvSpPr>
        <p:spPr>
          <a:xfrm>
            <a:off x="4572000" y="868680"/>
            <a:ext cx="4251960" cy="320040"/>
          </a:xfrm>
          <a:prstGeom prst="rect">
            <a:avLst/>
          </a:prstGeom>
          <a:noFill/>
          <a:ln/>
        </p:spPr>
        <p:txBody>
          <a:bodyPr wrap="square" lIns="0" tIns="0" rIns="0" bIns="0" rtlCol="0" anchor="ctr"/>
          <a:lstStyle/>
          <a:p>
            <a:pPr indent="0" marL="0">
              <a:buNone/>
            </a:pPr>
            <a:r>
              <a:rPr lang="en-US" sz="1100" b="1" dirty="0">
                <a:solidFill>
                  <a:srgbClr val="1B3A6B"/>
                </a:solidFill>
              </a:rPr>
              <a:t>Leverage Ratio</a:t>
            </a:r>
            <a:endParaRPr lang="en-US" sz="1100" dirty="0"/>
          </a:p>
        </p:txBody>
      </p:sp>
      <p:sp>
        <p:nvSpPr>
          <p:cNvPr id="31" name="Text 29"/>
          <p:cNvSpPr/>
          <p:nvPr/>
        </p:nvSpPr>
        <p:spPr>
          <a:xfrm>
            <a:off x="4572000" y="1161288"/>
            <a:ext cx="4251960" cy="484632"/>
          </a:xfrm>
          <a:prstGeom prst="rect">
            <a:avLst/>
          </a:prstGeom>
          <a:noFill/>
          <a:ln/>
        </p:spPr>
        <p:txBody>
          <a:bodyPr wrap="square" lIns="0" tIns="0" rIns="0" bIns="0" rtlCol="0" anchor="t"/>
          <a:lstStyle/>
          <a:p>
            <a:pPr indent="0" marL="0">
              <a:buNone/>
            </a:pPr>
            <a:r>
              <a:rPr lang="en-US" sz="1000" dirty="0">
                <a:solidFill>
                  <a:srgbClr val="1A1A2E"/>
                </a:solidFill>
              </a:rPr>
              <a:t>Tier 1 ≥ 3% of total exposure (on + off B/S). Non-risk-based backstop preventing excessive gross leverage regardless of RWA calculations.</a:t>
            </a:r>
            <a:endParaRPr lang="en-US" sz="1000" dirty="0"/>
          </a:p>
        </p:txBody>
      </p:sp>
      <p:sp>
        <p:nvSpPr>
          <p:cNvPr id="32" name="Shape 30"/>
          <p:cNvSpPr/>
          <p:nvPr/>
        </p:nvSpPr>
        <p:spPr>
          <a:xfrm>
            <a:off x="4434840" y="1819656"/>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31"/>
          <p:cNvSpPr/>
          <p:nvPr/>
        </p:nvSpPr>
        <p:spPr>
          <a:xfrm>
            <a:off x="4434840" y="1819656"/>
            <a:ext cx="64008" cy="987552"/>
          </a:xfrm>
          <a:prstGeom prst="rect">
            <a:avLst/>
          </a:prstGeom>
          <a:solidFill>
            <a:srgbClr val="0E6B8A"/>
          </a:solidFill>
          <a:ln/>
        </p:spPr>
      </p:sp>
      <p:sp>
        <p:nvSpPr>
          <p:cNvPr id="34" name="Text 32"/>
          <p:cNvSpPr/>
          <p:nvPr/>
        </p:nvSpPr>
        <p:spPr>
          <a:xfrm>
            <a:off x="4572000" y="1911096"/>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LCR</a:t>
            </a:r>
            <a:endParaRPr lang="en-US" sz="1100" dirty="0"/>
          </a:p>
        </p:txBody>
      </p:sp>
      <p:sp>
        <p:nvSpPr>
          <p:cNvPr id="35" name="Text 33"/>
          <p:cNvSpPr/>
          <p:nvPr/>
        </p:nvSpPr>
        <p:spPr>
          <a:xfrm>
            <a:off x="4572000" y="2203704"/>
            <a:ext cx="4251960" cy="484632"/>
          </a:xfrm>
          <a:prstGeom prst="rect">
            <a:avLst/>
          </a:prstGeom>
          <a:noFill/>
          <a:ln/>
        </p:spPr>
        <p:txBody>
          <a:bodyPr wrap="square" lIns="0" tIns="0" rIns="0" bIns="0" rtlCol="0" anchor="t"/>
          <a:lstStyle/>
          <a:p>
            <a:pPr indent="0" marL="0">
              <a:buNone/>
            </a:pPr>
            <a:r>
              <a:rPr lang="en-US" sz="1000" dirty="0">
                <a:solidFill>
                  <a:srgbClr val="1A1A2E"/>
                </a:solidFill>
              </a:rPr>
              <a:t>Liquidity Coverage Ratio: HQLA ÷ Net Stressed Outflows (30d) ≥ 100%. Ensures survival through a 30-day liquidity crisis.</a:t>
            </a:r>
            <a:endParaRPr lang="en-US" sz="1000" dirty="0"/>
          </a:p>
        </p:txBody>
      </p:sp>
      <p:sp>
        <p:nvSpPr>
          <p:cNvPr id="36" name="Shape 34"/>
          <p:cNvSpPr/>
          <p:nvPr/>
        </p:nvSpPr>
        <p:spPr>
          <a:xfrm>
            <a:off x="4434840" y="2862072"/>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434840" y="2862072"/>
            <a:ext cx="64008" cy="987552"/>
          </a:xfrm>
          <a:prstGeom prst="rect">
            <a:avLst/>
          </a:prstGeom>
          <a:solidFill>
            <a:srgbClr val="0E6B8A"/>
          </a:solidFill>
          <a:ln/>
        </p:spPr>
      </p:sp>
      <p:sp>
        <p:nvSpPr>
          <p:cNvPr id="38" name="Text 36"/>
          <p:cNvSpPr/>
          <p:nvPr/>
        </p:nvSpPr>
        <p:spPr>
          <a:xfrm>
            <a:off x="4572000" y="2953512"/>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NSFR</a:t>
            </a:r>
            <a:endParaRPr lang="en-US" sz="1100" dirty="0"/>
          </a:p>
        </p:txBody>
      </p:sp>
      <p:sp>
        <p:nvSpPr>
          <p:cNvPr id="39" name="Text 37"/>
          <p:cNvSpPr/>
          <p:nvPr/>
        </p:nvSpPr>
        <p:spPr>
          <a:xfrm>
            <a:off x="4572000" y="3246120"/>
            <a:ext cx="4251960" cy="484632"/>
          </a:xfrm>
          <a:prstGeom prst="rect">
            <a:avLst/>
          </a:prstGeom>
          <a:noFill/>
          <a:ln/>
        </p:spPr>
        <p:txBody>
          <a:bodyPr wrap="square" lIns="0" tIns="0" rIns="0" bIns="0" rtlCol="0" anchor="t"/>
          <a:lstStyle/>
          <a:p>
            <a:pPr indent="0" marL="0">
              <a:buNone/>
            </a:pPr>
            <a:r>
              <a:rPr lang="en-US" sz="1000" dirty="0">
                <a:solidFill>
                  <a:srgbClr val="1A1A2E"/>
                </a:solidFill>
              </a:rPr>
              <a:t>Net Stable Funding Ratio: Available Stable Funding ÷ Required Stable Funding ≥ 100%. Structural liquidity standard over a 1-year horizon.</a:t>
            </a:r>
            <a:endParaRPr lang="en-US" sz="1000" dirty="0"/>
          </a:p>
        </p:txBody>
      </p:sp>
      <p:sp>
        <p:nvSpPr>
          <p:cNvPr id="40" name="Shape 38"/>
          <p:cNvSpPr/>
          <p:nvPr/>
        </p:nvSpPr>
        <p:spPr>
          <a:xfrm>
            <a:off x="4434840" y="3904488"/>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1" name="Shape 39"/>
          <p:cNvSpPr/>
          <p:nvPr/>
        </p:nvSpPr>
        <p:spPr>
          <a:xfrm>
            <a:off x="4434840" y="3904488"/>
            <a:ext cx="64008" cy="987552"/>
          </a:xfrm>
          <a:prstGeom prst="rect">
            <a:avLst/>
          </a:prstGeom>
          <a:solidFill>
            <a:srgbClr val="8B0000"/>
          </a:solidFill>
          <a:ln/>
        </p:spPr>
      </p:sp>
      <p:sp>
        <p:nvSpPr>
          <p:cNvPr id="42" name="Text 40"/>
          <p:cNvSpPr/>
          <p:nvPr/>
        </p:nvSpPr>
        <p:spPr>
          <a:xfrm>
            <a:off x="4572000" y="3995928"/>
            <a:ext cx="4251960" cy="320040"/>
          </a:xfrm>
          <a:prstGeom prst="rect">
            <a:avLst/>
          </a:prstGeom>
          <a:noFill/>
          <a:ln/>
        </p:spPr>
        <p:txBody>
          <a:bodyPr wrap="square" lIns="0" tIns="0" rIns="0" bIns="0" rtlCol="0" anchor="ctr"/>
          <a:lstStyle/>
          <a:p>
            <a:pPr indent="0" marL="0">
              <a:buNone/>
            </a:pPr>
            <a:r>
              <a:rPr lang="en-US" sz="1100" b="1" dirty="0">
                <a:solidFill>
                  <a:srgbClr val="8B0000"/>
                </a:solidFill>
              </a:rPr>
              <a:t>CVA Capital</a:t>
            </a:r>
            <a:endParaRPr lang="en-US" sz="1100" dirty="0"/>
          </a:p>
        </p:txBody>
      </p:sp>
      <p:sp>
        <p:nvSpPr>
          <p:cNvPr id="43" name="Text 41"/>
          <p:cNvSpPr/>
          <p:nvPr/>
        </p:nvSpPr>
        <p:spPr>
          <a:xfrm>
            <a:off x="4572000" y="4288536"/>
            <a:ext cx="4251960" cy="484632"/>
          </a:xfrm>
          <a:prstGeom prst="rect">
            <a:avLst/>
          </a:prstGeom>
          <a:noFill/>
          <a:ln/>
        </p:spPr>
        <p:txBody>
          <a:bodyPr wrap="square" lIns="0" tIns="0" rIns="0" bIns="0" rtlCol="0" anchor="t"/>
          <a:lstStyle/>
          <a:p>
            <a:pPr indent="0" marL="0">
              <a:buNone/>
            </a:pPr>
            <a:r>
              <a:rPr lang="en-US" sz="1000" dirty="0">
                <a:solidFill>
                  <a:srgbClr val="1A1A2E"/>
                </a:solidFill>
              </a:rPr>
              <a:t>NEW: Capital charge for mark-to-market losses on OTC derivative CVA. ~2/3 of crisis counterparty losses were CVA, not defaults.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IV — 2017</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IV  —  Finalisation &amp; Model Constraint</a:t>
            </a:r>
            <a:endParaRPr lang="en-US" sz="2200" dirty="0"/>
          </a:p>
        </p:txBody>
      </p:sp>
      <p:sp>
        <p:nvSpPr>
          <p:cNvPr id="6" name="Shape 4"/>
          <p:cNvSpPr/>
          <p:nvPr/>
        </p:nvSpPr>
        <p:spPr>
          <a:xfrm>
            <a:off x="5989320" y="201168"/>
            <a:ext cx="3090672" cy="256032"/>
          </a:xfrm>
          <a:prstGeom prst="rect">
            <a:avLst/>
          </a:prstGeom>
          <a:solidFill>
            <a:srgbClr val="C9A84C"/>
          </a:solidFill>
          <a:ln w="12700">
            <a:solidFill>
              <a:srgbClr val="C9A84C"/>
            </a:solidFill>
            <a:prstDash val="solid"/>
          </a:ln>
        </p:spPr>
      </p:sp>
      <p:sp>
        <p:nvSpPr>
          <p:cNvPr id="7" name="Text 5"/>
          <p:cNvSpPr/>
          <p:nvPr/>
        </p:nvSpPr>
        <p:spPr>
          <a:xfrm>
            <a:off x="5989320" y="201168"/>
            <a:ext cx="3090672" cy="256032"/>
          </a:xfrm>
          <a:prstGeom prst="rect">
            <a:avLst/>
          </a:prstGeom>
          <a:noFill/>
          <a:ln/>
        </p:spPr>
        <p:txBody>
          <a:bodyPr wrap="square" lIns="0" tIns="0" rIns="0" bIns="0" rtlCol="0" anchor="ctr"/>
          <a:lstStyle/>
          <a:p>
            <a:pPr algn="ctr" indent="0" marL="0">
              <a:buNone/>
            </a:pPr>
            <a:r>
              <a:rPr lang="en-US" sz="800" b="1" dirty="0">
                <a:solidFill>
                  <a:srgbClr val="FFFFFF"/>
                </a:solidFill>
              </a:rPr>
              <a:t>DEC 2017 · IMPLEMENTATION 2025–2028</a:t>
            </a:r>
            <a:endParaRPr lang="en-US" sz="800" dirty="0"/>
          </a:p>
        </p:txBody>
      </p:sp>
      <p:sp>
        <p:nvSpPr>
          <p:cNvPr id="8" name="Shape 6"/>
          <p:cNvSpPr/>
          <p:nvPr/>
        </p:nvSpPr>
        <p:spPr>
          <a:xfrm>
            <a:off x="274320" y="777240"/>
            <a:ext cx="8595360" cy="84124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828800" cy="841248"/>
          </a:xfrm>
          <a:prstGeom prst="rect">
            <a:avLst/>
          </a:prstGeom>
          <a:solidFill>
            <a:srgbClr val="C9A84C"/>
          </a:solidFill>
          <a:ln/>
        </p:spPr>
      </p:sp>
      <p:sp>
        <p:nvSpPr>
          <p:cNvPr id="10" name="Text 8"/>
          <p:cNvSpPr/>
          <p:nvPr/>
        </p:nvSpPr>
        <p:spPr>
          <a:xfrm>
            <a:off x="274320" y="777240"/>
            <a:ext cx="1828800" cy="841248"/>
          </a:xfrm>
          <a:prstGeom prst="rect">
            <a:avLst/>
          </a:prstGeom>
          <a:noFill/>
          <a:ln/>
        </p:spPr>
        <p:txBody>
          <a:bodyPr wrap="square" lIns="0" tIns="0" rIns="0" bIns="0" rtlCol="0" anchor="ctr"/>
          <a:lstStyle/>
          <a:p>
            <a:pPr algn="ctr" indent="0" marL="0">
              <a:buNone/>
            </a:pPr>
            <a:r>
              <a:rPr lang="en-US" sz="1400" b="1" dirty="0">
                <a:solidFill>
                  <a:srgbClr val="1B3A6B"/>
                </a:solidFill>
              </a:rPr>
              <a:t>OUTPUT</a:t>
            </a:r>
            <a:endParaRPr lang="en-US" sz="1400" dirty="0"/>
          </a:p>
          <a:p>
            <a:pPr algn="ctr" indent="0" marL="0">
              <a:buNone/>
            </a:pPr>
            <a:r>
              <a:rPr lang="en-US" sz="1400" b="1" dirty="0">
                <a:solidFill>
                  <a:srgbClr val="1B3A6B"/>
                </a:solidFill>
              </a:rPr>
              <a:t>FLOOR</a:t>
            </a:r>
            <a:endParaRPr lang="en-US" sz="1400" dirty="0"/>
          </a:p>
        </p:txBody>
      </p:sp>
      <p:sp>
        <p:nvSpPr>
          <p:cNvPr id="11" name="Text 9"/>
          <p:cNvSpPr/>
          <p:nvPr/>
        </p:nvSpPr>
        <p:spPr>
          <a:xfrm>
            <a:off x="2240280" y="804672"/>
            <a:ext cx="6400800" cy="402336"/>
          </a:xfrm>
          <a:prstGeom prst="rect">
            <a:avLst/>
          </a:prstGeom>
          <a:noFill/>
          <a:ln/>
        </p:spPr>
        <p:txBody>
          <a:bodyPr wrap="square" lIns="0" tIns="0" rIns="0" bIns="0" rtlCol="0" anchor="ctr"/>
          <a:lstStyle/>
          <a:p>
            <a:pPr indent="0" marL="0">
              <a:buNone/>
            </a:pPr>
            <a:r>
              <a:rPr lang="en-US" sz="1800" b="1" dirty="0">
                <a:solidFill>
                  <a:srgbClr val="FFFFFF"/>
                </a:solidFill>
              </a:rPr>
              <a:t>Internal Model RWA  ≥  72.5%  ×  Standardised RWA</a:t>
            </a:r>
            <a:endParaRPr lang="en-US" sz="1800" dirty="0"/>
          </a:p>
        </p:txBody>
      </p:sp>
      <p:sp>
        <p:nvSpPr>
          <p:cNvPr id="12" name="Text 10"/>
          <p:cNvSpPr/>
          <p:nvPr/>
        </p:nvSpPr>
        <p:spPr>
          <a:xfrm>
            <a:off x="2240280" y="1188720"/>
            <a:ext cx="6400800" cy="365760"/>
          </a:xfrm>
          <a:prstGeom prst="rect">
            <a:avLst/>
          </a:prstGeom>
          <a:noFill/>
          <a:ln/>
        </p:spPr>
        <p:txBody>
          <a:bodyPr wrap="square" lIns="0" tIns="0" rIns="0" bIns="0" rtlCol="0" anchor="ctr"/>
          <a:lstStyle/>
          <a:p>
            <a:pPr indent="0" marL="0">
              <a:buNone/>
            </a:pPr>
            <a:r>
              <a:rPr lang="en-US" sz="950" dirty="0">
                <a:solidFill>
                  <a:srgbClr val="D6EAF8"/>
                </a:solidFill>
              </a:rPr>
              <a:t>The defining reform: no bank can hold less than 72.5% of the capital implied by the standardised approach, regardless of internal model outputs. Phases in from 50% (2025) to 72.5% (2028).</a:t>
            </a:r>
            <a:endParaRPr lang="en-US" sz="950" dirty="0"/>
          </a:p>
        </p:txBody>
      </p:sp>
      <p:sp>
        <p:nvSpPr>
          <p:cNvPr id="13" name="Shape 11"/>
          <p:cNvSpPr/>
          <p:nvPr/>
        </p:nvSpPr>
        <p:spPr>
          <a:xfrm>
            <a:off x="274320"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274320" y="1737360"/>
            <a:ext cx="2057400" cy="457200"/>
          </a:xfrm>
          <a:prstGeom prst="rect">
            <a:avLst/>
          </a:prstGeom>
          <a:solidFill>
            <a:srgbClr val="1B3A6B"/>
          </a:solidFill>
          <a:ln/>
        </p:spPr>
      </p:sp>
      <p:sp>
        <p:nvSpPr>
          <p:cNvPr id="15" name="Text 13"/>
          <p:cNvSpPr/>
          <p:nvPr/>
        </p:nvSpPr>
        <p:spPr>
          <a:xfrm>
            <a:off x="347472"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FRTB</a:t>
            </a:r>
            <a:endParaRPr lang="en-US" sz="1100" dirty="0"/>
          </a:p>
        </p:txBody>
      </p:sp>
      <p:sp>
        <p:nvSpPr>
          <p:cNvPr id="16" name="Text 14"/>
          <p:cNvSpPr/>
          <p:nvPr/>
        </p:nvSpPr>
        <p:spPr>
          <a:xfrm>
            <a:off x="347472"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Market Risk</a:t>
            </a:r>
            <a:endParaRPr lang="en-US" sz="900" dirty="0"/>
          </a:p>
        </p:txBody>
      </p:sp>
      <p:sp>
        <p:nvSpPr>
          <p:cNvPr id="17" name="Text 15"/>
          <p:cNvSpPr/>
          <p:nvPr/>
        </p:nvSpPr>
        <p:spPr>
          <a:xfrm>
            <a:off x="365760"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VaR replaced by Expected Shortfall (97.5%). Liquidity horizons 10–120 days. P&amp;L Attribution Test. NMRF charges for illiquid risk factors.</a:t>
            </a:r>
            <a:endParaRPr lang="en-US" sz="950" dirty="0"/>
          </a:p>
        </p:txBody>
      </p:sp>
      <p:sp>
        <p:nvSpPr>
          <p:cNvPr id="18" name="Shape 16"/>
          <p:cNvSpPr/>
          <p:nvPr/>
        </p:nvSpPr>
        <p:spPr>
          <a:xfrm>
            <a:off x="2450592"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450592" y="1737360"/>
            <a:ext cx="2057400" cy="457200"/>
          </a:xfrm>
          <a:prstGeom prst="rect">
            <a:avLst/>
          </a:prstGeom>
          <a:solidFill>
            <a:srgbClr val="0E6B8A"/>
          </a:solidFill>
          <a:ln/>
        </p:spPr>
      </p:sp>
      <p:sp>
        <p:nvSpPr>
          <p:cNvPr id="20" name="Text 18"/>
          <p:cNvSpPr/>
          <p:nvPr/>
        </p:nvSpPr>
        <p:spPr>
          <a:xfrm>
            <a:off x="2523744"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Rev-SA &amp; IRB Constraints</a:t>
            </a:r>
            <a:endParaRPr lang="en-US" sz="1100" dirty="0"/>
          </a:p>
        </p:txBody>
      </p:sp>
      <p:sp>
        <p:nvSpPr>
          <p:cNvPr id="21" name="Text 19"/>
          <p:cNvSpPr/>
          <p:nvPr/>
        </p:nvSpPr>
        <p:spPr>
          <a:xfrm>
            <a:off x="2523744"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Credit Risk</a:t>
            </a:r>
            <a:endParaRPr lang="en-US" sz="900" dirty="0"/>
          </a:p>
        </p:txBody>
      </p:sp>
      <p:sp>
        <p:nvSpPr>
          <p:cNvPr id="22" name="Text 20"/>
          <p:cNvSpPr/>
          <p:nvPr/>
        </p:nvSpPr>
        <p:spPr>
          <a:xfrm>
            <a:off x="2542032"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A-IRB removed for FIs, large corporates, equities. LGD floors (25% unsecured), PD floor 5bps. More granular standardised approach.</a:t>
            </a:r>
            <a:endParaRPr lang="en-US" sz="950" dirty="0"/>
          </a:p>
        </p:txBody>
      </p:sp>
      <p:sp>
        <p:nvSpPr>
          <p:cNvPr id="23" name="Shape 21"/>
          <p:cNvSpPr/>
          <p:nvPr/>
        </p:nvSpPr>
        <p:spPr>
          <a:xfrm>
            <a:off x="4626864"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4" name="Shape 22"/>
          <p:cNvSpPr/>
          <p:nvPr/>
        </p:nvSpPr>
        <p:spPr>
          <a:xfrm>
            <a:off x="4626864" y="1737360"/>
            <a:ext cx="2057400" cy="457200"/>
          </a:xfrm>
          <a:prstGeom prst="rect">
            <a:avLst/>
          </a:prstGeom>
          <a:solidFill>
            <a:srgbClr val="C9A84C"/>
          </a:solidFill>
          <a:ln/>
        </p:spPr>
      </p:sp>
      <p:sp>
        <p:nvSpPr>
          <p:cNvPr id="25" name="Text 23"/>
          <p:cNvSpPr/>
          <p:nvPr/>
        </p:nvSpPr>
        <p:spPr>
          <a:xfrm>
            <a:off x="4700016"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SA-CCR Mandatory</a:t>
            </a:r>
            <a:endParaRPr lang="en-US" sz="1100" dirty="0"/>
          </a:p>
        </p:txBody>
      </p:sp>
      <p:sp>
        <p:nvSpPr>
          <p:cNvPr id="26" name="Text 24"/>
          <p:cNvSpPr/>
          <p:nvPr/>
        </p:nvSpPr>
        <p:spPr>
          <a:xfrm>
            <a:off x="4700016"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Counterparty Risk</a:t>
            </a:r>
            <a:endParaRPr lang="en-US" sz="900" dirty="0"/>
          </a:p>
        </p:txBody>
      </p:sp>
      <p:sp>
        <p:nvSpPr>
          <p:cNvPr id="27" name="Text 25"/>
          <p:cNvSpPr/>
          <p:nvPr/>
        </p:nvSpPr>
        <p:spPr>
          <a:xfrm>
            <a:off x="4718304"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Replaces CEM. Recognises netting, margin, delta-adjusted notionals. Alpha multiplier 1.4×. Applicable to all non-IMM banks and as IMM floor.</a:t>
            </a:r>
            <a:endParaRPr lang="en-US" sz="950" dirty="0"/>
          </a:p>
        </p:txBody>
      </p:sp>
      <p:sp>
        <p:nvSpPr>
          <p:cNvPr id="28" name="Shape 26"/>
          <p:cNvSpPr/>
          <p:nvPr/>
        </p:nvSpPr>
        <p:spPr>
          <a:xfrm>
            <a:off x="6803136"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6803136" y="1737360"/>
            <a:ext cx="2057400" cy="457200"/>
          </a:xfrm>
          <a:prstGeom prst="rect">
            <a:avLst/>
          </a:prstGeom>
          <a:solidFill>
            <a:srgbClr val="8B0000"/>
          </a:solidFill>
          <a:ln/>
        </p:spPr>
      </p:sp>
      <p:sp>
        <p:nvSpPr>
          <p:cNvPr id="30" name="Text 28"/>
          <p:cNvSpPr/>
          <p:nvPr/>
        </p:nvSpPr>
        <p:spPr>
          <a:xfrm>
            <a:off x="6876288"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SMA Replaces AMA</a:t>
            </a:r>
            <a:endParaRPr lang="en-US" sz="1100" dirty="0"/>
          </a:p>
        </p:txBody>
      </p:sp>
      <p:sp>
        <p:nvSpPr>
          <p:cNvPr id="31" name="Text 29"/>
          <p:cNvSpPr/>
          <p:nvPr/>
        </p:nvSpPr>
        <p:spPr>
          <a:xfrm>
            <a:off x="6876288"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Operational Risk</a:t>
            </a:r>
            <a:endParaRPr lang="en-US" sz="900" dirty="0"/>
          </a:p>
        </p:txBody>
      </p:sp>
      <p:sp>
        <p:nvSpPr>
          <p:cNvPr id="32" name="Text 30"/>
          <p:cNvSpPr/>
          <p:nvPr/>
        </p:nvSpPr>
        <p:spPr>
          <a:xfrm>
            <a:off x="6894576"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AMA abolished. Single formula using Business Indicator (BI) with marginal rates 12–18%. Internal Loss Multiplier for large banks (BI &gt; €1bn).</a:t>
            </a:r>
            <a:endParaRPr lang="en-US" sz="950" dirty="0"/>
          </a:p>
        </p:txBody>
      </p:sp>
      <p:sp>
        <p:nvSpPr>
          <p:cNvPr id="33" name="Shape 31"/>
          <p:cNvSpPr/>
          <p:nvPr/>
        </p:nvSpPr>
        <p:spPr>
          <a:xfrm>
            <a:off x="365760" y="4645152"/>
            <a:ext cx="8412480" cy="594360"/>
          </a:xfrm>
          <a:prstGeom prst="rect">
            <a:avLst/>
          </a:prstGeom>
          <a:solidFill>
            <a:srgbClr val="D6EAF8"/>
          </a:solidFill>
          <a:ln/>
        </p:spPr>
      </p:sp>
      <p:sp>
        <p:nvSpPr>
          <p:cNvPr id="34" name="Shape 32"/>
          <p:cNvSpPr/>
          <p:nvPr/>
        </p:nvSpPr>
        <p:spPr>
          <a:xfrm>
            <a:off x="365760" y="4645152"/>
            <a:ext cx="1005840" cy="594360"/>
          </a:xfrm>
          <a:prstGeom prst="rect">
            <a:avLst/>
          </a:prstGeom>
          <a:solidFill>
            <a:srgbClr val="8B0000"/>
          </a:solidFill>
          <a:ln/>
        </p:spPr>
      </p:sp>
      <p:sp>
        <p:nvSpPr>
          <p:cNvPr id="35" name="Text 3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INDUSTRY IMPACT</a:t>
            </a:r>
            <a:endParaRPr lang="en-US" sz="900" dirty="0"/>
          </a:p>
        </p:txBody>
      </p:sp>
      <p:sp>
        <p:nvSpPr>
          <p:cNvPr id="36" name="Text 3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EBA estimates +24% RWA for EU banks at full implementation. FRTB adds 40–60% to market risk RWA for trading-heavy banks. Output floor adds &gt;€130bn required capital across EU sector.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Capital Requirements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How Capital Requirements Have Grown: Basel I → IV</a:t>
            </a:r>
            <a:endParaRPr lang="en-US" sz="2200" dirty="0"/>
          </a:p>
        </p:txBody>
      </p:sp>
      <p:graphicFrame>
        <p:nvGraphicFramePr>
          <p:cNvPr id="6" name="Chart 0" descr=""/>
          <p:cNvGraphicFramePr/>
          <p:nvPr/>
        </p:nvGraphicFramePr>
        <p:xfrm>
          <a:off x="274320" y="777240"/>
          <a:ext cx="5029200" cy="3977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32120" y="777240"/>
            <a:ext cx="3337560" cy="365760"/>
          </a:xfrm>
          <a:prstGeom prst="rect">
            <a:avLst/>
          </a:prstGeom>
          <a:solidFill>
            <a:srgbClr val="1B3A6B"/>
          </a:solidFill>
          <a:ln/>
        </p:spPr>
      </p:sp>
      <p:sp>
        <p:nvSpPr>
          <p:cNvPr id="8" name="Text 5"/>
          <p:cNvSpPr/>
          <p:nvPr/>
        </p:nvSpPr>
        <p:spPr>
          <a:xfrm>
            <a:off x="5532120" y="777240"/>
            <a:ext cx="3337560" cy="365760"/>
          </a:xfrm>
          <a:prstGeom prst="rect">
            <a:avLst/>
          </a:prstGeom>
          <a:noFill/>
          <a:ln/>
        </p:spPr>
        <p:txBody>
          <a:bodyPr wrap="square" lIns="0" tIns="0" rIns="0" bIns="0" rtlCol="0" anchor="ctr"/>
          <a:lstStyle/>
          <a:p>
            <a:pPr algn="ctr" indent="0" marL="0">
              <a:buNone/>
            </a:pPr>
            <a:r>
              <a:rPr lang="en-US" sz="900" b="1" dirty="0">
                <a:solidFill>
                  <a:srgbClr val="FFFFFF"/>
                </a:solidFill>
              </a:rPr>
              <a:t>MILESTONE COMPARISON</a:t>
            </a:r>
            <a:endParaRPr lang="en-US" sz="900" dirty="0"/>
          </a:p>
        </p:txBody>
      </p:sp>
      <p:sp>
        <p:nvSpPr>
          <p:cNvPr id="9" name="Shape 6"/>
          <p:cNvSpPr/>
          <p:nvPr/>
        </p:nvSpPr>
        <p:spPr>
          <a:xfrm>
            <a:off x="5532120" y="1143000"/>
            <a:ext cx="1417320" cy="379476"/>
          </a:xfrm>
          <a:prstGeom prst="rect">
            <a:avLst/>
          </a:prstGeom>
          <a:solidFill>
            <a:srgbClr val="1B3A6B"/>
          </a:solidFill>
          <a:ln/>
        </p:spPr>
      </p:sp>
      <p:sp>
        <p:nvSpPr>
          <p:cNvPr id="10" name="Text 7"/>
          <p:cNvSpPr/>
          <p:nvPr/>
        </p:nvSpPr>
        <p:spPr>
          <a:xfrm>
            <a:off x="5532120" y="1143000"/>
            <a:ext cx="1417320" cy="379476"/>
          </a:xfrm>
          <a:prstGeom prst="rect">
            <a:avLst/>
          </a:prstGeom>
          <a:noFill/>
          <a:ln/>
        </p:spPr>
        <p:txBody>
          <a:bodyPr wrap="square" lIns="50800" tIns="50800" rIns="50800" bIns="50800" rtlCol="0" anchor="ctr"/>
          <a:lstStyle/>
          <a:p>
            <a:pPr algn="l" indent="0" marL="0">
              <a:buNone/>
            </a:pPr>
            <a:r>
              <a:rPr lang="en-US" sz="900" b="1" dirty="0">
                <a:solidFill>
                  <a:srgbClr val="FFFFFF"/>
                </a:solidFill>
              </a:rPr>
              <a:t>Feature</a:t>
            </a:r>
            <a:endParaRPr lang="en-US" sz="900" dirty="0"/>
          </a:p>
        </p:txBody>
      </p:sp>
      <p:sp>
        <p:nvSpPr>
          <p:cNvPr id="11" name="Shape 8"/>
          <p:cNvSpPr/>
          <p:nvPr/>
        </p:nvSpPr>
        <p:spPr>
          <a:xfrm>
            <a:off x="6949440" y="1143000"/>
            <a:ext cx="438912" cy="379476"/>
          </a:xfrm>
          <a:prstGeom prst="rect">
            <a:avLst/>
          </a:prstGeom>
          <a:solidFill>
            <a:srgbClr val="1B3A6B"/>
          </a:solidFill>
          <a:ln/>
        </p:spPr>
      </p:sp>
      <p:sp>
        <p:nvSpPr>
          <p:cNvPr id="12" name="Text 9"/>
          <p:cNvSpPr/>
          <p:nvPr/>
        </p:nvSpPr>
        <p:spPr>
          <a:xfrm>
            <a:off x="6949440"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a:t>
            </a:r>
            <a:endParaRPr lang="en-US" sz="850" dirty="0"/>
          </a:p>
        </p:txBody>
      </p:sp>
      <p:sp>
        <p:nvSpPr>
          <p:cNvPr id="13" name="Shape 10"/>
          <p:cNvSpPr/>
          <p:nvPr/>
        </p:nvSpPr>
        <p:spPr>
          <a:xfrm>
            <a:off x="7388352" y="1143000"/>
            <a:ext cx="438912" cy="379476"/>
          </a:xfrm>
          <a:prstGeom prst="rect">
            <a:avLst/>
          </a:prstGeom>
          <a:solidFill>
            <a:srgbClr val="1B3A6B"/>
          </a:solidFill>
          <a:ln/>
        </p:spPr>
      </p:sp>
      <p:sp>
        <p:nvSpPr>
          <p:cNvPr id="14" name="Text 11"/>
          <p:cNvSpPr/>
          <p:nvPr/>
        </p:nvSpPr>
        <p:spPr>
          <a:xfrm>
            <a:off x="7388352"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a:t>
            </a:r>
            <a:endParaRPr lang="en-US" sz="850" dirty="0"/>
          </a:p>
        </p:txBody>
      </p:sp>
      <p:sp>
        <p:nvSpPr>
          <p:cNvPr id="15" name="Shape 12"/>
          <p:cNvSpPr/>
          <p:nvPr/>
        </p:nvSpPr>
        <p:spPr>
          <a:xfrm>
            <a:off x="7827264" y="1143000"/>
            <a:ext cx="438912" cy="379476"/>
          </a:xfrm>
          <a:prstGeom prst="rect">
            <a:avLst/>
          </a:prstGeom>
          <a:solidFill>
            <a:srgbClr val="1B3A6B"/>
          </a:solidFill>
          <a:ln/>
        </p:spPr>
      </p:sp>
      <p:sp>
        <p:nvSpPr>
          <p:cNvPr id="16" name="Text 13"/>
          <p:cNvSpPr/>
          <p:nvPr/>
        </p:nvSpPr>
        <p:spPr>
          <a:xfrm>
            <a:off x="7827264"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III</a:t>
            </a:r>
            <a:endParaRPr lang="en-US" sz="850" dirty="0"/>
          </a:p>
        </p:txBody>
      </p:sp>
      <p:sp>
        <p:nvSpPr>
          <p:cNvPr id="17" name="Shape 14"/>
          <p:cNvSpPr/>
          <p:nvPr/>
        </p:nvSpPr>
        <p:spPr>
          <a:xfrm>
            <a:off x="8266176" y="1143000"/>
            <a:ext cx="603504" cy="379476"/>
          </a:xfrm>
          <a:prstGeom prst="rect">
            <a:avLst/>
          </a:prstGeom>
          <a:solidFill>
            <a:srgbClr val="1B3A6B"/>
          </a:solidFill>
          <a:ln/>
        </p:spPr>
      </p:sp>
      <p:sp>
        <p:nvSpPr>
          <p:cNvPr id="18" name="Text 15"/>
          <p:cNvSpPr/>
          <p:nvPr/>
        </p:nvSpPr>
        <p:spPr>
          <a:xfrm>
            <a:off x="8266176" y="1143000"/>
            <a:ext cx="603504" cy="379476"/>
          </a:xfrm>
          <a:prstGeom prst="rect">
            <a:avLst/>
          </a:prstGeom>
          <a:noFill/>
          <a:ln/>
        </p:spPr>
        <p:txBody>
          <a:bodyPr wrap="square" lIns="0" tIns="0" rIns="0" bIns="0" rtlCol="0" anchor="ctr"/>
          <a:lstStyle/>
          <a:p>
            <a:pPr algn="ctr" indent="0" marL="0">
              <a:buNone/>
            </a:pPr>
            <a:r>
              <a:rPr lang="en-US" sz="850" b="1" dirty="0">
                <a:solidFill>
                  <a:srgbClr val="FFFFFF"/>
                </a:solidFill>
              </a:rPr>
              <a:t>IV</a:t>
            </a:r>
            <a:endParaRPr lang="en-US" sz="850" dirty="0"/>
          </a:p>
        </p:txBody>
      </p:sp>
      <p:sp>
        <p:nvSpPr>
          <p:cNvPr id="19" name="Shape 16"/>
          <p:cNvSpPr/>
          <p:nvPr/>
        </p:nvSpPr>
        <p:spPr>
          <a:xfrm>
            <a:off x="5532120" y="1522476"/>
            <a:ext cx="1417320" cy="379476"/>
          </a:xfrm>
          <a:prstGeom prst="rect">
            <a:avLst/>
          </a:prstGeom>
          <a:solidFill>
            <a:srgbClr val="F4F6F8"/>
          </a:solidFill>
          <a:ln/>
        </p:spPr>
      </p:sp>
      <p:sp>
        <p:nvSpPr>
          <p:cNvPr id="20" name="Text 17"/>
          <p:cNvSpPr/>
          <p:nvPr/>
        </p:nvSpPr>
        <p:spPr>
          <a:xfrm>
            <a:off x="5532120" y="152247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Min CET1</a:t>
            </a:r>
            <a:endParaRPr lang="en-US" sz="900" dirty="0"/>
          </a:p>
        </p:txBody>
      </p:sp>
      <p:sp>
        <p:nvSpPr>
          <p:cNvPr id="21" name="Shape 18"/>
          <p:cNvSpPr/>
          <p:nvPr/>
        </p:nvSpPr>
        <p:spPr>
          <a:xfrm>
            <a:off x="6949440" y="1522476"/>
            <a:ext cx="438912" cy="379476"/>
          </a:xfrm>
          <a:prstGeom prst="rect">
            <a:avLst/>
          </a:prstGeom>
          <a:solidFill>
            <a:srgbClr val="F4F6F8"/>
          </a:solidFill>
          <a:ln/>
        </p:spPr>
      </p:sp>
      <p:sp>
        <p:nvSpPr>
          <p:cNvPr id="22" name="Text 19"/>
          <p:cNvSpPr/>
          <p:nvPr/>
        </p:nvSpPr>
        <p:spPr>
          <a:xfrm>
            <a:off x="6949440"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3" name="Shape 20"/>
          <p:cNvSpPr/>
          <p:nvPr/>
        </p:nvSpPr>
        <p:spPr>
          <a:xfrm>
            <a:off x="7388352" y="1522476"/>
            <a:ext cx="438912" cy="379476"/>
          </a:xfrm>
          <a:prstGeom prst="rect">
            <a:avLst/>
          </a:prstGeom>
          <a:solidFill>
            <a:srgbClr val="F4F6F8"/>
          </a:solidFill>
          <a:ln/>
        </p:spPr>
      </p:sp>
      <p:sp>
        <p:nvSpPr>
          <p:cNvPr id="24" name="Text 21"/>
          <p:cNvSpPr/>
          <p:nvPr/>
        </p:nvSpPr>
        <p:spPr>
          <a:xfrm>
            <a:off x="7388352"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5" name="Shape 22"/>
          <p:cNvSpPr/>
          <p:nvPr/>
        </p:nvSpPr>
        <p:spPr>
          <a:xfrm>
            <a:off x="7827264" y="1522476"/>
            <a:ext cx="438912" cy="379476"/>
          </a:xfrm>
          <a:prstGeom prst="rect">
            <a:avLst/>
          </a:prstGeom>
          <a:solidFill>
            <a:srgbClr val="F4F6F8"/>
          </a:solidFill>
          <a:ln/>
        </p:spPr>
      </p:sp>
      <p:sp>
        <p:nvSpPr>
          <p:cNvPr id="26" name="Text 23"/>
          <p:cNvSpPr/>
          <p:nvPr/>
        </p:nvSpPr>
        <p:spPr>
          <a:xfrm>
            <a:off x="7827264"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7" name="Shape 24"/>
          <p:cNvSpPr/>
          <p:nvPr/>
        </p:nvSpPr>
        <p:spPr>
          <a:xfrm>
            <a:off x="8266176" y="1522476"/>
            <a:ext cx="603504" cy="379476"/>
          </a:xfrm>
          <a:prstGeom prst="rect">
            <a:avLst/>
          </a:prstGeom>
          <a:solidFill>
            <a:srgbClr val="F4F6F8"/>
          </a:solidFill>
          <a:ln/>
        </p:spPr>
      </p:sp>
      <p:sp>
        <p:nvSpPr>
          <p:cNvPr id="28" name="Text 25"/>
          <p:cNvSpPr/>
          <p:nvPr/>
        </p:nvSpPr>
        <p:spPr>
          <a:xfrm>
            <a:off x="8266176" y="152247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9" name="Shape 26"/>
          <p:cNvSpPr/>
          <p:nvPr/>
        </p:nvSpPr>
        <p:spPr>
          <a:xfrm>
            <a:off x="5532120" y="1901952"/>
            <a:ext cx="1417320" cy="379476"/>
          </a:xfrm>
          <a:prstGeom prst="rect">
            <a:avLst/>
          </a:prstGeom>
          <a:solidFill>
            <a:srgbClr val="FFFFFF"/>
          </a:solidFill>
          <a:ln/>
        </p:spPr>
      </p:sp>
      <p:sp>
        <p:nvSpPr>
          <p:cNvPr id="30" name="Text 27"/>
          <p:cNvSpPr/>
          <p:nvPr/>
        </p:nvSpPr>
        <p:spPr>
          <a:xfrm>
            <a:off x="5532120" y="190195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Conservation Buffer</a:t>
            </a:r>
            <a:endParaRPr lang="en-US" sz="900" dirty="0"/>
          </a:p>
        </p:txBody>
      </p:sp>
      <p:sp>
        <p:nvSpPr>
          <p:cNvPr id="31" name="Shape 28"/>
          <p:cNvSpPr/>
          <p:nvPr/>
        </p:nvSpPr>
        <p:spPr>
          <a:xfrm>
            <a:off x="6949440" y="1901952"/>
            <a:ext cx="438912" cy="379476"/>
          </a:xfrm>
          <a:prstGeom prst="rect">
            <a:avLst/>
          </a:prstGeom>
          <a:solidFill>
            <a:srgbClr val="F8F8F8"/>
          </a:solidFill>
          <a:ln/>
        </p:spPr>
      </p:sp>
      <p:sp>
        <p:nvSpPr>
          <p:cNvPr id="32" name="Text 29"/>
          <p:cNvSpPr/>
          <p:nvPr/>
        </p:nvSpPr>
        <p:spPr>
          <a:xfrm>
            <a:off x="6949440"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3" name="Shape 30"/>
          <p:cNvSpPr/>
          <p:nvPr/>
        </p:nvSpPr>
        <p:spPr>
          <a:xfrm>
            <a:off x="7388352" y="1901952"/>
            <a:ext cx="438912" cy="379476"/>
          </a:xfrm>
          <a:prstGeom prst="rect">
            <a:avLst/>
          </a:prstGeom>
          <a:solidFill>
            <a:srgbClr val="F8F8F8"/>
          </a:solidFill>
          <a:ln/>
        </p:spPr>
      </p:sp>
      <p:sp>
        <p:nvSpPr>
          <p:cNvPr id="34" name="Text 31"/>
          <p:cNvSpPr/>
          <p:nvPr/>
        </p:nvSpPr>
        <p:spPr>
          <a:xfrm>
            <a:off x="7388352"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5" name="Shape 32"/>
          <p:cNvSpPr/>
          <p:nvPr/>
        </p:nvSpPr>
        <p:spPr>
          <a:xfrm>
            <a:off x="7827264" y="1901952"/>
            <a:ext cx="438912" cy="379476"/>
          </a:xfrm>
          <a:prstGeom prst="rect">
            <a:avLst/>
          </a:prstGeom>
          <a:solidFill>
            <a:srgbClr val="FFFFFF"/>
          </a:solidFill>
          <a:ln/>
        </p:spPr>
      </p:sp>
      <p:sp>
        <p:nvSpPr>
          <p:cNvPr id="36" name="Text 33"/>
          <p:cNvSpPr/>
          <p:nvPr/>
        </p:nvSpPr>
        <p:spPr>
          <a:xfrm>
            <a:off x="7827264" y="190195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7" name="Shape 34"/>
          <p:cNvSpPr/>
          <p:nvPr/>
        </p:nvSpPr>
        <p:spPr>
          <a:xfrm>
            <a:off x="8266176" y="1901952"/>
            <a:ext cx="603504" cy="379476"/>
          </a:xfrm>
          <a:prstGeom prst="rect">
            <a:avLst/>
          </a:prstGeom>
          <a:solidFill>
            <a:srgbClr val="FFFFFF"/>
          </a:solidFill>
          <a:ln/>
        </p:spPr>
      </p:sp>
      <p:sp>
        <p:nvSpPr>
          <p:cNvPr id="38" name="Text 35"/>
          <p:cNvSpPr/>
          <p:nvPr/>
        </p:nvSpPr>
        <p:spPr>
          <a:xfrm>
            <a:off x="8266176" y="190195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9" name="Shape 36"/>
          <p:cNvSpPr/>
          <p:nvPr/>
        </p:nvSpPr>
        <p:spPr>
          <a:xfrm>
            <a:off x="5532120" y="2281428"/>
            <a:ext cx="1417320" cy="379476"/>
          </a:xfrm>
          <a:prstGeom prst="rect">
            <a:avLst/>
          </a:prstGeom>
          <a:solidFill>
            <a:srgbClr val="F4F6F8"/>
          </a:solidFill>
          <a:ln/>
        </p:spPr>
      </p:sp>
      <p:sp>
        <p:nvSpPr>
          <p:cNvPr id="40" name="Text 37"/>
          <p:cNvSpPr/>
          <p:nvPr/>
        </p:nvSpPr>
        <p:spPr>
          <a:xfrm>
            <a:off x="5532120" y="228142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Leverage Ratio</a:t>
            </a:r>
            <a:endParaRPr lang="en-US" sz="900" dirty="0"/>
          </a:p>
        </p:txBody>
      </p:sp>
      <p:sp>
        <p:nvSpPr>
          <p:cNvPr id="41" name="Shape 38"/>
          <p:cNvSpPr/>
          <p:nvPr/>
        </p:nvSpPr>
        <p:spPr>
          <a:xfrm>
            <a:off x="6949440" y="2281428"/>
            <a:ext cx="438912" cy="379476"/>
          </a:xfrm>
          <a:prstGeom prst="rect">
            <a:avLst/>
          </a:prstGeom>
          <a:solidFill>
            <a:srgbClr val="F8F8F8"/>
          </a:solidFill>
          <a:ln/>
        </p:spPr>
      </p:sp>
      <p:sp>
        <p:nvSpPr>
          <p:cNvPr id="42" name="Text 39"/>
          <p:cNvSpPr/>
          <p:nvPr/>
        </p:nvSpPr>
        <p:spPr>
          <a:xfrm>
            <a:off x="6949440"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3" name="Shape 40"/>
          <p:cNvSpPr/>
          <p:nvPr/>
        </p:nvSpPr>
        <p:spPr>
          <a:xfrm>
            <a:off x="7388352" y="2281428"/>
            <a:ext cx="438912" cy="379476"/>
          </a:xfrm>
          <a:prstGeom prst="rect">
            <a:avLst/>
          </a:prstGeom>
          <a:solidFill>
            <a:srgbClr val="F8F8F8"/>
          </a:solidFill>
          <a:ln/>
        </p:spPr>
      </p:sp>
      <p:sp>
        <p:nvSpPr>
          <p:cNvPr id="44" name="Text 41"/>
          <p:cNvSpPr/>
          <p:nvPr/>
        </p:nvSpPr>
        <p:spPr>
          <a:xfrm>
            <a:off x="7388352"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5" name="Shape 42"/>
          <p:cNvSpPr/>
          <p:nvPr/>
        </p:nvSpPr>
        <p:spPr>
          <a:xfrm>
            <a:off x="7827264" y="2281428"/>
            <a:ext cx="438912" cy="379476"/>
          </a:xfrm>
          <a:prstGeom prst="rect">
            <a:avLst/>
          </a:prstGeom>
          <a:solidFill>
            <a:srgbClr val="F4F6F8"/>
          </a:solidFill>
          <a:ln/>
        </p:spPr>
      </p:sp>
      <p:sp>
        <p:nvSpPr>
          <p:cNvPr id="46" name="Text 43"/>
          <p:cNvSpPr/>
          <p:nvPr/>
        </p:nvSpPr>
        <p:spPr>
          <a:xfrm>
            <a:off x="7827264" y="2281428"/>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7" name="Shape 44"/>
          <p:cNvSpPr/>
          <p:nvPr/>
        </p:nvSpPr>
        <p:spPr>
          <a:xfrm>
            <a:off x="8266176" y="2281428"/>
            <a:ext cx="603504" cy="379476"/>
          </a:xfrm>
          <a:prstGeom prst="rect">
            <a:avLst/>
          </a:prstGeom>
          <a:solidFill>
            <a:srgbClr val="F4F6F8"/>
          </a:solidFill>
          <a:ln/>
        </p:spPr>
      </p:sp>
      <p:sp>
        <p:nvSpPr>
          <p:cNvPr id="48" name="Text 45"/>
          <p:cNvSpPr/>
          <p:nvPr/>
        </p:nvSpPr>
        <p:spPr>
          <a:xfrm>
            <a:off x="8266176" y="228142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9" name="Shape 46"/>
          <p:cNvSpPr/>
          <p:nvPr/>
        </p:nvSpPr>
        <p:spPr>
          <a:xfrm>
            <a:off x="5532120" y="2660904"/>
            <a:ext cx="1417320" cy="379476"/>
          </a:xfrm>
          <a:prstGeom prst="rect">
            <a:avLst/>
          </a:prstGeom>
          <a:solidFill>
            <a:srgbClr val="FFFFFF"/>
          </a:solidFill>
          <a:ln/>
        </p:spPr>
      </p:sp>
      <p:sp>
        <p:nvSpPr>
          <p:cNvPr id="50" name="Text 47"/>
          <p:cNvSpPr/>
          <p:nvPr/>
        </p:nvSpPr>
        <p:spPr>
          <a:xfrm>
            <a:off x="5532120" y="2660904"/>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LCR / NSFR</a:t>
            </a:r>
            <a:endParaRPr lang="en-US" sz="900" dirty="0"/>
          </a:p>
        </p:txBody>
      </p:sp>
      <p:sp>
        <p:nvSpPr>
          <p:cNvPr id="51" name="Shape 48"/>
          <p:cNvSpPr/>
          <p:nvPr/>
        </p:nvSpPr>
        <p:spPr>
          <a:xfrm>
            <a:off x="6949440" y="2660904"/>
            <a:ext cx="438912" cy="379476"/>
          </a:xfrm>
          <a:prstGeom prst="rect">
            <a:avLst/>
          </a:prstGeom>
          <a:solidFill>
            <a:srgbClr val="F8F8F8"/>
          </a:solidFill>
          <a:ln/>
        </p:spPr>
      </p:sp>
      <p:sp>
        <p:nvSpPr>
          <p:cNvPr id="52" name="Text 49"/>
          <p:cNvSpPr/>
          <p:nvPr/>
        </p:nvSpPr>
        <p:spPr>
          <a:xfrm>
            <a:off x="6949440"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3" name="Shape 50"/>
          <p:cNvSpPr/>
          <p:nvPr/>
        </p:nvSpPr>
        <p:spPr>
          <a:xfrm>
            <a:off x="7388352" y="2660904"/>
            <a:ext cx="438912" cy="379476"/>
          </a:xfrm>
          <a:prstGeom prst="rect">
            <a:avLst/>
          </a:prstGeom>
          <a:solidFill>
            <a:srgbClr val="F8F8F8"/>
          </a:solidFill>
          <a:ln/>
        </p:spPr>
      </p:sp>
      <p:sp>
        <p:nvSpPr>
          <p:cNvPr id="54" name="Text 51"/>
          <p:cNvSpPr/>
          <p:nvPr/>
        </p:nvSpPr>
        <p:spPr>
          <a:xfrm>
            <a:off x="7388352"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5" name="Shape 52"/>
          <p:cNvSpPr/>
          <p:nvPr/>
        </p:nvSpPr>
        <p:spPr>
          <a:xfrm>
            <a:off x="7827264" y="2660904"/>
            <a:ext cx="438912" cy="379476"/>
          </a:xfrm>
          <a:prstGeom prst="rect">
            <a:avLst/>
          </a:prstGeom>
          <a:solidFill>
            <a:srgbClr val="FFFFFF"/>
          </a:solidFill>
          <a:ln/>
        </p:spPr>
      </p:sp>
      <p:sp>
        <p:nvSpPr>
          <p:cNvPr id="56" name="Text 53"/>
          <p:cNvSpPr/>
          <p:nvPr/>
        </p:nvSpPr>
        <p:spPr>
          <a:xfrm>
            <a:off x="7827264" y="2660904"/>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7" name="Shape 54"/>
          <p:cNvSpPr/>
          <p:nvPr/>
        </p:nvSpPr>
        <p:spPr>
          <a:xfrm>
            <a:off x="8266176" y="2660904"/>
            <a:ext cx="603504" cy="379476"/>
          </a:xfrm>
          <a:prstGeom prst="rect">
            <a:avLst/>
          </a:prstGeom>
          <a:solidFill>
            <a:srgbClr val="FFFFFF"/>
          </a:solidFill>
          <a:ln/>
        </p:spPr>
      </p:sp>
      <p:sp>
        <p:nvSpPr>
          <p:cNvPr id="58" name="Text 55"/>
          <p:cNvSpPr/>
          <p:nvPr/>
        </p:nvSpPr>
        <p:spPr>
          <a:xfrm>
            <a:off x="8266176" y="2660904"/>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9" name="Shape 56"/>
          <p:cNvSpPr/>
          <p:nvPr/>
        </p:nvSpPr>
        <p:spPr>
          <a:xfrm>
            <a:off x="5532120" y="3040380"/>
            <a:ext cx="1417320" cy="379476"/>
          </a:xfrm>
          <a:prstGeom prst="rect">
            <a:avLst/>
          </a:prstGeom>
          <a:solidFill>
            <a:srgbClr val="F4F6F8"/>
          </a:solidFill>
          <a:ln/>
        </p:spPr>
      </p:sp>
      <p:sp>
        <p:nvSpPr>
          <p:cNvPr id="60" name="Text 57"/>
          <p:cNvSpPr/>
          <p:nvPr/>
        </p:nvSpPr>
        <p:spPr>
          <a:xfrm>
            <a:off x="5532120" y="3040380"/>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CVA Capital</a:t>
            </a:r>
            <a:endParaRPr lang="en-US" sz="900" dirty="0"/>
          </a:p>
        </p:txBody>
      </p:sp>
      <p:sp>
        <p:nvSpPr>
          <p:cNvPr id="61" name="Shape 58"/>
          <p:cNvSpPr/>
          <p:nvPr/>
        </p:nvSpPr>
        <p:spPr>
          <a:xfrm>
            <a:off x="6949440" y="3040380"/>
            <a:ext cx="438912" cy="379476"/>
          </a:xfrm>
          <a:prstGeom prst="rect">
            <a:avLst/>
          </a:prstGeom>
          <a:solidFill>
            <a:srgbClr val="F8F8F8"/>
          </a:solidFill>
          <a:ln/>
        </p:spPr>
      </p:sp>
      <p:sp>
        <p:nvSpPr>
          <p:cNvPr id="62" name="Text 59"/>
          <p:cNvSpPr/>
          <p:nvPr/>
        </p:nvSpPr>
        <p:spPr>
          <a:xfrm>
            <a:off x="6949440"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3" name="Shape 60"/>
          <p:cNvSpPr/>
          <p:nvPr/>
        </p:nvSpPr>
        <p:spPr>
          <a:xfrm>
            <a:off x="7388352" y="3040380"/>
            <a:ext cx="438912" cy="379476"/>
          </a:xfrm>
          <a:prstGeom prst="rect">
            <a:avLst/>
          </a:prstGeom>
          <a:solidFill>
            <a:srgbClr val="F8F8F8"/>
          </a:solidFill>
          <a:ln/>
        </p:spPr>
      </p:sp>
      <p:sp>
        <p:nvSpPr>
          <p:cNvPr id="64" name="Text 61"/>
          <p:cNvSpPr/>
          <p:nvPr/>
        </p:nvSpPr>
        <p:spPr>
          <a:xfrm>
            <a:off x="7388352"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5" name="Shape 62"/>
          <p:cNvSpPr/>
          <p:nvPr/>
        </p:nvSpPr>
        <p:spPr>
          <a:xfrm>
            <a:off x="7827264" y="3040380"/>
            <a:ext cx="438912" cy="379476"/>
          </a:xfrm>
          <a:prstGeom prst="rect">
            <a:avLst/>
          </a:prstGeom>
          <a:solidFill>
            <a:srgbClr val="F4F6F8"/>
          </a:solidFill>
          <a:ln/>
        </p:spPr>
      </p:sp>
      <p:sp>
        <p:nvSpPr>
          <p:cNvPr id="66" name="Text 63"/>
          <p:cNvSpPr/>
          <p:nvPr/>
        </p:nvSpPr>
        <p:spPr>
          <a:xfrm>
            <a:off x="7827264" y="3040380"/>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7" name="Shape 64"/>
          <p:cNvSpPr/>
          <p:nvPr/>
        </p:nvSpPr>
        <p:spPr>
          <a:xfrm>
            <a:off x="8266176" y="3040380"/>
            <a:ext cx="603504" cy="379476"/>
          </a:xfrm>
          <a:prstGeom prst="rect">
            <a:avLst/>
          </a:prstGeom>
          <a:solidFill>
            <a:srgbClr val="F4F6F8"/>
          </a:solidFill>
          <a:ln/>
        </p:spPr>
      </p:sp>
      <p:sp>
        <p:nvSpPr>
          <p:cNvPr id="68" name="Text 65"/>
          <p:cNvSpPr/>
          <p:nvPr/>
        </p:nvSpPr>
        <p:spPr>
          <a:xfrm>
            <a:off x="8266176" y="3040380"/>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9" name="Shape 66"/>
          <p:cNvSpPr/>
          <p:nvPr/>
        </p:nvSpPr>
        <p:spPr>
          <a:xfrm>
            <a:off x="5532120" y="3419856"/>
            <a:ext cx="1417320" cy="379476"/>
          </a:xfrm>
          <a:prstGeom prst="rect">
            <a:avLst/>
          </a:prstGeom>
          <a:solidFill>
            <a:srgbClr val="FFFFFF"/>
          </a:solidFill>
          <a:ln/>
        </p:spPr>
      </p:sp>
      <p:sp>
        <p:nvSpPr>
          <p:cNvPr id="70" name="Text 67"/>
          <p:cNvSpPr/>
          <p:nvPr/>
        </p:nvSpPr>
        <p:spPr>
          <a:xfrm>
            <a:off x="5532120" y="341985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Market Risk</a:t>
            </a:r>
            <a:endParaRPr lang="en-US" sz="900" dirty="0"/>
          </a:p>
        </p:txBody>
      </p:sp>
      <p:sp>
        <p:nvSpPr>
          <p:cNvPr id="71" name="Shape 68"/>
          <p:cNvSpPr/>
          <p:nvPr/>
        </p:nvSpPr>
        <p:spPr>
          <a:xfrm>
            <a:off x="6949440" y="3419856"/>
            <a:ext cx="438912" cy="379476"/>
          </a:xfrm>
          <a:prstGeom prst="rect">
            <a:avLst/>
          </a:prstGeom>
          <a:solidFill>
            <a:srgbClr val="F8F8F8"/>
          </a:solidFill>
          <a:ln/>
        </p:spPr>
      </p:sp>
      <p:sp>
        <p:nvSpPr>
          <p:cNvPr id="72" name="Text 69"/>
          <p:cNvSpPr/>
          <p:nvPr/>
        </p:nvSpPr>
        <p:spPr>
          <a:xfrm>
            <a:off x="6949440" y="3419856"/>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73" name="Shape 70"/>
          <p:cNvSpPr/>
          <p:nvPr/>
        </p:nvSpPr>
        <p:spPr>
          <a:xfrm>
            <a:off x="7388352" y="3419856"/>
            <a:ext cx="438912" cy="379476"/>
          </a:xfrm>
          <a:prstGeom prst="rect">
            <a:avLst/>
          </a:prstGeom>
          <a:solidFill>
            <a:srgbClr val="FFFFFF"/>
          </a:solidFill>
          <a:ln/>
        </p:spPr>
      </p:sp>
      <p:sp>
        <p:nvSpPr>
          <p:cNvPr id="74" name="Text 71"/>
          <p:cNvSpPr/>
          <p:nvPr/>
        </p:nvSpPr>
        <p:spPr>
          <a:xfrm>
            <a:off x="7388352"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VaR</a:t>
            </a:r>
            <a:endParaRPr lang="en-US" sz="850" dirty="0"/>
          </a:p>
        </p:txBody>
      </p:sp>
      <p:sp>
        <p:nvSpPr>
          <p:cNvPr id="75" name="Shape 72"/>
          <p:cNvSpPr/>
          <p:nvPr/>
        </p:nvSpPr>
        <p:spPr>
          <a:xfrm>
            <a:off x="7827264" y="3419856"/>
            <a:ext cx="438912" cy="379476"/>
          </a:xfrm>
          <a:prstGeom prst="rect">
            <a:avLst/>
          </a:prstGeom>
          <a:solidFill>
            <a:srgbClr val="FFFFFF"/>
          </a:solidFill>
          <a:ln/>
        </p:spPr>
      </p:sp>
      <p:sp>
        <p:nvSpPr>
          <p:cNvPr id="76" name="Text 73"/>
          <p:cNvSpPr/>
          <p:nvPr/>
        </p:nvSpPr>
        <p:spPr>
          <a:xfrm>
            <a:off x="7827264"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SVaR+IRC</a:t>
            </a:r>
            <a:endParaRPr lang="en-US" sz="850" dirty="0"/>
          </a:p>
        </p:txBody>
      </p:sp>
      <p:sp>
        <p:nvSpPr>
          <p:cNvPr id="77" name="Shape 74"/>
          <p:cNvSpPr/>
          <p:nvPr/>
        </p:nvSpPr>
        <p:spPr>
          <a:xfrm>
            <a:off x="8266176" y="3419856"/>
            <a:ext cx="603504" cy="379476"/>
          </a:xfrm>
          <a:prstGeom prst="rect">
            <a:avLst/>
          </a:prstGeom>
          <a:solidFill>
            <a:srgbClr val="FFFFFF"/>
          </a:solidFill>
          <a:ln/>
        </p:spPr>
      </p:sp>
      <p:sp>
        <p:nvSpPr>
          <p:cNvPr id="78" name="Text 75"/>
          <p:cNvSpPr/>
          <p:nvPr/>
        </p:nvSpPr>
        <p:spPr>
          <a:xfrm>
            <a:off x="8266176" y="341985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FRTB/ES</a:t>
            </a:r>
            <a:endParaRPr lang="en-US" sz="850" dirty="0"/>
          </a:p>
        </p:txBody>
      </p:sp>
      <p:sp>
        <p:nvSpPr>
          <p:cNvPr id="79" name="Shape 76"/>
          <p:cNvSpPr/>
          <p:nvPr/>
        </p:nvSpPr>
        <p:spPr>
          <a:xfrm>
            <a:off x="5532120" y="3799332"/>
            <a:ext cx="1417320" cy="379476"/>
          </a:xfrm>
          <a:prstGeom prst="rect">
            <a:avLst/>
          </a:prstGeom>
          <a:solidFill>
            <a:srgbClr val="F4F6F8"/>
          </a:solidFill>
          <a:ln/>
        </p:spPr>
      </p:sp>
      <p:sp>
        <p:nvSpPr>
          <p:cNvPr id="80" name="Text 77"/>
          <p:cNvSpPr/>
          <p:nvPr/>
        </p:nvSpPr>
        <p:spPr>
          <a:xfrm>
            <a:off x="5532120" y="379933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OpRisk</a:t>
            </a:r>
            <a:endParaRPr lang="en-US" sz="900" dirty="0"/>
          </a:p>
        </p:txBody>
      </p:sp>
      <p:sp>
        <p:nvSpPr>
          <p:cNvPr id="81" name="Shape 78"/>
          <p:cNvSpPr/>
          <p:nvPr/>
        </p:nvSpPr>
        <p:spPr>
          <a:xfrm>
            <a:off x="6949440" y="3799332"/>
            <a:ext cx="438912" cy="379476"/>
          </a:xfrm>
          <a:prstGeom prst="rect">
            <a:avLst/>
          </a:prstGeom>
          <a:solidFill>
            <a:srgbClr val="F8F8F8"/>
          </a:solidFill>
          <a:ln/>
        </p:spPr>
      </p:sp>
      <p:sp>
        <p:nvSpPr>
          <p:cNvPr id="82" name="Text 79"/>
          <p:cNvSpPr/>
          <p:nvPr/>
        </p:nvSpPr>
        <p:spPr>
          <a:xfrm>
            <a:off x="6949440" y="379933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83" name="Shape 80"/>
          <p:cNvSpPr/>
          <p:nvPr/>
        </p:nvSpPr>
        <p:spPr>
          <a:xfrm>
            <a:off x="7388352" y="3799332"/>
            <a:ext cx="438912" cy="379476"/>
          </a:xfrm>
          <a:prstGeom prst="rect">
            <a:avLst/>
          </a:prstGeom>
          <a:solidFill>
            <a:srgbClr val="F4F6F8"/>
          </a:solidFill>
          <a:ln/>
        </p:spPr>
      </p:sp>
      <p:sp>
        <p:nvSpPr>
          <p:cNvPr id="84" name="Text 81"/>
          <p:cNvSpPr/>
          <p:nvPr/>
        </p:nvSpPr>
        <p:spPr>
          <a:xfrm>
            <a:off x="7388352"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5" name="Shape 82"/>
          <p:cNvSpPr/>
          <p:nvPr/>
        </p:nvSpPr>
        <p:spPr>
          <a:xfrm>
            <a:off x="7827264" y="3799332"/>
            <a:ext cx="438912" cy="379476"/>
          </a:xfrm>
          <a:prstGeom prst="rect">
            <a:avLst/>
          </a:prstGeom>
          <a:solidFill>
            <a:srgbClr val="F4F6F8"/>
          </a:solidFill>
          <a:ln/>
        </p:spPr>
      </p:sp>
      <p:sp>
        <p:nvSpPr>
          <p:cNvPr id="86" name="Text 83"/>
          <p:cNvSpPr/>
          <p:nvPr/>
        </p:nvSpPr>
        <p:spPr>
          <a:xfrm>
            <a:off x="7827264"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7" name="Shape 84"/>
          <p:cNvSpPr/>
          <p:nvPr/>
        </p:nvSpPr>
        <p:spPr>
          <a:xfrm>
            <a:off x="8266176" y="3799332"/>
            <a:ext cx="603504" cy="379476"/>
          </a:xfrm>
          <a:prstGeom prst="rect">
            <a:avLst/>
          </a:prstGeom>
          <a:solidFill>
            <a:srgbClr val="F4F6F8"/>
          </a:solidFill>
          <a:ln/>
        </p:spPr>
      </p:sp>
      <p:sp>
        <p:nvSpPr>
          <p:cNvPr id="88" name="Text 85"/>
          <p:cNvSpPr/>
          <p:nvPr/>
        </p:nvSpPr>
        <p:spPr>
          <a:xfrm>
            <a:off x="8266176" y="379933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SMA</a:t>
            </a:r>
            <a:endParaRPr lang="en-US" sz="850" dirty="0"/>
          </a:p>
        </p:txBody>
      </p:sp>
      <p:sp>
        <p:nvSpPr>
          <p:cNvPr id="89" name="Shape 86"/>
          <p:cNvSpPr/>
          <p:nvPr/>
        </p:nvSpPr>
        <p:spPr>
          <a:xfrm>
            <a:off x="5532120" y="4178808"/>
            <a:ext cx="1417320" cy="379476"/>
          </a:xfrm>
          <a:prstGeom prst="rect">
            <a:avLst/>
          </a:prstGeom>
          <a:solidFill>
            <a:srgbClr val="FFFFFF"/>
          </a:solidFill>
          <a:ln/>
        </p:spPr>
      </p:sp>
      <p:sp>
        <p:nvSpPr>
          <p:cNvPr id="90" name="Text 87"/>
          <p:cNvSpPr/>
          <p:nvPr/>
        </p:nvSpPr>
        <p:spPr>
          <a:xfrm>
            <a:off x="5532120" y="417880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Output Floor</a:t>
            </a:r>
            <a:endParaRPr lang="en-US" sz="900" dirty="0"/>
          </a:p>
        </p:txBody>
      </p:sp>
      <p:sp>
        <p:nvSpPr>
          <p:cNvPr id="91" name="Shape 88"/>
          <p:cNvSpPr/>
          <p:nvPr/>
        </p:nvSpPr>
        <p:spPr>
          <a:xfrm>
            <a:off x="6949440" y="4178808"/>
            <a:ext cx="438912" cy="379476"/>
          </a:xfrm>
          <a:prstGeom prst="rect">
            <a:avLst/>
          </a:prstGeom>
          <a:solidFill>
            <a:srgbClr val="F8F8F8"/>
          </a:solidFill>
          <a:ln/>
        </p:spPr>
      </p:sp>
      <p:sp>
        <p:nvSpPr>
          <p:cNvPr id="92" name="Text 89"/>
          <p:cNvSpPr/>
          <p:nvPr/>
        </p:nvSpPr>
        <p:spPr>
          <a:xfrm>
            <a:off x="6949440"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3" name="Shape 90"/>
          <p:cNvSpPr/>
          <p:nvPr/>
        </p:nvSpPr>
        <p:spPr>
          <a:xfrm>
            <a:off x="7388352" y="4178808"/>
            <a:ext cx="438912" cy="379476"/>
          </a:xfrm>
          <a:prstGeom prst="rect">
            <a:avLst/>
          </a:prstGeom>
          <a:solidFill>
            <a:srgbClr val="F8F8F8"/>
          </a:solidFill>
          <a:ln/>
        </p:spPr>
      </p:sp>
      <p:sp>
        <p:nvSpPr>
          <p:cNvPr id="94" name="Text 91"/>
          <p:cNvSpPr/>
          <p:nvPr/>
        </p:nvSpPr>
        <p:spPr>
          <a:xfrm>
            <a:off x="7388352"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5" name="Shape 92"/>
          <p:cNvSpPr/>
          <p:nvPr/>
        </p:nvSpPr>
        <p:spPr>
          <a:xfrm>
            <a:off x="7827264" y="4178808"/>
            <a:ext cx="438912" cy="379476"/>
          </a:xfrm>
          <a:prstGeom prst="rect">
            <a:avLst/>
          </a:prstGeom>
          <a:solidFill>
            <a:srgbClr val="F8F8F8"/>
          </a:solidFill>
          <a:ln/>
        </p:spPr>
      </p:sp>
      <p:sp>
        <p:nvSpPr>
          <p:cNvPr id="96" name="Text 93"/>
          <p:cNvSpPr/>
          <p:nvPr/>
        </p:nvSpPr>
        <p:spPr>
          <a:xfrm>
            <a:off x="7827264"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7" name="Shape 94"/>
          <p:cNvSpPr/>
          <p:nvPr/>
        </p:nvSpPr>
        <p:spPr>
          <a:xfrm>
            <a:off x="8266176" y="4178808"/>
            <a:ext cx="603504" cy="379476"/>
          </a:xfrm>
          <a:prstGeom prst="rect">
            <a:avLst/>
          </a:prstGeom>
          <a:solidFill>
            <a:srgbClr val="FFFFFF"/>
          </a:solidFill>
          <a:ln/>
        </p:spPr>
      </p:sp>
      <p:sp>
        <p:nvSpPr>
          <p:cNvPr id="98" name="Text 95"/>
          <p:cNvSpPr/>
          <p:nvPr/>
        </p:nvSpPr>
        <p:spPr>
          <a:xfrm>
            <a:off x="8266176" y="417880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72.5%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Credit Risk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Credit Risk: From Fixed Buckets to Constrained Models</a:t>
            </a:r>
            <a:endParaRPr lang="en-US" sz="2200" dirty="0"/>
          </a:p>
        </p:txBody>
      </p:sp>
      <p:sp>
        <p:nvSpPr>
          <p:cNvPr id="6" name="Shape 4"/>
          <p:cNvSpPr/>
          <p:nvPr/>
        </p:nvSpPr>
        <p:spPr>
          <a:xfrm>
            <a:off x="256032" y="777240"/>
            <a:ext cx="2057400" cy="530352"/>
          </a:xfrm>
          <a:prstGeom prst="rect">
            <a:avLst/>
          </a:prstGeom>
          <a:solidFill>
            <a:srgbClr val="8899AA"/>
          </a:solidFill>
          <a:ln/>
        </p:spPr>
      </p:sp>
      <p:sp>
        <p:nvSpPr>
          <p:cNvPr id="7" name="Text 5"/>
          <p:cNvSpPr/>
          <p:nvPr/>
        </p:nvSpPr>
        <p:spPr>
          <a:xfrm>
            <a:off x="256032" y="777240"/>
            <a:ext cx="2057400" cy="530352"/>
          </a:xfrm>
          <a:prstGeom prst="rect">
            <a:avLst/>
          </a:prstGeom>
          <a:noFill/>
          <a:ln/>
        </p:spPr>
        <p:txBody>
          <a:bodyPr wrap="square" lIns="0" tIns="0" rIns="0" bIns="0" rtlCol="0" anchor="ctr"/>
          <a:lstStyle/>
          <a:p>
            <a:pPr algn="ctr" indent="0" marL="0">
              <a:buNone/>
            </a:pPr>
            <a:r>
              <a:rPr lang="en-US" sz="1100" b="1" dirty="0">
                <a:solidFill>
                  <a:srgbClr val="FFFFFF"/>
                </a:solidFill>
              </a:rPr>
              <a:t>BASEL I</a:t>
            </a:r>
            <a:endParaRPr lang="en-US" sz="1100" dirty="0"/>
          </a:p>
          <a:p>
            <a:pPr algn="ctr" indent="0" marL="0">
              <a:buNone/>
            </a:pPr>
            <a:r>
              <a:rPr lang="en-US" sz="1100" b="1" dirty="0">
                <a:solidFill>
                  <a:srgbClr val="FFFFFF"/>
                </a:solidFill>
              </a:rPr>
              <a:t>1988</a:t>
            </a:r>
            <a:endParaRPr lang="en-US" sz="1100" dirty="0"/>
          </a:p>
        </p:txBody>
      </p:sp>
      <p:sp>
        <p:nvSpPr>
          <p:cNvPr id="8" name="Shape 6"/>
          <p:cNvSpPr/>
          <p:nvPr/>
        </p:nvSpPr>
        <p:spPr>
          <a:xfrm>
            <a:off x="2313432" y="978408"/>
            <a:ext cx="118872" cy="128016"/>
          </a:xfrm>
          <a:prstGeom prst="rect">
            <a:avLst/>
          </a:prstGeom>
          <a:solidFill>
            <a:srgbClr val="8899AA"/>
          </a:solidFill>
          <a:ln/>
        </p:spPr>
      </p:sp>
      <p:sp>
        <p:nvSpPr>
          <p:cNvPr id="9" name="Shape 7"/>
          <p:cNvSpPr/>
          <p:nvPr/>
        </p:nvSpPr>
        <p:spPr>
          <a:xfrm>
            <a:off x="256032" y="1307592"/>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0" name="Shape 8"/>
          <p:cNvSpPr/>
          <p:nvPr/>
        </p:nvSpPr>
        <p:spPr>
          <a:xfrm>
            <a:off x="256032" y="1307592"/>
            <a:ext cx="2057400" cy="64008"/>
          </a:xfrm>
          <a:prstGeom prst="rect">
            <a:avLst/>
          </a:prstGeom>
          <a:solidFill>
            <a:srgbClr val="8899AA"/>
          </a:solidFill>
          <a:ln/>
        </p:spPr>
      </p:sp>
      <p:sp>
        <p:nvSpPr>
          <p:cNvPr id="11" name="Text 9"/>
          <p:cNvSpPr/>
          <p:nvPr/>
        </p:nvSpPr>
        <p:spPr>
          <a:xfrm>
            <a:off x="347472" y="1389888"/>
            <a:ext cx="1874520" cy="320040"/>
          </a:xfrm>
          <a:prstGeom prst="rect">
            <a:avLst/>
          </a:prstGeom>
          <a:noFill/>
          <a:ln/>
        </p:spPr>
        <p:txBody>
          <a:bodyPr wrap="square" lIns="0" tIns="0" rIns="0" bIns="0" rtlCol="0" anchor="ctr"/>
          <a:lstStyle/>
          <a:p>
            <a:pPr indent="0" marL="0">
              <a:buNone/>
            </a:pPr>
            <a:r>
              <a:rPr lang="en-US" sz="1050" b="1" dirty="0">
                <a:solidFill>
                  <a:srgbClr val="8899AA"/>
                </a:solidFill>
              </a:rPr>
              <a:t>5 Fixed Buckets</a:t>
            </a:r>
            <a:endParaRPr lang="en-US" sz="1050" dirty="0"/>
          </a:p>
        </p:txBody>
      </p:sp>
      <p:sp>
        <p:nvSpPr>
          <p:cNvPr id="12" name="Text 10"/>
          <p:cNvSpPr/>
          <p:nvPr/>
        </p:nvSpPr>
        <p:spPr>
          <a:xfrm>
            <a:off x="347472" y="1737360"/>
            <a:ext cx="1874520" cy="2834640"/>
          </a:xfrm>
          <a:prstGeom prst="rect">
            <a:avLst/>
          </a:prstGeom>
          <a:noFill/>
          <a:ln/>
        </p:spPr>
        <p:txBody>
          <a:bodyPr wrap="square" lIns="0" tIns="0" rIns="0" bIns="0" rtlCol="0" anchor="t"/>
          <a:lstStyle/>
          <a:p>
            <a:pPr indent="0" marL="0">
              <a:buNone/>
            </a:pPr>
            <a:r>
              <a:rPr lang="en-US" sz="950" dirty="0">
                <a:solidFill>
                  <a:srgbClr val="1A1A2E"/>
                </a:solidFill>
              </a:rPr>
              <a:t>OECD-based risk weights: 0/10/20/50/100%.</a:t>
            </a:r>
            <a:endParaRPr lang="en-US" sz="950" dirty="0"/>
          </a:p>
          <a:p>
            <a:pPr indent="0" marL="0">
              <a:buNone/>
            </a:pPr>
            <a:r>
              <a:rPr lang="en-US" sz="950" dirty="0">
                <a:solidFill>
                  <a:srgbClr val="1A1A2E"/>
                </a:solidFill>
              </a:rPr>
              <a:t>No credit quality differentiation.</a:t>
            </a:r>
            <a:endParaRPr lang="en-US" sz="950" dirty="0"/>
          </a:p>
          <a:p>
            <a:pPr indent="0" marL="0">
              <a:buNone/>
            </a:pPr>
            <a:r>
              <a:rPr lang="en-US" sz="950" dirty="0">
                <a:solidFill>
                  <a:srgbClr val="1A1A2E"/>
                </a:solidFill>
              </a:rPr>
              <a:t>CEM for derivatives.</a:t>
            </a:r>
            <a:endParaRPr lang="en-US" sz="950" dirty="0"/>
          </a:p>
        </p:txBody>
      </p:sp>
      <p:sp>
        <p:nvSpPr>
          <p:cNvPr id="13" name="Shape 11"/>
          <p:cNvSpPr/>
          <p:nvPr/>
        </p:nvSpPr>
        <p:spPr>
          <a:xfrm>
            <a:off x="2432304" y="777240"/>
            <a:ext cx="2057400" cy="530352"/>
          </a:xfrm>
          <a:prstGeom prst="rect">
            <a:avLst/>
          </a:prstGeom>
          <a:solidFill>
            <a:srgbClr val="0E6B8A"/>
          </a:solidFill>
          <a:ln/>
        </p:spPr>
      </p:sp>
      <p:sp>
        <p:nvSpPr>
          <p:cNvPr id="14" name="Text 12"/>
          <p:cNvSpPr/>
          <p:nvPr/>
        </p:nvSpPr>
        <p:spPr>
          <a:xfrm>
            <a:off x="2432304" y="777240"/>
            <a:ext cx="2057400" cy="530352"/>
          </a:xfrm>
          <a:prstGeom prst="rect">
            <a:avLst/>
          </a:prstGeom>
          <a:noFill/>
          <a:ln/>
        </p:spPr>
        <p:txBody>
          <a:bodyPr wrap="square" lIns="0" tIns="0" rIns="0" bIns="0" rtlCol="0" anchor="ctr"/>
          <a:lstStyle/>
          <a:p>
            <a:pPr algn="ctr" indent="0" marL="0">
              <a:buNone/>
            </a:pPr>
            <a:r>
              <a:rPr lang="en-US" sz="1100" b="1" dirty="0">
                <a:solidFill>
                  <a:srgbClr val="FFFFFF"/>
                </a:solidFill>
              </a:rPr>
              <a:t>BASEL II</a:t>
            </a:r>
            <a:endParaRPr lang="en-US" sz="1100" dirty="0"/>
          </a:p>
          <a:p>
            <a:pPr algn="ctr" indent="0" marL="0">
              <a:buNone/>
            </a:pPr>
            <a:r>
              <a:rPr lang="en-US" sz="1100" b="1" dirty="0">
                <a:solidFill>
                  <a:srgbClr val="FFFFFF"/>
                </a:solidFill>
              </a:rPr>
              <a:t>2004</a:t>
            </a:r>
            <a:endParaRPr lang="en-US" sz="1100" dirty="0"/>
          </a:p>
        </p:txBody>
      </p:sp>
      <p:sp>
        <p:nvSpPr>
          <p:cNvPr id="15" name="Shape 13"/>
          <p:cNvSpPr/>
          <p:nvPr/>
        </p:nvSpPr>
        <p:spPr>
          <a:xfrm>
            <a:off x="4489704" y="978408"/>
            <a:ext cx="118872" cy="128016"/>
          </a:xfrm>
          <a:prstGeom prst="rect">
            <a:avLst/>
          </a:prstGeom>
          <a:solidFill>
            <a:srgbClr val="8899AA"/>
          </a:solidFill>
          <a:ln/>
        </p:spPr>
      </p:sp>
      <p:sp>
        <p:nvSpPr>
          <p:cNvPr id="16" name="Shape 14"/>
          <p:cNvSpPr/>
          <p:nvPr/>
        </p:nvSpPr>
        <p:spPr>
          <a:xfrm>
            <a:off x="2432304" y="1307592"/>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2432304" y="1307592"/>
            <a:ext cx="2057400" cy="64008"/>
          </a:xfrm>
          <a:prstGeom prst="rect">
            <a:avLst/>
          </a:prstGeom>
          <a:solidFill>
            <a:srgbClr val="0E6B8A"/>
          </a:solidFill>
          <a:ln/>
        </p:spPr>
      </p:sp>
      <p:sp>
        <p:nvSpPr>
          <p:cNvPr id="18" name="Text 16"/>
          <p:cNvSpPr/>
          <p:nvPr/>
        </p:nvSpPr>
        <p:spPr>
          <a:xfrm>
            <a:off x="2523744" y="1389888"/>
            <a:ext cx="1874520" cy="320040"/>
          </a:xfrm>
          <a:prstGeom prst="rect">
            <a:avLst/>
          </a:prstGeom>
          <a:noFill/>
          <a:ln/>
        </p:spPr>
        <p:txBody>
          <a:bodyPr wrap="square" lIns="0" tIns="0" rIns="0" bIns="0" rtlCol="0" anchor="ctr"/>
          <a:lstStyle/>
          <a:p>
            <a:pPr indent="0" marL="0">
              <a:buNone/>
            </a:pPr>
            <a:r>
              <a:rPr lang="en-US" sz="1050" b="1" dirty="0">
                <a:solidFill>
                  <a:srgbClr val="0E6B8A"/>
                </a:solidFill>
              </a:rPr>
              <a:t>Risk-Sensitive Models</a:t>
            </a:r>
            <a:endParaRPr lang="en-US" sz="1050" dirty="0"/>
          </a:p>
        </p:txBody>
      </p:sp>
      <p:sp>
        <p:nvSpPr>
          <p:cNvPr id="19" name="Text 17"/>
          <p:cNvSpPr/>
          <p:nvPr/>
        </p:nvSpPr>
        <p:spPr>
          <a:xfrm>
            <a:off x="2523744" y="1737360"/>
            <a:ext cx="1874520" cy="2834640"/>
          </a:xfrm>
          <a:prstGeom prst="rect">
            <a:avLst/>
          </a:prstGeom>
          <a:noFill/>
          <a:ln/>
        </p:spPr>
        <p:txBody>
          <a:bodyPr wrap="square" lIns="0" tIns="0" rIns="0" bIns="0" rtlCol="0" anchor="t"/>
          <a:lstStyle/>
          <a:p>
            <a:pPr indent="0" marL="0">
              <a:buNone/>
            </a:pPr>
            <a:r>
              <a:rPr lang="en-US" sz="950" dirty="0">
                <a:solidFill>
                  <a:srgbClr val="1A1A2E"/>
                </a:solidFill>
              </a:rPr>
              <a:t>SA (external ratings).</a:t>
            </a:r>
            <a:endParaRPr lang="en-US" sz="950" dirty="0"/>
          </a:p>
          <a:p>
            <a:pPr indent="0" marL="0">
              <a:buNone/>
            </a:pPr>
            <a:r>
              <a:rPr lang="en-US" sz="950" dirty="0">
                <a:solidFill>
                  <a:srgbClr val="1A1A2E"/>
                </a:solidFill>
              </a:rPr>
              <a:t>F-IRB: bank PD, supervisory LGD/EAD.</a:t>
            </a:r>
            <a:endParaRPr lang="en-US" sz="950" dirty="0"/>
          </a:p>
          <a:p>
            <a:pPr indent="0" marL="0">
              <a:buNone/>
            </a:pPr>
            <a:r>
              <a:rPr lang="en-US" sz="950" dirty="0">
                <a:solidFill>
                  <a:srgbClr val="1A1A2E"/>
                </a:solidFill>
              </a:rPr>
              <a:t>A-IRB: bank PD + LGD + EAD.</a:t>
            </a:r>
            <a:endParaRPr lang="en-US" sz="950" dirty="0"/>
          </a:p>
          <a:p>
            <a:pPr indent="0" marL="0">
              <a:buNone/>
            </a:pPr>
            <a:r>
              <a:rPr lang="en-US" sz="950" dirty="0">
                <a:solidFill>
                  <a:srgbClr val="1A1A2E"/>
                </a:solidFill>
              </a:rPr>
              <a:t>First CVA as accounting concept.</a:t>
            </a:r>
            <a:endParaRPr lang="en-US" sz="950" dirty="0"/>
          </a:p>
        </p:txBody>
      </p:sp>
      <p:sp>
        <p:nvSpPr>
          <p:cNvPr id="20" name="Shape 18"/>
          <p:cNvSpPr/>
          <p:nvPr/>
        </p:nvSpPr>
        <p:spPr>
          <a:xfrm>
            <a:off x="4608576" y="777240"/>
            <a:ext cx="2057400" cy="530352"/>
          </a:xfrm>
          <a:prstGeom prst="rect">
            <a:avLst/>
          </a:prstGeom>
          <a:solidFill>
            <a:srgbClr val="1B3A6B"/>
          </a:solidFill>
          <a:ln/>
        </p:spPr>
      </p:sp>
      <p:sp>
        <p:nvSpPr>
          <p:cNvPr id="21" name="Text 19"/>
          <p:cNvSpPr/>
          <p:nvPr/>
        </p:nvSpPr>
        <p:spPr>
          <a:xfrm>
            <a:off x="4608576" y="777240"/>
            <a:ext cx="2057400" cy="530352"/>
          </a:xfrm>
          <a:prstGeom prst="rect">
            <a:avLst/>
          </a:prstGeom>
          <a:noFill/>
          <a:ln/>
        </p:spPr>
        <p:txBody>
          <a:bodyPr wrap="square" lIns="0" tIns="0" rIns="0" bIns="0" rtlCol="0" anchor="ctr"/>
          <a:lstStyle/>
          <a:p>
            <a:pPr algn="ctr" indent="0" marL="0">
              <a:buNone/>
            </a:pPr>
            <a:r>
              <a:rPr lang="en-US" sz="1100" b="1" dirty="0">
                <a:solidFill>
                  <a:srgbClr val="FFFFFF"/>
                </a:solidFill>
              </a:rPr>
              <a:t>BASEL III</a:t>
            </a:r>
            <a:endParaRPr lang="en-US" sz="1100" dirty="0"/>
          </a:p>
          <a:p>
            <a:pPr algn="ctr" indent="0" marL="0">
              <a:buNone/>
            </a:pPr>
            <a:r>
              <a:rPr lang="en-US" sz="1100" b="1" dirty="0">
                <a:solidFill>
                  <a:srgbClr val="FFFFFF"/>
                </a:solidFill>
              </a:rPr>
              <a:t>2010</a:t>
            </a:r>
            <a:endParaRPr lang="en-US" sz="1100" dirty="0"/>
          </a:p>
        </p:txBody>
      </p:sp>
      <p:sp>
        <p:nvSpPr>
          <p:cNvPr id="22" name="Shape 20"/>
          <p:cNvSpPr/>
          <p:nvPr/>
        </p:nvSpPr>
        <p:spPr>
          <a:xfrm>
            <a:off x="6665976" y="978408"/>
            <a:ext cx="118872" cy="128016"/>
          </a:xfrm>
          <a:prstGeom prst="rect">
            <a:avLst/>
          </a:prstGeom>
          <a:solidFill>
            <a:srgbClr val="8899AA"/>
          </a:solidFill>
          <a:ln/>
        </p:spPr>
      </p:sp>
      <p:sp>
        <p:nvSpPr>
          <p:cNvPr id="23" name="Shape 21"/>
          <p:cNvSpPr/>
          <p:nvPr/>
        </p:nvSpPr>
        <p:spPr>
          <a:xfrm>
            <a:off x="4608576" y="1307592"/>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4" name="Shape 22"/>
          <p:cNvSpPr/>
          <p:nvPr/>
        </p:nvSpPr>
        <p:spPr>
          <a:xfrm>
            <a:off x="4608576" y="1307592"/>
            <a:ext cx="2057400" cy="64008"/>
          </a:xfrm>
          <a:prstGeom prst="rect">
            <a:avLst/>
          </a:prstGeom>
          <a:solidFill>
            <a:srgbClr val="1B3A6B"/>
          </a:solidFill>
          <a:ln/>
        </p:spPr>
      </p:sp>
      <p:sp>
        <p:nvSpPr>
          <p:cNvPr id="25" name="Text 23"/>
          <p:cNvSpPr/>
          <p:nvPr/>
        </p:nvSpPr>
        <p:spPr>
          <a:xfrm>
            <a:off x="4700016" y="1389888"/>
            <a:ext cx="1874520" cy="320040"/>
          </a:xfrm>
          <a:prstGeom prst="rect">
            <a:avLst/>
          </a:prstGeom>
          <a:noFill/>
          <a:ln/>
        </p:spPr>
        <p:txBody>
          <a:bodyPr wrap="square" lIns="0" tIns="0" rIns="0" bIns="0" rtlCol="0" anchor="ctr"/>
          <a:lstStyle/>
          <a:p>
            <a:pPr indent="0" marL="0">
              <a:buNone/>
            </a:pPr>
            <a:r>
              <a:rPr lang="en-US" sz="1050" b="1" dirty="0">
                <a:solidFill>
                  <a:srgbClr val="1B3A6B"/>
                </a:solidFill>
              </a:rPr>
              <a:t>Enhanced + CVA Capital</a:t>
            </a:r>
            <a:endParaRPr lang="en-US" sz="1050" dirty="0"/>
          </a:p>
        </p:txBody>
      </p:sp>
      <p:sp>
        <p:nvSpPr>
          <p:cNvPr id="26" name="Text 24"/>
          <p:cNvSpPr/>
          <p:nvPr/>
        </p:nvSpPr>
        <p:spPr>
          <a:xfrm>
            <a:off x="4700016" y="1737360"/>
            <a:ext cx="1874520" cy="2834640"/>
          </a:xfrm>
          <a:prstGeom prst="rect">
            <a:avLst/>
          </a:prstGeom>
          <a:noFill/>
          <a:ln/>
        </p:spPr>
        <p:txBody>
          <a:bodyPr wrap="square" lIns="0" tIns="0" rIns="0" bIns="0" rtlCol="0" anchor="t"/>
          <a:lstStyle/>
          <a:p>
            <a:pPr indent="0" marL="0">
              <a:buNone/>
            </a:pPr>
            <a:r>
              <a:rPr lang="en-US" sz="950" dirty="0">
                <a:solidFill>
                  <a:srgbClr val="1A1A2E"/>
                </a:solidFill>
              </a:rPr>
              <a:t>IRB refined; stressed EPE.</a:t>
            </a:r>
            <a:endParaRPr lang="en-US" sz="950" dirty="0"/>
          </a:p>
          <a:p>
            <a:pPr indent="0" marL="0">
              <a:buNone/>
            </a:pPr>
            <a:r>
              <a:rPr lang="en-US" sz="950" dirty="0">
                <a:solidFill>
                  <a:srgbClr val="1A1A2E"/>
                </a:solidFill>
              </a:rPr>
              <a:t>Wrong-way risk requirements.</a:t>
            </a:r>
            <a:endParaRPr lang="en-US" sz="950" dirty="0"/>
          </a:p>
          <a:p>
            <a:pPr indent="0" marL="0">
              <a:buNone/>
            </a:pPr>
            <a:r>
              <a:rPr lang="en-US" sz="950" dirty="0">
                <a:solidFill>
                  <a:srgbClr val="1A1A2E"/>
                </a:solidFill>
              </a:rPr>
              <a:t>CVA capital charge introduced.</a:t>
            </a:r>
            <a:endParaRPr lang="en-US" sz="950" dirty="0"/>
          </a:p>
          <a:p>
            <a:pPr indent="0" marL="0">
              <a:buNone/>
            </a:pPr>
            <a:r>
              <a:rPr lang="en-US" sz="950" dirty="0">
                <a:solidFill>
                  <a:srgbClr val="1A1A2E"/>
                </a:solidFill>
              </a:rPr>
              <a:t>CCP clearing incentive (2% RW).</a:t>
            </a:r>
            <a:endParaRPr lang="en-US" sz="950" dirty="0"/>
          </a:p>
        </p:txBody>
      </p:sp>
      <p:sp>
        <p:nvSpPr>
          <p:cNvPr id="27" name="Shape 25"/>
          <p:cNvSpPr/>
          <p:nvPr/>
        </p:nvSpPr>
        <p:spPr>
          <a:xfrm>
            <a:off x="6784848" y="777240"/>
            <a:ext cx="2057400" cy="530352"/>
          </a:xfrm>
          <a:prstGeom prst="rect">
            <a:avLst/>
          </a:prstGeom>
          <a:solidFill>
            <a:srgbClr val="C9A84C"/>
          </a:solidFill>
          <a:ln/>
        </p:spPr>
      </p:sp>
      <p:sp>
        <p:nvSpPr>
          <p:cNvPr id="28" name="Text 26"/>
          <p:cNvSpPr/>
          <p:nvPr/>
        </p:nvSpPr>
        <p:spPr>
          <a:xfrm>
            <a:off x="6784848" y="777240"/>
            <a:ext cx="2057400" cy="530352"/>
          </a:xfrm>
          <a:prstGeom prst="rect">
            <a:avLst/>
          </a:prstGeom>
          <a:noFill/>
          <a:ln/>
        </p:spPr>
        <p:txBody>
          <a:bodyPr wrap="square" lIns="0" tIns="0" rIns="0" bIns="0" rtlCol="0" anchor="ctr"/>
          <a:lstStyle/>
          <a:p>
            <a:pPr algn="ctr" indent="0" marL="0">
              <a:buNone/>
            </a:pPr>
            <a:r>
              <a:rPr lang="en-US" sz="1100" b="1" dirty="0">
                <a:solidFill>
                  <a:srgbClr val="FFFFFF"/>
                </a:solidFill>
              </a:rPr>
              <a:t>BASEL IV</a:t>
            </a:r>
            <a:endParaRPr lang="en-US" sz="1100" dirty="0"/>
          </a:p>
          <a:p>
            <a:pPr algn="ctr" indent="0" marL="0">
              <a:buNone/>
            </a:pPr>
            <a:r>
              <a:rPr lang="en-US" sz="1100" b="1" dirty="0">
                <a:solidFill>
                  <a:srgbClr val="FFFFFF"/>
                </a:solidFill>
              </a:rPr>
              <a:t>2017</a:t>
            </a:r>
            <a:endParaRPr lang="en-US" sz="1100" dirty="0"/>
          </a:p>
        </p:txBody>
      </p:sp>
      <p:sp>
        <p:nvSpPr>
          <p:cNvPr id="29" name="Shape 27"/>
          <p:cNvSpPr/>
          <p:nvPr/>
        </p:nvSpPr>
        <p:spPr>
          <a:xfrm>
            <a:off x="6784848" y="1307592"/>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07592"/>
            <a:ext cx="2057400" cy="64008"/>
          </a:xfrm>
          <a:prstGeom prst="rect">
            <a:avLst/>
          </a:prstGeom>
          <a:solidFill>
            <a:srgbClr val="C9A84C"/>
          </a:solidFill>
          <a:ln/>
        </p:spPr>
      </p:sp>
      <p:sp>
        <p:nvSpPr>
          <p:cNvPr id="31" name="Text 29"/>
          <p:cNvSpPr/>
          <p:nvPr/>
        </p:nvSpPr>
        <p:spPr>
          <a:xfrm>
            <a:off x="6876288" y="1389888"/>
            <a:ext cx="1874520" cy="320040"/>
          </a:xfrm>
          <a:prstGeom prst="rect">
            <a:avLst/>
          </a:prstGeom>
          <a:noFill/>
          <a:ln/>
        </p:spPr>
        <p:txBody>
          <a:bodyPr wrap="square" lIns="0" tIns="0" rIns="0" bIns="0" rtlCol="0" anchor="ctr"/>
          <a:lstStyle/>
          <a:p>
            <a:pPr indent="0" marL="0">
              <a:buNone/>
            </a:pPr>
            <a:r>
              <a:rPr lang="en-US" sz="1050" b="1" dirty="0">
                <a:solidFill>
                  <a:srgbClr val="C9A84C"/>
                </a:solidFill>
              </a:rPr>
              <a:t>Constrained Models + Floor</a:t>
            </a:r>
            <a:endParaRPr lang="en-US" sz="1050" dirty="0"/>
          </a:p>
        </p:txBody>
      </p:sp>
      <p:sp>
        <p:nvSpPr>
          <p:cNvPr id="32" name="Text 30"/>
          <p:cNvSpPr/>
          <p:nvPr/>
        </p:nvSpPr>
        <p:spPr>
          <a:xfrm>
            <a:off x="6876288" y="1737360"/>
            <a:ext cx="1874520" cy="2834640"/>
          </a:xfrm>
          <a:prstGeom prst="rect">
            <a:avLst/>
          </a:prstGeom>
          <a:noFill/>
          <a:ln/>
        </p:spPr>
        <p:txBody>
          <a:bodyPr wrap="square" lIns="0" tIns="0" rIns="0" bIns="0" rtlCol="0" anchor="t"/>
          <a:lstStyle/>
          <a:p>
            <a:pPr indent="0" marL="0">
              <a:buNone/>
            </a:pPr>
            <a:r>
              <a:rPr lang="en-US" sz="950" dirty="0">
                <a:solidFill>
                  <a:srgbClr val="1A1A2E"/>
                </a:solidFill>
              </a:rPr>
              <a:t>A-IRB restricted for FIs / large corps.</a:t>
            </a:r>
            <a:endParaRPr lang="en-US" sz="950" dirty="0"/>
          </a:p>
          <a:p>
            <a:pPr indent="0" marL="0">
              <a:buNone/>
            </a:pPr>
            <a:r>
              <a:rPr lang="en-US" sz="950" dirty="0">
                <a:solidFill>
                  <a:srgbClr val="1A1A2E"/>
                </a:solidFill>
              </a:rPr>
              <a:t>LGD floors (25% unsecured).</a:t>
            </a:r>
            <a:endParaRPr lang="en-US" sz="950" dirty="0"/>
          </a:p>
          <a:p>
            <a:pPr indent="0" marL="0">
              <a:buNone/>
            </a:pPr>
            <a:r>
              <a:rPr lang="en-US" sz="950" dirty="0">
                <a:solidFill>
                  <a:srgbClr val="1A1A2E"/>
                </a:solidFill>
              </a:rPr>
              <a:t>SA-CCR mandatory for CCR.</a:t>
            </a:r>
            <a:endParaRPr lang="en-US" sz="950" dirty="0"/>
          </a:p>
          <a:p>
            <a:pPr indent="0" marL="0">
              <a:buNone/>
            </a:pPr>
            <a:r>
              <a:rPr lang="en-US" sz="950" dirty="0">
                <a:solidFill>
                  <a:srgbClr val="1A1A2E"/>
                </a:solidFill>
              </a:rPr>
              <a:t>Output floor: 72.5% of SA RWA.</a:t>
            </a:r>
            <a:endParaRPr lang="en-US" sz="950" dirty="0"/>
          </a:p>
        </p:txBody>
      </p:sp>
      <p:sp>
        <p:nvSpPr>
          <p:cNvPr id="33" name="Shape 31"/>
          <p:cNvSpPr/>
          <p:nvPr/>
        </p:nvSpPr>
        <p:spPr>
          <a:xfrm>
            <a:off x="365760" y="4645152"/>
            <a:ext cx="8412480" cy="594360"/>
          </a:xfrm>
          <a:prstGeom prst="rect">
            <a:avLst/>
          </a:prstGeom>
          <a:solidFill>
            <a:srgbClr val="D6EAF8"/>
          </a:solidFill>
          <a:ln/>
        </p:spPr>
      </p:sp>
      <p:sp>
        <p:nvSpPr>
          <p:cNvPr id="34" name="Shape 32"/>
          <p:cNvSpPr/>
          <p:nvPr/>
        </p:nvSpPr>
        <p:spPr>
          <a:xfrm>
            <a:off x="365760" y="4645152"/>
            <a:ext cx="1005840" cy="594360"/>
          </a:xfrm>
          <a:prstGeom prst="rect">
            <a:avLst/>
          </a:prstGeom>
          <a:solidFill>
            <a:srgbClr val="0E6B8A"/>
          </a:solidFill>
          <a:ln/>
        </p:spPr>
      </p:sp>
      <p:sp>
        <p:nvSpPr>
          <p:cNvPr id="35" name="Text 3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TRAJECTORY</a:t>
            </a:r>
            <a:endParaRPr lang="en-US" sz="900" dirty="0"/>
          </a:p>
        </p:txBody>
      </p:sp>
      <p:sp>
        <p:nvSpPr>
          <p:cNvPr id="36" name="Text 3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Flat rates → rating-sensitive weights → internal PD/LGD models → constrained models with standardised floors. Since 2017: more standardisation, higher input floors, less model discretion.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Market Risk: VaR → FRTB</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Market Risk: From Absence to FRTB</a:t>
            </a:r>
            <a:endParaRPr lang="en-US" sz="2200" dirty="0"/>
          </a:p>
        </p:txBody>
      </p:sp>
      <p:sp>
        <p:nvSpPr>
          <p:cNvPr id="6" name="Shape 4"/>
          <p:cNvSpPr/>
          <p:nvPr/>
        </p:nvSpPr>
        <p:spPr>
          <a:xfrm>
            <a:off x="274320" y="777240"/>
            <a:ext cx="4160520" cy="347472"/>
          </a:xfrm>
          <a:prstGeom prst="rect">
            <a:avLst/>
          </a:prstGeom>
          <a:solidFill>
            <a:srgbClr val="1B3A6B"/>
          </a:solidFill>
          <a:ln/>
        </p:spPr>
      </p:sp>
      <p:sp>
        <p:nvSpPr>
          <p:cNvPr id="7" name="Text 5"/>
          <p:cNvSpPr/>
          <p:nvPr/>
        </p:nvSpPr>
        <p:spPr>
          <a:xfrm>
            <a:off x="274320" y="777240"/>
            <a:ext cx="4160520" cy="347472"/>
          </a:xfrm>
          <a:prstGeom prst="rect">
            <a:avLst/>
          </a:prstGeom>
          <a:noFill/>
          <a:ln/>
        </p:spPr>
        <p:txBody>
          <a:bodyPr wrap="square" lIns="0" tIns="0" rIns="0" bIns="0" rtlCol="0" anchor="ctr"/>
          <a:lstStyle/>
          <a:p>
            <a:pPr algn="ctr" indent="0" marL="0">
              <a:buNone/>
            </a:pPr>
            <a:r>
              <a:rPr lang="en-US" sz="900" b="1" dirty="0">
                <a:solidFill>
                  <a:srgbClr val="FFFFFF"/>
                </a:solidFill>
              </a:rPr>
              <a:t>BASEL II / III — VALUE AT RISK (VaR)</a:t>
            </a:r>
            <a:endParaRPr lang="en-US" sz="900" dirty="0"/>
          </a:p>
        </p:txBody>
      </p:sp>
      <p:sp>
        <p:nvSpPr>
          <p:cNvPr id="8" name="Shape 6"/>
          <p:cNvSpPr/>
          <p:nvPr/>
        </p:nvSpPr>
        <p:spPr>
          <a:xfrm>
            <a:off x="274320" y="1124712"/>
            <a:ext cx="4160520" cy="347472"/>
          </a:xfrm>
          <a:prstGeom prst="rect">
            <a:avLst/>
          </a:prstGeom>
          <a:solidFill>
            <a:srgbClr val="FFFFFF"/>
          </a:solidFill>
          <a:ln/>
        </p:spPr>
      </p:sp>
      <p:sp>
        <p:nvSpPr>
          <p:cNvPr id="9" name="Text 7"/>
          <p:cNvSpPr/>
          <p:nvPr/>
        </p:nvSpPr>
        <p:spPr>
          <a:xfrm>
            <a:off x="384048" y="1124712"/>
            <a:ext cx="4005072" cy="347472"/>
          </a:xfrm>
          <a:prstGeom prst="rect">
            <a:avLst/>
          </a:prstGeom>
          <a:noFill/>
          <a:ln/>
        </p:spPr>
        <p:txBody>
          <a:bodyPr wrap="square" lIns="0" tIns="0" rIns="0" bIns="0" rtlCol="0" anchor="ctr"/>
          <a:lstStyle/>
          <a:p>
            <a:pPr indent="0" marL="0">
              <a:buNone/>
            </a:pPr>
            <a:r>
              <a:rPr lang="en-US" sz="950" dirty="0">
                <a:solidFill>
                  <a:srgbClr val="1A1A2E"/>
                </a:solidFill>
              </a:rPr>
              <a:t>99% confidence, 10-day holding period</a:t>
            </a:r>
            <a:endParaRPr lang="en-US" sz="950" dirty="0"/>
          </a:p>
        </p:txBody>
      </p:sp>
      <p:sp>
        <p:nvSpPr>
          <p:cNvPr id="10" name="Shape 8"/>
          <p:cNvSpPr/>
          <p:nvPr/>
        </p:nvSpPr>
        <p:spPr>
          <a:xfrm>
            <a:off x="274320" y="1472184"/>
            <a:ext cx="4160520" cy="347472"/>
          </a:xfrm>
          <a:prstGeom prst="rect">
            <a:avLst/>
          </a:prstGeom>
          <a:solidFill>
            <a:srgbClr val="F4F6F8"/>
          </a:solidFill>
          <a:ln/>
        </p:spPr>
      </p:sp>
      <p:sp>
        <p:nvSpPr>
          <p:cNvPr id="11" name="Text 9"/>
          <p:cNvSpPr/>
          <p:nvPr/>
        </p:nvSpPr>
        <p:spPr>
          <a:xfrm>
            <a:off x="384048" y="1472184"/>
            <a:ext cx="4005072" cy="347472"/>
          </a:xfrm>
          <a:prstGeom prst="rect">
            <a:avLst/>
          </a:prstGeom>
          <a:noFill/>
          <a:ln/>
        </p:spPr>
        <p:txBody>
          <a:bodyPr wrap="square" lIns="0" tIns="0" rIns="0" bIns="0" rtlCol="0" anchor="ctr"/>
          <a:lstStyle/>
          <a:p>
            <a:pPr indent="0" marL="0">
              <a:buNone/>
            </a:pPr>
            <a:r>
              <a:rPr lang="en-US" sz="950" dirty="0">
                <a:solidFill>
                  <a:srgbClr val="1A1A2E"/>
                </a:solidFill>
              </a:rPr>
              <a:t>VaR = the loss threshold you won't exceed 99% of the time</a:t>
            </a:r>
            <a:endParaRPr lang="en-US" sz="950" dirty="0"/>
          </a:p>
        </p:txBody>
      </p:sp>
      <p:sp>
        <p:nvSpPr>
          <p:cNvPr id="12" name="Shape 10"/>
          <p:cNvSpPr/>
          <p:nvPr/>
        </p:nvSpPr>
        <p:spPr>
          <a:xfrm>
            <a:off x="274320" y="1819656"/>
            <a:ext cx="4160520" cy="347472"/>
          </a:xfrm>
          <a:prstGeom prst="rect">
            <a:avLst/>
          </a:prstGeom>
          <a:solidFill>
            <a:srgbClr val="FFFFFF"/>
          </a:solidFill>
          <a:ln/>
        </p:spPr>
      </p:sp>
      <p:sp>
        <p:nvSpPr>
          <p:cNvPr id="13" name="Text 11"/>
          <p:cNvSpPr/>
          <p:nvPr/>
        </p:nvSpPr>
        <p:spPr>
          <a:xfrm>
            <a:off x="384048" y="1819656"/>
            <a:ext cx="4005072" cy="347472"/>
          </a:xfrm>
          <a:prstGeom prst="rect">
            <a:avLst/>
          </a:prstGeom>
          <a:noFill/>
          <a:ln/>
        </p:spPr>
        <p:txBody>
          <a:bodyPr wrap="square" lIns="0" tIns="0" rIns="0" bIns="0" rtlCol="0" anchor="ctr"/>
          <a:lstStyle/>
          <a:p>
            <a:pPr indent="0" marL="0">
              <a:buNone/>
            </a:pPr>
            <a:r>
              <a:rPr lang="en-US" sz="950" dirty="0">
                <a:solidFill>
                  <a:srgbClr val="1A1A2E"/>
                </a:solidFill>
              </a:rPr>
              <a:t>Does NOT capture severity of losses beyond the threshold</a:t>
            </a:r>
            <a:endParaRPr lang="en-US" sz="950" dirty="0"/>
          </a:p>
        </p:txBody>
      </p:sp>
      <p:sp>
        <p:nvSpPr>
          <p:cNvPr id="14" name="Shape 12"/>
          <p:cNvSpPr/>
          <p:nvPr/>
        </p:nvSpPr>
        <p:spPr>
          <a:xfrm>
            <a:off x="274320" y="2167128"/>
            <a:ext cx="4160520" cy="347472"/>
          </a:xfrm>
          <a:prstGeom prst="rect">
            <a:avLst/>
          </a:prstGeom>
          <a:solidFill>
            <a:srgbClr val="F4F6F8"/>
          </a:solidFill>
          <a:ln/>
        </p:spPr>
      </p:sp>
      <p:sp>
        <p:nvSpPr>
          <p:cNvPr id="15" name="Text 13"/>
          <p:cNvSpPr/>
          <p:nvPr/>
        </p:nvSpPr>
        <p:spPr>
          <a:xfrm>
            <a:off x="384048" y="2167128"/>
            <a:ext cx="4005072" cy="347472"/>
          </a:xfrm>
          <a:prstGeom prst="rect">
            <a:avLst/>
          </a:prstGeom>
          <a:noFill/>
          <a:ln/>
        </p:spPr>
        <p:txBody>
          <a:bodyPr wrap="square" lIns="0" tIns="0" rIns="0" bIns="0" rtlCol="0" anchor="ctr"/>
          <a:lstStyle/>
          <a:p>
            <a:pPr indent="0" marL="0">
              <a:buNone/>
            </a:pPr>
            <a:r>
              <a:rPr lang="en-US" sz="950" dirty="0">
                <a:solidFill>
                  <a:srgbClr val="1A1A2E"/>
                </a:solidFill>
              </a:rPr>
              <a:t>Procyclical: calibrated to recent history → low in calm markets</a:t>
            </a:r>
            <a:endParaRPr lang="en-US" sz="950" dirty="0"/>
          </a:p>
        </p:txBody>
      </p:sp>
      <p:sp>
        <p:nvSpPr>
          <p:cNvPr id="16" name="Shape 14"/>
          <p:cNvSpPr/>
          <p:nvPr/>
        </p:nvSpPr>
        <p:spPr>
          <a:xfrm>
            <a:off x="274320" y="2514600"/>
            <a:ext cx="4160520" cy="347472"/>
          </a:xfrm>
          <a:prstGeom prst="rect">
            <a:avLst/>
          </a:prstGeom>
          <a:solidFill>
            <a:srgbClr val="FFFFFF"/>
          </a:solidFill>
          <a:ln/>
        </p:spPr>
      </p:sp>
      <p:sp>
        <p:nvSpPr>
          <p:cNvPr id="17" name="Text 15"/>
          <p:cNvSpPr/>
          <p:nvPr/>
        </p:nvSpPr>
        <p:spPr>
          <a:xfrm>
            <a:off x="384048" y="2514600"/>
            <a:ext cx="4005072" cy="347472"/>
          </a:xfrm>
          <a:prstGeom prst="rect">
            <a:avLst/>
          </a:prstGeom>
          <a:noFill/>
          <a:ln/>
        </p:spPr>
        <p:txBody>
          <a:bodyPr wrap="square" lIns="0" tIns="0" rIns="0" bIns="0" rtlCol="0" anchor="ctr"/>
          <a:lstStyle/>
          <a:p>
            <a:pPr indent="0" marL="0">
              <a:buNone/>
            </a:pPr>
            <a:r>
              <a:rPr lang="en-US" sz="950" dirty="0">
                <a:solidFill>
                  <a:srgbClr val="1A1A2E"/>
                </a:solidFill>
              </a:rPr>
              <a:t>Basel III added Stressed VaR (2007–08 window) — doubled charges</a:t>
            </a:r>
            <a:endParaRPr lang="en-US" sz="950" dirty="0"/>
          </a:p>
        </p:txBody>
      </p:sp>
      <p:sp>
        <p:nvSpPr>
          <p:cNvPr id="18" name="Shape 16"/>
          <p:cNvSpPr/>
          <p:nvPr/>
        </p:nvSpPr>
        <p:spPr>
          <a:xfrm>
            <a:off x="274320" y="2862072"/>
            <a:ext cx="4160520" cy="347472"/>
          </a:xfrm>
          <a:prstGeom prst="rect">
            <a:avLst/>
          </a:prstGeom>
          <a:solidFill>
            <a:srgbClr val="F4F6F8"/>
          </a:solidFill>
          <a:ln/>
        </p:spPr>
      </p:sp>
      <p:sp>
        <p:nvSpPr>
          <p:cNvPr id="19" name="Text 17"/>
          <p:cNvSpPr/>
          <p:nvPr/>
        </p:nvSpPr>
        <p:spPr>
          <a:xfrm>
            <a:off x="384048" y="2862072"/>
            <a:ext cx="4005072" cy="347472"/>
          </a:xfrm>
          <a:prstGeom prst="rect">
            <a:avLst/>
          </a:prstGeom>
          <a:noFill/>
          <a:ln/>
        </p:spPr>
        <p:txBody>
          <a:bodyPr wrap="square" lIns="0" tIns="0" rIns="0" bIns="0" rtlCol="0" anchor="ctr"/>
          <a:lstStyle/>
          <a:p>
            <a:pPr indent="0" marL="0">
              <a:buNone/>
            </a:pPr>
            <a:r>
              <a:rPr lang="en-US" sz="950" dirty="0">
                <a:solidFill>
                  <a:srgbClr val="1A1A2E"/>
                </a:solidFill>
              </a:rPr>
              <a:t>Multiple factor: mc ≥ 3.0, rising with backtesting exceptions</a:t>
            </a:r>
            <a:endParaRPr lang="en-US" sz="950" dirty="0"/>
          </a:p>
        </p:txBody>
      </p:sp>
      <p:sp>
        <p:nvSpPr>
          <p:cNvPr id="20" name="Shape 18"/>
          <p:cNvSpPr/>
          <p:nvPr/>
        </p:nvSpPr>
        <p:spPr>
          <a:xfrm>
            <a:off x="4709160" y="777240"/>
            <a:ext cx="4160520" cy="347472"/>
          </a:xfrm>
          <a:prstGeom prst="rect">
            <a:avLst/>
          </a:prstGeom>
          <a:solidFill>
            <a:srgbClr val="0E6B8A"/>
          </a:solidFill>
          <a:ln/>
        </p:spPr>
      </p:sp>
      <p:sp>
        <p:nvSpPr>
          <p:cNvPr id="21" name="Text 19"/>
          <p:cNvSpPr/>
          <p:nvPr/>
        </p:nvSpPr>
        <p:spPr>
          <a:xfrm>
            <a:off x="4709160" y="777240"/>
            <a:ext cx="4160520" cy="347472"/>
          </a:xfrm>
          <a:prstGeom prst="rect">
            <a:avLst/>
          </a:prstGeom>
          <a:noFill/>
          <a:ln/>
        </p:spPr>
        <p:txBody>
          <a:bodyPr wrap="square" lIns="0" tIns="0" rIns="0" bIns="0" rtlCol="0" anchor="ctr"/>
          <a:lstStyle/>
          <a:p>
            <a:pPr algn="ctr" indent="0" marL="0">
              <a:buNone/>
            </a:pPr>
            <a:r>
              <a:rPr lang="en-US" sz="900" b="1" dirty="0">
                <a:solidFill>
                  <a:srgbClr val="FFFFFF"/>
                </a:solidFill>
              </a:rPr>
              <a:t>BASEL IV — EXPECTED SHORTFALL (FRTB)</a:t>
            </a:r>
            <a:endParaRPr lang="en-US" sz="900" dirty="0"/>
          </a:p>
        </p:txBody>
      </p:sp>
      <p:sp>
        <p:nvSpPr>
          <p:cNvPr id="22" name="Shape 20"/>
          <p:cNvSpPr/>
          <p:nvPr/>
        </p:nvSpPr>
        <p:spPr>
          <a:xfrm>
            <a:off x="4709160" y="1124712"/>
            <a:ext cx="4160520" cy="347472"/>
          </a:xfrm>
          <a:prstGeom prst="rect">
            <a:avLst/>
          </a:prstGeom>
          <a:solidFill>
            <a:srgbClr val="FFFFFF"/>
          </a:solidFill>
          <a:ln/>
        </p:spPr>
      </p:sp>
      <p:sp>
        <p:nvSpPr>
          <p:cNvPr id="23" name="Text 21"/>
          <p:cNvSpPr/>
          <p:nvPr/>
        </p:nvSpPr>
        <p:spPr>
          <a:xfrm>
            <a:off x="4818888" y="1124712"/>
            <a:ext cx="4005072" cy="347472"/>
          </a:xfrm>
          <a:prstGeom prst="rect">
            <a:avLst/>
          </a:prstGeom>
          <a:noFill/>
          <a:ln/>
        </p:spPr>
        <p:txBody>
          <a:bodyPr wrap="square" lIns="0" tIns="0" rIns="0" bIns="0" rtlCol="0" anchor="ctr"/>
          <a:lstStyle/>
          <a:p>
            <a:pPr indent="0" marL="0">
              <a:buNone/>
            </a:pPr>
            <a:r>
              <a:rPr lang="en-US" sz="950" dirty="0">
                <a:solidFill>
                  <a:srgbClr val="1A1A2E"/>
                </a:solidFill>
              </a:rPr>
              <a:t>97.5% confidence — captures SEVERITY of tail losses</a:t>
            </a:r>
            <a:endParaRPr lang="en-US" sz="950" dirty="0"/>
          </a:p>
        </p:txBody>
      </p:sp>
      <p:sp>
        <p:nvSpPr>
          <p:cNvPr id="24" name="Shape 22"/>
          <p:cNvSpPr/>
          <p:nvPr/>
        </p:nvSpPr>
        <p:spPr>
          <a:xfrm>
            <a:off x="4709160" y="1472184"/>
            <a:ext cx="4160520" cy="347472"/>
          </a:xfrm>
          <a:prstGeom prst="rect">
            <a:avLst/>
          </a:prstGeom>
          <a:solidFill>
            <a:srgbClr val="F4F6F8"/>
          </a:solidFill>
          <a:ln/>
        </p:spPr>
      </p:sp>
      <p:sp>
        <p:nvSpPr>
          <p:cNvPr id="25" name="Text 23"/>
          <p:cNvSpPr/>
          <p:nvPr/>
        </p:nvSpPr>
        <p:spPr>
          <a:xfrm>
            <a:off x="4818888" y="1472184"/>
            <a:ext cx="4005072" cy="347472"/>
          </a:xfrm>
          <a:prstGeom prst="rect">
            <a:avLst/>
          </a:prstGeom>
          <a:noFill/>
          <a:ln/>
        </p:spPr>
        <p:txBody>
          <a:bodyPr wrap="square" lIns="0" tIns="0" rIns="0" bIns="0" rtlCol="0" anchor="ctr"/>
          <a:lstStyle/>
          <a:p>
            <a:pPr indent="0" marL="0">
              <a:buNone/>
            </a:pPr>
            <a:r>
              <a:rPr lang="en-US" sz="950" dirty="0">
                <a:solidFill>
                  <a:srgbClr val="1A1A2E"/>
                </a:solidFill>
              </a:rPr>
              <a:t>ES = average loss given it exceeds the 97.5th percentile</a:t>
            </a:r>
            <a:endParaRPr lang="en-US" sz="950" dirty="0"/>
          </a:p>
        </p:txBody>
      </p:sp>
      <p:sp>
        <p:nvSpPr>
          <p:cNvPr id="26" name="Shape 24"/>
          <p:cNvSpPr/>
          <p:nvPr/>
        </p:nvSpPr>
        <p:spPr>
          <a:xfrm>
            <a:off x="4709160" y="1819656"/>
            <a:ext cx="4160520" cy="347472"/>
          </a:xfrm>
          <a:prstGeom prst="rect">
            <a:avLst/>
          </a:prstGeom>
          <a:solidFill>
            <a:srgbClr val="FFFFFF"/>
          </a:solidFill>
          <a:ln/>
        </p:spPr>
      </p:sp>
      <p:sp>
        <p:nvSpPr>
          <p:cNvPr id="27" name="Text 25"/>
          <p:cNvSpPr/>
          <p:nvPr/>
        </p:nvSpPr>
        <p:spPr>
          <a:xfrm>
            <a:off x="4818888" y="1819656"/>
            <a:ext cx="4005072" cy="347472"/>
          </a:xfrm>
          <a:prstGeom prst="rect">
            <a:avLst/>
          </a:prstGeom>
          <a:noFill/>
          <a:ln/>
        </p:spPr>
        <p:txBody>
          <a:bodyPr wrap="square" lIns="0" tIns="0" rIns="0" bIns="0" rtlCol="0" anchor="ctr"/>
          <a:lstStyle/>
          <a:p>
            <a:pPr indent="0" marL="0">
              <a:buNone/>
            </a:pPr>
            <a:r>
              <a:rPr lang="en-US" sz="950" dirty="0">
                <a:solidFill>
                  <a:srgbClr val="1A1A2E"/>
                </a:solidFill>
              </a:rPr>
              <a:t>Calibrated to stress period — structurally higher charges</a:t>
            </a:r>
            <a:endParaRPr lang="en-US" sz="950" dirty="0"/>
          </a:p>
        </p:txBody>
      </p:sp>
      <p:sp>
        <p:nvSpPr>
          <p:cNvPr id="28" name="Shape 26"/>
          <p:cNvSpPr/>
          <p:nvPr/>
        </p:nvSpPr>
        <p:spPr>
          <a:xfrm>
            <a:off x="4709160" y="2167128"/>
            <a:ext cx="4160520" cy="347472"/>
          </a:xfrm>
          <a:prstGeom prst="rect">
            <a:avLst/>
          </a:prstGeom>
          <a:solidFill>
            <a:srgbClr val="F4F6F8"/>
          </a:solidFill>
          <a:ln/>
        </p:spPr>
      </p:sp>
      <p:sp>
        <p:nvSpPr>
          <p:cNvPr id="29" name="Text 27"/>
          <p:cNvSpPr/>
          <p:nvPr/>
        </p:nvSpPr>
        <p:spPr>
          <a:xfrm>
            <a:off x="4818888" y="2167128"/>
            <a:ext cx="4005072" cy="347472"/>
          </a:xfrm>
          <a:prstGeom prst="rect">
            <a:avLst/>
          </a:prstGeom>
          <a:noFill/>
          <a:ln/>
        </p:spPr>
        <p:txBody>
          <a:bodyPr wrap="square" lIns="0" tIns="0" rIns="0" bIns="0" rtlCol="0" anchor="ctr"/>
          <a:lstStyle/>
          <a:p>
            <a:pPr indent="0" marL="0">
              <a:buNone/>
            </a:pPr>
            <a:r>
              <a:rPr lang="en-US" sz="950" dirty="0">
                <a:solidFill>
                  <a:srgbClr val="1A1A2E"/>
                </a:solidFill>
              </a:rPr>
              <a:t>Liquidity horizons 10–120 days by risk factor class</a:t>
            </a:r>
            <a:endParaRPr lang="en-US" sz="950" dirty="0"/>
          </a:p>
        </p:txBody>
      </p:sp>
      <p:sp>
        <p:nvSpPr>
          <p:cNvPr id="30" name="Shape 28"/>
          <p:cNvSpPr/>
          <p:nvPr/>
        </p:nvSpPr>
        <p:spPr>
          <a:xfrm>
            <a:off x="4709160" y="2514600"/>
            <a:ext cx="4160520" cy="347472"/>
          </a:xfrm>
          <a:prstGeom prst="rect">
            <a:avLst/>
          </a:prstGeom>
          <a:solidFill>
            <a:srgbClr val="FFFFFF"/>
          </a:solidFill>
          <a:ln/>
        </p:spPr>
      </p:sp>
      <p:sp>
        <p:nvSpPr>
          <p:cNvPr id="31" name="Text 29"/>
          <p:cNvSpPr/>
          <p:nvPr/>
        </p:nvSpPr>
        <p:spPr>
          <a:xfrm>
            <a:off x="4818888" y="2514600"/>
            <a:ext cx="4005072" cy="347472"/>
          </a:xfrm>
          <a:prstGeom prst="rect">
            <a:avLst/>
          </a:prstGeom>
          <a:noFill/>
          <a:ln/>
        </p:spPr>
        <p:txBody>
          <a:bodyPr wrap="square" lIns="0" tIns="0" rIns="0" bIns="0" rtlCol="0" anchor="ctr"/>
          <a:lstStyle/>
          <a:p>
            <a:pPr indent="0" marL="0">
              <a:buNone/>
            </a:pPr>
            <a:r>
              <a:rPr lang="en-US" sz="950" dirty="0">
                <a:solidFill>
                  <a:srgbClr val="1A1A2E"/>
                </a:solidFill>
              </a:rPr>
              <a:t>P&amp;L Attribution Test: model must explain actual P&amp;L</a:t>
            </a:r>
            <a:endParaRPr lang="en-US" sz="950" dirty="0"/>
          </a:p>
        </p:txBody>
      </p:sp>
      <p:sp>
        <p:nvSpPr>
          <p:cNvPr id="32" name="Shape 30"/>
          <p:cNvSpPr/>
          <p:nvPr/>
        </p:nvSpPr>
        <p:spPr>
          <a:xfrm>
            <a:off x="4709160" y="2862072"/>
            <a:ext cx="4160520" cy="347472"/>
          </a:xfrm>
          <a:prstGeom prst="rect">
            <a:avLst/>
          </a:prstGeom>
          <a:solidFill>
            <a:srgbClr val="F4F6F8"/>
          </a:solidFill>
          <a:ln/>
        </p:spPr>
      </p:sp>
      <p:sp>
        <p:nvSpPr>
          <p:cNvPr id="33" name="Text 31"/>
          <p:cNvSpPr/>
          <p:nvPr/>
        </p:nvSpPr>
        <p:spPr>
          <a:xfrm>
            <a:off x="4818888" y="2862072"/>
            <a:ext cx="4005072" cy="347472"/>
          </a:xfrm>
          <a:prstGeom prst="rect">
            <a:avLst/>
          </a:prstGeom>
          <a:noFill/>
          <a:ln/>
        </p:spPr>
        <p:txBody>
          <a:bodyPr wrap="square" lIns="0" tIns="0" rIns="0" bIns="0" rtlCol="0" anchor="ctr"/>
          <a:lstStyle/>
          <a:p>
            <a:pPr indent="0" marL="0">
              <a:buNone/>
            </a:pPr>
            <a:r>
              <a:rPr lang="en-US" sz="950" dirty="0">
                <a:solidFill>
                  <a:srgbClr val="1A1A2E"/>
                </a:solidFill>
              </a:rPr>
              <a:t>NMRF: illiquid/sparse risk factors → punitive stress charge</a:t>
            </a:r>
            <a:endParaRPr lang="en-US" sz="950" dirty="0"/>
          </a:p>
        </p:txBody>
      </p:sp>
      <p:sp>
        <p:nvSpPr>
          <p:cNvPr id="34" name="Shape 32"/>
          <p:cNvSpPr/>
          <p:nvPr/>
        </p:nvSpPr>
        <p:spPr>
          <a:xfrm>
            <a:off x="4453128" y="777240"/>
            <a:ext cx="237744" cy="3858768"/>
          </a:xfrm>
          <a:prstGeom prst="rect">
            <a:avLst/>
          </a:prstGeom>
          <a:solidFill>
            <a:srgbClr val="F4F6F8"/>
          </a:solidFill>
          <a:ln/>
        </p:spPr>
      </p:sp>
      <p:sp>
        <p:nvSpPr>
          <p:cNvPr id="35" name="Text 33"/>
          <p:cNvSpPr/>
          <p:nvPr/>
        </p:nvSpPr>
        <p:spPr>
          <a:xfrm>
            <a:off x="4453128" y="2468880"/>
            <a:ext cx="237744" cy="365760"/>
          </a:xfrm>
          <a:prstGeom prst="rect">
            <a:avLst/>
          </a:prstGeom>
          <a:noFill/>
          <a:ln/>
        </p:spPr>
        <p:txBody>
          <a:bodyPr wrap="square" lIns="0" tIns="0" rIns="0" bIns="0" rtlCol="0" anchor="ctr"/>
          <a:lstStyle/>
          <a:p>
            <a:pPr algn="ctr" indent="0" marL="0">
              <a:buNone/>
            </a:pPr>
            <a:r>
              <a:rPr lang="en-US" sz="1100" b="1" dirty="0">
                <a:solidFill>
                  <a:srgbClr val="8899AA"/>
                </a:solidFill>
              </a:rPr>
              <a:t>VS</a:t>
            </a:r>
            <a:endParaRPr lang="en-US" sz="1100" dirty="0"/>
          </a:p>
        </p:txBody>
      </p:sp>
      <p:sp>
        <p:nvSpPr>
          <p:cNvPr id="36" name="Shape 34"/>
          <p:cNvSpPr/>
          <p:nvPr/>
        </p:nvSpPr>
        <p:spPr>
          <a:xfrm>
            <a:off x="365760" y="4645152"/>
            <a:ext cx="8412480" cy="594360"/>
          </a:xfrm>
          <a:prstGeom prst="rect">
            <a:avLst/>
          </a:prstGeom>
          <a:solidFill>
            <a:srgbClr val="D6EAF8"/>
          </a:solidFill>
          <a:ln/>
        </p:spPr>
      </p:sp>
      <p:sp>
        <p:nvSpPr>
          <p:cNvPr id="37" name="Shape 35"/>
          <p:cNvSpPr/>
          <p:nvPr/>
        </p:nvSpPr>
        <p:spPr>
          <a:xfrm>
            <a:off x="365760" y="4645152"/>
            <a:ext cx="1005840" cy="594360"/>
          </a:xfrm>
          <a:prstGeom prst="rect">
            <a:avLst/>
          </a:prstGeom>
          <a:solidFill>
            <a:srgbClr val="0E6B8A"/>
          </a:solidFill>
          <a:ln/>
        </p:spPr>
      </p:sp>
      <p:sp>
        <p:nvSpPr>
          <p:cNvPr id="38" name="Text 36"/>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SHIFT</a:t>
            </a:r>
            <a:endParaRPr lang="en-US" sz="900" dirty="0"/>
          </a:p>
        </p:txBody>
      </p:sp>
      <p:sp>
        <p:nvSpPr>
          <p:cNvPr id="39" name="Text 37"/>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VaR tells you the worst case 99% of the time — but says nothing about HOW BAD the worst 1% is. ES captures that tail severity. For a bank, it is the tail that causes failure.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Operational Risk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Operational Risk: From Absent to SMA</a:t>
            </a:r>
            <a:endParaRPr lang="en-US" sz="2200" dirty="0"/>
          </a:p>
        </p:txBody>
      </p:sp>
      <p:sp>
        <p:nvSpPr>
          <p:cNvPr id="6" name="Shape 4"/>
          <p:cNvSpPr/>
          <p:nvPr/>
        </p:nvSpPr>
        <p:spPr>
          <a:xfrm>
            <a:off x="256032" y="777240"/>
            <a:ext cx="1627632" cy="38404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1627632" cy="658368"/>
          </a:xfrm>
          <a:prstGeom prst="rect">
            <a:avLst/>
          </a:prstGeom>
          <a:solidFill>
            <a:srgbClr val="8899AA"/>
          </a:solidFill>
          <a:ln/>
        </p:spPr>
      </p:sp>
      <p:sp>
        <p:nvSpPr>
          <p:cNvPr id="8" name="Text 6"/>
          <p:cNvSpPr/>
          <p:nvPr/>
        </p:nvSpPr>
        <p:spPr>
          <a:xfrm>
            <a:off x="329184" y="795528"/>
            <a:ext cx="1481328" cy="320040"/>
          </a:xfrm>
          <a:prstGeom prst="rect">
            <a:avLst/>
          </a:prstGeom>
          <a:noFill/>
          <a:ln/>
        </p:spPr>
        <p:txBody>
          <a:bodyPr wrap="square" lIns="0" tIns="0" rIns="0" bIns="0" rtlCol="0" anchor="ctr"/>
          <a:lstStyle/>
          <a:p>
            <a:pPr indent="0" marL="0">
              <a:buNone/>
            </a:pPr>
            <a:r>
              <a:rPr lang="en-US" sz="1000" b="1" dirty="0">
                <a:solidFill>
                  <a:srgbClr val="FFFFFF"/>
                </a:solidFill>
              </a:rPr>
              <a:t>Basel I</a:t>
            </a:r>
            <a:endParaRPr lang="en-US" sz="1000" dirty="0"/>
          </a:p>
        </p:txBody>
      </p:sp>
      <p:sp>
        <p:nvSpPr>
          <p:cNvPr id="9" name="Text 7"/>
          <p:cNvSpPr/>
          <p:nvPr/>
        </p:nvSpPr>
        <p:spPr>
          <a:xfrm>
            <a:off x="329184" y="1097280"/>
            <a:ext cx="1481328" cy="274320"/>
          </a:xfrm>
          <a:prstGeom prst="rect">
            <a:avLst/>
          </a:prstGeom>
          <a:noFill/>
          <a:ln/>
        </p:spPr>
        <p:txBody>
          <a:bodyPr wrap="square" lIns="0" tIns="0" rIns="0" bIns="0" rtlCol="0" anchor="ctr"/>
          <a:lstStyle/>
          <a:p>
            <a:pPr indent="0" marL="0">
              <a:buNone/>
            </a:pPr>
            <a:r>
              <a:rPr lang="en-US" sz="800" i="1" dirty="0">
                <a:solidFill>
                  <a:srgbClr val="FFFFFF"/>
                </a:solidFill>
              </a:rPr>
              <a:t>ABSENT</a:t>
            </a:r>
            <a:endParaRPr lang="en-US" sz="800" dirty="0"/>
          </a:p>
        </p:txBody>
      </p:sp>
      <p:sp>
        <p:nvSpPr>
          <p:cNvPr id="10" name="Text 8"/>
          <p:cNvSpPr/>
          <p:nvPr/>
        </p:nvSpPr>
        <p:spPr>
          <a:xfrm>
            <a:off x="347472" y="1508760"/>
            <a:ext cx="1444752" cy="2999232"/>
          </a:xfrm>
          <a:prstGeom prst="rect">
            <a:avLst/>
          </a:prstGeom>
          <a:noFill/>
          <a:ln/>
        </p:spPr>
        <p:txBody>
          <a:bodyPr wrap="square" lIns="0" tIns="0" rIns="0" bIns="0" rtlCol="0" anchor="t"/>
          <a:lstStyle/>
          <a:p>
            <a:pPr indent="0" marL="0">
              <a:buNone/>
            </a:pPr>
            <a:r>
              <a:rPr lang="en-US" sz="950" dirty="0">
                <a:solidFill>
                  <a:srgbClr val="1A1A2E"/>
                </a:solidFill>
              </a:rPr>
              <a:t>No explicit capital charge. OpRisk losses implicitly absorbed by the general 8% cushion — no quantification, no disclosure.</a:t>
            </a:r>
            <a:endParaRPr lang="en-US" sz="950" dirty="0"/>
          </a:p>
        </p:txBody>
      </p:sp>
      <p:sp>
        <p:nvSpPr>
          <p:cNvPr id="11" name="Shape 9"/>
          <p:cNvSpPr/>
          <p:nvPr/>
        </p:nvSpPr>
        <p:spPr>
          <a:xfrm>
            <a:off x="1993392" y="777240"/>
            <a:ext cx="1627632" cy="38404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2" name="Shape 10"/>
          <p:cNvSpPr/>
          <p:nvPr/>
        </p:nvSpPr>
        <p:spPr>
          <a:xfrm>
            <a:off x="1993392" y="777240"/>
            <a:ext cx="1627632" cy="658368"/>
          </a:xfrm>
          <a:prstGeom prst="rect">
            <a:avLst/>
          </a:prstGeom>
          <a:solidFill>
            <a:srgbClr val="888888"/>
          </a:solidFill>
          <a:ln/>
        </p:spPr>
      </p:sp>
      <p:sp>
        <p:nvSpPr>
          <p:cNvPr id="13" name="Text 11"/>
          <p:cNvSpPr/>
          <p:nvPr/>
        </p:nvSpPr>
        <p:spPr>
          <a:xfrm>
            <a:off x="2066544" y="795528"/>
            <a:ext cx="1481328" cy="320040"/>
          </a:xfrm>
          <a:prstGeom prst="rect">
            <a:avLst/>
          </a:prstGeom>
          <a:noFill/>
          <a:ln/>
        </p:spPr>
        <p:txBody>
          <a:bodyPr wrap="square" lIns="0" tIns="0" rIns="0" bIns="0" rtlCol="0" anchor="ctr"/>
          <a:lstStyle/>
          <a:p>
            <a:pPr indent="0" marL="0">
              <a:buNone/>
            </a:pPr>
            <a:r>
              <a:rPr lang="en-US" sz="1000" b="1" dirty="0">
                <a:solidFill>
                  <a:srgbClr val="FFFFFF"/>
                </a:solidFill>
              </a:rPr>
              <a:t>Basel II — BIA</a:t>
            </a:r>
            <a:endParaRPr lang="en-US" sz="1000" dirty="0"/>
          </a:p>
        </p:txBody>
      </p:sp>
      <p:sp>
        <p:nvSpPr>
          <p:cNvPr id="14" name="Text 12"/>
          <p:cNvSpPr/>
          <p:nvPr/>
        </p:nvSpPr>
        <p:spPr>
          <a:xfrm>
            <a:off x="2066544" y="1097280"/>
            <a:ext cx="1481328" cy="274320"/>
          </a:xfrm>
          <a:prstGeom prst="rect">
            <a:avLst/>
          </a:prstGeom>
          <a:noFill/>
          <a:ln/>
        </p:spPr>
        <p:txBody>
          <a:bodyPr wrap="square" lIns="0" tIns="0" rIns="0" bIns="0" rtlCol="0" anchor="ctr"/>
          <a:lstStyle/>
          <a:p>
            <a:pPr indent="0" marL="0">
              <a:buNone/>
            </a:pPr>
            <a:r>
              <a:rPr lang="en-US" sz="800" i="1" dirty="0">
                <a:solidFill>
                  <a:srgbClr val="FFFFFF"/>
                </a:solidFill>
              </a:rPr>
              <a:t>BASIC</a:t>
            </a:r>
            <a:endParaRPr lang="en-US" sz="800" dirty="0"/>
          </a:p>
        </p:txBody>
      </p:sp>
      <p:sp>
        <p:nvSpPr>
          <p:cNvPr id="15" name="Text 13"/>
          <p:cNvSpPr/>
          <p:nvPr/>
        </p:nvSpPr>
        <p:spPr>
          <a:xfrm>
            <a:off x="2084832" y="1508760"/>
            <a:ext cx="1444752" cy="2999232"/>
          </a:xfrm>
          <a:prstGeom prst="rect">
            <a:avLst/>
          </a:prstGeom>
          <a:noFill/>
          <a:ln/>
        </p:spPr>
        <p:txBody>
          <a:bodyPr wrap="square" lIns="0" tIns="0" rIns="0" bIns="0" rtlCol="0" anchor="t"/>
          <a:lstStyle/>
          <a:p>
            <a:pPr indent="0" marL="0">
              <a:buNone/>
            </a:pPr>
            <a:r>
              <a:rPr lang="en-US" sz="950" dirty="0">
                <a:solidFill>
                  <a:srgbClr val="1A1A2E"/>
                </a:solidFill>
              </a:rPr>
              <a:t>Basic Indicator Approach: 15% × avg annual gross income (3yr). Simple but crude — same rate regardless of risk quality.</a:t>
            </a:r>
            <a:endParaRPr lang="en-US" sz="950" dirty="0"/>
          </a:p>
        </p:txBody>
      </p:sp>
      <p:sp>
        <p:nvSpPr>
          <p:cNvPr id="16" name="Shape 14"/>
          <p:cNvSpPr/>
          <p:nvPr/>
        </p:nvSpPr>
        <p:spPr>
          <a:xfrm>
            <a:off x="3730752" y="777240"/>
            <a:ext cx="1627632" cy="38404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3730752" y="777240"/>
            <a:ext cx="1627632" cy="658368"/>
          </a:xfrm>
          <a:prstGeom prst="rect">
            <a:avLst/>
          </a:prstGeom>
          <a:solidFill>
            <a:srgbClr val="0E6B8A"/>
          </a:solidFill>
          <a:ln/>
        </p:spPr>
      </p:sp>
      <p:sp>
        <p:nvSpPr>
          <p:cNvPr id="18" name="Text 16"/>
          <p:cNvSpPr/>
          <p:nvPr/>
        </p:nvSpPr>
        <p:spPr>
          <a:xfrm>
            <a:off x="3803904" y="795528"/>
            <a:ext cx="1481328" cy="320040"/>
          </a:xfrm>
          <a:prstGeom prst="rect">
            <a:avLst/>
          </a:prstGeom>
          <a:noFill/>
          <a:ln/>
        </p:spPr>
        <p:txBody>
          <a:bodyPr wrap="square" lIns="0" tIns="0" rIns="0" bIns="0" rtlCol="0" anchor="ctr"/>
          <a:lstStyle/>
          <a:p>
            <a:pPr indent="0" marL="0">
              <a:buNone/>
            </a:pPr>
            <a:r>
              <a:rPr lang="en-US" sz="1000" b="1" dirty="0">
                <a:solidFill>
                  <a:srgbClr val="FFFFFF"/>
                </a:solidFill>
              </a:rPr>
              <a:t>Basel II — TSA</a:t>
            </a:r>
            <a:endParaRPr lang="en-US" sz="1000" dirty="0"/>
          </a:p>
        </p:txBody>
      </p:sp>
      <p:sp>
        <p:nvSpPr>
          <p:cNvPr id="19" name="Text 17"/>
          <p:cNvSpPr/>
          <p:nvPr/>
        </p:nvSpPr>
        <p:spPr>
          <a:xfrm>
            <a:off x="3803904" y="1097280"/>
            <a:ext cx="1481328" cy="274320"/>
          </a:xfrm>
          <a:prstGeom prst="rect">
            <a:avLst/>
          </a:prstGeom>
          <a:noFill/>
          <a:ln/>
        </p:spPr>
        <p:txBody>
          <a:bodyPr wrap="square" lIns="0" tIns="0" rIns="0" bIns="0" rtlCol="0" anchor="ctr"/>
          <a:lstStyle/>
          <a:p>
            <a:pPr indent="0" marL="0">
              <a:buNone/>
            </a:pPr>
            <a:r>
              <a:rPr lang="en-US" sz="800" i="1" dirty="0">
                <a:solidFill>
                  <a:srgbClr val="FFFFFF"/>
                </a:solidFill>
              </a:rPr>
              <a:t>STANDARD</a:t>
            </a:r>
            <a:endParaRPr lang="en-US" sz="800" dirty="0"/>
          </a:p>
        </p:txBody>
      </p:sp>
      <p:sp>
        <p:nvSpPr>
          <p:cNvPr id="20" name="Text 18"/>
          <p:cNvSpPr/>
          <p:nvPr/>
        </p:nvSpPr>
        <p:spPr>
          <a:xfrm>
            <a:off x="3822192" y="1508760"/>
            <a:ext cx="1444752" cy="2999232"/>
          </a:xfrm>
          <a:prstGeom prst="rect">
            <a:avLst/>
          </a:prstGeom>
          <a:noFill/>
          <a:ln/>
        </p:spPr>
        <p:txBody>
          <a:bodyPr wrap="square" lIns="0" tIns="0" rIns="0" bIns="0" rtlCol="0" anchor="t"/>
          <a:lstStyle/>
          <a:p>
            <a:pPr indent="0" marL="0">
              <a:buNone/>
            </a:pPr>
            <a:r>
              <a:rPr lang="en-US" sz="950" dirty="0">
                <a:solidFill>
                  <a:srgbClr val="1A1A2E"/>
                </a:solidFill>
              </a:rPr>
              <a:t>8 business lines, beta 12–18% applied to gross income per line. Retail banking 12%, trading &amp; sales 18%. More granular but still income-based.</a:t>
            </a:r>
            <a:endParaRPr lang="en-US" sz="950" dirty="0"/>
          </a:p>
        </p:txBody>
      </p:sp>
      <p:sp>
        <p:nvSpPr>
          <p:cNvPr id="21" name="Shape 19"/>
          <p:cNvSpPr/>
          <p:nvPr/>
        </p:nvSpPr>
        <p:spPr>
          <a:xfrm>
            <a:off x="5468112" y="777240"/>
            <a:ext cx="1627632" cy="38404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2" name="Shape 20"/>
          <p:cNvSpPr/>
          <p:nvPr/>
        </p:nvSpPr>
        <p:spPr>
          <a:xfrm>
            <a:off x="5468112" y="777240"/>
            <a:ext cx="1627632" cy="658368"/>
          </a:xfrm>
          <a:prstGeom prst="rect">
            <a:avLst/>
          </a:prstGeom>
          <a:solidFill>
            <a:srgbClr val="1B3A6B"/>
          </a:solidFill>
          <a:ln/>
        </p:spPr>
      </p:sp>
      <p:sp>
        <p:nvSpPr>
          <p:cNvPr id="23" name="Text 21"/>
          <p:cNvSpPr/>
          <p:nvPr/>
        </p:nvSpPr>
        <p:spPr>
          <a:xfrm>
            <a:off x="5541264" y="795528"/>
            <a:ext cx="1481328" cy="320040"/>
          </a:xfrm>
          <a:prstGeom prst="rect">
            <a:avLst/>
          </a:prstGeom>
          <a:noFill/>
          <a:ln/>
        </p:spPr>
        <p:txBody>
          <a:bodyPr wrap="square" lIns="0" tIns="0" rIns="0" bIns="0" rtlCol="0" anchor="ctr"/>
          <a:lstStyle/>
          <a:p>
            <a:pPr indent="0" marL="0">
              <a:buNone/>
            </a:pPr>
            <a:r>
              <a:rPr lang="en-US" sz="1000" b="1" dirty="0">
                <a:solidFill>
                  <a:srgbClr val="FFFFFF"/>
                </a:solidFill>
              </a:rPr>
              <a:t>Basel II — AMA</a:t>
            </a:r>
            <a:endParaRPr lang="en-US" sz="1000" dirty="0"/>
          </a:p>
        </p:txBody>
      </p:sp>
      <p:sp>
        <p:nvSpPr>
          <p:cNvPr id="24" name="Text 22"/>
          <p:cNvSpPr/>
          <p:nvPr/>
        </p:nvSpPr>
        <p:spPr>
          <a:xfrm>
            <a:off x="5541264" y="1097280"/>
            <a:ext cx="1481328" cy="274320"/>
          </a:xfrm>
          <a:prstGeom prst="rect">
            <a:avLst/>
          </a:prstGeom>
          <a:noFill/>
          <a:ln/>
        </p:spPr>
        <p:txBody>
          <a:bodyPr wrap="square" lIns="0" tIns="0" rIns="0" bIns="0" rtlCol="0" anchor="ctr"/>
          <a:lstStyle/>
          <a:p>
            <a:pPr indent="0" marL="0">
              <a:buNone/>
            </a:pPr>
            <a:r>
              <a:rPr lang="en-US" sz="800" i="1" dirty="0">
                <a:solidFill>
                  <a:srgbClr val="FFFFFF"/>
                </a:solidFill>
              </a:rPr>
              <a:t>ADVANCED</a:t>
            </a:r>
            <a:endParaRPr lang="en-US" sz="800" dirty="0"/>
          </a:p>
        </p:txBody>
      </p:sp>
      <p:sp>
        <p:nvSpPr>
          <p:cNvPr id="25" name="Text 23"/>
          <p:cNvSpPr/>
          <p:nvPr/>
        </p:nvSpPr>
        <p:spPr>
          <a:xfrm>
            <a:off x="5559552" y="1508760"/>
            <a:ext cx="1444752" cy="2999232"/>
          </a:xfrm>
          <a:prstGeom prst="rect">
            <a:avLst/>
          </a:prstGeom>
          <a:noFill/>
          <a:ln/>
        </p:spPr>
        <p:txBody>
          <a:bodyPr wrap="square" lIns="0" tIns="0" rIns="0" bIns="0" rtlCol="0" anchor="t"/>
          <a:lstStyle/>
          <a:p>
            <a:pPr indent="0" marL="0">
              <a:buNone/>
            </a:pPr>
            <a:r>
              <a:rPr lang="en-US" sz="950" dirty="0">
                <a:solidFill>
                  <a:srgbClr val="1A1A2E"/>
                </a:solidFill>
              </a:rPr>
              <a:t>Advanced Measurement Approach: banks model own OpRisk using internal losses, external data, scenarios, BEICFs. Highly flexible — but produced incomparable results.</a:t>
            </a:r>
            <a:endParaRPr lang="en-US" sz="950" dirty="0"/>
          </a:p>
        </p:txBody>
      </p:sp>
      <p:sp>
        <p:nvSpPr>
          <p:cNvPr id="26" name="Shape 24"/>
          <p:cNvSpPr/>
          <p:nvPr/>
        </p:nvSpPr>
        <p:spPr>
          <a:xfrm>
            <a:off x="7205472" y="777240"/>
            <a:ext cx="1627632" cy="38404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7" name="Shape 25"/>
          <p:cNvSpPr/>
          <p:nvPr/>
        </p:nvSpPr>
        <p:spPr>
          <a:xfrm>
            <a:off x="7205472" y="777240"/>
            <a:ext cx="1627632" cy="658368"/>
          </a:xfrm>
          <a:prstGeom prst="rect">
            <a:avLst/>
          </a:prstGeom>
          <a:solidFill>
            <a:srgbClr val="C9A84C"/>
          </a:solidFill>
          <a:ln/>
        </p:spPr>
      </p:sp>
      <p:sp>
        <p:nvSpPr>
          <p:cNvPr id="28" name="Text 26"/>
          <p:cNvSpPr/>
          <p:nvPr/>
        </p:nvSpPr>
        <p:spPr>
          <a:xfrm>
            <a:off x="7278624" y="795528"/>
            <a:ext cx="1481328" cy="320040"/>
          </a:xfrm>
          <a:prstGeom prst="rect">
            <a:avLst/>
          </a:prstGeom>
          <a:noFill/>
          <a:ln/>
        </p:spPr>
        <p:txBody>
          <a:bodyPr wrap="square" lIns="0" tIns="0" rIns="0" bIns="0" rtlCol="0" anchor="ctr"/>
          <a:lstStyle/>
          <a:p>
            <a:pPr indent="0" marL="0">
              <a:buNone/>
            </a:pPr>
            <a:r>
              <a:rPr lang="en-US" sz="1000" b="1" dirty="0">
                <a:solidFill>
                  <a:srgbClr val="FFFFFF"/>
                </a:solidFill>
              </a:rPr>
              <a:t>Basel IV — SMA</a:t>
            </a:r>
            <a:endParaRPr lang="en-US" sz="1000" dirty="0"/>
          </a:p>
        </p:txBody>
      </p:sp>
      <p:sp>
        <p:nvSpPr>
          <p:cNvPr id="29" name="Text 27"/>
          <p:cNvSpPr/>
          <p:nvPr/>
        </p:nvSpPr>
        <p:spPr>
          <a:xfrm>
            <a:off x="7278624" y="1097280"/>
            <a:ext cx="1481328" cy="274320"/>
          </a:xfrm>
          <a:prstGeom prst="rect">
            <a:avLst/>
          </a:prstGeom>
          <a:noFill/>
          <a:ln/>
        </p:spPr>
        <p:txBody>
          <a:bodyPr wrap="square" lIns="0" tIns="0" rIns="0" bIns="0" rtlCol="0" anchor="ctr"/>
          <a:lstStyle/>
          <a:p>
            <a:pPr indent="0" marL="0">
              <a:buNone/>
            </a:pPr>
            <a:r>
              <a:rPr lang="en-US" sz="800" i="1" dirty="0">
                <a:solidFill>
                  <a:srgbClr val="FFFFFF"/>
                </a:solidFill>
              </a:rPr>
              <a:t>MANDATORY</a:t>
            </a:r>
            <a:endParaRPr lang="en-US" sz="800" dirty="0"/>
          </a:p>
        </p:txBody>
      </p:sp>
      <p:sp>
        <p:nvSpPr>
          <p:cNvPr id="30" name="Text 28"/>
          <p:cNvSpPr/>
          <p:nvPr/>
        </p:nvSpPr>
        <p:spPr>
          <a:xfrm>
            <a:off x="7296912" y="1508760"/>
            <a:ext cx="1444752" cy="2999232"/>
          </a:xfrm>
          <a:prstGeom prst="rect">
            <a:avLst/>
          </a:prstGeom>
          <a:noFill/>
          <a:ln/>
        </p:spPr>
        <p:txBody>
          <a:bodyPr wrap="square" lIns="0" tIns="0" rIns="0" bIns="0" rtlCol="0" anchor="t"/>
          <a:lstStyle/>
          <a:p>
            <a:pPr indent="0" marL="0">
              <a:buNone/>
            </a:pPr>
            <a:r>
              <a:rPr lang="en-US" sz="950" dirty="0">
                <a:solidFill>
                  <a:srgbClr val="1A1A2E"/>
                </a:solidFill>
              </a:rPr>
              <a:t>AMA abolished. All banks: SMA. Business Indicator Component (BIC) at 12/15/18% marginal rates, scaled by Internal Loss Multiplier for banks BI &gt; €1bn.</a:t>
            </a:r>
            <a:endParaRPr lang="en-US" sz="950" dirty="0"/>
          </a:p>
        </p:txBody>
      </p:sp>
      <p:sp>
        <p:nvSpPr>
          <p:cNvPr id="31" name="Shape 29"/>
          <p:cNvSpPr/>
          <p:nvPr/>
        </p:nvSpPr>
        <p:spPr>
          <a:xfrm>
            <a:off x="365760" y="4645152"/>
            <a:ext cx="8412480" cy="594360"/>
          </a:xfrm>
          <a:prstGeom prst="rect">
            <a:avLst/>
          </a:prstGeom>
          <a:solidFill>
            <a:srgbClr val="D6EAF8"/>
          </a:solidFill>
          <a:ln/>
        </p:spPr>
      </p:sp>
      <p:sp>
        <p:nvSpPr>
          <p:cNvPr id="32" name="Shape 30"/>
          <p:cNvSpPr/>
          <p:nvPr/>
        </p:nvSpPr>
        <p:spPr>
          <a:xfrm>
            <a:off x="365760" y="4645152"/>
            <a:ext cx="1005840" cy="594360"/>
          </a:xfrm>
          <a:prstGeom prst="rect">
            <a:avLst/>
          </a:prstGeom>
          <a:solidFill>
            <a:srgbClr val="D4770A"/>
          </a:solidFill>
          <a:ln/>
        </p:spPr>
      </p:sp>
      <p:sp>
        <p:nvSpPr>
          <p:cNvPr id="33" name="Text 31"/>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DEBATE</a:t>
            </a:r>
            <a:endParaRPr lang="en-US" sz="900" dirty="0"/>
          </a:p>
        </p:txBody>
      </p:sp>
      <p:sp>
        <p:nvSpPr>
          <p:cNvPr id="34" name="Text 32"/>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SMA is criticised for penalising high-revenue banks regardless of risk culture and for the ILM floor preventing capital reduction below BIC for historically low-loss banks. Comparability won over risk-sensitivity.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Worked Example: FX Forward</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Worked Example 1: FX Forward USD/SGD</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Trade: Sell USD 10m / Buy SGD 13.5m  |  6-Month  |  BBB Corporate Counterparty  |  Bilateral, No Margin  |  MTM: USD +200,000 in-the-money</a:t>
            </a:r>
            <a:endParaRPr lang="en-US" sz="1000" dirty="0"/>
          </a:p>
        </p:txBody>
      </p:sp>
      <p:sp>
        <p:nvSpPr>
          <p:cNvPr id="8" name="Shape 6"/>
          <p:cNvSpPr/>
          <p:nvPr/>
        </p:nvSpPr>
        <p:spPr>
          <a:xfrm>
            <a:off x="256032"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475488"/>
          </a:xfrm>
          <a:prstGeom prst="rect">
            <a:avLst/>
          </a:prstGeom>
          <a:solidFill>
            <a:srgbClr val="8899AA"/>
          </a:solidFill>
          <a:ln/>
        </p:spPr>
      </p:sp>
      <p:sp>
        <p:nvSpPr>
          <p:cNvPr id="10" name="Text 8"/>
          <p:cNvSpPr/>
          <p:nvPr/>
        </p:nvSpPr>
        <p:spPr>
          <a:xfrm>
            <a:off x="329184"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a:t>
            </a:r>
            <a:endParaRPr lang="en-US" sz="1100" dirty="0"/>
          </a:p>
        </p:txBody>
      </p:sp>
      <p:sp>
        <p:nvSpPr>
          <p:cNvPr id="11" name="Text 9"/>
          <p:cNvSpPr/>
          <p:nvPr/>
        </p:nvSpPr>
        <p:spPr>
          <a:xfrm>
            <a:off x="329184"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Baseline</a:t>
            </a:r>
            <a:endParaRPr lang="en-US" sz="850" dirty="0"/>
          </a:p>
        </p:txBody>
      </p:sp>
      <p:sp>
        <p:nvSpPr>
          <p:cNvPr id="12" name="Text 10"/>
          <p:cNvSpPr/>
          <p:nvPr/>
        </p:nvSpPr>
        <p:spPr>
          <a:xfrm>
            <a:off x="329184" y="1874520"/>
            <a:ext cx="1901952" cy="475488"/>
          </a:xfrm>
          <a:prstGeom prst="rect">
            <a:avLst/>
          </a:prstGeom>
          <a:noFill/>
          <a:ln/>
        </p:spPr>
        <p:txBody>
          <a:bodyPr wrap="square" lIns="0" tIns="0" rIns="0" bIns="0" rtlCol="0" anchor="ctr"/>
          <a:lstStyle/>
          <a:p>
            <a:pPr indent="0" marL="0">
              <a:buNone/>
            </a:pPr>
            <a:r>
              <a:rPr lang="en-US" sz="2200" b="1" dirty="0">
                <a:solidFill>
                  <a:srgbClr val="8899AA"/>
                </a:solidFill>
              </a:rPr>
              <a:t>$24,000</a:t>
            </a:r>
            <a:endParaRPr lang="en-US" sz="2200" dirty="0"/>
          </a:p>
        </p:txBody>
      </p:sp>
      <p:sp>
        <p:nvSpPr>
          <p:cNvPr id="13" name="Text 11"/>
          <p:cNvSpPr/>
          <p:nvPr/>
        </p:nvSpPr>
        <p:spPr>
          <a:xfrm>
            <a:off x="329184"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a:t>
            </a:r>
            <a:endParaRPr lang="en-US" sz="900" dirty="0"/>
          </a:p>
        </p:txBody>
      </p:sp>
      <p:sp>
        <p:nvSpPr>
          <p:cNvPr id="14" name="Text 12"/>
          <p:cNvSpPr/>
          <p:nvPr/>
        </p:nvSpPr>
        <p:spPr>
          <a:xfrm>
            <a:off x="347472"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RC $200k + Add-on 1%×$10m = $300k EAD.</a:t>
            </a:r>
            <a:endParaRPr lang="en-US" sz="950" dirty="0"/>
          </a:p>
          <a:p>
            <a:pPr indent="0" marL="0">
              <a:buNone/>
            </a:pPr>
            <a:r>
              <a:rPr lang="en-US" sz="950" dirty="0">
                <a:solidFill>
                  <a:srgbClr val="1A1A2E"/>
                </a:solidFill>
              </a:rPr>
              <a:t>100% RW corporate.</a:t>
            </a:r>
            <a:endParaRPr lang="en-US" sz="950" dirty="0"/>
          </a:p>
          <a:p>
            <a:pPr indent="0" marL="0">
              <a:buNone/>
            </a:pPr>
            <a:r>
              <a:rPr lang="en-US" sz="950" dirty="0">
                <a:solidFill>
                  <a:srgbClr val="1A1A2E"/>
                </a:solidFill>
              </a:rPr>
              <a:t>No market risk capital.</a:t>
            </a:r>
            <a:endParaRPr lang="en-US" sz="950" dirty="0"/>
          </a:p>
        </p:txBody>
      </p:sp>
      <p:sp>
        <p:nvSpPr>
          <p:cNvPr id="15" name="Shape 13"/>
          <p:cNvSpPr/>
          <p:nvPr/>
        </p:nvSpPr>
        <p:spPr>
          <a:xfrm>
            <a:off x="2432304"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2432304" y="1325880"/>
            <a:ext cx="2057400" cy="475488"/>
          </a:xfrm>
          <a:prstGeom prst="rect">
            <a:avLst/>
          </a:prstGeom>
          <a:solidFill>
            <a:srgbClr val="0E6B8A"/>
          </a:solidFill>
          <a:ln/>
        </p:spPr>
      </p:sp>
      <p:sp>
        <p:nvSpPr>
          <p:cNvPr id="17" name="Text 15"/>
          <p:cNvSpPr/>
          <p:nvPr/>
        </p:nvSpPr>
        <p:spPr>
          <a:xfrm>
            <a:off x="2505456"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a:t>
            </a:r>
            <a:endParaRPr lang="en-US" sz="1100" dirty="0"/>
          </a:p>
        </p:txBody>
      </p:sp>
      <p:sp>
        <p:nvSpPr>
          <p:cNvPr id="18" name="Text 16"/>
          <p:cNvSpPr/>
          <p:nvPr/>
        </p:nvSpPr>
        <p:spPr>
          <a:xfrm>
            <a:off x="2505456"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a:t>
            </a:r>
            <a:endParaRPr lang="en-US" sz="850" dirty="0"/>
          </a:p>
        </p:txBody>
      </p:sp>
      <p:sp>
        <p:nvSpPr>
          <p:cNvPr id="19" name="Text 17"/>
          <p:cNvSpPr/>
          <p:nvPr/>
        </p:nvSpPr>
        <p:spPr>
          <a:xfrm>
            <a:off x="2505456" y="1874520"/>
            <a:ext cx="1901952" cy="475488"/>
          </a:xfrm>
          <a:prstGeom prst="rect">
            <a:avLst/>
          </a:prstGeom>
          <a:noFill/>
          <a:ln/>
        </p:spPr>
        <p:txBody>
          <a:bodyPr wrap="square" lIns="0" tIns="0" rIns="0" bIns="0" rtlCol="0" anchor="ctr"/>
          <a:lstStyle/>
          <a:p>
            <a:pPr indent="0" marL="0">
              <a:buNone/>
            </a:pPr>
            <a:r>
              <a:rPr lang="en-US" sz="2200" b="1" dirty="0">
                <a:solidFill>
                  <a:srgbClr val="0E6B8A"/>
                </a:solidFill>
              </a:rPr>
              <a:t>$14,000</a:t>
            </a:r>
            <a:endParaRPr lang="en-US" sz="2200" dirty="0"/>
          </a:p>
        </p:txBody>
      </p:sp>
      <p:sp>
        <p:nvSpPr>
          <p:cNvPr id="20" name="Text 18"/>
          <p:cNvSpPr/>
          <p:nvPr/>
        </p:nvSpPr>
        <p:spPr>
          <a:xfrm>
            <a:off x="2505456"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A-IRB</a:t>
            </a:r>
            <a:endParaRPr lang="en-US" sz="900" dirty="0"/>
          </a:p>
        </p:txBody>
      </p:sp>
      <p:sp>
        <p:nvSpPr>
          <p:cNvPr id="21" name="Text 19"/>
          <p:cNvSpPr/>
          <p:nvPr/>
        </p:nvSpPr>
        <p:spPr>
          <a:xfrm>
            <a:off x="2523744"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PD 0.35%, LGD 45%.</a:t>
            </a:r>
            <a:endParaRPr lang="en-US" sz="950" dirty="0"/>
          </a:p>
          <a:p>
            <a:pPr indent="0" marL="0">
              <a:buNone/>
            </a:pPr>
            <a:r>
              <a:rPr lang="en-US" sz="950" dirty="0">
                <a:solidFill>
                  <a:srgbClr val="1A1A2E"/>
                </a:solidFill>
              </a:rPr>
              <a:t>EAD $300k (CEM).</a:t>
            </a:r>
            <a:endParaRPr lang="en-US" sz="950" dirty="0"/>
          </a:p>
          <a:p>
            <a:pPr indent="0" marL="0">
              <a:buNone/>
            </a:pPr>
            <a:r>
              <a:rPr lang="en-US" sz="950" dirty="0">
                <a:solidFill>
                  <a:srgbClr val="1A1A2E"/>
                </a:solidFill>
              </a:rPr>
              <a:t>RWA ~$175k.</a:t>
            </a:r>
            <a:endParaRPr lang="en-US" sz="950" dirty="0"/>
          </a:p>
          <a:p>
            <a:pPr indent="0" marL="0">
              <a:buNone/>
            </a:pPr>
            <a:r>
              <a:rPr lang="en-US" sz="950" dirty="0">
                <a:solidFill>
                  <a:srgbClr val="1A1A2E"/>
                </a:solidFill>
              </a:rPr>
              <a:t>Market risk VaR if trading book.</a:t>
            </a:r>
            <a:endParaRPr lang="en-US" sz="950" dirty="0"/>
          </a:p>
        </p:txBody>
      </p:sp>
      <p:sp>
        <p:nvSpPr>
          <p:cNvPr id="22" name="Shape 20"/>
          <p:cNvSpPr/>
          <p:nvPr/>
        </p:nvSpPr>
        <p:spPr>
          <a:xfrm>
            <a:off x="4608576"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3" name="Shape 21"/>
          <p:cNvSpPr/>
          <p:nvPr/>
        </p:nvSpPr>
        <p:spPr>
          <a:xfrm>
            <a:off x="4608576" y="1325880"/>
            <a:ext cx="2057400" cy="475488"/>
          </a:xfrm>
          <a:prstGeom prst="rect">
            <a:avLst/>
          </a:prstGeom>
          <a:solidFill>
            <a:srgbClr val="1B3A6B"/>
          </a:solidFill>
          <a:ln/>
        </p:spPr>
      </p:sp>
      <p:sp>
        <p:nvSpPr>
          <p:cNvPr id="24" name="Text 22"/>
          <p:cNvSpPr/>
          <p:nvPr/>
        </p:nvSpPr>
        <p:spPr>
          <a:xfrm>
            <a:off x="4681728"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III</a:t>
            </a:r>
            <a:endParaRPr lang="en-US" sz="1100" dirty="0"/>
          </a:p>
        </p:txBody>
      </p:sp>
      <p:sp>
        <p:nvSpPr>
          <p:cNvPr id="25" name="Text 23"/>
          <p:cNvSpPr/>
          <p:nvPr/>
        </p:nvSpPr>
        <p:spPr>
          <a:xfrm>
            <a:off x="4681728"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+37% vs II</a:t>
            </a:r>
            <a:endParaRPr lang="en-US" sz="850" dirty="0"/>
          </a:p>
        </p:txBody>
      </p:sp>
      <p:sp>
        <p:nvSpPr>
          <p:cNvPr id="26" name="Text 24"/>
          <p:cNvSpPr/>
          <p:nvPr/>
        </p:nvSpPr>
        <p:spPr>
          <a:xfrm>
            <a:off x="4681728" y="1874520"/>
            <a:ext cx="1901952" cy="475488"/>
          </a:xfrm>
          <a:prstGeom prst="rect">
            <a:avLst/>
          </a:prstGeom>
          <a:noFill/>
          <a:ln/>
        </p:spPr>
        <p:txBody>
          <a:bodyPr wrap="square" lIns="0" tIns="0" rIns="0" bIns="0" rtlCol="0" anchor="ctr"/>
          <a:lstStyle/>
          <a:p>
            <a:pPr indent="0" marL="0">
              <a:buNone/>
            </a:pPr>
            <a:r>
              <a:rPr lang="en-US" sz="2200" b="1" dirty="0">
                <a:solidFill>
                  <a:srgbClr val="1B3A6B"/>
                </a:solidFill>
              </a:rPr>
              <a:t>$33,000+</a:t>
            </a:r>
            <a:endParaRPr lang="en-US" sz="2200" dirty="0"/>
          </a:p>
        </p:txBody>
      </p:sp>
      <p:sp>
        <p:nvSpPr>
          <p:cNvPr id="27" name="Text 25"/>
          <p:cNvSpPr/>
          <p:nvPr/>
        </p:nvSpPr>
        <p:spPr>
          <a:xfrm>
            <a:off x="4681728"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 + CVA</a:t>
            </a:r>
            <a:endParaRPr lang="en-US" sz="900" dirty="0"/>
          </a:p>
        </p:txBody>
      </p:sp>
      <p:sp>
        <p:nvSpPr>
          <p:cNvPr id="28" name="Text 26"/>
          <p:cNvSpPr/>
          <p:nvPr/>
        </p:nvSpPr>
        <p:spPr>
          <a:xfrm>
            <a:off x="4700016"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CEM unchanged for CCR.</a:t>
            </a:r>
            <a:endParaRPr lang="en-US" sz="950" dirty="0"/>
          </a:p>
          <a:p>
            <a:pPr indent="0" marL="0">
              <a:buNone/>
            </a:pPr>
            <a:r>
              <a:rPr lang="en-US" sz="950" dirty="0">
                <a:solidFill>
                  <a:srgbClr val="1A1A2E"/>
                </a:solidFill>
              </a:rPr>
              <a:t>NEW: CVA charge ~$9–12k.</a:t>
            </a:r>
            <a:endParaRPr lang="en-US" sz="950" dirty="0"/>
          </a:p>
          <a:p>
            <a:pPr indent="0" marL="0">
              <a:buNone/>
            </a:pPr>
            <a:r>
              <a:rPr lang="en-US" sz="950" dirty="0">
                <a:solidFill>
                  <a:srgbClr val="1A1A2E"/>
                </a:solidFill>
              </a:rPr>
              <a:t>SVaR market risk ×2 if trading book.</a:t>
            </a:r>
            <a:endParaRPr lang="en-US" sz="950" dirty="0"/>
          </a:p>
        </p:txBody>
      </p:sp>
      <p:sp>
        <p:nvSpPr>
          <p:cNvPr id="29" name="Shape 27"/>
          <p:cNvSpPr/>
          <p:nvPr/>
        </p:nvSpPr>
        <p:spPr>
          <a:xfrm>
            <a:off x="6784848"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25880"/>
            <a:ext cx="2057400" cy="475488"/>
          </a:xfrm>
          <a:prstGeom prst="rect">
            <a:avLst/>
          </a:prstGeom>
          <a:solidFill>
            <a:srgbClr val="C9A84C"/>
          </a:solidFill>
          <a:ln/>
        </p:spPr>
      </p:sp>
      <p:sp>
        <p:nvSpPr>
          <p:cNvPr id="31" name="Text 29"/>
          <p:cNvSpPr/>
          <p:nvPr/>
        </p:nvSpPr>
        <p:spPr>
          <a:xfrm>
            <a:off x="6858000"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IV</a:t>
            </a:r>
            <a:endParaRPr lang="en-US" sz="1100" dirty="0"/>
          </a:p>
        </p:txBody>
      </p:sp>
      <p:sp>
        <p:nvSpPr>
          <p:cNvPr id="32" name="Text 30"/>
          <p:cNvSpPr/>
          <p:nvPr/>
        </p:nvSpPr>
        <p:spPr>
          <a:xfrm>
            <a:off x="6858000"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III</a:t>
            </a:r>
            <a:endParaRPr lang="en-US" sz="850" dirty="0"/>
          </a:p>
        </p:txBody>
      </p:sp>
      <p:sp>
        <p:nvSpPr>
          <p:cNvPr id="33" name="Text 31"/>
          <p:cNvSpPr/>
          <p:nvPr/>
        </p:nvSpPr>
        <p:spPr>
          <a:xfrm>
            <a:off x="6858000" y="1874520"/>
            <a:ext cx="1901952" cy="475488"/>
          </a:xfrm>
          <a:prstGeom prst="rect">
            <a:avLst/>
          </a:prstGeom>
          <a:noFill/>
          <a:ln/>
        </p:spPr>
        <p:txBody>
          <a:bodyPr wrap="square" lIns="0" tIns="0" rIns="0" bIns="0" rtlCol="0" anchor="ctr"/>
          <a:lstStyle/>
          <a:p>
            <a:pPr indent="0" marL="0">
              <a:buNone/>
            </a:pPr>
            <a:r>
              <a:rPr lang="en-US" sz="2200" b="1" dirty="0">
                <a:solidFill>
                  <a:srgbClr val="C9A84C"/>
                </a:solidFill>
              </a:rPr>
              <a:t>$47,000+</a:t>
            </a:r>
            <a:endParaRPr lang="en-US" sz="2200" dirty="0"/>
          </a:p>
        </p:txBody>
      </p:sp>
      <p:sp>
        <p:nvSpPr>
          <p:cNvPr id="34" name="Text 32"/>
          <p:cNvSpPr/>
          <p:nvPr/>
        </p:nvSpPr>
        <p:spPr>
          <a:xfrm>
            <a:off x="6858000"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SA-CCR + FRTB</a:t>
            </a:r>
            <a:endParaRPr lang="en-US" sz="900" dirty="0"/>
          </a:p>
        </p:txBody>
      </p:sp>
      <p:sp>
        <p:nvSpPr>
          <p:cNvPr id="35" name="Text 33"/>
          <p:cNvSpPr/>
          <p:nvPr/>
        </p:nvSpPr>
        <p:spPr>
          <a:xfrm>
            <a:off x="6876288"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SA-CCR: EAD ~$675k (alpha 1.4×, maturity factor, 4% SF).</a:t>
            </a:r>
            <a:endParaRPr lang="en-US" sz="950" dirty="0"/>
          </a:p>
          <a:p>
            <a:pPr indent="0" marL="0">
              <a:buNone/>
            </a:pPr>
            <a:r>
              <a:rPr lang="en-US" sz="950" dirty="0">
                <a:solidFill>
                  <a:srgbClr val="1A1A2E"/>
                </a:solidFill>
              </a:rPr>
              <a:t>Output floor may bind on IRB.</a:t>
            </a:r>
            <a:endParaRPr lang="en-US" sz="950" dirty="0"/>
          </a:p>
          <a:p>
            <a:pPr indent="0" marL="0">
              <a:buNone/>
            </a:pPr>
            <a:r>
              <a:rPr lang="en-US" sz="950" dirty="0">
                <a:solidFill>
                  <a:srgbClr val="1A1A2E"/>
                </a:solidFill>
              </a:rPr>
              <a:t>FRTB ES if trading book.</a:t>
            </a:r>
            <a:endParaRPr lang="en-US" sz="950" dirty="0"/>
          </a:p>
        </p:txBody>
      </p:sp>
      <p:sp>
        <p:nvSpPr>
          <p:cNvPr id="36" name="Shape 34"/>
          <p:cNvSpPr/>
          <p:nvPr/>
        </p:nvSpPr>
        <p:spPr>
          <a:xfrm>
            <a:off x="365760" y="4663440"/>
            <a:ext cx="8412480" cy="594360"/>
          </a:xfrm>
          <a:prstGeom prst="rect">
            <a:avLst/>
          </a:prstGeom>
          <a:solidFill>
            <a:srgbClr val="D6EAF8"/>
          </a:solidFill>
          <a:ln/>
        </p:spPr>
      </p:sp>
      <p:sp>
        <p:nvSpPr>
          <p:cNvPr id="37" name="Shape 35"/>
          <p:cNvSpPr/>
          <p:nvPr/>
        </p:nvSpPr>
        <p:spPr>
          <a:xfrm>
            <a:off x="365760" y="4663440"/>
            <a:ext cx="1005840" cy="594360"/>
          </a:xfrm>
          <a:prstGeom prst="rect">
            <a:avLst/>
          </a:prstGeom>
          <a:solidFill>
            <a:srgbClr val="0E6B8A"/>
          </a:solidFill>
          <a:ln/>
        </p:spPr>
      </p:sp>
      <p:sp>
        <p:nvSpPr>
          <p:cNvPr id="38" name="Text 36"/>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SA-CCR EFFECT</a:t>
            </a:r>
            <a:endParaRPr lang="en-US" sz="900" dirty="0"/>
          </a:p>
        </p:txBody>
      </p:sp>
      <p:sp>
        <p:nvSpPr>
          <p:cNvPr id="39" name="Text 37"/>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SA-CCR's alpha multiplier (1.4×) and maturity-adjusted PFE add-on substantially increases CCR EAD vs CEM. For short-dated FX, CVA is often the dominant new charge under Basel III.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Worked Example: Interest Rate Swap</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Worked Example 2: Interest Rate Swap (IRS) — Fixed/Float</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Trade: Pay Fixed 4.5% / Receive 6M EURIBOR  |  €20m Notional  |  5-Year  |  A-rated French Corporate  |  Bilateral, No CCP, No Margin  |  MTM: +€350,000</a:t>
            </a:r>
            <a:endParaRPr lang="en-US" sz="1000" dirty="0"/>
          </a:p>
        </p:txBody>
      </p:sp>
      <p:graphicFrame>
        <p:nvGraphicFramePr>
          <p:cNvPr id="8" name="Chart 0" descr=""/>
          <p:cNvGraphicFramePr/>
          <p:nvPr/>
        </p:nvGraphicFramePr>
        <p:xfrm>
          <a:off x="274320" y="132588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349240" y="1325880"/>
            <a:ext cx="3520440" cy="166420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10" name="Text 7"/>
          <p:cNvSpPr/>
          <p:nvPr/>
        </p:nvSpPr>
        <p:spPr>
          <a:xfrm>
            <a:off x="5440680" y="1371600"/>
            <a:ext cx="3337560" cy="292608"/>
          </a:xfrm>
          <a:prstGeom prst="rect">
            <a:avLst/>
          </a:prstGeom>
          <a:noFill/>
          <a:ln/>
        </p:spPr>
        <p:txBody>
          <a:bodyPr wrap="square" lIns="0" tIns="0" rIns="0" bIns="0" rtlCol="0" anchor="ctr"/>
          <a:lstStyle/>
          <a:p>
            <a:pPr indent="0" marL="0">
              <a:buNone/>
            </a:pPr>
            <a:r>
              <a:rPr lang="en-US" sz="1100" b="1" dirty="0">
                <a:solidFill>
                  <a:srgbClr val="C9A84C"/>
                </a:solidFill>
              </a:rPr>
              <a:t>THE CCP INCENTIVE</a:t>
            </a:r>
            <a:endParaRPr lang="en-US" sz="1100" dirty="0"/>
          </a:p>
        </p:txBody>
      </p:sp>
      <p:sp>
        <p:nvSpPr>
          <p:cNvPr id="11" name="Text 8"/>
          <p:cNvSpPr/>
          <p:nvPr/>
        </p:nvSpPr>
        <p:spPr>
          <a:xfrm>
            <a:off x="5440680" y="1719072"/>
            <a:ext cx="3337560" cy="1188720"/>
          </a:xfrm>
          <a:prstGeom prst="rect">
            <a:avLst/>
          </a:prstGeom>
          <a:noFill/>
          <a:ln/>
        </p:spPr>
        <p:txBody>
          <a:bodyPr wrap="square" lIns="0" tIns="0" rIns="0" bIns="0" rtlCol="0" anchor="t"/>
          <a:lstStyle/>
          <a:p>
            <a:pPr indent="0" marL="0">
              <a:buNone/>
            </a:pPr>
            <a:r>
              <a:rPr lang="en-US" sz="1000" dirty="0">
                <a:solidFill>
                  <a:srgbClr val="D6EAF8"/>
                </a:solidFill>
              </a:rPr>
              <a:t>Bilateral IRS capital (Basel III):</a:t>
            </a:r>
            <a:pPr indent="0" marL="0">
              <a:buNone/>
            </a:pPr>
            <a:r>
              <a:rPr lang="en-US" sz="1300" b="1" dirty="0">
                <a:solidFill>
                  <a:srgbClr val="8B0000"/>
                </a:solidFill>
              </a:rPr>
              <a:t>  €40,000</a:t>
            </a:r>
            <a:pPr indent="0" marL="0">
              <a:buNone/>
            </a:pPr>
            <a:endParaRPr lang="en-US" sz="1000" dirty="0"/>
          </a:p>
          <a:p>
            <a:pPr indent="0" marL="0">
              <a:buNone/>
            </a:pPr>
            <a:r>
              <a:rPr lang="en-US" sz="1000" dirty="0">
                <a:solidFill>
                  <a:srgbClr val="D6EAF8"/>
                </a:solidFill>
              </a:rPr>
              <a:t>Cleared via LCH SwapClear:</a:t>
            </a:r>
            <a:endParaRPr lang="en-US" sz="1000" dirty="0"/>
          </a:p>
          <a:p>
            <a:pPr indent="0" marL="0">
              <a:buNone/>
            </a:pPr>
            <a:r>
              <a:rPr lang="en-US" sz="1300" b="1" dirty="0">
                <a:solidFill>
                  <a:srgbClr val="00FF88"/>
                </a:solidFill>
              </a:rPr>
              <a:t>  &lt; €1,000</a:t>
            </a:r>
            <a:endParaRPr lang="en-US" sz="1000" dirty="0"/>
          </a:p>
        </p:txBody>
      </p:sp>
      <p:sp>
        <p:nvSpPr>
          <p:cNvPr id="12" name="Shape 9"/>
          <p:cNvSpPr/>
          <p:nvPr/>
        </p:nvSpPr>
        <p:spPr>
          <a:xfrm>
            <a:off x="5349240" y="2990088"/>
            <a:ext cx="3520440" cy="1719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Text 10"/>
          <p:cNvSpPr/>
          <p:nvPr/>
        </p:nvSpPr>
        <p:spPr>
          <a:xfrm>
            <a:off x="5440680" y="3035808"/>
            <a:ext cx="3337560" cy="292608"/>
          </a:xfrm>
          <a:prstGeom prst="rect">
            <a:avLst/>
          </a:prstGeom>
          <a:noFill/>
          <a:ln/>
        </p:spPr>
        <p:txBody>
          <a:bodyPr wrap="square" lIns="0" tIns="0" rIns="0" bIns="0" rtlCol="0" anchor="ctr"/>
          <a:lstStyle/>
          <a:p>
            <a:pPr indent="0" marL="0">
              <a:buNone/>
            </a:pPr>
            <a:r>
              <a:rPr lang="en-US" sz="1000" b="1" dirty="0">
                <a:solidFill>
                  <a:srgbClr val="8B0000"/>
                </a:solidFill>
              </a:rPr>
              <a:t>SA-CCR Duration Factor (Basel IV Correction)</a:t>
            </a:r>
            <a:endParaRPr lang="en-US" sz="1000" dirty="0"/>
          </a:p>
        </p:txBody>
      </p:sp>
      <p:sp>
        <p:nvSpPr>
          <p:cNvPr id="14" name="Text 11"/>
          <p:cNvSpPr/>
          <p:nvPr/>
        </p:nvSpPr>
        <p:spPr>
          <a:xfrm>
            <a:off x="5440680" y="3364992"/>
            <a:ext cx="3337560" cy="1280160"/>
          </a:xfrm>
          <a:prstGeom prst="rect">
            <a:avLst/>
          </a:prstGeom>
          <a:noFill/>
          <a:ln/>
        </p:spPr>
        <p:txBody>
          <a:bodyPr wrap="square" lIns="0" tIns="0" rIns="0" bIns="0" rtlCol="0" anchor="t"/>
          <a:lstStyle/>
          <a:p>
            <a:pPr indent="0" marL="0">
              <a:buNone/>
            </a:pPr>
            <a:r>
              <a:rPr lang="en-US" sz="950" dirty="0">
                <a:solidFill>
                  <a:srgbClr val="1A1A2E"/>
                </a:solidFill>
              </a:rPr>
              <a:t>SD = (exp(−0.05×0) − exp(−0.05×5)) / 0.05 = 4.42 years</a:t>
            </a:r>
            <a:endParaRPr lang="en-US" sz="950" dirty="0"/>
          </a:p>
          <a:p>
            <a:pPr indent="0" marL="0">
              <a:buNone/>
            </a:pPr>
            <a:r>
              <a:rPr lang="en-US" sz="950" dirty="0">
                <a:solidFill>
                  <a:srgbClr val="1A1A2E"/>
                </a:solidFill>
              </a:rPr>
              <a:t>Adj. Notional = €20m × 4.42 = €88.4m</a:t>
            </a:r>
            <a:endParaRPr lang="en-US" sz="950" dirty="0"/>
          </a:p>
          <a:p>
            <a:pPr indent="0" marL="0">
              <a:buNone/>
            </a:pPr>
            <a:r>
              <a:rPr lang="en-US" sz="950" dirty="0">
                <a:solidFill>
                  <a:srgbClr val="1A1A2E"/>
                </a:solidFill>
              </a:rPr>
              <a:t>PFE = 0.5% × €88.4m = €442,000</a:t>
            </a:r>
            <a:endParaRPr lang="en-US" sz="950" dirty="0"/>
          </a:p>
          <a:p>
            <a:pPr indent="0" marL="0">
              <a:buNone/>
            </a:pPr>
            <a:r>
              <a:rPr lang="en-US" sz="950" dirty="0">
                <a:solidFill>
                  <a:srgbClr val="1A1A2E"/>
                </a:solidFill>
              </a:rPr>
              <a:t>EAD = 1.4 × (€350k + €442k) = €1.109m</a:t>
            </a:r>
            <a:endParaRPr lang="en-US" sz="950" dirty="0"/>
          </a:p>
          <a:p>
            <a:pPr indent="0" marL="0">
              <a:buNone/>
            </a:pPr>
            <a:r>
              <a:rPr lang="en-US" sz="950" dirty="0">
                <a:solidFill>
                  <a:srgbClr val="1A1A2E"/>
                </a:solidFill>
              </a:rPr>
              <a:t>→ Substantially higher than CEM (€450k)</a:t>
            </a:r>
            <a:endParaRPr lang="en-US" sz="950" dirty="0"/>
          </a:p>
        </p:txBody>
      </p:sp>
      <p:sp>
        <p:nvSpPr>
          <p:cNvPr id="15" name="Shape 12"/>
          <p:cNvSpPr/>
          <p:nvPr/>
        </p:nvSpPr>
        <p:spPr>
          <a:xfrm>
            <a:off x="365760" y="4663440"/>
            <a:ext cx="8412480" cy="594360"/>
          </a:xfrm>
          <a:prstGeom prst="rect">
            <a:avLst/>
          </a:prstGeom>
          <a:solidFill>
            <a:srgbClr val="D6EAF8"/>
          </a:solidFill>
          <a:ln/>
        </p:spPr>
      </p:sp>
      <p:sp>
        <p:nvSpPr>
          <p:cNvPr id="16" name="Shape 13"/>
          <p:cNvSpPr/>
          <p:nvPr/>
        </p:nvSpPr>
        <p:spPr>
          <a:xfrm>
            <a:off x="365760" y="4663440"/>
            <a:ext cx="1005840" cy="594360"/>
          </a:xfrm>
          <a:prstGeom prst="rect">
            <a:avLst/>
          </a:prstGeom>
          <a:solidFill>
            <a:srgbClr val="1A6B3A"/>
          </a:solidFill>
          <a:ln/>
        </p:spPr>
      </p:sp>
      <p:sp>
        <p:nvSpPr>
          <p:cNvPr id="17" name="Text 14"/>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CCP IMPACT</a:t>
            </a:r>
            <a:endParaRPr lang="en-US" sz="900" dirty="0"/>
          </a:p>
        </p:txBody>
      </p:sp>
      <p:sp>
        <p:nvSpPr>
          <p:cNvPr id="18" name="Text 15"/>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LCH SwapClear cleared IRS volumes grew from ~$100tn (2009) to &gt;$400tn notional (2020). The 40–50× capital differential between bilateral and cleared IRS is the primary structural driver.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Critical Self-Review</a:t>
            </a:r>
            <a:endParaRPr lang="en-US" sz="900" dirty="0"/>
          </a:p>
        </p:txBody>
      </p:sp>
      <p:sp>
        <p:nvSpPr>
          <p:cNvPr id="4" name="Shape 2"/>
          <p:cNvSpPr/>
          <p:nvPr/>
        </p:nvSpPr>
        <p:spPr>
          <a:xfrm>
            <a:off x="0" y="0"/>
            <a:ext cx="9144000" cy="658368"/>
          </a:xfrm>
          <a:prstGeom prst="rect">
            <a:avLst/>
          </a:prstGeom>
          <a:solidFill>
            <a:srgbClr val="8B0000"/>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Critical Self-Review: Errors Found &amp; Corrected</a:t>
            </a:r>
            <a:endParaRPr lang="en-US" sz="2200" dirty="0"/>
          </a:p>
        </p:txBody>
      </p:sp>
      <p:sp>
        <p:nvSpPr>
          <p:cNvPr id="6" name="Shape 4"/>
          <p:cNvSpPr/>
          <p:nvPr/>
        </p:nvSpPr>
        <p:spPr>
          <a:xfrm>
            <a:off x="2560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502920" cy="1298448"/>
          </a:xfrm>
          <a:prstGeom prst="rect">
            <a:avLst/>
          </a:prstGeom>
          <a:solidFill>
            <a:srgbClr val="8B0000"/>
          </a:solidFill>
          <a:ln/>
        </p:spPr>
      </p:sp>
      <p:sp>
        <p:nvSpPr>
          <p:cNvPr id="8" name="Text 6"/>
          <p:cNvSpPr/>
          <p:nvPr/>
        </p:nvSpPr>
        <p:spPr>
          <a:xfrm>
            <a:off x="2560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9" name="Text 7"/>
          <p:cNvSpPr/>
          <p:nvPr/>
        </p:nvSpPr>
        <p:spPr>
          <a:xfrm>
            <a:off x="2560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0" name="Text 8"/>
          <p:cNvSpPr/>
          <p:nvPr/>
        </p:nvSpPr>
        <p:spPr>
          <a:xfrm>
            <a:off x="850392" y="850392"/>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SA-CCR Attribution</a:t>
            </a:r>
            <a:endParaRPr lang="en-US" sz="1050" dirty="0"/>
          </a:p>
        </p:txBody>
      </p:sp>
      <p:sp>
        <p:nvSpPr>
          <p:cNvPr id="11" name="Text 9"/>
          <p:cNvSpPr/>
          <p:nvPr/>
        </p:nvSpPr>
        <p:spPr>
          <a:xfrm>
            <a:off x="8503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Originally misassigned SA-CCR to Basel III. Corrected: SA-CCR finalised March 2014 — a Basel IV element. Basel III retained CEM and IMM.</a:t>
            </a:r>
            <a:endParaRPr lang="en-US" sz="900" dirty="0"/>
          </a:p>
        </p:txBody>
      </p:sp>
      <p:sp>
        <p:nvSpPr>
          <p:cNvPr id="12" name="Shape 10"/>
          <p:cNvSpPr/>
          <p:nvPr/>
        </p:nvSpPr>
        <p:spPr>
          <a:xfrm>
            <a:off x="2560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56032" y="2167128"/>
            <a:ext cx="502920" cy="1298448"/>
          </a:xfrm>
          <a:prstGeom prst="rect">
            <a:avLst/>
          </a:prstGeom>
          <a:solidFill>
            <a:srgbClr val="8B0000"/>
          </a:solidFill>
          <a:ln/>
        </p:spPr>
      </p:sp>
      <p:sp>
        <p:nvSpPr>
          <p:cNvPr id="14" name="Text 12"/>
          <p:cNvSpPr/>
          <p:nvPr/>
        </p:nvSpPr>
        <p:spPr>
          <a:xfrm>
            <a:off x="2560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5" name="Text 13"/>
          <p:cNvSpPr/>
          <p:nvPr/>
        </p:nvSpPr>
        <p:spPr>
          <a:xfrm>
            <a:off x="2560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6" name="Text 14"/>
          <p:cNvSpPr/>
          <p:nvPr/>
        </p:nvSpPr>
        <p:spPr>
          <a:xfrm>
            <a:off x="850392" y="2240280"/>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Equity Index Specific Risk</a:t>
            </a:r>
            <a:endParaRPr lang="en-US" sz="1050" dirty="0"/>
          </a:p>
        </p:txBody>
      </p:sp>
      <p:sp>
        <p:nvSpPr>
          <p:cNvPr id="17" name="Text 15"/>
          <p:cNvSpPr/>
          <p:nvPr/>
        </p:nvSpPr>
        <p:spPr>
          <a:xfrm>
            <a:off x="8503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Applied 8% specific risk charge to FTSE 100 index option. Corrected: diversified index positions attract 0% specific risk under SA. Only general market risk (8%) applies.</a:t>
            </a:r>
            <a:endParaRPr lang="en-US" sz="900" dirty="0"/>
          </a:p>
        </p:txBody>
      </p:sp>
      <p:sp>
        <p:nvSpPr>
          <p:cNvPr id="18" name="Shape 16"/>
          <p:cNvSpPr/>
          <p:nvPr/>
        </p:nvSpPr>
        <p:spPr>
          <a:xfrm>
            <a:off x="2560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56032" y="3557016"/>
            <a:ext cx="502920" cy="1298448"/>
          </a:xfrm>
          <a:prstGeom prst="rect">
            <a:avLst/>
          </a:prstGeom>
          <a:solidFill>
            <a:srgbClr val="D4770A"/>
          </a:solidFill>
          <a:ln/>
        </p:spPr>
      </p:sp>
      <p:sp>
        <p:nvSpPr>
          <p:cNvPr id="20" name="Text 18"/>
          <p:cNvSpPr/>
          <p:nvPr/>
        </p:nvSpPr>
        <p:spPr>
          <a:xfrm>
            <a:off x="2560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21" name="Text 19"/>
          <p:cNvSpPr/>
          <p:nvPr/>
        </p:nvSpPr>
        <p:spPr>
          <a:xfrm>
            <a:off x="2560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MED</a:t>
            </a:r>
            <a:endParaRPr lang="en-US" sz="700" dirty="0"/>
          </a:p>
        </p:txBody>
      </p:sp>
      <p:sp>
        <p:nvSpPr>
          <p:cNvPr id="22" name="Text 20"/>
          <p:cNvSpPr/>
          <p:nvPr/>
        </p:nvSpPr>
        <p:spPr>
          <a:xfrm>
            <a:off x="850392" y="3630168"/>
            <a:ext cx="3474720" cy="274320"/>
          </a:xfrm>
          <a:prstGeom prst="rect">
            <a:avLst/>
          </a:prstGeom>
          <a:noFill/>
          <a:ln/>
        </p:spPr>
        <p:txBody>
          <a:bodyPr wrap="square" lIns="0" tIns="0" rIns="0" bIns="0" rtlCol="0" anchor="ctr"/>
          <a:lstStyle/>
          <a:p>
            <a:pPr indent="0" marL="0">
              <a:buNone/>
            </a:pPr>
            <a:r>
              <a:rPr lang="en-US" sz="1050" b="1" dirty="0">
                <a:solidFill>
                  <a:srgbClr val="D4770A"/>
                </a:solidFill>
              </a:rPr>
              <a:t>SA-CCR Duration Formula</a:t>
            </a:r>
            <a:endParaRPr lang="en-US" sz="1050" dirty="0"/>
          </a:p>
        </p:txBody>
      </p:sp>
      <p:sp>
        <p:nvSpPr>
          <p:cNvPr id="23" name="Text 21"/>
          <p:cNvSpPr/>
          <p:nvPr/>
        </p:nvSpPr>
        <p:spPr>
          <a:xfrm>
            <a:off x="8503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Used '0.85 × ln(1+T)/T' as duration factor. Corrected: BCBS formula is SD = (exp(−0.05S) − exp(−0.05E)) / 0.05. For 5yr IRS: SD = 4.42yr, not ~4yr.</a:t>
            </a:r>
            <a:endParaRPr lang="en-US" sz="900" dirty="0"/>
          </a:p>
        </p:txBody>
      </p:sp>
      <p:sp>
        <p:nvSpPr>
          <p:cNvPr id="24" name="Shape 22"/>
          <p:cNvSpPr/>
          <p:nvPr/>
        </p:nvSpPr>
        <p:spPr>
          <a:xfrm>
            <a:off x="45994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4599432" y="777240"/>
            <a:ext cx="502920" cy="1298448"/>
          </a:xfrm>
          <a:prstGeom prst="rect">
            <a:avLst/>
          </a:prstGeom>
          <a:solidFill>
            <a:srgbClr val="0E6B8A"/>
          </a:solidFill>
          <a:ln/>
        </p:spPr>
      </p:sp>
      <p:sp>
        <p:nvSpPr>
          <p:cNvPr id="26" name="Text 24"/>
          <p:cNvSpPr/>
          <p:nvPr/>
        </p:nvSpPr>
        <p:spPr>
          <a:xfrm>
            <a:off x="45994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7" name="Text 25"/>
          <p:cNvSpPr/>
          <p:nvPr/>
        </p:nvSpPr>
        <p:spPr>
          <a:xfrm>
            <a:off x="45994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28" name="Text 26"/>
          <p:cNvSpPr/>
          <p:nvPr/>
        </p:nvSpPr>
        <p:spPr>
          <a:xfrm>
            <a:off x="5193792" y="850392"/>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BCBS Founding Members</a:t>
            </a:r>
            <a:endParaRPr lang="en-US" sz="1050" dirty="0"/>
          </a:p>
        </p:txBody>
      </p:sp>
      <p:sp>
        <p:nvSpPr>
          <p:cNvPr id="29" name="Text 27"/>
          <p:cNvSpPr/>
          <p:nvPr/>
        </p:nvSpPr>
        <p:spPr>
          <a:xfrm>
            <a:off x="51937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Stated '14 countries'. Corrected: 12 member jurisdictions formed the G10-based BCBS (Belgium, Canada, France, Germany, Italy, Japan, Luxembourg, Netherlands, Sweden, Switzerland, UK, US).</a:t>
            </a:r>
            <a:endParaRPr lang="en-US" sz="900" dirty="0"/>
          </a:p>
        </p:txBody>
      </p:sp>
      <p:sp>
        <p:nvSpPr>
          <p:cNvPr id="30" name="Shape 28"/>
          <p:cNvSpPr/>
          <p:nvPr/>
        </p:nvSpPr>
        <p:spPr>
          <a:xfrm>
            <a:off x="45994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4599432" y="2167128"/>
            <a:ext cx="502920" cy="1298448"/>
          </a:xfrm>
          <a:prstGeom prst="rect">
            <a:avLst/>
          </a:prstGeom>
          <a:solidFill>
            <a:srgbClr val="0E6B8A"/>
          </a:solidFill>
          <a:ln/>
        </p:spPr>
      </p:sp>
      <p:sp>
        <p:nvSpPr>
          <p:cNvPr id="32" name="Text 30"/>
          <p:cNvSpPr/>
          <p:nvPr/>
        </p:nvSpPr>
        <p:spPr>
          <a:xfrm>
            <a:off x="45994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33" name="Text 31"/>
          <p:cNvSpPr/>
          <p:nvPr/>
        </p:nvSpPr>
        <p:spPr>
          <a:xfrm>
            <a:off x="45994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34" name="Text 32"/>
          <p:cNvSpPr/>
          <p:nvPr/>
        </p:nvSpPr>
        <p:spPr>
          <a:xfrm>
            <a:off x="5193792" y="2240280"/>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CCyB Release Mechanism</a:t>
            </a:r>
            <a:endParaRPr lang="en-US" sz="1050" dirty="0"/>
          </a:p>
        </p:txBody>
      </p:sp>
      <p:sp>
        <p:nvSpPr>
          <p:cNvPr id="35" name="Text 33"/>
          <p:cNvSpPr/>
          <p:nvPr/>
        </p:nvSpPr>
        <p:spPr>
          <a:xfrm>
            <a:off x="51937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Described buffer only in terms of build-up during credit growth. Corrected: the release mechanism (rapid reduction in downturns to support lending) is equally important to the macro-prudential design.</a:t>
            </a:r>
            <a:endParaRPr lang="en-US" sz="900" dirty="0"/>
          </a:p>
        </p:txBody>
      </p:sp>
      <p:sp>
        <p:nvSpPr>
          <p:cNvPr id="36" name="Shape 34"/>
          <p:cNvSpPr/>
          <p:nvPr/>
        </p:nvSpPr>
        <p:spPr>
          <a:xfrm>
            <a:off x="45994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599432" y="3557016"/>
            <a:ext cx="502920" cy="1298448"/>
          </a:xfrm>
          <a:prstGeom prst="rect">
            <a:avLst/>
          </a:prstGeom>
          <a:solidFill>
            <a:srgbClr val="0E6B8A"/>
          </a:solidFill>
          <a:ln/>
        </p:spPr>
      </p:sp>
      <p:sp>
        <p:nvSpPr>
          <p:cNvPr id="38" name="Text 36"/>
          <p:cNvSpPr/>
          <p:nvPr/>
        </p:nvSpPr>
        <p:spPr>
          <a:xfrm>
            <a:off x="45994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39" name="Text 37"/>
          <p:cNvSpPr/>
          <p:nvPr/>
        </p:nvSpPr>
        <p:spPr>
          <a:xfrm>
            <a:off x="45994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40" name="Text 38"/>
          <p:cNvSpPr/>
          <p:nvPr/>
        </p:nvSpPr>
        <p:spPr>
          <a:xfrm>
            <a:off x="5193792" y="3630168"/>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Market Risk Capital Formula</a:t>
            </a:r>
            <a:endParaRPr lang="en-US" sz="1050" dirty="0"/>
          </a:p>
        </p:txBody>
      </p:sp>
      <p:sp>
        <p:nvSpPr>
          <p:cNvPr id="41" name="Text 39"/>
          <p:cNvSpPr/>
          <p:nvPr/>
        </p:nvSpPr>
        <p:spPr>
          <a:xfrm>
            <a:off x="51937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Expression was ambiguous. Corrected: capital = max(VaR_{t-1}, mc × avg₆₀VaR), where VaR already on 10-day basis. mc ≥ 3.0, rising to 4.0 with backtesting exceptions.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The Knowledge Repository</a:t>
            </a:r>
            <a:endParaRPr lang="en-US" sz="900" dirty="0"/>
          </a:p>
        </p:txBody>
      </p:sp>
      <p:sp>
        <p:nvSpPr>
          <p:cNvPr id="4" name="Shape 2"/>
          <p:cNvSpPr/>
          <p:nvPr/>
        </p:nvSpPr>
        <p:spPr>
          <a:xfrm>
            <a:off x="0" y="0"/>
            <a:ext cx="164592" cy="5143500"/>
          </a:xfrm>
          <a:prstGeom prst="rect">
            <a:avLst/>
          </a:prstGeom>
          <a:solidFill>
            <a:srgbClr val="C9A84C"/>
          </a:solidFill>
          <a:ln/>
        </p:spPr>
      </p:sp>
      <p:sp>
        <p:nvSpPr>
          <p:cNvPr id="5" name="Text 3"/>
          <p:cNvSpPr/>
          <p:nvPr/>
        </p:nvSpPr>
        <p:spPr>
          <a:xfrm>
            <a:off x="365760" y="182880"/>
            <a:ext cx="8412480" cy="548640"/>
          </a:xfrm>
          <a:prstGeom prst="rect">
            <a:avLst/>
          </a:prstGeom>
          <a:noFill/>
          <a:ln/>
        </p:spPr>
        <p:txBody>
          <a:bodyPr wrap="square" lIns="0" tIns="0" rIns="0" bIns="0" rtlCol="0" anchor="ctr"/>
          <a:lstStyle/>
          <a:p>
            <a:pPr indent="0" marL="0">
              <a:buNone/>
            </a:pPr>
            <a:r>
              <a:rPr lang="en-US" sz="2600" b="1" dirty="0">
                <a:solidFill>
                  <a:srgbClr val="FFFFFF"/>
                </a:solidFill>
              </a:rPr>
              <a:t>Building an Industry Knowledge Repository</a:t>
            </a:r>
            <a:endParaRPr lang="en-US" sz="26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400" i="1" dirty="0">
                <a:solidFill>
                  <a:srgbClr val="C9A84C"/>
                </a:solidFill>
              </a:rPr>
              <a:t>Making 26 years of practitioner expertise accessible to the next generation</a:t>
            </a:r>
            <a:endParaRPr lang="en-US" sz="1400" dirty="0"/>
          </a:p>
        </p:txBody>
      </p:sp>
      <p:sp>
        <p:nvSpPr>
          <p:cNvPr id="7" name="Shape 5"/>
          <p:cNvSpPr/>
          <p:nvPr/>
        </p:nvSpPr>
        <p:spPr>
          <a:xfrm>
            <a:off x="34747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8" name="Shape 6"/>
          <p:cNvSpPr/>
          <p:nvPr/>
        </p:nvSpPr>
        <p:spPr>
          <a:xfrm>
            <a:off x="347472" y="1170432"/>
            <a:ext cx="2743200" cy="64008"/>
          </a:xfrm>
          <a:prstGeom prst="rect">
            <a:avLst/>
          </a:prstGeom>
          <a:solidFill>
            <a:srgbClr val="0E6B8A"/>
          </a:solidFill>
          <a:ln/>
        </p:spPr>
      </p:sp>
      <p:sp>
        <p:nvSpPr>
          <p:cNvPr id="9" name="Text 7"/>
          <p:cNvSpPr/>
          <p:nvPr/>
        </p:nvSpPr>
        <p:spPr>
          <a:xfrm>
            <a:off x="457200" y="1261872"/>
            <a:ext cx="2523744" cy="274320"/>
          </a:xfrm>
          <a:prstGeom prst="rect">
            <a:avLst/>
          </a:prstGeom>
          <a:noFill/>
          <a:ln/>
        </p:spPr>
        <p:txBody>
          <a:bodyPr wrap="square" lIns="0" tIns="0" rIns="0" bIns="0" rtlCol="0" anchor="ctr"/>
          <a:lstStyle/>
          <a:p>
            <a:pPr indent="0" marL="0">
              <a:buNone/>
            </a:pPr>
            <a:r>
              <a:rPr lang="en-US" sz="1100" b="1" spc="200" kern="0" dirty="0">
                <a:solidFill>
                  <a:srgbClr val="0E6B8A"/>
                </a:solidFill>
              </a:rPr>
              <a:t>THE PROBLEM</a:t>
            </a:r>
            <a:endParaRPr lang="en-US" sz="1100" dirty="0"/>
          </a:p>
        </p:txBody>
      </p:sp>
      <p:sp>
        <p:nvSpPr>
          <p:cNvPr id="10" name="Text 8"/>
          <p:cNvSpPr/>
          <p:nvPr/>
        </p:nvSpPr>
        <p:spPr>
          <a:xfrm>
            <a:off x="45720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Institutional knowledge lives in the heads of experienced practitioners. BIS papers are dense. Online summaries skip the nuance. Juniors entering Reg-Tech, Credit Risk, or Derivatives have no accessible practitioner-grade reference.</a:t>
            </a:r>
            <a:endParaRPr lang="en-US" sz="1050" dirty="0"/>
          </a:p>
        </p:txBody>
      </p:sp>
      <p:sp>
        <p:nvSpPr>
          <p:cNvPr id="11" name="Shape 9"/>
          <p:cNvSpPr/>
          <p:nvPr/>
        </p:nvSpPr>
        <p:spPr>
          <a:xfrm>
            <a:off x="322783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2" name="Shape 10"/>
          <p:cNvSpPr/>
          <p:nvPr/>
        </p:nvSpPr>
        <p:spPr>
          <a:xfrm>
            <a:off x="3227832" y="1170432"/>
            <a:ext cx="2743200" cy="64008"/>
          </a:xfrm>
          <a:prstGeom prst="rect">
            <a:avLst/>
          </a:prstGeom>
          <a:solidFill>
            <a:srgbClr val="C9A84C"/>
          </a:solidFill>
          <a:ln/>
        </p:spPr>
      </p:sp>
      <p:sp>
        <p:nvSpPr>
          <p:cNvPr id="13" name="Text 11"/>
          <p:cNvSpPr/>
          <p:nvPr/>
        </p:nvSpPr>
        <p:spPr>
          <a:xfrm>
            <a:off x="3337560" y="1261872"/>
            <a:ext cx="2523744" cy="274320"/>
          </a:xfrm>
          <a:prstGeom prst="rect">
            <a:avLst/>
          </a:prstGeom>
          <a:noFill/>
          <a:ln/>
        </p:spPr>
        <p:txBody>
          <a:bodyPr wrap="square" lIns="0" tIns="0" rIns="0" bIns="0" rtlCol="0" anchor="ctr"/>
          <a:lstStyle/>
          <a:p>
            <a:pPr indent="0" marL="0">
              <a:buNone/>
            </a:pPr>
            <a:r>
              <a:rPr lang="en-US" sz="1100" b="1" spc="200" kern="0" dirty="0">
                <a:solidFill>
                  <a:srgbClr val="C9A84C"/>
                </a:solidFill>
              </a:rPr>
              <a:t>THE APPROACH</a:t>
            </a:r>
            <a:endParaRPr lang="en-US" sz="1100" dirty="0"/>
          </a:p>
        </p:txBody>
      </p:sp>
      <p:sp>
        <p:nvSpPr>
          <p:cNvPr id="14" name="Text 12"/>
          <p:cNvSpPr/>
          <p:nvPr/>
        </p:nvSpPr>
        <p:spPr>
          <a:xfrm>
            <a:off x="333756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Practitioner-directed AI co-authorship. Domain expertise (26yr) provides the frame, context, and critical review. Claude structures, drafts, and self-corrects. The result: accessible depth that neither could produce alone.</a:t>
            </a:r>
            <a:endParaRPr lang="en-US" sz="1050" dirty="0"/>
          </a:p>
        </p:txBody>
      </p:sp>
      <p:sp>
        <p:nvSpPr>
          <p:cNvPr id="15" name="Shape 13"/>
          <p:cNvSpPr/>
          <p:nvPr/>
        </p:nvSpPr>
        <p:spPr>
          <a:xfrm>
            <a:off x="610819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6" name="Shape 14"/>
          <p:cNvSpPr/>
          <p:nvPr/>
        </p:nvSpPr>
        <p:spPr>
          <a:xfrm>
            <a:off x="6108192" y="1170432"/>
            <a:ext cx="2743200" cy="64008"/>
          </a:xfrm>
          <a:prstGeom prst="rect">
            <a:avLst/>
          </a:prstGeom>
          <a:solidFill>
            <a:srgbClr val="D6EAF8"/>
          </a:solidFill>
          <a:ln/>
        </p:spPr>
      </p:sp>
      <p:sp>
        <p:nvSpPr>
          <p:cNvPr id="17" name="Text 15"/>
          <p:cNvSpPr/>
          <p:nvPr/>
        </p:nvSpPr>
        <p:spPr>
          <a:xfrm>
            <a:off x="6217920" y="1261872"/>
            <a:ext cx="2523744" cy="274320"/>
          </a:xfrm>
          <a:prstGeom prst="rect">
            <a:avLst/>
          </a:prstGeom>
          <a:noFill/>
          <a:ln/>
        </p:spPr>
        <p:txBody>
          <a:bodyPr wrap="square" lIns="0" tIns="0" rIns="0" bIns="0" rtlCol="0" anchor="ctr"/>
          <a:lstStyle/>
          <a:p>
            <a:pPr indent="0" marL="0">
              <a:buNone/>
            </a:pPr>
            <a:r>
              <a:rPr lang="en-US" sz="1100" b="1" spc="200" kern="0" dirty="0">
                <a:solidFill>
                  <a:srgbClr val="D6EAF8"/>
                </a:solidFill>
              </a:rPr>
              <a:t>THE OUTPUT</a:t>
            </a:r>
            <a:endParaRPr lang="en-US" sz="1100" dirty="0"/>
          </a:p>
        </p:txBody>
      </p:sp>
      <p:sp>
        <p:nvSpPr>
          <p:cNvPr id="18" name="Text 16"/>
          <p:cNvSpPr/>
          <p:nvPr/>
        </p:nvSpPr>
        <p:spPr>
          <a:xfrm>
            <a:off x="621792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Topic-by-topic reference documents: Basel I–IV, xVA (CVA/DVA/FVA/MVA), FRTB in practice, ISDA/netting, UMR margin reform, EMIR/CFTC/MAS trade reporting, clearing infrastructure, SA-CCR worked examples.</a:t>
            </a:r>
            <a:endParaRPr lang="en-US" sz="1050" dirty="0"/>
          </a:p>
        </p:txBody>
      </p:sp>
      <p:sp>
        <p:nvSpPr>
          <p:cNvPr id="19" name="Text 17"/>
          <p:cNvSpPr/>
          <p:nvPr/>
        </p:nvSpPr>
        <p:spPr>
          <a:xfrm>
            <a:off x="347472" y="4553712"/>
            <a:ext cx="8449056" cy="384048"/>
          </a:xfrm>
          <a:prstGeom prst="rect">
            <a:avLst/>
          </a:prstGeom>
          <a:noFill/>
          <a:ln/>
        </p:spPr>
        <p:txBody>
          <a:bodyPr wrap="square" lIns="0" tIns="0" rIns="0" bIns="0" rtlCol="0" anchor="ctr"/>
          <a:lstStyle/>
          <a:p>
            <a:pPr indent="0" marL="0">
              <a:buNone/>
            </a:pPr>
            <a:r>
              <a:rPr lang="en-US" sz="1100" b="1" dirty="0">
                <a:solidFill>
                  <a:srgbClr val="C9A84C"/>
                </a:solidFill>
              </a:rPr>
              <a:t>Topics ahead: </a:t>
            </a:r>
            <a:pPr indent="0" marL="0">
              <a:buNone/>
            </a:pPr>
            <a:r>
              <a:rPr lang="en-US" sz="1100" dirty="0">
                <a:solidFill>
                  <a:srgbClr val="8899AA"/>
                </a:solidFill>
              </a:rPr>
              <a:t>xVA &amp; Counterparty Risk  |  FRTB Implementation  |  ISDA &amp; Netting  |  UMR Margin Reform  |  EMIR/CFTC/MAS Reporting  |  CCP Architecture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Sources &amp; Closing</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Primary Sources &amp; Further Reading</a:t>
            </a:r>
            <a:endParaRPr lang="en-US" sz="2200" dirty="0"/>
          </a:p>
        </p:txBody>
      </p:sp>
      <p:sp>
        <p:nvSpPr>
          <p:cNvPr id="6" name="Shape 4"/>
          <p:cNvSpPr/>
          <p:nvPr/>
        </p:nvSpPr>
        <p:spPr>
          <a:xfrm>
            <a:off x="274320" y="777240"/>
            <a:ext cx="5120640" cy="320040"/>
          </a:xfrm>
          <a:prstGeom prst="rect">
            <a:avLst/>
          </a:prstGeom>
          <a:solidFill>
            <a:srgbClr val="0E6B8A"/>
          </a:solidFill>
          <a:ln/>
        </p:spPr>
      </p:sp>
      <p:sp>
        <p:nvSpPr>
          <p:cNvPr id="7" name="Text 5"/>
          <p:cNvSpPr/>
          <p:nvPr/>
        </p:nvSpPr>
        <p:spPr>
          <a:xfrm>
            <a:off x="274320" y="777240"/>
            <a:ext cx="5120640" cy="320040"/>
          </a:xfrm>
          <a:prstGeom prst="rect">
            <a:avLst/>
          </a:prstGeom>
          <a:noFill/>
          <a:ln/>
        </p:spPr>
        <p:txBody>
          <a:bodyPr wrap="square" lIns="0" tIns="0" rIns="0" bIns="0" rtlCol="0" anchor="ctr"/>
          <a:lstStyle/>
          <a:p>
            <a:pPr algn="ctr" indent="0" marL="0">
              <a:buNone/>
            </a:pPr>
            <a:r>
              <a:rPr lang="en-US" sz="900" b="1" dirty="0">
                <a:solidFill>
                  <a:srgbClr val="FFFFFF"/>
                </a:solidFill>
              </a:rPr>
              <a:t>PRIMARY BCBS / BIS PUBLICATIONS</a:t>
            </a:r>
            <a:endParaRPr lang="en-US" sz="900" dirty="0"/>
          </a:p>
        </p:txBody>
      </p:sp>
      <p:sp>
        <p:nvSpPr>
          <p:cNvPr id="8" name="Shape 6"/>
          <p:cNvSpPr/>
          <p:nvPr/>
        </p:nvSpPr>
        <p:spPr>
          <a:xfrm>
            <a:off x="274320" y="1097280"/>
            <a:ext cx="5120640" cy="347472"/>
          </a:xfrm>
          <a:prstGeom prst="rect">
            <a:avLst/>
          </a:prstGeom>
          <a:solidFill>
            <a:srgbClr val="FFFFFF"/>
          </a:solidFill>
          <a:ln/>
        </p:spPr>
      </p:sp>
      <p:sp>
        <p:nvSpPr>
          <p:cNvPr id="9" name="Shape 7"/>
          <p:cNvSpPr/>
          <p:nvPr/>
        </p:nvSpPr>
        <p:spPr>
          <a:xfrm>
            <a:off x="274320" y="1097280"/>
            <a:ext cx="54864" cy="347472"/>
          </a:xfrm>
          <a:prstGeom prst="rect">
            <a:avLst/>
          </a:prstGeom>
          <a:solidFill>
            <a:srgbClr val="0E6B8A"/>
          </a:solidFill>
          <a:ln/>
        </p:spPr>
      </p:sp>
      <p:sp>
        <p:nvSpPr>
          <p:cNvPr id="10" name="Text 8"/>
          <p:cNvSpPr/>
          <p:nvPr/>
        </p:nvSpPr>
        <p:spPr>
          <a:xfrm>
            <a:off x="393192" y="109728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(1988) — International Convergence of Capital Measurement and Capital Standards</a:t>
            </a:r>
            <a:endParaRPr lang="en-US" sz="900" dirty="0"/>
          </a:p>
        </p:txBody>
      </p:sp>
      <p:sp>
        <p:nvSpPr>
          <p:cNvPr id="11" name="Shape 9"/>
          <p:cNvSpPr/>
          <p:nvPr/>
        </p:nvSpPr>
        <p:spPr>
          <a:xfrm>
            <a:off x="274320" y="1444752"/>
            <a:ext cx="5120640" cy="347472"/>
          </a:xfrm>
          <a:prstGeom prst="rect">
            <a:avLst/>
          </a:prstGeom>
          <a:solidFill>
            <a:srgbClr val="F4F6F8"/>
          </a:solidFill>
          <a:ln/>
        </p:spPr>
      </p:sp>
      <p:sp>
        <p:nvSpPr>
          <p:cNvPr id="12" name="Shape 10"/>
          <p:cNvSpPr/>
          <p:nvPr/>
        </p:nvSpPr>
        <p:spPr>
          <a:xfrm>
            <a:off x="274320" y="1444752"/>
            <a:ext cx="54864" cy="347472"/>
          </a:xfrm>
          <a:prstGeom prst="rect">
            <a:avLst/>
          </a:prstGeom>
          <a:solidFill>
            <a:srgbClr val="0E6B8A"/>
          </a:solidFill>
          <a:ln/>
        </p:spPr>
      </p:sp>
      <p:sp>
        <p:nvSpPr>
          <p:cNvPr id="13" name="Text 11"/>
          <p:cNvSpPr/>
          <p:nvPr/>
        </p:nvSpPr>
        <p:spPr>
          <a:xfrm>
            <a:off x="393192" y="144475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(1996) — Amendment to the Capital Accord to Incorporate Market Risks</a:t>
            </a:r>
            <a:endParaRPr lang="en-US" sz="900" dirty="0"/>
          </a:p>
        </p:txBody>
      </p:sp>
      <p:sp>
        <p:nvSpPr>
          <p:cNvPr id="14" name="Shape 12"/>
          <p:cNvSpPr/>
          <p:nvPr/>
        </p:nvSpPr>
        <p:spPr>
          <a:xfrm>
            <a:off x="274320" y="1792224"/>
            <a:ext cx="5120640" cy="347472"/>
          </a:xfrm>
          <a:prstGeom prst="rect">
            <a:avLst/>
          </a:prstGeom>
          <a:solidFill>
            <a:srgbClr val="FFFFFF"/>
          </a:solidFill>
          <a:ln/>
        </p:spPr>
      </p:sp>
      <p:sp>
        <p:nvSpPr>
          <p:cNvPr id="15" name="Shape 13"/>
          <p:cNvSpPr/>
          <p:nvPr/>
        </p:nvSpPr>
        <p:spPr>
          <a:xfrm>
            <a:off x="274320" y="1792224"/>
            <a:ext cx="54864" cy="347472"/>
          </a:xfrm>
          <a:prstGeom prst="rect">
            <a:avLst/>
          </a:prstGeom>
          <a:solidFill>
            <a:srgbClr val="0E6B8A"/>
          </a:solidFill>
          <a:ln/>
        </p:spPr>
      </p:sp>
      <p:sp>
        <p:nvSpPr>
          <p:cNvPr id="16" name="Text 14"/>
          <p:cNvSpPr/>
          <p:nvPr/>
        </p:nvSpPr>
        <p:spPr>
          <a:xfrm>
            <a:off x="393192" y="179222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(2004/2006) — Basel II Revised Framework (Comprehensive Version)</a:t>
            </a:r>
            <a:endParaRPr lang="en-US" sz="900" dirty="0"/>
          </a:p>
        </p:txBody>
      </p:sp>
      <p:sp>
        <p:nvSpPr>
          <p:cNvPr id="17" name="Shape 15"/>
          <p:cNvSpPr/>
          <p:nvPr/>
        </p:nvSpPr>
        <p:spPr>
          <a:xfrm>
            <a:off x="274320" y="2139696"/>
            <a:ext cx="5120640" cy="347472"/>
          </a:xfrm>
          <a:prstGeom prst="rect">
            <a:avLst/>
          </a:prstGeom>
          <a:solidFill>
            <a:srgbClr val="F4F6F8"/>
          </a:solidFill>
          <a:ln/>
        </p:spPr>
      </p:sp>
      <p:sp>
        <p:nvSpPr>
          <p:cNvPr id="18" name="Shape 16"/>
          <p:cNvSpPr/>
          <p:nvPr/>
        </p:nvSpPr>
        <p:spPr>
          <a:xfrm>
            <a:off x="274320" y="2139696"/>
            <a:ext cx="54864" cy="347472"/>
          </a:xfrm>
          <a:prstGeom prst="rect">
            <a:avLst/>
          </a:prstGeom>
          <a:solidFill>
            <a:srgbClr val="0E6B8A"/>
          </a:solidFill>
          <a:ln/>
        </p:spPr>
      </p:sp>
      <p:sp>
        <p:nvSpPr>
          <p:cNvPr id="19" name="Text 17"/>
          <p:cNvSpPr/>
          <p:nvPr/>
        </p:nvSpPr>
        <p:spPr>
          <a:xfrm>
            <a:off x="393192" y="213969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(2010/2011) — Basel III: A global regulatory framework</a:t>
            </a:r>
            <a:endParaRPr lang="en-US" sz="900" dirty="0"/>
          </a:p>
        </p:txBody>
      </p:sp>
      <p:sp>
        <p:nvSpPr>
          <p:cNvPr id="20" name="Shape 18"/>
          <p:cNvSpPr/>
          <p:nvPr/>
        </p:nvSpPr>
        <p:spPr>
          <a:xfrm>
            <a:off x="274320" y="2487168"/>
            <a:ext cx="5120640" cy="347472"/>
          </a:xfrm>
          <a:prstGeom prst="rect">
            <a:avLst/>
          </a:prstGeom>
          <a:solidFill>
            <a:srgbClr val="FFFFFF"/>
          </a:solidFill>
          <a:ln/>
        </p:spPr>
      </p:sp>
      <p:sp>
        <p:nvSpPr>
          <p:cNvPr id="21" name="Shape 19"/>
          <p:cNvSpPr/>
          <p:nvPr/>
        </p:nvSpPr>
        <p:spPr>
          <a:xfrm>
            <a:off x="274320" y="2487168"/>
            <a:ext cx="54864" cy="347472"/>
          </a:xfrm>
          <a:prstGeom prst="rect">
            <a:avLst/>
          </a:prstGeom>
          <a:solidFill>
            <a:srgbClr val="0E6B8A"/>
          </a:solidFill>
          <a:ln/>
        </p:spPr>
      </p:sp>
      <p:sp>
        <p:nvSpPr>
          <p:cNvPr id="22" name="Text 20"/>
          <p:cNvSpPr/>
          <p:nvPr/>
        </p:nvSpPr>
        <p:spPr>
          <a:xfrm>
            <a:off x="393192" y="248716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(2013) — Basel III: Liquidity Coverage Ratio</a:t>
            </a:r>
            <a:endParaRPr lang="en-US" sz="900" dirty="0"/>
          </a:p>
        </p:txBody>
      </p:sp>
      <p:sp>
        <p:nvSpPr>
          <p:cNvPr id="23" name="Shape 21"/>
          <p:cNvSpPr/>
          <p:nvPr/>
        </p:nvSpPr>
        <p:spPr>
          <a:xfrm>
            <a:off x="274320" y="2834640"/>
            <a:ext cx="5120640" cy="347472"/>
          </a:xfrm>
          <a:prstGeom prst="rect">
            <a:avLst/>
          </a:prstGeom>
          <a:solidFill>
            <a:srgbClr val="F4F6F8"/>
          </a:solidFill>
          <a:ln/>
        </p:spPr>
      </p:sp>
      <p:sp>
        <p:nvSpPr>
          <p:cNvPr id="24" name="Shape 22"/>
          <p:cNvSpPr/>
          <p:nvPr/>
        </p:nvSpPr>
        <p:spPr>
          <a:xfrm>
            <a:off x="274320" y="2834640"/>
            <a:ext cx="54864" cy="347472"/>
          </a:xfrm>
          <a:prstGeom prst="rect">
            <a:avLst/>
          </a:prstGeom>
          <a:solidFill>
            <a:srgbClr val="0E6B8A"/>
          </a:solidFill>
          <a:ln/>
        </p:spPr>
      </p:sp>
      <p:sp>
        <p:nvSpPr>
          <p:cNvPr id="25" name="Text 23"/>
          <p:cNvSpPr/>
          <p:nvPr/>
        </p:nvSpPr>
        <p:spPr>
          <a:xfrm>
            <a:off x="393192" y="283464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Basel III: Net Stable Funding Ratio</a:t>
            </a:r>
            <a:endParaRPr lang="en-US" sz="900" dirty="0"/>
          </a:p>
        </p:txBody>
      </p:sp>
      <p:sp>
        <p:nvSpPr>
          <p:cNvPr id="26" name="Shape 24"/>
          <p:cNvSpPr/>
          <p:nvPr/>
        </p:nvSpPr>
        <p:spPr>
          <a:xfrm>
            <a:off x="274320" y="3182112"/>
            <a:ext cx="5120640" cy="347472"/>
          </a:xfrm>
          <a:prstGeom prst="rect">
            <a:avLst/>
          </a:prstGeom>
          <a:solidFill>
            <a:srgbClr val="FFFFFF"/>
          </a:solidFill>
          <a:ln/>
        </p:spPr>
      </p:sp>
      <p:sp>
        <p:nvSpPr>
          <p:cNvPr id="27" name="Shape 25"/>
          <p:cNvSpPr/>
          <p:nvPr/>
        </p:nvSpPr>
        <p:spPr>
          <a:xfrm>
            <a:off x="274320" y="3182112"/>
            <a:ext cx="54864" cy="347472"/>
          </a:xfrm>
          <a:prstGeom prst="rect">
            <a:avLst/>
          </a:prstGeom>
          <a:solidFill>
            <a:srgbClr val="0E6B8A"/>
          </a:solidFill>
          <a:ln/>
        </p:spPr>
      </p:sp>
      <p:sp>
        <p:nvSpPr>
          <p:cNvPr id="28" name="Text 26"/>
          <p:cNvSpPr/>
          <p:nvPr/>
        </p:nvSpPr>
        <p:spPr>
          <a:xfrm>
            <a:off x="393192" y="318211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SA-CCR: The standardised approach for measuring CCR</a:t>
            </a:r>
            <a:endParaRPr lang="en-US" sz="900" dirty="0"/>
          </a:p>
        </p:txBody>
      </p:sp>
      <p:sp>
        <p:nvSpPr>
          <p:cNvPr id="29" name="Shape 27"/>
          <p:cNvSpPr/>
          <p:nvPr/>
        </p:nvSpPr>
        <p:spPr>
          <a:xfrm>
            <a:off x="274320" y="3529584"/>
            <a:ext cx="5120640" cy="347472"/>
          </a:xfrm>
          <a:prstGeom prst="rect">
            <a:avLst/>
          </a:prstGeom>
          <a:solidFill>
            <a:srgbClr val="F4F6F8"/>
          </a:solidFill>
          <a:ln/>
        </p:spPr>
      </p:sp>
      <p:sp>
        <p:nvSpPr>
          <p:cNvPr id="30" name="Shape 28"/>
          <p:cNvSpPr/>
          <p:nvPr/>
        </p:nvSpPr>
        <p:spPr>
          <a:xfrm>
            <a:off x="274320" y="3529584"/>
            <a:ext cx="54864" cy="347472"/>
          </a:xfrm>
          <a:prstGeom prst="rect">
            <a:avLst/>
          </a:prstGeom>
          <a:solidFill>
            <a:srgbClr val="0E6B8A"/>
          </a:solidFill>
          <a:ln/>
        </p:spPr>
      </p:sp>
      <p:sp>
        <p:nvSpPr>
          <p:cNvPr id="31" name="Text 29"/>
          <p:cNvSpPr/>
          <p:nvPr/>
        </p:nvSpPr>
        <p:spPr>
          <a:xfrm>
            <a:off x="393192" y="352958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(2016) — Standardised Measurement Approach for Operational Risk</a:t>
            </a:r>
            <a:endParaRPr lang="en-US" sz="900" dirty="0"/>
          </a:p>
        </p:txBody>
      </p:sp>
      <p:sp>
        <p:nvSpPr>
          <p:cNvPr id="32" name="Shape 30"/>
          <p:cNvSpPr/>
          <p:nvPr/>
        </p:nvSpPr>
        <p:spPr>
          <a:xfrm>
            <a:off x="274320" y="3877056"/>
            <a:ext cx="5120640" cy="347472"/>
          </a:xfrm>
          <a:prstGeom prst="rect">
            <a:avLst/>
          </a:prstGeom>
          <a:solidFill>
            <a:srgbClr val="FFFFFF"/>
          </a:solidFill>
          <a:ln/>
        </p:spPr>
      </p:sp>
      <p:sp>
        <p:nvSpPr>
          <p:cNvPr id="33" name="Shape 31"/>
          <p:cNvSpPr/>
          <p:nvPr/>
        </p:nvSpPr>
        <p:spPr>
          <a:xfrm>
            <a:off x="274320" y="3877056"/>
            <a:ext cx="54864" cy="347472"/>
          </a:xfrm>
          <a:prstGeom prst="rect">
            <a:avLst/>
          </a:prstGeom>
          <a:solidFill>
            <a:srgbClr val="0E6B8A"/>
          </a:solidFill>
          <a:ln/>
        </p:spPr>
      </p:sp>
      <p:sp>
        <p:nvSpPr>
          <p:cNvPr id="34" name="Text 32"/>
          <p:cNvSpPr/>
          <p:nvPr/>
        </p:nvSpPr>
        <p:spPr>
          <a:xfrm>
            <a:off x="393192" y="387705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(2017) — Basel III: Finalising post-crisis reforms (Basel IV)</a:t>
            </a:r>
            <a:endParaRPr lang="en-US" sz="900" dirty="0"/>
          </a:p>
        </p:txBody>
      </p:sp>
      <p:sp>
        <p:nvSpPr>
          <p:cNvPr id="35" name="Shape 33"/>
          <p:cNvSpPr/>
          <p:nvPr/>
        </p:nvSpPr>
        <p:spPr>
          <a:xfrm>
            <a:off x="274320" y="4224528"/>
            <a:ext cx="5120640" cy="347472"/>
          </a:xfrm>
          <a:prstGeom prst="rect">
            <a:avLst/>
          </a:prstGeom>
          <a:solidFill>
            <a:srgbClr val="F4F6F8"/>
          </a:solidFill>
          <a:ln/>
        </p:spPr>
      </p:sp>
      <p:sp>
        <p:nvSpPr>
          <p:cNvPr id="36" name="Shape 34"/>
          <p:cNvSpPr/>
          <p:nvPr/>
        </p:nvSpPr>
        <p:spPr>
          <a:xfrm>
            <a:off x="274320" y="4224528"/>
            <a:ext cx="54864" cy="347472"/>
          </a:xfrm>
          <a:prstGeom prst="rect">
            <a:avLst/>
          </a:prstGeom>
          <a:solidFill>
            <a:srgbClr val="0E6B8A"/>
          </a:solidFill>
          <a:ln/>
        </p:spPr>
      </p:sp>
      <p:sp>
        <p:nvSpPr>
          <p:cNvPr id="37" name="Text 35"/>
          <p:cNvSpPr/>
          <p:nvPr/>
        </p:nvSpPr>
        <p:spPr>
          <a:xfrm>
            <a:off x="393192" y="422452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(2019) — Minimum capital requirements for market risk (FRTB final)</a:t>
            </a:r>
            <a:endParaRPr lang="en-US" sz="900" dirty="0"/>
          </a:p>
        </p:txBody>
      </p:sp>
      <p:sp>
        <p:nvSpPr>
          <p:cNvPr id="38" name="Text 36"/>
          <p:cNvSpPr/>
          <p:nvPr/>
        </p:nvSpPr>
        <p:spPr>
          <a:xfrm>
            <a:off x="274320" y="4572000"/>
            <a:ext cx="5120640" cy="256032"/>
          </a:xfrm>
          <a:prstGeom prst="rect">
            <a:avLst/>
          </a:prstGeom>
          <a:noFill/>
          <a:ln/>
        </p:spPr>
        <p:txBody>
          <a:bodyPr wrap="square" lIns="0" tIns="0" rIns="0" bIns="0" rtlCol="0" anchor="ctr"/>
          <a:lstStyle/>
          <a:p>
            <a:pPr indent="0" marL="0">
              <a:buNone/>
            </a:pPr>
            <a:r>
              <a:rPr lang="en-US" sz="850" i="1" dirty="0">
                <a:solidFill>
                  <a:srgbClr val="8899AA"/>
                </a:solidFill>
              </a:rPr>
              <a:t>All BCBS documents freely available at: bis.org/bcbs/publ.htm</a:t>
            </a:r>
            <a:endParaRPr lang="en-US" sz="850" dirty="0"/>
          </a:p>
        </p:txBody>
      </p:sp>
      <p:sp>
        <p:nvSpPr>
          <p:cNvPr id="39" name="Shape 37"/>
          <p:cNvSpPr/>
          <p:nvPr/>
        </p:nvSpPr>
        <p:spPr>
          <a:xfrm>
            <a:off x="5577840" y="777240"/>
            <a:ext cx="3291840" cy="320040"/>
          </a:xfrm>
          <a:prstGeom prst="rect">
            <a:avLst/>
          </a:prstGeom>
          <a:solidFill>
            <a:srgbClr val="1B3A6B"/>
          </a:solidFill>
          <a:ln/>
        </p:spPr>
      </p:sp>
      <p:sp>
        <p:nvSpPr>
          <p:cNvPr id="40" name="Text 38"/>
          <p:cNvSpPr/>
          <p:nvPr/>
        </p:nvSpPr>
        <p:spPr>
          <a:xfrm>
            <a:off x="5577840" y="777240"/>
            <a:ext cx="3291840" cy="320040"/>
          </a:xfrm>
          <a:prstGeom prst="rect">
            <a:avLst/>
          </a:prstGeom>
          <a:noFill/>
          <a:ln/>
        </p:spPr>
        <p:txBody>
          <a:bodyPr wrap="square" lIns="0" tIns="0" rIns="0" bIns="0" rtlCol="0" anchor="ctr"/>
          <a:lstStyle/>
          <a:p>
            <a:pPr algn="ctr" indent="0" marL="0">
              <a:buNone/>
            </a:pPr>
            <a:r>
              <a:rPr lang="en-US" sz="900" b="1" dirty="0">
                <a:solidFill>
                  <a:srgbClr val="FFFFFF"/>
                </a:solidFill>
              </a:rPr>
              <a:t>PRACTITIONER LITERATURE</a:t>
            </a:r>
            <a:endParaRPr lang="en-US" sz="900" dirty="0"/>
          </a:p>
        </p:txBody>
      </p:sp>
      <p:sp>
        <p:nvSpPr>
          <p:cNvPr id="41" name="Shape 39"/>
          <p:cNvSpPr/>
          <p:nvPr/>
        </p:nvSpPr>
        <p:spPr>
          <a:xfrm>
            <a:off x="5577840" y="1097280"/>
            <a:ext cx="3291840" cy="457200"/>
          </a:xfrm>
          <a:prstGeom prst="rect">
            <a:avLst/>
          </a:prstGeom>
          <a:solidFill>
            <a:srgbClr val="FFFFFF"/>
          </a:solidFill>
          <a:ln/>
        </p:spPr>
      </p:sp>
      <p:sp>
        <p:nvSpPr>
          <p:cNvPr id="42" name="Text 40"/>
          <p:cNvSpPr/>
          <p:nvPr/>
        </p:nvSpPr>
        <p:spPr>
          <a:xfrm>
            <a:off x="5669280" y="1097280"/>
            <a:ext cx="3108960" cy="457200"/>
          </a:xfrm>
          <a:prstGeom prst="rect">
            <a:avLst/>
          </a:prstGeom>
          <a:noFill/>
          <a:ln/>
        </p:spPr>
        <p:txBody>
          <a:bodyPr wrap="square" lIns="0" tIns="0" rIns="0" bIns="0" rtlCol="0" anchor="ctr"/>
          <a:lstStyle/>
          <a:p>
            <a:pPr indent="0" marL="0">
              <a:buNone/>
            </a:pPr>
            <a:r>
              <a:rPr lang="en-US" sz="950" dirty="0">
                <a:solidFill>
                  <a:srgbClr val="1A1A2E"/>
                </a:solidFill>
              </a:rPr>
              <a:t>Gregory, J. — The xVA Challenge (Wiley, 2020)</a:t>
            </a:r>
            <a:endParaRPr lang="en-US" sz="950" dirty="0"/>
          </a:p>
        </p:txBody>
      </p:sp>
      <p:sp>
        <p:nvSpPr>
          <p:cNvPr id="43" name="Shape 41"/>
          <p:cNvSpPr/>
          <p:nvPr/>
        </p:nvSpPr>
        <p:spPr>
          <a:xfrm>
            <a:off x="5577840" y="1554480"/>
            <a:ext cx="3291840" cy="457200"/>
          </a:xfrm>
          <a:prstGeom prst="rect">
            <a:avLst/>
          </a:prstGeom>
          <a:solidFill>
            <a:srgbClr val="F4F6F8"/>
          </a:solidFill>
          <a:ln/>
        </p:spPr>
      </p:sp>
      <p:sp>
        <p:nvSpPr>
          <p:cNvPr id="44" name="Text 42"/>
          <p:cNvSpPr/>
          <p:nvPr/>
        </p:nvSpPr>
        <p:spPr>
          <a:xfrm>
            <a:off x="5669280" y="1554480"/>
            <a:ext cx="3108960" cy="457200"/>
          </a:xfrm>
          <a:prstGeom prst="rect">
            <a:avLst/>
          </a:prstGeom>
          <a:noFill/>
          <a:ln/>
        </p:spPr>
        <p:txBody>
          <a:bodyPr wrap="square" lIns="0" tIns="0" rIns="0" bIns="0" rtlCol="0" anchor="ctr"/>
          <a:lstStyle/>
          <a:p>
            <a:pPr indent="0" marL="0">
              <a:buNone/>
            </a:pPr>
            <a:r>
              <a:rPr lang="en-US" sz="950" dirty="0">
                <a:solidFill>
                  <a:srgbClr val="1A1A2E"/>
                </a:solidFill>
              </a:rPr>
              <a:t>Roncalli, T. — Handbook on Financial Risk Management (CRC, 2020)</a:t>
            </a:r>
            <a:endParaRPr lang="en-US" sz="950" dirty="0"/>
          </a:p>
        </p:txBody>
      </p:sp>
      <p:sp>
        <p:nvSpPr>
          <p:cNvPr id="45" name="Shape 43"/>
          <p:cNvSpPr/>
          <p:nvPr/>
        </p:nvSpPr>
        <p:spPr>
          <a:xfrm>
            <a:off x="5577840" y="2011680"/>
            <a:ext cx="3291840" cy="457200"/>
          </a:xfrm>
          <a:prstGeom prst="rect">
            <a:avLst/>
          </a:prstGeom>
          <a:solidFill>
            <a:srgbClr val="FFFFFF"/>
          </a:solidFill>
          <a:ln/>
        </p:spPr>
      </p:sp>
      <p:sp>
        <p:nvSpPr>
          <p:cNvPr id="46" name="Text 44"/>
          <p:cNvSpPr/>
          <p:nvPr/>
        </p:nvSpPr>
        <p:spPr>
          <a:xfrm>
            <a:off x="5669280" y="2011680"/>
            <a:ext cx="3108960" cy="457200"/>
          </a:xfrm>
          <a:prstGeom prst="rect">
            <a:avLst/>
          </a:prstGeom>
          <a:noFill/>
          <a:ln/>
        </p:spPr>
        <p:txBody>
          <a:bodyPr wrap="square" lIns="0" tIns="0" rIns="0" bIns="0" rtlCol="0" anchor="ctr"/>
          <a:lstStyle/>
          <a:p>
            <a:pPr indent="0" marL="0">
              <a:buNone/>
            </a:pPr>
            <a:r>
              <a:rPr lang="en-US" sz="950" dirty="0">
                <a:solidFill>
                  <a:srgbClr val="1A1A2E"/>
                </a:solidFill>
              </a:rPr>
              <a:t>Tarullo, D.K. — Banking on Basel (Peterson Institute, 2008)</a:t>
            </a:r>
            <a:endParaRPr lang="en-US" sz="950" dirty="0"/>
          </a:p>
        </p:txBody>
      </p:sp>
      <p:sp>
        <p:nvSpPr>
          <p:cNvPr id="47" name="Shape 45"/>
          <p:cNvSpPr/>
          <p:nvPr/>
        </p:nvSpPr>
        <p:spPr>
          <a:xfrm>
            <a:off x="5577840" y="2468880"/>
            <a:ext cx="3291840" cy="457200"/>
          </a:xfrm>
          <a:prstGeom prst="rect">
            <a:avLst/>
          </a:prstGeom>
          <a:solidFill>
            <a:srgbClr val="F4F6F8"/>
          </a:solidFill>
          <a:ln/>
        </p:spPr>
      </p:sp>
      <p:sp>
        <p:nvSpPr>
          <p:cNvPr id="48" name="Text 46"/>
          <p:cNvSpPr/>
          <p:nvPr/>
        </p:nvSpPr>
        <p:spPr>
          <a:xfrm>
            <a:off x="5669280" y="2468880"/>
            <a:ext cx="3108960" cy="457200"/>
          </a:xfrm>
          <a:prstGeom prst="rect">
            <a:avLst/>
          </a:prstGeom>
          <a:noFill/>
          <a:ln/>
        </p:spPr>
        <p:txBody>
          <a:bodyPr wrap="square" lIns="0" tIns="0" rIns="0" bIns="0" rtlCol="0" anchor="ctr"/>
          <a:lstStyle/>
          <a:p>
            <a:pPr indent="0" marL="0">
              <a:buNone/>
            </a:pPr>
            <a:r>
              <a:rPr lang="en-US" sz="950" dirty="0">
                <a:solidFill>
                  <a:srgbClr val="1A1A2E"/>
                </a:solidFill>
              </a:rPr>
              <a:t>Cruz, Peters &amp; Shevchenko — Fundamental Aspects of Operational Risk (Wiley, 2015)</a:t>
            </a:r>
            <a:endParaRPr lang="en-US" sz="950" dirty="0"/>
          </a:p>
        </p:txBody>
      </p:sp>
      <p:sp>
        <p:nvSpPr>
          <p:cNvPr id="49" name="Shape 47"/>
          <p:cNvSpPr/>
          <p:nvPr/>
        </p:nvSpPr>
        <p:spPr>
          <a:xfrm>
            <a:off x="5577840" y="3090672"/>
            <a:ext cx="3291840" cy="1737360"/>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50" name="Shape 48"/>
          <p:cNvSpPr/>
          <p:nvPr/>
        </p:nvSpPr>
        <p:spPr>
          <a:xfrm>
            <a:off x="5577840" y="3090672"/>
            <a:ext cx="3291840" cy="54864"/>
          </a:xfrm>
          <a:prstGeom prst="rect">
            <a:avLst/>
          </a:prstGeom>
          <a:solidFill>
            <a:srgbClr val="C9A84C"/>
          </a:solidFill>
          <a:ln/>
        </p:spPr>
      </p:sp>
      <p:sp>
        <p:nvSpPr>
          <p:cNvPr id="51" name="Text 49"/>
          <p:cNvSpPr/>
          <p:nvPr/>
        </p:nvSpPr>
        <p:spPr>
          <a:xfrm>
            <a:off x="5669280" y="3163824"/>
            <a:ext cx="3108960" cy="274320"/>
          </a:xfrm>
          <a:prstGeom prst="rect">
            <a:avLst/>
          </a:prstGeom>
          <a:noFill/>
          <a:ln/>
        </p:spPr>
        <p:txBody>
          <a:bodyPr wrap="square" lIns="0" tIns="0" rIns="0" bIns="0" rtlCol="0" anchor="ctr"/>
          <a:lstStyle/>
          <a:p>
            <a:pPr indent="0" marL="0">
              <a:buNone/>
            </a:pPr>
            <a:r>
              <a:rPr lang="en-US" sz="1100" b="1" dirty="0">
                <a:solidFill>
                  <a:srgbClr val="C9A84C"/>
                </a:solidFill>
              </a:rPr>
              <a:t>About This Work</a:t>
            </a:r>
            <a:endParaRPr lang="en-US" sz="1100" dirty="0"/>
          </a:p>
        </p:txBody>
      </p:sp>
      <p:sp>
        <p:nvSpPr>
          <p:cNvPr id="52" name="Text 50"/>
          <p:cNvSpPr/>
          <p:nvPr/>
        </p:nvSpPr>
        <p:spPr>
          <a:xfrm>
            <a:off x="5669280" y="3474720"/>
            <a:ext cx="3108960" cy="1261872"/>
          </a:xfrm>
          <a:prstGeom prst="rect">
            <a:avLst/>
          </a:prstGeom>
          <a:noFill/>
          <a:ln/>
        </p:spPr>
        <p:txBody>
          <a:bodyPr wrap="square" lIns="0" tIns="0" rIns="0" bIns="0" rtlCol="0" anchor="t"/>
          <a:lstStyle/>
          <a:p>
            <a:pPr indent="0" marL="0">
              <a:buNone/>
            </a:pPr>
            <a:r>
              <a:rPr lang="en-US" sz="900" dirty="0">
                <a:solidFill>
                  <a:srgbClr val="D6EAF8"/>
                </a:solidFill>
              </a:rPr>
              <a:t>Produced through structured dialogue between Sarthaka Nanda (26yr practitioner, UBS AG) and Claude (Anthropic). Domain expertise, practitioner context, and critical review provided by the author. All BCBS citations verifiable. Capital figures in examples are illustrative.</a:t>
            </a:r>
            <a:endParaRPr lang="en-US" sz="900" dirty="0"/>
          </a:p>
          <a:p>
            <a:pPr indent="0" marL="0">
              <a:buNone/>
            </a:pPr>
            <a:endParaRPr lang="en-US" sz="900" dirty="0"/>
          </a:p>
          <a:p>
            <a:pPr indent="0" marL="0">
              <a:buNone/>
            </a:pPr>
            <a:r>
              <a:rPr lang="en-US" sz="900" dirty="0">
                <a:solidFill>
                  <a:srgbClr val="D6EAF8"/>
                </a:solidFill>
              </a:rPr>
              <a:t>Published on LinkedIn as part of an ongoing knowledge repository initiative for industry practitioners.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Basel Accords: From I to IV</dc:title>
  <dc:subject>PptxGenJS Presentation</dc:subject>
  <dc:creator>Sarthaka Nanda</dc:creator>
  <cp:lastModifiedBy>Sarthaka Nanda</cp:lastModifiedBy>
  <cp:revision>1</cp:revision>
  <dcterms:created xsi:type="dcterms:W3CDTF">2026-03-04T09:07:09Z</dcterms:created>
  <dcterms:modified xsi:type="dcterms:W3CDTF">2026-03-04T09:07:09Z</dcterms:modified>
</cp:coreProperties>
</file>