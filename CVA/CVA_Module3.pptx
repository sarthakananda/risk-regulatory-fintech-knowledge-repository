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731520"/>
            <a:ext cx="14630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MODULE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Valuation Adjustment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CVA, DVA &amp; Counterparty Credit Risk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310128"/>
            <a:ext cx="82296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Mitra</a:t>
            </a:r>
            <a:pPr indent="0" marL="0">
              <a:buNone/>
            </a:pPr>
            <a:r>
              <a:rPr lang="en-US" sz="1400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Practitioner Knowledge Repository   |   March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875520" y="0"/>
            <a:ext cx="2286000" cy="68580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66960" y="27432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Regulation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Management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 Covers: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CVA intuition   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&amp; DVA formal framework   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formula &amp; worked example   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/ FRTB-CVA regulation   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case studies   </a:t>
            </a:r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family overview 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The Problem in Plain English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$100 Loan to a Friend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3566160" cy="3108960"/>
          </a:xfrm>
          <a:prstGeom prst="rect">
            <a:avLst/>
          </a:prstGeom>
          <a:solidFill>
            <a:srgbClr val="D6E8F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0" y="1783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lend $100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borrows $100.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paper: you hold 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asset.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66160" cy="3108960"/>
          </a:xfrm>
          <a:prstGeom prst="rect">
            <a:avLst/>
          </a:prstGeom>
          <a:solidFill>
            <a:srgbClr val="FDF3E3"/>
          </a:solidFill>
          <a:ln w="254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0" y="1783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3484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wait...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34840" y="2926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has missed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before. Is that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truly worth $100?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691640"/>
            <a:ext cx="3566160" cy="310896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09760" y="178308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66760" y="2423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Value: $95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2926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for default risk,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loan is worth only $95.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 gap is the CVA.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31920" y="3246120"/>
            <a:ext cx="4114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63840" y="3246120"/>
            <a:ext cx="411480" cy="0"/>
          </a:xfrm>
          <a:prstGeom prst="line">
            <a:avLst/>
          </a:prstGeom>
          <a:noFill/>
          <a:ln w="2540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983480"/>
            <a:ext cx="11430000" cy="1188720"/>
          </a:xfrm>
          <a:prstGeom prst="rect">
            <a:avLst/>
          </a:prstGeom>
          <a:solidFill>
            <a:srgbClr val="D6E8F5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663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=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Value  −  True Economic Value   =   $100 − $95   =   </a:t>
            </a:r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 is the price of your friend's credit risk — their probability of default × what you'd lose if they did.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The Three Ingredients of CVA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Determines the Size of CVA?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594360" cy="59436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737360"/>
            <a:ext cx="10698480" cy="1280160"/>
          </a:xfrm>
          <a:prstGeom prst="rect">
            <a:avLst/>
          </a:prstGeom>
          <a:solidFill>
            <a:srgbClr val="D6E8F5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much is owed?)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187452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mark-to-market amount your counterparty owes you at the time of potential default. In derivatives, this changes daily with market moves — unlike a fixed loan.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594360" cy="5943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3200400"/>
            <a:ext cx="10698480" cy="1280160"/>
          </a:xfrm>
          <a:prstGeom prst="rect">
            <a:avLst/>
          </a:prstGeom>
          <a:solidFill>
            <a:srgbClr val="FDF3E3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291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8016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likely is default?)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333756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the counterparty's credit spread in the market. A BBB-rated corporate with a 150 bps CDS spread implies roughly 2.5% annual default probability.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80060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97280" y="4663440"/>
            <a:ext cx="10698480" cy="128016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754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Given Default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8016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(How much would you lose?)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89120" y="480060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exposures result in total loss. LGD = 1 − Recovery Rate. For senior unsecured derivatives, recovery is typically assumed at ~40%, giving LGD = 60%.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 ≈  LGD  ×  Σ [ EE(tᵢ)  ×  PD(tᵢ)  ×  D(tᵢ) ]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The Insurance Premium Analogy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 as the Price of Credit Insurance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30352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The Insurance Analogy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bank enters a 5-year interest rate swap, it implicitly extends credit to its counterparty.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is the fair market price of insuring against that counterparty defaulting — what a third party would charge to take on that credit risk.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CVA were zero, the bank would be ignoring credit risk entirely. CVA makes that risk cost visible and quantifiable.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66928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0936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 of CVA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73152" cy="4114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468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38160" y="2468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Recomputed daily as market conditions change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3246120"/>
            <a:ext cx="73152" cy="4114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246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Mark-to-Market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through the trading book P&amp;L directly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4023360"/>
            <a:ext cx="73152" cy="4114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40233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at netting set level — not trade-by-trade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800600"/>
            <a:ext cx="73152" cy="41148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800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38160" y="4800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credit spreads, rates, FX, and time decay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is not a one-time charge. It is a live, volatile P&amp;L driver that must be recomputed continuously.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DVA: The Mirror Image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 and DVA: Two Sides of the Same Trade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394960" cy="3840480"/>
          </a:xfrm>
          <a:prstGeom prst="rect">
            <a:avLst/>
          </a:prstGeom>
          <a:solidFill>
            <a:srgbClr val="D6E8F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783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Valuation Adjustment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0292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counterparty might default.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is the present value of the expected loss from that default, deducted from the trade's fair value.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Reduces the value of your derivative assets.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Rises when counterparty credit spreads widen.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77840" y="310896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88888"/>
                </a:solidFill>
              </a:rPr>
              <a:t>⇄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0" y="38404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92240" y="1691640"/>
            <a:ext cx="5394960" cy="384048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783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DVA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67512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Valuation Adjustment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75120" y="2788920"/>
            <a:ext cx="5029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92608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might default.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is the reduction in the value of your own liabilities, reflecting that you may not pay in full.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Increases accounting profit as your credit worsens.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"profit from your own distress" problem.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5669280"/>
            <a:ext cx="11430000" cy="9601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669280"/>
            <a:ext cx="11064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BCVA (Bilateral CVA)  =  CVA  −  DVA     |     Regulators strip DVA from capital — Basel III CET1 deduction.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2–3  |  Exposure: From Loans to Derivatives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Difference: Exposure is Not Fixed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5603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45920"/>
            <a:ext cx="356616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71907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Loan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92240" y="1645920"/>
            <a:ext cx="438912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19072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Derivative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0428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amount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0" y="2304288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237744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from inception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304288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37744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daily with markets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25603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3580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credit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962656"/>
            <a:ext cx="35661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03580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 only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2962656"/>
            <a:ext cx="43891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03580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— either party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62102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941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on default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26080" y="3621024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369417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principal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621024"/>
            <a:ext cx="4389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69417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cost (MtM value)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279392"/>
            <a:ext cx="25603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5254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complexity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926080" y="4279392"/>
            <a:ext cx="356616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435254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× PD × LGD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4279392"/>
            <a:ext cx="43891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35254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Monte Carlo simulation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406640" y="1600200"/>
            <a:ext cx="438912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 Exposure Profile (Stylised)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80960" y="5029200"/>
            <a:ext cx="365760" cy="-45720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4572000"/>
            <a:ext cx="457200" cy="-54864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4023360"/>
            <a:ext cx="548640" cy="-45720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52560" y="3566160"/>
            <a:ext cx="548640" cy="27432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0" y="3840480"/>
            <a:ext cx="548640" cy="54864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49840" y="4389120"/>
            <a:ext cx="548640" cy="54864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98480" y="4937760"/>
            <a:ext cx="731520" cy="365760"/>
          </a:xfrm>
          <a:prstGeom prst="line">
            <a:avLst/>
          </a:prstGeom>
          <a:noFill/>
          <a:ln w="38100">
            <a:solidFill>
              <a:srgbClr val="0D73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5212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 rot="5400000">
            <a:off x="7406640" y="32004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↑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98080" y="49377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Hump shape: peaks mid-life 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differential accumulates,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falls as remaining CFs decline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5806440"/>
            <a:ext cx="11430000" cy="777240"/>
          </a:xfrm>
          <a:prstGeom prst="rect">
            <a:avLst/>
          </a:prstGeom>
          <a:solidFill>
            <a:srgbClr val="D6E8F5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83387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 (Expected Positive Exposure) = the time-averaged expected exposure — the single number used in CVA formulas and Basel capital calculations.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|  Worked Numerical Example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3-Year IRS — CVA Calculation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200400" cy="4114800"/>
          </a:xfrm>
          <a:prstGeom prst="rect">
            <a:avLst/>
          </a:prstGeom>
          <a:solidFill>
            <a:srgbClr val="D6E8F5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Notional: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2148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 Corp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154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Spread: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bps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57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3657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41605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 Rate: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31720" y="46634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0" y="1554480"/>
            <a:ext cx="9144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554480"/>
            <a:ext cx="146304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($)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1097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554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1554480"/>
            <a:ext cx="109728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15544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D(t)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1554480"/>
            <a:ext cx="164592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58200" y="15544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 × PD × 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201168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20116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54880" y="201168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0116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$120,000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17920" y="201168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011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0" y="201168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20116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0.9608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12480" y="201168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20116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$2,845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40480" y="2651760"/>
            <a:ext cx="91440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6517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754880" y="2651760"/>
            <a:ext cx="146304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651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$180,000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17920" y="2651760"/>
            <a:ext cx="10972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26517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2.41%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15200" y="2651760"/>
            <a:ext cx="109728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26517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0.9231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412480" y="2651760"/>
            <a:ext cx="1645920" cy="59436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58200" y="26517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$4,003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840480" y="3291840"/>
            <a:ext cx="914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2918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754880" y="329184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3291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$90,000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7920" y="329184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63640" y="32918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2.35%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315200" y="3291840"/>
            <a:ext cx="1097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60920" y="329184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0.8869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412480" y="3291840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58200" y="3291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$1,874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840480" y="3931920"/>
            <a:ext cx="914400" cy="594360"/>
          </a:xfrm>
          <a:prstGeom prst="rect">
            <a:avLst/>
          </a:prstGeom>
          <a:solidFill>
            <a:srgbClr val="FDF3E3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86200" y="39319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754880" y="3931920"/>
            <a:ext cx="1463040" cy="594360"/>
          </a:xfrm>
          <a:prstGeom prst="rect">
            <a:avLst/>
          </a:prstGeom>
          <a:solidFill>
            <a:srgbClr val="FDF3E3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00600" y="3931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217920" y="3931920"/>
            <a:ext cx="1097280" cy="594360"/>
          </a:xfrm>
          <a:prstGeom prst="rect">
            <a:avLst/>
          </a:prstGeom>
          <a:solidFill>
            <a:srgbClr val="FDF3E3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63640" y="39319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7315200" y="3931920"/>
            <a:ext cx="1097280" cy="594360"/>
          </a:xfrm>
          <a:prstGeom prst="rect">
            <a:avLst/>
          </a:prstGeom>
          <a:solidFill>
            <a:srgbClr val="FDF3E3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60920" y="39319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8412480" y="3931920"/>
            <a:ext cx="1645920" cy="594360"/>
          </a:xfrm>
          <a:prstGeom prst="rect">
            <a:avLst/>
          </a:prstGeom>
          <a:solidFill>
            <a:srgbClr val="FDF3E3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58200" y="3931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$8,722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840480" y="4617720"/>
            <a:ext cx="64008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3931920" y="46177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= 60%  ×  $8,722  =  </a:t>
            </a:r>
            <a:pPr algn="ctr" indent="0" marL="0">
              <a:buNone/>
            </a:pPr>
            <a:r>
              <a:rPr lang="en-US" sz="2200" b="1" dirty="0">
                <a:solidFill>
                  <a:srgbClr val="FF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$5,233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DF3E3"/>
          </a:solidFill>
          <a:ln w="25400">
            <a:solidFill>
              <a:srgbClr val="C8922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reduces the swap's fair value by $5,233 on its books. If pricing a new trade, it adds this amount as a credit spread charge to the counterparty.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|  Regulatory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CVA: Basel III to FRTB-CVA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1430000" cy="1005840"/>
          </a:xfrm>
          <a:prstGeom prst="rect">
            <a:avLst/>
          </a:prstGeom>
          <a:solidFill>
            <a:srgbClr val="F4F6F8"/>
          </a:solidFill>
          <a:ln w="254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91440" cy="100584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Pre-2008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173736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 capital for default risk only.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mark-to-market losses not captured.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834640"/>
            <a:ext cx="11430000" cy="1005840"/>
          </a:xfrm>
          <a:prstGeom prst="rect">
            <a:avLst/>
          </a:prstGeom>
          <a:solidFill>
            <a:srgbClr val="FDF3E3"/>
          </a:solidFill>
          <a:ln w="25400">
            <a:solidFill>
              <a:srgbClr val="C892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834640"/>
            <a:ext cx="91440" cy="10058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29260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CVA capital charge introduced.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SA-CVA and BA-CVA approaches.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Two-thirds of CCR losses in crisis were CVA — not default.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23360"/>
            <a:ext cx="11430000" cy="1005840"/>
          </a:xfrm>
          <a:prstGeom prst="rect">
            <a:avLst/>
          </a:prstGeom>
          <a:solidFill>
            <a:srgbClr val="D6E8F5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4023360"/>
            <a:ext cx="9144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690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FRTB-CVA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17520" y="41148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alignment with FRTB market risk rules.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IMA-CVA (Expected Shortfall) or SA-CVA (Sensitivities-Based).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hedge recognition; rigorous P&amp;L attribution tests.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5166360"/>
            <a:ext cx="1143000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CVA Approaches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5623560"/>
            <a:ext cx="5303520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5650992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SA-CVA: Sensitivities-based. Requires CVA desk + approved model. Hedge recognition. Lower capital.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5623560"/>
            <a:ext cx="5394960" cy="868680"/>
          </a:xfrm>
          <a:prstGeom prst="rect">
            <a:avLst/>
          </a:prstGeom>
          <a:solidFill>
            <a:srgbClr val="FDF3E3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5650992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BA-CVA: Formula-driven, risk-insensitive. Available to all banks. Higher capital — incentive to upgrade.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|  The xVA Family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 Sits in a Larger xVA Ecosystem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365760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783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Valuation Adjustment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loss from counterparty default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45920"/>
            <a:ext cx="365760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783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DVA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891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Valuation Adjustment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Own-credit on derivatives liabilities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45920"/>
            <a:ext cx="3657600" cy="16916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78308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FVA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275320" y="2377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Valuation Adjustment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7532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funding uncollateralised positions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66160"/>
            <a:ext cx="3657600" cy="1691640"/>
          </a:xfrm>
          <a:prstGeom prst="rect">
            <a:avLst/>
          </a:prstGeom>
          <a:solidFill>
            <a:srgbClr val="5B6EBF"/>
          </a:solidFill>
          <a:ln w="12700">
            <a:solidFill>
              <a:srgbClr val="5B6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MVA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029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Valuation Adjustment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663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posting initial margin (UMR/CCP)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566160"/>
            <a:ext cx="3657600" cy="1691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0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KVA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Valuation Adjustment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89120" y="4663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regulatory capital over trade life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3566160"/>
            <a:ext cx="3657600" cy="169164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75320" y="37033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ColVA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275320" y="4297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Valuation Adjustment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5320" y="4663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Optionality in CSA collateral terms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5669280"/>
            <a:ext cx="11430000" cy="960120"/>
          </a:xfrm>
          <a:prstGeom prst="rect">
            <a:avLst/>
          </a:prstGeom>
          <a:solidFill>
            <a:srgbClr val="F4F6F8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7150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xVA terms interact. Adding collateral reduces CVA but increases MVA. Many banks manage the full XVA stack through a centralised XVA desk — hedging and warehousing the aggregate across all six dimensions.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 |  Crisis Case Studies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CVA Risk in Action: Three Historical Episodes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1430000" cy="1463040"/>
          </a:xfrm>
          <a:prstGeom prst="rect">
            <a:avLst/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1645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Event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48840" y="16459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Lehman Brothers — Sept 2008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~$35–40 trillion notional OTC derivatives outstanding at bankruptcy. CVA losses at surviving dealers driven primarily by credit spread widening across the financial sector — not just direct Lehman exposure. Confirmed that CVA volatility, not default itself, is the dominant loss channel.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Two-thirds of CCR losses were CVA mark-to-market, not outright default.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11430000" cy="1463040"/>
          </a:xfrm>
          <a:prstGeom prst="rect">
            <a:avLst/>
          </a:prstGeom>
          <a:solidFill>
            <a:srgbClr val="FDF3E3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00400"/>
            <a:ext cx="1645920" cy="38404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32461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Monoline Insurers — 2007–09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657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held tens of billions in-the-money vs. AMBAC, MBIA, FGIC on structured credit. Monolines effectively unhedgeable — CDS on them was illiquid. Multi-billion CVA charges taken by Merrill Lynch, Citigroup. Classic CVA concentration risk: large, correlated, irreplaceable counterparty.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risk: Hedging becomes impossible when counterparty is correlated with the underlying.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800600"/>
            <a:ext cx="11430000" cy="1463040"/>
          </a:xfrm>
          <a:prstGeom prst="rect">
            <a:avLst/>
          </a:prstGeom>
          <a:solidFill>
            <a:srgbClr val="D6E8F5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800600"/>
            <a:ext cx="164592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00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4846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Sovereign CVA — 2010–12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PSI (March 2012) imposed 50%+ losses on private creditors. Banks with IRS/FX/inflation swaps vs. peripheral sovereigns faced unfamiliar CVA question: how do you price credit risk on a government? Slow CVA reserving led to sharp P&amp;L catches as spreads widened 300–600 bps.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585216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Sovereign default is real even in developed markets. CVA must follow spreads, not assumptions.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1612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  |  Key Debates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Unresolved Tensions in CVA Practice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577840" cy="2011680"/>
          </a:xfrm>
          <a:prstGeom prst="rect">
            <a:avLst/>
          </a:prstGeom>
          <a:solidFill>
            <a:srgbClr val="D6E8F5"/>
          </a:solidFill>
          <a:ln w="254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73736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Recognition in Profit?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13 requires it; many regulators oppose it. DVA gains on deteriorating own-credit are mathematically correct but economically uncomfortable. Often quarantined to OCI rather than P&amp;L.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5577840" cy="2011680"/>
          </a:xfrm>
          <a:prstGeom prst="rect">
            <a:avLst/>
          </a:prstGeom>
          <a:solidFill>
            <a:srgbClr val="FDF3E3"/>
          </a:solidFill>
          <a:ln w="25400">
            <a:solidFill>
              <a:srgbClr val="C8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737360"/>
            <a:ext cx="548640" cy="5486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17373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vs. Regulatory CVA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frameworks, two different numbers for the same portfolio. Accounting CVA: market-consistent exit value. Regulatory CVA: conservative, capital-focused. Finance and risk teams must manage the divergence continuously.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794760"/>
            <a:ext cx="5577840" cy="201168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9319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931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is Substantial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1772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is among the most model-intensive quantities in banking. Stochastic models, calibration choices, WWR treatment — small assumption changes produce material CVA differences. Regulatory SA-CVA includes explicit model uncertainty add-ons.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794760"/>
            <a:ext cx="5577840" cy="2011680"/>
          </a:xfrm>
          <a:prstGeom prst="rect">
            <a:avLst/>
          </a:prstGeom>
          <a:solidFill>
            <a:srgbClr val="EAF0FF"/>
          </a:solidFill>
          <a:ln w="25400">
            <a:solidFill>
              <a:srgbClr val="5B6E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931920"/>
            <a:ext cx="548640" cy="548640"/>
          </a:xfrm>
          <a:prstGeom prst="ellipse">
            <a:avLst/>
          </a:prstGeom>
          <a:solidFill>
            <a:srgbClr val="5B6EBF"/>
          </a:solidFill>
          <a:ln w="12700">
            <a:solidFill>
              <a:srgbClr val="5B6E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39319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KVA/FVA Challenge CVA Primacy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617720"/>
            <a:ext cx="52120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Basel IV, capital cost (KVA) sometimes exceeds CVA itself. Funding cost (FVA) dominates for uncollateralised exotics. The full XVA stack is required for accurate derivatives pricing — CVA alone is no longer sufficient.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3 — 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43000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in one sentence: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 value of expected losses from counterparty default — the price of credit risk on derivatives.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11430000" cy="914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6712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in one sentence: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2167128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of CVA — own-credit adjustment on liabilities. Gains on deteriorating credit are real but controversial and stripped from regulatory capital.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25496"/>
            <a:ext cx="11430000" cy="914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16936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916936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≈ LGD × Σ [EE(tᵢ) × PD(tᵢ) × D(tᵢ)]  |  Three ingredients: Exposure, Default Probability, Loss Given Default.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11430000" cy="914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6674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3666744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introduced CVA capital charges post-2008. FRTB-CVA aligns with market risk rules — SA-CVA (sensitivities-based) or BA-CVA (simplified).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25112"/>
            <a:ext cx="11430000" cy="914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1655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lesson: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80360" y="441655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volatility — not default itself — drove ~two-thirds of CCR losses in 2008. Credit spreads matter as much as actual defaults.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11430000" cy="9144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1663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CVA fits: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516636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is one of six xVA adjustments. The full XVA stack (CVA, DVA, FVA, MVA, KVA, ColVA) is needed for complete derivatives pricing.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6080760"/>
            <a:ext cx="11430000" cy="548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0807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Knowledge Repository  |  Module 3: CVA &amp; Counterparty Credit Risk  |  Sarthaka Mitra  |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CVA &amp; Counterparty Credit Risk — Module 3</dc:title>
  <dc:subject>PptxGenJS Presentation</dc:subject>
  <dc:creator>Sarthaka Mitra</dc:creator>
  <cp:lastModifiedBy>Sarthaka Mitra</cp:lastModifiedBy>
  <cp:revision>1</cp:revision>
  <dcterms:created xsi:type="dcterms:W3CDTF">2026-03-24T15:37:29Z</dcterms:created>
  <dcterms:modified xsi:type="dcterms:W3CDTF">2026-03-24T15:37:29Z</dcterms:modified>
</cp:coreProperties>
</file>