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1" d="100"/>
          <a:sy n="121" d="100"/>
        </p:scale>
        <p:origin x="485"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8244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F30"/>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D7377"/>
          </a:solidFill>
          <a:ln w="12700">
            <a:solidFill>
              <a:srgbClr val="0D7377"/>
            </a:solidFill>
            <a:prstDash val="solid"/>
          </a:ln>
        </p:spPr>
      </p:sp>
      <p:sp>
        <p:nvSpPr>
          <p:cNvPr id="3" name="Shape 1"/>
          <p:cNvSpPr/>
          <p:nvPr/>
        </p:nvSpPr>
        <p:spPr>
          <a:xfrm>
            <a:off x="411480" y="685800"/>
            <a:ext cx="1737360" cy="347472"/>
          </a:xfrm>
          <a:prstGeom prst="rect">
            <a:avLst/>
          </a:prstGeom>
          <a:solidFill>
            <a:srgbClr val="0D7377"/>
          </a:solidFill>
          <a:ln w="12700">
            <a:solidFill>
              <a:srgbClr val="0D7377"/>
            </a:solidFill>
            <a:prstDash val="solid"/>
          </a:ln>
        </p:spPr>
      </p:sp>
      <p:sp>
        <p:nvSpPr>
          <p:cNvPr id="4" name="Text 2"/>
          <p:cNvSpPr/>
          <p:nvPr/>
        </p:nvSpPr>
        <p:spPr>
          <a:xfrm>
            <a:off x="411480" y="685800"/>
            <a:ext cx="173736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MODULE 3</a:t>
            </a:r>
            <a:endParaRPr lang="en-US" sz="1000" dirty="0"/>
          </a:p>
        </p:txBody>
      </p:sp>
      <p:sp>
        <p:nvSpPr>
          <p:cNvPr id="5" name="Text 3"/>
          <p:cNvSpPr/>
          <p:nvPr/>
        </p:nvSpPr>
        <p:spPr>
          <a:xfrm>
            <a:off x="411480" y="1261872"/>
            <a:ext cx="8778240" cy="1051560"/>
          </a:xfrm>
          <a:prstGeom prst="rect">
            <a:avLst/>
          </a:prstGeom>
          <a:noFill/>
          <a:ln/>
        </p:spPr>
        <p:txBody>
          <a:bodyPr wrap="square" rtlCol="0" anchor="ctr"/>
          <a:lstStyle/>
          <a:p>
            <a:pPr marL="0" indent="0">
              <a:buNone/>
            </a:pPr>
            <a:r>
              <a:rPr lang="en-US" sz="4800" b="1" dirty="0">
                <a:solidFill>
                  <a:srgbClr val="FFFFFF"/>
                </a:solidFill>
                <a:latin typeface="Georgia" pitchFamily="34" charset="0"/>
                <a:ea typeface="Georgia" pitchFamily="34" charset="-122"/>
                <a:cs typeface="Georgia" pitchFamily="34" charset="-120"/>
              </a:rPr>
              <a:t>Credit Valuation Adjustment</a:t>
            </a:r>
            <a:endParaRPr lang="en-US" sz="4800" dirty="0"/>
          </a:p>
        </p:txBody>
      </p:sp>
      <p:sp>
        <p:nvSpPr>
          <p:cNvPr id="6" name="Text 4"/>
          <p:cNvSpPr/>
          <p:nvPr/>
        </p:nvSpPr>
        <p:spPr>
          <a:xfrm>
            <a:off x="411480" y="2377440"/>
            <a:ext cx="8778240" cy="566928"/>
          </a:xfrm>
          <a:prstGeom prst="rect">
            <a:avLst/>
          </a:prstGeom>
          <a:noFill/>
          <a:ln/>
        </p:spPr>
        <p:txBody>
          <a:bodyPr wrap="square" rtlCol="0" anchor="ctr"/>
          <a:lstStyle/>
          <a:p>
            <a:pPr marL="0" indent="0">
              <a:buNone/>
            </a:pPr>
            <a:r>
              <a:rPr lang="en-US" sz="2100" i="1" dirty="0">
                <a:solidFill>
                  <a:srgbClr val="0D7377"/>
                </a:solidFill>
                <a:latin typeface="Georgia" pitchFamily="34" charset="0"/>
                <a:ea typeface="Georgia" pitchFamily="34" charset="-122"/>
                <a:cs typeface="Georgia" pitchFamily="34" charset="-120"/>
              </a:rPr>
              <a:t>CVA, DVA &amp; Counterparty Credit Risk</a:t>
            </a:r>
            <a:endParaRPr lang="en-US" sz="2100" dirty="0"/>
          </a:p>
        </p:txBody>
      </p:sp>
      <p:sp>
        <p:nvSpPr>
          <p:cNvPr id="7" name="Shape 5"/>
          <p:cNvSpPr/>
          <p:nvPr/>
        </p:nvSpPr>
        <p:spPr>
          <a:xfrm>
            <a:off x="411480" y="3090672"/>
            <a:ext cx="8229600" cy="36576"/>
          </a:xfrm>
          <a:prstGeom prst="rect">
            <a:avLst/>
          </a:prstGeom>
          <a:solidFill>
            <a:srgbClr val="0D7377"/>
          </a:solidFill>
          <a:ln w="12700">
            <a:solidFill>
              <a:srgbClr val="0D7377"/>
            </a:solidFill>
            <a:prstDash val="solid"/>
          </a:ln>
        </p:spPr>
      </p:sp>
      <p:sp>
        <p:nvSpPr>
          <p:cNvPr id="8" name="Text 6"/>
          <p:cNvSpPr/>
          <p:nvPr/>
        </p:nvSpPr>
        <p:spPr>
          <a:xfrm>
            <a:off x="411480" y="3246120"/>
            <a:ext cx="8229600" cy="347472"/>
          </a:xfrm>
          <a:prstGeom prst="rect">
            <a:avLst/>
          </a:prstGeom>
          <a:noFill/>
          <a:ln/>
        </p:spPr>
        <p:txBody>
          <a:bodyPr wrap="square" rtlCol="0" anchor="ctr"/>
          <a:lstStyle/>
          <a:p>
            <a:pPr marL="0" indent="0">
              <a:buNone/>
            </a:pPr>
            <a:r>
              <a:rPr lang="en-US" sz="1350" b="1" dirty="0">
                <a:solidFill>
                  <a:srgbClr val="AACCE0"/>
                </a:solidFill>
                <a:latin typeface="Calibri" pitchFamily="34" charset="0"/>
                <a:ea typeface="Calibri" pitchFamily="34" charset="-122"/>
                <a:cs typeface="Calibri" pitchFamily="34" charset="-120"/>
              </a:rPr>
              <a:t>Sarthaka Nanda</a:t>
            </a:r>
            <a:r>
              <a:rPr lang="en-US" sz="1350" dirty="0">
                <a:solidFill>
                  <a:srgbClr val="AACCE0"/>
                </a:solidFill>
                <a:latin typeface="Calibri" pitchFamily="34" charset="0"/>
                <a:ea typeface="Calibri" pitchFamily="34" charset="-122"/>
                <a:cs typeface="Calibri" pitchFamily="34" charset="-120"/>
              </a:rPr>
              <a:t> (with Anthropic Claude)  |   Practitioner Knowledge Repository   |   March 2026</a:t>
            </a:r>
            <a:endParaRPr lang="en-US" sz="1350" dirty="0"/>
          </a:p>
        </p:txBody>
      </p:sp>
      <p:sp>
        <p:nvSpPr>
          <p:cNvPr id="9" name="Shape 7"/>
          <p:cNvSpPr/>
          <p:nvPr/>
        </p:nvSpPr>
        <p:spPr>
          <a:xfrm>
            <a:off x="9829800" y="0"/>
            <a:ext cx="2331720" cy="6858000"/>
          </a:xfrm>
          <a:prstGeom prst="rect">
            <a:avLst/>
          </a:prstGeom>
          <a:solidFill>
            <a:srgbClr val="0B1825"/>
          </a:solidFill>
          <a:ln w="12700">
            <a:solidFill>
              <a:srgbClr val="0B1825"/>
            </a:solidFill>
            <a:prstDash val="solid"/>
          </a:ln>
        </p:spPr>
      </p:sp>
      <p:sp>
        <p:nvSpPr>
          <p:cNvPr id="10" name="Text 8"/>
          <p:cNvSpPr/>
          <p:nvPr/>
        </p:nvSpPr>
        <p:spPr>
          <a:xfrm>
            <a:off x="9921240" y="2651760"/>
            <a:ext cx="2148840" cy="1371600"/>
          </a:xfrm>
          <a:prstGeom prst="rect">
            <a:avLst/>
          </a:prstGeom>
          <a:noFill/>
          <a:ln/>
        </p:spPr>
        <p:txBody>
          <a:bodyPr wrap="square" rtlCol="0" anchor="ctr"/>
          <a:lstStyle/>
          <a:p>
            <a:pPr marL="0" indent="0" algn="ctr">
              <a:buNone/>
            </a:pPr>
            <a:r>
              <a:rPr lang="en-US" sz="1100" dirty="0">
                <a:solidFill>
                  <a:srgbClr val="6699BB"/>
                </a:solidFill>
                <a:latin typeface="Calibri" pitchFamily="34" charset="0"/>
                <a:ea typeface="Calibri" pitchFamily="34" charset="-122"/>
                <a:cs typeface="Calibri" pitchFamily="34" charset="-120"/>
              </a:rPr>
              <a:t>Banking Regulation</a:t>
            </a:r>
            <a:endParaRPr lang="en-US" sz="1100" dirty="0"/>
          </a:p>
          <a:p>
            <a:pPr marL="0" indent="0" algn="ctr">
              <a:buNone/>
            </a:pPr>
            <a:r>
              <a:rPr lang="en-US" sz="1100" dirty="0">
                <a:solidFill>
                  <a:srgbClr val="6699BB"/>
                </a:solidFill>
                <a:latin typeface="Calibri" pitchFamily="34" charset="0"/>
                <a:ea typeface="Calibri" pitchFamily="34" charset="-122"/>
                <a:cs typeface="Calibri" pitchFamily="34" charset="-120"/>
              </a:rPr>
              <a:t>&amp; Risk Management</a:t>
            </a:r>
            <a:endParaRPr lang="en-US" sz="1100" dirty="0"/>
          </a:p>
          <a:p>
            <a:pPr marL="0" indent="0" algn="ctr">
              <a:buNone/>
            </a:pPr>
            <a:r>
              <a:rPr lang="en-US" sz="1100" dirty="0">
                <a:solidFill>
                  <a:srgbClr val="6699BB"/>
                </a:solidFill>
                <a:latin typeface="Calibri" pitchFamily="34" charset="0"/>
                <a:ea typeface="Calibri" pitchFamily="34" charset="-122"/>
                <a:cs typeface="Calibri" pitchFamily="34" charset="-120"/>
              </a:rPr>
              <a:t>Series</a:t>
            </a:r>
            <a:endParaRPr lang="en-US" sz="1100" dirty="0"/>
          </a:p>
        </p:txBody>
      </p:sp>
      <p:sp>
        <p:nvSpPr>
          <p:cNvPr id="11" name="Text 9"/>
          <p:cNvSpPr/>
          <p:nvPr/>
        </p:nvSpPr>
        <p:spPr>
          <a:xfrm>
            <a:off x="411480" y="3886200"/>
            <a:ext cx="8961120" cy="347472"/>
          </a:xfrm>
          <a:prstGeom prst="rect">
            <a:avLst/>
          </a:prstGeom>
          <a:noFill/>
          <a:ln/>
        </p:spPr>
        <p:txBody>
          <a:bodyPr wrap="square" rtlCol="0" anchor="ctr"/>
          <a:lstStyle/>
          <a:p>
            <a:pPr marL="0" indent="0">
              <a:buNone/>
            </a:pPr>
            <a:r>
              <a:rPr lang="en-US" sz="1300" b="1" dirty="0">
                <a:solidFill>
                  <a:srgbClr val="AACCE0"/>
                </a:solidFill>
                <a:latin typeface="Calibri" pitchFamily="34" charset="0"/>
                <a:ea typeface="Calibri" pitchFamily="34" charset="-122"/>
                <a:cs typeface="Calibri" pitchFamily="34" charset="-120"/>
              </a:rPr>
              <a:t>This module covers:</a:t>
            </a:r>
            <a:endParaRPr lang="en-US" sz="1300" dirty="0"/>
          </a:p>
        </p:txBody>
      </p:sp>
      <p:sp>
        <p:nvSpPr>
          <p:cNvPr id="12" name="Text 10"/>
          <p:cNvSpPr/>
          <p:nvPr/>
        </p:nvSpPr>
        <p:spPr>
          <a:xfrm>
            <a:off x="411480" y="4297680"/>
            <a:ext cx="4343400" cy="384048"/>
          </a:xfrm>
          <a:prstGeom prst="rect">
            <a:avLst/>
          </a:prstGeom>
          <a:noFill/>
          <a:ln/>
        </p:spPr>
        <p:txBody>
          <a:bodyPr wrap="square" rtlCol="0" anchor="ctr"/>
          <a:lstStyle/>
          <a:p>
            <a:pPr marL="0" indent="0">
              <a:buNone/>
            </a:pPr>
            <a:r>
              <a:rPr lang="en-US" sz="1200" dirty="0">
                <a:solidFill>
                  <a:srgbClr val="CCDDEE"/>
                </a:solidFill>
                <a:latin typeface="Calibri" pitchFamily="34" charset="0"/>
                <a:ea typeface="Calibri" pitchFamily="34" charset="-122"/>
                <a:cs typeface="Calibri" pitchFamily="34" charset="-120"/>
              </a:rPr>
              <a:t>1. Plain-English CVA &amp; the $100 friend intuition</a:t>
            </a:r>
            <a:endParaRPr lang="en-US" sz="1200" dirty="0"/>
          </a:p>
        </p:txBody>
      </p:sp>
      <p:sp>
        <p:nvSpPr>
          <p:cNvPr id="13" name="Text 11"/>
          <p:cNvSpPr/>
          <p:nvPr/>
        </p:nvSpPr>
        <p:spPr>
          <a:xfrm>
            <a:off x="411480" y="4736592"/>
            <a:ext cx="4343400" cy="384048"/>
          </a:xfrm>
          <a:prstGeom prst="rect">
            <a:avLst/>
          </a:prstGeom>
          <a:noFill/>
          <a:ln/>
        </p:spPr>
        <p:txBody>
          <a:bodyPr wrap="square" rtlCol="0" anchor="ctr"/>
          <a:lstStyle/>
          <a:p>
            <a:pPr marL="0" indent="0">
              <a:buNone/>
            </a:pPr>
            <a:r>
              <a:rPr lang="en-US" sz="1200" dirty="0">
                <a:solidFill>
                  <a:srgbClr val="CCDDEE"/>
                </a:solidFill>
                <a:latin typeface="Calibri" pitchFamily="34" charset="0"/>
                <a:ea typeface="Calibri" pitchFamily="34" charset="-122"/>
                <a:cs typeface="Calibri" pitchFamily="34" charset="-120"/>
              </a:rPr>
              <a:t>2. Formal CVA framework, formula &amp; hazard rate derivation</a:t>
            </a:r>
            <a:endParaRPr lang="en-US" sz="1200" dirty="0"/>
          </a:p>
        </p:txBody>
      </p:sp>
      <p:sp>
        <p:nvSpPr>
          <p:cNvPr id="14" name="Text 12"/>
          <p:cNvSpPr/>
          <p:nvPr/>
        </p:nvSpPr>
        <p:spPr>
          <a:xfrm>
            <a:off x="411480" y="5175504"/>
            <a:ext cx="4343400" cy="384048"/>
          </a:xfrm>
          <a:prstGeom prst="rect">
            <a:avLst/>
          </a:prstGeom>
          <a:noFill/>
          <a:ln/>
        </p:spPr>
        <p:txBody>
          <a:bodyPr wrap="square" rtlCol="0" anchor="ctr"/>
          <a:lstStyle/>
          <a:p>
            <a:pPr marL="0" indent="0">
              <a:buNone/>
            </a:pPr>
            <a:r>
              <a:rPr lang="en-US" sz="1200" dirty="0">
                <a:solidFill>
                  <a:srgbClr val="CCDDEE"/>
                </a:solidFill>
                <a:latin typeface="Calibri" pitchFamily="34" charset="0"/>
                <a:ea typeface="Calibri" pitchFamily="34" charset="-122"/>
                <a:cs typeface="Calibri" pitchFamily="34" charset="-120"/>
              </a:rPr>
              <a:t>3. Full worked numerical example (3-year IRS)</a:t>
            </a:r>
            <a:endParaRPr lang="en-US" sz="1200" dirty="0"/>
          </a:p>
        </p:txBody>
      </p:sp>
      <p:sp>
        <p:nvSpPr>
          <p:cNvPr id="15" name="Text 13"/>
          <p:cNvSpPr/>
          <p:nvPr/>
        </p:nvSpPr>
        <p:spPr>
          <a:xfrm>
            <a:off x="411480" y="5614416"/>
            <a:ext cx="4343400" cy="384048"/>
          </a:xfrm>
          <a:prstGeom prst="rect">
            <a:avLst/>
          </a:prstGeom>
          <a:noFill/>
          <a:ln/>
        </p:spPr>
        <p:txBody>
          <a:bodyPr wrap="square" rtlCol="0" anchor="ctr"/>
          <a:lstStyle/>
          <a:p>
            <a:pPr marL="0" indent="0">
              <a:buNone/>
            </a:pPr>
            <a:r>
              <a:rPr lang="en-US" sz="1200" dirty="0">
                <a:solidFill>
                  <a:srgbClr val="CCDDEE"/>
                </a:solidFill>
                <a:latin typeface="Calibri" pitchFamily="34" charset="0"/>
                <a:ea typeface="Calibri" pitchFamily="34" charset="-122"/>
                <a:cs typeface="Calibri" pitchFamily="34" charset="-120"/>
              </a:rPr>
              <a:t>4. DVA — the mirror image and the monetisation problem</a:t>
            </a:r>
            <a:endParaRPr lang="en-US" sz="1200" dirty="0"/>
          </a:p>
        </p:txBody>
      </p:sp>
      <p:sp>
        <p:nvSpPr>
          <p:cNvPr id="16" name="Text 14"/>
          <p:cNvSpPr/>
          <p:nvPr/>
        </p:nvSpPr>
        <p:spPr>
          <a:xfrm>
            <a:off x="4937760" y="4297680"/>
            <a:ext cx="4343400" cy="384048"/>
          </a:xfrm>
          <a:prstGeom prst="rect">
            <a:avLst/>
          </a:prstGeom>
          <a:noFill/>
          <a:ln/>
        </p:spPr>
        <p:txBody>
          <a:bodyPr wrap="square" rtlCol="0" anchor="ctr"/>
          <a:lstStyle/>
          <a:p>
            <a:pPr marL="0" indent="0">
              <a:buNone/>
            </a:pPr>
            <a:r>
              <a:rPr lang="en-US" sz="1200" dirty="0">
                <a:solidFill>
                  <a:srgbClr val="CCDDEE"/>
                </a:solidFill>
                <a:latin typeface="Calibri" pitchFamily="34" charset="0"/>
                <a:ea typeface="Calibri" pitchFamily="34" charset="-122"/>
                <a:cs typeface="Calibri" pitchFamily="34" charset="-120"/>
              </a:rPr>
              <a:t>5. Regulatory CVA: SA-CVA, BA-CVA, FRTB-CVA</a:t>
            </a:r>
            <a:endParaRPr lang="en-US" sz="1200" dirty="0"/>
          </a:p>
        </p:txBody>
      </p:sp>
      <p:sp>
        <p:nvSpPr>
          <p:cNvPr id="17" name="Text 15"/>
          <p:cNvSpPr/>
          <p:nvPr/>
        </p:nvSpPr>
        <p:spPr>
          <a:xfrm>
            <a:off x="4937760" y="4736592"/>
            <a:ext cx="4343400" cy="384048"/>
          </a:xfrm>
          <a:prstGeom prst="rect">
            <a:avLst/>
          </a:prstGeom>
          <a:noFill/>
          <a:ln/>
        </p:spPr>
        <p:txBody>
          <a:bodyPr wrap="square" rtlCol="0" anchor="ctr"/>
          <a:lstStyle/>
          <a:p>
            <a:pPr marL="0" indent="0">
              <a:buNone/>
            </a:pPr>
            <a:r>
              <a:rPr lang="en-US" sz="1200" dirty="0">
                <a:solidFill>
                  <a:srgbClr val="CCDDEE"/>
                </a:solidFill>
                <a:latin typeface="Calibri" pitchFamily="34" charset="0"/>
                <a:ea typeface="Calibri" pitchFamily="34" charset="-122"/>
                <a:cs typeface="Calibri" pitchFamily="34" charset="-120"/>
              </a:rPr>
              <a:t>6. Wrong-Way Risk &amp; CSA / collateral mechanics</a:t>
            </a:r>
            <a:endParaRPr lang="en-US" sz="1200" dirty="0"/>
          </a:p>
        </p:txBody>
      </p:sp>
      <p:sp>
        <p:nvSpPr>
          <p:cNvPr id="18" name="Text 16"/>
          <p:cNvSpPr/>
          <p:nvPr/>
        </p:nvSpPr>
        <p:spPr>
          <a:xfrm>
            <a:off x="4937760" y="5175504"/>
            <a:ext cx="4343400" cy="384048"/>
          </a:xfrm>
          <a:prstGeom prst="rect">
            <a:avLst/>
          </a:prstGeom>
          <a:noFill/>
          <a:ln/>
        </p:spPr>
        <p:txBody>
          <a:bodyPr wrap="square" rtlCol="0" anchor="ctr"/>
          <a:lstStyle/>
          <a:p>
            <a:pPr marL="0" indent="0">
              <a:buNone/>
            </a:pPr>
            <a:r>
              <a:rPr lang="en-US" sz="1200" dirty="0">
                <a:solidFill>
                  <a:srgbClr val="CCDDEE"/>
                </a:solidFill>
                <a:latin typeface="Calibri" pitchFamily="34" charset="0"/>
                <a:ea typeface="Calibri" pitchFamily="34" charset="-122"/>
                <a:cs typeface="Calibri" pitchFamily="34" charset="-120"/>
              </a:rPr>
              <a:t>7. Three crisis case studies: Lehman, Monolines, Sovereign</a:t>
            </a:r>
            <a:endParaRPr lang="en-US" sz="1200" dirty="0"/>
          </a:p>
        </p:txBody>
      </p:sp>
      <p:sp>
        <p:nvSpPr>
          <p:cNvPr id="19" name="Text 17"/>
          <p:cNvSpPr/>
          <p:nvPr/>
        </p:nvSpPr>
        <p:spPr>
          <a:xfrm>
            <a:off x="4937760" y="5614416"/>
            <a:ext cx="4343400" cy="384048"/>
          </a:xfrm>
          <a:prstGeom prst="rect">
            <a:avLst/>
          </a:prstGeom>
          <a:noFill/>
          <a:ln/>
        </p:spPr>
        <p:txBody>
          <a:bodyPr wrap="square" rtlCol="0" anchor="ctr"/>
          <a:lstStyle/>
          <a:p>
            <a:pPr marL="0" indent="0">
              <a:buNone/>
            </a:pPr>
            <a:r>
              <a:rPr lang="en-US" sz="1200" dirty="0">
                <a:solidFill>
                  <a:srgbClr val="CCDDEE"/>
                </a:solidFill>
                <a:latin typeface="Calibri" pitchFamily="34" charset="0"/>
                <a:ea typeface="Calibri" pitchFamily="34" charset="-122"/>
                <a:cs typeface="Calibri" pitchFamily="34" charset="-120"/>
              </a:rPr>
              <a:t>8. The full xVA family — what's coming in later modules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A5C"/>
          </a:solidFill>
          <a:ln w="12700">
            <a:solidFill>
              <a:srgbClr val="1A3A5C"/>
            </a:solidFill>
            <a:prstDash val="solid"/>
          </a:ln>
        </p:spPr>
      </p:sp>
      <p:sp>
        <p:nvSpPr>
          <p:cNvPr id="3" name="Text 1"/>
          <p:cNvSpPr/>
          <p:nvPr/>
        </p:nvSpPr>
        <p:spPr>
          <a:xfrm>
            <a:off x="320040" y="0"/>
            <a:ext cx="11521440" cy="658368"/>
          </a:xfrm>
          <a:prstGeom prst="rect">
            <a:avLst/>
          </a:prstGeom>
          <a:noFill/>
          <a:ln/>
        </p:spPr>
        <p:txBody>
          <a:bodyPr wrap="square" rtlCol="0" anchor="ctr"/>
          <a:lstStyle/>
          <a:p>
            <a:pPr marL="0" indent="0">
              <a:buNone/>
            </a:pPr>
            <a:r>
              <a:rPr lang="en-US" sz="1300" dirty="0">
                <a:solidFill>
                  <a:srgbClr val="AACCEE"/>
                </a:solidFill>
                <a:latin typeface="Calibri" pitchFamily="34" charset="0"/>
                <a:ea typeface="Calibri" pitchFamily="34" charset="-122"/>
                <a:cs typeface="Calibri" pitchFamily="34" charset="-120"/>
              </a:rPr>
              <a:t>Section 1  |  The Problem in Plain English</a:t>
            </a:r>
            <a:endParaRPr lang="en-US" sz="1300" dirty="0"/>
          </a:p>
        </p:txBody>
      </p:sp>
      <p:sp>
        <p:nvSpPr>
          <p:cNvPr id="4" name="Text 2"/>
          <p:cNvSpPr/>
          <p:nvPr/>
        </p:nvSpPr>
        <p:spPr>
          <a:xfrm>
            <a:off x="365760" y="804672"/>
            <a:ext cx="11430000" cy="658368"/>
          </a:xfrm>
          <a:prstGeom prst="rect">
            <a:avLst/>
          </a:prstGeom>
          <a:noFill/>
          <a:ln/>
        </p:spPr>
        <p:txBody>
          <a:bodyPr wrap="square" rtlCol="0" anchor="ctr"/>
          <a:lstStyle/>
          <a:p>
            <a:pPr marL="0" indent="0">
              <a:buNone/>
            </a:pPr>
            <a:r>
              <a:rPr lang="en-US" sz="2800" b="1" dirty="0">
                <a:solidFill>
                  <a:srgbClr val="1A3A5C"/>
                </a:solidFill>
                <a:latin typeface="Georgia" pitchFamily="34" charset="0"/>
                <a:ea typeface="Georgia" pitchFamily="34" charset="-122"/>
                <a:cs typeface="Georgia" pitchFamily="34" charset="-120"/>
              </a:rPr>
              <a:t>The $100 Loan to a Friend</a:t>
            </a:r>
            <a:endParaRPr lang="en-US" sz="2800" dirty="0"/>
          </a:p>
        </p:txBody>
      </p:sp>
      <p:sp>
        <p:nvSpPr>
          <p:cNvPr id="5" name="Shape 3"/>
          <p:cNvSpPr/>
          <p:nvPr/>
        </p:nvSpPr>
        <p:spPr>
          <a:xfrm>
            <a:off x="320040" y="1664208"/>
            <a:ext cx="3566160" cy="3246120"/>
          </a:xfrm>
          <a:prstGeom prst="rect">
            <a:avLst/>
          </a:prstGeom>
          <a:solidFill>
            <a:srgbClr val="D6E8F5"/>
          </a:solidFill>
          <a:ln w="25400">
            <a:solidFill>
              <a:srgbClr val="0D7377"/>
            </a:solidFill>
            <a:prstDash val="solid"/>
          </a:ln>
          <a:effectLst>
            <a:outerShdw blurRad="88900" dist="38100" dir="8100000" algn="bl" rotWithShape="0">
              <a:srgbClr val="000000">
                <a:alpha val="13000"/>
              </a:srgbClr>
            </a:outerShdw>
          </a:effectLst>
        </p:spPr>
      </p:sp>
      <p:sp>
        <p:nvSpPr>
          <p:cNvPr id="6" name="Text 4"/>
          <p:cNvSpPr/>
          <p:nvPr/>
        </p:nvSpPr>
        <p:spPr>
          <a:xfrm>
            <a:off x="1554480" y="1783080"/>
            <a:ext cx="1097280" cy="5943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7" name="Text 5"/>
          <p:cNvSpPr/>
          <p:nvPr/>
        </p:nvSpPr>
        <p:spPr>
          <a:xfrm>
            <a:off x="457200" y="2450592"/>
            <a:ext cx="3291840" cy="457200"/>
          </a:xfrm>
          <a:prstGeom prst="rect">
            <a:avLst/>
          </a:prstGeom>
          <a:noFill/>
          <a:ln/>
        </p:spPr>
        <p:txBody>
          <a:bodyPr wrap="square"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You lend $100</a:t>
            </a:r>
            <a:endParaRPr lang="en-US" sz="1400" dirty="0"/>
          </a:p>
        </p:txBody>
      </p:sp>
      <p:sp>
        <p:nvSpPr>
          <p:cNvPr id="8" name="Shape 6"/>
          <p:cNvSpPr/>
          <p:nvPr/>
        </p:nvSpPr>
        <p:spPr>
          <a:xfrm>
            <a:off x="777240" y="2962656"/>
            <a:ext cx="2651760" cy="27432"/>
          </a:xfrm>
          <a:prstGeom prst="rect">
            <a:avLst/>
          </a:prstGeom>
          <a:solidFill>
            <a:srgbClr val="0D7377"/>
          </a:solidFill>
          <a:ln w="12700">
            <a:solidFill>
              <a:srgbClr val="0D7377"/>
            </a:solidFill>
            <a:prstDash val="solid"/>
          </a:ln>
        </p:spPr>
      </p:sp>
      <p:sp>
        <p:nvSpPr>
          <p:cNvPr id="9" name="Text 7"/>
          <p:cNvSpPr/>
          <p:nvPr/>
        </p:nvSpPr>
        <p:spPr>
          <a:xfrm>
            <a:off x="457200" y="3044952"/>
            <a:ext cx="3291840" cy="1691640"/>
          </a:xfrm>
          <a:prstGeom prst="rect">
            <a:avLst/>
          </a:prstGeom>
          <a:noFill/>
          <a:ln/>
        </p:spPr>
        <p:txBody>
          <a:bodyPr wrap="square" rtlCol="0" anchor="t"/>
          <a:lstStyle/>
          <a:p>
            <a:pPr marL="0" indent="0" algn="ctr">
              <a:buNone/>
            </a:pPr>
            <a:r>
              <a:rPr lang="en-US" sz="1250" dirty="0">
                <a:solidFill>
                  <a:srgbClr val="333333"/>
                </a:solidFill>
                <a:latin typeface="Calibri" pitchFamily="34" charset="0"/>
                <a:ea typeface="Calibri" pitchFamily="34" charset="-122"/>
                <a:cs typeface="Calibri" pitchFamily="34" charset="-120"/>
              </a:rPr>
              <a:t>A friend borrows $100. On paper, you record a $100 asset on your balance sheet. Face value is clear.</a:t>
            </a:r>
            <a:endParaRPr lang="en-US" sz="1250" dirty="0"/>
          </a:p>
        </p:txBody>
      </p:sp>
      <p:sp>
        <p:nvSpPr>
          <p:cNvPr id="10" name="Shape 8"/>
          <p:cNvSpPr/>
          <p:nvPr/>
        </p:nvSpPr>
        <p:spPr>
          <a:xfrm>
            <a:off x="4251960" y="1664208"/>
            <a:ext cx="3566160" cy="3246120"/>
          </a:xfrm>
          <a:prstGeom prst="rect">
            <a:avLst/>
          </a:prstGeom>
          <a:solidFill>
            <a:srgbClr val="FDF3E3"/>
          </a:solidFill>
          <a:ln w="25400">
            <a:solidFill>
              <a:srgbClr val="C8922A"/>
            </a:solidFill>
            <a:prstDash val="solid"/>
          </a:ln>
          <a:effectLst>
            <a:outerShdw blurRad="88900" dist="38100" dir="8100000" algn="bl" rotWithShape="0">
              <a:srgbClr val="000000">
                <a:alpha val="13000"/>
              </a:srgbClr>
            </a:outerShdw>
          </a:effectLst>
        </p:spPr>
      </p:sp>
      <p:sp>
        <p:nvSpPr>
          <p:cNvPr id="11" name="Text 9"/>
          <p:cNvSpPr/>
          <p:nvPr/>
        </p:nvSpPr>
        <p:spPr>
          <a:xfrm>
            <a:off x="5486400" y="1783080"/>
            <a:ext cx="1097280" cy="5943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2" name="Text 10"/>
          <p:cNvSpPr/>
          <p:nvPr/>
        </p:nvSpPr>
        <p:spPr>
          <a:xfrm>
            <a:off x="4389120" y="2450592"/>
            <a:ext cx="3291840" cy="457200"/>
          </a:xfrm>
          <a:prstGeom prst="rect">
            <a:avLst/>
          </a:prstGeom>
          <a:noFill/>
          <a:ln/>
        </p:spPr>
        <p:txBody>
          <a:bodyPr wrap="square"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But is it really worth $100?</a:t>
            </a:r>
            <a:endParaRPr lang="en-US" sz="1400" dirty="0"/>
          </a:p>
        </p:txBody>
      </p:sp>
      <p:sp>
        <p:nvSpPr>
          <p:cNvPr id="13" name="Shape 11"/>
          <p:cNvSpPr/>
          <p:nvPr/>
        </p:nvSpPr>
        <p:spPr>
          <a:xfrm>
            <a:off x="4709160" y="2962656"/>
            <a:ext cx="2651760" cy="27432"/>
          </a:xfrm>
          <a:prstGeom prst="rect">
            <a:avLst/>
          </a:prstGeom>
          <a:solidFill>
            <a:srgbClr val="C8922A"/>
          </a:solidFill>
          <a:ln w="12700">
            <a:solidFill>
              <a:srgbClr val="C8922A"/>
            </a:solidFill>
            <a:prstDash val="solid"/>
          </a:ln>
        </p:spPr>
      </p:sp>
      <p:sp>
        <p:nvSpPr>
          <p:cNvPr id="14" name="Text 12"/>
          <p:cNvSpPr/>
          <p:nvPr/>
        </p:nvSpPr>
        <p:spPr>
          <a:xfrm>
            <a:off x="4389120" y="3044952"/>
            <a:ext cx="3291840" cy="1691640"/>
          </a:xfrm>
          <a:prstGeom prst="rect">
            <a:avLst/>
          </a:prstGeom>
          <a:noFill/>
          <a:ln/>
        </p:spPr>
        <p:txBody>
          <a:bodyPr wrap="square" rtlCol="0" anchor="t"/>
          <a:lstStyle/>
          <a:p>
            <a:pPr marL="0" indent="0" algn="ctr">
              <a:buNone/>
            </a:pPr>
            <a:r>
              <a:rPr lang="en-US" sz="1250" dirty="0">
                <a:solidFill>
                  <a:srgbClr val="333333"/>
                </a:solidFill>
                <a:latin typeface="Calibri" pitchFamily="34" charset="0"/>
                <a:ea typeface="Calibri" pitchFamily="34" charset="-122"/>
                <a:cs typeface="Calibri" pitchFamily="34" charset="-120"/>
              </a:rPr>
              <a:t>Your friend has a patchy repayment history and is under financial strain. You have real doubt about whether you'll be paid back in full.</a:t>
            </a:r>
            <a:endParaRPr lang="en-US" sz="1250" dirty="0"/>
          </a:p>
        </p:txBody>
      </p:sp>
      <p:sp>
        <p:nvSpPr>
          <p:cNvPr id="15" name="Shape 13"/>
          <p:cNvSpPr/>
          <p:nvPr/>
        </p:nvSpPr>
        <p:spPr>
          <a:xfrm>
            <a:off x="8183880" y="1664208"/>
            <a:ext cx="3566160" cy="3246120"/>
          </a:xfrm>
          <a:prstGeom prst="rect">
            <a:avLst/>
          </a:prstGeom>
          <a:solidFill>
            <a:srgbClr val="FDECEA"/>
          </a:solidFill>
          <a:ln w="25400">
            <a:solidFill>
              <a:srgbClr val="C0392B"/>
            </a:solidFill>
            <a:prstDash val="solid"/>
          </a:ln>
          <a:effectLst>
            <a:outerShdw blurRad="88900" dist="38100" dir="8100000" algn="bl" rotWithShape="0">
              <a:srgbClr val="000000">
                <a:alpha val="13000"/>
              </a:srgbClr>
            </a:outerShdw>
          </a:effectLst>
        </p:spPr>
      </p:sp>
      <p:sp>
        <p:nvSpPr>
          <p:cNvPr id="16" name="Text 14"/>
          <p:cNvSpPr/>
          <p:nvPr/>
        </p:nvSpPr>
        <p:spPr>
          <a:xfrm>
            <a:off x="9418320" y="1783080"/>
            <a:ext cx="1097280" cy="5943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7" name="Text 15"/>
          <p:cNvSpPr/>
          <p:nvPr/>
        </p:nvSpPr>
        <p:spPr>
          <a:xfrm>
            <a:off x="8321040" y="2450592"/>
            <a:ext cx="3291840" cy="457200"/>
          </a:xfrm>
          <a:prstGeom prst="rect">
            <a:avLst/>
          </a:prstGeom>
          <a:noFill/>
          <a:ln/>
        </p:spPr>
        <p:txBody>
          <a:bodyPr wrap="square"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True value: $95. CVA = $5</a:t>
            </a:r>
            <a:endParaRPr lang="en-US" sz="1400" dirty="0"/>
          </a:p>
        </p:txBody>
      </p:sp>
      <p:sp>
        <p:nvSpPr>
          <p:cNvPr id="18" name="Shape 16"/>
          <p:cNvSpPr/>
          <p:nvPr/>
        </p:nvSpPr>
        <p:spPr>
          <a:xfrm>
            <a:off x="8641080" y="2962656"/>
            <a:ext cx="2651760" cy="27432"/>
          </a:xfrm>
          <a:prstGeom prst="rect">
            <a:avLst/>
          </a:prstGeom>
          <a:solidFill>
            <a:srgbClr val="C0392B"/>
          </a:solidFill>
          <a:ln w="12700">
            <a:solidFill>
              <a:srgbClr val="C0392B"/>
            </a:solidFill>
            <a:prstDash val="solid"/>
          </a:ln>
        </p:spPr>
      </p:sp>
      <p:sp>
        <p:nvSpPr>
          <p:cNvPr id="19" name="Text 17"/>
          <p:cNvSpPr/>
          <p:nvPr/>
        </p:nvSpPr>
        <p:spPr>
          <a:xfrm>
            <a:off x="8321040" y="3044952"/>
            <a:ext cx="3291840" cy="1691640"/>
          </a:xfrm>
          <a:prstGeom prst="rect">
            <a:avLst/>
          </a:prstGeom>
          <a:noFill/>
          <a:ln/>
        </p:spPr>
        <p:txBody>
          <a:bodyPr wrap="square" rtlCol="0" anchor="t"/>
          <a:lstStyle/>
          <a:p>
            <a:pPr marL="0" indent="0" algn="ctr">
              <a:buNone/>
            </a:pPr>
            <a:r>
              <a:rPr lang="en-US" sz="1250" dirty="0">
                <a:solidFill>
                  <a:srgbClr val="333333"/>
                </a:solidFill>
                <a:latin typeface="Calibri" pitchFamily="34" charset="0"/>
                <a:ea typeface="Calibri" pitchFamily="34" charset="-122"/>
                <a:cs typeface="Calibri" pitchFamily="34" charset="-120"/>
              </a:rPr>
              <a:t>After accounting for the risk of non-repayment, the loan is worth $95 to you. The $5 shortfall is the Credit Valuation Adjustment.</a:t>
            </a:r>
            <a:endParaRPr lang="en-US" sz="1250" dirty="0"/>
          </a:p>
        </p:txBody>
      </p:sp>
      <p:sp>
        <p:nvSpPr>
          <p:cNvPr id="20" name="Shape 18"/>
          <p:cNvSpPr/>
          <p:nvPr/>
        </p:nvSpPr>
        <p:spPr>
          <a:xfrm>
            <a:off x="4160520" y="3127248"/>
            <a:ext cx="109728" cy="347472"/>
          </a:xfrm>
          <a:prstGeom prst="rect">
            <a:avLst/>
          </a:prstGeom>
          <a:solidFill>
            <a:srgbClr val="777777"/>
          </a:solidFill>
          <a:ln w="12700">
            <a:solidFill>
              <a:srgbClr val="777777"/>
            </a:solidFill>
            <a:prstDash val="solid"/>
          </a:ln>
        </p:spPr>
      </p:sp>
      <p:sp>
        <p:nvSpPr>
          <p:cNvPr id="21" name="Shape 19"/>
          <p:cNvSpPr/>
          <p:nvPr/>
        </p:nvSpPr>
        <p:spPr>
          <a:xfrm>
            <a:off x="8074152" y="3127248"/>
            <a:ext cx="109728" cy="347472"/>
          </a:xfrm>
          <a:prstGeom prst="rect">
            <a:avLst/>
          </a:prstGeom>
          <a:solidFill>
            <a:srgbClr val="777777"/>
          </a:solidFill>
          <a:ln w="12700">
            <a:solidFill>
              <a:srgbClr val="777777"/>
            </a:solidFill>
            <a:prstDash val="solid"/>
          </a:ln>
        </p:spPr>
      </p:sp>
      <p:sp>
        <p:nvSpPr>
          <p:cNvPr id="22" name="Shape 20"/>
          <p:cNvSpPr/>
          <p:nvPr/>
        </p:nvSpPr>
        <p:spPr>
          <a:xfrm>
            <a:off x="320040" y="5074920"/>
            <a:ext cx="11521440" cy="1097280"/>
          </a:xfrm>
          <a:prstGeom prst="rect">
            <a:avLst/>
          </a:prstGeom>
          <a:solidFill>
            <a:srgbClr val="1A3A5C"/>
          </a:solidFill>
          <a:ln w="12700">
            <a:solidFill>
              <a:srgbClr val="1A3A5C"/>
            </a:solidFill>
            <a:prstDash val="solid"/>
          </a:ln>
        </p:spPr>
      </p:sp>
      <p:sp>
        <p:nvSpPr>
          <p:cNvPr id="23" name="Text 21"/>
          <p:cNvSpPr/>
          <p:nvPr/>
        </p:nvSpPr>
        <p:spPr>
          <a:xfrm>
            <a:off x="457200" y="5102352"/>
            <a:ext cx="11247120" cy="47548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CVA  =  Face Value  −  True Economic Value  =  $100 − $95  =  $5</a:t>
            </a:r>
            <a:endParaRPr lang="en-US" sz="1700" dirty="0"/>
          </a:p>
        </p:txBody>
      </p:sp>
      <p:sp>
        <p:nvSpPr>
          <p:cNvPr id="24" name="Text 22"/>
          <p:cNvSpPr/>
          <p:nvPr/>
        </p:nvSpPr>
        <p:spPr>
          <a:xfrm>
            <a:off x="457200" y="5596128"/>
            <a:ext cx="11247120" cy="475488"/>
          </a:xfrm>
          <a:prstGeom prst="rect">
            <a:avLst/>
          </a:prstGeom>
          <a:noFill/>
          <a:ln/>
        </p:spPr>
        <p:txBody>
          <a:bodyPr wrap="square" rtlCol="0" anchor="ctr"/>
          <a:lstStyle/>
          <a:p>
            <a:pPr marL="0" indent="0" algn="ctr">
              <a:buNone/>
            </a:pPr>
            <a:r>
              <a:rPr lang="en-US" sz="1150" dirty="0">
                <a:solidFill>
                  <a:srgbClr val="BBDDEE"/>
                </a:solidFill>
                <a:latin typeface="Calibri" pitchFamily="34" charset="0"/>
                <a:ea typeface="Calibri" pitchFamily="34" charset="-122"/>
                <a:cs typeface="Calibri" pitchFamily="34" charset="-120"/>
              </a:rPr>
              <a:t>This $5 is the price of credit risk: it captures the probability your friend defaults × what you would lose if they did × how much they owe you. These are the three universal building blocks of CVA — Probability of Default, Loss Given Default, and Exposure.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A5C"/>
          </a:solidFill>
          <a:ln w="12700">
            <a:solidFill>
              <a:srgbClr val="1A3A5C"/>
            </a:solidFill>
            <a:prstDash val="solid"/>
          </a:ln>
        </p:spPr>
      </p:sp>
      <p:sp>
        <p:nvSpPr>
          <p:cNvPr id="3" name="Text 1"/>
          <p:cNvSpPr/>
          <p:nvPr/>
        </p:nvSpPr>
        <p:spPr>
          <a:xfrm>
            <a:off x="320040" y="0"/>
            <a:ext cx="11521440" cy="658368"/>
          </a:xfrm>
          <a:prstGeom prst="rect">
            <a:avLst/>
          </a:prstGeom>
          <a:noFill/>
          <a:ln/>
        </p:spPr>
        <p:txBody>
          <a:bodyPr wrap="square" rtlCol="0" anchor="ctr"/>
          <a:lstStyle/>
          <a:p>
            <a:pPr marL="0" indent="0">
              <a:buNone/>
            </a:pPr>
            <a:r>
              <a:rPr lang="en-US" sz="1300" dirty="0">
                <a:solidFill>
                  <a:srgbClr val="AACCEE"/>
                </a:solidFill>
                <a:latin typeface="Calibri" pitchFamily="34" charset="0"/>
                <a:ea typeface="Calibri" pitchFamily="34" charset="-122"/>
                <a:cs typeface="Calibri" pitchFamily="34" charset="-120"/>
              </a:rPr>
              <a:t>Section 1  |  Three Ingredients of CVA</a:t>
            </a:r>
            <a:endParaRPr lang="en-US" sz="1300" dirty="0"/>
          </a:p>
        </p:txBody>
      </p:sp>
      <p:sp>
        <p:nvSpPr>
          <p:cNvPr id="4" name="Text 2"/>
          <p:cNvSpPr/>
          <p:nvPr/>
        </p:nvSpPr>
        <p:spPr>
          <a:xfrm>
            <a:off x="365760" y="804672"/>
            <a:ext cx="11430000" cy="658368"/>
          </a:xfrm>
          <a:prstGeom prst="rect">
            <a:avLst/>
          </a:prstGeom>
          <a:noFill/>
          <a:ln/>
        </p:spPr>
        <p:txBody>
          <a:bodyPr wrap="square" rtlCol="0" anchor="ctr"/>
          <a:lstStyle/>
          <a:p>
            <a:pPr marL="0" indent="0">
              <a:buNone/>
            </a:pPr>
            <a:r>
              <a:rPr lang="en-US" sz="2800" b="1" dirty="0">
                <a:solidFill>
                  <a:srgbClr val="1A3A5C"/>
                </a:solidFill>
                <a:latin typeface="Georgia" pitchFamily="34" charset="0"/>
                <a:ea typeface="Georgia" pitchFamily="34" charset="-122"/>
                <a:cs typeface="Georgia" pitchFamily="34" charset="-120"/>
              </a:rPr>
              <a:t>What Determines How Large CVA Is?</a:t>
            </a:r>
            <a:endParaRPr lang="en-US" sz="2800" dirty="0"/>
          </a:p>
        </p:txBody>
      </p:sp>
      <p:sp>
        <p:nvSpPr>
          <p:cNvPr id="5" name="Shape 3"/>
          <p:cNvSpPr/>
          <p:nvPr/>
        </p:nvSpPr>
        <p:spPr>
          <a:xfrm>
            <a:off x="320040" y="1627632"/>
            <a:ext cx="11521440" cy="1444752"/>
          </a:xfrm>
          <a:prstGeom prst="rect">
            <a:avLst/>
          </a:prstGeom>
          <a:solidFill>
            <a:srgbClr val="D6E8F5"/>
          </a:solidFill>
          <a:ln w="25400">
            <a:solidFill>
              <a:srgbClr val="0D7377"/>
            </a:solidFill>
            <a:prstDash val="solid"/>
          </a:ln>
          <a:effectLst>
            <a:outerShdw blurRad="88900" dist="38100" dir="8100000" algn="bl" rotWithShape="0">
              <a:srgbClr val="000000">
                <a:alpha val="13000"/>
              </a:srgbClr>
            </a:outerShdw>
          </a:effectLst>
        </p:spPr>
      </p:sp>
      <p:sp>
        <p:nvSpPr>
          <p:cNvPr id="6" name="Shape 4"/>
          <p:cNvSpPr/>
          <p:nvPr/>
        </p:nvSpPr>
        <p:spPr>
          <a:xfrm>
            <a:off x="438912" y="2011680"/>
            <a:ext cx="566928" cy="566928"/>
          </a:xfrm>
          <a:prstGeom prst="ellipse">
            <a:avLst/>
          </a:prstGeom>
          <a:solidFill>
            <a:srgbClr val="0D7377"/>
          </a:solidFill>
          <a:ln w="12700">
            <a:solidFill>
              <a:srgbClr val="0D7377"/>
            </a:solidFill>
            <a:prstDash val="solid"/>
          </a:ln>
        </p:spPr>
      </p:sp>
      <p:sp>
        <p:nvSpPr>
          <p:cNvPr id="7" name="Text 5"/>
          <p:cNvSpPr/>
          <p:nvPr/>
        </p:nvSpPr>
        <p:spPr>
          <a:xfrm>
            <a:off x="438912" y="2011680"/>
            <a:ext cx="566928" cy="566928"/>
          </a:xfrm>
          <a:prstGeom prst="rect">
            <a:avLst/>
          </a:prstGeom>
          <a:noFill/>
          <a:ln/>
        </p:spPr>
        <p:txBody>
          <a:bodyPr wrap="square" lIns="0" tIns="0" rIns="0" bIns="0"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1</a:t>
            </a:r>
            <a:endParaRPr lang="en-US" sz="1700" dirty="0"/>
          </a:p>
        </p:txBody>
      </p:sp>
      <p:sp>
        <p:nvSpPr>
          <p:cNvPr id="8" name="Text 6"/>
          <p:cNvSpPr/>
          <p:nvPr/>
        </p:nvSpPr>
        <p:spPr>
          <a:xfrm>
            <a:off x="1143000" y="1719072"/>
            <a:ext cx="3657600" cy="438912"/>
          </a:xfrm>
          <a:prstGeom prst="rect">
            <a:avLst/>
          </a:prstGeom>
          <a:noFill/>
          <a:ln/>
        </p:spPr>
        <p:txBody>
          <a:bodyPr wrap="square" rtlCol="0" anchor="ctr"/>
          <a:lstStyle/>
          <a:p>
            <a:pPr marL="0" indent="0">
              <a:buNone/>
            </a:pPr>
            <a:r>
              <a:rPr lang="en-US" sz="1500" b="1" dirty="0">
                <a:solidFill>
                  <a:srgbClr val="1A3A5C"/>
                </a:solidFill>
                <a:latin typeface="Calibri" pitchFamily="34" charset="0"/>
                <a:ea typeface="Calibri" pitchFamily="34" charset="-122"/>
                <a:cs typeface="Calibri" pitchFamily="34" charset="-120"/>
              </a:rPr>
              <a:t>Exposure</a:t>
            </a:r>
            <a:endParaRPr lang="en-US" sz="1500" dirty="0"/>
          </a:p>
        </p:txBody>
      </p:sp>
      <p:sp>
        <p:nvSpPr>
          <p:cNvPr id="9" name="Text 7"/>
          <p:cNvSpPr/>
          <p:nvPr/>
        </p:nvSpPr>
        <p:spPr>
          <a:xfrm>
            <a:off x="1143000" y="2130552"/>
            <a:ext cx="3840480" cy="347472"/>
          </a:xfrm>
          <a:prstGeom prst="rect">
            <a:avLst/>
          </a:prstGeom>
          <a:noFill/>
          <a:ln/>
        </p:spPr>
        <p:txBody>
          <a:bodyPr wrap="square" rtlCol="0" anchor="ctr"/>
          <a:lstStyle/>
          <a:p>
            <a:pPr marL="0" indent="0">
              <a:buNone/>
            </a:pPr>
            <a:r>
              <a:rPr lang="en-US" sz="1150" i="1" dirty="0">
                <a:solidFill>
                  <a:srgbClr val="0D7377"/>
                </a:solidFill>
                <a:latin typeface="Calibri" pitchFamily="34" charset="0"/>
                <a:ea typeface="Calibri" pitchFamily="34" charset="-122"/>
                <a:cs typeface="Calibri" pitchFamily="34" charset="-120"/>
              </a:rPr>
              <a:t>How much is owed at the point of default?</a:t>
            </a:r>
            <a:endParaRPr lang="en-US" sz="1150" dirty="0"/>
          </a:p>
        </p:txBody>
      </p:sp>
      <p:sp>
        <p:nvSpPr>
          <p:cNvPr id="10" name="Text 8"/>
          <p:cNvSpPr/>
          <p:nvPr/>
        </p:nvSpPr>
        <p:spPr>
          <a:xfrm>
            <a:off x="5029200" y="1719072"/>
            <a:ext cx="4297680" cy="1234440"/>
          </a:xfrm>
          <a:prstGeom prst="rect">
            <a:avLst/>
          </a:prstGeom>
          <a:noFill/>
          <a:ln/>
        </p:spPr>
        <p:txBody>
          <a:bodyPr wrap="square" rtlCol="0" anchor="ctr"/>
          <a:lstStyle/>
          <a:p>
            <a:pPr marL="0" indent="0">
              <a:buNone/>
            </a:pPr>
            <a:r>
              <a:rPr lang="en-US" sz="1150" dirty="0">
                <a:solidFill>
                  <a:srgbClr val="222222"/>
                </a:solidFill>
                <a:latin typeface="Calibri" pitchFamily="34" charset="0"/>
                <a:ea typeface="Calibri" pitchFamily="34" charset="-122"/>
                <a:cs typeface="Calibri" pitchFamily="34" charset="-120"/>
              </a:rPr>
              <a:t>In the friend example this is fixed at $100. In a derivatives contract it changes every day as market rates move — the amount owed fluctuates with interest rates, FX, or credit spreads. This dynamic nature is what makes derivatives CVA so much harder to calculate than loan CVA.</a:t>
            </a:r>
            <a:endParaRPr lang="en-US" sz="1150" dirty="0"/>
          </a:p>
        </p:txBody>
      </p:sp>
      <p:sp>
        <p:nvSpPr>
          <p:cNvPr id="11" name="Shape 9"/>
          <p:cNvSpPr/>
          <p:nvPr/>
        </p:nvSpPr>
        <p:spPr>
          <a:xfrm>
            <a:off x="9464040" y="1700784"/>
            <a:ext cx="54864" cy="1280160"/>
          </a:xfrm>
          <a:prstGeom prst="rect">
            <a:avLst/>
          </a:prstGeom>
          <a:solidFill>
            <a:srgbClr val="0D7377"/>
          </a:solidFill>
          <a:ln w="12700">
            <a:solidFill>
              <a:srgbClr val="0D7377"/>
            </a:solidFill>
            <a:prstDash val="solid"/>
          </a:ln>
        </p:spPr>
      </p:sp>
      <p:sp>
        <p:nvSpPr>
          <p:cNvPr id="12" name="Text 10"/>
          <p:cNvSpPr/>
          <p:nvPr/>
        </p:nvSpPr>
        <p:spPr>
          <a:xfrm>
            <a:off x="9582912" y="1719072"/>
            <a:ext cx="2148840" cy="1261872"/>
          </a:xfrm>
          <a:prstGeom prst="rect">
            <a:avLst/>
          </a:prstGeom>
          <a:noFill/>
          <a:ln/>
        </p:spPr>
        <p:txBody>
          <a:bodyPr wrap="square" rtlCol="0" anchor="ctr"/>
          <a:lstStyle/>
          <a:p>
            <a:pPr marL="0" indent="0">
              <a:buNone/>
            </a:pPr>
            <a:r>
              <a:rPr lang="en-US" sz="1050" i="1" dirty="0">
                <a:solidFill>
                  <a:srgbClr val="444444"/>
                </a:solidFill>
                <a:latin typeface="Calibri" pitchFamily="34" charset="0"/>
                <a:ea typeface="Calibri" pitchFamily="34" charset="-122"/>
                <a:cs typeface="Calibri" pitchFamily="34" charset="-120"/>
              </a:rPr>
              <a:t>Example: A 5-year IRS that is $2M in-the-money today might be $8M in-the-money in 2 years if rates move sharply. The CVA must account for this entire range of possible future exposures.</a:t>
            </a:r>
            <a:endParaRPr lang="en-US" sz="1050" dirty="0"/>
          </a:p>
        </p:txBody>
      </p:sp>
      <p:sp>
        <p:nvSpPr>
          <p:cNvPr id="13" name="Shape 11"/>
          <p:cNvSpPr/>
          <p:nvPr/>
        </p:nvSpPr>
        <p:spPr>
          <a:xfrm>
            <a:off x="320040" y="3182112"/>
            <a:ext cx="11521440" cy="1444752"/>
          </a:xfrm>
          <a:prstGeom prst="rect">
            <a:avLst/>
          </a:prstGeom>
          <a:solidFill>
            <a:srgbClr val="FDF3E3"/>
          </a:solidFill>
          <a:ln w="25400">
            <a:solidFill>
              <a:srgbClr val="C8922A"/>
            </a:solidFill>
            <a:prstDash val="solid"/>
          </a:ln>
          <a:effectLst>
            <a:outerShdw blurRad="88900" dist="38100" dir="8100000" algn="bl" rotWithShape="0">
              <a:srgbClr val="000000">
                <a:alpha val="13000"/>
              </a:srgbClr>
            </a:outerShdw>
          </a:effectLst>
        </p:spPr>
      </p:sp>
      <p:sp>
        <p:nvSpPr>
          <p:cNvPr id="14" name="Shape 12"/>
          <p:cNvSpPr/>
          <p:nvPr/>
        </p:nvSpPr>
        <p:spPr>
          <a:xfrm>
            <a:off x="438912" y="3566160"/>
            <a:ext cx="566928" cy="566928"/>
          </a:xfrm>
          <a:prstGeom prst="ellipse">
            <a:avLst/>
          </a:prstGeom>
          <a:solidFill>
            <a:srgbClr val="C8922A"/>
          </a:solidFill>
          <a:ln w="12700">
            <a:solidFill>
              <a:srgbClr val="C8922A"/>
            </a:solidFill>
            <a:prstDash val="solid"/>
          </a:ln>
        </p:spPr>
      </p:sp>
      <p:sp>
        <p:nvSpPr>
          <p:cNvPr id="15" name="Text 13"/>
          <p:cNvSpPr/>
          <p:nvPr/>
        </p:nvSpPr>
        <p:spPr>
          <a:xfrm>
            <a:off x="438912" y="3566160"/>
            <a:ext cx="566928" cy="566928"/>
          </a:xfrm>
          <a:prstGeom prst="rect">
            <a:avLst/>
          </a:prstGeom>
          <a:noFill/>
          <a:ln/>
        </p:spPr>
        <p:txBody>
          <a:bodyPr wrap="square" lIns="0" tIns="0" rIns="0" bIns="0"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2</a:t>
            </a:r>
            <a:endParaRPr lang="en-US" sz="1700" dirty="0"/>
          </a:p>
        </p:txBody>
      </p:sp>
      <p:sp>
        <p:nvSpPr>
          <p:cNvPr id="16" name="Text 14"/>
          <p:cNvSpPr/>
          <p:nvPr/>
        </p:nvSpPr>
        <p:spPr>
          <a:xfrm>
            <a:off x="1143000" y="3273552"/>
            <a:ext cx="3657600" cy="438912"/>
          </a:xfrm>
          <a:prstGeom prst="rect">
            <a:avLst/>
          </a:prstGeom>
          <a:noFill/>
          <a:ln/>
        </p:spPr>
        <p:txBody>
          <a:bodyPr wrap="square" rtlCol="0" anchor="ctr"/>
          <a:lstStyle/>
          <a:p>
            <a:pPr marL="0" indent="0">
              <a:buNone/>
            </a:pPr>
            <a:r>
              <a:rPr lang="en-US" sz="1500" b="1" dirty="0">
                <a:solidFill>
                  <a:srgbClr val="1A3A5C"/>
                </a:solidFill>
                <a:latin typeface="Calibri" pitchFamily="34" charset="0"/>
                <a:ea typeface="Calibri" pitchFamily="34" charset="-122"/>
                <a:cs typeface="Calibri" pitchFamily="34" charset="-120"/>
              </a:rPr>
              <a:t>Probability of Default (PD)</a:t>
            </a:r>
            <a:endParaRPr lang="en-US" sz="1500" dirty="0"/>
          </a:p>
        </p:txBody>
      </p:sp>
      <p:sp>
        <p:nvSpPr>
          <p:cNvPr id="17" name="Text 15"/>
          <p:cNvSpPr/>
          <p:nvPr/>
        </p:nvSpPr>
        <p:spPr>
          <a:xfrm>
            <a:off x="1143000" y="3685032"/>
            <a:ext cx="3840480" cy="347472"/>
          </a:xfrm>
          <a:prstGeom prst="rect">
            <a:avLst/>
          </a:prstGeom>
          <a:noFill/>
          <a:ln/>
        </p:spPr>
        <p:txBody>
          <a:bodyPr wrap="square" rtlCol="0" anchor="ctr"/>
          <a:lstStyle/>
          <a:p>
            <a:pPr marL="0" indent="0">
              <a:buNone/>
            </a:pPr>
            <a:r>
              <a:rPr lang="en-US" sz="1150" i="1" dirty="0">
                <a:solidFill>
                  <a:srgbClr val="C8922A"/>
                </a:solidFill>
                <a:latin typeface="Calibri" pitchFamily="34" charset="0"/>
                <a:ea typeface="Calibri" pitchFamily="34" charset="-122"/>
                <a:cs typeface="Calibri" pitchFamily="34" charset="-120"/>
              </a:rPr>
              <a:t>How likely is the counterparty to default?</a:t>
            </a:r>
            <a:endParaRPr lang="en-US" sz="1150" dirty="0"/>
          </a:p>
        </p:txBody>
      </p:sp>
      <p:sp>
        <p:nvSpPr>
          <p:cNvPr id="18" name="Text 16"/>
          <p:cNvSpPr/>
          <p:nvPr/>
        </p:nvSpPr>
        <p:spPr>
          <a:xfrm>
            <a:off x="5029200" y="3273552"/>
            <a:ext cx="4297680" cy="1234440"/>
          </a:xfrm>
          <a:prstGeom prst="rect">
            <a:avLst/>
          </a:prstGeom>
          <a:noFill/>
          <a:ln/>
        </p:spPr>
        <p:txBody>
          <a:bodyPr wrap="square" rtlCol="0" anchor="ctr"/>
          <a:lstStyle/>
          <a:p>
            <a:pPr marL="0" indent="0">
              <a:buNone/>
            </a:pPr>
            <a:r>
              <a:rPr lang="en-US" sz="1150" dirty="0">
                <a:solidFill>
                  <a:srgbClr val="222222"/>
                </a:solidFill>
                <a:latin typeface="Calibri" pitchFamily="34" charset="0"/>
                <a:ea typeface="Calibri" pitchFamily="34" charset="-122"/>
                <a:cs typeface="Calibri" pitchFamily="34" charset="-120"/>
              </a:rPr>
              <a:t>PD is derived from observable market data — typically the counterparty's CDS spread. A BBB-rated corporate with a 150 bps CDS spread implies roughly 2.5% annual default probability. As credit conditions worsen and spreads widen, PD rises and CVA increases immediately.</a:t>
            </a:r>
            <a:endParaRPr lang="en-US" sz="1150" dirty="0"/>
          </a:p>
        </p:txBody>
      </p:sp>
      <p:sp>
        <p:nvSpPr>
          <p:cNvPr id="19" name="Shape 17"/>
          <p:cNvSpPr/>
          <p:nvPr/>
        </p:nvSpPr>
        <p:spPr>
          <a:xfrm>
            <a:off x="9464040" y="3255264"/>
            <a:ext cx="54864" cy="1280160"/>
          </a:xfrm>
          <a:prstGeom prst="rect">
            <a:avLst/>
          </a:prstGeom>
          <a:solidFill>
            <a:srgbClr val="C8922A"/>
          </a:solidFill>
          <a:ln w="12700">
            <a:solidFill>
              <a:srgbClr val="C8922A"/>
            </a:solidFill>
            <a:prstDash val="solid"/>
          </a:ln>
        </p:spPr>
      </p:sp>
      <p:sp>
        <p:nvSpPr>
          <p:cNvPr id="20" name="Text 18"/>
          <p:cNvSpPr/>
          <p:nvPr/>
        </p:nvSpPr>
        <p:spPr>
          <a:xfrm>
            <a:off x="9582912" y="3273552"/>
            <a:ext cx="2148840" cy="1261872"/>
          </a:xfrm>
          <a:prstGeom prst="rect">
            <a:avLst/>
          </a:prstGeom>
          <a:noFill/>
          <a:ln/>
        </p:spPr>
        <p:txBody>
          <a:bodyPr wrap="square" rtlCol="0" anchor="ctr"/>
          <a:lstStyle/>
          <a:p>
            <a:pPr marL="0" indent="0">
              <a:buNone/>
            </a:pPr>
            <a:r>
              <a:rPr lang="en-US" sz="1050" i="1" dirty="0">
                <a:solidFill>
                  <a:srgbClr val="444444"/>
                </a:solidFill>
                <a:latin typeface="Calibri" pitchFamily="34" charset="0"/>
                <a:ea typeface="Calibri" pitchFamily="34" charset="-122"/>
                <a:cs typeface="Calibri" pitchFamily="34" charset="-120"/>
              </a:rPr>
              <a:t>Example: If your counterparty's CDS spread widens from 100 to 300 bps overnight, your CVA roughly triples — even though nothing else about the trade changed. This is why CVA is a live P&amp;L driver.</a:t>
            </a:r>
            <a:endParaRPr lang="en-US" sz="1050" dirty="0"/>
          </a:p>
        </p:txBody>
      </p:sp>
      <p:sp>
        <p:nvSpPr>
          <p:cNvPr id="21" name="Shape 19"/>
          <p:cNvSpPr/>
          <p:nvPr/>
        </p:nvSpPr>
        <p:spPr>
          <a:xfrm>
            <a:off x="320040" y="4736592"/>
            <a:ext cx="11521440" cy="1444752"/>
          </a:xfrm>
          <a:prstGeom prst="rect">
            <a:avLst/>
          </a:prstGeom>
          <a:solidFill>
            <a:srgbClr val="FDECEA"/>
          </a:solidFill>
          <a:ln w="25400">
            <a:solidFill>
              <a:srgbClr val="C0392B"/>
            </a:solidFill>
            <a:prstDash val="solid"/>
          </a:ln>
          <a:effectLst>
            <a:outerShdw blurRad="88900" dist="38100" dir="8100000" algn="bl" rotWithShape="0">
              <a:srgbClr val="000000">
                <a:alpha val="13000"/>
              </a:srgbClr>
            </a:outerShdw>
          </a:effectLst>
        </p:spPr>
      </p:sp>
      <p:sp>
        <p:nvSpPr>
          <p:cNvPr id="22" name="Shape 20"/>
          <p:cNvSpPr/>
          <p:nvPr/>
        </p:nvSpPr>
        <p:spPr>
          <a:xfrm>
            <a:off x="438912" y="5120640"/>
            <a:ext cx="566928" cy="566928"/>
          </a:xfrm>
          <a:prstGeom prst="ellipse">
            <a:avLst/>
          </a:prstGeom>
          <a:solidFill>
            <a:srgbClr val="C0392B"/>
          </a:solidFill>
          <a:ln w="12700">
            <a:solidFill>
              <a:srgbClr val="C0392B"/>
            </a:solidFill>
            <a:prstDash val="solid"/>
          </a:ln>
        </p:spPr>
      </p:sp>
      <p:sp>
        <p:nvSpPr>
          <p:cNvPr id="23" name="Text 21"/>
          <p:cNvSpPr/>
          <p:nvPr/>
        </p:nvSpPr>
        <p:spPr>
          <a:xfrm>
            <a:off x="438912" y="5120640"/>
            <a:ext cx="566928" cy="566928"/>
          </a:xfrm>
          <a:prstGeom prst="rect">
            <a:avLst/>
          </a:prstGeom>
          <a:noFill/>
          <a:ln/>
        </p:spPr>
        <p:txBody>
          <a:bodyPr wrap="square" lIns="0" tIns="0" rIns="0" bIns="0"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3</a:t>
            </a:r>
            <a:endParaRPr lang="en-US" sz="1700" dirty="0"/>
          </a:p>
        </p:txBody>
      </p:sp>
      <p:sp>
        <p:nvSpPr>
          <p:cNvPr id="24" name="Text 22"/>
          <p:cNvSpPr/>
          <p:nvPr/>
        </p:nvSpPr>
        <p:spPr>
          <a:xfrm>
            <a:off x="1143000" y="4828032"/>
            <a:ext cx="3657600" cy="438912"/>
          </a:xfrm>
          <a:prstGeom prst="rect">
            <a:avLst/>
          </a:prstGeom>
          <a:noFill/>
          <a:ln/>
        </p:spPr>
        <p:txBody>
          <a:bodyPr wrap="square" rtlCol="0" anchor="ctr"/>
          <a:lstStyle/>
          <a:p>
            <a:pPr marL="0" indent="0">
              <a:buNone/>
            </a:pPr>
            <a:r>
              <a:rPr lang="en-US" sz="1500" b="1" dirty="0">
                <a:solidFill>
                  <a:srgbClr val="1A3A5C"/>
                </a:solidFill>
                <a:latin typeface="Calibri" pitchFamily="34" charset="0"/>
                <a:ea typeface="Calibri" pitchFamily="34" charset="-122"/>
                <a:cs typeface="Calibri" pitchFamily="34" charset="-120"/>
              </a:rPr>
              <a:t>Loss Given Default (LGD)</a:t>
            </a:r>
            <a:endParaRPr lang="en-US" sz="1500" dirty="0"/>
          </a:p>
        </p:txBody>
      </p:sp>
      <p:sp>
        <p:nvSpPr>
          <p:cNvPr id="25" name="Text 23"/>
          <p:cNvSpPr/>
          <p:nvPr/>
        </p:nvSpPr>
        <p:spPr>
          <a:xfrm>
            <a:off x="1143000" y="5239512"/>
            <a:ext cx="3840480" cy="347472"/>
          </a:xfrm>
          <a:prstGeom prst="rect">
            <a:avLst/>
          </a:prstGeom>
          <a:noFill/>
          <a:ln/>
        </p:spPr>
        <p:txBody>
          <a:bodyPr wrap="square" rtlCol="0" anchor="ctr"/>
          <a:lstStyle/>
          <a:p>
            <a:pPr marL="0" indent="0">
              <a:buNone/>
            </a:pPr>
            <a:r>
              <a:rPr lang="en-US" sz="1150" i="1" dirty="0">
                <a:solidFill>
                  <a:srgbClr val="C0392B"/>
                </a:solidFill>
                <a:latin typeface="Calibri" pitchFamily="34" charset="0"/>
                <a:ea typeface="Calibri" pitchFamily="34" charset="-122"/>
                <a:cs typeface="Calibri" pitchFamily="34" charset="-120"/>
              </a:rPr>
              <a:t>How much would actually be lost if default occurs?</a:t>
            </a:r>
            <a:endParaRPr lang="en-US" sz="1150" dirty="0"/>
          </a:p>
        </p:txBody>
      </p:sp>
      <p:sp>
        <p:nvSpPr>
          <p:cNvPr id="26" name="Text 24"/>
          <p:cNvSpPr/>
          <p:nvPr/>
        </p:nvSpPr>
        <p:spPr>
          <a:xfrm>
            <a:off x="5029200" y="4828032"/>
            <a:ext cx="4297680" cy="1234440"/>
          </a:xfrm>
          <a:prstGeom prst="rect">
            <a:avLst/>
          </a:prstGeom>
          <a:noFill/>
          <a:ln/>
        </p:spPr>
        <p:txBody>
          <a:bodyPr wrap="square" rtlCol="0" anchor="ctr"/>
          <a:lstStyle/>
          <a:p>
            <a:pPr marL="0" indent="0">
              <a:buNone/>
            </a:pPr>
            <a:r>
              <a:rPr lang="en-US" sz="1150" dirty="0">
                <a:solidFill>
                  <a:srgbClr val="222222"/>
                </a:solidFill>
                <a:latin typeface="Calibri" pitchFamily="34" charset="0"/>
                <a:ea typeface="Calibri" pitchFamily="34" charset="-122"/>
                <a:cs typeface="Calibri" pitchFamily="34" charset="-120"/>
              </a:rPr>
              <a:t>LGD = 1 − Recovery Rate. Not all defaults result in total loss. Senior unsecured OTC derivatives typically assume 40% recovery, giving LGD = 60%. With collateral agreements in place, recovery is higher and LGD falls, directly reducing CVA.</a:t>
            </a:r>
            <a:endParaRPr lang="en-US" sz="1150" dirty="0"/>
          </a:p>
        </p:txBody>
      </p:sp>
      <p:sp>
        <p:nvSpPr>
          <p:cNvPr id="27" name="Shape 25"/>
          <p:cNvSpPr/>
          <p:nvPr/>
        </p:nvSpPr>
        <p:spPr>
          <a:xfrm>
            <a:off x="9464040" y="4809744"/>
            <a:ext cx="54864" cy="1280160"/>
          </a:xfrm>
          <a:prstGeom prst="rect">
            <a:avLst/>
          </a:prstGeom>
          <a:solidFill>
            <a:srgbClr val="C0392B"/>
          </a:solidFill>
          <a:ln w="12700">
            <a:solidFill>
              <a:srgbClr val="C0392B"/>
            </a:solidFill>
            <a:prstDash val="solid"/>
          </a:ln>
        </p:spPr>
      </p:sp>
      <p:sp>
        <p:nvSpPr>
          <p:cNvPr id="28" name="Text 26"/>
          <p:cNvSpPr/>
          <p:nvPr/>
        </p:nvSpPr>
        <p:spPr>
          <a:xfrm>
            <a:off x="9582912" y="4828032"/>
            <a:ext cx="2148840" cy="1261872"/>
          </a:xfrm>
          <a:prstGeom prst="rect">
            <a:avLst/>
          </a:prstGeom>
          <a:noFill/>
          <a:ln/>
        </p:spPr>
        <p:txBody>
          <a:bodyPr wrap="square" rtlCol="0" anchor="ctr"/>
          <a:lstStyle/>
          <a:p>
            <a:pPr marL="0" indent="0">
              <a:buNone/>
            </a:pPr>
            <a:r>
              <a:rPr lang="en-US" sz="1050" i="1" dirty="0">
                <a:solidFill>
                  <a:srgbClr val="444444"/>
                </a:solidFill>
                <a:latin typeface="Calibri" pitchFamily="34" charset="0"/>
                <a:ea typeface="Calibri" pitchFamily="34" charset="-122"/>
                <a:cs typeface="Calibri" pitchFamily="34" charset="-120"/>
              </a:rPr>
              <a:t>Example: A fully collateralised trade (daily VM posting, no threshold) has near-zero LGD because the exposure is bounded by one day's margin call lag. This is why collateral dramatically reduces CVA.</a:t>
            </a:r>
            <a:endParaRPr lang="en-US" sz="1050" dirty="0"/>
          </a:p>
        </p:txBody>
      </p:sp>
      <p:sp>
        <p:nvSpPr>
          <p:cNvPr id="29" name="Shape 27"/>
          <p:cNvSpPr/>
          <p:nvPr/>
        </p:nvSpPr>
        <p:spPr>
          <a:xfrm>
            <a:off x="0" y="6309360"/>
            <a:ext cx="12161520" cy="548640"/>
          </a:xfrm>
          <a:prstGeom prst="rect">
            <a:avLst/>
          </a:prstGeom>
          <a:solidFill>
            <a:srgbClr val="0D7377"/>
          </a:solidFill>
          <a:ln w="12700">
            <a:solidFill>
              <a:srgbClr val="0D7377"/>
            </a:solidFill>
            <a:prstDash val="solid"/>
          </a:ln>
        </p:spPr>
      </p:sp>
      <p:sp>
        <p:nvSpPr>
          <p:cNvPr id="30" name="Text 28"/>
          <p:cNvSpPr/>
          <p:nvPr/>
        </p:nvSpPr>
        <p:spPr>
          <a:xfrm>
            <a:off x="365760" y="6309360"/>
            <a:ext cx="11430000" cy="5486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CVA ≈ LGD  ×  Σ [ EE(tᵢ)  ×  PD(tᵢ)  ×  D(tᵢ) ]   —   these three ingredients are the formula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0D7377"/>
          </a:solidFill>
          <a:ln w="12700">
            <a:solidFill>
              <a:srgbClr val="0D7377"/>
            </a:solidFill>
            <a:prstDash val="solid"/>
          </a:ln>
        </p:spPr>
      </p:sp>
      <p:sp>
        <p:nvSpPr>
          <p:cNvPr id="3" name="Text 1"/>
          <p:cNvSpPr/>
          <p:nvPr/>
        </p:nvSpPr>
        <p:spPr>
          <a:xfrm>
            <a:off x="320040" y="0"/>
            <a:ext cx="11521440" cy="65836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Section 2–3  |  Exposure Profiles &amp; The CVA Formula</a:t>
            </a:r>
            <a:endParaRPr lang="en-US" sz="1300" dirty="0"/>
          </a:p>
        </p:txBody>
      </p:sp>
      <p:sp>
        <p:nvSpPr>
          <p:cNvPr id="4" name="Text 2"/>
          <p:cNvSpPr/>
          <p:nvPr/>
        </p:nvSpPr>
        <p:spPr>
          <a:xfrm>
            <a:off x="365760" y="804672"/>
            <a:ext cx="11430000" cy="658368"/>
          </a:xfrm>
          <a:prstGeom prst="rect">
            <a:avLst/>
          </a:prstGeom>
          <a:noFill/>
          <a:ln/>
        </p:spPr>
        <p:txBody>
          <a:bodyPr wrap="square" rtlCol="0" anchor="ctr"/>
          <a:lstStyle/>
          <a:p>
            <a:pPr marL="0" indent="0">
              <a:buNone/>
            </a:pPr>
            <a:r>
              <a:rPr lang="en-US" sz="2800" b="1" dirty="0">
                <a:solidFill>
                  <a:srgbClr val="1A3A5C"/>
                </a:solidFill>
                <a:latin typeface="Georgia" pitchFamily="34" charset="0"/>
                <a:ea typeface="Georgia" pitchFamily="34" charset="-122"/>
                <a:cs typeface="Georgia" pitchFamily="34" charset="-120"/>
              </a:rPr>
              <a:t>From Intuition to Formula: Exposure Profiles</a:t>
            </a:r>
            <a:endParaRPr lang="en-US" sz="2800" dirty="0"/>
          </a:p>
        </p:txBody>
      </p:sp>
      <p:sp>
        <p:nvSpPr>
          <p:cNvPr id="5" name="Shape 3"/>
          <p:cNvSpPr/>
          <p:nvPr/>
        </p:nvSpPr>
        <p:spPr>
          <a:xfrm>
            <a:off x="320040" y="1600200"/>
            <a:ext cx="5577840" cy="4434840"/>
          </a:xfrm>
          <a:prstGeom prst="rect">
            <a:avLst/>
          </a:prstGeom>
          <a:solidFill>
            <a:srgbClr val="F4F6F8"/>
          </a:solidFill>
          <a:ln w="25400">
            <a:solidFill>
              <a:srgbClr val="CCCCCC"/>
            </a:solidFill>
            <a:prstDash val="solid"/>
          </a:ln>
          <a:effectLst>
            <a:outerShdw blurRad="88900" dist="38100" dir="8100000" algn="bl" rotWithShape="0">
              <a:srgbClr val="000000">
                <a:alpha val="13000"/>
              </a:srgbClr>
            </a:outerShdw>
          </a:effectLst>
        </p:spPr>
      </p:sp>
      <p:sp>
        <p:nvSpPr>
          <p:cNvPr id="6" name="Text 4"/>
          <p:cNvSpPr/>
          <p:nvPr/>
        </p:nvSpPr>
        <p:spPr>
          <a:xfrm>
            <a:off x="457200" y="1719072"/>
            <a:ext cx="5303520" cy="411480"/>
          </a:xfrm>
          <a:prstGeom prst="rect">
            <a:avLst/>
          </a:prstGeom>
          <a:noFill/>
          <a:ln/>
        </p:spPr>
        <p:txBody>
          <a:bodyPr wrap="square" rtlCol="0" anchor="ctr"/>
          <a:lstStyle/>
          <a:p>
            <a:pPr marL="0" indent="0">
              <a:buNone/>
            </a:pPr>
            <a:r>
              <a:rPr lang="en-US" sz="1400" b="1" dirty="0">
                <a:solidFill>
                  <a:srgbClr val="1A3A5C"/>
                </a:solidFill>
                <a:latin typeface="Calibri" pitchFamily="34" charset="0"/>
                <a:ea typeface="Calibri" pitchFamily="34" charset="-122"/>
                <a:cs typeface="Calibri" pitchFamily="34" charset="-120"/>
              </a:rPr>
              <a:t>Exposure Measures</a:t>
            </a:r>
            <a:endParaRPr lang="en-US" sz="1400" dirty="0"/>
          </a:p>
        </p:txBody>
      </p:sp>
      <p:sp>
        <p:nvSpPr>
          <p:cNvPr id="7" name="Shape 5"/>
          <p:cNvSpPr/>
          <p:nvPr/>
        </p:nvSpPr>
        <p:spPr>
          <a:xfrm>
            <a:off x="384048" y="2212848"/>
            <a:ext cx="5440680" cy="877824"/>
          </a:xfrm>
          <a:prstGeom prst="rect">
            <a:avLst/>
          </a:prstGeom>
          <a:solidFill>
            <a:srgbClr val="FFFFFF"/>
          </a:solidFill>
          <a:ln w="12700">
            <a:solidFill>
              <a:srgbClr val="CCCCCC"/>
            </a:solidFill>
            <a:prstDash val="solid"/>
          </a:ln>
        </p:spPr>
      </p:sp>
      <p:sp>
        <p:nvSpPr>
          <p:cNvPr id="8" name="Text 6"/>
          <p:cNvSpPr/>
          <p:nvPr/>
        </p:nvSpPr>
        <p:spPr>
          <a:xfrm>
            <a:off x="502920" y="2267712"/>
            <a:ext cx="960120" cy="365760"/>
          </a:xfrm>
          <a:prstGeom prst="rect">
            <a:avLst/>
          </a:prstGeom>
          <a:noFill/>
          <a:ln/>
        </p:spPr>
        <p:txBody>
          <a:bodyPr wrap="square" rtlCol="0" anchor="ctr"/>
          <a:lstStyle/>
          <a:p>
            <a:pPr marL="0" indent="0">
              <a:buNone/>
            </a:pPr>
            <a:r>
              <a:rPr lang="en-US" sz="1300" b="1" dirty="0">
                <a:solidFill>
                  <a:srgbClr val="0D7377"/>
                </a:solidFill>
                <a:latin typeface="Calibri" pitchFamily="34" charset="0"/>
                <a:ea typeface="Calibri" pitchFamily="34" charset="-122"/>
                <a:cs typeface="Calibri" pitchFamily="34" charset="-120"/>
              </a:rPr>
              <a:t>EE(t)</a:t>
            </a:r>
            <a:endParaRPr lang="en-US" sz="1300" dirty="0"/>
          </a:p>
        </p:txBody>
      </p:sp>
      <p:sp>
        <p:nvSpPr>
          <p:cNvPr id="9" name="Text 7"/>
          <p:cNvSpPr/>
          <p:nvPr/>
        </p:nvSpPr>
        <p:spPr>
          <a:xfrm>
            <a:off x="502920" y="2633472"/>
            <a:ext cx="1737360" cy="347472"/>
          </a:xfrm>
          <a:prstGeom prst="rect">
            <a:avLst/>
          </a:prstGeom>
          <a:noFill/>
          <a:ln/>
        </p:spPr>
        <p:txBody>
          <a:bodyPr wrap="square" rtlCol="0" anchor="ctr"/>
          <a:lstStyle/>
          <a:p>
            <a:pPr marL="0" indent="0">
              <a:buNone/>
            </a:pPr>
            <a:r>
              <a:rPr lang="en-US" sz="1000" i="1" dirty="0">
                <a:solidFill>
                  <a:srgbClr val="777777"/>
                </a:solidFill>
                <a:latin typeface="Calibri" pitchFamily="34" charset="0"/>
                <a:ea typeface="Calibri" pitchFamily="34" charset="-122"/>
                <a:cs typeface="Calibri" pitchFamily="34" charset="-120"/>
              </a:rPr>
              <a:t>Expected Exposure at time t</a:t>
            </a:r>
            <a:endParaRPr lang="en-US" sz="1000" dirty="0"/>
          </a:p>
        </p:txBody>
      </p:sp>
      <p:sp>
        <p:nvSpPr>
          <p:cNvPr id="10" name="Text 8"/>
          <p:cNvSpPr/>
          <p:nvPr/>
        </p:nvSpPr>
        <p:spPr>
          <a:xfrm>
            <a:off x="2286000" y="2304288"/>
            <a:ext cx="3383280" cy="694944"/>
          </a:xfrm>
          <a:prstGeom prst="rect">
            <a:avLst/>
          </a:prstGeom>
          <a:noFill/>
          <a:ln/>
        </p:spPr>
        <p:txBody>
          <a:bodyPr wrap="square" rtlCol="0" anchor="ctr"/>
          <a:lstStyle/>
          <a:p>
            <a:pPr marL="0" indent="0">
              <a:buNone/>
            </a:pPr>
            <a:r>
              <a:rPr lang="en-US" sz="1150" dirty="0">
                <a:solidFill>
                  <a:srgbClr val="222222"/>
                </a:solidFill>
                <a:latin typeface="Calibri" pitchFamily="34" charset="0"/>
                <a:ea typeface="Calibri" pitchFamily="34" charset="-122"/>
                <a:cs typeface="Calibri" pitchFamily="34" charset="-120"/>
              </a:rPr>
              <a:t>Probability-weighted average MtM, floored at zero. The core input into CVA.</a:t>
            </a:r>
            <a:endParaRPr lang="en-US" sz="1150" dirty="0"/>
          </a:p>
        </p:txBody>
      </p:sp>
      <p:sp>
        <p:nvSpPr>
          <p:cNvPr id="11" name="Shape 9"/>
          <p:cNvSpPr/>
          <p:nvPr/>
        </p:nvSpPr>
        <p:spPr>
          <a:xfrm>
            <a:off x="384048" y="3145536"/>
            <a:ext cx="5440680" cy="877824"/>
          </a:xfrm>
          <a:prstGeom prst="rect">
            <a:avLst/>
          </a:prstGeom>
          <a:solidFill>
            <a:srgbClr val="EAEEF2"/>
          </a:solidFill>
          <a:ln w="12700">
            <a:solidFill>
              <a:srgbClr val="CCCCCC"/>
            </a:solidFill>
            <a:prstDash val="solid"/>
          </a:ln>
        </p:spPr>
      </p:sp>
      <p:sp>
        <p:nvSpPr>
          <p:cNvPr id="12" name="Text 10"/>
          <p:cNvSpPr/>
          <p:nvPr/>
        </p:nvSpPr>
        <p:spPr>
          <a:xfrm>
            <a:off x="502920" y="3200400"/>
            <a:ext cx="960120" cy="365760"/>
          </a:xfrm>
          <a:prstGeom prst="rect">
            <a:avLst/>
          </a:prstGeom>
          <a:noFill/>
          <a:ln/>
        </p:spPr>
        <p:txBody>
          <a:bodyPr wrap="square" rtlCol="0" anchor="ctr"/>
          <a:lstStyle/>
          <a:p>
            <a:pPr marL="0" indent="0">
              <a:buNone/>
            </a:pPr>
            <a:r>
              <a:rPr lang="en-US" sz="1300" b="1" dirty="0">
                <a:solidFill>
                  <a:srgbClr val="0D7377"/>
                </a:solidFill>
                <a:latin typeface="Calibri" pitchFamily="34" charset="0"/>
                <a:ea typeface="Calibri" pitchFamily="34" charset="-122"/>
                <a:cs typeface="Calibri" pitchFamily="34" charset="-120"/>
              </a:rPr>
              <a:t>EPE</a:t>
            </a:r>
            <a:endParaRPr lang="en-US" sz="1300" dirty="0"/>
          </a:p>
        </p:txBody>
      </p:sp>
      <p:sp>
        <p:nvSpPr>
          <p:cNvPr id="13" name="Text 11"/>
          <p:cNvSpPr/>
          <p:nvPr/>
        </p:nvSpPr>
        <p:spPr>
          <a:xfrm>
            <a:off x="502920" y="3566160"/>
            <a:ext cx="1737360" cy="347472"/>
          </a:xfrm>
          <a:prstGeom prst="rect">
            <a:avLst/>
          </a:prstGeom>
          <a:noFill/>
          <a:ln/>
        </p:spPr>
        <p:txBody>
          <a:bodyPr wrap="square" rtlCol="0" anchor="ctr"/>
          <a:lstStyle/>
          <a:p>
            <a:pPr marL="0" indent="0">
              <a:buNone/>
            </a:pPr>
            <a:r>
              <a:rPr lang="en-US" sz="1000" i="1" dirty="0">
                <a:solidFill>
                  <a:srgbClr val="777777"/>
                </a:solidFill>
                <a:latin typeface="Calibri" pitchFamily="34" charset="0"/>
                <a:ea typeface="Calibri" pitchFamily="34" charset="-122"/>
                <a:cs typeface="Calibri" pitchFamily="34" charset="-120"/>
              </a:rPr>
              <a:t>Expected Positive Exposure</a:t>
            </a:r>
            <a:endParaRPr lang="en-US" sz="1000" dirty="0"/>
          </a:p>
        </p:txBody>
      </p:sp>
      <p:sp>
        <p:nvSpPr>
          <p:cNvPr id="14" name="Text 12"/>
          <p:cNvSpPr/>
          <p:nvPr/>
        </p:nvSpPr>
        <p:spPr>
          <a:xfrm>
            <a:off x="2286000" y="3236976"/>
            <a:ext cx="3383280" cy="694944"/>
          </a:xfrm>
          <a:prstGeom prst="rect">
            <a:avLst/>
          </a:prstGeom>
          <a:noFill/>
          <a:ln/>
        </p:spPr>
        <p:txBody>
          <a:bodyPr wrap="square" rtlCol="0" anchor="ctr"/>
          <a:lstStyle/>
          <a:p>
            <a:pPr marL="0" indent="0">
              <a:buNone/>
            </a:pPr>
            <a:r>
              <a:rPr lang="en-US" sz="1150" dirty="0">
                <a:solidFill>
                  <a:srgbClr val="222222"/>
                </a:solidFill>
                <a:latin typeface="Calibri" pitchFamily="34" charset="0"/>
                <a:ea typeface="Calibri" pitchFamily="34" charset="-122"/>
                <a:cs typeface="Calibri" pitchFamily="34" charset="-120"/>
              </a:rPr>
              <a:t>Time-average of EE over trade life. The single number used in Basel capital formulas.</a:t>
            </a:r>
            <a:endParaRPr lang="en-US" sz="1150" dirty="0"/>
          </a:p>
        </p:txBody>
      </p:sp>
      <p:sp>
        <p:nvSpPr>
          <p:cNvPr id="15" name="Shape 13"/>
          <p:cNvSpPr/>
          <p:nvPr/>
        </p:nvSpPr>
        <p:spPr>
          <a:xfrm>
            <a:off x="384048" y="4078224"/>
            <a:ext cx="5440680" cy="877824"/>
          </a:xfrm>
          <a:prstGeom prst="rect">
            <a:avLst/>
          </a:prstGeom>
          <a:solidFill>
            <a:srgbClr val="FFFFFF"/>
          </a:solidFill>
          <a:ln w="12700">
            <a:solidFill>
              <a:srgbClr val="CCCCCC"/>
            </a:solidFill>
            <a:prstDash val="solid"/>
          </a:ln>
        </p:spPr>
      </p:sp>
      <p:sp>
        <p:nvSpPr>
          <p:cNvPr id="16" name="Text 14"/>
          <p:cNvSpPr/>
          <p:nvPr/>
        </p:nvSpPr>
        <p:spPr>
          <a:xfrm>
            <a:off x="502920" y="4133088"/>
            <a:ext cx="960120" cy="365760"/>
          </a:xfrm>
          <a:prstGeom prst="rect">
            <a:avLst/>
          </a:prstGeom>
          <a:noFill/>
          <a:ln/>
        </p:spPr>
        <p:txBody>
          <a:bodyPr wrap="square" rtlCol="0" anchor="ctr"/>
          <a:lstStyle/>
          <a:p>
            <a:pPr marL="0" indent="0">
              <a:buNone/>
            </a:pPr>
            <a:r>
              <a:rPr lang="en-US" sz="1300" b="1" dirty="0">
                <a:solidFill>
                  <a:srgbClr val="0D7377"/>
                </a:solidFill>
                <a:latin typeface="Calibri" pitchFamily="34" charset="0"/>
                <a:ea typeface="Calibri" pitchFamily="34" charset="-122"/>
                <a:cs typeface="Calibri" pitchFamily="34" charset="-120"/>
              </a:rPr>
              <a:t>PFE (95%)</a:t>
            </a:r>
            <a:endParaRPr lang="en-US" sz="1300" dirty="0"/>
          </a:p>
        </p:txBody>
      </p:sp>
      <p:sp>
        <p:nvSpPr>
          <p:cNvPr id="17" name="Text 15"/>
          <p:cNvSpPr/>
          <p:nvPr/>
        </p:nvSpPr>
        <p:spPr>
          <a:xfrm>
            <a:off x="502920" y="4498848"/>
            <a:ext cx="1737360" cy="347472"/>
          </a:xfrm>
          <a:prstGeom prst="rect">
            <a:avLst/>
          </a:prstGeom>
          <a:noFill/>
          <a:ln/>
        </p:spPr>
        <p:txBody>
          <a:bodyPr wrap="square" rtlCol="0" anchor="ctr"/>
          <a:lstStyle/>
          <a:p>
            <a:pPr marL="0" indent="0">
              <a:buNone/>
            </a:pPr>
            <a:r>
              <a:rPr lang="en-US" sz="1000" i="1" dirty="0">
                <a:solidFill>
                  <a:srgbClr val="777777"/>
                </a:solidFill>
                <a:latin typeface="Calibri" pitchFamily="34" charset="0"/>
                <a:ea typeface="Calibri" pitchFamily="34" charset="-122"/>
                <a:cs typeface="Calibri" pitchFamily="34" charset="-120"/>
              </a:rPr>
              <a:t>Potential Future Exposure</a:t>
            </a:r>
            <a:endParaRPr lang="en-US" sz="1000" dirty="0"/>
          </a:p>
        </p:txBody>
      </p:sp>
      <p:sp>
        <p:nvSpPr>
          <p:cNvPr id="18" name="Text 16"/>
          <p:cNvSpPr/>
          <p:nvPr/>
        </p:nvSpPr>
        <p:spPr>
          <a:xfrm>
            <a:off x="2286000" y="4169664"/>
            <a:ext cx="3383280" cy="694944"/>
          </a:xfrm>
          <a:prstGeom prst="rect">
            <a:avLst/>
          </a:prstGeom>
          <a:noFill/>
          <a:ln/>
        </p:spPr>
        <p:txBody>
          <a:bodyPr wrap="square" rtlCol="0" anchor="ctr"/>
          <a:lstStyle/>
          <a:p>
            <a:pPr marL="0" indent="0">
              <a:buNone/>
            </a:pPr>
            <a:r>
              <a:rPr lang="en-US" sz="1150" dirty="0">
                <a:solidFill>
                  <a:srgbClr val="222222"/>
                </a:solidFill>
                <a:latin typeface="Calibri" pitchFamily="34" charset="0"/>
                <a:ea typeface="Calibri" pitchFamily="34" charset="-122"/>
                <a:cs typeface="Calibri" pitchFamily="34" charset="-120"/>
              </a:rPr>
              <a:t>95th percentile exposure. Used for credit limit management, NOT CVA pricing.</a:t>
            </a:r>
            <a:endParaRPr lang="en-US" sz="1150" dirty="0"/>
          </a:p>
        </p:txBody>
      </p:sp>
      <p:sp>
        <p:nvSpPr>
          <p:cNvPr id="19" name="Shape 17"/>
          <p:cNvSpPr/>
          <p:nvPr/>
        </p:nvSpPr>
        <p:spPr>
          <a:xfrm>
            <a:off x="384048" y="5010912"/>
            <a:ext cx="5440680" cy="877824"/>
          </a:xfrm>
          <a:prstGeom prst="rect">
            <a:avLst/>
          </a:prstGeom>
          <a:solidFill>
            <a:srgbClr val="EAEEF2"/>
          </a:solidFill>
          <a:ln w="12700">
            <a:solidFill>
              <a:srgbClr val="CCCCCC"/>
            </a:solidFill>
            <a:prstDash val="solid"/>
          </a:ln>
        </p:spPr>
      </p:sp>
      <p:sp>
        <p:nvSpPr>
          <p:cNvPr id="20" name="Text 18"/>
          <p:cNvSpPr/>
          <p:nvPr/>
        </p:nvSpPr>
        <p:spPr>
          <a:xfrm>
            <a:off x="502920" y="5065776"/>
            <a:ext cx="960120" cy="365760"/>
          </a:xfrm>
          <a:prstGeom prst="rect">
            <a:avLst/>
          </a:prstGeom>
          <a:noFill/>
          <a:ln/>
        </p:spPr>
        <p:txBody>
          <a:bodyPr wrap="square" rtlCol="0" anchor="ctr"/>
          <a:lstStyle/>
          <a:p>
            <a:pPr marL="0" indent="0">
              <a:buNone/>
            </a:pPr>
            <a:r>
              <a:rPr lang="en-US" sz="1300" b="1" dirty="0">
                <a:solidFill>
                  <a:srgbClr val="0D7377"/>
                </a:solidFill>
                <a:latin typeface="Calibri" pitchFamily="34" charset="0"/>
                <a:ea typeface="Calibri" pitchFamily="34" charset="-122"/>
                <a:cs typeface="Calibri" pitchFamily="34" charset="-120"/>
              </a:rPr>
              <a:t>Eff. EPE</a:t>
            </a:r>
            <a:endParaRPr lang="en-US" sz="1300" dirty="0"/>
          </a:p>
        </p:txBody>
      </p:sp>
      <p:sp>
        <p:nvSpPr>
          <p:cNvPr id="21" name="Text 19"/>
          <p:cNvSpPr/>
          <p:nvPr/>
        </p:nvSpPr>
        <p:spPr>
          <a:xfrm>
            <a:off x="502920" y="5431536"/>
            <a:ext cx="1737360" cy="347472"/>
          </a:xfrm>
          <a:prstGeom prst="rect">
            <a:avLst/>
          </a:prstGeom>
          <a:noFill/>
          <a:ln/>
        </p:spPr>
        <p:txBody>
          <a:bodyPr wrap="square" rtlCol="0" anchor="ctr"/>
          <a:lstStyle/>
          <a:p>
            <a:pPr marL="0" indent="0">
              <a:buNone/>
            </a:pPr>
            <a:r>
              <a:rPr lang="en-US" sz="1000" i="1" dirty="0">
                <a:solidFill>
                  <a:srgbClr val="777777"/>
                </a:solidFill>
                <a:latin typeface="Calibri" pitchFamily="34" charset="0"/>
                <a:ea typeface="Calibri" pitchFamily="34" charset="-122"/>
                <a:cs typeface="Calibri" pitchFamily="34" charset="-120"/>
              </a:rPr>
              <a:t>Effective EPE</a:t>
            </a:r>
            <a:endParaRPr lang="en-US" sz="1000" dirty="0"/>
          </a:p>
        </p:txBody>
      </p:sp>
      <p:sp>
        <p:nvSpPr>
          <p:cNvPr id="22" name="Text 20"/>
          <p:cNvSpPr/>
          <p:nvPr/>
        </p:nvSpPr>
        <p:spPr>
          <a:xfrm>
            <a:off x="2286000" y="5102352"/>
            <a:ext cx="3383280" cy="694944"/>
          </a:xfrm>
          <a:prstGeom prst="rect">
            <a:avLst/>
          </a:prstGeom>
          <a:noFill/>
          <a:ln/>
        </p:spPr>
        <p:txBody>
          <a:bodyPr wrap="square" rtlCol="0" anchor="ctr"/>
          <a:lstStyle/>
          <a:p>
            <a:pPr marL="0" indent="0">
              <a:buNone/>
            </a:pPr>
            <a:r>
              <a:rPr lang="en-US" sz="1150" dirty="0">
                <a:solidFill>
                  <a:srgbClr val="222222"/>
                </a:solidFill>
                <a:latin typeface="Calibri" pitchFamily="34" charset="0"/>
                <a:ea typeface="Calibri" pitchFamily="34" charset="-122"/>
                <a:cs typeface="Calibri" pitchFamily="34" charset="-120"/>
              </a:rPr>
              <a:t>Regulatory EPE: non-decreasing constraint prevents netting from understating capital.</a:t>
            </a:r>
            <a:endParaRPr lang="en-US" sz="1150" dirty="0"/>
          </a:p>
        </p:txBody>
      </p:sp>
      <p:sp>
        <p:nvSpPr>
          <p:cNvPr id="23" name="Shape 21"/>
          <p:cNvSpPr/>
          <p:nvPr/>
        </p:nvSpPr>
        <p:spPr>
          <a:xfrm>
            <a:off x="6096000" y="1586484"/>
            <a:ext cx="5715000" cy="2148840"/>
          </a:xfrm>
          <a:prstGeom prst="rect">
            <a:avLst/>
          </a:prstGeom>
          <a:solidFill>
            <a:srgbClr val="D6E8F5"/>
          </a:solidFill>
          <a:ln w="25400">
            <a:solidFill>
              <a:srgbClr val="0D7377"/>
            </a:solidFill>
            <a:prstDash val="solid"/>
          </a:ln>
          <a:effectLst>
            <a:outerShdw blurRad="88900" dist="38100" dir="8100000" algn="bl" rotWithShape="0">
              <a:srgbClr val="000000">
                <a:alpha val="13000"/>
              </a:srgbClr>
            </a:outerShdw>
          </a:effectLst>
        </p:spPr>
        <p:txBody>
          <a:bodyPr/>
          <a:lstStyle/>
          <a:p>
            <a:endParaRPr lang="en-SG" dirty="0"/>
          </a:p>
        </p:txBody>
      </p:sp>
      <p:sp>
        <p:nvSpPr>
          <p:cNvPr id="24" name="Text 22"/>
          <p:cNvSpPr/>
          <p:nvPr/>
        </p:nvSpPr>
        <p:spPr>
          <a:xfrm>
            <a:off x="6271838" y="1604772"/>
            <a:ext cx="5394960" cy="384048"/>
          </a:xfrm>
          <a:prstGeom prst="rect">
            <a:avLst/>
          </a:prstGeom>
          <a:noFill/>
          <a:ln/>
        </p:spPr>
        <p:txBody>
          <a:bodyPr wrap="square" rtlCol="0" anchor="ctr"/>
          <a:lstStyle/>
          <a:p>
            <a:pPr marL="0" indent="0">
              <a:buNone/>
            </a:pPr>
            <a:r>
              <a:rPr lang="en-US" sz="1400" b="1" dirty="0">
                <a:solidFill>
                  <a:srgbClr val="0D7377"/>
                </a:solidFill>
                <a:latin typeface="Calibri" pitchFamily="34" charset="0"/>
                <a:ea typeface="Calibri" pitchFamily="34" charset="-122"/>
                <a:cs typeface="Calibri" pitchFamily="34" charset="-120"/>
              </a:rPr>
              <a:t>The CVA Formula</a:t>
            </a:r>
            <a:endParaRPr lang="en-US" sz="1400" dirty="0"/>
          </a:p>
        </p:txBody>
      </p:sp>
      <p:sp>
        <p:nvSpPr>
          <p:cNvPr id="25" name="Text 23"/>
          <p:cNvSpPr/>
          <p:nvPr/>
        </p:nvSpPr>
        <p:spPr>
          <a:xfrm>
            <a:off x="6271838" y="1935769"/>
            <a:ext cx="5394960" cy="475488"/>
          </a:xfrm>
          <a:prstGeom prst="rect">
            <a:avLst/>
          </a:prstGeom>
          <a:noFill/>
          <a:ln/>
        </p:spPr>
        <p:txBody>
          <a:bodyPr wrap="square" rtlCol="0" anchor="ctr"/>
          <a:lstStyle/>
          <a:p>
            <a:pPr marL="0" indent="0">
              <a:buNone/>
            </a:pPr>
            <a:r>
              <a:rPr lang="en-US" sz="1450" b="1" dirty="0">
                <a:solidFill>
                  <a:srgbClr val="1A3A5C"/>
                </a:solidFill>
                <a:latin typeface="Calibri" pitchFamily="34" charset="0"/>
                <a:ea typeface="Calibri" pitchFamily="34" charset="-122"/>
                <a:cs typeface="Calibri" pitchFamily="34" charset="-120"/>
              </a:rPr>
              <a:t>CVA  ≈  LGD  ×  Σ [ EE(tᵢ)  ×  PD(tᵢ)  ×  D(tᵢ) ]</a:t>
            </a:r>
            <a:endParaRPr lang="en-US" sz="1450" dirty="0"/>
          </a:p>
        </p:txBody>
      </p:sp>
      <p:sp>
        <p:nvSpPr>
          <p:cNvPr id="26" name="Text 24"/>
          <p:cNvSpPr/>
          <p:nvPr/>
        </p:nvSpPr>
        <p:spPr>
          <a:xfrm>
            <a:off x="6291072" y="2372715"/>
            <a:ext cx="914400" cy="292608"/>
          </a:xfrm>
          <a:prstGeom prst="rect">
            <a:avLst/>
          </a:prstGeom>
          <a:noFill/>
          <a:ln/>
        </p:spPr>
        <p:txBody>
          <a:bodyPr wrap="square" rtlCol="0" anchor="ctr"/>
          <a:lstStyle/>
          <a:p>
            <a:pPr marL="0" indent="0">
              <a:buNone/>
            </a:pPr>
            <a:r>
              <a:rPr lang="en-US" sz="1200" b="1" dirty="0">
                <a:solidFill>
                  <a:srgbClr val="0D7377"/>
                </a:solidFill>
                <a:latin typeface="Calibri" pitchFamily="34" charset="0"/>
                <a:ea typeface="Calibri" pitchFamily="34" charset="-122"/>
                <a:cs typeface="Calibri" pitchFamily="34" charset="-120"/>
              </a:rPr>
              <a:t>LGD</a:t>
            </a:r>
            <a:endParaRPr lang="en-US" sz="1200" dirty="0"/>
          </a:p>
        </p:txBody>
      </p:sp>
      <p:sp>
        <p:nvSpPr>
          <p:cNvPr id="27" name="Text 25"/>
          <p:cNvSpPr/>
          <p:nvPr/>
        </p:nvSpPr>
        <p:spPr>
          <a:xfrm>
            <a:off x="7205472" y="2372715"/>
            <a:ext cx="4389120" cy="292608"/>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Fraction lost if default occurs. = 1 − Recovery Rate.</a:t>
            </a:r>
            <a:endParaRPr lang="en-US" sz="1150" dirty="0"/>
          </a:p>
        </p:txBody>
      </p:sp>
      <p:sp>
        <p:nvSpPr>
          <p:cNvPr id="28" name="Text 26"/>
          <p:cNvSpPr/>
          <p:nvPr/>
        </p:nvSpPr>
        <p:spPr>
          <a:xfrm>
            <a:off x="6291072" y="2692755"/>
            <a:ext cx="914400" cy="292608"/>
          </a:xfrm>
          <a:prstGeom prst="rect">
            <a:avLst/>
          </a:prstGeom>
          <a:noFill/>
          <a:ln/>
        </p:spPr>
        <p:txBody>
          <a:bodyPr wrap="square" rtlCol="0" anchor="ctr"/>
          <a:lstStyle/>
          <a:p>
            <a:pPr marL="0" indent="0">
              <a:buNone/>
            </a:pPr>
            <a:r>
              <a:rPr lang="en-US" sz="1200" b="1" dirty="0">
                <a:solidFill>
                  <a:srgbClr val="0D7377"/>
                </a:solidFill>
                <a:latin typeface="Calibri" pitchFamily="34" charset="0"/>
                <a:ea typeface="Calibri" pitchFamily="34" charset="-122"/>
                <a:cs typeface="Calibri" pitchFamily="34" charset="-120"/>
              </a:rPr>
              <a:t>EE(tᵢ)</a:t>
            </a:r>
            <a:endParaRPr lang="en-US" sz="1200" dirty="0"/>
          </a:p>
        </p:txBody>
      </p:sp>
      <p:sp>
        <p:nvSpPr>
          <p:cNvPr id="29" name="Text 27"/>
          <p:cNvSpPr/>
          <p:nvPr/>
        </p:nvSpPr>
        <p:spPr>
          <a:xfrm>
            <a:off x="7205472" y="2692755"/>
            <a:ext cx="4389120" cy="292608"/>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Expected exposure at each future time step tᵢ.</a:t>
            </a:r>
            <a:endParaRPr lang="en-US" sz="1150" dirty="0"/>
          </a:p>
        </p:txBody>
      </p:sp>
      <p:sp>
        <p:nvSpPr>
          <p:cNvPr id="30" name="Text 28"/>
          <p:cNvSpPr/>
          <p:nvPr/>
        </p:nvSpPr>
        <p:spPr>
          <a:xfrm>
            <a:off x="6291072" y="3012795"/>
            <a:ext cx="914400" cy="292608"/>
          </a:xfrm>
          <a:prstGeom prst="rect">
            <a:avLst/>
          </a:prstGeom>
          <a:noFill/>
          <a:ln/>
        </p:spPr>
        <p:txBody>
          <a:bodyPr wrap="square" rtlCol="0" anchor="ctr"/>
          <a:lstStyle/>
          <a:p>
            <a:pPr marL="0" indent="0">
              <a:buNone/>
            </a:pPr>
            <a:r>
              <a:rPr lang="en-US" sz="1200" b="1" dirty="0">
                <a:solidFill>
                  <a:srgbClr val="0D7377"/>
                </a:solidFill>
                <a:latin typeface="Calibri" pitchFamily="34" charset="0"/>
                <a:ea typeface="Calibri" pitchFamily="34" charset="-122"/>
                <a:cs typeface="Calibri" pitchFamily="34" charset="-120"/>
              </a:rPr>
              <a:t>PD(tᵢ)</a:t>
            </a:r>
            <a:endParaRPr lang="en-US" sz="1200" dirty="0"/>
          </a:p>
        </p:txBody>
      </p:sp>
      <p:sp>
        <p:nvSpPr>
          <p:cNvPr id="31" name="Text 29"/>
          <p:cNvSpPr/>
          <p:nvPr/>
        </p:nvSpPr>
        <p:spPr>
          <a:xfrm>
            <a:off x="7205472" y="3012795"/>
            <a:ext cx="4389120" cy="292608"/>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Marginal probability of default in period tᵢ₋₁ to tᵢ.</a:t>
            </a:r>
            <a:endParaRPr lang="en-US" sz="1150" dirty="0"/>
          </a:p>
        </p:txBody>
      </p:sp>
      <p:sp>
        <p:nvSpPr>
          <p:cNvPr id="32" name="Text 30"/>
          <p:cNvSpPr/>
          <p:nvPr/>
        </p:nvSpPr>
        <p:spPr>
          <a:xfrm>
            <a:off x="6291072" y="3332835"/>
            <a:ext cx="914400" cy="292608"/>
          </a:xfrm>
          <a:prstGeom prst="rect">
            <a:avLst/>
          </a:prstGeom>
          <a:noFill/>
          <a:ln/>
        </p:spPr>
        <p:txBody>
          <a:bodyPr wrap="square" rtlCol="0" anchor="ctr"/>
          <a:lstStyle/>
          <a:p>
            <a:pPr marL="0" indent="0">
              <a:buNone/>
            </a:pPr>
            <a:r>
              <a:rPr lang="en-US" sz="1200" b="1" dirty="0">
                <a:solidFill>
                  <a:srgbClr val="0D7377"/>
                </a:solidFill>
                <a:latin typeface="Calibri" pitchFamily="34" charset="0"/>
                <a:ea typeface="Calibri" pitchFamily="34" charset="-122"/>
                <a:cs typeface="Calibri" pitchFamily="34" charset="-120"/>
              </a:rPr>
              <a:t>D(tᵢ)</a:t>
            </a:r>
            <a:endParaRPr lang="en-US" sz="1200" dirty="0"/>
          </a:p>
        </p:txBody>
      </p:sp>
      <p:sp>
        <p:nvSpPr>
          <p:cNvPr id="33" name="Text 31"/>
          <p:cNvSpPr/>
          <p:nvPr/>
        </p:nvSpPr>
        <p:spPr>
          <a:xfrm>
            <a:off x="7205472" y="3332835"/>
            <a:ext cx="4389120" cy="292608"/>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Discount factor — converts future losses to present value.</a:t>
            </a:r>
            <a:endParaRPr lang="en-US" sz="1150" dirty="0"/>
          </a:p>
        </p:txBody>
      </p:sp>
      <p:sp>
        <p:nvSpPr>
          <p:cNvPr id="34" name="Shape 32"/>
          <p:cNvSpPr/>
          <p:nvPr/>
        </p:nvSpPr>
        <p:spPr>
          <a:xfrm>
            <a:off x="6092952" y="4106760"/>
            <a:ext cx="5715000" cy="2148840"/>
          </a:xfrm>
          <a:prstGeom prst="rect">
            <a:avLst/>
          </a:prstGeom>
          <a:solidFill>
            <a:srgbClr val="F4F6F8"/>
          </a:solidFill>
          <a:ln w="25400">
            <a:solidFill>
              <a:srgbClr val="BBBBBB"/>
            </a:solidFill>
            <a:prstDash val="solid"/>
          </a:ln>
          <a:effectLst>
            <a:outerShdw blurRad="88900" dist="38100" dir="8100000" algn="bl" rotWithShape="0">
              <a:srgbClr val="000000">
                <a:alpha val="13000"/>
              </a:srgbClr>
            </a:outerShdw>
          </a:effectLst>
        </p:spPr>
      </p:sp>
      <p:sp>
        <p:nvSpPr>
          <p:cNvPr id="35" name="Text 33"/>
          <p:cNvSpPr/>
          <p:nvPr/>
        </p:nvSpPr>
        <p:spPr>
          <a:xfrm>
            <a:off x="6291072" y="3782783"/>
            <a:ext cx="5394960" cy="347472"/>
          </a:xfrm>
          <a:prstGeom prst="rect">
            <a:avLst/>
          </a:prstGeom>
          <a:noFill/>
          <a:ln/>
        </p:spPr>
        <p:txBody>
          <a:bodyPr wrap="square" rtlCol="0" anchor="ctr"/>
          <a:lstStyle/>
          <a:p>
            <a:pPr marL="0" indent="0" algn="ctr">
              <a:buNone/>
            </a:pPr>
            <a:r>
              <a:rPr lang="en-US" sz="1200" b="1" dirty="0">
                <a:solidFill>
                  <a:srgbClr val="1A3A5C"/>
                </a:solidFill>
                <a:latin typeface="Calibri" pitchFamily="34" charset="0"/>
                <a:ea typeface="Calibri" pitchFamily="34" charset="-122"/>
                <a:cs typeface="Calibri" pitchFamily="34" charset="-120"/>
              </a:rPr>
              <a:t>IRS Exposure Profile — Hump Shape</a:t>
            </a:r>
            <a:endParaRPr lang="en-US" sz="1200" dirty="0"/>
          </a:p>
        </p:txBody>
      </p:sp>
      <p:sp>
        <p:nvSpPr>
          <p:cNvPr id="36" name="Shape 34"/>
          <p:cNvSpPr/>
          <p:nvPr/>
        </p:nvSpPr>
        <p:spPr>
          <a:xfrm>
            <a:off x="6446520" y="5330952"/>
            <a:ext cx="475488" cy="411480"/>
          </a:xfrm>
          <a:prstGeom prst="rect">
            <a:avLst/>
          </a:prstGeom>
          <a:solidFill>
            <a:srgbClr val="0D7377">
              <a:alpha val="75000"/>
            </a:srgbClr>
          </a:solidFill>
          <a:ln w="12700">
            <a:solidFill>
              <a:srgbClr val="0D7377"/>
            </a:solidFill>
            <a:prstDash val="solid"/>
          </a:ln>
        </p:spPr>
      </p:sp>
      <p:sp>
        <p:nvSpPr>
          <p:cNvPr id="37" name="Text 35"/>
          <p:cNvSpPr/>
          <p:nvPr/>
        </p:nvSpPr>
        <p:spPr>
          <a:xfrm>
            <a:off x="6446520" y="5779008"/>
            <a:ext cx="475488" cy="201168"/>
          </a:xfrm>
          <a:prstGeom prst="rect">
            <a:avLst/>
          </a:prstGeom>
          <a:noFill/>
          <a:ln/>
        </p:spPr>
        <p:txBody>
          <a:bodyPr wrap="square" lIns="0" tIns="0" rIns="0" bIns="0" rtlCol="0" anchor="ctr"/>
          <a:lstStyle/>
          <a:p>
            <a:pPr marL="0" indent="0" algn="ctr">
              <a:buNone/>
            </a:pPr>
            <a:r>
              <a:rPr lang="en-US" sz="950" dirty="0">
                <a:solidFill>
                  <a:srgbClr val="777777"/>
                </a:solidFill>
                <a:latin typeface="Calibri" pitchFamily="34" charset="0"/>
                <a:ea typeface="Calibri" pitchFamily="34" charset="-122"/>
                <a:cs typeface="Calibri" pitchFamily="34" charset="-120"/>
              </a:rPr>
              <a:t>Y1</a:t>
            </a:r>
            <a:endParaRPr lang="en-US" sz="950" dirty="0"/>
          </a:p>
        </p:txBody>
      </p:sp>
      <p:sp>
        <p:nvSpPr>
          <p:cNvPr id="38" name="Shape 36"/>
          <p:cNvSpPr/>
          <p:nvPr/>
        </p:nvSpPr>
        <p:spPr>
          <a:xfrm>
            <a:off x="7086600" y="5010912"/>
            <a:ext cx="475488" cy="731520"/>
          </a:xfrm>
          <a:prstGeom prst="rect">
            <a:avLst/>
          </a:prstGeom>
          <a:solidFill>
            <a:srgbClr val="0D7377">
              <a:alpha val="75000"/>
            </a:srgbClr>
          </a:solidFill>
          <a:ln w="12700">
            <a:solidFill>
              <a:srgbClr val="0D7377"/>
            </a:solidFill>
            <a:prstDash val="solid"/>
          </a:ln>
        </p:spPr>
      </p:sp>
      <p:sp>
        <p:nvSpPr>
          <p:cNvPr id="39" name="Text 37"/>
          <p:cNvSpPr/>
          <p:nvPr/>
        </p:nvSpPr>
        <p:spPr>
          <a:xfrm>
            <a:off x="7086600" y="5779008"/>
            <a:ext cx="475488" cy="201168"/>
          </a:xfrm>
          <a:prstGeom prst="rect">
            <a:avLst/>
          </a:prstGeom>
          <a:noFill/>
          <a:ln/>
        </p:spPr>
        <p:txBody>
          <a:bodyPr wrap="square" lIns="0" tIns="0" rIns="0" bIns="0" rtlCol="0" anchor="ctr"/>
          <a:lstStyle/>
          <a:p>
            <a:pPr marL="0" indent="0" algn="ctr">
              <a:buNone/>
            </a:pPr>
            <a:r>
              <a:rPr lang="en-US" sz="950" dirty="0">
                <a:solidFill>
                  <a:srgbClr val="777777"/>
                </a:solidFill>
                <a:latin typeface="Calibri" pitchFamily="34" charset="0"/>
                <a:ea typeface="Calibri" pitchFamily="34" charset="-122"/>
                <a:cs typeface="Calibri" pitchFamily="34" charset="-120"/>
              </a:rPr>
              <a:t>Y2</a:t>
            </a:r>
            <a:endParaRPr lang="en-US" sz="950" dirty="0"/>
          </a:p>
        </p:txBody>
      </p:sp>
      <p:sp>
        <p:nvSpPr>
          <p:cNvPr id="40" name="Shape 38"/>
          <p:cNvSpPr/>
          <p:nvPr/>
        </p:nvSpPr>
        <p:spPr>
          <a:xfrm>
            <a:off x="7726680" y="4736592"/>
            <a:ext cx="475488" cy="1005840"/>
          </a:xfrm>
          <a:prstGeom prst="rect">
            <a:avLst/>
          </a:prstGeom>
          <a:solidFill>
            <a:srgbClr val="0D7377">
              <a:alpha val="75000"/>
            </a:srgbClr>
          </a:solidFill>
          <a:ln w="12700">
            <a:solidFill>
              <a:srgbClr val="0D7377"/>
            </a:solidFill>
            <a:prstDash val="solid"/>
          </a:ln>
        </p:spPr>
      </p:sp>
      <p:sp>
        <p:nvSpPr>
          <p:cNvPr id="41" name="Text 39"/>
          <p:cNvSpPr/>
          <p:nvPr/>
        </p:nvSpPr>
        <p:spPr>
          <a:xfrm>
            <a:off x="7726680" y="5779008"/>
            <a:ext cx="475488" cy="201168"/>
          </a:xfrm>
          <a:prstGeom prst="rect">
            <a:avLst/>
          </a:prstGeom>
          <a:noFill/>
          <a:ln/>
        </p:spPr>
        <p:txBody>
          <a:bodyPr wrap="square" lIns="0" tIns="0" rIns="0" bIns="0" rtlCol="0" anchor="ctr"/>
          <a:lstStyle/>
          <a:p>
            <a:pPr marL="0" indent="0" algn="ctr">
              <a:buNone/>
            </a:pPr>
            <a:r>
              <a:rPr lang="en-US" sz="950" dirty="0">
                <a:solidFill>
                  <a:srgbClr val="777777"/>
                </a:solidFill>
                <a:latin typeface="Calibri" pitchFamily="34" charset="0"/>
                <a:ea typeface="Calibri" pitchFamily="34" charset="-122"/>
                <a:cs typeface="Calibri" pitchFamily="34" charset="-120"/>
              </a:rPr>
              <a:t>Y3</a:t>
            </a:r>
            <a:endParaRPr lang="en-US" sz="950" dirty="0"/>
          </a:p>
        </p:txBody>
      </p:sp>
      <p:sp>
        <p:nvSpPr>
          <p:cNvPr id="42" name="Shape 40"/>
          <p:cNvSpPr/>
          <p:nvPr/>
        </p:nvSpPr>
        <p:spPr>
          <a:xfrm>
            <a:off x="8366760" y="4535424"/>
            <a:ext cx="475488" cy="1207008"/>
          </a:xfrm>
          <a:prstGeom prst="rect">
            <a:avLst/>
          </a:prstGeom>
          <a:solidFill>
            <a:srgbClr val="0D7377"/>
          </a:solidFill>
          <a:ln w="12700">
            <a:solidFill>
              <a:srgbClr val="0D7377"/>
            </a:solidFill>
            <a:prstDash val="solid"/>
          </a:ln>
        </p:spPr>
      </p:sp>
      <p:sp>
        <p:nvSpPr>
          <p:cNvPr id="43" name="Text 41"/>
          <p:cNvSpPr/>
          <p:nvPr/>
        </p:nvSpPr>
        <p:spPr>
          <a:xfrm>
            <a:off x="8366760" y="5779008"/>
            <a:ext cx="475488" cy="201168"/>
          </a:xfrm>
          <a:prstGeom prst="rect">
            <a:avLst/>
          </a:prstGeom>
          <a:noFill/>
          <a:ln/>
        </p:spPr>
        <p:txBody>
          <a:bodyPr wrap="square" lIns="0" tIns="0" rIns="0" bIns="0" rtlCol="0" anchor="ctr"/>
          <a:lstStyle/>
          <a:p>
            <a:pPr marL="0" indent="0" algn="ctr">
              <a:buNone/>
            </a:pPr>
            <a:r>
              <a:rPr lang="en-US" sz="950" dirty="0">
                <a:solidFill>
                  <a:srgbClr val="777777"/>
                </a:solidFill>
                <a:latin typeface="Calibri" pitchFamily="34" charset="0"/>
                <a:ea typeface="Calibri" pitchFamily="34" charset="-122"/>
                <a:cs typeface="Calibri" pitchFamily="34" charset="-120"/>
              </a:rPr>
              <a:t>Y4</a:t>
            </a:r>
            <a:endParaRPr lang="en-US" sz="950" dirty="0"/>
          </a:p>
        </p:txBody>
      </p:sp>
      <p:sp>
        <p:nvSpPr>
          <p:cNvPr id="44" name="Shape 42"/>
          <p:cNvSpPr/>
          <p:nvPr/>
        </p:nvSpPr>
        <p:spPr>
          <a:xfrm>
            <a:off x="9006840" y="4663440"/>
            <a:ext cx="475488" cy="1078992"/>
          </a:xfrm>
          <a:prstGeom prst="rect">
            <a:avLst/>
          </a:prstGeom>
          <a:solidFill>
            <a:srgbClr val="0D7377">
              <a:alpha val="75000"/>
            </a:srgbClr>
          </a:solidFill>
          <a:ln w="12700">
            <a:solidFill>
              <a:srgbClr val="0D7377"/>
            </a:solidFill>
            <a:prstDash val="solid"/>
          </a:ln>
        </p:spPr>
      </p:sp>
      <p:sp>
        <p:nvSpPr>
          <p:cNvPr id="45" name="Text 43"/>
          <p:cNvSpPr/>
          <p:nvPr/>
        </p:nvSpPr>
        <p:spPr>
          <a:xfrm>
            <a:off x="9006840" y="5779008"/>
            <a:ext cx="475488" cy="201168"/>
          </a:xfrm>
          <a:prstGeom prst="rect">
            <a:avLst/>
          </a:prstGeom>
          <a:noFill/>
          <a:ln/>
        </p:spPr>
        <p:txBody>
          <a:bodyPr wrap="square" lIns="0" tIns="0" rIns="0" bIns="0" rtlCol="0" anchor="ctr"/>
          <a:lstStyle/>
          <a:p>
            <a:pPr marL="0" indent="0" algn="ctr">
              <a:buNone/>
            </a:pPr>
            <a:r>
              <a:rPr lang="en-US" sz="950" dirty="0">
                <a:solidFill>
                  <a:srgbClr val="777777"/>
                </a:solidFill>
                <a:latin typeface="Calibri" pitchFamily="34" charset="0"/>
                <a:ea typeface="Calibri" pitchFamily="34" charset="-122"/>
                <a:cs typeface="Calibri" pitchFamily="34" charset="-120"/>
              </a:rPr>
              <a:t>Y5</a:t>
            </a:r>
            <a:endParaRPr lang="en-US" sz="950" dirty="0"/>
          </a:p>
        </p:txBody>
      </p:sp>
      <p:sp>
        <p:nvSpPr>
          <p:cNvPr id="46" name="Shape 44"/>
          <p:cNvSpPr/>
          <p:nvPr/>
        </p:nvSpPr>
        <p:spPr>
          <a:xfrm>
            <a:off x="9646920" y="4965192"/>
            <a:ext cx="475488" cy="777240"/>
          </a:xfrm>
          <a:prstGeom prst="rect">
            <a:avLst/>
          </a:prstGeom>
          <a:solidFill>
            <a:srgbClr val="0D7377">
              <a:alpha val="75000"/>
            </a:srgbClr>
          </a:solidFill>
          <a:ln w="12700">
            <a:solidFill>
              <a:srgbClr val="0D7377"/>
            </a:solidFill>
            <a:prstDash val="solid"/>
          </a:ln>
        </p:spPr>
      </p:sp>
      <p:sp>
        <p:nvSpPr>
          <p:cNvPr id="47" name="Text 45"/>
          <p:cNvSpPr/>
          <p:nvPr/>
        </p:nvSpPr>
        <p:spPr>
          <a:xfrm>
            <a:off x="9646920" y="5779008"/>
            <a:ext cx="475488" cy="201168"/>
          </a:xfrm>
          <a:prstGeom prst="rect">
            <a:avLst/>
          </a:prstGeom>
          <a:noFill/>
          <a:ln/>
        </p:spPr>
        <p:txBody>
          <a:bodyPr wrap="square" lIns="0" tIns="0" rIns="0" bIns="0" rtlCol="0" anchor="ctr"/>
          <a:lstStyle/>
          <a:p>
            <a:pPr marL="0" indent="0" algn="ctr">
              <a:buNone/>
            </a:pPr>
            <a:r>
              <a:rPr lang="en-US" sz="950" dirty="0">
                <a:solidFill>
                  <a:srgbClr val="777777"/>
                </a:solidFill>
                <a:latin typeface="Calibri" pitchFamily="34" charset="0"/>
                <a:ea typeface="Calibri" pitchFamily="34" charset="-122"/>
                <a:cs typeface="Calibri" pitchFamily="34" charset="-120"/>
              </a:rPr>
              <a:t>Y6</a:t>
            </a:r>
            <a:endParaRPr lang="en-US" sz="950" dirty="0"/>
          </a:p>
        </p:txBody>
      </p:sp>
      <p:sp>
        <p:nvSpPr>
          <p:cNvPr id="48" name="Shape 46"/>
          <p:cNvSpPr/>
          <p:nvPr/>
        </p:nvSpPr>
        <p:spPr>
          <a:xfrm>
            <a:off x="10287000" y="5303520"/>
            <a:ext cx="475488" cy="438912"/>
          </a:xfrm>
          <a:prstGeom prst="rect">
            <a:avLst/>
          </a:prstGeom>
          <a:solidFill>
            <a:srgbClr val="0D7377">
              <a:alpha val="75000"/>
            </a:srgbClr>
          </a:solidFill>
          <a:ln w="12700">
            <a:solidFill>
              <a:srgbClr val="0D7377"/>
            </a:solidFill>
            <a:prstDash val="solid"/>
          </a:ln>
        </p:spPr>
      </p:sp>
      <p:sp>
        <p:nvSpPr>
          <p:cNvPr id="49" name="Text 47"/>
          <p:cNvSpPr/>
          <p:nvPr/>
        </p:nvSpPr>
        <p:spPr>
          <a:xfrm>
            <a:off x="10287000" y="5779008"/>
            <a:ext cx="475488" cy="201168"/>
          </a:xfrm>
          <a:prstGeom prst="rect">
            <a:avLst/>
          </a:prstGeom>
          <a:noFill/>
          <a:ln/>
        </p:spPr>
        <p:txBody>
          <a:bodyPr wrap="square" lIns="0" tIns="0" rIns="0" bIns="0" rtlCol="0" anchor="ctr"/>
          <a:lstStyle/>
          <a:p>
            <a:pPr marL="0" indent="0" algn="ctr">
              <a:buNone/>
            </a:pPr>
            <a:r>
              <a:rPr lang="en-US" sz="950" dirty="0">
                <a:solidFill>
                  <a:srgbClr val="777777"/>
                </a:solidFill>
                <a:latin typeface="Calibri" pitchFamily="34" charset="0"/>
                <a:ea typeface="Calibri" pitchFamily="34" charset="-122"/>
                <a:cs typeface="Calibri" pitchFamily="34" charset="-120"/>
              </a:rPr>
              <a:t>Y7</a:t>
            </a:r>
            <a:endParaRPr lang="en-US" sz="950" dirty="0"/>
          </a:p>
        </p:txBody>
      </p:sp>
      <p:sp>
        <p:nvSpPr>
          <p:cNvPr id="50" name="Text 48"/>
          <p:cNvSpPr/>
          <p:nvPr/>
        </p:nvSpPr>
        <p:spPr>
          <a:xfrm>
            <a:off x="6291072" y="5929249"/>
            <a:ext cx="5394960" cy="274320"/>
          </a:xfrm>
          <a:prstGeom prst="rect">
            <a:avLst/>
          </a:prstGeom>
          <a:noFill/>
          <a:ln/>
        </p:spPr>
        <p:txBody>
          <a:bodyPr wrap="square" rtlCol="0" anchor="ctr"/>
          <a:lstStyle/>
          <a:p>
            <a:pPr marL="0" indent="0" algn="ctr">
              <a:buNone/>
            </a:pPr>
            <a:r>
              <a:rPr lang="en-US" sz="1050" i="1" dirty="0">
                <a:solidFill>
                  <a:srgbClr val="777777"/>
                </a:solidFill>
                <a:latin typeface="Calibri" pitchFamily="34" charset="0"/>
                <a:ea typeface="Calibri" pitchFamily="34" charset="-122"/>
                <a:cs typeface="Calibri" pitchFamily="34" charset="-120"/>
              </a:rPr>
              <a:t>Near zero at inception → peaks mid-life → falls as remaining cashflows decline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A5C"/>
          </a:solidFill>
          <a:ln w="12700">
            <a:solidFill>
              <a:srgbClr val="1A3A5C"/>
            </a:solidFill>
            <a:prstDash val="solid"/>
          </a:ln>
        </p:spPr>
      </p:sp>
      <p:sp>
        <p:nvSpPr>
          <p:cNvPr id="3" name="Text 1"/>
          <p:cNvSpPr/>
          <p:nvPr/>
        </p:nvSpPr>
        <p:spPr>
          <a:xfrm>
            <a:off x="320040" y="0"/>
            <a:ext cx="11521440" cy="658368"/>
          </a:xfrm>
          <a:prstGeom prst="rect">
            <a:avLst/>
          </a:prstGeom>
          <a:noFill/>
          <a:ln/>
        </p:spPr>
        <p:txBody>
          <a:bodyPr wrap="square" rtlCol="0" anchor="ctr"/>
          <a:lstStyle/>
          <a:p>
            <a:pPr marL="0" indent="0">
              <a:buNone/>
            </a:pPr>
            <a:r>
              <a:rPr lang="en-US" sz="1300" dirty="0">
                <a:solidFill>
                  <a:srgbClr val="AACCEE"/>
                </a:solidFill>
                <a:latin typeface="Calibri" pitchFamily="34" charset="0"/>
                <a:ea typeface="Calibri" pitchFamily="34" charset="-122"/>
                <a:cs typeface="Calibri" pitchFamily="34" charset="-120"/>
              </a:rPr>
              <a:t>Section 6  |  Worked Numerical Example</a:t>
            </a:r>
            <a:endParaRPr lang="en-US" sz="1300" dirty="0"/>
          </a:p>
        </p:txBody>
      </p:sp>
      <p:sp>
        <p:nvSpPr>
          <p:cNvPr id="4" name="Text 2"/>
          <p:cNvSpPr/>
          <p:nvPr/>
        </p:nvSpPr>
        <p:spPr>
          <a:xfrm>
            <a:off x="365760" y="804672"/>
            <a:ext cx="11430000" cy="658368"/>
          </a:xfrm>
          <a:prstGeom prst="rect">
            <a:avLst/>
          </a:prstGeom>
          <a:noFill/>
          <a:ln/>
        </p:spPr>
        <p:txBody>
          <a:bodyPr wrap="square" rtlCol="0" anchor="ctr"/>
          <a:lstStyle/>
          <a:p>
            <a:pPr marL="0" indent="0">
              <a:buNone/>
            </a:pPr>
            <a:r>
              <a:rPr lang="en-US" sz="2800" b="1" dirty="0">
                <a:solidFill>
                  <a:srgbClr val="1A3A5C"/>
                </a:solidFill>
                <a:latin typeface="Georgia" pitchFamily="34" charset="0"/>
                <a:ea typeface="Georgia" pitchFamily="34" charset="-122"/>
                <a:cs typeface="Georgia" pitchFamily="34" charset="-120"/>
              </a:rPr>
              <a:t>3-Year Interest Rate Swap — Full CVA Calculation</a:t>
            </a:r>
            <a:endParaRPr lang="en-US" sz="2800" dirty="0"/>
          </a:p>
        </p:txBody>
      </p:sp>
      <p:sp>
        <p:nvSpPr>
          <p:cNvPr id="5" name="Shape 3"/>
          <p:cNvSpPr/>
          <p:nvPr/>
        </p:nvSpPr>
        <p:spPr>
          <a:xfrm>
            <a:off x="320040" y="1572768"/>
            <a:ext cx="3291840" cy="4343400"/>
          </a:xfrm>
          <a:prstGeom prst="rect">
            <a:avLst/>
          </a:prstGeom>
          <a:solidFill>
            <a:srgbClr val="D6E8F5"/>
          </a:solidFill>
          <a:ln w="25400">
            <a:solidFill>
              <a:srgbClr val="0D7377"/>
            </a:solidFill>
            <a:prstDash val="solid"/>
          </a:ln>
          <a:effectLst>
            <a:outerShdw blurRad="88900" dist="38100" dir="8100000" algn="bl" rotWithShape="0">
              <a:srgbClr val="000000">
                <a:alpha val="13000"/>
              </a:srgbClr>
            </a:outerShdw>
          </a:effectLst>
        </p:spPr>
      </p:sp>
      <p:sp>
        <p:nvSpPr>
          <p:cNvPr id="6" name="Text 4"/>
          <p:cNvSpPr/>
          <p:nvPr/>
        </p:nvSpPr>
        <p:spPr>
          <a:xfrm>
            <a:off x="457200" y="1664208"/>
            <a:ext cx="3017520" cy="402336"/>
          </a:xfrm>
          <a:prstGeom prst="rect">
            <a:avLst/>
          </a:prstGeom>
          <a:noFill/>
          <a:ln/>
        </p:spPr>
        <p:txBody>
          <a:bodyPr wrap="square" rtlCol="0" anchor="ctr"/>
          <a:lstStyle/>
          <a:p>
            <a:pPr marL="0" indent="0">
              <a:buNone/>
            </a:pPr>
            <a:r>
              <a:rPr lang="en-US" sz="1400" b="1" dirty="0">
                <a:solidFill>
                  <a:srgbClr val="0D7377"/>
                </a:solidFill>
                <a:latin typeface="Calibri" pitchFamily="34" charset="0"/>
                <a:ea typeface="Calibri" pitchFamily="34" charset="-122"/>
                <a:cs typeface="Calibri" pitchFamily="34" charset="-120"/>
              </a:rPr>
              <a:t>Trade Setup</a:t>
            </a:r>
            <a:endParaRPr lang="en-US" sz="1400" dirty="0"/>
          </a:p>
        </p:txBody>
      </p:sp>
      <p:sp>
        <p:nvSpPr>
          <p:cNvPr id="7" name="Text 5"/>
          <p:cNvSpPr/>
          <p:nvPr/>
        </p:nvSpPr>
        <p:spPr>
          <a:xfrm>
            <a:off x="475488" y="2176272"/>
            <a:ext cx="1691640" cy="438912"/>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Instrument:</a:t>
            </a:r>
            <a:endParaRPr lang="en-US" sz="1200" dirty="0"/>
          </a:p>
        </p:txBody>
      </p:sp>
      <p:sp>
        <p:nvSpPr>
          <p:cNvPr id="8" name="Text 6"/>
          <p:cNvSpPr/>
          <p:nvPr/>
        </p:nvSpPr>
        <p:spPr>
          <a:xfrm>
            <a:off x="2176272" y="2176272"/>
            <a:ext cx="1298448" cy="438912"/>
          </a:xfrm>
          <a:prstGeom prst="rect">
            <a:avLst/>
          </a:prstGeom>
          <a:noFill/>
          <a:ln/>
        </p:spPr>
        <p:txBody>
          <a:bodyPr wrap="square" rtlCol="0" anchor="ctr"/>
          <a:lstStyle/>
          <a:p>
            <a:pPr marL="0" indent="0">
              <a:buNone/>
            </a:pPr>
            <a:r>
              <a:rPr lang="en-US" sz="1200" dirty="0">
                <a:solidFill>
                  <a:srgbClr val="222222"/>
                </a:solidFill>
                <a:latin typeface="Calibri" pitchFamily="34" charset="0"/>
                <a:ea typeface="Calibri" pitchFamily="34" charset="-122"/>
                <a:cs typeface="Calibri" pitchFamily="34" charset="-120"/>
              </a:rPr>
              <a:t>3-yr IRS (pay fixed)</a:t>
            </a:r>
            <a:endParaRPr lang="en-US" sz="1200" dirty="0"/>
          </a:p>
        </p:txBody>
      </p:sp>
      <p:sp>
        <p:nvSpPr>
          <p:cNvPr id="9" name="Text 7"/>
          <p:cNvSpPr/>
          <p:nvPr/>
        </p:nvSpPr>
        <p:spPr>
          <a:xfrm>
            <a:off x="475488" y="2706624"/>
            <a:ext cx="1691640" cy="438912"/>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Notional:</a:t>
            </a:r>
            <a:endParaRPr lang="en-US" sz="1200" dirty="0"/>
          </a:p>
        </p:txBody>
      </p:sp>
      <p:sp>
        <p:nvSpPr>
          <p:cNvPr id="10" name="Text 8"/>
          <p:cNvSpPr/>
          <p:nvPr/>
        </p:nvSpPr>
        <p:spPr>
          <a:xfrm>
            <a:off x="2176272" y="2706624"/>
            <a:ext cx="1298448" cy="438912"/>
          </a:xfrm>
          <a:prstGeom prst="rect">
            <a:avLst/>
          </a:prstGeom>
          <a:noFill/>
          <a:ln/>
        </p:spPr>
        <p:txBody>
          <a:bodyPr wrap="square" rtlCol="0" anchor="ctr"/>
          <a:lstStyle/>
          <a:p>
            <a:pPr marL="0" indent="0">
              <a:buNone/>
            </a:pPr>
            <a:r>
              <a:rPr lang="en-US" sz="1200" dirty="0">
                <a:solidFill>
                  <a:srgbClr val="222222"/>
                </a:solidFill>
                <a:latin typeface="Calibri" pitchFamily="34" charset="0"/>
                <a:ea typeface="Calibri" pitchFamily="34" charset="-122"/>
                <a:cs typeface="Calibri" pitchFamily="34" charset="-120"/>
              </a:rPr>
              <a:t>$10,000,000</a:t>
            </a:r>
            <a:endParaRPr lang="en-US" sz="1200" dirty="0"/>
          </a:p>
        </p:txBody>
      </p:sp>
      <p:sp>
        <p:nvSpPr>
          <p:cNvPr id="11" name="Text 9"/>
          <p:cNvSpPr/>
          <p:nvPr/>
        </p:nvSpPr>
        <p:spPr>
          <a:xfrm>
            <a:off x="475488" y="3236976"/>
            <a:ext cx="1691640" cy="438912"/>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Counterparty:</a:t>
            </a:r>
            <a:endParaRPr lang="en-US" sz="1200" dirty="0"/>
          </a:p>
        </p:txBody>
      </p:sp>
      <p:sp>
        <p:nvSpPr>
          <p:cNvPr id="12" name="Text 10"/>
          <p:cNvSpPr/>
          <p:nvPr/>
        </p:nvSpPr>
        <p:spPr>
          <a:xfrm>
            <a:off x="2176272" y="3236976"/>
            <a:ext cx="1298448" cy="438912"/>
          </a:xfrm>
          <a:prstGeom prst="rect">
            <a:avLst/>
          </a:prstGeom>
          <a:noFill/>
          <a:ln/>
        </p:spPr>
        <p:txBody>
          <a:bodyPr wrap="square" rtlCol="0" anchor="ctr"/>
          <a:lstStyle/>
          <a:p>
            <a:pPr marL="0" indent="0">
              <a:buNone/>
            </a:pPr>
            <a:r>
              <a:rPr lang="en-US" sz="1200" dirty="0">
                <a:solidFill>
                  <a:srgbClr val="222222"/>
                </a:solidFill>
                <a:latin typeface="Calibri" pitchFamily="34" charset="0"/>
                <a:ea typeface="Calibri" pitchFamily="34" charset="-122"/>
                <a:cs typeface="Calibri" pitchFamily="34" charset="-120"/>
              </a:rPr>
              <a:t>BBB-rated Corp</a:t>
            </a:r>
            <a:endParaRPr lang="en-US" sz="1200" dirty="0"/>
          </a:p>
        </p:txBody>
      </p:sp>
      <p:sp>
        <p:nvSpPr>
          <p:cNvPr id="13" name="Text 11"/>
          <p:cNvSpPr/>
          <p:nvPr/>
        </p:nvSpPr>
        <p:spPr>
          <a:xfrm>
            <a:off x="475488" y="3767328"/>
            <a:ext cx="1691640" cy="438912"/>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CDS Spread:</a:t>
            </a:r>
            <a:endParaRPr lang="en-US" sz="1200" dirty="0"/>
          </a:p>
        </p:txBody>
      </p:sp>
      <p:sp>
        <p:nvSpPr>
          <p:cNvPr id="14" name="Text 12"/>
          <p:cNvSpPr/>
          <p:nvPr/>
        </p:nvSpPr>
        <p:spPr>
          <a:xfrm>
            <a:off x="2176272" y="3767328"/>
            <a:ext cx="1298448" cy="438912"/>
          </a:xfrm>
          <a:prstGeom prst="rect">
            <a:avLst/>
          </a:prstGeom>
          <a:noFill/>
          <a:ln/>
        </p:spPr>
        <p:txBody>
          <a:bodyPr wrap="square" rtlCol="0" anchor="ctr"/>
          <a:lstStyle/>
          <a:p>
            <a:pPr marL="0" indent="0">
              <a:buNone/>
            </a:pPr>
            <a:r>
              <a:rPr lang="en-US" sz="1200" dirty="0">
                <a:solidFill>
                  <a:srgbClr val="222222"/>
                </a:solidFill>
                <a:latin typeface="Calibri" pitchFamily="34" charset="0"/>
                <a:ea typeface="Calibri" pitchFamily="34" charset="-122"/>
                <a:cs typeface="Calibri" pitchFamily="34" charset="-120"/>
              </a:rPr>
              <a:t>150 bps (flat)</a:t>
            </a:r>
            <a:endParaRPr lang="en-US" sz="1200" dirty="0"/>
          </a:p>
        </p:txBody>
      </p:sp>
      <p:sp>
        <p:nvSpPr>
          <p:cNvPr id="15" name="Text 13"/>
          <p:cNvSpPr/>
          <p:nvPr/>
        </p:nvSpPr>
        <p:spPr>
          <a:xfrm>
            <a:off x="475488" y="4297680"/>
            <a:ext cx="1691640" cy="438912"/>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Recovery Rate:</a:t>
            </a:r>
            <a:endParaRPr lang="en-US" sz="1200" dirty="0"/>
          </a:p>
        </p:txBody>
      </p:sp>
      <p:sp>
        <p:nvSpPr>
          <p:cNvPr id="16" name="Text 14"/>
          <p:cNvSpPr/>
          <p:nvPr/>
        </p:nvSpPr>
        <p:spPr>
          <a:xfrm>
            <a:off x="2176272" y="4297680"/>
            <a:ext cx="1298448" cy="438912"/>
          </a:xfrm>
          <a:prstGeom prst="rect">
            <a:avLst/>
          </a:prstGeom>
          <a:noFill/>
          <a:ln/>
        </p:spPr>
        <p:txBody>
          <a:bodyPr wrap="square" rtlCol="0" anchor="ctr"/>
          <a:lstStyle/>
          <a:p>
            <a:pPr marL="0" indent="0">
              <a:buNone/>
            </a:pPr>
            <a:r>
              <a:rPr lang="en-US" sz="1200" dirty="0">
                <a:solidFill>
                  <a:srgbClr val="222222"/>
                </a:solidFill>
                <a:latin typeface="Calibri" pitchFamily="34" charset="0"/>
                <a:ea typeface="Calibri" pitchFamily="34" charset="-122"/>
                <a:cs typeface="Calibri" pitchFamily="34" charset="-120"/>
              </a:rPr>
              <a:t>40%  →  LGD = 60%</a:t>
            </a:r>
            <a:endParaRPr lang="en-US" sz="1200" dirty="0"/>
          </a:p>
        </p:txBody>
      </p:sp>
      <p:sp>
        <p:nvSpPr>
          <p:cNvPr id="17" name="Text 15"/>
          <p:cNvSpPr/>
          <p:nvPr/>
        </p:nvSpPr>
        <p:spPr>
          <a:xfrm>
            <a:off x="475488" y="4828032"/>
            <a:ext cx="1691640" cy="438912"/>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OIS Discount:</a:t>
            </a:r>
            <a:endParaRPr lang="en-US" sz="1200" dirty="0"/>
          </a:p>
        </p:txBody>
      </p:sp>
      <p:sp>
        <p:nvSpPr>
          <p:cNvPr id="18" name="Text 16"/>
          <p:cNvSpPr/>
          <p:nvPr/>
        </p:nvSpPr>
        <p:spPr>
          <a:xfrm>
            <a:off x="2176272" y="4828032"/>
            <a:ext cx="1298448" cy="438912"/>
          </a:xfrm>
          <a:prstGeom prst="rect">
            <a:avLst/>
          </a:prstGeom>
          <a:noFill/>
          <a:ln/>
        </p:spPr>
        <p:txBody>
          <a:bodyPr wrap="square" rtlCol="0" anchor="ctr"/>
          <a:lstStyle/>
          <a:p>
            <a:pPr marL="0" indent="0">
              <a:buNone/>
            </a:pPr>
            <a:r>
              <a:rPr lang="en-US" sz="1200" dirty="0">
                <a:solidFill>
                  <a:srgbClr val="222222"/>
                </a:solidFill>
                <a:latin typeface="Calibri" pitchFamily="34" charset="0"/>
                <a:ea typeface="Calibri" pitchFamily="34" charset="-122"/>
                <a:cs typeface="Calibri" pitchFamily="34" charset="-120"/>
              </a:rPr>
              <a:t>4.0% flat</a:t>
            </a:r>
            <a:endParaRPr lang="en-US" sz="1200" dirty="0"/>
          </a:p>
        </p:txBody>
      </p:sp>
      <p:sp>
        <p:nvSpPr>
          <p:cNvPr id="19" name="Text 17"/>
          <p:cNvSpPr/>
          <p:nvPr/>
        </p:nvSpPr>
        <p:spPr>
          <a:xfrm>
            <a:off x="475488" y="5358384"/>
            <a:ext cx="1691640" cy="438912"/>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Collateral:</a:t>
            </a:r>
            <a:endParaRPr lang="en-US" sz="1200" dirty="0"/>
          </a:p>
        </p:txBody>
      </p:sp>
      <p:sp>
        <p:nvSpPr>
          <p:cNvPr id="20" name="Text 18"/>
          <p:cNvSpPr/>
          <p:nvPr/>
        </p:nvSpPr>
        <p:spPr>
          <a:xfrm>
            <a:off x="2176272" y="5358384"/>
            <a:ext cx="1298448" cy="438912"/>
          </a:xfrm>
          <a:prstGeom prst="rect">
            <a:avLst/>
          </a:prstGeom>
          <a:noFill/>
          <a:ln/>
        </p:spPr>
        <p:txBody>
          <a:bodyPr wrap="square" rtlCol="0" anchor="ctr"/>
          <a:lstStyle/>
          <a:p>
            <a:pPr marL="0" indent="0">
              <a:buNone/>
            </a:pPr>
            <a:r>
              <a:rPr lang="en-US" sz="1200" dirty="0">
                <a:solidFill>
                  <a:srgbClr val="222222"/>
                </a:solidFill>
                <a:latin typeface="Calibri" pitchFamily="34" charset="0"/>
                <a:ea typeface="Calibri" pitchFamily="34" charset="-122"/>
                <a:cs typeface="Calibri" pitchFamily="34" charset="-120"/>
              </a:rPr>
              <a:t>None (no CSA)</a:t>
            </a:r>
            <a:endParaRPr lang="en-US" sz="1200" dirty="0"/>
          </a:p>
        </p:txBody>
      </p:sp>
      <p:sp>
        <p:nvSpPr>
          <p:cNvPr id="21" name="Shape 19"/>
          <p:cNvSpPr/>
          <p:nvPr/>
        </p:nvSpPr>
        <p:spPr>
          <a:xfrm>
            <a:off x="3767328" y="1627632"/>
            <a:ext cx="310896" cy="310896"/>
          </a:xfrm>
          <a:prstGeom prst="ellipse">
            <a:avLst/>
          </a:prstGeom>
          <a:solidFill>
            <a:srgbClr val="0D7377"/>
          </a:solidFill>
          <a:ln w="12700">
            <a:solidFill>
              <a:srgbClr val="0D7377"/>
            </a:solidFill>
            <a:prstDash val="solid"/>
          </a:ln>
        </p:spPr>
      </p:sp>
      <p:sp>
        <p:nvSpPr>
          <p:cNvPr id="22" name="Text 20"/>
          <p:cNvSpPr/>
          <p:nvPr/>
        </p:nvSpPr>
        <p:spPr>
          <a:xfrm>
            <a:off x="3767328" y="1627632"/>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23" name="Text 21"/>
          <p:cNvSpPr/>
          <p:nvPr/>
        </p:nvSpPr>
        <p:spPr>
          <a:xfrm>
            <a:off x="4160520" y="1627632"/>
            <a:ext cx="7818120" cy="310896"/>
          </a:xfrm>
          <a:prstGeom prst="rect">
            <a:avLst/>
          </a:prstGeom>
          <a:noFill/>
          <a:ln/>
        </p:spPr>
        <p:txBody>
          <a:bodyPr wrap="square" rtlCol="0" anchor="ctr"/>
          <a:lstStyle/>
          <a:p>
            <a:pPr marL="0" indent="0">
              <a:buNone/>
            </a:pPr>
            <a:r>
              <a:rPr lang="en-US" sz="1150" dirty="0">
                <a:solidFill>
                  <a:srgbClr val="1A3A5C"/>
                </a:solidFill>
                <a:latin typeface="Calibri" pitchFamily="34" charset="0"/>
                <a:ea typeface="Calibri" pitchFamily="34" charset="-122"/>
                <a:cs typeface="Calibri" pitchFamily="34" charset="-120"/>
              </a:rPr>
              <a:t>Step 1: Hazard rate  h = 0.015 / 0.60 = 2.50% p.a.</a:t>
            </a:r>
            <a:endParaRPr lang="en-US" sz="1150" dirty="0"/>
          </a:p>
        </p:txBody>
      </p:sp>
      <p:sp>
        <p:nvSpPr>
          <p:cNvPr id="24" name="Shape 22"/>
          <p:cNvSpPr/>
          <p:nvPr/>
        </p:nvSpPr>
        <p:spPr>
          <a:xfrm>
            <a:off x="3767328" y="1969433"/>
            <a:ext cx="310896" cy="310896"/>
          </a:xfrm>
          <a:prstGeom prst="ellipse">
            <a:avLst/>
          </a:prstGeom>
          <a:solidFill>
            <a:srgbClr val="0D7377"/>
          </a:solidFill>
          <a:ln w="12700">
            <a:solidFill>
              <a:srgbClr val="0D7377"/>
            </a:solidFill>
            <a:prstDash val="solid"/>
          </a:ln>
        </p:spPr>
      </p:sp>
      <p:sp>
        <p:nvSpPr>
          <p:cNvPr id="25" name="Text 23"/>
          <p:cNvSpPr/>
          <p:nvPr/>
        </p:nvSpPr>
        <p:spPr>
          <a:xfrm>
            <a:off x="3767328" y="1969433"/>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26" name="Text 24"/>
          <p:cNvSpPr/>
          <p:nvPr/>
        </p:nvSpPr>
        <p:spPr>
          <a:xfrm>
            <a:off x="4160520" y="1969433"/>
            <a:ext cx="7818120" cy="310896"/>
          </a:xfrm>
          <a:prstGeom prst="rect">
            <a:avLst/>
          </a:prstGeom>
          <a:noFill/>
          <a:ln/>
        </p:spPr>
        <p:txBody>
          <a:bodyPr wrap="square" rtlCol="0" anchor="ctr"/>
          <a:lstStyle/>
          <a:p>
            <a:pPr marL="0" indent="0">
              <a:buNone/>
            </a:pPr>
            <a:r>
              <a:rPr lang="en-US" sz="1150" dirty="0">
                <a:solidFill>
                  <a:srgbClr val="1A3A5C"/>
                </a:solidFill>
                <a:latin typeface="Calibri" pitchFamily="34" charset="0"/>
                <a:ea typeface="Calibri" pitchFamily="34" charset="-122"/>
                <a:cs typeface="Calibri" pitchFamily="34" charset="-120"/>
              </a:rPr>
              <a:t>Step 2: Survival &amp; Marginal Default Probabilities</a:t>
            </a:r>
            <a:endParaRPr lang="en-US" sz="1150" dirty="0"/>
          </a:p>
        </p:txBody>
      </p:sp>
      <p:sp>
        <p:nvSpPr>
          <p:cNvPr id="27" name="Shape 25"/>
          <p:cNvSpPr/>
          <p:nvPr/>
        </p:nvSpPr>
        <p:spPr>
          <a:xfrm>
            <a:off x="3767328" y="2317536"/>
            <a:ext cx="310896" cy="310896"/>
          </a:xfrm>
          <a:prstGeom prst="ellipse">
            <a:avLst/>
          </a:prstGeom>
          <a:solidFill>
            <a:srgbClr val="0D7377"/>
          </a:solidFill>
          <a:ln w="12700">
            <a:solidFill>
              <a:srgbClr val="0D7377"/>
            </a:solidFill>
            <a:prstDash val="solid"/>
          </a:ln>
        </p:spPr>
      </p:sp>
      <p:sp>
        <p:nvSpPr>
          <p:cNvPr id="28" name="Text 26"/>
          <p:cNvSpPr/>
          <p:nvPr/>
        </p:nvSpPr>
        <p:spPr>
          <a:xfrm>
            <a:off x="3767328" y="2311230"/>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29" name="Text 27"/>
          <p:cNvSpPr/>
          <p:nvPr/>
        </p:nvSpPr>
        <p:spPr>
          <a:xfrm>
            <a:off x="4160520" y="2311230"/>
            <a:ext cx="7818120" cy="310896"/>
          </a:xfrm>
          <a:prstGeom prst="rect">
            <a:avLst/>
          </a:prstGeom>
          <a:noFill/>
          <a:ln/>
        </p:spPr>
        <p:txBody>
          <a:bodyPr wrap="square" rtlCol="0" anchor="ctr"/>
          <a:lstStyle/>
          <a:p>
            <a:pPr marL="0" indent="0">
              <a:buNone/>
            </a:pPr>
            <a:r>
              <a:rPr lang="en-US" sz="1150" dirty="0">
                <a:solidFill>
                  <a:srgbClr val="1A3A5C"/>
                </a:solidFill>
                <a:latin typeface="Calibri" pitchFamily="34" charset="0"/>
                <a:ea typeface="Calibri" pitchFamily="34" charset="-122"/>
                <a:cs typeface="Calibri" pitchFamily="34" charset="-120"/>
              </a:rPr>
              <a:t>Step 3: Expected Exposure Profile (Monte Carlo estimate)</a:t>
            </a:r>
            <a:endParaRPr lang="en-US" sz="1150" dirty="0"/>
          </a:p>
        </p:txBody>
      </p:sp>
      <p:sp>
        <p:nvSpPr>
          <p:cNvPr id="30" name="Shape 28"/>
          <p:cNvSpPr/>
          <p:nvPr/>
        </p:nvSpPr>
        <p:spPr>
          <a:xfrm>
            <a:off x="3767328" y="2678250"/>
            <a:ext cx="310896" cy="310896"/>
          </a:xfrm>
          <a:prstGeom prst="ellipse">
            <a:avLst/>
          </a:prstGeom>
          <a:solidFill>
            <a:srgbClr val="0D7377"/>
          </a:solidFill>
          <a:ln w="12700">
            <a:solidFill>
              <a:srgbClr val="0D7377"/>
            </a:solidFill>
            <a:prstDash val="solid"/>
          </a:ln>
        </p:spPr>
      </p:sp>
      <p:sp>
        <p:nvSpPr>
          <p:cNvPr id="31" name="Text 29"/>
          <p:cNvSpPr/>
          <p:nvPr/>
        </p:nvSpPr>
        <p:spPr>
          <a:xfrm>
            <a:off x="3767328" y="2685814"/>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32" name="Text 30"/>
          <p:cNvSpPr/>
          <p:nvPr/>
        </p:nvSpPr>
        <p:spPr>
          <a:xfrm>
            <a:off x="4160520" y="2678250"/>
            <a:ext cx="7818120" cy="310896"/>
          </a:xfrm>
          <a:prstGeom prst="rect">
            <a:avLst/>
          </a:prstGeom>
          <a:noFill/>
          <a:ln/>
        </p:spPr>
        <p:txBody>
          <a:bodyPr wrap="square" rtlCol="0" anchor="ctr"/>
          <a:lstStyle/>
          <a:p>
            <a:pPr marL="0" indent="0">
              <a:buNone/>
            </a:pPr>
            <a:r>
              <a:rPr lang="en-US" sz="1150" dirty="0">
                <a:solidFill>
                  <a:srgbClr val="1A3A5C"/>
                </a:solidFill>
                <a:latin typeface="Calibri" pitchFamily="34" charset="0"/>
                <a:ea typeface="Calibri" pitchFamily="34" charset="-122"/>
                <a:cs typeface="Calibri" pitchFamily="34" charset="-120"/>
              </a:rPr>
              <a:t>Step 4: Discount Factors  D(t) = exp(−0.04 × t)</a:t>
            </a:r>
            <a:endParaRPr lang="en-US" sz="1150" dirty="0"/>
          </a:p>
        </p:txBody>
      </p:sp>
      <p:sp>
        <p:nvSpPr>
          <p:cNvPr id="33" name="Shape 31"/>
          <p:cNvSpPr/>
          <p:nvPr/>
        </p:nvSpPr>
        <p:spPr>
          <a:xfrm>
            <a:off x="3767328" y="3038964"/>
            <a:ext cx="310896" cy="310896"/>
          </a:xfrm>
          <a:prstGeom prst="ellipse">
            <a:avLst/>
          </a:prstGeom>
          <a:solidFill>
            <a:srgbClr val="0D7377"/>
          </a:solidFill>
          <a:ln w="12700">
            <a:solidFill>
              <a:srgbClr val="0D7377"/>
            </a:solidFill>
            <a:prstDash val="solid"/>
          </a:ln>
        </p:spPr>
        <p:txBody>
          <a:bodyPr/>
          <a:lstStyle/>
          <a:p>
            <a:r>
              <a:rPr lang="en-SG" sz="1050" dirty="0">
                <a:solidFill>
                  <a:schemeClr val="bg1"/>
                </a:solidFill>
              </a:rPr>
              <a:t>5</a:t>
            </a:r>
          </a:p>
        </p:txBody>
      </p:sp>
      <p:sp>
        <p:nvSpPr>
          <p:cNvPr id="34" name="Text 32"/>
          <p:cNvSpPr/>
          <p:nvPr/>
        </p:nvSpPr>
        <p:spPr>
          <a:xfrm>
            <a:off x="4240288" y="3675888"/>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rPr>
              <a:t>5</a:t>
            </a:r>
            <a:endParaRPr lang="en-US" sz="1000" dirty="0"/>
          </a:p>
        </p:txBody>
      </p:sp>
      <p:sp>
        <p:nvSpPr>
          <p:cNvPr id="35" name="Text 33"/>
          <p:cNvSpPr/>
          <p:nvPr/>
        </p:nvSpPr>
        <p:spPr>
          <a:xfrm>
            <a:off x="4160520" y="3002702"/>
            <a:ext cx="7818120" cy="310896"/>
          </a:xfrm>
          <a:prstGeom prst="rect">
            <a:avLst/>
          </a:prstGeom>
          <a:noFill/>
          <a:ln/>
        </p:spPr>
        <p:txBody>
          <a:bodyPr wrap="square" rtlCol="0" anchor="ctr"/>
          <a:lstStyle/>
          <a:p>
            <a:pPr marL="0" indent="0">
              <a:buNone/>
            </a:pPr>
            <a:r>
              <a:rPr lang="en-US" sz="1150" dirty="0">
                <a:solidFill>
                  <a:srgbClr val="1A3A5C"/>
                </a:solidFill>
                <a:latin typeface="Calibri" pitchFamily="34" charset="0"/>
                <a:ea typeface="Calibri" pitchFamily="34" charset="-122"/>
                <a:cs typeface="Calibri" pitchFamily="34" charset="-120"/>
              </a:rPr>
              <a:t>Step 5: CVA = LGD × Σ [ EE × PD × D ]</a:t>
            </a:r>
            <a:endParaRPr lang="en-US" sz="1150" dirty="0"/>
          </a:p>
        </p:txBody>
      </p:sp>
      <p:sp>
        <p:nvSpPr>
          <p:cNvPr id="36" name="Shape 34"/>
          <p:cNvSpPr/>
          <p:nvPr/>
        </p:nvSpPr>
        <p:spPr>
          <a:xfrm>
            <a:off x="4240288" y="3401568"/>
            <a:ext cx="475488" cy="384048"/>
          </a:xfrm>
          <a:prstGeom prst="rect">
            <a:avLst/>
          </a:prstGeom>
          <a:solidFill>
            <a:srgbClr val="1A3A5C"/>
          </a:solidFill>
          <a:ln w="12700">
            <a:solidFill>
              <a:srgbClr val="1A3A5C"/>
            </a:solidFill>
            <a:prstDash val="solid"/>
          </a:ln>
        </p:spPr>
      </p:sp>
      <p:sp>
        <p:nvSpPr>
          <p:cNvPr id="37" name="Text 35"/>
          <p:cNvSpPr/>
          <p:nvPr/>
        </p:nvSpPr>
        <p:spPr>
          <a:xfrm>
            <a:off x="4276864" y="3401568"/>
            <a:ext cx="402336"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Year</a:t>
            </a:r>
            <a:endParaRPr lang="en-US" sz="1100" dirty="0"/>
          </a:p>
        </p:txBody>
      </p:sp>
      <p:sp>
        <p:nvSpPr>
          <p:cNvPr id="38" name="Shape 36"/>
          <p:cNvSpPr/>
          <p:nvPr/>
        </p:nvSpPr>
        <p:spPr>
          <a:xfrm>
            <a:off x="4734064" y="3401568"/>
            <a:ext cx="1298448" cy="384048"/>
          </a:xfrm>
          <a:prstGeom prst="rect">
            <a:avLst/>
          </a:prstGeom>
          <a:solidFill>
            <a:srgbClr val="1A3A5C"/>
          </a:solidFill>
          <a:ln w="12700">
            <a:solidFill>
              <a:srgbClr val="1A3A5C"/>
            </a:solidFill>
            <a:prstDash val="solid"/>
          </a:ln>
        </p:spPr>
      </p:sp>
      <p:sp>
        <p:nvSpPr>
          <p:cNvPr id="39" name="Text 37"/>
          <p:cNvSpPr/>
          <p:nvPr/>
        </p:nvSpPr>
        <p:spPr>
          <a:xfrm>
            <a:off x="4770640" y="3401568"/>
            <a:ext cx="1225296"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Surv. Prob</a:t>
            </a:r>
            <a:endParaRPr lang="en-US" sz="1100" dirty="0"/>
          </a:p>
        </p:txBody>
      </p:sp>
      <p:sp>
        <p:nvSpPr>
          <p:cNvPr id="40" name="Shape 38"/>
          <p:cNvSpPr/>
          <p:nvPr/>
        </p:nvSpPr>
        <p:spPr>
          <a:xfrm>
            <a:off x="6050800" y="3401568"/>
            <a:ext cx="1298448" cy="384048"/>
          </a:xfrm>
          <a:prstGeom prst="rect">
            <a:avLst/>
          </a:prstGeom>
          <a:solidFill>
            <a:srgbClr val="1A3A5C"/>
          </a:solidFill>
          <a:ln w="12700">
            <a:solidFill>
              <a:srgbClr val="1A3A5C"/>
            </a:solidFill>
            <a:prstDash val="solid"/>
          </a:ln>
        </p:spPr>
      </p:sp>
      <p:sp>
        <p:nvSpPr>
          <p:cNvPr id="41" name="Text 39"/>
          <p:cNvSpPr/>
          <p:nvPr/>
        </p:nvSpPr>
        <p:spPr>
          <a:xfrm>
            <a:off x="6087376" y="3401568"/>
            <a:ext cx="1225296"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Marg. PD</a:t>
            </a:r>
            <a:endParaRPr lang="en-US" sz="1100" dirty="0"/>
          </a:p>
        </p:txBody>
      </p:sp>
      <p:sp>
        <p:nvSpPr>
          <p:cNvPr id="42" name="Shape 40"/>
          <p:cNvSpPr/>
          <p:nvPr/>
        </p:nvSpPr>
        <p:spPr>
          <a:xfrm>
            <a:off x="7367536" y="3401568"/>
            <a:ext cx="1389888" cy="384048"/>
          </a:xfrm>
          <a:prstGeom prst="rect">
            <a:avLst/>
          </a:prstGeom>
          <a:solidFill>
            <a:srgbClr val="1A3A5C"/>
          </a:solidFill>
          <a:ln w="12700">
            <a:solidFill>
              <a:srgbClr val="1A3A5C"/>
            </a:solidFill>
            <a:prstDash val="solid"/>
          </a:ln>
        </p:spPr>
      </p:sp>
      <p:sp>
        <p:nvSpPr>
          <p:cNvPr id="43" name="Text 41"/>
          <p:cNvSpPr/>
          <p:nvPr/>
        </p:nvSpPr>
        <p:spPr>
          <a:xfrm>
            <a:off x="7404112" y="3401568"/>
            <a:ext cx="1316736"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EE ($)</a:t>
            </a:r>
            <a:endParaRPr lang="en-US" sz="1100" dirty="0"/>
          </a:p>
        </p:txBody>
      </p:sp>
      <p:sp>
        <p:nvSpPr>
          <p:cNvPr id="44" name="Shape 42"/>
          <p:cNvSpPr/>
          <p:nvPr/>
        </p:nvSpPr>
        <p:spPr>
          <a:xfrm>
            <a:off x="8775712" y="3401568"/>
            <a:ext cx="1115568" cy="384048"/>
          </a:xfrm>
          <a:prstGeom prst="rect">
            <a:avLst/>
          </a:prstGeom>
          <a:solidFill>
            <a:srgbClr val="1A3A5C"/>
          </a:solidFill>
          <a:ln w="12700">
            <a:solidFill>
              <a:srgbClr val="1A3A5C"/>
            </a:solidFill>
            <a:prstDash val="solid"/>
          </a:ln>
        </p:spPr>
      </p:sp>
      <p:sp>
        <p:nvSpPr>
          <p:cNvPr id="45" name="Text 43"/>
          <p:cNvSpPr/>
          <p:nvPr/>
        </p:nvSpPr>
        <p:spPr>
          <a:xfrm>
            <a:off x="8812288" y="3401568"/>
            <a:ext cx="1042416"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D(t)</a:t>
            </a:r>
            <a:endParaRPr lang="en-US" sz="1100" dirty="0"/>
          </a:p>
        </p:txBody>
      </p:sp>
      <p:sp>
        <p:nvSpPr>
          <p:cNvPr id="46" name="Shape 44"/>
          <p:cNvSpPr/>
          <p:nvPr/>
        </p:nvSpPr>
        <p:spPr>
          <a:xfrm>
            <a:off x="9909568" y="3401568"/>
            <a:ext cx="1600200" cy="384048"/>
          </a:xfrm>
          <a:prstGeom prst="rect">
            <a:avLst/>
          </a:prstGeom>
          <a:solidFill>
            <a:srgbClr val="1A3A5C"/>
          </a:solidFill>
          <a:ln w="12700">
            <a:solidFill>
              <a:srgbClr val="1A3A5C"/>
            </a:solidFill>
            <a:prstDash val="solid"/>
          </a:ln>
        </p:spPr>
      </p:sp>
      <p:sp>
        <p:nvSpPr>
          <p:cNvPr id="47" name="Text 45"/>
          <p:cNvSpPr/>
          <p:nvPr/>
        </p:nvSpPr>
        <p:spPr>
          <a:xfrm>
            <a:off x="9946144" y="3401568"/>
            <a:ext cx="1527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EE × PD × D</a:t>
            </a:r>
            <a:endParaRPr lang="en-US" sz="1100" dirty="0"/>
          </a:p>
        </p:txBody>
      </p:sp>
      <p:sp>
        <p:nvSpPr>
          <p:cNvPr id="48" name="Shape 46"/>
          <p:cNvSpPr/>
          <p:nvPr/>
        </p:nvSpPr>
        <p:spPr>
          <a:xfrm>
            <a:off x="4231144" y="3808949"/>
            <a:ext cx="475488" cy="438912"/>
          </a:xfrm>
          <a:prstGeom prst="rect">
            <a:avLst/>
          </a:prstGeom>
          <a:solidFill>
            <a:srgbClr val="FFFFFF"/>
          </a:solidFill>
          <a:ln w="12700">
            <a:solidFill>
              <a:srgbClr val="BBBBBB"/>
            </a:solidFill>
            <a:prstDash val="solid"/>
          </a:ln>
        </p:spPr>
      </p:sp>
      <p:sp>
        <p:nvSpPr>
          <p:cNvPr id="49" name="Text 47"/>
          <p:cNvSpPr/>
          <p:nvPr/>
        </p:nvSpPr>
        <p:spPr>
          <a:xfrm>
            <a:off x="4276864" y="3813048"/>
            <a:ext cx="402336" cy="438912"/>
          </a:xfrm>
          <a:prstGeom prst="rect">
            <a:avLst/>
          </a:prstGeom>
          <a:noFill/>
          <a:ln/>
        </p:spPr>
        <p:txBody>
          <a:bodyPr wrap="square" lIns="0" tIns="0" rIns="0" bIns="0" rtlCol="0" anchor="ctr"/>
          <a:lstStyle/>
          <a:p>
            <a:pPr marL="0" indent="0" algn="ctr">
              <a:buNone/>
            </a:pPr>
            <a:r>
              <a:rPr lang="en-US" sz="1200" b="1" dirty="0">
                <a:solidFill>
                  <a:srgbClr val="1A3A5C"/>
                </a:solidFill>
                <a:latin typeface="Calibri" pitchFamily="34" charset="0"/>
                <a:ea typeface="Calibri" pitchFamily="34" charset="-122"/>
                <a:cs typeface="Calibri" pitchFamily="34" charset="-120"/>
              </a:rPr>
              <a:t>1</a:t>
            </a:r>
            <a:endParaRPr lang="en-US" sz="1200" dirty="0"/>
          </a:p>
        </p:txBody>
      </p:sp>
      <p:sp>
        <p:nvSpPr>
          <p:cNvPr id="50" name="Shape 48"/>
          <p:cNvSpPr/>
          <p:nvPr/>
        </p:nvSpPr>
        <p:spPr>
          <a:xfrm>
            <a:off x="4734064" y="3813048"/>
            <a:ext cx="1298448" cy="438912"/>
          </a:xfrm>
          <a:prstGeom prst="rect">
            <a:avLst/>
          </a:prstGeom>
          <a:solidFill>
            <a:srgbClr val="FFFFFF"/>
          </a:solidFill>
          <a:ln w="12700">
            <a:solidFill>
              <a:srgbClr val="BBBBBB"/>
            </a:solidFill>
            <a:prstDash val="solid"/>
          </a:ln>
        </p:spPr>
      </p:sp>
      <p:sp>
        <p:nvSpPr>
          <p:cNvPr id="51" name="Text 49"/>
          <p:cNvSpPr/>
          <p:nvPr/>
        </p:nvSpPr>
        <p:spPr>
          <a:xfrm>
            <a:off x="4770640" y="3813048"/>
            <a:ext cx="1225296" cy="438912"/>
          </a:xfrm>
          <a:prstGeom prst="rect">
            <a:avLst/>
          </a:prstGeom>
          <a:noFill/>
          <a:ln/>
        </p:spPr>
        <p:txBody>
          <a:bodyPr wrap="square" lIns="0" tIns="0" rIns="0" bIns="0" rtlCol="0" anchor="ctr"/>
          <a:lstStyle/>
          <a:p>
            <a:pPr marL="0" indent="0" algn="ctr">
              <a:buNone/>
            </a:pPr>
            <a:r>
              <a:rPr lang="en-US" sz="1200" dirty="0">
                <a:solidFill>
                  <a:srgbClr val="1A3A5C"/>
                </a:solidFill>
                <a:latin typeface="Calibri" pitchFamily="34" charset="0"/>
                <a:ea typeface="Calibri" pitchFamily="34" charset="-122"/>
                <a:cs typeface="Calibri" pitchFamily="34" charset="-120"/>
              </a:rPr>
              <a:t>97.53%</a:t>
            </a:r>
            <a:endParaRPr lang="en-US" sz="1200" dirty="0"/>
          </a:p>
        </p:txBody>
      </p:sp>
      <p:sp>
        <p:nvSpPr>
          <p:cNvPr id="52" name="Shape 50"/>
          <p:cNvSpPr/>
          <p:nvPr/>
        </p:nvSpPr>
        <p:spPr>
          <a:xfrm>
            <a:off x="6050800" y="3813048"/>
            <a:ext cx="1298448" cy="438912"/>
          </a:xfrm>
          <a:prstGeom prst="rect">
            <a:avLst/>
          </a:prstGeom>
          <a:solidFill>
            <a:srgbClr val="FFFFFF"/>
          </a:solidFill>
          <a:ln w="12700">
            <a:solidFill>
              <a:srgbClr val="BBBBBB"/>
            </a:solidFill>
            <a:prstDash val="solid"/>
          </a:ln>
        </p:spPr>
      </p:sp>
      <p:sp>
        <p:nvSpPr>
          <p:cNvPr id="53" name="Text 51"/>
          <p:cNvSpPr/>
          <p:nvPr/>
        </p:nvSpPr>
        <p:spPr>
          <a:xfrm>
            <a:off x="6087376" y="3813048"/>
            <a:ext cx="1225296" cy="438912"/>
          </a:xfrm>
          <a:prstGeom prst="rect">
            <a:avLst/>
          </a:prstGeom>
          <a:noFill/>
          <a:ln/>
        </p:spPr>
        <p:txBody>
          <a:bodyPr wrap="square" lIns="0" tIns="0" rIns="0" bIns="0" rtlCol="0" anchor="ctr"/>
          <a:lstStyle/>
          <a:p>
            <a:pPr marL="0" indent="0" algn="ctr">
              <a:buNone/>
            </a:pPr>
            <a:r>
              <a:rPr lang="en-US" sz="1200" dirty="0">
                <a:solidFill>
                  <a:srgbClr val="1A3A5C"/>
                </a:solidFill>
                <a:latin typeface="Calibri" pitchFamily="34" charset="0"/>
                <a:ea typeface="Calibri" pitchFamily="34" charset="-122"/>
                <a:cs typeface="Calibri" pitchFamily="34" charset="-120"/>
              </a:rPr>
              <a:t>2.47%</a:t>
            </a:r>
            <a:endParaRPr lang="en-US" sz="1200" dirty="0"/>
          </a:p>
        </p:txBody>
      </p:sp>
      <p:sp>
        <p:nvSpPr>
          <p:cNvPr id="54" name="Shape 52"/>
          <p:cNvSpPr/>
          <p:nvPr/>
        </p:nvSpPr>
        <p:spPr>
          <a:xfrm>
            <a:off x="7367536" y="3813048"/>
            <a:ext cx="1389888" cy="438912"/>
          </a:xfrm>
          <a:prstGeom prst="rect">
            <a:avLst/>
          </a:prstGeom>
          <a:solidFill>
            <a:srgbClr val="FFFFFF"/>
          </a:solidFill>
          <a:ln w="12700">
            <a:solidFill>
              <a:srgbClr val="BBBBBB"/>
            </a:solidFill>
            <a:prstDash val="solid"/>
          </a:ln>
        </p:spPr>
      </p:sp>
      <p:sp>
        <p:nvSpPr>
          <p:cNvPr id="55" name="Text 53"/>
          <p:cNvSpPr/>
          <p:nvPr/>
        </p:nvSpPr>
        <p:spPr>
          <a:xfrm>
            <a:off x="7404112" y="3813048"/>
            <a:ext cx="1316736" cy="438912"/>
          </a:xfrm>
          <a:prstGeom prst="rect">
            <a:avLst/>
          </a:prstGeom>
          <a:noFill/>
          <a:ln/>
        </p:spPr>
        <p:txBody>
          <a:bodyPr wrap="square" lIns="0" tIns="0" rIns="0" bIns="0" rtlCol="0" anchor="ctr"/>
          <a:lstStyle/>
          <a:p>
            <a:pPr marL="0" indent="0" algn="ctr">
              <a:buNone/>
            </a:pPr>
            <a:r>
              <a:rPr lang="en-US" sz="1200" dirty="0">
                <a:solidFill>
                  <a:srgbClr val="1A3A5C"/>
                </a:solidFill>
                <a:latin typeface="Calibri" pitchFamily="34" charset="0"/>
                <a:ea typeface="Calibri" pitchFamily="34" charset="-122"/>
                <a:cs typeface="Calibri" pitchFamily="34" charset="-120"/>
              </a:rPr>
              <a:t>$120,000</a:t>
            </a:r>
            <a:endParaRPr lang="en-US" sz="1200" dirty="0"/>
          </a:p>
        </p:txBody>
      </p:sp>
      <p:sp>
        <p:nvSpPr>
          <p:cNvPr id="56" name="Shape 54"/>
          <p:cNvSpPr/>
          <p:nvPr/>
        </p:nvSpPr>
        <p:spPr>
          <a:xfrm>
            <a:off x="8775712" y="3813048"/>
            <a:ext cx="1115568" cy="438912"/>
          </a:xfrm>
          <a:prstGeom prst="rect">
            <a:avLst/>
          </a:prstGeom>
          <a:solidFill>
            <a:srgbClr val="FFFFFF"/>
          </a:solidFill>
          <a:ln w="12700">
            <a:solidFill>
              <a:srgbClr val="BBBBBB"/>
            </a:solidFill>
            <a:prstDash val="solid"/>
          </a:ln>
        </p:spPr>
      </p:sp>
      <p:sp>
        <p:nvSpPr>
          <p:cNvPr id="57" name="Text 55"/>
          <p:cNvSpPr/>
          <p:nvPr/>
        </p:nvSpPr>
        <p:spPr>
          <a:xfrm>
            <a:off x="8812288" y="3813048"/>
            <a:ext cx="1042416" cy="438912"/>
          </a:xfrm>
          <a:prstGeom prst="rect">
            <a:avLst/>
          </a:prstGeom>
          <a:noFill/>
          <a:ln/>
        </p:spPr>
        <p:txBody>
          <a:bodyPr wrap="square" lIns="0" tIns="0" rIns="0" bIns="0" rtlCol="0" anchor="ctr"/>
          <a:lstStyle/>
          <a:p>
            <a:pPr marL="0" indent="0" algn="ctr">
              <a:buNone/>
            </a:pPr>
            <a:r>
              <a:rPr lang="en-US" sz="1200" dirty="0">
                <a:solidFill>
                  <a:srgbClr val="1A3A5C"/>
                </a:solidFill>
                <a:latin typeface="Calibri" pitchFamily="34" charset="0"/>
                <a:ea typeface="Calibri" pitchFamily="34" charset="-122"/>
                <a:cs typeface="Calibri" pitchFamily="34" charset="-120"/>
              </a:rPr>
              <a:t>0.9608</a:t>
            </a:r>
            <a:endParaRPr lang="en-US" sz="1200" dirty="0"/>
          </a:p>
        </p:txBody>
      </p:sp>
      <p:sp>
        <p:nvSpPr>
          <p:cNvPr id="58" name="Shape 56"/>
          <p:cNvSpPr/>
          <p:nvPr/>
        </p:nvSpPr>
        <p:spPr>
          <a:xfrm>
            <a:off x="9909568" y="3813048"/>
            <a:ext cx="1600200" cy="438912"/>
          </a:xfrm>
          <a:prstGeom prst="rect">
            <a:avLst/>
          </a:prstGeom>
          <a:solidFill>
            <a:srgbClr val="FFFFFF"/>
          </a:solidFill>
          <a:ln w="12700">
            <a:solidFill>
              <a:srgbClr val="BBBBBB"/>
            </a:solidFill>
            <a:prstDash val="solid"/>
          </a:ln>
        </p:spPr>
      </p:sp>
      <p:sp>
        <p:nvSpPr>
          <p:cNvPr id="59" name="Text 57"/>
          <p:cNvSpPr/>
          <p:nvPr/>
        </p:nvSpPr>
        <p:spPr>
          <a:xfrm>
            <a:off x="9946144" y="3813048"/>
            <a:ext cx="1527048" cy="438912"/>
          </a:xfrm>
          <a:prstGeom prst="rect">
            <a:avLst/>
          </a:prstGeom>
          <a:noFill/>
          <a:ln/>
        </p:spPr>
        <p:txBody>
          <a:bodyPr wrap="square" lIns="0" tIns="0" rIns="0" bIns="0" rtlCol="0" anchor="ctr"/>
          <a:lstStyle/>
          <a:p>
            <a:pPr marL="0" indent="0" algn="ctr">
              <a:buNone/>
            </a:pPr>
            <a:r>
              <a:rPr lang="en-US" sz="1200" dirty="0">
                <a:solidFill>
                  <a:srgbClr val="1A3A5C"/>
                </a:solidFill>
                <a:latin typeface="Calibri" pitchFamily="34" charset="0"/>
                <a:ea typeface="Calibri" pitchFamily="34" charset="-122"/>
                <a:cs typeface="Calibri" pitchFamily="34" charset="-120"/>
              </a:rPr>
              <a:t>$2,845</a:t>
            </a:r>
            <a:endParaRPr lang="en-US" sz="1200" dirty="0"/>
          </a:p>
        </p:txBody>
      </p:sp>
      <p:sp>
        <p:nvSpPr>
          <p:cNvPr id="60" name="Shape 58"/>
          <p:cNvSpPr/>
          <p:nvPr/>
        </p:nvSpPr>
        <p:spPr>
          <a:xfrm>
            <a:off x="4240288" y="4288536"/>
            <a:ext cx="475488" cy="438912"/>
          </a:xfrm>
          <a:prstGeom prst="rect">
            <a:avLst/>
          </a:prstGeom>
          <a:solidFill>
            <a:srgbClr val="F4F6F8"/>
          </a:solidFill>
          <a:ln w="12700">
            <a:solidFill>
              <a:srgbClr val="BBBBBB"/>
            </a:solidFill>
            <a:prstDash val="solid"/>
          </a:ln>
        </p:spPr>
      </p:sp>
      <p:sp>
        <p:nvSpPr>
          <p:cNvPr id="61" name="Text 59"/>
          <p:cNvSpPr/>
          <p:nvPr/>
        </p:nvSpPr>
        <p:spPr>
          <a:xfrm>
            <a:off x="4276864" y="4288536"/>
            <a:ext cx="402336" cy="438912"/>
          </a:xfrm>
          <a:prstGeom prst="rect">
            <a:avLst/>
          </a:prstGeom>
          <a:noFill/>
          <a:ln/>
        </p:spPr>
        <p:txBody>
          <a:bodyPr wrap="square" lIns="0" tIns="0" rIns="0" bIns="0" rtlCol="0" anchor="ctr"/>
          <a:lstStyle/>
          <a:p>
            <a:pPr marL="0" indent="0" algn="ctr">
              <a:buNone/>
            </a:pPr>
            <a:r>
              <a:rPr lang="en-US" sz="1200" b="1" dirty="0">
                <a:solidFill>
                  <a:srgbClr val="1A3A5C"/>
                </a:solidFill>
                <a:latin typeface="Calibri" pitchFamily="34" charset="0"/>
                <a:ea typeface="Calibri" pitchFamily="34" charset="-122"/>
                <a:cs typeface="Calibri" pitchFamily="34" charset="-120"/>
              </a:rPr>
              <a:t>2</a:t>
            </a:r>
            <a:endParaRPr lang="en-US" sz="1200" dirty="0"/>
          </a:p>
        </p:txBody>
      </p:sp>
      <p:sp>
        <p:nvSpPr>
          <p:cNvPr id="62" name="Shape 60"/>
          <p:cNvSpPr/>
          <p:nvPr/>
        </p:nvSpPr>
        <p:spPr>
          <a:xfrm>
            <a:off x="4715776" y="4279392"/>
            <a:ext cx="1298448" cy="438912"/>
          </a:xfrm>
          <a:prstGeom prst="rect">
            <a:avLst/>
          </a:prstGeom>
          <a:solidFill>
            <a:srgbClr val="F4F6F8"/>
          </a:solidFill>
          <a:ln w="12700">
            <a:solidFill>
              <a:srgbClr val="BBBBBB"/>
            </a:solidFill>
            <a:prstDash val="solid"/>
          </a:ln>
        </p:spPr>
      </p:sp>
      <p:sp>
        <p:nvSpPr>
          <p:cNvPr id="63" name="Text 61"/>
          <p:cNvSpPr/>
          <p:nvPr/>
        </p:nvSpPr>
        <p:spPr>
          <a:xfrm>
            <a:off x="4770640" y="4288536"/>
            <a:ext cx="1225296" cy="438912"/>
          </a:xfrm>
          <a:prstGeom prst="rect">
            <a:avLst/>
          </a:prstGeom>
          <a:noFill/>
          <a:ln/>
        </p:spPr>
        <p:txBody>
          <a:bodyPr wrap="square" lIns="0" tIns="0" rIns="0" bIns="0" rtlCol="0" anchor="ctr"/>
          <a:lstStyle/>
          <a:p>
            <a:pPr marL="0" indent="0" algn="ctr">
              <a:buNone/>
            </a:pPr>
            <a:r>
              <a:rPr lang="en-US" sz="1200" dirty="0">
                <a:solidFill>
                  <a:srgbClr val="1A3A5C"/>
                </a:solidFill>
                <a:latin typeface="Calibri" pitchFamily="34" charset="0"/>
                <a:ea typeface="Calibri" pitchFamily="34" charset="-122"/>
                <a:cs typeface="Calibri" pitchFamily="34" charset="-120"/>
              </a:rPr>
              <a:t>95.12%</a:t>
            </a:r>
            <a:endParaRPr lang="en-US" sz="1200" dirty="0"/>
          </a:p>
        </p:txBody>
      </p:sp>
      <p:sp>
        <p:nvSpPr>
          <p:cNvPr id="64" name="Shape 62"/>
          <p:cNvSpPr/>
          <p:nvPr/>
        </p:nvSpPr>
        <p:spPr>
          <a:xfrm>
            <a:off x="6050800" y="4288536"/>
            <a:ext cx="1298448" cy="438912"/>
          </a:xfrm>
          <a:prstGeom prst="rect">
            <a:avLst/>
          </a:prstGeom>
          <a:solidFill>
            <a:srgbClr val="F4F6F8"/>
          </a:solidFill>
          <a:ln w="12700">
            <a:solidFill>
              <a:srgbClr val="BBBBBB"/>
            </a:solidFill>
            <a:prstDash val="solid"/>
          </a:ln>
        </p:spPr>
      </p:sp>
      <p:sp>
        <p:nvSpPr>
          <p:cNvPr id="65" name="Text 63"/>
          <p:cNvSpPr/>
          <p:nvPr/>
        </p:nvSpPr>
        <p:spPr>
          <a:xfrm>
            <a:off x="6087376" y="4288536"/>
            <a:ext cx="1225296" cy="438912"/>
          </a:xfrm>
          <a:prstGeom prst="rect">
            <a:avLst/>
          </a:prstGeom>
          <a:noFill/>
          <a:ln/>
        </p:spPr>
        <p:txBody>
          <a:bodyPr wrap="square" lIns="0" tIns="0" rIns="0" bIns="0" rtlCol="0" anchor="ctr"/>
          <a:lstStyle/>
          <a:p>
            <a:pPr marL="0" indent="0" algn="ctr">
              <a:buNone/>
            </a:pPr>
            <a:r>
              <a:rPr lang="en-US" sz="1200" dirty="0">
                <a:solidFill>
                  <a:srgbClr val="1A3A5C"/>
                </a:solidFill>
                <a:latin typeface="Calibri" pitchFamily="34" charset="0"/>
                <a:ea typeface="Calibri" pitchFamily="34" charset="-122"/>
                <a:cs typeface="Calibri" pitchFamily="34" charset="-120"/>
              </a:rPr>
              <a:t>2.41%</a:t>
            </a:r>
            <a:endParaRPr lang="en-US" sz="1200" dirty="0"/>
          </a:p>
        </p:txBody>
      </p:sp>
      <p:sp>
        <p:nvSpPr>
          <p:cNvPr id="66" name="Shape 64"/>
          <p:cNvSpPr/>
          <p:nvPr/>
        </p:nvSpPr>
        <p:spPr>
          <a:xfrm>
            <a:off x="7367536" y="4288536"/>
            <a:ext cx="1389888" cy="438912"/>
          </a:xfrm>
          <a:prstGeom prst="rect">
            <a:avLst/>
          </a:prstGeom>
          <a:solidFill>
            <a:srgbClr val="F4F6F8"/>
          </a:solidFill>
          <a:ln w="12700">
            <a:solidFill>
              <a:srgbClr val="BBBBBB"/>
            </a:solidFill>
            <a:prstDash val="solid"/>
          </a:ln>
        </p:spPr>
      </p:sp>
      <p:sp>
        <p:nvSpPr>
          <p:cNvPr id="67" name="Text 65"/>
          <p:cNvSpPr/>
          <p:nvPr/>
        </p:nvSpPr>
        <p:spPr>
          <a:xfrm>
            <a:off x="7404112" y="4288536"/>
            <a:ext cx="1316736" cy="438912"/>
          </a:xfrm>
          <a:prstGeom prst="rect">
            <a:avLst/>
          </a:prstGeom>
          <a:noFill/>
          <a:ln/>
        </p:spPr>
        <p:txBody>
          <a:bodyPr wrap="square" lIns="0" tIns="0" rIns="0" bIns="0" rtlCol="0" anchor="ctr"/>
          <a:lstStyle/>
          <a:p>
            <a:pPr marL="0" indent="0" algn="ctr">
              <a:buNone/>
            </a:pPr>
            <a:r>
              <a:rPr lang="en-US" sz="1200" dirty="0">
                <a:solidFill>
                  <a:srgbClr val="1A3A5C"/>
                </a:solidFill>
                <a:latin typeface="Calibri" pitchFamily="34" charset="0"/>
                <a:ea typeface="Calibri" pitchFamily="34" charset="-122"/>
                <a:cs typeface="Calibri" pitchFamily="34" charset="-120"/>
              </a:rPr>
              <a:t>$180,000</a:t>
            </a:r>
            <a:endParaRPr lang="en-US" sz="1200" dirty="0"/>
          </a:p>
        </p:txBody>
      </p:sp>
      <p:sp>
        <p:nvSpPr>
          <p:cNvPr id="68" name="Shape 66"/>
          <p:cNvSpPr/>
          <p:nvPr/>
        </p:nvSpPr>
        <p:spPr>
          <a:xfrm>
            <a:off x="8775712" y="4288536"/>
            <a:ext cx="1115568" cy="438912"/>
          </a:xfrm>
          <a:prstGeom prst="rect">
            <a:avLst/>
          </a:prstGeom>
          <a:solidFill>
            <a:srgbClr val="F4F6F8"/>
          </a:solidFill>
          <a:ln w="12700">
            <a:solidFill>
              <a:srgbClr val="BBBBBB"/>
            </a:solidFill>
            <a:prstDash val="solid"/>
          </a:ln>
        </p:spPr>
      </p:sp>
      <p:sp>
        <p:nvSpPr>
          <p:cNvPr id="69" name="Text 67"/>
          <p:cNvSpPr/>
          <p:nvPr/>
        </p:nvSpPr>
        <p:spPr>
          <a:xfrm>
            <a:off x="8812288" y="4288536"/>
            <a:ext cx="1042416" cy="438912"/>
          </a:xfrm>
          <a:prstGeom prst="rect">
            <a:avLst/>
          </a:prstGeom>
          <a:noFill/>
          <a:ln/>
        </p:spPr>
        <p:txBody>
          <a:bodyPr wrap="square" lIns="0" tIns="0" rIns="0" bIns="0" rtlCol="0" anchor="ctr"/>
          <a:lstStyle/>
          <a:p>
            <a:pPr marL="0" indent="0" algn="ctr">
              <a:buNone/>
            </a:pPr>
            <a:r>
              <a:rPr lang="en-US" sz="1200" dirty="0">
                <a:solidFill>
                  <a:srgbClr val="1A3A5C"/>
                </a:solidFill>
                <a:latin typeface="Calibri" pitchFamily="34" charset="0"/>
                <a:ea typeface="Calibri" pitchFamily="34" charset="-122"/>
                <a:cs typeface="Calibri" pitchFamily="34" charset="-120"/>
              </a:rPr>
              <a:t>0.9231</a:t>
            </a:r>
            <a:endParaRPr lang="en-US" sz="1200" dirty="0"/>
          </a:p>
        </p:txBody>
      </p:sp>
      <p:sp>
        <p:nvSpPr>
          <p:cNvPr id="70" name="Shape 68"/>
          <p:cNvSpPr/>
          <p:nvPr/>
        </p:nvSpPr>
        <p:spPr>
          <a:xfrm>
            <a:off x="9909568" y="4288536"/>
            <a:ext cx="1600200" cy="438912"/>
          </a:xfrm>
          <a:prstGeom prst="rect">
            <a:avLst/>
          </a:prstGeom>
          <a:solidFill>
            <a:srgbClr val="F4F6F8"/>
          </a:solidFill>
          <a:ln w="12700">
            <a:solidFill>
              <a:srgbClr val="BBBBBB"/>
            </a:solidFill>
            <a:prstDash val="solid"/>
          </a:ln>
        </p:spPr>
      </p:sp>
      <p:sp>
        <p:nvSpPr>
          <p:cNvPr id="71" name="Text 69"/>
          <p:cNvSpPr/>
          <p:nvPr/>
        </p:nvSpPr>
        <p:spPr>
          <a:xfrm>
            <a:off x="9946144" y="4288536"/>
            <a:ext cx="1527048" cy="438912"/>
          </a:xfrm>
          <a:prstGeom prst="rect">
            <a:avLst/>
          </a:prstGeom>
          <a:noFill/>
          <a:ln/>
        </p:spPr>
        <p:txBody>
          <a:bodyPr wrap="square" lIns="0" tIns="0" rIns="0" bIns="0" rtlCol="0" anchor="ctr"/>
          <a:lstStyle/>
          <a:p>
            <a:pPr marL="0" indent="0" algn="ctr">
              <a:buNone/>
            </a:pPr>
            <a:r>
              <a:rPr lang="en-US" sz="1200" dirty="0">
                <a:solidFill>
                  <a:srgbClr val="1A3A5C"/>
                </a:solidFill>
                <a:latin typeface="Calibri" pitchFamily="34" charset="0"/>
                <a:ea typeface="Calibri" pitchFamily="34" charset="-122"/>
                <a:cs typeface="Calibri" pitchFamily="34" charset="-120"/>
              </a:rPr>
              <a:t>$4,003</a:t>
            </a:r>
            <a:endParaRPr lang="en-US" sz="1200" dirty="0"/>
          </a:p>
        </p:txBody>
      </p:sp>
      <p:sp>
        <p:nvSpPr>
          <p:cNvPr id="72" name="Shape 70"/>
          <p:cNvSpPr/>
          <p:nvPr/>
        </p:nvSpPr>
        <p:spPr>
          <a:xfrm>
            <a:off x="4240288" y="4764024"/>
            <a:ext cx="475488" cy="438912"/>
          </a:xfrm>
          <a:prstGeom prst="rect">
            <a:avLst/>
          </a:prstGeom>
          <a:solidFill>
            <a:srgbClr val="FFFFFF"/>
          </a:solidFill>
          <a:ln w="12700">
            <a:solidFill>
              <a:srgbClr val="BBBBBB"/>
            </a:solidFill>
            <a:prstDash val="solid"/>
          </a:ln>
        </p:spPr>
      </p:sp>
      <p:sp>
        <p:nvSpPr>
          <p:cNvPr id="73" name="Text 71"/>
          <p:cNvSpPr/>
          <p:nvPr/>
        </p:nvSpPr>
        <p:spPr>
          <a:xfrm>
            <a:off x="4276864" y="4764024"/>
            <a:ext cx="402336" cy="438912"/>
          </a:xfrm>
          <a:prstGeom prst="rect">
            <a:avLst/>
          </a:prstGeom>
          <a:noFill/>
          <a:ln/>
        </p:spPr>
        <p:txBody>
          <a:bodyPr wrap="square" lIns="0" tIns="0" rIns="0" bIns="0" rtlCol="0" anchor="ctr"/>
          <a:lstStyle/>
          <a:p>
            <a:pPr marL="0" indent="0" algn="ctr">
              <a:buNone/>
            </a:pPr>
            <a:r>
              <a:rPr lang="en-US" sz="1200" b="1" dirty="0">
                <a:solidFill>
                  <a:srgbClr val="1A3A5C"/>
                </a:solidFill>
                <a:latin typeface="Calibri" pitchFamily="34" charset="0"/>
                <a:ea typeface="Calibri" pitchFamily="34" charset="-122"/>
                <a:cs typeface="Calibri" pitchFamily="34" charset="-120"/>
              </a:rPr>
              <a:t>3</a:t>
            </a:r>
            <a:endParaRPr lang="en-US" sz="1200" dirty="0"/>
          </a:p>
        </p:txBody>
      </p:sp>
      <p:sp>
        <p:nvSpPr>
          <p:cNvPr id="74" name="Shape 72"/>
          <p:cNvSpPr/>
          <p:nvPr/>
        </p:nvSpPr>
        <p:spPr>
          <a:xfrm>
            <a:off x="4734064" y="4764024"/>
            <a:ext cx="1298448" cy="438912"/>
          </a:xfrm>
          <a:prstGeom prst="rect">
            <a:avLst/>
          </a:prstGeom>
          <a:solidFill>
            <a:srgbClr val="FFFFFF"/>
          </a:solidFill>
          <a:ln w="12700">
            <a:solidFill>
              <a:srgbClr val="BBBBBB"/>
            </a:solidFill>
            <a:prstDash val="solid"/>
          </a:ln>
        </p:spPr>
      </p:sp>
      <p:sp>
        <p:nvSpPr>
          <p:cNvPr id="75" name="Text 73"/>
          <p:cNvSpPr/>
          <p:nvPr/>
        </p:nvSpPr>
        <p:spPr>
          <a:xfrm>
            <a:off x="4770640" y="4764024"/>
            <a:ext cx="1225296" cy="438912"/>
          </a:xfrm>
          <a:prstGeom prst="rect">
            <a:avLst/>
          </a:prstGeom>
          <a:noFill/>
          <a:ln/>
        </p:spPr>
        <p:txBody>
          <a:bodyPr wrap="square" lIns="0" tIns="0" rIns="0" bIns="0" rtlCol="0" anchor="ctr"/>
          <a:lstStyle/>
          <a:p>
            <a:pPr marL="0" indent="0" algn="ctr">
              <a:buNone/>
            </a:pPr>
            <a:r>
              <a:rPr lang="en-US" sz="1200" dirty="0">
                <a:solidFill>
                  <a:srgbClr val="1A3A5C"/>
                </a:solidFill>
                <a:latin typeface="Calibri" pitchFamily="34" charset="0"/>
                <a:ea typeface="Calibri" pitchFamily="34" charset="-122"/>
                <a:cs typeface="Calibri" pitchFamily="34" charset="-120"/>
              </a:rPr>
              <a:t>92.77%</a:t>
            </a:r>
            <a:endParaRPr lang="en-US" sz="1200" dirty="0"/>
          </a:p>
        </p:txBody>
      </p:sp>
      <p:sp>
        <p:nvSpPr>
          <p:cNvPr id="76" name="Shape 74"/>
          <p:cNvSpPr/>
          <p:nvPr/>
        </p:nvSpPr>
        <p:spPr>
          <a:xfrm>
            <a:off x="6050800" y="4764024"/>
            <a:ext cx="1298448" cy="438912"/>
          </a:xfrm>
          <a:prstGeom prst="rect">
            <a:avLst/>
          </a:prstGeom>
          <a:solidFill>
            <a:srgbClr val="FFFFFF"/>
          </a:solidFill>
          <a:ln w="12700">
            <a:solidFill>
              <a:srgbClr val="BBBBBB"/>
            </a:solidFill>
            <a:prstDash val="solid"/>
          </a:ln>
        </p:spPr>
      </p:sp>
      <p:sp>
        <p:nvSpPr>
          <p:cNvPr id="77" name="Text 75"/>
          <p:cNvSpPr/>
          <p:nvPr/>
        </p:nvSpPr>
        <p:spPr>
          <a:xfrm>
            <a:off x="6087376" y="4764024"/>
            <a:ext cx="1225296" cy="438912"/>
          </a:xfrm>
          <a:prstGeom prst="rect">
            <a:avLst/>
          </a:prstGeom>
          <a:noFill/>
          <a:ln/>
        </p:spPr>
        <p:txBody>
          <a:bodyPr wrap="square" lIns="0" tIns="0" rIns="0" bIns="0" rtlCol="0" anchor="ctr"/>
          <a:lstStyle/>
          <a:p>
            <a:pPr marL="0" indent="0" algn="ctr">
              <a:buNone/>
            </a:pPr>
            <a:r>
              <a:rPr lang="en-US" sz="1200" dirty="0">
                <a:solidFill>
                  <a:srgbClr val="1A3A5C"/>
                </a:solidFill>
                <a:latin typeface="Calibri" pitchFamily="34" charset="0"/>
                <a:ea typeface="Calibri" pitchFamily="34" charset="-122"/>
                <a:cs typeface="Calibri" pitchFamily="34" charset="-120"/>
              </a:rPr>
              <a:t>2.35%</a:t>
            </a:r>
            <a:endParaRPr lang="en-US" sz="1200" dirty="0"/>
          </a:p>
        </p:txBody>
      </p:sp>
      <p:sp>
        <p:nvSpPr>
          <p:cNvPr id="78" name="Shape 76"/>
          <p:cNvSpPr/>
          <p:nvPr/>
        </p:nvSpPr>
        <p:spPr>
          <a:xfrm>
            <a:off x="7367536" y="4764024"/>
            <a:ext cx="1389888" cy="438912"/>
          </a:xfrm>
          <a:prstGeom prst="rect">
            <a:avLst/>
          </a:prstGeom>
          <a:solidFill>
            <a:srgbClr val="FFFFFF"/>
          </a:solidFill>
          <a:ln w="12700">
            <a:solidFill>
              <a:srgbClr val="BBBBBB"/>
            </a:solidFill>
            <a:prstDash val="solid"/>
          </a:ln>
        </p:spPr>
      </p:sp>
      <p:sp>
        <p:nvSpPr>
          <p:cNvPr id="79" name="Text 77"/>
          <p:cNvSpPr/>
          <p:nvPr/>
        </p:nvSpPr>
        <p:spPr>
          <a:xfrm>
            <a:off x="7404112" y="4764024"/>
            <a:ext cx="1316736" cy="438912"/>
          </a:xfrm>
          <a:prstGeom prst="rect">
            <a:avLst/>
          </a:prstGeom>
          <a:noFill/>
          <a:ln/>
        </p:spPr>
        <p:txBody>
          <a:bodyPr wrap="square" lIns="0" tIns="0" rIns="0" bIns="0" rtlCol="0" anchor="ctr"/>
          <a:lstStyle/>
          <a:p>
            <a:pPr marL="0" indent="0" algn="ctr">
              <a:buNone/>
            </a:pPr>
            <a:r>
              <a:rPr lang="en-US" sz="1200" dirty="0">
                <a:solidFill>
                  <a:srgbClr val="1A3A5C"/>
                </a:solidFill>
                <a:latin typeface="Calibri" pitchFamily="34" charset="0"/>
                <a:ea typeface="Calibri" pitchFamily="34" charset="-122"/>
                <a:cs typeface="Calibri" pitchFamily="34" charset="-120"/>
              </a:rPr>
              <a:t>$90,000</a:t>
            </a:r>
            <a:endParaRPr lang="en-US" sz="1200" dirty="0"/>
          </a:p>
        </p:txBody>
      </p:sp>
      <p:sp>
        <p:nvSpPr>
          <p:cNvPr id="80" name="Shape 78"/>
          <p:cNvSpPr/>
          <p:nvPr/>
        </p:nvSpPr>
        <p:spPr>
          <a:xfrm>
            <a:off x="8775712" y="4764024"/>
            <a:ext cx="1115568" cy="438912"/>
          </a:xfrm>
          <a:prstGeom prst="rect">
            <a:avLst/>
          </a:prstGeom>
          <a:solidFill>
            <a:srgbClr val="FFFFFF"/>
          </a:solidFill>
          <a:ln w="12700">
            <a:solidFill>
              <a:srgbClr val="BBBBBB"/>
            </a:solidFill>
            <a:prstDash val="solid"/>
          </a:ln>
        </p:spPr>
      </p:sp>
      <p:sp>
        <p:nvSpPr>
          <p:cNvPr id="81" name="Text 79"/>
          <p:cNvSpPr/>
          <p:nvPr/>
        </p:nvSpPr>
        <p:spPr>
          <a:xfrm>
            <a:off x="8812288" y="4764024"/>
            <a:ext cx="1042416" cy="438912"/>
          </a:xfrm>
          <a:prstGeom prst="rect">
            <a:avLst/>
          </a:prstGeom>
          <a:noFill/>
          <a:ln/>
        </p:spPr>
        <p:txBody>
          <a:bodyPr wrap="square" lIns="0" tIns="0" rIns="0" bIns="0" rtlCol="0" anchor="ctr"/>
          <a:lstStyle/>
          <a:p>
            <a:pPr marL="0" indent="0" algn="ctr">
              <a:buNone/>
            </a:pPr>
            <a:r>
              <a:rPr lang="en-US" sz="1200" dirty="0">
                <a:solidFill>
                  <a:srgbClr val="1A3A5C"/>
                </a:solidFill>
                <a:latin typeface="Calibri" pitchFamily="34" charset="0"/>
                <a:ea typeface="Calibri" pitchFamily="34" charset="-122"/>
                <a:cs typeface="Calibri" pitchFamily="34" charset="-120"/>
              </a:rPr>
              <a:t>0.8869</a:t>
            </a:r>
            <a:endParaRPr lang="en-US" sz="1200" dirty="0"/>
          </a:p>
        </p:txBody>
      </p:sp>
      <p:sp>
        <p:nvSpPr>
          <p:cNvPr id="82" name="Shape 80"/>
          <p:cNvSpPr/>
          <p:nvPr/>
        </p:nvSpPr>
        <p:spPr>
          <a:xfrm>
            <a:off x="9909568" y="4764024"/>
            <a:ext cx="1600200" cy="438912"/>
          </a:xfrm>
          <a:prstGeom prst="rect">
            <a:avLst/>
          </a:prstGeom>
          <a:solidFill>
            <a:srgbClr val="FFFFFF"/>
          </a:solidFill>
          <a:ln w="12700">
            <a:solidFill>
              <a:srgbClr val="BBBBBB"/>
            </a:solidFill>
            <a:prstDash val="solid"/>
          </a:ln>
        </p:spPr>
      </p:sp>
      <p:sp>
        <p:nvSpPr>
          <p:cNvPr id="83" name="Text 81"/>
          <p:cNvSpPr/>
          <p:nvPr/>
        </p:nvSpPr>
        <p:spPr>
          <a:xfrm>
            <a:off x="9946144" y="4764024"/>
            <a:ext cx="1527048" cy="438912"/>
          </a:xfrm>
          <a:prstGeom prst="rect">
            <a:avLst/>
          </a:prstGeom>
          <a:noFill/>
          <a:ln/>
        </p:spPr>
        <p:txBody>
          <a:bodyPr wrap="square" lIns="0" tIns="0" rIns="0" bIns="0" rtlCol="0" anchor="ctr"/>
          <a:lstStyle/>
          <a:p>
            <a:pPr marL="0" indent="0" algn="ctr">
              <a:buNone/>
            </a:pPr>
            <a:r>
              <a:rPr lang="en-US" sz="1200" dirty="0">
                <a:solidFill>
                  <a:srgbClr val="1A3A5C"/>
                </a:solidFill>
                <a:latin typeface="Calibri" pitchFamily="34" charset="0"/>
                <a:ea typeface="Calibri" pitchFamily="34" charset="-122"/>
                <a:cs typeface="Calibri" pitchFamily="34" charset="-120"/>
              </a:rPr>
              <a:t>$1,874</a:t>
            </a:r>
            <a:endParaRPr lang="en-US" sz="1200" dirty="0"/>
          </a:p>
        </p:txBody>
      </p:sp>
      <p:sp>
        <p:nvSpPr>
          <p:cNvPr id="84" name="Shape 82"/>
          <p:cNvSpPr/>
          <p:nvPr/>
        </p:nvSpPr>
        <p:spPr>
          <a:xfrm>
            <a:off x="4240288" y="5239512"/>
            <a:ext cx="475488" cy="438912"/>
          </a:xfrm>
          <a:prstGeom prst="rect">
            <a:avLst/>
          </a:prstGeom>
          <a:solidFill>
            <a:srgbClr val="FDF3E3"/>
          </a:solidFill>
          <a:ln w="12700">
            <a:solidFill>
              <a:srgbClr val="BBBBBB"/>
            </a:solidFill>
            <a:prstDash val="solid"/>
          </a:ln>
        </p:spPr>
      </p:sp>
      <p:sp>
        <p:nvSpPr>
          <p:cNvPr id="85" name="Text 83"/>
          <p:cNvSpPr/>
          <p:nvPr/>
        </p:nvSpPr>
        <p:spPr>
          <a:xfrm>
            <a:off x="4276864" y="5239512"/>
            <a:ext cx="402336" cy="438912"/>
          </a:xfrm>
          <a:prstGeom prst="rect">
            <a:avLst/>
          </a:prstGeom>
          <a:noFill/>
          <a:ln/>
        </p:spPr>
        <p:txBody>
          <a:bodyPr wrap="square" lIns="0" tIns="0" rIns="0" bIns="0" rtlCol="0" anchor="ctr"/>
          <a:lstStyle/>
          <a:p>
            <a:pPr marL="0" indent="0" algn="ctr">
              <a:buNone/>
            </a:pPr>
            <a:r>
              <a:rPr lang="en-US" sz="1200" b="1" dirty="0">
                <a:solidFill>
                  <a:srgbClr val="1A3A5C"/>
                </a:solidFill>
                <a:latin typeface="Calibri" pitchFamily="34" charset="0"/>
                <a:ea typeface="Calibri" pitchFamily="34" charset="-122"/>
                <a:cs typeface="Calibri" pitchFamily="34" charset="-120"/>
              </a:rPr>
              <a:t>Sum</a:t>
            </a:r>
            <a:endParaRPr lang="en-US" sz="1200" dirty="0"/>
          </a:p>
        </p:txBody>
      </p:sp>
      <p:sp>
        <p:nvSpPr>
          <p:cNvPr id="86" name="Shape 84"/>
          <p:cNvSpPr/>
          <p:nvPr/>
        </p:nvSpPr>
        <p:spPr>
          <a:xfrm>
            <a:off x="4734064" y="5239512"/>
            <a:ext cx="1298448" cy="438912"/>
          </a:xfrm>
          <a:prstGeom prst="rect">
            <a:avLst/>
          </a:prstGeom>
          <a:solidFill>
            <a:srgbClr val="FDF3E3"/>
          </a:solidFill>
          <a:ln w="12700">
            <a:solidFill>
              <a:srgbClr val="BBBBBB"/>
            </a:solidFill>
            <a:prstDash val="solid"/>
          </a:ln>
        </p:spPr>
      </p:sp>
      <p:sp>
        <p:nvSpPr>
          <p:cNvPr id="87" name="Text 85"/>
          <p:cNvSpPr/>
          <p:nvPr/>
        </p:nvSpPr>
        <p:spPr>
          <a:xfrm>
            <a:off x="4770640" y="5239512"/>
            <a:ext cx="1225296" cy="438912"/>
          </a:xfrm>
          <a:prstGeom prst="rect">
            <a:avLst/>
          </a:prstGeom>
          <a:noFill/>
          <a:ln/>
        </p:spPr>
        <p:txBody>
          <a:bodyPr wrap="square" lIns="0" tIns="0" rIns="0" bIns="0" rtlCol="0" anchor="ctr"/>
          <a:lstStyle/>
          <a:p>
            <a:pPr marL="0" indent="0" algn="ctr">
              <a:buNone/>
            </a:pPr>
            <a:endParaRPr lang="en-US" sz="1200" dirty="0"/>
          </a:p>
        </p:txBody>
      </p:sp>
      <p:sp>
        <p:nvSpPr>
          <p:cNvPr id="88" name="Shape 86"/>
          <p:cNvSpPr/>
          <p:nvPr/>
        </p:nvSpPr>
        <p:spPr>
          <a:xfrm>
            <a:off x="6050800" y="5239512"/>
            <a:ext cx="1298448" cy="438912"/>
          </a:xfrm>
          <a:prstGeom prst="rect">
            <a:avLst/>
          </a:prstGeom>
          <a:solidFill>
            <a:srgbClr val="FDF3E3"/>
          </a:solidFill>
          <a:ln w="12700">
            <a:solidFill>
              <a:srgbClr val="BBBBBB"/>
            </a:solidFill>
            <a:prstDash val="solid"/>
          </a:ln>
        </p:spPr>
      </p:sp>
      <p:sp>
        <p:nvSpPr>
          <p:cNvPr id="89" name="Text 87"/>
          <p:cNvSpPr/>
          <p:nvPr/>
        </p:nvSpPr>
        <p:spPr>
          <a:xfrm>
            <a:off x="6087376" y="5239512"/>
            <a:ext cx="1225296" cy="438912"/>
          </a:xfrm>
          <a:prstGeom prst="rect">
            <a:avLst/>
          </a:prstGeom>
          <a:noFill/>
          <a:ln/>
        </p:spPr>
        <p:txBody>
          <a:bodyPr wrap="square" lIns="0" tIns="0" rIns="0" bIns="0" rtlCol="0" anchor="ctr"/>
          <a:lstStyle/>
          <a:p>
            <a:pPr marL="0" indent="0" algn="ctr">
              <a:buNone/>
            </a:pPr>
            <a:endParaRPr lang="en-US" sz="1200" dirty="0"/>
          </a:p>
        </p:txBody>
      </p:sp>
      <p:sp>
        <p:nvSpPr>
          <p:cNvPr id="90" name="Shape 88"/>
          <p:cNvSpPr/>
          <p:nvPr/>
        </p:nvSpPr>
        <p:spPr>
          <a:xfrm>
            <a:off x="7367536" y="5239512"/>
            <a:ext cx="1389888" cy="438912"/>
          </a:xfrm>
          <a:prstGeom prst="rect">
            <a:avLst/>
          </a:prstGeom>
          <a:solidFill>
            <a:srgbClr val="FDF3E3"/>
          </a:solidFill>
          <a:ln w="12700">
            <a:solidFill>
              <a:srgbClr val="BBBBBB"/>
            </a:solidFill>
            <a:prstDash val="solid"/>
          </a:ln>
        </p:spPr>
      </p:sp>
      <p:sp>
        <p:nvSpPr>
          <p:cNvPr id="91" name="Text 89"/>
          <p:cNvSpPr/>
          <p:nvPr/>
        </p:nvSpPr>
        <p:spPr>
          <a:xfrm>
            <a:off x="7404112" y="5239512"/>
            <a:ext cx="1316736" cy="438912"/>
          </a:xfrm>
          <a:prstGeom prst="rect">
            <a:avLst/>
          </a:prstGeom>
          <a:noFill/>
          <a:ln/>
        </p:spPr>
        <p:txBody>
          <a:bodyPr wrap="square" lIns="0" tIns="0" rIns="0" bIns="0" rtlCol="0" anchor="ctr"/>
          <a:lstStyle/>
          <a:p>
            <a:pPr marL="0" indent="0" algn="ctr">
              <a:buNone/>
            </a:pPr>
            <a:endParaRPr lang="en-US" sz="1200" dirty="0"/>
          </a:p>
        </p:txBody>
      </p:sp>
      <p:sp>
        <p:nvSpPr>
          <p:cNvPr id="92" name="Shape 90"/>
          <p:cNvSpPr/>
          <p:nvPr/>
        </p:nvSpPr>
        <p:spPr>
          <a:xfrm>
            <a:off x="8775712" y="5239512"/>
            <a:ext cx="1115568" cy="438912"/>
          </a:xfrm>
          <a:prstGeom prst="rect">
            <a:avLst/>
          </a:prstGeom>
          <a:solidFill>
            <a:srgbClr val="FDF3E3"/>
          </a:solidFill>
          <a:ln w="12700">
            <a:solidFill>
              <a:srgbClr val="BBBBBB"/>
            </a:solidFill>
            <a:prstDash val="solid"/>
          </a:ln>
        </p:spPr>
      </p:sp>
      <p:sp>
        <p:nvSpPr>
          <p:cNvPr id="93" name="Text 91"/>
          <p:cNvSpPr/>
          <p:nvPr/>
        </p:nvSpPr>
        <p:spPr>
          <a:xfrm>
            <a:off x="8812288" y="5239512"/>
            <a:ext cx="1042416" cy="438912"/>
          </a:xfrm>
          <a:prstGeom prst="rect">
            <a:avLst/>
          </a:prstGeom>
          <a:noFill/>
          <a:ln/>
        </p:spPr>
        <p:txBody>
          <a:bodyPr wrap="square" lIns="0" tIns="0" rIns="0" bIns="0" rtlCol="0" anchor="ctr"/>
          <a:lstStyle/>
          <a:p>
            <a:pPr marL="0" indent="0" algn="ctr">
              <a:buNone/>
            </a:pPr>
            <a:endParaRPr lang="en-US" sz="1200" dirty="0"/>
          </a:p>
        </p:txBody>
      </p:sp>
      <p:sp>
        <p:nvSpPr>
          <p:cNvPr id="94" name="Shape 92"/>
          <p:cNvSpPr/>
          <p:nvPr/>
        </p:nvSpPr>
        <p:spPr>
          <a:xfrm>
            <a:off x="9909568" y="5239512"/>
            <a:ext cx="1600200" cy="438912"/>
          </a:xfrm>
          <a:prstGeom prst="rect">
            <a:avLst/>
          </a:prstGeom>
          <a:solidFill>
            <a:srgbClr val="FDF3E3"/>
          </a:solidFill>
          <a:ln w="12700">
            <a:solidFill>
              <a:srgbClr val="BBBBBB"/>
            </a:solidFill>
            <a:prstDash val="solid"/>
          </a:ln>
        </p:spPr>
      </p:sp>
      <p:sp>
        <p:nvSpPr>
          <p:cNvPr id="95" name="Text 93"/>
          <p:cNvSpPr/>
          <p:nvPr/>
        </p:nvSpPr>
        <p:spPr>
          <a:xfrm>
            <a:off x="9946144" y="5239512"/>
            <a:ext cx="1527048" cy="438912"/>
          </a:xfrm>
          <a:prstGeom prst="rect">
            <a:avLst/>
          </a:prstGeom>
          <a:noFill/>
          <a:ln/>
        </p:spPr>
        <p:txBody>
          <a:bodyPr wrap="square" lIns="0" tIns="0" rIns="0" bIns="0" rtlCol="0" anchor="ctr"/>
          <a:lstStyle/>
          <a:p>
            <a:pPr marL="0" indent="0" algn="ctr">
              <a:buNone/>
            </a:pPr>
            <a:r>
              <a:rPr lang="en-US" sz="1200" b="1" dirty="0">
                <a:solidFill>
                  <a:srgbClr val="1A3A5C"/>
                </a:solidFill>
                <a:latin typeface="Calibri" pitchFamily="34" charset="0"/>
                <a:ea typeface="Calibri" pitchFamily="34" charset="-122"/>
                <a:cs typeface="Calibri" pitchFamily="34" charset="-120"/>
              </a:rPr>
              <a:t>$8,722</a:t>
            </a:r>
            <a:endParaRPr lang="en-US" sz="1200" dirty="0"/>
          </a:p>
        </p:txBody>
      </p:sp>
      <p:sp>
        <p:nvSpPr>
          <p:cNvPr id="96" name="Shape 94"/>
          <p:cNvSpPr/>
          <p:nvPr/>
        </p:nvSpPr>
        <p:spPr>
          <a:xfrm>
            <a:off x="3767328" y="5760720"/>
            <a:ext cx="8348472" cy="658368"/>
          </a:xfrm>
          <a:prstGeom prst="rect">
            <a:avLst/>
          </a:prstGeom>
          <a:solidFill>
            <a:srgbClr val="0D7377"/>
          </a:solidFill>
          <a:ln w="12700">
            <a:solidFill>
              <a:srgbClr val="0D7377"/>
            </a:solidFill>
            <a:prstDash val="solid"/>
          </a:ln>
          <a:effectLst>
            <a:outerShdw blurRad="88900" dist="38100" dir="8100000" algn="bl" rotWithShape="0">
              <a:srgbClr val="000000">
                <a:alpha val="13000"/>
              </a:srgbClr>
            </a:outerShdw>
          </a:effectLst>
        </p:spPr>
      </p:sp>
      <p:sp>
        <p:nvSpPr>
          <p:cNvPr id="97" name="Text 95"/>
          <p:cNvSpPr/>
          <p:nvPr/>
        </p:nvSpPr>
        <p:spPr>
          <a:xfrm>
            <a:off x="3840480" y="5760720"/>
            <a:ext cx="8183880" cy="658368"/>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CVA  =  60%  ×  $8,722  =  </a:t>
            </a:r>
            <a:r>
              <a:rPr lang="en-US" sz="2200" b="1" dirty="0">
                <a:solidFill>
                  <a:srgbClr val="FFFFAA"/>
                </a:solidFill>
                <a:latin typeface="Calibri" pitchFamily="34" charset="0"/>
                <a:ea typeface="Calibri" pitchFamily="34" charset="-122"/>
                <a:cs typeface="Calibri" pitchFamily="34" charset="-120"/>
              </a:rPr>
              <a:t>$5,233</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A5C"/>
          </a:solidFill>
          <a:ln w="12700">
            <a:solidFill>
              <a:srgbClr val="1A3A5C"/>
            </a:solidFill>
            <a:prstDash val="solid"/>
          </a:ln>
        </p:spPr>
      </p:sp>
      <p:sp>
        <p:nvSpPr>
          <p:cNvPr id="3" name="Text 1"/>
          <p:cNvSpPr/>
          <p:nvPr/>
        </p:nvSpPr>
        <p:spPr>
          <a:xfrm>
            <a:off x="320040" y="0"/>
            <a:ext cx="11521440" cy="658368"/>
          </a:xfrm>
          <a:prstGeom prst="rect">
            <a:avLst/>
          </a:prstGeom>
          <a:noFill/>
          <a:ln/>
        </p:spPr>
        <p:txBody>
          <a:bodyPr wrap="square" rtlCol="0" anchor="ctr"/>
          <a:lstStyle/>
          <a:p>
            <a:pPr marL="0" indent="0">
              <a:buNone/>
            </a:pPr>
            <a:r>
              <a:rPr lang="en-US" sz="1300" dirty="0">
                <a:solidFill>
                  <a:srgbClr val="AACCEE"/>
                </a:solidFill>
                <a:latin typeface="Calibri" pitchFamily="34" charset="0"/>
                <a:ea typeface="Calibri" pitchFamily="34" charset="-122"/>
                <a:cs typeface="Calibri" pitchFamily="34" charset="-120"/>
              </a:rPr>
              <a:t>Section 4  |  DVA: The Mirror Image</a:t>
            </a:r>
            <a:endParaRPr lang="en-US" sz="1300" dirty="0"/>
          </a:p>
        </p:txBody>
      </p:sp>
      <p:sp>
        <p:nvSpPr>
          <p:cNvPr id="4" name="Text 2"/>
          <p:cNvSpPr/>
          <p:nvPr/>
        </p:nvSpPr>
        <p:spPr>
          <a:xfrm>
            <a:off x="365760" y="804672"/>
            <a:ext cx="11430000" cy="658368"/>
          </a:xfrm>
          <a:prstGeom prst="rect">
            <a:avLst/>
          </a:prstGeom>
          <a:noFill/>
          <a:ln/>
        </p:spPr>
        <p:txBody>
          <a:bodyPr wrap="square" rtlCol="0" anchor="ctr"/>
          <a:lstStyle/>
          <a:p>
            <a:pPr marL="0" indent="0">
              <a:buNone/>
            </a:pPr>
            <a:r>
              <a:rPr lang="en-US" sz="2800" b="1" dirty="0">
                <a:solidFill>
                  <a:srgbClr val="1A3A5C"/>
                </a:solidFill>
                <a:latin typeface="Georgia" pitchFamily="34" charset="0"/>
                <a:ea typeface="Georgia" pitchFamily="34" charset="-122"/>
                <a:cs typeface="Georgia" pitchFamily="34" charset="-120"/>
              </a:rPr>
              <a:t>CVA and DVA: Two Sides of the Same Trade</a:t>
            </a:r>
            <a:endParaRPr lang="en-US" sz="2800" dirty="0"/>
          </a:p>
        </p:txBody>
      </p:sp>
      <p:sp>
        <p:nvSpPr>
          <p:cNvPr id="5" name="Shape 3"/>
          <p:cNvSpPr/>
          <p:nvPr/>
        </p:nvSpPr>
        <p:spPr>
          <a:xfrm>
            <a:off x="320040" y="1600200"/>
            <a:ext cx="5440680" cy="4434840"/>
          </a:xfrm>
          <a:prstGeom prst="rect">
            <a:avLst/>
          </a:prstGeom>
          <a:solidFill>
            <a:srgbClr val="D6E8F5"/>
          </a:solidFill>
          <a:ln w="25400">
            <a:solidFill>
              <a:srgbClr val="0D7377"/>
            </a:solidFill>
            <a:prstDash val="solid"/>
          </a:ln>
          <a:effectLst>
            <a:outerShdw blurRad="88900" dist="38100" dir="8100000" algn="bl" rotWithShape="0">
              <a:srgbClr val="000000">
                <a:alpha val="13000"/>
              </a:srgbClr>
            </a:outerShdw>
          </a:effectLst>
        </p:spPr>
      </p:sp>
      <p:sp>
        <p:nvSpPr>
          <p:cNvPr id="6" name="Text 4"/>
          <p:cNvSpPr/>
          <p:nvPr/>
        </p:nvSpPr>
        <p:spPr>
          <a:xfrm>
            <a:off x="502920" y="1719072"/>
            <a:ext cx="5074920" cy="420624"/>
          </a:xfrm>
          <a:prstGeom prst="rect">
            <a:avLst/>
          </a:prstGeom>
          <a:noFill/>
          <a:ln/>
        </p:spPr>
        <p:txBody>
          <a:bodyPr wrap="square" rtlCol="0" anchor="ctr"/>
          <a:lstStyle/>
          <a:p>
            <a:pPr marL="0" indent="0">
              <a:buNone/>
            </a:pPr>
            <a:r>
              <a:rPr lang="en-US" sz="1500" b="1" dirty="0">
                <a:solidFill>
                  <a:srgbClr val="0D7377"/>
                </a:solidFill>
                <a:latin typeface="Calibri" pitchFamily="34" charset="0"/>
                <a:ea typeface="Calibri" pitchFamily="34" charset="-122"/>
                <a:cs typeface="Calibri" pitchFamily="34" charset="-120"/>
              </a:rPr>
              <a:t>CVA — Credit Valuation Adjustment</a:t>
            </a:r>
            <a:endParaRPr lang="en-US" sz="1500" dirty="0"/>
          </a:p>
        </p:txBody>
      </p:sp>
      <p:sp>
        <p:nvSpPr>
          <p:cNvPr id="7" name="Text 5"/>
          <p:cNvSpPr/>
          <p:nvPr/>
        </p:nvSpPr>
        <p:spPr>
          <a:xfrm>
            <a:off x="502920" y="2212848"/>
            <a:ext cx="5074920" cy="329184"/>
          </a:xfrm>
          <a:prstGeom prst="rect">
            <a:avLst/>
          </a:prstGeom>
          <a:noFill/>
          <a:ln/>
        </p:spPr>
        <p:txBody>
          <a:bodyPr wrap="square" rtlCol="0" anchor="ctr"/>
          <a:lstStyle/>
          <a:p>
            <a:pPr marL="0" indent="0">
              <a:buNone/>
            </a:pPr>
            <a:r>
              <a:rPr lang="en-US" sz="1300" b="1" dirty="0">
                <a:solidFill>
                  <a:srgbClr val="1A3A5C"/>
                </a:solidFill>
                <a:latin typeface="Calibri" pitchFamily="34" charset="0"/>
                <a:ea typeface="Calibri" pitchFamily="34" charset="-122"/>
                <a:cs typeface="Calibri" pitchFamily="34" charset="-120"/>
              </a:rPr>
              <a:t>Your counterparty might default on you.</a:t>
            </a:r>
            <a:endParaRPr lang="en-US" sz="1300" dirty="0"/>
          </a:p>
        </p:txBody>
      </p:sp>
      <p:sp>
        <p:nvSpPr>
          <p:cNvPr id="8" name="Text 6"/>
          <p:cNvSpPr/>
          <p:nvPr/>
        </p:nvSpPr>
        <p:spPr>
          <a:xfrm>
            <a:off x="502920" y="2615184"/>
            <a:ext cx="5074920" cy="402336"/>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CVA is the present value of the expected loss from that default — the cost to you if they fail to honour their obligations while in-the-money.</a:t>
            </a:r>
            <a:endParaRPr lang="en-US" sz="1200" dirty="0"/>
          </a:p>
        </p:txBody>
      </p:sp>
      <p:sp>
        <p:nvSpPr>
          <p:cNvPr id="9" name="Text 7"/>
          <p:cNvSpPr/>
          <p:nvPr/>
        </p:nvSpPr>
        <p:spPr>
          <a:xfrm>
            <a:off x="502920" y="3072384"/>
            <a:ext cx="5074920" cy="402336"/>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  Subtracted from the fair value of your derivative assets.</a:t>
            </a:r>
            <a:endParaRPr lang="en-US" sz="1200" dirty="0"/>
          </a:p>
        </p:txBody>
      </p:sp>
      <p:sp>
        <p:nvSpPr>
          <p:cNvPr id="10" name="Text 8"/>
          <p:cNvSpPr/>
          <p:nvPr/>
        </p:nvSpPr>
        <p:spPr>
          <a:xfrm>
            <a:off x="502920" y="3529584"/>
            <a:ext cx="5074920" cy="402336"/>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  Rises when counterparty credit spreads widen — even before any actual default.</a:t>
            </a:r>
            <a:endParaRPr lang="en-US" sz="1200" dirty="0"/>
          </a:p>
        </p:txBody>
      </p:sp>
      <p:sp>
        <p:nvSpPr>
          <p:cNvPr id="11" name="Text 9"/>
          <p:cNvSpPr/>
          <p:nvPr/>
        </p:nvSpPr>
        <p:spPr>
          <a:xfrm>
            <a:off x="502920" y="3986784"/>
            <a:ext cx="5074920" cy="402336"/>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  Computed from your counterparty's PD, your exposure to them, and LGD.</a:t>
            </a:r>
            <a:endParaRPr lang="en-US" sz="1200" dirty="0"/>
          </a:p>
        </p:txBody>
      </p:sp>
      <p:sp>
        <p:nvSpPr>
          <p:cNvPr id="12" name="Text 10"/>
          <p:cNvSpPr/>
          <p:nvPr/>
        </p:nvSpPr>
        <p:spPr>
          <a:xfrm>
            <a:off x="502920" y="4443984"/>
            <a:ext cx="5074920" cy="402336"/>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  Required by IFRS 13 and ASC 820 in fair value measurement.</a:t>
            </a:r>
            <a:endParaRPr lang="en-US" sz="1200" dirty="0"/>
          </a:p>
        </p:txBody>
      </p:sp>
      <p:sp>
        <p:nvSpPr>
          <p:cNvPr id="13" name="Text 11"/>
          <p:cNvSpPr/>
          <p:nvPr/>
        </p:nvSpPr>
        <p:spPr>
          <a:xfrm>
            <a:off x="5687568" y="3337560"/>
            <a:ext cx="804672" cy="640080"/>
          </a:xfrm>
          <a:prstGeom prst="rect">
            <a:avLst/>
          </a:prstGeom>
          <a:noFill/>
          <a:ln/>
        </p:spPr>
        <p:txBody>
          <a:bodyPr wrap="square" rtlCol="0" anchor="ctr"/>
          <a:lstStyle/>
          <a:p>
            <a:pPr marL="0" indent="0" algn="ctr">
              <a:buNone/>
            </a:pPr>
            <a:r>
              <a:rPr lang="en-US" sz="3000" dirty="0">
                <a:solidFill>
                  <a:srgbClr val="777777"/>
                </a:solidFill>
              </a:rPr>
              <a:t>⇄</a:t>
            </a:r>
            <a:endParaRPr lang="en-US" sz="3000" dirty="0"/>
          </a:p>
        </p:txBody>
      </p:sp>
      <p:sp>
        <p:nvSpPr>
          <p:cNvPr id="14" name="Text 12"/>
          <p:cNvSpPr/>
          <p:nvPr/>
        </p:nvSpPr>
        <p:spPr>
          <a:xfrm>
            <a:off x="5623560" y="4005072"/>
            <a:ext cx="932688" cy="457200"/>
          </a:xfrm>
          <a:prstGeom prst="rect">
            <a:avLst/>
          </a:prstGeom>
          <a:noFill/>
          <a:ln/>
        </p:spPr>
        <p:txBody>
          <a:bodyPr wrap="square" rtlCol="0" anchor="ctr"/>
          <a:lstStyle/>
          <a:p>
            <a:pPr marL="0" indent="0" algn="ctr">
              <a:buNone/>
            </a:pPr>
            <a:r>
              <a:rPr lang="en-US" sz="950" dirty="0">
                <a:solidFill>
                  <a:srgbClr val="777777"/>
                </a:solidFill>
                <a:latin typeface="Calibri" pitchFamily="34" charset="0"/>
                <a:ea typeface="Calibri" pitchFamily="34" charset="-122"/>
                <a:cs typeface="Calibri" pitchFamily="34" charset="-120"/>
              </a:rPr>
              <a:t>Bilateral</a:t>
            </a:r>
            <a:endParaRPr lang="en-US" sz="950" dirty="0"/>
          </a:p>
          <a:p>
            <a:pPr marL="0" indent="0" algn="ctr">
              <a:buNone/>
            </a:pPr>
            <a:r>
              <a:rPr lang="en-US" sz="950" dirty="0">
                <a:solidFill>
                  <a:srgbClr val="777777"/>
                </a:solidFill>
                <a:latin typeface="Calibri" pitchFamily="34" charset="0"/>
                <a:ea typeface="Calibri" pitchFamily="34" charset="-122"/>
                <a:cs typeface="Calibri" pitchFamily="34" charset="-120"/>
              </a:rPr>
              <a:t>Adjustment</a:t>
            </a:r>
            <a:endParaRPr lang="en-US" sz="950" dirty="0"/>
          </a:p>
        </p:txBody>
      </p:sp>
      <p:sp>
        <p:nvSpPr>
          <p:cNvPr id="15" name="Shape 13"/>
          <p:cNvSpPr/>
          <p:nvPr/>
        </p:nvSpPr>
        <p:spPr>
          <a:xfrm>
            <a:off x="6446520" y="1600200"/>
            <a:ext cx="5440680" cy="4434840"/>
          </a:xfrm>
          <a:prstGeom prst="rect">
            <a:avLst/>
          </a:prstGeom>
          <a:solidFill>
            <a:srgbClr val="FDECEA"/>
          </a:solidFill>
          <a:ln w="25400">
            <a:solidFill>
              <a:srgbClr val="C0392B"/>
            </a:solidFill>
            <a:prstDash val="solid"/>
          </a:ln>
          <a:effectLst>
            <a:outerShdw blurRad="88900" dist="38100" dir="8100000" algn="bl" rotWithShape="0">
              <a:srgbClr val="000000">
                <a:alpha val="13000"/>
              </a:srgbClr>
            </a:outerShdw>
          </a:effectLst>
        </p:spPr>
      </p:sp>
      <p:sp>
        <p:nvSpPr>
          <p:cNvPr id="16" name="Text 14"/>
          <p:cNvSpPr/>
          <p:nvPr/>
        </p:nvSpPr>
        <p:spPr>
          <a:xfrm>
            <a:off x="6601968" y="1719072"/>
            <a:ext cx="5120640" cy="420624"/>
          </a:xfrm>
          <a:prstGeom prst="rect">
            <a:avLst/>
          </a:prstGeom>
          <a:noFill/>
          <a:ln/>
        </p:spPr>
        <p:txBody>
          <a:bodyPr wrap="square" rtlCol="0" anchor="ctr"/>
          <a:lstStyle/>
          <a:p>
            <a:pPr marL="0" indent="0">
              <a:buNone/>
            </a:pPr>
            <a:r>
              <a:rPr lang="en-US" sz="1500" b="1" dirty="0">
                <a:solidFill>
                  <a:srgbClr val="C0392B"/>
                </a:solidFill>
                <a:latin typeface="Calibri" pitchFamily="34" charset="0"/>
                <a:ea typeface="Calibri" pitchFamily="34" charset="-122"/>
                <a:cs typeface="Calibri" pitchFamily="34" charset="-120"/>
              </a:rPr>
              <a:t>DVA — Debt Valuation Adjustment</a:t>
            </a:r>
            <a:endParaRPr lang="en-US" sz="1500" dirty="0"/>
          </a:p>
        </p:txBody>
      </p:sp>
      <p:sp>
        <p:nvSpPr>
          <p:cNvPr id="17" name="Text 15"/>
          <p:cNvSpPr/>
          <p:nvPr/>
        </p:nvSpPr>
        <p:spPr>
          <a:xfrm>
            <a:off x="6601968" y="2212848"/>
            <a:ext cx="5120640" cy="329184"/>
          </a:xfrm>
          <a:prstGeom prst="rect">
            <a:avLst/>
          </a:prstGeom>
          <a:noFill/>
          <a:ln/>
        </p:spPr>
        <p:txBody>
          <a:bodyPr wrap="square" rtlCol="0" anchor="ctr"/>
          <a:lstStyle/>
          <a:p>
            <a:pPr marL="0" indent="0">
              <a:buNone/>
            </a:pPr>
            <a:r>
              <a:rPr lang="en-US" sz="1300" b="1" dirty="0">
                <a:solidFill>
                  <a:srgbClr val="1A3A5C"/>
                </a:solidFill>
                <a:latin typeface="Calibri" pitchFamily="34" charset="0"/>
                <a:ea typeface="Calibri" pitchFamily="34" charset="-122"/>
                <a:cs typeface="Calibri" pitchFamily="34" charset="-120"/>
              </a:rPr>
              <a:t>You might default on your counterparty.</a:t>
            </a:r>
            <a:endParaRPr lang="en-US" sz="1300" dirty="0"/>
          </a:p>
        </p:txBody>
      </p:sp>
      <p:sp>
        <p:nvSpPr>
          <p:cNvPr id="18" name="Text 16"/>
          <p:cNvSpPr/>
          <p:nvPr/>
        </p:nvSpPr>
        <p:spPr>
          <a:xfrm>
            <a:off x="6601968" y="2615184"/>
            <a:ext cx="5120640" cy="402336"/>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DVA is the reduction in the fair value of your own liabilities — reflecting that you may not pay in full if you default.</a:t>
            </a:r>
            <a:endParaRPr lang="en-US" sz="1200" dirty="0"/>
          </a:p>
        </p:txBody>
      </p:sp>
      <p:sp>
        <p:nvSpPr>
          <p:cNvPr id="19" name="Text 17"/>
          <p:cNvSpPr/>
          <p:nvPr/>
        </p:nvSpPr>
        <p:spPr>
          <a:xfrm>
            <a:off x="6601968" y="3072384"/>
            <a:ext cx="5120640" cy="402336"/>
          </a:xfrm>
          <a:prstGeom prst="rect">
            <a:avLst/>
          </a:prstGeom>
          <a:noFill/>
          <a:ln/>
        </p:spPr>
        <p:txBody>
          <a:bodyPr wrap="square" rtlCol="0" anchor="ctr"/>
          <a:lstStyle/>
          <a:p>
            <a:pPr marL="0" indent="0">
              <a:buNone/>
            </a:pPr>
            <a:r>
              <a:rPr lang="en-US" sz="1200" dirty="0">
                <a:solidFill>
                  <a:srgbClr val="1A3A5C"/>
                </a:solidFill>
                <a:latin typeface="Calibri" pitchFamily="34" charset="0"/>
                <a:ea typeface="Calibri" pitchFamily="34" charset="-122"/>
                <a:cs typeface="Calibri" pitchFamily="34" charset="-120"/>
              </a:rPr>
              <a:t>→  Added back to the fair value of your derivative liabilities.</a:t>
            </a:r>
            <a:endParaRPr lang="en-US" sz="1200" dirty="0"/>
          </a:p>
        </p:txBody>
      </p:sp>
      <p:sp>
        <p:nvSpPr>
          <p:cNvPr id="20" name="Text 18"/>
          <p:cNvSpPr/>
          <p:nvPr/>
        </p:nvSpPr>
        <p:spPr>
          <a:xfrm>
            <a:off x="6601968" y="3529584"/>
            <a:ext cx="5120640" cy="402336"/>
          </a:xfrm>
          <a:prstGeom prst="rect">
            <a:avLst/>
          </a:prstGeom>
          <a:noFill/>
          <a:ln/>
        </p:spPr>
        <p:txBody>
          <a:bodyPr wrap="square" rtlCol="0" anchor="ctr"/>
          <a:lstStyle/>
          <a:p>
            <a:pPr marL="0" indent="0">
              <a:buNone/>
            </a:pPr>
            <a:r>
              <a:rPr lang="en-US" sz="1200" dirty="0">
                <a:solidFill>
                  <a:srgbClr val="1A3A5C"/>
                </a:solidFill>
                <a:latin typeface="Calibri" pitchFamily="34" charset="0"/>
                <a:ea typeface="Calibri" pitchFamily="34" charset="-122"/>
                <a:cs typeface="Calibri" pitchFamily="34" charset="-120"/>
              </a:rPr>
              <a:t>→  Rises (a gain) when your own credit spreads widen. The darker implication: the worse your credit gets, the more profit you book.</a:t>
            </a:r>
            <a:endParaRPr lang="en-US" sz="1200" dirty="0"/>
          </a:p>
        </p:txBody>
      </p:sp>
      <p:sp>
        <p:nvSpPr>
          <p:cNvPr id="21" name="Text 19"/>
          <p:cNvSpPr/>
          <p:nvPr/>
        </p:nvSpPr>
        <p:spPr>
          <a:xfrm>
            <a:off x="6601968" y="3986784"/>
            <a:ext cx="5120640" cy="402336"/>
          </a:xfrm>
          <a:prstGeom prst="rect">
            <a:avLst/>
          </a:prstGeom>
          <a:noFill/>
          <a:ln/>
        </p:spPr>
        <p:txBody>
          <a:bodyPr wrap="square" rtlCol="0" anchor="ctr"/>
          <a:lstStyle/>
          <a:p>
            <a:pPr marL="0" indent="0">
              <a:buNone/>
            </a:pPr>
            <a:r>
              <a:rPr lang="en-US" sz="1200" dirty="0">
                <a:solidFill>
                  <a:srgbClr val="1A3A5C"/>
                </a:solidFill>
                <a:latin typeface="Calibri" pitchFamily="34" charset="0"/>
                <a:ea typeface="Calibri" pitchFamily="34" charset="-122"/>
                <a:cs typeface="Calibri" pitchFamily="34" charset="-120"/>
              </a:rPr>
              <a:t>→  Cannot realistically be hedged — buying CDS on yourself signals distress.</a:t>
            </a:r>
            <a:endParaRPr lang="en-US" sz="1200" dirty="0"/>
          </a:p>
        </p:txBody>
      </p:sp>
      <p:sp>
        <p:nvSpPr>
          <p:cNvPr id="22" name="Text 20"/>
          <p:cNvSpPr/>
          <p:nvPr/>
        </p:nvSpPr>
        <p:spPr>
          <a:xfrm>
            <a:off x="6601968" y="4443984"/>
            <a:ext cx="5120640" cy="402336"/>
          </a:xfrm>
          <a:prstGeom prst="rect">
            <a:avLst/>
          </a:prstGeom>
          <a:noFill/>
          <a:ln/>
        </p:spPr>
        <p:txBody>
          <a:bodyPr wrap="square" rtlCol="0" anchor="ctr"/>
          <a:lstStyle/>
          <a:p>
            <a:pPr marL="0" indent="0">
              <a:buNone/>
            </a:pPr>
            <a:r>
              <a:rPr lang="en-US" sz="1200" dirty="0">
                <a:solidFill>
                  <a:srgbClr val="1A3A5C"/>
                </a:solidFill>
                <a:latin typeface="Calibri" pitchFamily="34" charset="0"/>
                <a:ea typeface="Calibri" pitchFamily="34" charset="-122"/>
                <a:cs typeface="Calibri" pitchFamily="34" charset="-120"/>
              </a:rPr>
              <a:t>→  Stripped from regulatory capital under Basel III CET1 deductions.</a:t>
            </a:r>
            <a:endParaRPr lang="en-US" sz="1200" dirty="0"/>
          </a:p>
        </p:txBody>
      </p:sp>
      <p:sp>
        <p:nvSpPr>
          <p:cNvPr id="23" name="Shape 21"/>
          <p:cNvSpPr/>
          <p:nvPr/>
        </p:nvSpPr>
        <p:spPr>
          <a:xfrm>
            <a:off x="0" y="6172200"/>
            <a:ext cx="12161520" cy="685800"/>
          </a:xfrm>
          <a:prstGeom prst="rect">
            <a:avLst/>
          </a:prstGeom>
          <a:solidFill>
            <a:srgbClr val="1A3A5C"/>
          </a:solidFill>
          <a:ln w="12700">
            <a:solidFill>
              <a:srgbClr val="1A3A5C"/>
            </a:solidFill>
            <a:prstDash val="solid"/>
          </a:ln>
        </p:spPr>
      </p:sp>
      <p:sp>
        <p:nvSpPr>
          <p:cNvPr id="24" name="Text 22"/>
          <p:cNvSpPr/>
          <p:nvPr/>
        </p:nvSpPr>
        <p:spPr>
          <a:xfrm>
            <a:off x="365760" y="6172200"/>
            <a:ext cx="11430000" cy="6858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BCVA = CVA − DVA   |   </a:t>
            </a:r>
            <a:r>
              <a:rPr lang="en-US" sz="1300" dirty="0">
                <a:solidFill>
                  <a:srgbClr val="BBDDEE"/>
                </a:solidFill>
                <a:latin typeface="Calibri" pitchFamily="34" charset="0"/>
                <a:ea typeface="Calibri" pitchFamily="34" charset="-122"/>
                <a:cs typeface="Calibri" pitchFamily="34" charset="-120"/>
              </a:rPr>
              <a:t>When BCVA &gt; 0, bank charges a net credit premium. IFRS 13 requires both. Basel III strips DVA from CET1.</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C0392B"/>
          </a:solidFill>
          <a:ln w="12700">
            <a:solidFill>
              <a:srgbClr val="C0392B"/>
            </a:solidFill>
            <a:prstDash val="solid"/>
          </a:ln>
        </p:spPr>
      </p:sp>
      <p:sp>
        <p:nvSpPr>
          <p:cNvPr id="3" name="Text 1"/>
          <p:cNvSpPr/>
          <p:nvPr/>
        </p:nvSpPr>
        <p:spPr>
          <a:xfrm>
            <a:off x="320040" y="0"/>
            <a:ext cx="11521440" cy="65836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Section 4  |  The DVA Monetisation Problem</a:t>
            </a:r>
            <a:endParaRPr lang="en-US" sz="1300" dirty="0"/>
          </a:p>
        </p:txBody>
      </p:sp>
      <p:sp>
        <p:nvSpPr>
          <p:cNvPr id="4" name="Text 2"/>
          <p:cNvSpPr/>
          <p:nvPr/>
        </p:nvSpPr>
        <p:spPr>
          <a:xfrm>
            <a:off x="365760" y="804672"/>
            <a:ext cx="11430000" cy="658368"/>
          </a:xfrm>
          <a:prstGeom prst="rect">
            <a:avLst/>
          </a:prstGeom>
          <a:noFill/>
          <a:ln/>
        </p:spPr>
        <p:txBody>
          <a:bodyPr wrap="square" rtlCol="0" anchor="ctr"/>
          <a:lstStyle/>
          <a:p>
            <a:pPr marL="0" indent="0">
              <a:buNone/>
            </a:pPr>
            <a:r>
              <a:rPr lang="en-US" sz="2800" b="1" dirty="0">
                <a:solidFill>
                  <a:srgbClr val="1A3A5C"/>
                </a:solidFill>
                <a:latin typeface="Georgia" pitchFamily="34" charset="0"/>
                <a:ea typeface="Georgia" pitchFamily="34" charset="-122"/>
                <a:cs typeface="Georgia" pitchFamily="34" charset="-120"/>
              </a:rPr>
              <a:t>DVA: Profit from Your Own Distress</a:t>
            </a:r>
            <a:endParaRPr lang="en-US" sz="2800" dirty="0"/>
          </a:p>
        </p:txBody>
      </p:sp>
      <p:sp>
        <p:nvSpPr>
          <p:cNvPr id="5" name="Shape 3"/>
          <p:cNvSpPr/>
          <p:nvPr/>
        </p:nvSpPr>
        <p:spPr>
          <a:xfrm>
            <a:off x="320040" y="1600200"/>
            <a:ext cx="11521440" cy="1417320"/>
          </a:xfrm>
          <a:prstGeom prst="rect">
            <a:avLst/>
          </a:prstGeom>
          <a:solidFill>
            <a:srgbClr val="FDECEA"/>
          </a:solidFill>
          <a:ln w="25400">
            <a:solidFill>
              <a:srgbClr val="C0392B"/>
            </a:solidFill>
            <a:prstDash val="solid"/>
          </a:ln>
          <a:effectLst>
            <a:outerShdw blurRad="88900" dist="38100" dir="8100000" algn="bl" rotWithShape="0">
              <a:srgbClr val="000000">
                <a:alpha val="13000"/>
              </a:srgbClr>
            </a:outerShdw>
          </a:effectLst>
        </p:spPr>
      </p:sp>
      <p:sp>
        <p:nvSpPr>
          <p:cNvPr id="6" name="Text 4"/>
          <p:cNvSpPr/>
          <p:nvPr/>
        </p:nvSpPr>
        <p:spPr>
          <a:xfrm>
            <a:off x="502920" y="1691640"/>
            <a:ext cx="11155680" cy="402336"/>
          </a:xfrm>
          <a:prstGeom prst="rect">
            <a:avLst/>
          </a:prstGeom>
          <a:noFill/>
          <a:ln/>
        </p:spPr>
        <p:txBody>
          <a:bodyPr wrap="square" rtlCol="0" anchor="ctr"/>
          <a:lstStyle/>
          <a:p>
            <a:pPr marL="0" indent="0">
              <a:buNone/>
            </a:pPr>
            <a:r>
              <a:rPr lang="en-US" sz="1400" b="1" dirty="0">
                <a:solidFill>
                  <a:srgbClr val="C0392B"/>
                </a:solidFill>
                <a:latin typeface="Calibri" pitchFamily="34" charset="0"/>
                <a:ea typeface="Calibri" pitchFamily="34" charset="-122"/>
                <a:cs typeface="Calibri" pitchFamily="34" charset="-120"/>
              </a:rPr>
              <a:t>⚠  The Uncomfortable Arithmetic</a:t>
            </a:r>
            <a:endParaRPr lang="en-US" sz="1400" dirty="0"/>
          </a:p>
        </p:txBody>
      </p:sp>
      <p:sp>
        <p:nvSpPr>
          <p:cNvPr id="7" name="Text 5"/>
          <p:cNvSpPr/>
          <p:nvPr/>
        </p:nvSpPr>
        <p:spPr>
          <a:xfrm>
            <a:off x="502920" y="2121408"/>
            <a:ext cx="11155680" cy="749808"/>
          </a:xfrm>
          <a:prstGeom prst="rect">
            <a:avLst/>
          </a:prstGeom>
          <a:noFill/>
          <a:ln/>
        </p:spPr>
        <p:txBody>
          <a:bodyPr wrap="square" rtlCol="0" anchor="ctr"/>
          <a:lstStyle/>
          <a:p>
            <a:pPr marL="0" indent="0">
              <a:buNone/>
            </a:pPr>
            <a:r>
              <a:rPr lang="en-US" sz="1250" dirty="0">
                <a:solidFill>
                  <a:srgbClr val="222222"/>
                </a:solidFill>
                <a:latin typeface="Calibri" pitchFamily="34" charset="0"/>
                <a:ea typeface="Calibri" pitchFamily="34" charset="-122"/>
                <a:cs typeface="Calibri" pitchFamily="34" charset="-120"/>
              </a:rPr>
              <a:t>As a bank's own credit quality deteriorates and its CDS spread widens, the probability that it defaults on its own obligations rises. DVA logic says: your liabilities are now worth less (you might not pay them). Under IFRS 13, this reduction in liability value is a gain — booked through P&amp;L. The bank is simultaneously in worse financial health and reporting higher accounting profit.</a:t>
            </a:r>
            <a:endParaRPr lang="en-US" sz="1250" dirty="0"/>
          </a:p>
        </p:txBody>
      </p:sp>
      <p:sp>
        <p:nvSpPr>
          <p:cNvPr id="8" name="Shape 6"/>
          <p:cNvSpPr/>
          <p:nvPr/>
        </p:nvSpPr>
        <p:spPr>
          <a:xfrm>
            <a:off x="320040" y="3182112"/>
            <a:ext cx="5486400" cy="2606040"/>
          </a:xfrm>
          <a:prstGeom prst="rect">
            <a:avLst/>
          </a:prstGeom>
          <a:solidFill>
            <a:srgbClr val="FFFFFF"/>
          </a:solidFill>
          <a:ln w="25400">
            <a:solidFill>
              <a:srgbClr val="C0392B"/>
            </a:solidFill>
            <a:prstDash val="solid"/>
          </a:ln>
          <a:effectLst>
            <a:outerShdw blurRad="88900" dist="38100" dir="8100000" algn="bl" rotWithShape="0">
              <a:srgbClr val="000000">
                <a:alpha val="13000"/>
              </a:srgbClr>
            </a:outerShdw>
          </a:effectLst>
        </p:spPr>
      </p:sp>
      <p:sp>
        <p:nvSpPr>
          <p:cNvPr id="9" name="Shape 7"/>
          <p:cNvSpPr/>
          <p:nvPr/>
        </p:nvSpPr>
        <p:spPr>
          <a:xfrm>
            <a:off x="384048" y="3246120"/>
            <a:ext cx="1737360" cy="347472"/>
          </a:xfrm>
          <a:prstGeom prst="rect">
            <a:avLst/>
          </a:prstGeom>
          <a:solidFill>
            <a:srgbClr val="C0392B"/>
          </a:solidFill>
          <a:ln w="12700">
            <a:solidFill>
              <a:srgbClr val="C0392B"/>
            </a:solidFill>
            <a:prstDash val="solid"/>
          </a:ln>
        </p:spPr>
      </p:sp>
      <p:sp>
        <p:nvSpPr>
          <p:cNvPr id="10" name="Text 8"/>
          <p:cNvSpPr/>
          <p:nvPr/>
        </p:nvSpPr>
        <p:spPr>
          <a:xfrm>
            <a:off x="384048" y="3246120"/>
            <a:ext cx="173736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Case Study: Morgan Stanley Q3 2011</a:t>
            </a:r>
            <a:endParaRPr lang="en-US" sz="1000" dirty="0"/>
          </a:p>
        </p:txBody>
      </p:sp>
      <p:sp>
        <p:nvSpPr>
          <p:cNvPr id="11" name="Text 9"/>
          <p:cNvSpPr/>
          <p:nvPr/>
        </p:nvSpPr>
        <p:spPr>
          <a:xfrm>
            <a:off x="475488" y="3685032"/>
            <a:ext cx="5212080" cy="475488"/>
          </a:xfrm>
          <a:prstGeom prst="rect">
            <a:avLst/>
          </a:prstGeom>
          <a:noFill/>
          <a:ln/>
        </p:spPr>
        <p:txBody>
          <a:bodyPr wrap="square" rtlCol="0" anchor="ctr"/>
          <a:lstStyle/>
          <a:p>
            <a:pPr marL="0" indent="0">
              <a:buNone/>
            </a:pPr>
            <a:r>
              <a:rPr lang="en-US" sz="1800" b="1" dirty="0">
                <a:solidFill>
                  <a:srgbClr val="C0392B"/>
                </a:solidFill>
                <a:latin typeface="Georgia" pitchFamily="34" charset="0"/>
                <a:ea typeface="Georgia" pitchFamily="34" charset="-122"/>
                <a:cs typeface="Georgia" pitchFamily="34" charset="-120"/>
              </a:rPr>
              <a:t>DVA Gain: ~$3.4 Billion</a:t>
            </a:r>
            <a:endParaRPr lang="en-US" sz="1800" dirty="0"/>
          </a:p>
        </p:txBody>
      </p:sp>
      <p:sp>
        <p:nvSpPr>
          <p:cNvPr id="12" name="Text 10"/>
          <p:cNvSpPr/>
          <p:nvPr/>
        </p:nvSpPr>
        <p:spPr>
          <a:xfrm>
            <a:off x="475488" y="4224528"/>
            <a:ext cx="5212080" cy="1417320"/>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During Q3 2011, Morgan Stanley's own CDS spreads widened sharply amid fears about European sovereign contagion reaching US banks. Under DVA accounting, the widening spreads reduced the fair value of its derivatives liabilities — producing a $3.4 billion gain.</a:t>
            </a:r>
            <a:endParaRPr lang="en-US" sz="1150" dirty="0"/>
          </a:p>
          <a:p>
            <a:pPr marL="0" indent="0">
              <a:buNone/>
            </a:pPr>
            <a:endParaRPr lang="en-US" sz="1150" dirty="0"/>
          </a:p>
          <a:p>
            <a:pPr marL="0" indent="0">
              <a:buNone/>
            </a:pPr>
            <a:r>
              <a:rPr lang="en-US" sz="1150" dirty="0">
                <a:solidFill>
                  <a:srgbClr val="333333"/>
                </a:solidFill>
                <a:latin typeface="Calibri" pitchFamily="34" charset="0"/>
                <a:ea typeface="Calibri" pitchFamily="34" charset="-122"/>
                <a:cs typeface="Calibri" pitchFamily="34" charset="-120"/>
              </a:rPr>
              <a:t>In the same quarter, the firm was under significant market stress and its stock fell sharply. The paradox was stark: the worse the firm's perceived health, the larger the accounting profit.</a:t>
            </a:r>
            <a:endParaRPr lang="en-US" sz="1150" dirty="0"/>
          </a:p>
        </p:txBody>
      </p:sp>
      <p:sp>
        <p:nvSpPr>
          <p:cNvPr id="13" name="Shape 11"/>
          <p:cNvSpPr/>
          <p:nvPr/>
        </p:nvSpPr>
        <p:spPr>
          <a:xfrm>
            <a:off x="6080760" y="3182112"/>
            <a:ext cx="2743200" cy="2606040"/>
          </a:xfrm>
          <a:prstGeom prst="rect">
            <a:avLst/>
          </a:prstGeom>
          <a:solidFill>
            <a:srgbClr val="FDF3E3"/>
          </a:solidFill>
          <a:ln w="25400">
            <a:solidFill>
              <a:srgbClr val="C8922A"/>
            </a:solidFill>
            <a:prstDash val="solid"/>
          </a:ln>
          <a:effectLst>
            <a:outerShdw blurRad="88900" dist="38100" dir="8100000" algn="bl" rotWithShape="0">
              <a:srgbClr val="000000">
                <a:alpha val="13000"/>
              </a:srgbClr>
            </a:outerShdw>
          </a:effectLst>
        </p:spPr>
      </p:sp>
      <p:sp>
        <p:nvSpPr>
          <p:cNvPr id="14" name="Text 12"/>
          <p:cNvSpPr/>
          <p:nvPr/>
        </p:nvSpPr>
        <p:spPr>
          <a:xfrm>
            <a:off x="6236208" y="3291840"/>
            <a:ext cx="2432304" cy="475488"/>
          </a:xfrm>
          <a:prstGeom prst="rect">
            <a:avLst/>
          </a:prstGeom>
          <a:noFill/>
          <a:ln/>
        </p:spPr>
        <p:txBody>
          <a:bodyPr wrap="square" rtlCol="0" anchor="ctr"/>
          <a:lstStyle/>
          <a:p>
            <a:pPr marL="0" indent="0">
              <a:buNone/>
            </a:pPr>
            <a:r>
              <a:rPr lang="en-US" sz="1300" b="1" dirty="0">
                <a:solidFill>
                  <a:srgbClr val="1A3A5C"/>
                </a:solidFill>
                <a:latin typeface="Calibri" pitchFamily="34" charset="0"/>
                <a:ea typeface="Calibri" pitchFamily="34" charset="-122"/>
                <a:cs typeface="Calibri" pitchFamily="34" charset="-120"/>
              </a:rPr>
              <a:t>Can DVA be Monetised?</a:t>
            </a:r>
            <a:endParaRPr lang="en-US" sz="1300" dirty="0"/>
          </a:p>
        </p:txBody>
      </p:sp>
      <p:sp>
        <p:nvSpPr>
          <p:cNvPr id="15" name="Shape 13"/>
          <p:cNvSpPr/>
          <p:nvPr/>
        </p:nvSpPr>
        <p:spPr>
          <a:xfrm>
            <a:off x="6236208" y="3813048"/>
            <a:ext cx="2432304" cy="27432"/>
          </a:xfrm>
          <a:prstGeom prst="rect">
            <a:avLst/>
          </a:prstGeom>
          <a:solidFill>
            <a:srgbClr val="C8922A"/>
          </a:solidFill>
          <a:ln w="12700">
            <a:solidFill>
              <a:srgbClr val="C8922A"/>
            </a:solidFill>
            <a:prstDash val="solid"/>
          </a:ln>
        </p:spPr>
      </p:sp>
      <p:sp>
        <p:nvSpPr>
          <p:cNvPr id="16" name="Text 14"/>
          <p:cNvSpPr/>
          <p:nvPr/>
        </p:nvSpPr>
        <p:spPr>
          <a:xfrm>
            <a:off x="6236208" y="3886200"/>
            <a:ext cx="2432304" cy="1737360"/>
          </a:xfrm>
          <a:prstGeom prst="rect">
            <a:avLst/>
          </a:prstGeom>
          <a:noFill/>
          <a:ln/>
        </p:spPr>
        <p:txBody>
          <a:bodyPr wrap="square" rtlCol="0" anchor="t"/>
          <a:lstStyle/>
          <a:p>
            <a:pPr marL="0" indent="0">
              <a:buNone/>
            </a:pPr>
            <a:r>
              <a:rPr lang="en-US" sz="1150" dirty="0">
                <a:solidFill>
                  <a:srgbClr val="333333"/>
                </a:solidFill>
                <a:latin typeface="Calibri" pitchFamily="34" charset="0"/>
                <a:ea typeface="Calibri" pitchFamily="34" charset="-122"/>
                <a:cs typeface="Calibri" pitchFamily="34" charset="-120"/>
              </a:rPr>
              <a:t>In theory: repurchase your own liabilities at depressed fair value, crystallising the gain. In practice: operationally complex, market liquidity constrained, and regulators restrict or penalise it. The gain largely remains unrealised.</a:t>
            </a:r>
            <a:endParaRPr lang="en-US" sz="1150" dirty="0"/>
          </a:p>
        </p:txBody>
      </p:sp>
      <p:sp>
        <p:nvSpPr>
          <p:cNvPr id="17" name="Shape 15"/>
          <p:cNvSpPr/>
          <p:nvPr/>
        </p:nvSpPr>
        <p:spPr>
          <a:xfrm>
            <a:off x="9006840" y="3182112"/>
            <a:ext cx="2743200" cy="2606040"/>
          </a:xfrm>
          <a:prstGeom prst="rect">
            <a:avLst/>
          </a:prstGeom>
          <a:solidFill>
            <a:srgbClr val="FDECEA"/>
          </a:solidFill>
          <a:ln w="25400">
            <a:solidFill>
              <a:srgbClr val="C0392B"/>
            </a:solidFill>
            <a:prstDash val="solid"/>
          </a:ln>
          <a:effectLst>
            <a:outerShdw blurRad="88900" dist="38100" dir="8100000" algn="bl" rotWithShape="0">
              <a:srgbClr val="000000">
                <a:alpha val="13000"/>
              </a:srgbClr>
            </a:outerShdw>
          </a:effectLst>
        </p:spPr>
      </p:sp>
      <p:sp>
        <p:nvSpPr>
          <p:cNvPr id="18" name="Text 16"/>
          <p:cNvSpPr/>
          <p:nvPr/>
        </p:nvSpPr>
        <p:spPr>
          <a:xfrm>
            <a:off x="9162288" y="3291840"/>
            <a:ext cx="2432304" cy="475488"/>
          </a:xfrm>
          <a:prstGeom prst="rect">
            <a:avLst/>
          </a:prstGeom>
          <a:noFill/>
          <a:ln/>
        </p:spPr>
        <p:txBody>
          <a:bodyPr wrap="square" rtlCol="0" anchor="ctr"/>
          <a:lstStyle/>
          <a:p>
            <a:pPr marL="0" indent="0">
              <a:buNone/>
            </a:pPr>
            <a:r>
              <a:rPr lang="en-US" sz="1300" b="1" dirty="0">
                <a:solidFill>
                  <a:srgbClr val="1A3A5C"/>
                </a:solidFill>
                <a:latin typeface="Calibri" pitchFamily="34" charset="0"/>
                <a:ea typeface="Calibri" pitchFamily="34" charset="-122"/>
                <a:cs typeface="Calibri" pitchFamily="34" charset="-120"/>
              </a:rPr>
              <a:t>The Hedging Problem</a:t>
            </a:r>
            <a:endParaRPr lang="en-US" sz="1300" dirty="0"/>
          </a:p>
        </p:txBody>
      </p:sp>
      <p:sp>
        <p:nvSpPr>
          <p:cNvPr id="19" name="Shape 17"/>
          <p:cNvSpPr/>
          <p:nvPr/>
        </p:nvSpPr>
        <p:spPr>
          <a:xfrm>
            <a:off x="9162288" y="3813048"/>
            <a:ext cx="2432304" cy="27432"/>
          </a:xfrm>
          <a:prstGeom prst="rect">
            <a:avLst/>
          </a:prstGeom>
          <a:solidFill>
            <a:srgbClr val="C0392B"/>
          </a:solidFill>
          <a:ln w="12700">
            <a:solidFill>
              <a:srgbClr val="C0392B"/>
            </a:solidFill>
            <a:prstDash val="solid"/>
          </a:ln>
        </p:spPr>
      </p:sp>
      <p:sp>
        <p:nvSpPr>
          <p:cNvPr id="20" name="Text 18"/>
          <p:cNvSpPr/>
          <p:nvPr/>
        </p:nvSpPr>
        <p:spPr>
          <a:xfrm>
            <a:off x="9162288" y="3886200"/>
            <a:ext cx="2432304" cy="1737360"/>
          </a:xfrm>
          <a:prstGeom prst="rect">
            <a:avLst/>
          </a:prstGeom>
          <a:noFill/>
          <a:ln/>
        </p:spPr>
        <p:txBody>
          <a:bodyPr wrap="square" rtlCol="0" anchor="t"/>
          <a:lstStyle/>
          <a:p>
            <a:pPr marL="0" indent="0">
              <a:buNone/>
            </a:pPr>
            <a:r>
              <a:rPr lang="en-US" sz="1150" dirty="0">
                <a:solidFill>
                  <a:srgbClr val="333333"/>
                </a:solidFill>
                <a:latin typeface="Calibri" pitchFamily="34" charset="0"/>
                <a:ea typeface="Calibri" pitchFamily="34" charset="-122"/>
                <a:cs typeface="Calibri" pitchFamily="34" charset="-120"/>
              </a:rPr>
              <a:t>To hedge DVA risk you need to buy protection on your own name. The CDS market on most banks is illiquid. Buying such protection publicly signals distress to the market — potentially becoming a self-fulfilling crisis.</a:t>
            </a:r>
            <a:endParaRPr lang="en-US" sz="1150" dirty="0"/>
          </a:p>
        </p:txBody>
      </p:sp>
      <p:sp>
        <p:nvSpPr>
          <p:cNvPr id="21" name="Shape 19"/>
          <p:cNvSpPr/>
          <p:nvPr/>
        </p:nvSpPr>
        <p:spPr>
          <a:xfrm>
            <a:off x="0" y="6309360"/>
            <a:ext cx="12161520" cy="548640"/>
          </a:xfrm>
          <a:prstGeom prst="rect">
            <a:avLst/>
          </a:prstGeom>
          <a:solidFill>
            <a:srgbClr val="C0392B"/>
          </a:solidFill>
          <a:ln w="12700">
            <a:solidFill>
              <a:srgbClr val="C0392B"/>
            </a:solidFill>
            <a:prstDash val="solid"/>
          </a:ln>
        </p:spPr>
      </p:sp>
      <p:sp>
        <p:nvSpPr>
          <p:cNvPr id="22" name="Text 20"/>
          <p:cNvSpPr/>
          <p:nvPr/>
        </p:nvSpPr>
        <p:spPr>
          <a:xfrm>
            <a:off x="365760" y="6309360"/>
            <a:ext cx="11430000" cy="5486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Regulatory resolution: CRR Art. 33(1)(c) deducts DVA gains from CET1 — neutralising DVA in the capital stack even when it appears in accounting equity.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0D7377"/>
          </a:solidFill>
          <a:ln w="12700">
            <a:solidFill>
              <a:srgbClr val="0D7377"/>
            </a:solidFill>
            <a:prstDash val="solid"/>
          </a:ln>
        </p:spPr>
      </p:sp>
      <p:sp>
        <p:nvSpPr>
          <p:cNvPr id="3" name="Text 1"/>
          <p:cNvSpPr/>
          <p:nvPr/>
        </p:nvSpPr>
        <p:spPr>
          <a:xfrm>
            <a:off x="320040" y="0"/>
            <a:ext cx="11521440" cy="65836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Section 7  |  Regulatory CVA Framework</a:t>
            </a:r>
            <a:endParaRPr lang="en-US" sz="1300" dirty="0"/>
          </a:p>
        </p:txBody>
      </p:sp>
      <p:sp>
        <p:nvSpPr>
          <p:cNvPr id="4" name="Text 2"/>
          <p:cNvSpPr/>
          <p:nvPr/>
        </p:nvSpPr>
        <p:spPr>
          <a:xfrm>
            <a:off x="365760" y="804672"/>
            <a:ext cx="11430000" cy="658368"/>
          </a:xfrm>
          <a:prstGeom prst="rect">
            <a:avLst/>
          </a:prstGeom>
          <a:noFill/>
          <a:ln/>
        </p:spPr>
        <p:txBody>
          <a:bodyPr wrap="square" rtlCol="0" anchor="ctr"/>
          <a:lstStyle/>
          <a:p>
            <a:pPr marL="0" indent="0">
              <a:buNone/>
            </a:pPr>
            <a:r>
              <a:rPr lang="en-US" sz="2800" b="1" dirty="0">
                <a:solidFill>
                  <a:srgbClr val="1A3A5C"/>
                </a:solidFill>
                <a:latin typeface="Georgia" pitchFamily="34" charset="0"/>
                <a:ea typeface="Georgia" pitchFamily="34" charset="-122"/>
                <a:cs typeface="Georgia" pitchFamily="34" charset="-120"/>
              </a:rPr>
              <a:t>SA-CVA, BA-CVA and FRTB-CVA</a:t>
            </a:r>
            <a:endParaRPr lang="en-US" sz="2800" dirty="0"/>
          </a:p>
        </p:txBody>
      </p:sp>
      <p:sp>
        <p:nvSpPr>
          <p:cNvPr id="5" name="Shape 3"/>
          <p:cNvSpPr/>
          <p:nvPr/>
        </p:nvSpPr>
        <p:spPr>
          <a:xfrm>
            <a:off x="320040" y="1600200"/>
            <a:ext cx="2560320" cy="1371600"/>
          </a:xfrm>
          <a:prstGeom prst="rect">
            <a:avLst/>
          </a:prstGeom>
          <a:solidFill>
            <a:srgbClr val="1A3A5C"/>
          </a:solidFill>
          <a:ln w="12700">
            <a:solidFill>
              <a:srgbClr val="1A3A5C"/>
            </a:solidFill>
            <a:prstDash val="solid"/>
          </a:ln>
          <a:effectLst>
            <a:outerShdw blurRad="88900" dist="38100" dir="8100000" algn="bl" rotWithShape="0">
              <a:srgbClr val="000000">
                <a:alpha val="13000"/>
              </a:srgbClr>
            </a:outerShdw>
          </a:effectLst>
        </p:spPr>
      </p:sp>
      <p:sp>
        <p:nvSpPr>
          <p:cNvPr id="6" name="Text 4"/>
          <p:cNvSpPr/>
          <p:nvPr/>
        </p:nvSpPr>
        <p:spPr>
          <a:xfrm>
            <a:off x="320040" y="1709928"/>
            <a:ext cx="2560320" cy="73152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~⅔</a:t>
            </a:r>
            <a:endParaRPr lang="en-US" sz="3400" dirty="0"/>
          </a:p>
        </p:txBody>
      </p:sp>
      <p:sp>
        <p:nvSpPr>
          <p:cNvPr id="7" name="Text 5"/>
          <p:cNvSpPr/>
          <p:nvPr/>
        </p:nvSpPr>
        <p:spPr>
          <a:xfrm>
            <a:off x="411480" y="2468880"/>
            <a:ext cx="2377440" cy="41148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of CCR losses in 2008–09</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were CVA mark-to-market</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not outright default</a:t>
            </a:r>
            <a:endParaRPr lang="en-US" sz="1100" dirty="0"/>
          </a:p>
        </p:txBody>
      </p:sp>
      <p:sp>
        <p:nvSpPr>
          <p:cNvPr id="8" name="Text 6"/>
          <p:cNvSpPr/>
          <p:nvPr/>
        </p:nvSpPr>
        <p:spPr>
          <a:xfrm>
            <a:off x="3063240" y="1600200"/>
            <a:ext cx="8823960" cy="1371600"/>
          </a:xfrm>
          <a:prstGeom prst="rect">
            <a:avLst/>
          </a:prstGeom>
          <a:noFill/>
          <a:ln/>
        </p:spPr>
        <p:txBody>
          <a:bodyPr wrap="square" rtlCol="0" anchor="ctr"/>
          <a:lstStyle/>
          <a:p>
            <a:pPr marL="0" indent="0">
              <a:buNone/>
            </a:pPr>
            <a:r>
              <a:rPr lang="en-US" sz="1250" dirty="0">
                <a:solidFill>
                  <a:srgbClr val="333333"/>
                </a:solidFill>
                <a:latin typeface="Calibri" pitchFamily="34" charset="0"/>
                <a:ea typeface="Calibri" pitchFamily="34" charset="-122"/>
                <a:cs typeface="Calibri" pitchFamily="34" charset="-120"/>
              </a:rPr>
              <a:t>This single finding — from the Basel Committee's post-crisis analysis — is why Basel III introduced an explicit CVA capital charge in 2013. Basel II had only captured the risk of actual default, completely missing the market risk of CVA volatility.</a:t>
            </a:r>
            <a:endParaRPr lang="en-US" sz="1250" dirty="0"/>
          </a:p>
        </p:txBody>
      </p:sp>
      <p:sp>
        <p:nvSpPr>
          <p:cNvPr id="9" name="Shape 7"/>
          <p:cNvSpPr/>
          <p:nvPr/>
        </p:nvSpPr>
        <p:spPr>
          <a:xfrm>
            <a:off x="320040" y="3154680"/>
            <a:ext cx="5687568" cy="2834640"/>
          </a:xfrm>
          <a:prstGeom prst="rect">
            <a:avLst/>
          </a:prstGeom>
          <a:solidFill>
            <a:srgbClr val="FDF3E3"/>
          </a:solidFill>
          <a:ln w="25400">
            <a:solidFill>
              <a:srgbClr val="C8922A"/>
            </a:solidFill>
            <a:prstDash val="solid"/>
          </a:ln>
          <a:effectLst>
            <a:outerShdw blurRad="88900" dist="38100" dir="8100000" algn="bl" rotWithShape="0">
              <a:srgbClr val="000000">
                <a:alpha val="13000"/>
              </a:srgbClr>
            </a:outerShdw>
          </a:effectLst>
        </p:spPr>
      </p:sp>
      <p:sp>
        <p:nvSpPr>
          <p:cNvPr id="10" name="Text 8"/>
          <p:cNvSpPr/>
          <p:nvPr/>
        </p:nvSpPr>
        <p:spPr>
          <a:xfrm>
            <a:off x="475488" y="3246120"/>
            <a:ext cx="5394960" cy="420624"/>
          </a:xfrm>
          <a:prstGeom prst="rect">
            <a:avLst/>
          </a:prstGeom>
          <a:noFill/>
          <a:ln/>
        </p:spPr>
        <p:txBody>
          <a:bodyPr wrap="square" rtlCol="0" anchor="ctr"/>
          <a:lstStyle/>
          <a:p>
            <a:pPr marL="0" indent="0">
              <a:buNone/>
            </a:pPr>
            <a:r>
              <a:rPr lang="en-US" sz="1400" b="1" dirty="0">
                <a:solidFill>
                  <a:srgbClr val="1A3A5C"/>
                </a:solidFill>
                <a:latin typeface="Calibri" pitchFamily="34" charset="0"/>
                <a:ea typeface="Calibri" pitchFamily="34" charset="-122"/>
                <a:cs typeface="Calibri" pitchFamily="34" charset="-120"/>
              </a:rPr>
              <a:t>BA-CVA  —  Basic Approach</a:t>
            </a:r>
            <a:endParaRPr lang="en-US" sz="1400" dirty="0"/>
          </a:p>
        </p:txBody>
      </p:sp>
      <p:sp>
        <p:nvSpPr>
          <p:cNvPr id="11" name="Text 9"/>
          <p:cNvSpPr/>
          <p:nvPr/>
        </p:nvSpPr>
        <p:spPr>
          <a:xfrm>
            <a:off x="475488" y="3675888"/>
            <a:ext cx="5394960" cy="292608"/>
          </a:xfrm>
          <a:prstGeom prst="rect">
            <a:avLst/>
          </a:prstGeom>
          <a:noFill/>
          <a:ln/>
        </p:spPr>
        <p:txBody>
          <a:bodyPr wrap="square" rtlCol="0" anchor="ctr"/>
          <a:lstStyle/>
          <a:p>
            <a:pPr marL="0" indent="0">
              <a:buNone/>
            </a:pPr>
            <a:r>
              <a:rPr lang="en-US" sz="1100" i="1" dirty="0">
                <a:solidFill>
                  <a:srgbClr val="C8922A"/>
                </a:solidFill>
                <a:latin typeface="Calibri" pitchFamily="34" charset="0"/>
                <a:ea typeface="Calibri" pitchFamily="34" charset="-122"/>
                <a:cs typeface="Calibri" pitchFamily="34" charset="-120"/>
              </a:rPr>
              <a:t>Available to all banks</a:t>
            </a:r>
            <a:endParaRPr lang="en-US" sz="1100" dirty="0"/>
          </a:p>
        </p:txBody>
      </p:sp>
      <p:sp>
        <p:nvSpPr>
          <p:cNvPr id="12" name="Shape 10"/>
          <p:cNvSpPr/>
          <p:nvPr/>
        </p:nvSpPr>
        <p:spPr>
          <a:xfrm>
            <a:off x="475488" y="4041648"/>
            <a:ext cx="73152" cy="292608"/>
          </a:xfrm>
          <a:prstGeom prst="rect">
            <a:avLst/>
          </a:prstGeom>
          <a:solidFill>
            <a:srgbClr val="C8922A"/>
          </a:solidFill>
          <a:ln w="12700">
            <a:solidFill>
              <a:srgbClr val="C8922A"/>
            </a:solidFill>
            <a:prstDash val="solid"/>
          </a:ln>
        </p:spPr>
      </p:sp>
      <p:sp>
        <p:nvSpPr>
          <p:cNvPr id="13" name="Text 11"/>
          <p:cNvSpPr/>
          <p:nvPr/>
        </p:nvSpPr>
        <p:spPr>
          <a:xfrm>
            <a:off x="658368" y="4041648"/>
            <a:ext cx="5120640" cy="365760"/>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Formula-driven, risk-insensitive calculation</a:t>
            </a:r>
            <a:endParaRPr lang="en-US" sz="1150" dirty="0"/>
          </a:p>
        </p:txBody>
      </p:sp>
      <p:sp>
        <p:nvSpPr>
          <p:cNvPr id="14" name="Shape 12"/>
          <p:cNvSpPr/>
          <p:nvPr/>
        </p:nvSpPr>
        <p:spPr>
          <a:xfrm>
            <a:off x="475488" y="4462272"/>
            <a:ext cx="73152" cy="292608"/>
          </a:xfrm>
          <a:prstGeom prst="rect">
            <a:avLst/>
          </a:prstGeom>
          <a:solidFill>
            <a:srgbClr val="C8922A"/>
          </a:solidFill>
          <a:ln w="12700">
            <a:solidFill>
              <a:srgbClr val="C8922A"/>
            </a:solidFill>
            <a:prstDash val="solid"/>
          </a:ln>
        </p:spPr>
      </p:sp>
      <p:sp>
        <p:nvSpPr>
          <p:cNvPr id="15" name="Text 13"/>
          <p:cNvSpPr/>
          <p:nvPr/>
        </p:nvSpPr>
        <p:spPr>
          <a:xfrm>
            <a:off x="658368" y="4462272"/>
            <a:ext cx="5120640" cy="365760"/>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No hedge recognition — hedges do not reduce the charge</a:t>
            </a:r>
            <a:endParaRPr lang="en-US" sz="1150" dirty="0"/>
          </a:p>
        </p:txBody>
      </p:sp>
      <p:sp>
        <p:nvSpPr>
          <p:cNvPr id="16" name="Shape 14"/>
          <p:cNvSpPr/>
          <p:nvPr/>
        </p:nvSpPr>
        <p:spPr>
          <a:xfrm>
            <a:off x="475488" y="4882896"/>
            <a:ext cx="73152" cy="292608"/>
          </a:xfrm>
          <a:prstGeom prst="rect">
            <a:avLst/>
          </a:prstGeom>
          <a:solidFill>
            <a:srgbClr val="C8922A"/>
          </a:solidFill>
          <a:ln w="12700">
            <a:solidFill>
              <a:srgbClr val="C8922A"/>
            </a:solidFill>
            <a:prstDash val="solid"/>
          </a:ln>
        </p:spPr>
      </p:sp>
      <p:sp>
        <p:nvSpPr>
          <p:cNvPr id="17" name="Text 15"/>
          <p:cNvSpPr/>
          <p:nvPr/>
        </p:nvSpPr>
        <p:spPr>
          <a:xfrm>
            <a:off x="658368" y="4882896"/>
            <a:ext cx="5120640" cy="365760"/>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Conservative by design: produces higher capital to incentivise upgrade</a:t>
            </a:r>
            <a:endParaRPr lang="en-US" sz="1150" dirty="0"/>
          </a:p>
        </p:txBody>
      </p:sp>
      <p:sp>
        <p:nvSpPr>
          <p:cNvPr id="18" name="Shape 16"/>
          <p:cNvSpPr/>
          <p:nvPr/>
        </p:nvSpPr>
        <p:spPr>
          <a:xfrm>
            <a:off x="475488" y="5303520"/>
            <a:ext cx="73152" cy="292608"/>
          </a:xfrm>
          <a:prstGeom prst="rect">
            <a:avLst/>
          </a:prstGeom>
          <a:solidFill>
            <a:srgbClr val="C8922A"/>
          </a:solidFill>
          <a:ln w="12700">
            <a:solidFill>
              <a:srgbClr val="C8922A"/>
            </a:solidFill>
            <a:prstDash val="solid"/>
          </a:ln>
        </p:spPr>
      </p:sp>
      <p:sp>
        <p:nvSpPr>
          <p:cNvPr id="19" name="Text 17"/>
          <p:cNvSpPr/>
          <p:nvPr/>
        </p:nvSpPr>
        <p:spPr>
          <a:xfrm>
            <a:off x="658368" y="5303520"/>
            <a:ext cx="5120640" cy="365760"/>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Eligibility: banks not meeting SA-CVA criteria</a:t>
            </a:r>
            <a:endParaRPr lang="en-US" sz="1150" dirty="0"/>
          </a:p>
        </p:txBody>
      </p:sp>
      <p:sp>
        <p:nvSpPr>
          <p:cNvPr id="20" name="Shape 18"/>
          <p:cNvSpPr/>
          <p:nvPr/>
        </p:nvSpPr>
        <p:spPr>
          <a:xfrm>
            <a:off x="475488" y="5724144"/>
            <a:ext cx="73152" cy="292608"/>
          </a:xfrm>
          <a:prstGeom prst="rect">
            <a:avLst/>
          </a:prstGeom>
          <a:solidFill>
            <a:srgbClr val="C8922A"/>
          </a:solidFill>
          <a:ln w="12700">
            <a:solidFill>
              <a:srgbClr val="C8922A"/>
            </a:solidFill>
            <a:prstDash val="solid"/>
          </a:ln>
        </p:spPr>
      </p:sp>
      <p:sp>
        <p:nvSpPr>
          <p:cNvPr id="21" name="Text 19"/>
          <p:cNvSpPr/>
          <p:nvPr/>
        </p:nvSpPr>
        <p:spPr>
          <a:xfrm>
            <a:off x="658368" y="5724144"/>
            <a:ext cx="5120640" cy="365760"/>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No CVA desk or approved model required</a:t>
            </a:r>
            <a:endParaRPr lang="en-US" sz="1150" dirty="0"/>
          </a:p>
        </p:txBody>
      </p:sp>
      <p:sp>
        <p:nvSpPr>
          <p:cNvPr id="22" name="Shape 20"/>
          <p:cNvSpPr/>
          <p:nvPr/>
        </p:nvSpPr>
        <p:spPr>
          <a:xfrm>
            <a:off x="6281928" y="3154680"/>
            <a:ext cx="5687568" cy="2834640"/>
          </a:xfrm>
          <a:prstGeom prst="rect">
            <a:avLst/>
          </a:prstGeom>
          <a:solidFill>
            <a:srgbClr val="D6E8F5"/>
          </a:solidFill>
          <a:ln w="25400">
            <a:solidFill>
              <a:srgbClr val="0D7377"/>
            </a:solidFill>
            <a:prstDash val="solid"/>
          </a:ln>
          <a:effectLst>
            <a:outerShdw blurRad="88900" dist="38100" dir="8100000" algn="bl" rotWithShape="0">
              <a:srgbClr val="000000">
                <a:alpha val="13000"/>
              </a:srgbClr>
            </a:outerShdw>
          </a:effectLst>
        </p:spPr>
      </p:sp>
      <p:sp>
        <p:nvSpPr>
          <p:cNvPr id="23" name="Text 21"/>
          <p:cNvSpPr/>
          <p:nvPr/>
        </p:nvSpPr>
        <p:spPr>
          <a:xfrm>
            <a:off x="6437376" y="3246120"/>
            <a:ext cx="5394960" cy="420624"/>
          </a:xfrm>
          <a:prstGeom prst="rect">
            <a:avLst/>
          </a:prstGeom>
          <a:noFill/>
          <a:ln/>
        </p:spPr>
        <p:txBody>
          <a:bodyPr wrap="square" rtlCol="0" anchor="ctr"/>
          <a:lstStyle/>
          <a:p>
            <a:pPr marL="0" indent="0">
              <a:buNone/>
            </a:pPr>
            <a:r>
              <a:rPr lang="en-US" sz="1400" b="1" dirty="0">
                <a:solidFill>
                  <a:srgbClr val="1A3A5C"/>
                </a:solidFill>
                <a:latin typeface="Calibri" pitchFamily="34" charset="0"/>
                <a:ea typeface="Calibri" pitchFamily="34" charset="-122"/>
                <a:cs typeface="Calibri" pitchFamily="34" charset="-120"/>
              </a:rPr>
              <a:t>SA-CVA  —  Standardised Approach</a:t>
            </a:r>
            <a:endParaRPr lang="en-US" sz="1400" dirty="0"/>
          </a:p>
        </p:txBody>
      </p:sp>
      <p:sp>
        <p:nvSpPr>
          <p:cNvPr id="24" name="Text 22"/>
          <p:cNvSpPr/>
          <p:nvPr/>
        </p:nvSpPr>
        <p:spPr>
          <a:xfrm>
            <a:off x="6437376" y="3675888"/>
            <a:ext cx="5394960" cy="292608"/>
          </a:xfrm>
          <a:prstGeom prst="rect">
            <a:avLst/>
          </a:prstGeom>
          <a:noFill/>
          <a:ln/>
        </p:spPr>
        <p:txBody>
          <a:bodyPr wrap="square" rtlCol="0" anchor="ctr"/>
          <a:lstStyle/>
          <a:p>
            <a:pPr marL="0" indent="0">
              <a:buNone/>
            </a:pPr>
            <a:r>
              <a:rPr lang="en-US" sz="1100" i="1" dirty="0">
                <a:solidFill>
                  <a:srgbClr val="0D7377"/>
                </a:solidFill>
                <a:latin typeface="Calibri" pitchFamily="34" charset="0"/>
                <a:ea typeface="Calibri" pitchFamily="34" charset="-122"/>
                <a:cs typeface="Calibri" pitchFamily="34" charset="-120"/>
              </a:rPr>
              <a:t>Requires CVA desk + approved model</a:t>
            </a:r>
            <a:endParaRPr lang="en-US" sz="1100" dirty="0"/>
          </a:p>
        </p:txBody>
      </p:sp>
      <p:sp>
        <p:nvSpPr>
          <p:cNvPr id="25" name="Shape 23"/>
          <p:cNvSpPr/>
          <p:nvPr/>
        </p:nvSpPr>
        <p:spPr>
          <a:xfrm>
            <a:off x="6437376" y="4041648"/>
            <a:ext cx="73152" cy="292608"/>
          </a:xfrm>
          <a:prstGeom prst="rect">
            <a:avLst/>
          </a:prstGeom>
          <a:solidFill>
            <a:srgbClr val="0D7377"/>
          </a:solidFill>
          <a:ln w="12700">
            <a:solidFill>
              <a:srgbClr val="0D7377"/>
            </a:solidFill>
            <a:prstDash val="solid"/>
          </a:ln>
        </p:spPr>
      </p:sp>
      <p:sp>
        <p:nvSpPr>
          <p:cNvPr id="26" name="Text 24"/>
          <p:cNvSpPr/>
          <p:nvPr/>
        </p:nvSpPr>
        <p:spPr>
          <a:xfrm>
            <a:off x="6620256" y="4041648"/>
            <a:ext cx="5120640" cy="365760"/>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Sensitivities-based: delta + vega to credit spreads, rates, FX, equity, commodity</a:t>
            </a:r>
            <a:endParaRPr lang="en-US" sz="1150" dirty="0"/>
          </a:p>
        </p:txBody>
      </p:sp>
      <p:sp>
        <p:nvSpPr>
          <p:cNvPr id="27" name="Shape 25"/>
          <p:cNvSpPr/>
          <p:nvPr/>
        </p:nvSpPr>
        <p:spPr>
          <a:xfrm>
            <a:off x="6437376" y="4462272"/>
            <a:ext cx="73152" cy="292608"/>
          </a:xfrm>
          <a:prstGeom prst="rect">
            <a:avLst/>
          </a:prstGeom>
          <a:solidFill>
            <a:srgbClr val="0D7377"/>
          </a:solidFill>
          <a:ln w="12700">
            <a:solidFill>
              <a:srgbClr val="0D7377"/>
            </a:solidFill>
            <a:prstDash val="solid"/>
          </a:ln>
        </p:spPr>
      </p:sp>
      <p:sp>
        <p:nvSpPr>
          <p:cNvPr id="28" name="Text 26"/>
          <p:cNvSpPr/>
          <p:nvPr/>
        </p:nvSpPr>
        <p:spPr>
          <a:xfrm>
            <a:off x="6620256" y="4462272"/>
            <a:ext cx="5120640" cy="365760"/>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Eligible CVA hedges (CDS, swaptions) reduce the capital charge</a:t>
            </a:r>
            <a:endParaRPr lang="en-US" sz="1150" dirty="0"/>
          </a:p>
        </p:txBody>
      </p:sp>
      <p:sp>
        <p:nvSpPr>
          <p:cNvPr id="29" name="Shape 27"/>
          <p:cNvSpPr/>
          <p:nvPr/>
        </p:nvSpPr>
        <p:spPr>
          <a:xfrm>
            <a:off x="6437376" y="4882896"/>
            <a:ext cx="73152" cy="292608"/>
          </a:xfrm>
          <a:prstGeom prst="rect">
            <a:avLst/>
          </a:prstGeom>
          <a:solidFill>
            <a:srgbClr val="0D7377"/>
          </a:solidFill>
          <a:ln w="12700">
            <a:solidFill>
              <a:srgbClr val="0D7377"/>
            </a:solidFill>
            <a:prstDash val="solid"/>
          </a:ln>
        </p:spPr>
      </p:sp>
      <p:sp>
        <p:nvSpPr>
          <p:cNvPr id="30" name="Text 28"/>
          <p:cNvSpPr/>
          <p:nvPr/>
        </p:nvSpPr>
        <p:spPr>
          <a:xfrm>
            <a:off x="6620256" y="4882896"/>
            <a:ext cx="5120640" cy="365760"/>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Requires robust data infrastructure and daily CVA reporting</a:t>
            </a:r>
            <a:endParaRPr lang="en-US" sz="1150" dirty="0"/>
          </a:p>
        </p:txBody>
      </p:sp>
      <p:sp>
        <p:nvSpPr>
          <p:cNvPr id="31" name="Shape 29"/>
          <p:cNvSpPr/>
          <p:nvPr/>
        </p:nvSpPr>
        <p:spPr>
          <a:xfrm>
            <a:off x="6437376" y="5303520"/>
            <a:ext cx="73152" cy="292608"/>
          </a:xfrm>
          <a:prstGeom prst="rect">
            <a:avLst/>
          </a:prstGeom>
          <a:solidFill>
            <a:srgbClr val="0D7377"/>
          </a:solidFill>
          <a:ln w="12700">
            <a:solidFill>
              <a:srgbClr val="0D7377"/>
            </a:solidFill>
            <a:prstDash val="solid"/>
          </a:ln>
        </p:spPr>
      </p:sp>
      <p:sp>
        <p:nvSpPr>
          <p:cNvPr id="32" name="Text 30"/>
          <p:cNvSpPr/>
          <p:nvPr/>
        </p:nvSpPr>
        <p:spPr>
          <a:xfrm>
            <a:off x="6620256" y="5303520"/>
            <a:ext cx="5120640" cy="365760"/>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Lower capital than BA-CVA for well-hedged portfolios</a:t>
            </a:r>
            <a:endParaRPr lang="en-US" sz="1150" dirty="0"/>
          </a:p>
        </p:txBody>
      </p:sp>
      <p:sp>
        <p:nvSpPr>
          <p:cNvPr id="33" name="Shape 31"/>
          <p:cNvSpPr/>
          <p:nvPr/>
        </p:nvSpPr>
        <p:spPr>
          <a:xfrm>
            <a:off x="6437376" y="5724144"/>
            <a:ext cx="73152" cy="292608"/>
          </a:xfrm>
          <a:prstGeom prst="rect">
            <a:avLst/>
          </a:prstGeom>
          <a:solidFill>
            <a:srgbClr val="0D7377"/>
          </a:solidFill>
          <a:ln w="12700">
            <a:solidFill>
              <a:srgbClr val="0D7377"/>
            </a:solidFill>
            <a:prstDash val="solid"/>
          </a:ln>
        </p:spPr>
      </p:sp>
      <p:sp>
        <p:nvSpPr>
          <p:cNvPr id="34" name="Text 32"/>
          <p:cNvSpPr/>
          <p:nvPr/>
        </p:nvSpPr>
        <p:spPr>
          <a:xfrm>
            <a:off x="6620256" y="5724144"/>
            <a:ext cx="5120640" cy="365760"/>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Must demonstrate appropriate CVA governance to supervisor</a:t>
            </a:r>
            <a:endParaRPr lang="en-US" sz="1150" dirty="0"/>
          </a:p>
        </p:txBody>
      </p:sp>
      <p:sp>
        <p:nvSpPr>
          <p:cNvPr id="35" name="Shape 33"/>
          <p:cNvSpPr/>
          <p:nvPr/>
        </p:nvSpPr>
        <p:spPr>
          <a:xfrm>
            <a:off x="0" y="6309360"/>
            <a:ext cx="12161520" cy="548640"/>
          </a:xfrm>
          <a:prstGeom prst="rect">
            <a:avLst/>
          </a:prstGeom>
          <a:solidFill>
            <a:srgbClr val="0D7377"/>
          </a:solidFill>
          <a:ln w="12700">
            <a:solidFill>
              <a:srgbClr val="0D7377"/>
            </a:solidFill>
            <a:prstDash val="solid"/>
          </a:ln>
        </p:spPr>
      </p:sp>
      <p:sp>
        <p:nvSpPr>
          <p:cNvPr id="36" name="Text 34"/>
          <p:cNvSpPr/>
          <p:nvPr/>
        </p:nvSpPr>
        <p:spPr>
          <a:xfrm>
            <a:off x="365760" y="6309360"/>
            <a:ext cx="11430000" cy="5486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FRTB-CVA (2023–25): full alignment with FRTB market risk rules — IMA-CVA uses Expected Shortfall (not VaR), with backtesting and P&amp;L attribution requirements. Better hedge recognition across both approaches.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A5C"/>
          </a:solidFill>
          <a:ln w="12700">
            <a:solidFill>
              <a:srgbClr val="1A3A5C"/>
            </a:solidFill>
            <a:prstDash val="solid"/>
          </a:ln>
        </p:spPr>
      </p:sp>
      <p:sp>
        <p:nvSpPr>
          <p:cNvPr id="3" name="Text 1"/>
          <p:cNvSpPr/>
          <p:nvPr/>
        </p:nvSpPr>
        <p:spPr>
          <a:xfrm>
            <a:off x="320040" y="0"/>
            <a:ext cx="11521440" cy="658368"/>
          </a:xfrm>
          <a:prstGeom prst="rect">
            <a:avLst/>
          </a:prstGeom>
          <a:noFill/>
          <a:ln/>
        </p:spPr>
        <p:txBody>
          <a:bodyPr wrap="square" rtlCol="0" anchor="ctr"/>
          <a:lstStyle/>
          <a:p>
            <a:pPr marL="0" indent="0">
              <a:buNone/>
            </a:pPr>
            <a:r>
              <a:rPr lang="en-US" sz="1300" dirty="0">
                <a:solidFill>
                  <a:srgbClr val="AACCEE"/>
                </a:solidFill>
                <a:latin typeface="Calibri" pitchFamily="34" charset="0"/>
                <a:ea typeface="Calibri" pitchFamily="34" charset="-122"/>
                <a:cs typeface="Calibri" pitchFamily="34" charset="-120"/>
              </a:rPr>
              <a:t>Section 10  |  Wrong-Way Risk</a:t>
            </a:r>
            <a:endParaRPr lang="en-US" sz="1300" dirty="0"/>
          </a:p>
        </p:txBody>
      </p:sp>
      <p:sp>
        <p:nvSpPr>
          <p:cNvPr id="4" name="Text 2"/>
          <p:cNvSpPr/>
          <p:nvPr/>
        </p:nvSpPr>
        <p:spPr>
          <a:xfrm>
            <a:off x="365760" y="804672"/>
            <a:ext cx="11430000" cy="658368"/>
          </a:xfrm>
          <a:prstGeom prst="rect">
            <a:avLst/>
          </a:prstGeom>
          <a:noFill/>
          <a:ln/>
        </p:spPr>
        <p:txBody>
          <a:bodyPr wrap="square" rtlCol="0" anchor="ctr"/>
          <a:lstStyle/>
          <a:p>
            <a:pPr marL="0" indent="0">
              <a:buNone/>
            </a:pPr>
            <a:r>
              <a:rPr lang="en-US" sz="2800" b="1" dirty="0">
                <a:solidFill>
                  <a:srgbClr val="1A3A5C"/>
                </a:solidFill>
                <a:latin typeface="Georgia" pitchFamily="34" charset="0"/>
                <a:ea typeface="Georgia" pitchFamily="34" charset="-122"/>
                <a:cs typeface="Georgia" pitchFamily="34" charset="-120"/>
              </a:rPr>
              <a:t>When Exposure and Default Risk Move Together</a:t>
            </a:r>
            <a:endParaRPr lang="en-US" sz="2800" dirty="0"/>
          </a:p>
        </p:txBody>
      </p:sp>
      <p:sp>
        <p:nvSpPr>
          <p:cNvPr id="5" name="Shape 3"/>
          <p:cNvSpPr/>
          <p:nvPr/>
        </p:nvSpPr>
        <p:spPr>
          <a:xfrm>
            <a:off x="320040" y="1600200"/>
            <a:ext cx="11521440" cy="1005840"/>
          </a:xfrm>
          <a:prstGeom prst="rect">
            <a:avLst/>
          </a:prstGeom>
          <a:solidFill>
            <a:srgbClr val="FDECEA"/>
          </a:solidFill>
          <a:ln w="25400">
            <a:solidFill>
              <a:srgbClr val="C0392B"/>
            </a:solidFill>
            <a:prstDash val="solid"/>
          </a:ln>
          <a:effectLst>
            <a:outerShdw blurRad="88900" dist="38100" dir="8100000" algn="bl" rotWithShape="0">
              <a:srgbClr val="000000">
                <a:alpha val="13000"/>
              </a:srgbClr>
            </a:outerShdw>
          </a:effectLst>
        </p:spPr>
      </p:sp>
      <p:sp>
        <p:nvSpPr>
          <p:cNvPr id="6" name="Text 4"/>
          <p:cNvSpPr/>
          <p:nvPr/>
        </p:nvSpPr>
        <p:spPr>
          <a:xfrm>
            <a:off x="502920" y="1691640"/>
            <a:ext cx="11155680" cy="822960"/>
          </a:xfrm>
          <a:prstGeom prst="rect">
            <a:avLst/>
          </a:prstGeom>
          <a:noFill/>
          <a:ln/>
        </p:spPr>
        <p:txBody>
          <a:bodyPr wrap="square"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Wrong-Way Risk (WWR):  </a:t>
            </a:r>
            <a:r>
              <a:rPr lang="en-US" sz="1300" dirty="0">
                <a:solidFill>
                  <a:srgbClr val="222222"/>
                </a:solidFill>
                <a:latin typeface="Calibri" pitchFamily="34" charset="0"/>
                <a:ea typeface="Calibri" pitchFamily="34" charset="-122"/>
                <a:cs typeface="Calibri" pitchFamily="34" charset="-120"/>
              </a:rPr>
              <a:t>The adverse correlation between a counterparty's probability of default and the bank's exposure to that counterparty — they are most likely to default precisely when they owe the most.</a:t>
            </a:r>
            <a:endParaRPr lang="en-US" sz="1300" dirty="0"/>
          </a:p>
        </p:txBody>
      </p:sp>
      <p:sp>
        <p:nvSpPr>
          <p:cNvPr id="7" name="Shape 5"/>
          <p:cNvSpPr/>
          <p:nvPr/>
        </p:nvSpPr>
        <p:spPr>
          <a:xfrm>
            <a:off x="320040" y="2761488"/>
            <a:ext cx="5687568" cy="3090672"/>
          </a:xfrm>
          <a:prstGeom prst="rect">
            <a:avLst/>
          </a:prstGeom>
          <a:solidFill>
            <a:srgbClr val="FDECEA"/>
          </a:solidFill>
          <a:ln w="25400">
            <a:solidFill>
              <a:srgbClr val="C0392B"/>
            </a:solidFill>
            <a:prstDash val="solid"/>
          </a:ln>
          <a:effectLst>
            <a:outerShdw blurRad="88900" dist="38100" dir="8100000" algn="bl" rotWithShape="0">
              <a:srgbClr val="000000">
                <a:alpha val="13000"/>
              </a:srgbClr>
            </a:outerShdw>
          </a:effectLst>
        </p:spPr>
      </p:sp>
      <p:sp>
        <p:nvSpPr>
          <p:cNvPr id="8" name="Text 6"/>
          <p:cNvSpPr/>
          <p:nvPr/>
        </p:nvSpPr>
        <p:spPr>
          <a:xfrm>
            <a:off x="475488" y="2852928"/>
            <a:ext cx="5394960" cy="420624"/>
          </a:xfrm>
          <a:prstGeom prst="rect">
            <a:avLst/>
          </a:prstGeom>
          <a:noFill/>
          <a:ln/>
        </p:spPr>
        <p:txBody>
          <a:bodyPr wrap="square" rtlCol="0" anchor="ctr"/>
          <a:lstStyle/>
          <a:p>
            <a:pPr marL="0" indent="0">
              <a:buNone/>
            </a:pPr>
            <a:r>
              <a:rPr lang="en-US" sz="1300" b="1" dirty="0">
                <a:solidFill>
                  <a:srgbClr val="1A3A5C"/>
                </a:solidFill>
                <a:latin typeface="Calibri" pitchFamily="34" charset="0"/>
                <a:ea typeface="Calibri" pitchFamily="34" charset="-122"/>
                <a:cs typeface="Calibri" pitchFamily="34" charset="-120"/>
              </a:rPr>
              <a:t>Textbook WWR: Commodity Producer</a:t>
            </a:r>
            <a:endParaRPr lang="en-US" sz="1300" dirty="0"/>
          </a:p>
        </p:txBody>
      </p:sp>
      <p:sp>
        <p:nvSpPr>
          <p:cNvPr id="9" name="Shape 7"/>
          <p:cNvSpPr/>
          <p:nvPr/>
        </p:nvSpPr>
        <p:spPr>
          <a:xfrm>
            <a:off x="475488" y="3319272"/>
            <a:ext cx="5394960" cy="27432"/>
          </a:xfrm>
          <a:prstGeom prst="rect">
            <a:avLst/>
          </a:prstGeom>
          <a:solidFill>
            <a:srgbClr val="C0392B"/>
          </a:solidFill>
          <a:ln w="12700">
            <a:solidFill>
              <a:srgbClr val="C0392B"/>
            </a:solidFill>
            <a:prstDash val="solid"/>
          </a:ln>
        </p:spPr>
      </p:sp>
      <p:sp>
        <p:nvSpPr>
          <p:cNvPr id="10" name="Text 8"/>
          <p:cNvSpPr/>
          <p:nvPr/>
        </p:nvSpPr>
        <p:spPr>
          <a:xfrm>
            <a:off x="475488" y="3401568"/>
            <a:ext cx="5394960" cy="2331720"/>
          </a:xfrm>
          <a:prstGeom prst="rect">
            <a:avLst/>
          </a:prstGeom>
          <a:noFill/>
          <a:ln/>
        </p:spPr>
        <p:txBody>
          <a:bodyPr wrap="square" rtlCol="0" anchor="t"/>
          <a:lstStyle/>
          <a:p>
            <a:pPr marL="0" indent="0">
              <a:buNone/>
            </a:pPr>
            <a:r>
              <a:rPr lang="en-US" sz="1150" dirty="0">
                <a:solidFill>
                  <a:srgbClr val="333333"/>
                </a:solidFill>
                <a:latin typeface="Calibri" pitchFamily="34" charset="0"/>
                <a:ea typeface="Calibri" pitchFamily="34" charset="-122"/>
                <a:cs typeface="Calibri" pitchFamily="34" charset="-120"/>
              </a:rPr>
              <a:t>An oil producer sells 3-year oil forwards to a bank — locking in a price for future production. If oil prices collapse, two things happen simultaneously:</a:t>
            </a:r>
            <a:endParaRPr lang="en-US" sz="1150" dirty="0"/>
          </a:p>
          <a:p>
            <a:pPr marL="0" indent="0">
              <a:buNone/>
            </a:pPr>
            <a:endParaRPr lang="en-US" sz="1150" dirty="0"/>
          </a:p>
          <a:p>
            <a:pPr marL="0" indent="0">
              <a:buNone/>
            </a:pPr>
            <a:r>
              <a:rPr lang="en-US" sz="1150" dirty="0">
                <a:solidFill>
                  <a:srgbClr val="333333"/>
                </a:solidFill>
                <a:latin typeface="Calibri" pitchFamily="34" charset="0"/>
                <a:ea typeface="Calibri" pitchFamily="34" charset="-122"/>
                <a:cs typeface="Calibri" pitchFamily="34" charset="-120"/>
              </a:rPr>
              <a:t>1. The forward moves in-the-money for the bank (bank is owed the difference between the contracted price and the collapsed spot price)</a:t>
            </a:r>
            <a:endParaRPr lang="en-US" sz="1150" dirty="0"/>
          </a:p>
          <a:p>
            <a:pPr marL="0" indent="0">
              <a:buNone/>
            </a:pPr>
            <a:endParaRPr lang="en-US" sz="1150" dirty="0"/>
          </a:p>
          <a:p>
            <a:pPr marL="0" indent="0">
              <a:buNone/>
            </a:pPr>
            <a:r>
              <a:rPr lang="en-US" sz="1150" dirty="0">
                <a:solidFill>
                  <a:srgbClr val="333333"/>
                </a:solidFill>
                <a:latin typeface="Calibri" pitchFamily="34" charset="0"/>
                <a:ea typeface="Calibri" pitchFamily="34" charset="-122"/>
                <a:cs typeface="Calibri" pitchFamily="34" charset="-120"/>
              </a:rPr>
              <a:t>2. The oil producer's revenues crater, its financial position deteriorates, and its probability of default rises sharply</a:t>
            </a:r>
            <a:endParaRPr lang="en-US" sz="1150" dirty="0"/>
          </a:p>
          <a:p>
            <a:pPr marL="0" indent="0">
              <a:buNone/>
            </a:pPr>
            <a:endParaRPr lang="en-US" sz="1150" dirty="0"/>
          </a:p>
          <a:p>
            <a:pPr marL="0" indent="0">
              <a:buNone/>
            </a:pPr>
            <a:r>
              <a:rPr lang="en-US" sz="1150" dirty="0">
                <a:solidFill>
                  <a:srgbClr val="333333"/>
                </a:solidFill>
                <a:latin typeface="Calibri" pitchFamily="34" charset="0"/>
                <a:ea typeface="Calibri" pitchFamily="34" charset="-122"/>
                <a:cs typeface="Calibri" pitchFamily="34" charset="-120"/>
              </a:rPr>
              <a:t>Result: maximum bank exposure coincides with maximum counterparty default risk. Standard CVA models that assume independence will systematically understate the true risk.</a:t>
            </a:r>
            <a:endParaRPr lang="en-US" sz="1150" dirty="0"/>
          </a:p>
        </p:txBody>
      </p:sp>
      <p:sp>
        <p:nvSpPr>
          <p:cNvPr id="11" name="Shape 9"/>
          <p:cNvSpPr/>
          <p:nvPr/>
        </p:nvSpPr>
        <p:spPr>
          <a:xfrm>
            <a:off x="6281928" y="2761488"/>
            <a:ext cx="5687568" cy="3090672"/>
          </a:xfrm>
          <a:prstGeom prst="rect">
            <a:avLst/>
          </a:prstGeom>
          <a:solidFill>
            <a:srgbClr val="FDF3E3"/>
          </a:solidFill>
          <a:ln w="25400">
            <a:solidFill>
              <a:srgbClr val="C8922A"/>
            </a:solidFill>
            <a:prstDash val="solid"/>
          </a:ln>
          <a:effectLst>
            <a:outerShdw blurRad="88900" dist="38100" dir="8100000" algn="bl" rotWithShape="0">
              <a:srgbClr val="000000">
                <a:alpha val="13000"/>
              </a:srgbClr>
            </a:outerShdw>
          </a:effectLst>
        </p:spPr>
      </p:sp>
      <p:sp>
        <p:nvSpPr>
          <p:cNvPr id="12" name="Text 10"/>
          <p:cNvSpPr/>
          <p:nvPr/>
        </p:nvSpPr>
        <p:spPr>
          <a:xfrm>
            <a:off x="6437376" y="2852928"/>
            <a:ext cx="5394960" cy="420624"/>
          </a:xfrm>
          <a:prstGeom prst="rect">
            <a:avLst/>
          </a:prstGeom>
          <a:noFill/>
          <a:ln/>
        </p:spPr>
        <p:txBody>
          <a:bodyPr wrap="square" rtlCol="0" anchor="ctr"/>
          <a:lstStyle/>
          <a:p>
            <a:pPr marL="0" indent="0">
              <a:buNone/>
            </a:pPr>
            <a:r>
              <a:rPr lang="en-US" sz="1300" b="1" dirty="0">
                <a:solidFill>
                  <a:srgbClr val="1A3A5C"/>
                </a:solidFill>
                <a:latin typeface="Calibri" pitchFamily="34" charset="0"/>
                <a:ea typeface="Calibri" pitchFamily="34" charset="-122"/>
                <a:cs typeface="Calibri" pitchFamily="34" charset="-120"/>
              </a:rPr>
              <a:t>Specific WWR: Equity Put Options</a:t>
            </a:r>
            <a:endParaRPr lang="en-US" sz="1300" dirty="0"/>
          </a:p>
        </p:txBody>
      </p:sp>
      <p:sp>
        <p:nvSpPr>
          <p:cNvPr id="13" name="Shape 11"/>
          <p:cNvSpPr/>
          <p:nvPr/>
        </p:nvSpPr>
        <p:spPr>
          <a:xfrm>
            <a:off x="6437376" y="3319272"/>
            <a:ext cx="5394960" cy="27432"/>
          </a:xfrm>
          <a:prstGeom prst="rect">
            <a:avLst/>
          </a:prstGeom>
          <a:solidFill>
            <a:srgbClr val="C8922A"/>
          </a:solidFill>
          <a:ln w="12700">
            <a:solidFill>
              <a:srgbClr val="C8922A"/>
            </a:solidFill>
            <a:prstDash val="solid"/>
          </a:ln>
        </p:spPr>
      </p:sp>
      <p:sp>
        <p:nvSpPr>
          <p:cNvPr id="14" name="Text 12"/>
          <p:cNvSpPr/>
          <p:nvPr/>
        </p:nvSpPr>
        <p:spPr>
          <a:xfrm>
            <a:off x="6437376" y="3401568"/>
            <a:ext cx="5394960" cy="2331720"/>
          </a:xfrm>
          <a:prstGeom prst="rect">
            <a:avLst/>
          </a:prstGeom>
          <a:noFill/>
          <a:ln/>
        </p:spPr>
        <p:txBody>
          <a:bodyPr wrap="square" rtlCol="0" anchor="t"/>
          <a:lstStyle/>
          <a:p>
            <a:pPr marL="0" indent="0">
              <a:buNone/>
            </a:pPr>
            <a:r>
              <a:rPr lang="en-US" sz="1150" dirty="0">
                <a:solidFill>
                  <a:srgbClr val="333333"/>
                </a:solidFill>
                <a:latin typeface="Calibri" pitchFamily="34" charset="0"/>
                <a:ea typeface="Calibri" pitchFamily="34" charset="-122"/>
                <a:cs typeface="Calibri" pitchFamily="34" charset="-120"/>
              </a:rPr>
              <a:t>A bank sells put options on its own shares to a counterparty. If the bank's share price falls:</a:t>
            </a:r>
            <a:endParaRPr lang="en-US" sz="1150" dirty="0"/>
          </a:p>
          <a:p>
            <a:pPr marL="0" indent="0">
              <a:buNone/>
            </a:pPr>
            <a:endParaRPr lang="en-US" sz="1150" dirty="0"/>
          </a:p>
          <a:p>
            <a:pPr marL="0" indent="0">
              <a:buNone/>
            </a:pPr>
            <a:r>
              <a:rPr lang="en-US" sz="1150" dirty="0">
                <a:solidFill>
                  <a:srgbClr val="333333"/>
                </a:solidFill>
                <a:latin typeface="Calibri" pitchFamily="34" charset="0"/>
                <a:ea typeface="Calibri" pitchFamily="34" charset="-122"/>
                <a:cs typeface="Calibri" pitchFamily="34" charset="-120"/>
              </a:rPr>
              <a:t>1. The put options move deep in-the-money — the counterparty's exposure to the bank increases</a:t>
            </a:r>
            <a:endParaRPr lang="en-US" sz="1150" dirty="0"/>
          </a:p>
          <a:p>
            <a:pPr marL="0" indent="0">
              <a:buNone/>
            </a:pPr>
            <a:endParaRPr lang="en-US" sz="1150" dirty="0"/>
          </a:p>
          <a:p>
            <a:pPr marL="0" indent="0">
              <a:buNone/>
            </a:pPr>
            <a:r>
              <a:rPr lang="en-US" sz="1150" dirty="0">
                <a:solidFill>
                  <a:srgbClr val="333333"/>
                </a:solidFill>
                <a:latin typeface="Calibri" pitchFamily="34" charset="0"/>
                <a:ea typeface="Calibri" pitchFamily="34" charset="-122"/>
                <a:cs typeface="Calibri" pitchFamily="34" charset="-120"/>
              </a:rPr>
              <a:t>2. A falling share price often signals financial distress at the bank itself — raising the bank's own default probability</a:t>
            </a:r>
            <a:endParaRPr lang="en-US" sz="1150" dirty="0"/>
          </a:p>
          <a:p>
            <a:pPr marL="0" indent="0">
              <a:buNone/>
            </a:pPr>
            <a:endParaRPr lang="en-US" sz="1150" dirty="0"/>
          </a:p>
          <a:p>
            <a:pPr marL="0" indent="0">
              <a:buNone/>
            </a:pPr>
            <a:r>
              <a:rPr lang="en-US" sz="1150" dirty="0">
                <a:solidFill>
                  <a:srgbClr val="333333"/>
                </a:solidFill>
                <a:latin typeface="Calibri" pitchFamily="34" charset="0"/>
                <a:ea typeface="Calibri" pitchFamily="34" charset="-122"/>
                <a:cs typeface="Calibri" pitchFamily="34" charset="-120"/>
              </a:rPr>
              <a:t>The counterparty faces maximum credit exposure to the bank at exactly the moment the bank is most likely to fail. This is Specific WWR — directly linked to the bank's own name.</a:t>
            </a:r>
            <a:endParaRPr lang="en-US" sz="1150" dirty="0"/>
          </a:p>
        </p:txBody>
      </p:sp>
      <p:sp>
        <p:nvSpPr>
          <p:cNvPr id="15" name="Shape 13"/>
          <p:cNvSpPr/>
          <p:nvPr/>
        </p:nvSpPr>
        <p:spPr>
          <a:xfrm>
            <a:off x="0" y="6309360"/>
            <a:ext cx="12161520" cy="548640"/>
          </a:xfrm>
          <a:prstGeom prst="rect">
            <a:avLst/>
          </a:prstGeom>
          <a:solidFill>
            <a:srgbClr val="C0392B"/>
          </a:solidFill>
          <a:ln w="12700">
            <a:solidFill>
              <a:srgbClr val="C0392B"/>
            </a:solidFill>
            <a:prstDash val="solid"/>
          </a:ln>
        </p:spPr>
      </p:sp>
      <p:sp>
        <p:nvSpPr>
          <p:cNvPr id="16" name="Text 14"/>
          <p:cNvSpPr/>
          <p:nvPr/>
        </p:nvSpPr>
        <p:spPr>
          <a:xfrm>
            <a:off x="365760" y="6309360"/>
            <a:ext cx="11430000" cy="5486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Regulatory treatment: BCBS requires banks to identify material WWR portfolios and apply conservative correlation assumptions or stressed add-ons. Standard CVA models assume EE and PD are independent — WWR violates this. IMA-CVA must explicitly model the dependency.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0D7377"/>
          </a:solidFill>
          <a:ln w="12700">
            <a:solidFill>
              <a:srgbClr val="0D7377"/>
            </a:solidFill>
            <a:prstDash val="solid"/>
          </a:ln>
        </p:spPr>
      </p:sp>
      <p:sp>
        <p:nvSpPr>
          <p:cNvPr id="3" name="Text 1"/>
          <p:cNvSpPr/>
          <p:nvPr/>
        </p:nvSpPr>
        <p:spPr>
          <a:xfrm>
            <a:off x="320040" y="0"/>
            <a:ext cx="11521440" cy="65836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Section 10  |  CSAs, Collateral &amp; Central Clearing</a:t>
            </a:r>
            <a:endParaRPr lang="en-US" sz="1300" dirty="0"/>
          </a:p>
        </p:txBody>
      </p:sp>
      <p:sp>
        <p:nvSpPr>
          <p:cNvPr id="4" name="Text 2"/>
          <p:cNvSpPr/>
          <p:nvPr/>
        </p:nvSpPr>
        <p:spPr>
          <a:xfrm>
            <a:off x="365760" y="804672"/>
            <a:ext cx="11430000" cy="658368"/>
          </a:xfrm>
          <a:prstGeom prst="rect">
            <a:avLst/>
          </a:prstGeom>
          <a:noFill/>
          <a:ln/>
        </p:spPr>
        <p:txBody>
          <a:bodyPr wrap="square" rtlCol="0" anchor="ctr"/>
          <a:lstStyle/>
          <a:p>
            <a:pPr marL="0" indent="0">
              <a:buNone/>
            </a:pPr>
            <a:r>
              <a:rPr lang="en-US" sz="2800" b="1" dirty="0">
                <a:solidFill>
                  <a:srgbClr val="1A3A5C"/>
                </a:solidFill>
                <a:latin typeface="Georgia" pitchFamily="34" charset="0"/>
                <a:ea typeface="Georgia" pitchFamily="34" charset="-122"/>
                <a:cs typeface="Georgia" pitchFamily="34" charset="-120"/>
              </a:rPr>
              <a:t>How Collateral Compresses CVA</a:t>
            </a:r>
            <a:endParaRPr lang="en-US" sz="2800" dirty="0"/>
          </a:p>
        </p:txBody>
      </p:sp>
      <p:sp>
        <p:nvSpPr>
          <p:cNvPr id="5" name="Shape 3"/>
          <p:cNvSpPr/>
          <p:nvPr/>
        </p:nvSpPr>
        <p:spPr>
          <a:xfrm>
            <a:off x="320040" y="1600200"/>
            <a:ext cx="5486400" cy="4572000"/>
          </a:xfrm>
          <a:prstGeom prst="rect">
            <a:avLst/>
          </a:prstGeom>
          <a:solidFill>
            <a:srgbClr val="FFFFFF"/>
          </a:solidFill>
          <a:ln w="25400">
            <a:solidFill>
              <a:srgbClr val="0D7377"/>
            </a:solidFill>
            <a:prstDash val="solid"/>
          </a:ln>
          <a:effectLst>
            <a:outerShdw blurRad="88900" dist="38100" dir="8100000" algn="bl" rotWithShape="0">
              <a:srgbClr val="000000">
                <a:alpha val="13000"/>
              </a:srgbClr>
            </a:outerShdw>
          </a:effectLst>
        </p:spPr>
      </p:sp>
      <p:sp>
        <p:nvSpPr>
          <p:cNvPr id="6" name="Text 4"/>
          <p:cNvSpPr/>
          <p:nvPr/>
        </p:nvSpPr>
        <p:spPr>
          <a:xfrm>
            <a:off x="475488" y="1691640"/>
            <a:ext cx="5166360" cy="402336"/>
          </a:xfrm>
          <a:prstGeom prst="rect">
            <a:avLst/>
          </a:prstGeom>
          <a:noFill/>
          <a:ln/>
        </p:spPr>
        <p:txBody>
          <a:bodyPr wrap="square" rtlCol="0" anchor="ctr"/>
          <a:lstStyle/>
          <a:p>
            <a:pPr marL="0" indent="0">
              <a:buNone/>
            </a:pPr>
            <a:r>
              <a:rPr lang="en-US" sz="1400" b="1" dirty="0">
                <a:solidFill>
                  <a:srgbClr val="0D7377"/>
                </a:solidFill>
                <a:latin typeface="Calibri" pitchFamily="34" charset="0"/>
                <a:ea typeface="Calibri" pitchFamily="34" charset="-122"/>
                <a:cs typeface="Calibri" pitchFamily="34" charset="-120"/>
              </a:rPr>
              <a:t>Credit Support Annex (CSA)</a:t>
            </a:r>
            <a:endParaRPr lang="en-US" sz="1400" dirty="0"/>
          </a:p>
        </p:txBody>
      </p:sp>
      <p:sp>
        <p:nvSpPr>
          <p:cNvPr id="7" name="Text 5"/>
          <p:cNvSpPr/>
          <p:nvPr/>
        </p:nvSpPr>
        <p:spPr>
          <a:xfrm>
            <a:off x="475488" y="2148840"/>
            <a:ext cx="5166360" cy="658368"/>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A CSA is a bilateral collateral agreement under the ISDA Master Agreement that requires parties to post variation margin as trades move in- or out-of-the-money. Key parameters:</a:t>
            </a:r>
            <a:endParaRPr lang="en-US" sz="1200" dirty="0"/>
          </a:p>
        </p:txBody>
      </p:sp>
      <p:sp>
        <p:nvSpPr>
          <p:cNvPr id="8" name="Shape 6"/>
          <p:cNvSpPr/>
          <p:nvPr/>
        </p:nvSpPr>
        <p:spPr>
          <a:xfrm>
            <a:off x="475488" y="2880360"/>
            <a:ext cx="1280160" cy="457200"/>
          </a:xfrm>
          <a:prstGeom prst="rect">
            <a:avLst/>
          </a:prstGeom>
          <a:solidFill>
            <a:srgbClr val="0D7377"/>
          </a:solidFill>
          <a:ln w="12700">
            <a:solidFill>
              <a:srgbClr val="0D7377"/>
            </a:solidFill>
            <a:prstDash val="solid"/>
          </a:ln>
        </p:spPr>
      </p:sp>
      <p:sp>
        <p:nvSpPr>
          <p:cNvPr id="9" name="Text 7"/>
          <p:cNvSpPr/>
          <p:nvPr/>
        </p:nvSpPr>
        <p:spPr>
          <a:xfrm>
            <a:off x="475488" y="2880360"/>
            <a:ext cx="128016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Threshold</a:t>
            </a:r>
            <a:endParaRPr lang="en-US" sz="1000" dirty="0"/>
          </a:p>
        </p:txBody>
      </p:sp>
      <p:sp>
        <p:nvSpPr>
          <p:cNvPr id="10" name="Text 8"/>
          <p:cNvSpPr/>
          <p:nvPr/>
        </p:nvSpPr>
        <p:spPr>
          <a:xfrm>
            <a:off x="1874520" y="2880360"/>
            <a:ext cx="3767328" cy="45720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Below this MtM value, no margin is called. A £10M threshold means CVA remains material for exposures under £10M.</a:t>
            </a:r>
            <a:endParaRPr lang="en-US" sz="1100" dirty="0"/>
          </a:p>
        </p:txBody>
      </p:sp>
      <p:sp>
        <p:nvSpPr>
          <p:cNvPr id="11" name="Shape 9"/>
          <p:cNvSpPr/>
          <p:nvPr/>
        </p:nvSpPr>
        <p:spPr>
          <a:xfrm>
            <a:off x="475488" y="3429000"/>
            <a:ext cx="1280160" cy="457200"/>
          </a:xfrm>
          <a:prstGeom prst="rect">
            <a:avLst/>
          </a:prstGeom>
          <a:solidFill>
            <a:srgbClr val="0D7377"/>
          </a:solidFill>
          <a:ln w="12700">
            <a:solidFill>
              <a:srgbClr val="0D7377"/>
            </a:solidFill>
            <a:prstDash val="solid"/>
          </a:ln>
        </p:spPr>
      </p:sp>
      <p:sp>
        <p:nvSpPr>
          <p:cNvPr id="12" name="Text 10"/>
          <p:cNvSpPr/>
          <p:nvPr/>
        </p:nvSpPr>
        <p:spPr>
          <a:xfrm>
            <a:off x="475488" y="3429000"/>
            <a:ext cx="128016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MTA (Min Transfer Amount)</a:t>
            </a:r>
            <a:endParaRPr lang="en-US" sz="1000" dirty="0"/>
          </a:p>
        </p:txBody>
      </p:sp>
      <p:sp>
        <p:nvSpPr>
          <p:cNvPr id="13" name="Text 11"/>
          <p:cNvSpPr/>
          <p:nvPr/>
        </p:nvSpPr>
        <p:spPr>
          <a:xfrm>
            <a:off x="1874520" y="3429000"/>
            <a:ext cx="3767328" cy="45720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The smallest margin call that can be made. Below this, no call is triggered — creating a residual exposure gap.</a:t>
            </a:r>
            <a:endParaRPr lang="en-US" sz="1100" dirty="0"/>
          </a:p>
        </p:txBody>
      </p:sp>
      <p:sp>
        <p:nvSpPr>
          <p:cNvPr id="14" name="Shape 12"/>
          <p:cNvSpPr/>
          <p:nvPr/>
        </p:nvSpPr>
        <p:spPr>
          <a:xfrm>
            <a:off x="475488" y="3977640"/>
            <a:ext cx="1280160" cy="457200"/>
          </a:xfrm>
          <a:prstGeom prst="rect">
            <a:avLst/>
          </a:prstGeom>
          <a:solidFill>
            <a:srgbClr val="0D7377"/>
          </a:solidFill>
          <a:ln w="12700">
            <a:solidFill>
              <a:srgbClr val="0D7377"/>
            </a:solidFill>
            <a:prstDash val="solid"/>
          </a:ln>
        </p:spPr>
      </p:sp>
      <p:sp>
        <p:nvSpPr>
          <p:cNvPr id="15" name="Text 13"/>
          <p:cNvSpPr/>
          <p:nvPr/>
        </p:nvSpPr>
        <p:spPr>
          <a:xfrm>
            <a:off x="475488" y="3977640"/>
            <a:ext cx="128016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Margin Call Frequency</a:t>
            </a:r>
            <a:endParaRPr lang="en-US" sz="1000" dirty="0"/>
          </a:p>
        </p:txBody>
      </p:sp>
      <p:sp>
        <p:nvSpPr>
          <p:cNvPr id="16" name="Text 14"/>
          <p:cNvSpPr/>
          <p:nvPr/>
        </p:nvSpPr>
        <p:spPr>
          <a:xfrm>
            <a:off x="1874520" y="3977640"/>
            <a:ext cx="3767328" cy="45720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Daily VM posting is the standard under UMR. The CVA for a daily-VM trade is bounded by one day's market move.</a:t>
            </a:r>
            <a:endParaRPr lang="en-US" sz="1100" dirty="0"/>
          </a:p>
        </p:txBody>
      </p:sp>
      <p:sp>
        <p:nvSpPr>
          <p:cNvPr id="17" name="Shape 15"/>
          <p:cNvSpPr/>
          <p:nvPr/>
        </p:nvSpPr>
        <p:spPr>
          <a:xfrm>
            <a:off x="475488" y="4526280"/>
            <a:ext cx="1280160" cy="457200"/>
          </a:xfrm>
          <a:prstGeom prst="rect">
            <a:avLst/>
          </a:prstGeom>
          <a:solidFill>
            <a:srgbClr val="0D7377"/>
          </a:solidFill>
          <a:ln w="12700">
            <a:solidFill>
              <a:srgbClr val="0D7377"/>
            </a:solidFill>
            <a:prstDash val="solid"/>
          </a:ln>
        </p:spPr>
      </p:sp>
      <p:sp>
        <p:nvSpPr>
          <p:cNvPr id="18" name="Text 16"/>
          <p:cNvSpPr/>
          <p:nvPr/>
        </p:nvSpPr>
        <p:spPr>
          <a:xfrm>
            <a:off x="475488" y="4526280"/>
            <a:ext cx="128016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Collateral Type</a:t>
            </a:r>
            <a:endParaRPr lang="en-US" sz="1000" dirty="0"/>
          </a:p>
        </p:txBody>
      </p:sp>
      <p:sp>
        <p:nvSpPr>
          <p:cNvPr id="19" name="Text 17"/>
          <p:cNvSpPr/>
          <p:nvPr/>
        </p:nvSpPr>
        <p:spPr>
          <a:xfrm>
            <a:off x="1874520" y="4526280"/>
            <a:ext cx="3767328" cy="45720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Cash is most effective (immediate reuse). Securities carry haircuts and wrong-way risk if the collateral is correlated with the counterparty.</a:t>
            </a:r>
            <a:endParaRPr lang="en-US" sz="1100" dirty="0"/>
          </a:p>
        </p:txBody>
      </p:sp>
      <p:sp>
        <p:nvSpPr>
          <p:cNvPr id="20" name="Shape 18"/>
          <p:cNvSpPr/>
          <p:nvPr/>
        </p:nvSpPr>
        <p:spPr>
          <a:xfrm>
            <a:off x="6080760" y="1600200"/>
            <a:ext cx="5760720" cy="4572000"/>
          </a:xfrm>
          <a:prstGeom prst="rect">
            <a:avLst/>
          </a:prstGeom>
          <a:solidFill>
            <a:srgbClr val="FFFFFF"/>
          </a:solidFill>
          <a:ln w="25400">
            <a:solidFill>
              <a:srgbClr val="C8922A"/>
            </a:solidFill>
            <a:prstDash val="solid"/>
          </a:ln>
          <a:effectLst>
            <a:outerShdw blurRad="88900" dist="38100" dir="8100000" algn="bl" rotWithShape="0">
              <a:srgbClr val="000000">
                <a:alpha val="13000"/>
              </a:srgbClr>
            </a:outerShdw>
          </a:effectLst>
        </p:spPr>
      </p:sp>
      <p:sp>
        <p:nvSpPr>
          <p:cNvPr id="21" name="Text 19"/>
          <p:cNvSpPr/>
          <p:nvPr/>
        </p:nvSpPr>
        <p:spPr>
          <a:xfrm>
            <a:off x="6236208" y="1691640"/>
            <a:ext cx="5440680" cy="402336"/>
          </a:xfrm>
          <a:prstGeom prst="rect">
            <a:avLst/>
          </a:prstGeom>
          <a:noFill/>
          <a:ln/>
        </p:spPr>
        <p:txBody>
          <a:bodyPr wrap="square" rtlCol="0" anchor="ctr"/>
          <a:lstStyle/>
          <a:p>
            <a:pPr marL="0" indent="0">
              <a:buNone/>
            </a:pPr>
            <a:r>
              <a:rPr lang="en-US" sz="1400" b="1" dirty="0">
                <a:solidFill>
                  <a:srgbClr val="C8922A"/>
                </a:solidFill>
                <a:latin typeface="Calibri" pitchFamily="34" charset="0"/>
                <a:ea typeface="Calibri" pitchFamily="34" charset="-122"/>
                <a:cs typeface="Calibri" pitchFamily="34" charset="-120"/>
              </a:rPr>
              <a:t>Post-Crisis Regulatory Reforms</a:t>
            </a:r>
            <a:endParaRPr lang="en-US" sz="1400" dirty="0"/>
          </a:p>
        </p:txBody>
      </p:sp>
      <p:sp>
        <p:nvSpPr>
          <p:cNvPr id="22" name="Shape 20"/>
          <p:cNvSpPr/>
          <p:nvPr/>
        </p:nvSpPr>
        <p:spPr>
          <a:xfrm>
            <a:off x="6236208" y="2176272"/>
            <a:ext cx="1389888" cy="1170432"/>
          </a:xfrm>
          <a:prstGeom prst="rect">
            <a:avLst/>
          </a:prstGeom>
          <a:solidFill>
            <a:srgbClr val="0D7377"/>
          </a:solidFill>
          <a:ln w="12700">
            <a:solidFill>
              <a:srgbClr val="0D7377"/>
            </a:solidFill>
            <a:prstDash val="solid"/>
          </a:ln>
        </p:spPr>
      </p:sp>
      <p:sp>
        <p:nvSpPr>
          <p:cNvPr id="23" name="Text 21"/>
          <p:cNvSpPr/>
          <p:nvPr/>
        </p:nvSpPr>
        <p:spPr>
          <a:xfrm>
            <a:off x="6236208" y="2176272"/>
            <a:ext cx="1389888" cy="117043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CCP Clearing</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(EMIR / Dodd-Frank)</a:t>
            </a:r>
            <a:endParaRPr lang="en-US" sz="1050" dirty="0"/>
          </a:p>
        </p:txBody>
      </p:sp>
      <p:sp>
        <p:nvSpPr>
          <p:cNvPr id="24" name="Text 22"/>
          <p:cNvSpPr/>
          <p:nvPr/>
        </p:nvSpPr>
        <p:spPr>
          <a:xfrm>
            <a:off x="7699248" y="2176272"/>
            <a:ext cx="3977640" cy="1170432"/>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Standardised derivatives must clear through a Central Counterparty. The CCP interposes itself — bilateral CVA is eliminated and replaced with a default fund contribution. CCPs apply daily VM and IM rigorously, compressing exposure to near-zero for cleared products.</a:t>
            </a:r>
            <a:endParaRPr lang="en-US" sz="1100" dirty="0"/>
          </a:p>
        </p:txBody>
      </p:sp>
      <p:sp>
        <p:nvSpPr>
          <p:cNvPr id="25" name="Shape 23"/>
          <p:cNvSpPr/>
          <p:nvPr/>
        </p:nvSpPr>
        <p:spPr>
          <a:xfrm>
            <a:off x="6236208" y="3474720"/>
            <a:ext cx="1389888" cy="1170432"/>
          </a:xfrm>
          <a:prstGeom prst="rect">
            <a:avLst/>
          </a:prstGeom>
          <a:solidFill>
            <a:srgbClr val="C8922A"/>
          </a:solidFill>
          <a:ln w="12700">
            <a:solidFill>
              <a:srgbClr val="C8922A"/>
            </a:solidFill>
            <a:prstDash val="solid"/>
          </a:ln>
        </p:spPr>
      </p:sp>
      <p:sp>
        <p:nvSpPr>
          <p:cNvPr id="26" name="Text 24"/>
          <p:cNvSpPr/>
          <p:nvPr/>
        </p:nvSpPr>
        <p:spPr>
          <a:xfrm>
            <a:off x="6236208" y="3474720"/>
            <a:ext cx="1389888" cy="117043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Uncleared Margin</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Rules (UMR)</a:t>
            </a:r>
            <a:endParaRPr lang="en-US" sz="1050" dirty="0"/>
          </a:p>
        </p:txBody>
      </p:sp>
      <p:sp>
        <p:nvSpPr>
          <p:cNvPr id="27" name="Text 25"/>
          <p:cNvSpPr/>
          <p:nvPr/>
        </p:nvSpPr>
        <p:spPr>
          <a:xfrm>
            <a:off x="7699248" y="3474720"/>
            <a:ext cx="3977640" cy="1170432"/>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Phased in 2016–2022 across six phases by entity size. Both Initial Margin (IM) and Variation Margin (VM) are now mandatory for in-scope non-cleared OTC derivatives. IM must be segregated and held with a third-party custodian. Effect: bilateral CVA on in-scope portfolios has fallen dramatically.</a:t>
            </a:r>
            <a:endParaRPr lang="en-US" sz="1100" dirty="0"/>
          </a:p>
        </p:txBody>
      </p:sp>
      <p:sp>
        <p:nvSpPr>
          <p:cNvPr id="28" name="Shape 26"/>
          <p:cNvSpPr/>
          <p:nvPr/>
        </p:nvSpPr>
        <p:spPr>
          <a:xfrm>
            <a:off x="6236208" y="4773168"/>
            <a:ext cx="1389888" cy="1170432"/>
          </a:xfrm>
          <a:prstGeom prst="rect">
            <a:avLst/>
          </a:prstGeom>
          <a:solidFill>
            <a:srgbClr val="1A6B3C"/>
          </a:solidFill>
          <a:ln w="12700">
            <a:solidFill>
              <a:srgbClr val="1A6B3C"/>
            </a:solidFill>
            <a:prstDash val="solid"/>
          </a:ln>
        </p:spPr>
      </p:sp>
      <p:sp>
        <p:nvSpPr>
          <p:cNvPr id="29" name="Text 27"/>
          <p:cNvSpPr/>
          <p:nvPr/>
        </p:nvSpPr>
        <p:spPr>
          <a:xfrm>
            <a:off x="6236208" y="4773168"/>
            <a:ext cx="1389888" cy="117043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CVA Impact:</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Before vs After</a:t>
            </a:r>
            <a:endParaRPr lang="en-US" sz="1050" dirty="0"/>
          </a:p>
        </p:txBody>
      </p:sp>
      <p:sp>
        <p:nvSpPr>
          <p:cNvPr id="30" name="Text 28"/>
          <p:cNvSpPr/>
          <p:nvPr/>
        </p:nvSpPr>
        <p:spPr>
          <a:xfrm>
            <a:off x="7699248" y="4773168"/>
            <a:ext cx="3977640" cy="1170432"/>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Pre-UMR: Large uncollateralised portfolios carried multi-million CVA charges. Post-UMR: Daily VM posting means exposure is bounded by one day's MtM change. For a $100M notional IRS, CVA might fall from $500K+ to under $50K once fully collateralised.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F30"/>
        </a:solidFill>
        <a:effectLst/>
      </p:bgPr>
    </p:bg>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C0392B"/>
          </a:solidFill>
          <a:ln w="12700">
            <a:solidFill>
              <a:srgbClr val="C0392B"/>
            </a:solidFill>
            <a:prstDash val="solid"/>
          </a:ln>
        </p:spPr>
      </p:sp>
      <p:sp>
        <p:nvSpPr>
          <p:cNvPr id="3" name="Text 1"/>
          <p:cNvSpPr/>
          <p:nvPr/>
        </p:nvSpPr>
        <p:spPr>
          <a:xfrm>
            <a:off x="320040" y="0"/>
            <a:ext cx="11521440" cy="65836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Section 9  |  Crisis Case Study 1 — Lehman Brothers, September 2008</a:t>
            </a:r>
            <a:endParaRPr lang="en-US" sz="1300" dirty="0"/>
          </a:p>
        </p:txBody>
      </p:sp>
      <p:sp>
        <p:nvSpPr>
          <p:cNvPr id="4" name="Text 2"/>
          <p:cNvSpPr/>
          <p:nvPr/>
        </p:nvSpPr>
        <p:spPr>
          <a:xfrm>
            <a:off x="365760" y="804672"/>
            <a:ext cx="11430000" cy="658368"/>
          </a:xfrm>
          <a:prstGeom prst="rect">
            <a:avLst/>
          </a:prstGeom>
          <a:noFill/>
          <a:ln/>
        </p:spPr>
        <p:txBody>
          <a:bodyPr wrap="square" rtlCol="0" anchor="ctr"/>
          <a:lstStyle/>
          <a:p>
            <a:pPr marL="0" indent="0">
              <a:buNone/>
            </a:pPr>
            <a:r>
              <a:rPr lang="en-US" sz="2800" b="1" dirty="0">
                <a:solidFill>
                  <a:srgbClr val="1A3A5C"/>
                </a:solidFill>
                <a:latin typeface="Georgia" pitchFamily="34" charset="0"/>
                <a:ea typeface="Georgia" pitchFamily="34" charset="-122"/>
                <a:cs typeface="Georgia" pitchFamily="34" charset="-120"/>
              </a:rPr>
              <a:t>The Event That Rewrote Counterparty Credit Risk</a:t>
            </a:r>
            <a:endParaRPr lang="en-US" sz="2800" dirty="0"/>
          </a:p>
        </p:txBody>
      </p:sp>
      <p:sp>
        <p:nvSpPr>
          <p:cNvPr id="5" name="Shape 3"/>
          <p:cNvSpPr/>
          <p:nvPr/>
        </p:nvSpPr>
        <p:spPr>
          <a:xfrm>
            <a:off x="320040" y="1572768"/>
            <a:ext cx="2560320" cy="1371600"/>
          </a:xfrm>
          <a:prstGeom prst="rect">
            <a:avLst/>
          </a:prstGeom>
          <a:solidFill>
            <a:srgbClr val="C0392B"/>
          </a:solidFill>
          <a:ln w="12700">
            <a:solidFill>
              <a:srgbClr val="C0392B"/>
            </a:solidFill>
            <a:prstDash val="solid"/>
          </a:ln>
          <a:effectLst>
            <a:outerShdw blurRad="88900" dist="38100" dir="8100000" algn="bl" rotWithShape="0">
              <a:srgbClr val="000000">
                <a:alpha val="13000"/>
              </a:srgbClr>
            </a:outerShdw>
          </a:effectLst>
        </p:spPr>
      </p:sp>
      <p:sp>
        <p:nvSpPr>
          <p:cNvPr id="6" name="Text 4"/>
          <p:cNvSpPr/>
          <p:nvPr/>
        </p:nvSpPr>
        <p:spPr>
          <a:xfrm>
            <a:off x="320040" y="1682496"/>
            <a:ext cx="2560320" cy="73152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$35–40Tn</a:t>
            </a:r>
            <a:endParaRPr lang="en-US" sz="3400" dirty="0"/>
          </a:p>
        </p:txBody>
      </p:sp>
      <p:sp>
        <p:nvSpPr>
          <p:cNvPr id="7" name="Text 5"/>
          <p:cNvSpPr/>
          <p:nvPr/>
        </p:nvSpPr>
        <p:spPr>
          <a:xfrm>
            <a:off x="411480" y="2441448"/>
            <a:ext cx="2377440" cy="41148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Notional OTC derivatives</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outstanding at bankruptcy</a:t>
            </a:r>
            <a:endParaRPr lang="en-US" sz="1100" dirty="0"/>
          </a:p>
        </p:txBody>
      </p:sp>
      <p:sp>
        <p:nvSpPr>
          <p:cNvPr id="8" name="Shape 6"/>
          <p:cNvSpPr/>
          <p:nvPr/>
        </p:nvSpPr>
        <p:spPr>
          <a:xfrm>
            <a:off x="3108960" y="1572768"/>
            <a:ext cx="2560320" cy="1371600"/>
          </a:xfrm>
          <a:prstGeom prst="rect">
            <a:avLst/>
          </a:prstGeom>
          <a:solidFill>
            <a:srgbClr val="0D7377"/>
          </a:solidFill>
          <a:ln w="12700">
            <a:solidFill>
              <a:srgbClr val="0D7377"/>
            </a:solidFill>
            <a:prstDash val="solid"/>
          </a:ln>
          <a:effectLst>
            <a:outerShdw blurRad="88900" dist="38100" dir="8100000" algn="bl" rotWithShape="0">
              <a:srgbClr val="000000">
                <a:alpha val="13000"/>
              </a:srgbClr>
            </a:outerShdw>
          </a:effectLst>
        </p:spPr>
      </p:sp>
      <p:sp>
        <p:nvSpPr>
          <p:cNvPr id="9" name="Text 7"/>
          <p:cNvSpPr/>
          <p:nvPr/>
        </p:nvSpPr>
        <p:spPr>
          <a:xfrm>
            <a:off x="3108960" y="1682496"/>
            <a:ext cx="2560320" cy="73152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~⅔</a:t>
            </a:r>
            <a:endParaRPr lang="en-US" sz="3400" dirty="0"/>
          </a:p>
        </p:txBody>
      </p:sp>
      <p:sp>
        <p:nvSpPr>
          <p:cNvPr id="10" name="Text 8"/>
          <p:cNvSpPr/>
          <p:nvPr/>
        </p:nvSpPr>
        <p:spPr>
          <a:xfrm>
            <a:off x="3200400" y="2441448"/>
            <a:ext cx="2377440" cy="41148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of industry CCR losses</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from CVA volatility</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 not actual default</a:t>
            </a:r>
            <a:endParaRPr lang="en-US" sz="1100" dirty="0"/>
          </a:p>
        </p:txBody>
      </p:sp>
      <p:sp>
        <p:nvSpPr>
          <p:cNvPr id="11" name="Shape 9"/>
          <p:cNvSpPr/>
          <p:nvPr/>
        </p:nvSpPr>
        <p:spPr>
          <a:xfrm>
            <a:off x="5897880" y="1572768"/>
            <a:ext cx="2560320" cy="1371600"/>
          </a:xfrm>
          <a:prstGeom prst="rect">
            <a:avLst/>
          </a:prstGeom>
          <a:solidFill>
            <a:srgbClr val="C8922A"/>
          </a:solidFill>
          <a:ln w="12700">
            <a:solidFill>
              <a:srgbClr val="C8922A"/>
            </a:solidFill>
            <a:prstDash val="solid"/>
          </a:ln>
          <a:effectLst>
            <a:outerShdw blurRad="88900" dist="38100" dir="8100000" algn="bl" rotWithShape="0">
              <a:srgbClr val="000000">
                <a:alpha val="13000"/>
              </a:srgbClr>
            </a:outerShdw>
          </a:effectLst>
        </p:spPr>
      </p:sp>
      <p:sp>
        <p:nvSpPr>
          <p:cNvPr id="12" name="Text 10"/>
          <p:cNvSpPr/>
          <p:nvPr/>
        </p:nvSpPr>
        <p:spPr>
          <a:xfrm>
            <a:off x="5897880" y="1682496"/>
            <a:ext cx="2560320" cy="73152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158</a:t>
            </a:r>
            <a:endParaRPr lang="en-US" sz="3400" dirty="0"/>
          </a:p>
        </p:txBody>
      </p:sp>
      <p:sp>
        <p:nvSpPr>
          <p:cNvPr id="13" name="Text 11"/>
          <p:cNvSpPr/>
          <p:nvPr/>
        </p:nvSpPr>
        <p:spPr>
          <a:xfrm>
            <a:off x="5989320" y="2441448"/>
            <a:ext cx="2377440" cy="41148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countries affected by</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Lehman derivative</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close-outs</a:t>
            </a:r>
            <a:endParaRPr lang="en-US" sz="1100" dirty="0"/>
          </a:p>
        </p:txBody>
      </p:sp>
      <p:sp>
        <p:nvSpPr>
          <p:cNvPr id="14" name="Shape 12"/>
          <p:cNvSpPr/>
          <p:nvPr/>
        </p:nvSpPr>
        <p:spPr>
          <a:xfrm>
            <a:off x="8686800" y="1572768"/>
            <a:ext cx="2560320" cy="1371600"/>
          </a:xfrm>
          <a:prstGeom prst="rect">
            <a:avLst/>
          </a:prstGeom>
          <a:solidFill>
            <a:srgbClr val="2E5984"/>
          </a:solidFill>
          <a:ln w="12700">
            <a:solidFill>
              <a:srgbClr val="2E5984"/>
            </a:solidFill>
            <a:prstDash val="solid"/>
          </a:ln>
          <a:effectLst>
            <a:outerShdw blurRad="88900" dist="38100" dir="8100000" algn="bl" rotWithShape="0">
              <a:srgbClr val="000000">
                <a:alpha val="13000"/>
              </a:srgbClr>
            </a:outerShdw>
          </a:effectLst>
        </p:spPr>
      </p:sp>
      <p:sp>
        <p:nvSpPr>
          <p:cNvPr id="15" name="Text 13"/>
          <p:cNvSpPr/>
          <p:nvPr/>
        </p:nvSpPr>
        <p:spPr>
          <a:xfrm>
            <a:off x="8686800" y="1682496"/>
            <a:ext cx="2560320" cy="73152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2013</a:t>
            </a:r>
            <a:endParaRPr lang="en-US" sz="3400" dirty="0"/>
          </a:p>
        </p:txBody>
      </p:sp>
      <p:sp>
        <p:nvSpPr>
          <p:cNvPr id="16" name="Text 14"/>
          <p:cNvSpPr/>
          <p:nvPr/>
        </p:nvSpPr>
        <p:spPr>
          <a:xfrm>
            <a:off x="8778240" y="2441448"/>
            <a:ext cx="2377440" cy="41148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year Basel III CVA</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capital charge became</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effective in response</a:t>
            </a:r>
            <a:endParaRPr lang="en-US" sz="1100" dirty="0"/>
          </a:p>
        </p:txBody>
      </p:sp>
      <p:sp>
        <p:nvSpPr>
          <p:cNvPr id="17" name="Shape 15"/>
          <p:cNvSpPr/>
          <p:nvPr/>
        </p:nvSpPr>
        <p:spPr>
          <a:xfrm>
            <a:off x="320040" y="3154680"/>
            <a:ext cx="3794760" cy="3611880"/>
          </a:xfrm>
          <a:prstGeom prst="rect">
            <a:avLst/>
          </a:prstGeom>
          <a:solidFill>
            <a:srgbClr val="1A2535"/>
          </a:solidFill>
          <a:ln w="25400">
            <a:solidFill>
              <a:srgbClr val="C0392B"/>
            </a:solidFill>
            <a:prstDash val="solid"/>
          </a:ln>
        </p:spPr>
      </p:sp>
      <p:sp>
        <p:nvSpPr>
          <p:cNvPr id="18" name="Shape 16"/>
          <p:cNvSpPr/>
          <p:nvPr/>
        </p:nvSpPr>
        <p:spPr>
          <a:xfrm>
            <a:off x="320040" y="3154680"/>
            <a:ext cx="3794760" cy="36576"/>
          </a:xfrm>
          <a:prstGeom prst="rect">
            <a:avLst/>
          </a:prstGeom>
          <a:solidFill>
            <a:srgbClr val="C0392B"/>
          </a:solidFill>
          <a:ln w="12700">
            <a:solidFill>
              <a:srgbClr val="C0392B"/>
            </a:solidFill>
            <a:prstDash val="solid"/>
          </a:ln>
        </p:spPr>
      </p:sp>
      <p:sp>
        <p:nvSpPr>
          <p:cNvPr id="19" name="Text 17"/>
          <p:cNvSpPr/>
          <p:nvPr/>
        </p:nvSpPr>
        <p:spPr>
          <a:xfrm>
            <a:off x="475488" y="3246120"/>
            <a:ext cx="3493008" cy="402336"/>
          </a:xfrm>
          <a:prstGeom prst="rect">
            <a:avLst/>
          </a:prstGeom>
          <a:noFill/>
          <a:ln/>
        </p:spPr>
        <p:txBody>
          <a:bodyPr wrap="square"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What Actually Happened</a:t>
            </a:r>
            <a:endParaRPr lang="en-US" sz="1300" dirty="0"/>
          </a:p>
        </p:txBody>
      </p:sp>
      <p:sp>
        <p:nvSpPr>
          <p:cNvPr id="20" name="Text 18"/>
          <p:cNvSpPr/>
          <p:nvPr/>
        </p:nvSpPr>
        <p:spPr>
          <a:xfrm>
            <a:off x="475488" y="3712464"/>
            <a:ext cx="3493008" cy="2944368"/>
          </a:xfrm>
          <a:prstGeom prst="rect">
            <a:avLst/>
          </a:prstGeom>
          <a:noFill/>
          <a:ln/>
        </p:spPr>
        <p:txBody>
          <a:bodyPr wrap="square" rtlCol="0" anchor="t"/>
          <a:lstStyle/>
          <a:p>
            <a:pPr marL="0" indent="0">
              <a:buNone/>
            </a:pPr>
            <a:r>
              <a:rPr lang="en-US" sz="1100" dirty="0">
                <a:solidFill>
                  <a:srgbClr val="CCDDEE"/>
                </a:solidFill>
                <a:latin typeface="Calibri" pitchFamily="34" charset="0"/>
                <a:ea typeface="Calibri" pitchFamily="34" charset="-122"/>
                <a:cs typeface="Calibri" pitchFamily="34" charset="-120"/>
              </a:rPr>
              <a:t>When Lehman filed Chapter 11 on 15 September 2008, surviving counterparties faced immediate close-out of all trades. The non-defaulting party's loss was not the full notional — it was the replacement cost: the MtM value of in-the-money positions at that date, which had to be replicated in a severely dislocated market at a much wider bid-offer spread.</a:t>
            </a:r>
            <a:endParaRPr lang="en-US" sz="1100" dirty="0"/>
          </a:p>
          <a:p>
            <a:pPr marL="0" indent="0">
              <a:buNone/>
            </a:pPr>
            <a:endParaRPr lang="en-US" sz="1100" dirty="0"/>
          </a:p>
          <a:p>
            <a:pPr marL="0" indent="0">
              <a:buNone/>
            </a:pPr>
            <a:r>
              <a:rPr lang="en-US" sz="1100" dirty="0">
                <a:solidFill>
                  <a:srgbClr val="CCDDEE"/>
                </a:solidFill>
                <a:latin typeface="Calibri" pitchFamily="34" charset="0"/>
                <a:ea typeface="Calibri" pitchFamily="34" charset="-122"/>
                <a:cs typeface="Calibri" pitchFamily="34" charset="-120"/>
              </a:rPr>
              <a:t>The direct Lehman losses were substantial but manageable for most large dealers. What was not manageable was the secondary effect: the market's perception that any major financial institution could fail caused credit spreads on all counterparties to widen dramatically and simultaneously.</a:t>
            </a:r>
            <a:endParaRPr lang="en-US" sz="1100" dirty="0"/>
          </a:p>
        </p:txBody>
      </p:sp>
      <p:sp>
        <p:nvSpPr>
          <p:cNvPr id="21" name="Shape 19"/>
          <p:cNvSpPr/>
          <p:nvPr/>
        </p:nvSpPr>
        <p:spPr>
          <a:xfrm>
            <a:off x="4297680" y="3154680"/>
            <a:ext cx="3794760" cy="3611880"/>
          </a:xfrm>
          <a:prstGeom prst="rect">
            <a:avLst/>
          </a:prstGeom>
          <a:solidFill>
            <a:srgbClr val="1A2535"/>
          </a:solidFill>
          <a:ln w="25400">
            <a:solidFill>
              <a:srgbClr val="0D7377"/>
            </a:solidFill>
            <a:prstDash val="solid"/>
          </a:ln>
        </p:spPr>
      </p:sp>
      <p:sp>
        <p:nvSpPr>
          <p:cNvPr id="22" name="Shape 20"/>
          <p:cNvSpPr/>
          <p:nvPr/>
        </p:nvSpPr>
        <p:spPr>
          <a:xfrm>
            <a:off x="4297680" y="3154680"/>
            <a:ext cx="3794760" cy="36576"/>
          </a:xfrm>
          <a:prstGeom prst="rect">
            <a:avLst/>
          </a:prstGeom>
          <a:solidFill>
            <a:srgbClr val="0D7377"/>
          </a:solidFill>
          <a:ln w="12700">
            <a:solidFill>
              <a:srgbClr val="0D7377"/>
            </a:solidFill>
            <a:prstDash val="solid"/>
          </a:ln>
        </p:spPr>
      </p:sp>
      <p:sp>
        <p:nvSpPr>
          <p:cNvPr id="23" name="Text 21"/>
          <p:cNvSpPr/>
          <p:nvPr/>
        </p:nvSpPr>
        <p:spPr>
          <a:xfrm>
            <a:off x="4453128" y="3246120"/>
            <a:ext cx="3493008" cy="402336"/>
          </a:xfrm>
          <a:prstGeom prst="rect">
            <a:avLst/>
          </a:prstGeom>
          <a:noFill/>
          <a:ln/>
        </p:spPr>
        <p:txBody>
          <a:bodyPr wrap="square" rtlCol="0" anchor="ctr"/>
          <a:lstStyle/>
          <a:p>
            <a:pPr marL="0" indent="0">
              <a:buNone/>
            </a:pPr>
            <a:r>
              <a:rPr lang="en-US" sz="1300" b="1" dirty="0">
                <a:solidFill>
                  <a:srgbClr val="0D7377"/>
                </a:solidFill>
                <a:latin typeface="Calibri" pitchFamily="34" charset="0"/>
                <a:ea typeface="Calibri" pitchFamily="34" charset="-122"/>
                <a:cs typeface="Calibri" pitchFamily="34" charset="-120"/>
              </a:rPr>
              <a:t>The CVA Volatility Lesson</a:t>
            </a:r>
            <a:endParaRPr lang="en-US" sz="1300" dirty="0"/>
          </a:p>
        </p:txBody>
      </p:sp>
      <p:sp>
        <p:nvSpPr>
          <p:cNvPr id="24" name="Text 22"/>
          <p:cNvSpPr/>
          <p:nvPr/>
        </p:nvSpPr>
        <p:spPr>
          <a:xfrm>
            <a:off x="4453128" y="3712464"/>
            <a:ext cx="3493008" cy="2944368"/>
          </a:xfrm>
          <a:prstGeom prst="rect">
            <a:avLst/>
          </a:prstGeom>
          <a:noFill/>
          <a:ln/>
        </p:spPr>
        <p:txBody>
          <a:bodyPr wrap="square" rtlCol="0" anchor="t"/>
          <a:lstStyle/>
          <a:p>
            <a:pPr marL="0" indent="0">
              <a:buNone/>
            </a:pPr>
            <a:r>
              <a:rPr lang="en-US" sz="1100" dirty="0">
                <a:solidFill>
                  <a:srgbClr val="CCDDEE"/>
                </a:solidFill>
                <a:latin typeface="Calibri" pitchFamily="34" charset="0"/>
                <a:ea typeface="Calibri" pitchFamily="34" charset="-122"/>
                <a:cs typeface="Calibri" pitchFamily="34" charset="-120"/>
              </a:rPr>
              <a:t>The dominant loss channel was not default — it was CVA mark-to-market. As spreads on Goldman, Morgan Stanley, Merrill Lynch, Citigroup and others widened by hundreds of basis points in the weeks following Lehman, every bank that held derivatives with these counterparties saw its CVA spike. These CVA losses appeared in P&amp;L immediately, without any actual default occurring.</a:t>
            </a:r>
            <a:endParaRPr lang="en-US" sz="1100" dirty="0"/>
          </a:p>
          <a:p>
            <a:pPr marL="0" indent="0">
              <a:buNone/>
            </a:pPr>
            <a:endParaRPr lang="en-US" sz="1100" dirty="0"/>
          </a:p>
          <a:p>
            <a:pPr marL="0" indent="0">
              <a:buNone/>
            </a:pPr>
            <a:r>
              <a:rPr lang="en-US" sz="1100" dirty="0">
                <a:solidFill>
                  <a:srgbClr val="CCDDEE"/>
                </a:solidFill>
                <a:latin typeface="Calibri" pitchFamily="34" charset="0"/>
                <a:ea typeface="Calibri" pitchFamily="34" charset="-122"/>
                <a:cs typeface="Calibri" pitchFamily="34" charset="-120"/>
              </a:rPr>
              <a:t>This empirically confirmed that CVA volatility — driven by spread movements — is the primary risk in counterparty credit, not the binary default event itself. Basel II had completely missed this.</a:t>
            </a:r>
            <a:endParaRPr lang="en-US" sz="1100" dirty="0"/>
          </a:p>
        </p:txBody>
      </p:sp>
      <p:sp>
        <p:nvSpPr>
          <p:cNvPr id="25" name="Shape 23"/>
          <p:cNvSpPr/>
          <p:nvPr/>
        </p:nvSpPr>
        <p:spPr>
          <a:xfrm>
            <a:off x="8275320" y="3154680"/>
            <a:ext cx="3794760" cy="3611880"/>
          </a:xfrm>
          <a:prstGeom prst="rect">
            <a:avLst/>
          </a:prstGeom>
          <a:solidFill>
            <a:srgbClr val="1A2535"/>
          </a:solidFill>
          <a:ln w="25400">
            <a:solidFill>
              <a:srgbClr val="C8922A"/>
            </a:solidFill>
            <a:prstDash val="solid"/>
          </a:ln>
        </p:spPr>
      </p:sp>
      <p:sp>
        <p:nvSpPr>
          <p:cNvPr id="26" name="Shape 24"/>
          <p:cNvSpPr/>
          <p:nvPr/>
        </p:nvSpPr>
        <p:spPr>
          <a:xfrm>
            <a:off x="8275320" y="3154680"/>
            <a:ext cx="3794760" cy="36576"/>
          </a:xfrm>
          <a:prstGeom prst="rect">
            <a:avLst/>
          </a:prstGeom>
          <a:solidFill>
            <a:srgbClr val="C8922A"/>
          </a:solidFill>
          <a:ln w="12700">
            <a:solidFill>
              <a:srgbClr val="C8922A"/>
            </a:solidFill>
            <a:prstDash val="solid"/>
          </a:ln>
        </p:spPr>
      </p:sp>
      <p:sp>
        <p:nvSpPr>
          <p:cNvPr id="27" name="Text 25"/>
          <p:cNvSpPr/>
          <p:nvPr/>
        </p:nvSpPr>
        <p:spPr>
          <a:xfrm>
            <a:off x="8430768" y="3246120"/>
            <a:ext cx="3493008" cy="402336"/>
          </a:xfrm>
          <a:prstGeom prst="rect">
            <a:avLst/>
          </a:prstGeom>
          <a:noFill/>
          <a:ln/>
        </p:spPr>
        <p:txBody>
          <a:bodyPr wrap="square" rtlCol="0" anchor="ctr"/>
          <a:lstStyle/>
          <a:p>
            <a:pPr marL="0" indent="0">
              <a:buNone/>
            </a:pPr>
            <a:r>
              <a:rPr lang="en-US" sz="1300" b="1" dirty="0">
                <a:solidFill>
                  <a:srgbClr val="C8922A"/>
                </a:solidFill>
                <a:latin typeface="Calibri" pitchFamily="34" charset="0"/>
                <a:ea typeface="Calibri" pitchFamily="34" charset="-122"/>
                <a:cs typeface="Calibri" pitchFamily="34" charset="-120"/>
              </a:rPr>
              <a:t>The Regulatory Consequence</a:t>
            </a:r>
            <a:endParaRPr lang="en-US" sz="1300" dirty="0"/>
          </a:p>
        </p:txBody>
      </p:sp>
      <p:sp>
        <p:nvSpPr>
          <p:cNvPr id="28" name="Text 26"/>
          <p:cNvSpPr/>
          <p:nvPr/>
        </p:nvSpPr>
        <p:spPr>
          <a:xfrm>
            <a:off x="8430768" y="3712464"/>
            <a:ext cx="3493008" cy="2944368"/>
          </a:xfrm>
          <a:prstGeom prst="rect">
            <a:avLst/>
          </a:prstGeom>
          <a:noFill/>
          <a:ln/>
        </p:spPr>
        <p:txBody>
          <a:bodyPr wrap="square" rtlCol="0" anchor="t"/>
          <a:lstStyle/>
          <a:p>
            <a:pPr marL="0" indent="0">
              <a:buNone/>
            </a:pPr>
            <a:r>
              <a:rPr lang="en-US" sz="1100" dirty="0">
                <a:solidFill>
                  <a:srgbClr val="CCDDEE"/>
                </a:solidFill>
                <a:latin typeface="Calibri" pitchFamily="34" charset="0"/>
                <a:ea typeface="Calibri" pitchFamily="34" charset="-122"/>
                <a:cs typeface="Calibri" pitchFamily="34" charset="-120"/>
              </a:rPr>
              <a:t>The BCBS post-crisis review estimated that approximately two-thirds of counterparty credit losses in 2007–2009 were CVA mark-to-market rather than outright default losses. This single finding drove the entire Basel III CVA framework.</a:t>
            </a:r>
            <a:endParaRPr lang="en-US" sz="1100" dirty="0"/>
          </a:p>
          <a:p>
            <a:pPr marL="0" indent="0">
              <a:buNone/>
            </a:pPr>
            <a:endParaRPr lang="en-US" sz="1100" dirty="0"/>
          </a:p>
          <a:p>
            <a:pPr marL="0" indent="0">
              <a:buNone/>
            </a:pPr>
            <a:r>
              <a:rPr lang="en-US" sz="1100" dirty="0">
                <a:solidFill>
                  <a:srgbClr val="CCDDEE"/>
                </a:solidFill>
                <a:latin typeface="Calibri" pitchFamily="34" charset="0"/>
                <a:ea typeface="Calibri" pitchFamily="34" charset="-122"/>
                <a:cs typeface="Calibri" pitchFamily="34" charset="-120"/>
              </a:rPr>
              <a:t>Basel III response:</a:t>
            </a:r>
            <a:endParaRPr lang="en-US" sz="1100" dirty="0"/>
          </a:p>
          <a:p>
            <a:pPr marL="0" indent="0">
              <a:buNone/>
            </a:pPr>
            <a:r>
              <a:rPr lang="en-US" sz="1100" dirty="0">
                <a:solidFill>
                  <a:srgbClr val="CCDDEE"/>
                </a:solidFill>
                <a:latin typeface="Calibri" pitchFamily="34" charset="0"/>
                <a:ea typeface="Calibri" pitchFamily="34" charset="-122"/>
                <a:cs typeface="Calibri" pitchFamily="34" charset="-120"/>
              </a:rPr>
              <a:t>• Introduced explicit CVA capital charge (2013)</a:t>
            </a:r>
            <a:endParaRPr lang="en-US" sz="1100" dirty="0"/>
          </a:p>
          <a:p>
            <a:pPr marL="0" indent="0">
              <a:buNone/>
            </a:pPr>
            <a:r>
              <a:rPr lang="en-US" sz="1100" dirty="0">
                <a:solidFill>
                  <a:srgbClr val="CCDDEE"/>
                </a:solidFill>
                <a:latin typeface="Calibri" pitchFamily="34" charset="0"/>
                <a:ea typeface="Calibri" pitchFamily="34" charset="-122"/>
                <a:cs typeface="Calibri" pitchFamily="34" charset="-120"/>
              </a:rPr>
              <a:t>• SA-CVA and BA-CVA approaches</a:t>
            </a:r>
            <a:endParaRPr lang="en-US" sz="1100" dirty="0"/>
          </a:p>
          <a:p>
            <a:pPr marL="0" indent="0">
              <a:buNone/>
            </a:pPr>
            <a:r>
              <a:rPr lang="en-US" sz="1100" dirty="0">
                <a:solidFill>
                  <a:srgbClr val="CCDDEE"/>
                </a:solidFill>
                <a:latin typeface="Calibri" pitchFamily="34" charset="0"/>
                <a:ea typeface="Calibri" pitchFamily="34" charset="-122"/>
                <a:cs typeface="Calibri" pitchFamily="34" charset="-120"/>
              </a:rPr>
              <a:t>• Required banks to hold capital against CVA spread risk, not just default risk</a:t>
            </a:r>
            <a:endParaRPr lang="en-US" sz="1100" dirty="0"/>
          </a:p>
          <a:p>
            <a:pPr marL="0" indent="0">
              <a:buNone/>
            </a:pPr>
            <a:r>
              <a:rPr lang="en-US" sz="1100" dirty="0">
                <a:solidFill>
                  <a:srgbClr val="CCDDEE"/>
                </a:solidFill>
                <a:latin typeface="Calibri" pitchFamily="34" charset="0"/>
                <a:ea typeface="Calibri" pitchFamily="34" charset="-122"/>
                <a:cs typeface="Calibri" pitchFamily="34" charset="-120"/>
              </a:rPr>
              <a:t>• Subsequently evolved into FRTB-CVA under Basel IV (2017)</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A5C"/>
          </a:solidFill>
          <a:ln w="12700">
            <a:solidFill>
              <a:srgbClr val="1A3A5C"/>
            </a:solidFill>
            <a:prstDash val="solid"/>
          </a:ln>
        </p:spPr>
      </p:sp>
      <p:sp>
        <p:nvSpPr>
          <p:cNvPr id="3" name="Text 1"/>
          <p:cNvSpPr/>
          <p:nvPr/>
        </p:nvSpPr>
        <p:spPr>
          <a:xfrm>
            <a:off x="320040" y="0"/>
            <a:ext cx="11521440" cy="658368"/>
          </a:xfrm>
          <a:prstGeom prst="rect">
            <a:avLst/>
          </a:prstGeom>
          <a:noFill/>
          <a:ln/>
        </p:spPr>
        <p:txBody>
          <a:bodyPr wrap="square" rtlCol="0" anchor="ctr"/>
          <a:lstStyle/>
          <a:p>
            <a:pPr marL="0" indent="0">
              <a:buNone/>
            </a:pPr>
            <a:r>
              <a:rPr lang="en-US" sz="1300" dirty="0">
                <a:solidFill>
                  <a:srgbClr val="AACCEE"/>
                </a:solidFill>
                <a:latin typeface="Calibri" pitchFamily="34" charset="0"/>
                <a:ea typeface="Calibri" pitchFamily="34" charset="-122"/>
                <a:cs typeface="Calibri" pitchFamily="34" charset="-120"/>
              </a:rPr>
              <a:t>Section 9  |  Crisis Case Studies 2 &amp; 3 — Monolines and Sovereign CVA</a:t>
            </a:r>
            <a:endParaRPr lang="en-US" sz="1300" dirty="0"/>
          </a:p>
        </p:txBody>
      </p:sp>
      <p:sp>
        <p:nvSpPr>
          <p:cNvPr id="4" name="Text 2"/>
          <p:cNvSpPr/>
          <p:nvPr/>
        </p:nvSpPr>
        <p:spPr>
          <a:xfrm>
            <a:off x="365760" y="804672"/>
            <a:ext cx="11430000" cy="658368"/>
          </a:xfrm>
          <a:prstGeom prst="rect">
            <a:avLst/>
          </a:prstGeom>
          <a:noFill/>
          <a:ln/>
        </p:spPr>
        <p:txBody>
          <a:bodyPr wrap="square" rtlCol="0" anchor="ctr"/>
          <a:lstStyle/>
          <a:p>
            <a:pPr marL="0" indent="0">
              <a:buNone/>
            </a:pPr>
            <a:r>
              <a:rPr lang="en-US" sz="2800" b="1" dirty="0">
                <a:solidFill>
                  <a:srgbClr val="1A3A5C"/>
                </a:solidFill>
                <a:latin typeface="Georgia" pitchFamily="34" charset="0"/>
                <a:ea typeface="Georgia" pitchFamily="34" charset="-122"/>
                <a:cs typeface="Georgia" pitchFamily="34" charset="-120"/>
              </a:rPr>
              <a:t>Two More CVA Failure Modes</a:t>
            </a:r>
            <a:endParaRPr lang="en-US" sz="2800" dirty="0"/>
          </a:p>
        </p:txBody>
      </p:sp>
      <p:sp>
        <p:nvSpPr>
          <p:cNvPr id="5" name="Shape 3"/>
          <p:cNvSpPr/>
          <p:nvPr/>
        </p:nvSpPr>
        <p:spPr>
          <a:xfrm>
            <a:off x="320040" y="1600200"/>
            <a:ext cx="11521440" cy="420624"/>
          </a:xfrm>
          <a:prstGeom prst="rect">
            <a:avLst/>
          </a:prstGeom>
          <a:solidFill>
            <a:srgbClr val="1A3A5C"/>
          </a:solidFill>
          <a:ln w="25400">
            <a:solidFill>
              <a:srgbClr val="1A3A5C"/>
            </a:solidFill>
            <a:prstDash val="solid"/>
          </a:ln>
          <a:effectLst>
            <a:outerShdw blurRad="88900" dist="38100" dir="8100000" algn="bl" rotWithShape="0">
              <a:srgbClr val="000000">
                <a:alpha val="13000"/>
              </a:srgbClr>
            </a:outerShdw>
          </a:effectLst>
        </p:spPr>
      </p:sp>
      <p:sp>
        <p:nvSpPr>
          <p:cNvPr id="6" name="Text 4"/>
          <p:cNvSpPr/>
          <p:nvPr/>
        </p:nvSpPr>
        <p:spPr>
          <a:xfrm>
            <a:off x="457200" y="1627632"/>
            <a:ext cx="1124712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Case Study 2: Monoline Insurers  (2007–2009)  —  CVA Concentration Risk</a:t>
            </a:r>
            <a:endParaRPr lang="en-US" sz="1300" dirty="0"/>
          </a:p>
        </p:txBody>
      </p:sp>
      <p:sp>
        <p:nvSpPr>
          <p:cNvPr id="7" name="Shape 5"/>
          <p:cNvSpPr/>
          <p:nvPr/>
        </p:nvSpPr>
        <p:spPr>
          <a:xfrm>
            <a:off x="320040" y="2084832"/>
            <a:ext cx="11521440" cy="2029968"/>
          </a:xfrm>
          <a:prstGeom prst="rect">
            <a:avLst/>
          </a:prstGeom>
          <a:solidFill>
            <a:srgbClr val="FDF3E3"/>
          </a:solidFill>
          <a:ln w="25400">
            <a:solidFill>
              <a:srgbClr val="C8922A"/>
            </a:solidFill>
            <a:prstDash val="solid"/>
          </a:ln>
          <a:effectLst>
            <a:outerShdw blurRad="88900" dist="38100" dir="8100000" algn="bl" rotWithShape="0">
              <a:srgbClr val="000000">
                <a:alpha val="13000"/>
              </a:srgbClr>
            </a:outerShdw>
          </a:effectLst>
        </p:spPr>
      </p:sp>
      <p:sp>
        <p:nvSpPr>
          <p:cNvPr id="8" name="Text 6"/>
          <p:cNvSpPr/>
          <p:nvPr/>
        </p:nvSpPr>
        <p:spPr>
          <a:xfrm>
            <a:off x="475488" y="2148840"/>
            <a:ext cx="3675888" cy="347472"/>
          </a:xfrm>
          <a:prstGeom prst="rect">
            <a:avLst/>
          </a:prstGeom>
          <a:noFill/>
          <a:ln/>
        </p:spPr>
        <p:txBody>
          <a:bodyPr wrap="square" rtlCol="0" anchor="ctr"/>
          <a:lstStyle/>
          <a:p>
            <a:pPr marL="0" indent="0">
              <a:buNone/>
            </a:pPr>
            <a:r>
              <a:rPr lang="en-US" sz="1250" b="1" dirty="0">
                <a:solidFill>
                  <a:srgbClr val="1A3A5C"/>
                </a:solidFill>
                <a:latin typeface="Calibri" pitchFamily="34" charset="0"/>
                <a:ea typeface="Calibri" pitchFamily="34" charset="-122"/>
                <a:cs typeface="Calibri" pitchFamily="34" charset="-120"/>
              </a:rPr>
              <a:t>The Setup</a:t>
            </a:r>
            <a:endParaRPr lang="en-US" sz="1250" dirty="0"/>
          </a:p>
        </p:txBody>
      </p:sp>
      <p:sp>
        <p:nvSpPr>
          <p:cNvPr id="9" name="Text 7"/>
          <p:cNvSpPr/>
          <p:nvPr/>
        </p:nvSpPr>
        <p:spPr>
          <a:xfrm>
            <a:off x="475488" y="2542032"/>
            <a:ext cx="3675888" cy="1444752"/>
          </a:xfrm>
          <a:prstGeom prst="rect">
            <a:avLst/>
          </a:prstGeom>
          <a:noFill/>
          <a:ln/>
        </p:spPr>
        <p:txBody>
          <a:bodyPr wrap="square" rtlCol="0" anchor="t"/>
          <a:lstStyle/>
          <a:p>
            <a:pPr marL="0" indent="0">
              <a:buNone/>
            </a:pPr>
            <a:r>
              <a:rPr lang="en-US" sz="1100" dirty="0">
                <a:solidFill>
                  <a:srgbClr val="333333"/>
                </a:solidFill>
                <a:latin typeface="Calibri" pitchFamily="34" charset="0"/>
                <a:ea typeface="Calibri" pitchFamily="34" charset="-122"/>
                <a:cs typeface="Calibri" pitchFamily="34" charset="-120"/>
              </a:rPr>
              <a:t>Monolines (AMBAC, MBIA, FGIC) had written credit protection on tens of billions of CDOs and structured credit products to major banks. These contracts were economically equivalent to derivatives. As the underlying structured credit deteriorated from 2007, the banks held enormous in-the-money positions against monolines that were rapidly becoming insolvent.</a:t>
            </a:r>
            <a:endParaRPr lang="en-US" sz="1100" dirty="0"/>
          </a:p>
        </p:txBody>
      </p:sp>
      <p:sp>
        <p:nvSpPr>
          <p:cNvPr id="10" name="Text 8"/>
          <p:cNvSpPr/>
          <p:nvPr/>
        </p:nvSpPr>
        <p:spPr>
          <a:xfrm>
            <a:off x="4453128" y="2148840"/>
            <a:ext cx="3675888" cy="347472"/>
          </a:xfrm>
          <a:prstGeom prst="rect">
            <a:avLst/>
          </a:prstGeom>
          <a:noFill/>
          <a:ln/>
        </p:spPr>
        <p:txBody>
          <a:bodyPr wrap="square" rtlCol="0" anchor="ctr"/>
          <a:lstStyle/>
          <a:p>
            <a:pPr marL="0" indent="0">
              <a:buNone/>
            </a:pPr>
            <a:r>
              <a:rPr lang="en-US" sz="1250" b="1" dirty="0">
                <a:solidFill>
                  <a:srgbClr val="1A3A5C"/>
                </a:solidFill>
                <a:latin typeface="Calibri" pitchFamily="34" charset="0"/>
                <a:ea typeface="Calibri" pitchFamily="34" charset="-122"/>
                <a:cs typeface="Calibri" pitchFamily="34" charset="-120"/>
              </a:rPr>
              <a:t>The CVA Problem</a:t>
            </a:r>
            <a:endParaRPr lang="en-US" sz="1250" dirty="0"/>
          </a:p>
        </p:txBody>
      </p:sp>
      <p:sp>
        <p:nvSpPr>
          <p:cNvPr id="11" name="Text 9"/>
          <p:cNvSpPr/>
          <p:nvPr/>
        </p:nvSpPr>
        <p:spPr>
          <a:xfrm>
            <a:off x="4453128" y="2542032"/>
            <a:ext cx="3675888" cy="1444752"/>
          </a:xfrm>
          <a:prstGeom prst="rect">
            <a:avLst/>
          </a:prstGeom>
          <a:noFill/>
          <a:ln/>
        </p:spPr>
        <p:txBody>
          <a:bodyPr wrap="square" rtlCol="0" anchor="t"/>
          <a:lstStyle/>
          <a:p>
            <a:pPr marL="0" indent="0">
              <a:buNone/>
            </a:pPr>
            <a:r>
              <a:rPr lang="en-US" sz="1100" dirty="0">
                <a:solidFill>
                  <a:srgbClr val="333333"/>
                </a:solidFill>
                <a:latin typeface="Calibri" pitchFamily="34" charset="0"/>
                <a:ea typeface="Calibri" pitchFamily="34" charset="-122"/>
                <a:cs typeface="Calibri" pitchFamily="34" charset="-120"/>
              </a:rPr>
              <a:t>Individual banks (Merrill Lynch, Citigroup, UBS) held exposures of $10–30 billion to single monoline names. The monolines were:</a:t>
            </a:r>
            <a:endParaRPr lang="en-US" sz="1100" dirty="0"/>
          </a:p>
          <a:p>
            <a:pPr marL="0" indent="0">
              <a:buNone/>
            </a:pPr>
            <a:r>
              <a:rPr lang="en-US" sz="1100" dirty="0">
                <a:solidFill>
                  <a:srgbClr val="333333"/>
                </a:solidFill>
                <a:latin typeface="Calibri" pitchFamily="34" charset="0"/>
                <a:ea typeface="Calibri" pitchFamily="34" charset="-122"/>
                <a:cs typeface="Calibri" pitchFamily="34" charset="-120"/>
              </a:rPr>
              <a:t>• Too large to replace — no equivalent counterparty existed</a:t>
            </a:r>
            <a:endParaRPr lang="en-US" sz="1100" dirty="0"/>
          </a:p>
          <a:p>
            <a:pPr marL="0" indent="0">
              <a:buNone/>
            </a:pPr>
            <a:r>
              <a:rPr lang="en-US" sz="1100" dirty="0">
                <a:solidFill>
                  <a:srgbClr val="333333"/>
                </a:solidFill>
                <a:latin typeface="Calibri" pitchFamily="34" charset="0"/>
                <a:ea typeface="Calibri" pitchFamily="34" charset="-122"/>
                <a:cs typeface="Calibri" pitchFamily="34" charset="-120"/>
              </a:rPr>
              <a:t>• Unhedgeable — CDS on them was illiquid and expensive</a:t>
            </a:r>
            <a:endParaRPr lang="en-US" sz="1100" dirty="0"/>
          </a:p>
          <a:p>
            <a:pPr marL="0" indent="0">
              <a:buNone/>
            </a:pPr>
            <a:r>
              <a:rPr lang="en-US" sz="1100" dirty="0">
                <a:solidFill>
                  <a:srgbClr val="333333"/>
                </a:solidFill>
                <a:latin typeface="Calibri" pitchFamily="34" charset="0"/>
                <a:ea typeface="Calibri" pitchFamily="34" charset="-122"/>
                <a:cs typeface="Calibri" pitchFamily="34" charset="-120"/>
              </a:rPr>
              <a:t>• Correlated with the underlying — their distress coincided with maximum exposure</a:t>
            </a:r>
            <a:endParaRPr lang="en-US" sz="1100" dirty="0"/>
          </a:p>
          <a:p>
            <a:pPr marL="0" indent="0">
              <a:buNone/>
            </a:pPr>
            <a:r>
              <a:rPr lang="en-US" sz="1100" dirty="0">
                <a:solidFill>
                  <a:srgbClr val="333333"/>
                </a:solidFill>
                <a:latin typeface="Calibri" pitchFamily="34" charset="0"/>
                <a:ea typeface="Calibri" pitchFamily="34" charset="-122"/>
                <a:cs typeface="Calibri" pitchFamily="34" charset="-120"/>
              </a:rPr>
              <a:t>This is the classic concentration + wrong-way risk combination.</a:t>
            </a:r>
            <a:endParaRPr lang="en-US" sz="1100" dirty="0"/>
          </a:p>
        </p:txBody>
      </p:sp>
      <p:sp>
        <p:nvSpPr>
          <p:cNvPr id="12" name="Text 10"/>
          <p:cNvSpPr/>
          <p:nvPr/>
        </p:nvSpPr>
        <p:spPr>
          <a:xfrm>
            <a:off x="8430768" y="2148840"/>
            <a:ext cx="3675888" cy="347472"/>
          </a:xfrm>
          <a:prstGeom prst="rect">
            <a:avLst/>
          </a:prstGeom>
          <a:noFill/>
          <a:ln/>
        </p:spPr>
        <p:txBody>
          <a:bodyPr wrap="square" rtlCol="0" anchor="ctr"/>
          <a:lstStyle/>
          <a:p>
            <a:pPr marL="0" indent="0">
              <a:buNone/>
            </a:pPr>
            <a:r>
              <a:rPr lang="en-US" sz="1250" b="1" dirty="0">
                <a:solidFill>
                  <a:srgbClr val="1A3A5C"/>
                </a:solidFill>
                <a:latin typeface="Calibri" pitchFamily="34" charset="0"/>
                <a:ea typeface="Calibri" pitchFamily="34" charset="-122"/>
                <a:cs typeface="Calibri" pitchFamily="34" charset="-120"/>
              </a:rPr>
              <a:t>The Lesson</a:t>
            </a:r>
            <a:endParaRPr lang="en-US" sz="1250" dirty="0"/>
          </a:p>
        </p:txBody>
      </p:sp>
      <p:sp>
        <p:nvSpPr>
          <p:cNvPr id="13" name="Text 11"/>
          <p:cNvSpPr/>
          <p:nvPr/>
        </p:nvSpPr>
        <p:spPr>
          <a:xfrm>
            <a:off x="8430768" y="2542032"/>
            <a:ext cx="3675888" cy="1444752"/>
          </a:xfrm>
          <a:prstGeom prst="rect">
            <a:avLst/>
          </a:prstGeom>
          <a:noFill/>
          <a:ln/>
        </p:spPr>
        <p:txBody>
          <a:bodyPr wrap="square" rtlCol="0" anchor="t"/>
          <a:lstStyle/>
          <a:p>
            <a:pPr marL="0" indent="0">
              <a:buNone/>
            </a:pPr>
            <a:r>
              <a:rPr lang="en-US" sz="1100" dirty="0">
                <a:solidFill>
                  <a:srgbClr val="333333"/>
                </a:solidFill>
                <a:latin typeface="Calibri" pitchFamily="34" charset="0"/>
                <a:ea typeface="Calibri" pitchFamily="34" charset="-122"/>
                <a:cs typeface="Calibri" pitchFamily="34" charset="-120"/>
              </a:rPr>
              <a:t>CVA concentration risk is as dangerous as single-name credit risk in a loan book. A large, correlated, irreplaceable counterparty where the hedge market is illiquid produces CVA losses that cannot be managed away. Post-crisis, concentration add-ons and stress testing of CVA to single-name defaults became regulatory requirements.</a:t>
            </a:r>
            <a:endParaRPr lang="en-US" sz="1100" dirty="0"/>
          </a:p>
        </p:txBody>
      </p:sp>
      <p:sp>
        <p:nvSpPr>
          <p:cNvPr id="14" name="Shape 12"/>
          <p:cNvSpPr/>
          <p:nvPr/>
        </p:nvSpPr>
        <p:spPr>
          <a:xfrm>
            <a:off x="320040" y="4251960"/>
            <a:ext cx="11521440" cy="420624"/>
          </a:xfrm>
          <a:prstGeom prst="rect">
            <a:avLst/>
          </a:prstGeom>
          <a:solidFill>
            <a:srgbClr val="0D7377"/>
          </a:solidFill>
          <a:ln w="25400">
            <a:solidFill>
              <a:srgbClr val="0D7377"/>
            </a:solidFill>
            <a:prstDash val="solid"/>
          </a:ln>
          <a:effectLst>
            <a:outerShdw blurRad="88900" dist="38100" dir="8100000" algn="bl" rotWithShape="0">
              <a:srgbClr val="000000">
                <a:alpha val="13000"/>
              </a:srgbClr>
            </a:outerShdw>
          </a:effectLst>
        </p:spPr>
      </p:sp>
      <p:sp>
        <p:nvSpPr>
          <p:cNvPr id="15" name="Text 13"/>
          <p:cNvSpPr/>
          <p:nvPr/>
        </p:nvSpPr>
        <p:spPr>
          <a:xfrm>
            <a:off x="457200" y="4279392"/>
            <a:ext cx="1124712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Case Study 3: European Sovereign CVA  (2010–2012)  —  "Sovereigns Can't Default"</a:t>
            </a:r>
            <a:endParaRPr lang="en-US" sz="1300" dirty="0"/>
          </a:p>
        </p:txBody>
      </p:sp>
      <p:sp>
        <p:nvSpPr>
          <p:cNvPr id="16" name="Shape 14"/>
          <p:cNvSpPr/>
          <p:nvPr/>
        </p:nvSpPr>
        <p:spPr>
          <a:xfrm>
            <a:off x="320040" y="4736592"/>
            <a:ext cx="11521440" cy="1920240"/>
          </a:xfrm>
          <a:prstGeom prst="rect">
            <a:avLst/>
          </a:prstGeom>
          <a:solidFill>
            <a:srgbClr val="D6E8F5"/>
          </a:solidFill>
          <a:ln w="25400">
            <a:solidFill>
              <a:srgbClr val="0D7377"/>
            </a:solidFill>
            <a:prstDash val="solid"/>
          </a:ln>
          <a:effectLst>
            <a:outerShdw blurRad="88900" dist="38100" dir="8100000" algn="bl" rotWithShape="0">
              <a:srgbClr val="000000">
                <a:alpha val="13000"/>
              </a:srgbClr>
            </a:outerShdw>
          </a:effectLst>
        </p:spPr>
      </p:sp>
      <p:sp>
        <p:nvSpPr>
          <p:cNvPr id="17" name="Text 15"/>
          <p:cNvSpPr/>
          <p:nvPr/>
        </p:nvSpPr>
        <p:spPr>
          <a:xfrm>
            <a:off x="475488" y="4800600"/>
            <a:ext cx="3675888" cy="347472"/>
          </a:xfrm>
          <a:prstGeom prst="rect">
            <a:avLst/>
          </a:prstGeom>
          <a:noFill/>
          <a:ln/>
        </p:spPr>
        <p:txBody>
          <a:bodyPr wrap="square" rtlCol="0" anchor="ctr"/>
          <a:lstStyle/>
          <a:p>
            <a:pPr marL="0" indent="0">
              <a:buNone/>
            </a:pPr>
            <a:r>
              <a:rPr lang="en-US" sz="1250" b="1" dirty="0">
                <a:solidFill>
                  <a:srgbClr val="1A3A5C"/>
                </a:solidFill>
                <a:latin typeface="Calibri" pitchFamily="34" charset="0"/>
                <a:ea typeface="Calibri" pitchFamily="34" charset="-122"/>
                <a:cs typeface="Calibri" pitchFamily="34" charset="-120"/>
              </a:rPr>
              <a:t>The Assumption That Failed</a:t>
            </a:r>
            <a:endParaRPr lang="en-US" sz="1250" dirty="0"/>
          </a:p>
        </p:txBody>
      </p:sp>
      <p:sp>
        <p:nvSpPr>
          <p:cNvPr id="18" name="Text 16"/>
          <p:cNvSpPr/>
          <p:nvPr/>
        </p:nvSpPr>
        <p:spPr>
          <a:xfrm>
            <a:off x="475488" y="5193792"/>
            <a:ext cx="3675888" cy="1335024"/>
          </a:xfrm>
          <a:prstGeom prst="rect">
            <a:avLst/>
          </a:prstGeom>
          <a:noFill/>
          <a:ln/>
        </p:spPr>
        <p:txBody>
          <a:bodyPr wrap="square" rtlCol="0" anchor="t"/>
          <a:lstStyle/>
          <a:p>
            <a:pPr marL="0" indent="0">
              <a:buNone/>
            </a:pPr>
            <a:r>
              <a:rPr lang="en-US" sz="1100" dirty="0">
                <a:solidFill>
                  <a:srgbClr val="333333"/>
                </a:solidFill>
                <a:latin typeface="Calibri" pitchFamily="34" charset="0"/>
                <a:ea typeface="Calibri" pitchFamily="34" charset="-122"/>
                <a:cs typeface="Calibri" pitchFamily="34" charset="-120"/>
              </a:rPr>
              <a:t>Pre-crisis, banks treated eurozone sovereign counterparties as effectively risk-free — CVA against Greece, Portugal, Ireland, Italy and Spain was minimal or zero. CDS spreads on these sovereigns had been near-zero for years. Internal models often excluded sovereign CVA entirely, assuming zero PD by convention.</a:t>
            </a:r>
            <a:endParaRPr lang="en-US" sz="1100" dirty="0"/>
          </a:p>
        </p:txBody>
      </p:sp>
      <p:sp>
        <p:nvSpPr>
          <p:cNvPr id="19" name="Text 17"/>
          <p:cNvSpPr/>
          <p:nvPr/>
        </p:nvSpPr>
        <p:spPr>
          <a:xfrm>
            <a:off x="4453128" y="4800600"/>
            <a:ext cx="3675888" cy="347472"/>
          </a:xfrm>
          <a:prstGeom prst="rect">
            <a:avLst/>
          </a:prstGeom>
          <a:noFill/>
          <a:ln/>
        </p:spPr>
        <p:txBody>
          <a:bodyPr wrap="square" rtlCol="0" anchor="ctr"/>
          <a:lstStyle/>
          <a:p>
            <a:pPr marL="0" indent="0">
              <a:buNone/>
            </a:pPr>
            <a:r>
              <a:rPr lang="en-US" sz="1250" b="1" dirty="0">
                <a:solidFill>
                  <a:srgbClr val="1A3A5C"/>
                </a:solidFill>
                <a:latin typeface="Calibri" pitchFamily="34" charset="0"/>
                <a:ea typeface="Calibri" pitchFamily="34" charset="-122"/>
                <a:cs typeface="Calibri" pitchFamily="34" charset="-120"/>
              </a:rPr>
              <a:t>The Reality</a:t>
            </a:r>
            <a:endParaRPr lang="en-US" sz="1250" dirty="0"/>
          </a:p>
        </p:txBody>
      </p:sp>
      <p:sp>
        <p:nvSpPr>
          <p:cNvPr id="20" name="Text 18"/>
          <p:cNvSpPr/>
          <p:nvPr/>
        </p:nvSpPr>
        <p:spPr>
          <a:xfrm>
            <a:off x="4453128" y="5193792"/>
            <a:ext cx="3675888" cy="1335024"/>
          </a:xfrm>
          <a:prstGeom prst="rect">
            <a:avLst/>
          </a:prstGeom>
          <a:noFill/>
          <a:ln/>
        </p:spPr>
        <p:txBody>
          <a:bodyPr wrap="square" rtlCol="0" anchor="t"/>
          <a:lstStyle/>
          <a:p>
            <a:pPr marL="0" indent="0">
              <a:buNone/>
            </a:pPr>
            <a:r>
              <a:rPr lang="en-US" sz="1100" dirty="0">
                <a:solidFill>
                  <a:srgbClr val="333333"/>
                </a:solidFill>
                <a:latin typeface="Calibri" pitchFamily="34" charset="0"/>
                <a:ea typeface="Calibri" pitchFamily="34" charset="-122"/>
                <a:cs typeface="Calibri" pitchFamily="34" charset="-120"/>
              </a:rPr>
              <a:t>Greek 5-year CDS spreads rose from ~20 bps (2009) to over 2,000 bps (2011). The Greek PSI of March 2012 imposed 53.5% NPV losses on private creditors — confirming that developed market sovereign default with material haircuts was entirely possible. Banks holding IRS, FX forwards and inflation swaps against peripheral sovereigns faced abrupt CVA charges they had not reserved for.</a:t>
            </a:r>
            <a:endParaRPr lang="en-US" sz="1100" dirty="0"/>
          </a:p>
        </p:txBody>
      </p:sp>
      <p:sp>
        <p:nvSpPr>
          <p:cNvPr id="21" name="Text 19"/>
          <p:cNvSpPr/>
          <p:nvPr/>
        </p:nvSpPr>
        <p:spPr>
          <a:xfrm>
            <a:off x="8430768" y="4800600"/>
            <a:ext cx="3675888" cy="347472"/>
          </a:xfrm>
          <a:prstGeom prst="rect">
            <a:avLst/>
          </a:prstGeom>
          <a:noFill/>
          <a:ln/>
        </p:spPr>
        <p:txBody>
          <a:bodyPr wrap="square" rtlCol="0" anchor="ctr"/>
          <a:lstStyle/>
          <a:p>
            <a:pPr marL="0" indent="0">
              <a:buNone/>
            </a:pPr>
            <a:r>
              <a:rPr lang="en-US" sz="1250" b="1" dirty="0">
                <a:solidFill>
                  <a:srgbClr val="1A3A5C"/>
                </a:solidFill>
                <a:latin typeface="Calibri" pitchFamily="34" charset="0"/>
                <a:ea typeface="Calibri" pitchFamily="34" charset="-122"/>
                <a:cs typeface="Calibri" pitchFamily="34" charset="-120"/>
              </a:rPr>
              <a:t>The Lesson</a:t>
            </a:r>
            <a:endParaRPr lang="en-US" sz="1250" dirty="0"/>
          </a:p>
        </p:txBody>
      </p:sp>
      <p:sp>
        <p:nvSpPr>
          <p:cNvPr id="22" name="Text 20"/>
          <p:cNvSpPr/>
          <p:nvPr/>
        </p:nvSpPr>
        <p:spPr>
          <a:xfrm>
            <a:off x="8430768" y="5193792"/>
            <a:ext cx="3675888" cy="1335024"/>
          </a:xfrm>
          <a:prstGeom prst="rect">
            <a:avLst/>
          </a:prstGeom>
          <a:noFill/>
          <a:ln/>
        </p:spPr>
        <p:txBody>
          <a:bodyPr wrap="square" rtlCol="0" anchor="t"/>
          <a:lstStyle/>
          <a:p>
            <a:pPr marL="0" indent="0">
              <a:buNone/>
            </a:pPr>
            <a:r>
              <a:rPr lang="en-US" sz="1100" dirty="0">
                <a:solidFill>
                  <a:srgbClr val="333333"/>
                </a:solidFill>
                <a:latin typeface="Calibri" pitchFamily="34" charset="0"/>
                <a:ea typeface="Calibri" pitchFamily="34" charset="-122"/>
                <a:cs typeface="Calibri" pitchFamily="34" charset="-120"/>
              </a:rPr>
              <a:t>No counterparty is truly risk-free. CVA models that exclude or minimise sovereign PD must be stress-tested against realistic spread scenarios. The correct approach: compute CVA for all counterparties including sovereigns, with PD derived from observed CDS spreads rather than assumed ratings floors. Convention is not a substitute for measurement.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A5C"/>
          </a:solidFill>
          <a:ln w="12700">
            <a:solidFill>
              <a:srgbClr val="1A3A5C"/>
            </a:solidFill>
            <a:prstDash val="solid"/>
          </a:ln>
        </p:spPr>
      </p:sp>
      <p:sp>
        <p:nvSpPr>
          <p:cNvPr id="3" name="Text 1"/>
          <p:cNvSpPr/>
          <p:nvPr/>
        </p:nvSpPr>
        <p:spPr>
          <a:xfrm>
            <a:off x="320040" y="0"/>
            <a:ext cx="11521440" cy="658368"/>
          </a:xfrm>
          <a:prstGeom prst="rect">
            <a:avLst/>
          </a:prstGeom>
          <a:noFill/>
          <a:ln/>
        </p:spPr>
        <p:txBody>
          <a:bodyPr wrap="square" rtlCol="0" anchor="ctr"/>
          <a:lstStyle/>
          <a:p>
            <a:pPr marL="0" indent="0">
              <a:buNone/>
            </a:pPr>
            <a:r>
              <a:rPr lang="en-US" sz="1300" dirty="0">
                <a:solidFill>
                  <a:srgbClr val="AACCEE"/>
                </a:solidFill>
                <a:latin typeface="Calibri" pitchFamily="34" charset="0"/>
                <a:ea typeface="Calibri" pitchFamily="34" charset="-122"/>
                <a:cs typeface="Calibri" pitchFamily="34" charset="-120"/>
              </a:rPr>
              <a:t>Section 8  |  The xVA Family — Overview</a:t>
            </a:r>
            <a:endParaRPr lang="en-US" sz="1300" dirty="0"/>
          </a:p>
        </p:txBody>
      </p:sp>
      <p:sp>
        <p:nvSpPr>
          <p:cNvPr id="4" name="Text 2"/>
          <p:cNvSpPr/>
          <p:nvPr/>
        </p:nvSpPr>
        <p:spPr>
          <a:xfrm>
            <a:off x="365760" y="804672"/>
            <a:ext cx="11430000" cy="658368"/>
          </a:xfrm>
          <a:prstGeom prst="rect">
            <a:avLst/>
          </a:prstGeom>
          <a:noFill/>
          <a:ln/>
        </p:spPr>
        <p:txBody>
          <a:bodyPr wrap="square" rtlCol="0" anchor="ctr"/>
          <a:lstStyle/>
          <a:p>
            <a:pPr marL="0" indent="0">
              <a:buNone/>
            </a:pPr>
            <a:r>
              <a:rPr lang="en-US" sz="2800" b="1" dirty="0">
                <a:solidFill>
                  <a:srgbClr val="1A3A5C"/>
                </a:solidFill>
                <a:latin typeface="Georgia" pitchFamily="34" charset="0"/>
                <a:ea typeface="Georgia" pitchFamily="34" charset="-122"/>
                <a:cs typeface="Georgia" pitchFamily="34" charset="-120"/>
              </a:rPr>
              <a:t>CVA Sits in a Larger Ecosystem of Valuation Adjustments</a:t>
            </a:r>
            <a:endParaRPr lang="en-US" sz="2800" dirty="0"/>
          </a:p>
        </p:txBody>
      </p:sp>
      <p:sp>
        <p:nvSpPr>
          <p:cNvPr id="5" name="Shape 3"/>
          <p:cNvSpPr/>
          <p:nvPr/>
        </p:nvSpPr>
        <p:spPr>
          <a:xfrm>
            <a:off x="320040" y="1627632"/>
            <a:ext cx="3794760" cy="2176272"/>
          </a:xfrm>
          <a:prstGeom prst="rect">
            <a:avLst/>
          </a:prstGeom>
          <a:solidFill>
            <a:srgbClr val="D6E8F5"/>
          </a:solidFill>
          <a:ln w="25400">
            <a:solidFill>
              <a:srgbClr val="0D7377"/>
            </a:solidFill>
            <a:prstDash val="solid"/>
          </a:ln>
          <a:effectLst>
            <a:outerShdw blurRad="88900" dist="38100" dir="8100000" algn="bl" rotWithShape="0">
              <a:srgbClr val="000000">
                <a:alpha val="13000"/>
              </a:srgbClr>
            </a:outerShdw>
          </a:effectLst>
        </p:spPr>
      </p:sp>
      <p:sp>
        <p:nvSpPr>
          <p:cNvPr id="6" name="Shape 4"/>
          <p:cNvSpPr/>
          <p:nvPr/>
        </p:nvSpPr>
        <p:spPr>
          <a:xfrm>
            <a:off x="320040" y="1627632"/>
            <a:ext cx="3794760" cy="475488"/>
          </a:xfrm>
          <a:prstGeom prst="rect">
            <a:avLst/>
          </a:prstGeom>
          <a:solidFill>
            <a:srgbClr val="0D7377"/>
          </a:solidFill>
          <a:ln w="12700">
            <a:solidFill>
              <a:srgbClr val="0D7377"/>
            </a:solidFill>
            <a:prstDash val="solid"/>
          </a:ln>
        </p:spPr>
      </p:sp>
      <p:sp>
        <p:nvSpPr>
          <p:cNvPr id="7" name="Text 5"/>
          <p:cNvSpPr/>
          <p:nvPr/>
        </p:nvSpPr>
        <p:spPr>
          <a:xfrm>
            <a:off x="429768" y="1682496"/>
            <a:ext cx="1188720" cy="384048"/>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CVA</a:t>
            </a:r>
            <a:endParaRPr lang="en-US" sz="2000" dirty="0"/>
          </a:p>
        </p:txBody>
      </p:sp>
      <p:sp>
        <p:nvSpPr>
          <p:cNvPr id="8" name="Text 6"/>
          <p:cNvSpPr/>
          <p:nvPr/>
        </p:nvSpPr>
        <p:spPr>
          <a:xfrm>
            <a:off x="1691640" y="1719072"/>
            <a:ext cx="2286000" cy="292608"/>
          </a:xfrm>
          <a:prstGeom prst="rect">
            <a:avLst/>
          </a:prstGeom>
          <a:noFill/>
          <a:ln/>
        </p:spPr>
        <p:txBody>
          <a:bodyPr wrap="square" rtlCol="0" anchor="ctr"/>
          <a:lstStyle/>
          <a:p>
            <a:pPr marL="0" indent="0" algn="r">
              <a:buNone/>
            </a:pPr>
            <a:r>
              <a:rPr lang="en-US" sz="1000" i="1" dirty="0">
                <a:solidFill>
                  <a:srgbClr val="DDEEEE"/>
                </a:solidFill>
                <a:latin typeface="Calibri" pitchFamily="34" charset="0"/>
                <a:ea typeface="Calibri" pitchFamily="34" charset="-122"/>
                <a:cs typeface="Calibri" pitchFamily="34" charset="-120"/>
              </a:rPr>
              <a:t>This Module</a:t>
            </a:r>
            <a:endParaRPr lang="en-US" sz="1000" dirty="0"/>
          </a:p>
        </p:txBody>
      </p:sp>
      <p:sp>
        <p:nvSpPr>
          <p:cNvPr id="9" name="Text 7"/>
          <p:cNvSpPr/>
          <p:nvPr/>
        </p:nvSpPr>
        <p:spPr>
          <a:xfrm>
            <a:off x="429768" y="2176272"/>
            <a:ext cx="3566160" cy="347472"/>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Credit Valuation Adjustment</a:t>
            </a:r>
            <a:endParaRPr lang="en-US" sz="1200" dirty="0"/>
          </a:p>
        </p:txBody>
      </p:sp>
      <p:sp>
        <p:nvSpPr>
          <p:cNvPr id="10" name="Text 8"/>
          <p:cNvSpPr/>
          <p:nvPr/>
        </p:nvSpPr>
        <p:spPr>
          <a:xfrm>
            <a:off x="429768" y="2560320"/>
            <a:ext cx="3566160" cy="1133856"/>
          </a:xfrm>
          <a:prstGeom prst="rect">
            <a:avLst/>
          </a:prstGeom>
          <a:noFill/>
          <a:ln/>
        </p:spPr>
        <p:txBody>
          <a:bodyPr wrap="square" rtlCol="0" anchor="t"/>
          <a:lstStyle/>
          <a:p>
            <a:pPr marL="0" indent="0">
              <a:buNone/>
            </a:pPr>
            <a:r>
              <a:rPr lang="en-US" sz="1050" dirty="0">
                <a:solidFill>
                  <a:srgbClr val="333333"/>
                </a:solidFill>
                <a:latin typeface="Calibri" pitchFamily="34" charset="0"/>
                <a:ea typeface="Calibri" pitchFamily="34" charset="-122"/>
                <a:cs typeface="Calibri" pitchFamily="34" charset="-120"/>
              </a:rPr>
              <a:t>The present value of expected losses from counterparty default. Reduces derivative asset values. Driven by counterparty credit spreads, exposure, and LGD. The most mature xVA term and the focus of this module.</a:t>
            </a:r>
            <a:endParaRPr lang="en-US" sz="1050" dirty="0"/>
          </a:p>
        </p:txBody>
      </p:sp>
      <p:sp>
        <p:nvSpPr>
          <p:cNvPr id="11" name="Shape 9"/>
          <p:cNvSpPr/>
          <p:nvPr/>
        </p:nvSpPr>
        <p:spPr>
          <a:xfrm>
            <a:off x="4297680" y="1627632"/>
            <a:ext cx="3794760" cy="2176272"/>
          </a:xfrm>
          <a:prstGeom prst="rect">
            <a:avLst/>
          </a:prstGeom>
          <a:solidFill>
            <a:srgbClr val="FDECEA"/>
          </a:solidFill>
          <a:ln w="25400">
            <a:solidFill>
              <a:srgbClr val="C0392B"/>
            </a:solidFill>
            <a:prstDash val="solid"/>
          </a:ln>
          <a:effectLst>
            <a:outerShdw blurRad="88900" dist="38100" dir="8100000" algn="bl" rotWithShape="0">
              <a:srgbClr val="000000">
                <a:alpha val="13000"/>
              </a:srgbClr>
            </a:outerShdw>
          </a:effectLst>
        </p:spPr>
      </p:sp>
      <p:sp>
        <p:nvSpPr>
          <p:cNvPr id="12" name="Shape 10"/>
          <p:cNvSpPr/>
          <p:nvPr/>
        </p:nvSpPr>
        <p:spPr>
          <a:xfrm>
            <a:off x="4297680" y="1627632"/>
            <a:ext cx="3794760" cy="475488"/>
          </a:xfrm>
          <a:prstGeom prst="rect">
            <a:avLst/>
          </a:prstGeom>
          <a:solidFill>
            <a:srgbClr val="C0392B"/>
          </a:solidFill>
          <a:ln w="12700">
            <a:solidFill>
              <a:srgbClr val="C0392B"/>
            </a:solidFill>
            <a:prstDash val="solid"/>
          </a:ln>
        </p:spPr>
      </p:sp>
      <p:sp>
        <p:nvSpPr>
          <p:cNvPr id="13" name="Text 11"/>
          <p:cNvSpPr/>
          <p:nvPr/>
        </p:nvSpPr>
        <p:spPr>
          <a:xfrm>
            <a:off x="4407408" y="1682496"/>
            <a:ext cx="1188720" cy="384048"/>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DVA</a:t>
            </a:r>
            <a:endParaRPr lang="en-US" sz="2000" dirty="0"/>
          </a:p>
        </p:txBody>
      </p:sp>
      <p:sp>
        <p:nvSpPr>
          <p:cNvPr id="14" name="Text 12"/>
          <p:cNvSpPr/>
          <p:nvPr/>
        </p:nvSpPr>
        <p:spPr>
          <a:xfrm>
            <a:off x="5669280" y="1719072"/>
            <a:ext cx="2286000" cy="292608"/>
          </a:xfrm>
          <a:prstGeom prst="rect">
            <a:avLst/>
          </a:prstGeom>
          <a:noFill/>
          <a:ln/>
        </p:spPr>
        <p:txBody>
          <a:bodyPr wrap="square" rtlCol="0" anchor="ctr"/>
          <a:lstStyle/>
          <a:p>
            <a:pPr marL="0" indent="0" algn="r">
              <a:buNone/>
            </a:pPr>
            <a:r>
              <a:rPr lang="en-US" sz="1000" i="1" dirty="0">
                <a:solidFill>
                  <a:srgbClr val="DDEEEE"/>
                </a:solidFill>
                <a:latin typeface="Calibri" pitchFamily="34" charset="0"/>
                <a:ea typeface="Calibri" pitchFamily="34" charset="-122"/>
                <a:cs typeface="Calibri" pitchFamily="34" charset="-120"/>
              </a:rPr>
              <a:t>This Module</a:t>
            </a:r>
            <a:endParaRPr lang="en-US" sz="1000" dirty="0"/>
          </a:p>
        </p:txBody>
      </p:sp>
      <p:sp>
        <p:nvSpPr>
          <p:cNvPr id="15" name="Text 13"/>
          <p:cNvSpPr/>
          <p:nvPr/>
        </p:nvSpPr>
        <p:spPr>
          <a:xfrm>
            <a:off x="4407408" y="2176272"/>
            <a:ext cx="3566160" cy="347472"/>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Debt Valuation Adjustment</a:t>
            </a:r>
            <a:endParaRPr lang="en-US" sz="1200" dirty="0"/>
          </a:p>
        </p:txBody>
      </p:sp>
      <p:sp>
        <p:nvSpPr>
          <p:cNvPr id="16" name="Text 14"/>
          <p:cNvSpPr/>
          <p:nvPr/>
        </p:nvSpPr>
        <p:spPr>
          <a:xfrm>
            <a:off x="4407408" y="2560320"/>
            <a:ext cx="3566160" cy="1133856"/>
          </a:xfrm>
          <a:prstGeom prst="rect">
            <a:avLst/>
          </a:prstGeom>
          <a:noFill/>
          <a:ln/>
        </p:spPr>
        <p:txBody>
          <a:bodyPr wrap="square" rtlCol="0" anchor="t"/>
          <a:lstStyle/>
          <a:p>
            <a:pPr marL="0" indent="0">
              <a:buNone/>
            </a:pPr>
            <a:r>
              <a:rPr lang="en-US" sz="1050" dirty="0">
                <a:solidFill>
                  <a:srgbClr val="333333"/>
                </a:solidFill>
                <a:latin typeface="Calibri" pitchFamily="34" charset="0"/>
                <a:ea typeface="Calibri" pitchFamily="34" charset="-122"/>
                <a:cs typeface="Calibri" pitchFamily="34" charset="-120"/>
              </a:rPr>
              <a:t>Own-credit adjustment on derivative liabilities. Gains when own credit deteriorates. Required under IFRS 13 / ASC 820 but stripped from regulatory capital. Covered in this module.</a:t>
            </a:r>
            <a:endParaRPr lang="en-US" sz="1050" dirty="0"/>
          </a:p>
        </p:txBody>
      </p:sp>
      <p:sp>
        <p:nvSpPr>
          <p:cNvPr id="17" name="Shape 15"/>
          <p:cNvSpPr/>
          <p:nvPr/>
        </p:nvSpPr>
        <p:spPr>
          <a:xfrm>
            <a:off x="8275320" y="1627632"/>
            <a:ext cx="3794760" cy="2176272"/>
          </a:xfrm>
          <a:prstGeom prst="rect">
            <a:avLst/>
          </a:prstGeom>
          <a:solidFill>
            <a:srgbClr val="FDF3E3"/>
          </a:solidFill>
          <a:ln w="25400">
            <a:solidFill>
              <a:srgbClr val="C8922A"/>
            </a:solidFill>
            <a:prstDash val="solid"/>
          </a:ln>
          <a:effectLst>
            <a:outerShdw blurRad="88900" dist="38100" dir="8100000" algn="bl" rotWithShape="0">
              <a:srgbClr val="000000">
                <a:alpha val="13000"/>
              </a:srgbClr>
            </a:outerShdw>
          </a:effectLst>
        </p:spPr>
      </p:sp>
      <p:sp>
        <p:nvSpPr>
          <p:cNvPr id="18" name="Shape 16"/>
          <p:cNvSpPr/>
          <p:nvPr/>
        </p:nvSpPr>
        <p:spPr>
          <a:xfrm>
            <a:off x="8275320" y="1627632"/>
            <a:ext cx="3794760" cy="475488"/>
          </a:xfrm>
          <a:prstGeom prst="rect">
            <a:avLst/>
          </a:prstGeom>
          <a:solidFill>
            <a:srgbClr val="C8922A"/>
          </a:solidFill>
          <a:ln w="12700">
            <a:solidFill>
              <a:srgbClr val="C8922A"/>
            </a:solidFill>
            <a:prstDash val="solid"/>
          </a:ln>
        </p:spPr>
      </p:sp>
      <p:sp>
        <p:nvSpPr>
          <p:cNvPr id="19" name="Text 17"/>
          <p:cNvSpPr/>
          <p:nvPr/>
        </p:nvSpPr>
        <p:spPr>
          <a:xfrm>
            <a:off x="8385048" y="1682496"/>
            <a:ext cx="1188720" cy="384048"/>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FVA</a:t>
            </a:r>
            <a:endParaRPr lang="en-US" sz="2000" dirty="0"/>
          </a:p>
        </p:txBody>
      </p:sp>
      <p:sp>
        <p:nvSpPr>
          <p:cNvPr id="20" name="Text 18"/>
          <p:cNvSpPr/>
          <p:nvPr/>
        </p:nvSpPr>
        <p:spPr>
          <a:xfrm>
            <a:off x="9646920" y="1719072"/>
            <a:ext cx="2286000" cy="292608"/>
          </a:xfrm>
          <a:prstGeom prst="rect">
            <a:avLst/>
          </a:prstGeom>
          <a:noFill/>
          <a:ln/>
        </p:spPr>
        <p:txBody>
          <a:bodyPr wrap="square" rtlCol="0" anchor="ctr"/>
          <a:lstStyle/>
          <a:p>
            <a:pPr marL="0" indent="0" algn="r">
              <a:buNone/>
            </a:pPr>
            <a:r>
              <a:rPr lang="en-US" sz="1000" i="1" dirty="0">
                <a:solidFill>
                  <a:srgbClr val="DDEEEE"/>
                </a:solidFill>
                <a:latin typeface="Calibri" pitchFamily="34" charset="0"/>
                <a:ea typeface="Calibri" pitchFamily="34" charset="-122"/>
                <a:cs typeface="Calibri" pitchFamily="34" charset="-120"/>
              </a:rPr>
              <a:t>Module 4</a:t>
            </a:r>
            <a:endParaRPr lang="en-US" sz="1000" dirty="0"/>
          </a:p>
        </p:txBody>
      </p:sp>
      <p:sp>
        <p:nvSpPr>
          <p:cNvPr id="21" name="Text 19"/>
          <p:cNvSpPr/>
          <p:nvPr/>
        </p:nvSpPr>
        <p:spPr>
          <a:xfrm>
            <a:off x="8385048" y="2176272"/>
            <a:ext cx="3566160" cy="347472"/>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Funding Valuation Adjustment</a:t>
            </a:r>
            <a:endParaRPr lang="en-US" sz="1200" dirty="0"/>
          </a:p>
        </p:txBody>
      </p:sp>
      <p:sp>
        <p:nvSpPr>
          <p:cNvPr id="22" name="Text 20"/>
          <p:cNvSpPr/>
          <p:nvPr/>
        </p:nvSpPr>
        <p:spPr>
          <a:xfrm>
            <a:off x="8385048" y="2560320"/>
            <a:ext cx="3566160" cy="1133856"/>
          </a:xfrm>
          <a:prstGeom prst="rect">
            <a:avLst/>
          </a:prstGeom>
          <a:noFill/>
          <a:ln/>
        </p:spPr>
        <p:txBody>
          <a:bodyPr wrap="square" rtlCol="0" anchor="t"/>
          <a:lstStyle/>
          <a:p>
            <a:pPr marL="0" indent="0">
              <a:buNone/>
            </a:pPr>
            <a:r>
              <a:rPr lang="en-US" sz="1050" dirty="0">
                <a:solidFill>
                  <a:srgbClr val="333333"/>
                </a:solidFill>
                <a:latin typeface="Calibri" pitchFamily="34" charset="0"/>
                <a:ea typeface="Calibri" pitchFamily="34" charset="-122"/>
                <a:cs typeface="Calibri" pitchFamily="34" charset="-120"/>
              </a:rPr>
              <a:t>The cost of funding uncollateralised derivatives at a spread above the risk-free rate. Reflects the bank's internal funding curve. Pioneered by Piterbarg (2010). Material for exotics and uncollateralised trades.</a:t>
            </a:r>
            <a:endParaRPr lang="en-US" sz="1050" dirty="0"/>
          </a:p>
        </p:txBody>
      </p:sp>
      <p:sp>
        <p:nvSpPr>
          <p:cNvPr id="23" name="Shape 21"/>
          <p:cNvSpPr/>
          <p:nvPr/>
        </p:nvSpPr>
        <p:spPr>
          <a:xfrm>
            <a:off x="320040" y="3959352"/>
            <a:ext cx="3794760" cy="2176272"/>
          </a:xfrm>
          <a:prstGeom prst="rect">
            <a:avLst/>
          </a:prstGeom>
          <a:solidFill>
            <a:srgbClr val="EAECF8"/>
          </a:solidFill>
          <a:ln w="25400">
            <a:solidFill>
              <a:srgbClr val="5B6EBF"/>
            </a:solidFill>
            <a:prstDash val="solid"/>
          </a:ln>
          <a:effectLst>
            <a:outerShdw blurRad="88900" dist="38100" dir="8100000" algn="bl" rotWithShape="0">
              <a:srgbClr val="000000">
                <a:alpha val="13000"/>
              </a:srgbClr>
            </a:outerShdw>
          </a:effectLst>
        </p:spPr>
      </p:sp>
      <p:sp>
        <p:nvSpPr>
          <p:cNvPr id="24" name="Shape 22"/>
          <p:cNvSpPr/>
          <p:nvPr/>
        </p:nvSpPr>
        <p:spPr>
          <a:xfrm>
            <a:off x="320040" y="3959352"/>
            <a:ext cx="3794760" cy="475488"/>
          </a:xfrm>
          <a:prstGeom prst="rect">
            <a:avLst/>
          </a:prstGeom>
          <a:solidFill>
            <a:srgbClr val="5B6EBF"/>
          </a:solidFill>
          <a:ln w="12700">
            <a:solidFill>
              <a:srgbClr val="5B6EBF"/>
            </a:solidFill>
            <a:prstDash val="solid"/>
          </a:ln>
        </p:spPr>
      </p:sp>
      <p:sp>
        <p:nvSpPr>
          <p:cNvPr id="25" name="Text 23"/>
          <p:cNvSpPr/>
          <p:nvPr/>
        </p:nvSpPr>
        <p:spPr>
          <a:xfrm>
            <a:off x="429768" y="4014216"/>
            <a:ext cx="1188720" cy="384048"/>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MVA</a:t>
            </a:r>
            <a:endParaRPr lang="en-US" sz="2000" dirty="0"/>
          </a:p>
        </p:txBody>
      </p:sp>
      <p:sp>
        <p:nvSpPr>
          <p:cNvPr id="26" name="Text 24"/>
          <p:cNvSpPr/>
          <p:nvPr/>
        </p:nvSpPr>
        <p:spPr>
          <a:xfrm>
            <a:off x="1691640" y="4050792"/>
            <a:ext cx="2286000" cy="292608"/>
          </a:xfrm>
          <a:prstGeom prst="rect">
            <a:avLst/>
          </a:prstGeom>
          <a:noFill/>
          <a:ln/>
        </p:spPr>
        <p:txBody>
          <a:bodyPr wrap="square" rtlCol="0" anchor="ctr"/>
          <a:lstStyle/>
          <a:p>
            <a:pPr marL="0" indent="0" algn="r">
              <a:buNone/>
            </a:pPr>
            <a:r>
              <a:rPr lang="en-US" sz="1000" i="1" dirty="0">
                <a:solidFill>
                  <a:srgbClr val="DDEEEE"/>
                </a:solidFill>
                <a:latin typeface="Calibri" pitchFamily="34" charset="0"/>
                <a:ea typeface="Calibri" pitchFamily="34" charset="-122"/>
                <a:cs typeface="Calibri" pitchFamily="34" charset="-120"/>
              </a:rPr>
              <a:t>Module 4</a:t>
            </a:r>
            <a:endParaRPr lang="en-US" sz="1000" dirty="0"/>
          </a:p>
        </p:txBody>
      </p:sp>
      <p:sp>
        <p:nvSpPr>
          <p:cNvPr id="27" name="Text 25"/>
          <p:cNvSpPr/>
          <p:nvPr/>
        </p:nvSpPr>
        <p:spPr>
          <a:xfrm>
            <a:off x="429768" y="4507992"/>
            <a:ext cx="3566160" cy="347472"/>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Margin Valuation Adjustment</a:t>
            </a:r>
            <a:endParaRPr lang="en-US" sz="1200" dirty="0"/>
          </a:p>
        </p:txBody>
      </p:sp>
      <p:sp>
        <p:nvSpPr>
          <p:cNvPr id="28" name="Text 26"/>
          <p:cNvSpPr/>
          <p:nvPr/>
        </p:nvSpPr>
        <p:spPr>
          <a:xfrm>
            <a:off x="429768" y="4892040"/>
            <a:ext cx="3566160" cy="1133856"/>
          </a:xfrm>
          <a:prstGeom prst="rect">
            <a:avLst/>
          </a:prstGeom>
          <a:noFill/>
          <a:ln/>
        </p:spPr>
        <p:txBody>
          <a:bodyPr wrap="square" rtlCol="0" anchor="t"/>
          <a:lstStyle/>
          <a:p>
            <a:pPr marL="0" indent="0">
              <a:buNone/>
            </a:pPr>
            <a:r>
              <a:rPr lang="en-US" sz="1050" dirty="0">
                <a:solidFill>
                  <a:srgbClr val="333333"/>
                </a:solidFill>
                <a:latin typeface="Calibri" pitchFamily="34" charset="0"/>
                <a:ea typeface="Calibri" pitchFamily="34" charset="-122"/>
                <a:cs typeface="Calibri" pitchFamily="34" charset="-120"/>
              </a:rPr>
              <a:t>The cost of posting Initial Margin under UMR and CCP clearing rules. As IM requirements have grown post-2016, MVA has become a primary driver of derivatives pricing for in-scope counterparties.</a:t>
            </a:r>
            <a:endParaRPr lang="en-US" sz="1050" dirty="0"/>
          </a:p>
        </p:txBody>
      </p:sp>
      <p:sp>
        <p:nvSpPr>
          <p:cNvPr id="29" name="Shape 27"/>
          <p:cNvSpPr/>
          <p:nvPr/>
        </p:nvSpPr>
        <p:spPr>
          <a:xfrm>
            <a:off x="4297680" y="3959352"/>
            <a:ext cx="3794760" cy="2176272"/>
          </a:xfrm>
          <a:prstGeom prst="rect">
            <a:avLst/>
          </a:prstGeom>
          <a:solidFill>
            <a:srgbClr val="E8F5EE"/>
          </a:solidFill>
          <a:ln w="25400">
            <a:solidFill>
              <a:srgbClr val="1A6B3C"/>
            </a:solidFill>
            <a:prstDash val="solid"/>
          </a:ln>
          <a:effectLst>
            <a:outerShdw blurRad="88900" dist="38100" dir="8100000" algn="bl" rotWithShape="0">
              <a:srgbClr val="000000">
                <a:alpha val="13000"/>
              </a:srgbClr>
            </a:outerShdw>
          </a:effectLst>
        </p:spPr>
      </p:sp>
      <p:sp>
        <p:nvSpPr>
          <p:cNvPr id="30" name="Shape 28"/>
          <p:cNvSpPr/>
          <p:nvPr/>
        </p:nvSpPr>
        <p:spPr>
          <a:xfrm>
            <a:off x="4297680" y="3959352"/>
            <a:ext cx="3794760" cy="475488"/>
          </a:xfrm>
          <a:prstGeom prst="rect">
            <a:avLst/>
          </a:prstGeom>
          <a:solidFill>
            <a:srgbClr val="1A6B3C"/>
          </a:solidFill>
          <a:ln w="12700">
            <a:solidFill>
              <a:srgbClr val="1A6B3C"/>
            </a:solidFill>
            <a:prstDash val="solid"/>
          </a:ln>
        </p:spPr>
      </p:sp>
      <p:sp>
        <p:nvSpPr>
          <p:cNvPr id="31" name="Text 29"/>
          <p:cNvSpPr/>
          <p:nvPr/>
        </p:nvSpPr>
        <p:spPr>
          <a:xfrm>
            <a:off x="4407408" y="4014216"/>
            <a:ext cx="1188720" cy="384048"/>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KVA</a:t>
            </a:r>
            <a:endParaRPr lang="en-US" sz="2000" dirty="0"/>
          </a:p>
        </p:txBody>
      </p:sp>
      <p:sp>
        <p:nvSpPr>
          <p:cNvPr id="32" name="Text 30"/>
          <p:cNvSpPr/>
          <p:nvPr/>
        </p:nvSpPr>
        <p:spPr>
          <a:xfrm>
            <a:off x="5669280" y="4050792"/>
            <a:ext cx="2286000" cy="292608"/>
          </a:xfrm>
          <a:prstGeom prst="rect">
            <a:avLst/>
          </a:prstGeom>
          <a:noFill/>
          <a:ln/>
        </p:spPr>
        <p:txBody>
          <a:bodyPr wrap="square" rtlCol="0" anchor="ctr"/>
          <a:lstStyle/>
          <a:p>
            <a:pPr marL="0" indent="0" algn="r">
              <a:buNone/>
            </a:pPr>
            <a:r>
              <a:rPr lang="en-US" sz="1000" i="1" dirty="0">
                <a:solidFill>
                  <a:srgbClr val="DDEEEE"/>
                </a:solidFill>
                <a:latin typeface="Calibri" pitchFamily="34" charset="0"/>
                <a:ea typeface="Calibri" pitchFamily="34" charset="-122"/>
                <a:cs typeface="Calibri" pitchFamily="34" charset="-120"/>
              </a:rPr>
              <a:t>Module 5</a:t>
            </a:r>
            <a:endParaRPr lang="en-US" sz="1000" dirty="0"/>
          </a:p>
        </p:txBody>
      </p:sp>
      <p:sp>
        <p:nvSpPr>
          <p:cNvPr id="33" name="Text 31"/>
          <p:cNvSpPr/>
          <p:nvPr/>
        </p:nvSpPr>
        <p:spPr>
          <a:xfrm>
            <a:off x="4407408" y="4507992"/>
            <a:ext cx="3566160" cy="347472"/>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Capital Valuation Adjustment</a:t>
            </a:r>
            <a:endParaRPr lang="en-US" sz="1200" dirty="0"/>
          </a:p>
        </p:txBody>
      </p:sp>
      <p:sp>
        <p:nvSpPr>
          <p:cNvPr id="34" name="Text 32"/>
          <p:cNvSpPr/>
          <p:nvPr/>
        </p:nvSpPr>
        <p:spPr>
          <a:xfrm>
            <a:off x="4407408" y="4892040"/>
            <a:ext cx="3566160" cy="1133856"/>
          </a:xfrm>
          <a:prstGeom prst="rect">
            <a:avLst/>
          </a:prstGeom>
          <a:noFill/>
          <a:ln/>
        </p:spPr>
        <p:txBody>
          <a:bodyPr wrap="square" rtlCol="0" anchor="t"/>
          <a:lstStyle/>
          <a:p>
            <a:pPr marL="0" indent="0">
              <a:buNone/>
            </a:pPr>
            <a:r>
              <a:rPr lang="en-US" sz="1050" dirty="0">
                <a:solidFill>
                  <a:srgbClr val="333333"/>
                </a:solidFill>
                <a:latin typeface="Calibri" pitchFamily="34" charset="0"/>
                <a:ea typeface="Calibri" pitchFamily="34" charset="-122"/>
                <a:cs typeface="Calibri" pitchFamily="34" charset="-120"/>
              </a:rPr>
              <a:t>The cost of holding regulatory capital against a trade over its life. Under Basel IV, KVA has grown in importance — for some portfolios it now exceeds CVA. Reflects the return on capital required by shareholders.</a:t>
            </a:r>
            <a:endParaRPr lang="en-US" sz="1050" dirty="0"/>
          </a:p>
        </p:txBody>
      </p:sp>
      <p:sp>
        <p:nvSpPr>
          <p:cNvPr id="35" name="Shape 33"/>
          <p:cNvSpPr/>
          <p:nvPr/>
        </p:nvSpPr>
        <p:spPr>
          <a:xfrm>
            <a:off x="8275320" y="3959352"/>
            <a:ext cx="3794760" cy="2176272"/>
          </a:xfrm>
          <a:prstGeom prst="rect">
            <a:avLst/>
          </a:prstGeom>
          <a:solidFill>
            <a:srgbClr val="F5EDE8"/>
          </a:solidFill>
          <a:ln w="25400">
            <a:solidFill>
              <a:srgbClr val="6D4C41"/>
            </a:solidFill>
            <a:prstDash val="solid"/>
          </a:ln>
          <a:effectLst>
            <a:outerShdw blurRad="88900" dist="38100" dir="8100000" algn="bl" rotWithShape="0">
              <a:srgbClr val="000000">
                <a:alpha val="13000"/>
              </a:srgbClr>
            </a:outerShdw>
          </a:effectLst>
        </p:spPr>
      </p:sp>
      <p:sp>
        <p:nvSpPr>
          <p:cNvPr id="36" name="Shape 34"/>
          <p:cNvSpPr/>
          <p:nvPr/>
        </p:nvSpPr>
        <p:spPr>
          <a:xfrm>
            <a:off x="8275320" y="3959352"/>
            <a:ext cx="3794760" cy="475488"/>
          </a:xfrm>
          <a:prstGeom prst="rect">
            <a:avLst/>
          </a:prstGeom>
          <a:solidFill>
            <a:srgbClr val="6D4C41"/>
          </a:solidFill>
          <a:ln w="12700">
            <a:solidFill>
              <a:srgbClr val="6D4C41"/>
            </a:solidFill>
            <a:prstDash val="solid"/>
          </a:ln>
        </p:spPr>
      </p:sp>
      <p:sp>
        <p:nvSpPr>
          <p:cNvPr id="37" name="Text 35"/>
          <p:cNvSpPr/>
          <p:nvPr/>
        </p:nvSpPr>
        <p:spPr>
          <a:xfrm>
            <a:off x="8385048" y="4014216"/>
            <a:ext cx="1188720" cy="384048"/>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ColVA</a:t>
            </a:r>
            <a:endParaRPr lang="en-US" sz="2000" dirty="0"/>
          </a:p>
        </p:txBody>
      </p:sp>
      <p:sp>
        <p:nvSpPr>
          <p:cNvPr id="38" name="Text 36"/>
          <p:cNvSpPr/>
          <p:nvPr/>
        </p:nvSpPr>
        <p:spPr>
          <a:xfrm>
            <a:off x="9646920" y="4050792"/>
            <a:ext cx="2286000" cy="292608"/>
          </a:xfrm>
          <a:prstGeom prst="rect">
            <a:avLst/>
          </a:prstGeom>
          <a:noFill/>
          <a:ln/>
        </p:spPr>
        <p:txBody>
          <a:bodyPr wrap="square" rtlCol="0" anchor="ctr"/>
          <a:lstStyle/>
          <a:p>
            <a:pPr marL="0" indent="0" algn="r">
              <a:buNone/>
            </a:pPr>
            <a:r>
              <a:rPr lang="en-US" sz="1000" i="1" dirty="0">
                <a:solidFill>
                  <a:srgbClr val="DDEEEE"/>
                </a:solidFill>
                <a:latin typeface="Calibri" pitchFamily="34" charset="0"/>
                <a:ea typeface="Calibri" pitchFamily="34" charset="-122"/>
                <a:cs typeface="Calibri" pitchFamily="34" charset="-120"/>
              </a:rPr>
              <a:t>Module 6</a:t>
            </a:r>
            <a:endParaRPr lang="en-US" sz="1000" dirty="0"/>
          </a:p>
        </p:txBody>
      </p:sp>
      <p:sp>
        <p:nvSpPr>
          <p:cNvPr id="39" name="Text 37"/>
          <p:cNvSpPr/>
          <p:nvPr/>
        </p:nvSpPr>
        <p:spPr>
          <a:xfrm>
            <a:off x="8385048" y="4507992"/>
            <a:ext cx="3566160" cy="347472"/>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Collateral Valuation Adjustment</a:t>
            </a:r>
            <a:endParaRPr lang="en-US" sz="1200" dirty="0"/>
          </a:p>
        </p:txBody>
      </p:sp>
      <p:sp>
        <p:nvSpPr>
          <p:cNvPr id="40" name="Text 38"/>
          <p:cNvSpPr/>
          <p:nvPr/>
        </p:nvSpPr>
        <p:spPr>
          <a:xfrm>
            <a:off x="8385048" y="4892040"/>
            <a:ext cx="3566160" cy="1133856"/>
          </a:xfrm>
          <a:prstGeom prst="rect">
            <a:avLst/>
          </a:prstGeom>
          <a:noFill/>
          <a:ln/>
        </p:spPr>
        <p:txBody>
          <a:bodyPr wrap="square" rtlCol="0" anchor="t"/>
          <a:lstStyle/>
          <a:p>
            <a:pPr marL="0" indent="0">
              <a:buNone/>
            </a:pPr>
            <a:r>
              <a:rPr lang="en-US" sz="1050" dirty="0">
                <a:solidFill>
                  <a:srgbClr val="333333"/>
                </a:solidFill>
                <a:latin typeface="Calibri" pitchFamily="34" charset="0"/>
                <a:ea typeface="Calibri" pitchFamily="34" charset="-122"/>
                <a:cs typeface="Calibri" pitchFamily="34" charset="-120"/>
              </a:rPr>
              <a:t>Captures the optionality embedded in CSA collateral terms — e.g. currency of collateral choice, threshold triggers, rehypothecation rights. Often small individually but material at portfolio scale.</a:t>
            </a:r>
            <a:endParaRPr lang="en-US" sz="1050" dirty="0"/>
          </a:p>
        </p:txBody>
      </p:sp>
      <p:sp>
        <p:nvSpPr>
          <p:cNvPr id="41" name="Shape 39"/>
          <p:cNvSpPr/>
          <p:nvPr/>
        </p:nvSpPr>
        <p:spPr>
          <a:xfrm>
            <a:off x="0" y="6309360"/>
            <a:ext cx="12161520" cy="548640"/>
          </a:xfrm>
          <a:prstGeom prst="rect">
            <a:avLst/>
          </a:prstGeom>
          <a:solidFill>
            <a:srgbClr val="1A3A5C"/>
          </a:solidFill>
          <a:ln w="12700">
            <a:solidFill>
              <a:srgbClr val="1A3A5C"/>
            </a:solidFill>
            <a:prstDash val="solid"/>
          </a:ln>
        </p:spPr>
      </p:sp>
      <p:sp>
        <p:nvSpPr>
          <p:cNvPr id="42" name="Text 40"/>
          <p:cNvSpPr/>
          <p:nvPr/>
        </p:nvSpPr>
        <p:spPr>
          <a:xfrm>
            <a:off x="365760" y="6309360"/>
            <a:ext cx="11430000" cy="5486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All six xVA terms interact: adding collateral reduces CVA but increases MVA. KVA and FVA now rival CVA in size for some portfolios. FVA, MVA, KVA and ColVA each receive dedicated modules in this series.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F30"/>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D7377"/>
          </a:solidFill>
          <a:ln w="12700">
            <a:solidFill>
              <a:srgbClr val="0D7377"/>
            </a:solidFill>
            <a:prstDash val="solid"/>
          </a:ln>
        </p:spPr>
      </p:sp>
      <p:sp>
        <p:nvSpPr>
          <p:cNvPr id="3" name="Text 1"/>
          <p:cNvSpPr/>
          <p:nvPr/>
        </p:nvSpPr>
        <p:spPr>
          <a:xfrm>
            <a:off x="411480" y="256032"/>
            <a:ext cx="11430000" cy="566928"/>
          </a:xfrm>
          <a:prstGeom prst="rect">
            <a:avLst/>
          </a:prstGeom>
          <a:noFill/>
          <a:ln/>
        </p:spPr>
        <p:txBody>
          <a:bodyPr wrap="square"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Module 3 — Key Debates &amp; Takeaways</a:t>
            </a:r>
            <a:endParaRPr lang="en-US" sz="2400" dirty="0"/>
          </a:p>
        </p:txBody>
      </p:sp>
      <p:sp>
        <p:nvSpPr>
          <p:cNvPr id="4" name="Shape 2"/>
          <p:cNvSpPr/>
          <p:nvPr/>
        </p:nvSpPr>
        <p:spPr>
          <a:xfrm>
            <a:off x="411480" y="914400"/>
            <a:ext cx="11430000" cy="36576"/>
          </a:xfrm>
          <a:prstGeom prst="rect">
            <a:avLst/>
          </a:prstGeom>
          <a:solidFill>
            <a:srgbClr val="0D7377"/>
          </a:solidFill>
          <a:ln w="12700">
            <a:solidFill>
              <a:srgbClr val="0D7377"/>
            </a:solidFill>
            <a:prstDash val="solid"/>
          </a:ln>
        </p:spPr>
      </p:sp>
      <p:sp>
        <p:nvSpPr>
          <p:cNvPr id="5" name="Shape 3"/>
          <p:cNvSpPr/>
          <p:nvPr/>
        </p:nvSpPr>
        <p:spPr>
          <a:xfrm>
            <a:off x="320040" y="1115568"/>
            <a:ext cx="5669280" cy="1463040"/>
          </a:xfrm>
          <a:prstGeom prst="rect">
            <a:avLst/>
          </a:prstGeom>
          <a:solidFill>
            <a:srgbClr val="0B1825"/>
          </a:solidFill>
          <a:ln w="25400">
            <a:solidFill>
              <a:srgbClr val="C0392B"/>
            </a:solidFill>
            <a:prstDash val="solid"/>
          </a:ln>
        </p:spPr>
      </p:sp>
      <p:sp>
        <p:nvSpPr>
          <p:cNvPr id="6" name="Shape 4"/>
          <p:cNvSpPr/>
          <p:nvPr/>
        </p:nvSpPr>
        <p:spPr>
          <a:xfrm>
            <a:off x="457200" y="1572768"/>
            <a:ext cx="512064" cy="512064"/>
          </a:xfrm>
          <a:prstGeom prst="ellipse">
            <a:avLst/>
          </a:prstGeom>
          <a:solidFill>
            <a:srgbClr val="C0392B"/>
          </a:solidFill>
          <a:ln w="12700">
            <a:solidFill>
              <a:srgbClr val="C0392B"/>
            </a:solidFill>
            <a:prstDash val="solid"/>
          </a:ln>
        </p:spPr>
      </p:sp>
      <p:sp>
        <p:nvSpPr>
          <p:cNvPr id="7" name="Text 5"/>
          <p:cNvSpPr/>
          <p:nvPr/>
        </p:nvSpPr>
        <p:spPr>
          <a:xfrm>
            <a:off x="457200" y="1572768"/>
            <a:ext cx="512064" cy="512064"/>
          </a:xfrm>
          <a:prstGeom prst="rect">
            <a:avLst/>
          </a:prstGeom>
          <a:noFill/>
          <a:ln/>
        </p:spPr>
        <p:txBody>
          <a:bodyPr wrap="square" lIns="0" tIns="0" rIns="0" bIns="0" rtlCol="0" anchor="ctr"/>
          <a:lstStyle/>
          <a:p>
            <a:pPr marL="0" indent="0" algn="ctr">
              <a:buNone/>
            </a:pPr>
            <a:r>
              <a:rPr lang="en-US" sz="1200" b="1" dirty="0">
                <a:solidFill>
                  <a:srgbClr val="FFFFFF"/>
                </a:solidFill>
              </a:rPr>
              <a:t>01</a:t>
            </a:r>
            <a:endParaRPr lang="en-US" sz="1200" dirty="0"/>
          </a:p>
        </p:txBody>
      </p:sp>
      <p:sp>
        <p:nvSpPr>
          <p:cNvPr id="8" name="Text 6"/>
          <p:cNvSpPr/>
          <p:nvPr/>
        </p:nvSpPr>
        <p:spPr>
          <a:xfrm>
            <a:off x="1124712" y="1225296"/>
            <a:ext cx="4727448" cy="402336"/>
          </a:xfrm>
          <a:prstGeom prst="rect">
            <a:avLst/>
          </a:prstGeom>
          <a:noFill/>
          <a:ln/>
        </p:spPr>
        <p:txBody>
          <a:bodyPr wrap="square"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DVA in P&amp;L?</a:t>
            </a:r>
            <a:endParaRPr lang="en-US" sz="1300" dirty="0"/>
          </a:p>
        </p:txBody>
      </p:sp>
      <p:sp>
        <p:nvSpPr>
          <p:cNvPr id="9" name="Text 7"/>
          <p:cNvSpPr/>
          <p:nvPr/>
        </p:nvSpPr>
        <p:spPr>
          <a:xfrm>
            <a:off x="1124712" y="1682496"/>
            <a:ext cx="4727448" cy="777240"/>
          </a:xfrm>
          <a:prstGeom prst="rect">
            <a:avLst/>
          </a:prstGeom>
          <a:noFill/>
          <a:ln/>
        </p:spPr>
        <p:txBody>
          <a:bodyPr wrap="square" rtlCol="0" anchor="ctr"/>
          <a:lstStyle/>
          <a:p>
            <a:pPr marL="0" indent="0">
              <a:buNone/>
            </a:pPr>
            <a:r>
              <a:rPr lang="en-US" sz="1150" dirty="0">
                <a:solidFill>
                  <a:srgbClr val="BBCCDD"/>
                </a:solidFill>
                <a:latin typeface="Calibri" pitchFamily="34" charset="0"/>
                <a:ea typeface="Calibri" pitchFamily="34" charset="-122"/>
                <a:cs typeface="Calibri" pitchFamily="34" charset="-120"/>
              </a:rPr>
              <a:t>IFRS 13 requires it. Regulators strip it from capital. Gains on own deterioration are mathematically correct but economically uncomfortable — the core tension remains unresolved.</a:t>
            </a:r>
            <a:endParaRPr lang="en-US" sz="1150" dirty="0"/>
          </a:p>
        </p:txBody>
      </p:sp>
      <p:sp>
        <p:nvSpPr>
          <p:cNvPr id="10" name="Shape 8"/>
          <p:cNvSpPr/>
          <p:nvPr/>
        </p:nvSpPr>
        <p:spPr>
          <a:xfrm>
            <a:off x="6281928" y="1115568"/>
            <a:ext cx="5669280" cy="1463040"/>
          </a:xfrm>
          <a:prstGeom prst="rect">
            <a:avLst/>
          </a:prstGeom>
          <a:solidFill>
            <a:srgbClr val="0B1825"/>
          </a:solidFill>
          <a:ln w="25400">
            <a:solidFill>
              <a:srgbClr val="C8922A"/>
            </a:solidFill>
            <a:prstDash val="solid"/>
          </a:ln>
        </p:spPr>
      </p:sp>
      <p:sp>
        <p:nvSpPr>
          <p:cNvPr id="11" name="Shape 9"/>
          <p:cNvSpPr/>
          <p:nvPr/>
        </p:nvSpPr>
        <p:spPr>
          <a:xfrm>
            <a:off x="6419088" y="1572768"/>
            <a:ext cx="512064" cy="512064"/>
          </a:xfrm>
          <a:prstGeom prst="ellipse">
            <a:avLst/>
          </a:prstGeom>
          <a:solidFill>
            <a:srgbClr val="C8922A"/>
          </a:solidFill>
          <a:ln w="12700">
            <a:solidFill>
              <a:srgbClr val="C8922A"/>
            </a:solidFill>
            <a:prstDash val="solid"/>
          </a:ln>
        </p:spPr>
      </p:sp>
      <p:sp>
        <p:nvSpPr>
          <p:cNvPr id="12" name="Text 10"/>
          <p:cNvSpPr/>
          <p:nvPr/>
        </p:nvSpPr>
        <p:spPr>
          <a:xfrm>
            <a:off x="6419088" y="1572768"/>
            <a:ext cx="512064" cy="512064"/>
          </a:xfrm>
          <a:prstGeom prst="rect">
            <a:avLst/>
          </a:prstGeom>
          <a:noFill/>
          <a:ln/>
        </p:spPr>
        <p:txBody>
          <a:bodyPr wrap="square" lIns="0" tIns="0" rIns="0" bIns="0" rtlCol="0" anchor="ctr"/>
          <a:lstStyle/>
          <a:p>
            <a:pPr marL="0" indent="0" algn="ctr">
              <a:buNone/>
            </a:pPr>
            <a:r>
              <a:rPr lang="en-US" sz="1200" b="1" dirty="0">
                <a:solidFill>
                  <a:srgbClr val="FFFFFF"/>
                </a:solidFill>
              </a:rPr>
              <a:t>02</a:t>
            </a:r>
            <a:endParaRPr lang="en-US" sz="1200" dirty="0"/>
          </a:p>
        </p:txBody>
      </p:sp>
      <p:sp>
        <p:nvSpPr>
          <p:cNvPr id="13" name="Text 11"/>
          <p:cNvSpPr/>
          <p:nvPr/>
        </p:nvSpPr>
        <p:spPr>
          <a:xfrm>
            <a:off x="7086600" y="1225296"/>
            <a:ext cx="4727448" cy="402336"/>
          </a:xfrm>
          <a:prstGeom prst="rect">
            <a:avLst/>
          </a:prstGeom>
          <a:noFill/>
          <a:ln/>
        </p:spPr>
        <p:txBody>
          <a:bodyPr wrap="square" rtlCol="0" anchor="ctr"/>
          <a:lstStyle/>
          <a:p>
            <a:pPr marL="0" indent="0">
              <a:buNone/>
            </a:pPr>
            <a:r>
              <a:rPr lang="en-US" sz="1300" b="1" dirty="0">
                <a:solidFill>
                  <a:srgbClr val="C8922A"/>
                </a:solidFill>
                <a:latin typeface="Calibri" pitchFamily="34" charset="0"/>
                <a:ea typeface="Calibri" pitchFamily="34" charset="-122"/>
                <a:cs typeface="Calibri" pitchFamily="34" charset="-120"/>
              </a:rPr>
              <a:t>Accounting vs Regulatory CVA</a:t>
            </a:r>
            <a:endParaRPr lang="en-US" sz="1300" dirty="0"/>
          </a:p>
        </p:txBody>
      </p:sp>
      <p:sp>
        <p:nvSpPr>
          <p:cNvPr id="14" name="Text 12"/>
          <p:cNvSpPr/>
          <p:nvPr/>
        </p:nvSpPr>
        <p:spPr>
          <a:xfrm>
            <a:off x="7086600" y="1682496"/>
            <a:ext cx="4727448" cy="777240"/>
          </a:xfrm>
          <a:prstGeom prst="rect">
            <a:avLst/>
          </a:prstGeom>
          <a:noFill/>
          <a:ln/>
        </p:spPr>
        <p:txBody>
          <a:bodyPr wrap="square" rtlCol="0" anchor="ctr"/>
          <a:lstStyle/>
          <a:p>
            <a:pPr marL="0" indent="0">
              <a:buNone/>
            </a:pPr>
            <a:r>
              <a:rPr lang="en-US" sz="1150" dirty="0">
                <a:solidFill>
                  <a:srgbClr val="BBCCDD"/>
                </a:solidFill>
                <a:latin typeface="Calibri" pitchFamily="34" charset="0"/>
                <a:ea typeface="Calibri" pitchFamily="34" charset="-122"/>
                <a:cs typeface="Calibri" pitchFamily="34" charset="-120"/>
              </a:rPr>
              <a:t>Two parallel frameworks, two different numbers for the same portfolio. Finance and risk teams must maintain both and explain the divergence to auditors and supervisors.</a:t>
            </a:r>
            <a:endParaRPr lang="en-US" sz="1150" dirty="0"/>
          </a:p>
        </p:txBody>
      </p:sp>
      <p:sp>
        <p:nvSpPr>
          <p:cNvPr id="15" name="Shape 13"/>
          <p:cNvSpPr/>
          <p:nvPr/>
        </p:nvSpPr>
        <p:spPr>
          <a:xfrm>
            <a:off x="320040" y="2688336"/>
            <a:ext cx="5669280" cy="1463040"/>
          </a:xfrm>
          <a:prstGeom prst="rect">
            <a:avLst/>
          </a:prstGeom>
          <a:solidFill>
            <a:srgbClr val="0B1825"/>
          </a:solidFill>
          <a:ln w="25400">
            <a:solidFill>
              <a:srgbClr val="0D7377"/>
            </a:solidFill>
            <a:prstDash val="solid"/>
          </a:ln>
        </p:spPr>
      </p:sp>
      <p:sp>
        <p:nvSpPr>
          <p:cNvPr id="16" name="Shape 14"/>
          <p:cNvSpPr/>
          <p:nvPr/>
        </p:nvSpPr>
        <p:spPr>
          <a:xfrm>
            <a:off x="457200" y="3145536"/>
            <a:ext cx="512064" cy="512064"/>
          </a:xfrm>
          <a:prstGeom prst="ellipse">
            <a:avLst/>
          </a:prstGeom>
          <a:solidFill>
            <a:srgbClr val="0D7377"/>
          </a:solidFill>
          <a:ln w="12700">
            <a:solidFill>
              <a:srgbClr val="0D7377"/>
            </a:solidFill>
            <a:prstDash val="solid"/>
          </a:ln>
        </p:spPr>
      </p:sp>
      <p:sp>
        <p:nvSpPr>
          <p:cNvPr id="17" name="Text 15"/>
          <p:cNvSpPr/>
          <p:nvPr/>
        </p:nvSpPr>
        <p:spPr>
          <a:xfrm>
            <a:off x="457200" y="3145536"/>
            <a:ext cx="512064" cy="512064"/>
          </a:xfrm>
          <a:prstGeom prst="rect">
            <a:avLst/>
          </a:prstGeom>
          <a:noFill/>
          <a:ln/>
        </p:spPr>
        <p:txBody>
          <a:bodyPr wrap="square" lIns="0" tIns="0" rIns="0" bIns="0" rtlCol="0" anchor="ctr"/>
          <a:lstStyle/>
          <a:p>
            <a:pPr marL="0" indent="0" algn="ctr">
              <a:buNone/>
            </a:pPr>
            <a:r>
              <a:rPr lang="en-US" sz="1200" b="1" dirty="0">
                <a:solidFill>
                  <a:srgbClr val="FFFFFF"/>
                </a:solidFill>
              </a:rPr>
              <a:t>03</a:t>
            </a:r>
            <a:endParaRPr lang="en-US" sz="1200" dirty="0"/>
          </a:p>
        </p:txBody>
      </p:sp>
      <p:sp>
        <p:nvSpPr>
          <p:cNvPr id="18" name="Text 16"/>
          <p:cNvSpPr/>
          <p:nvPr/>
        </p:nvSpPr>
        <p:spPr>
          <a:xfrm>
            <a:off x="1124712" y="2798064"/>
            <a:ext cx="4727448" cy="402336"/>
          </a:xfrm>
          <a:prstGeom prst="rect">
            <a:avLst/>
          </a:prstGeom>
          <a:noFill/>
          <a:ln/>
        </p:spPr>
        <p:txBody>
          <a:bodyPr wrap="square" rtlCol="0" anchor="ctr"/>
          <a:lstStyle/>
          <a:p>
            <a:pPr marL="0" indent="0">
              <a:buNone/>
            </a:pPr>
            <a:r>
              <a:rPr lang="en-US" sz="1300" b="1" dirty="0">
                <a:solidFill>
                  <a:srgbClr val="0D7377"/>
                </a:solidFill>
                <a:latin typeface="Calibri" pitchFamily="34" charset="0"/>
                <a:ea typeface="Calibri" pitchFamily="34" charset="-122"/>
                <a:cs typeface="Calibri" pitchFamily="34" charset="-120"/>
              </a:rPr>
              <a:t>Model Risk</a:t>
            </a:r>
            <a:endParaRPr lang="en-US" sz="1300" dirty="0"/>
          </a:p>
        </p:txBody>
      </p:sp>
      <p:sp>
        <p:nvSpPr>
          <p:cNvPr id="19" name="Text 17"/>
          <p:cNvSpPr/>
          <p:nvPr/>
        </p:nvSpPr>
        <p:spPr>
          <a:xfrm>
            <a:off x="1124712" y="3255264"/>
            <a:ext cx="4727448" cy="777240"/>
          </a:xfrm>
          <a:prstGeom prst="rect">
            <a:avLst/>
          </a:prstGeom>
          <a:noFill/>
          <a:ln/>
        </p:spPr>
        <p:txBody>
          <a:bodyPr wrap="square" rtlCol="0" anchor="ctr"/>
          <a:lstStyle/>
          <a:p>
            <a:pPr marL="0" indent="0">
              <a:buNone/>
            </a:pPr>
            <a:r>
              <a:rPr lang="en-US" sz="1150" dirty="0">
                <a:solidFill>
                  <a:srgbClr val="BBCCDD"/>
                </a:solidFill>
                <a:latin typeface="Calibri" pitchFamily="34" charset="0"/>
                <a:ea typeface="Calibri" pitchFamily="34" charset="-122"/>
                <a:cs typeface="Calibri" pitchFamily="34" charset="-120"/>
              </a:rPr>
              <a:t>CVA is among the most model-intensive quantities in banking. Monte Carlo choices, hazard rate calibration, and WWR treatment all produce material differences. SA-CVA includes explicit model uncertainty add-ons.</a:t>
            </a:r>
            <a:endParaRPr lang="en-US" sz="1150" dirty="0"/>
          </a:p>
        </p:txBody>
      </p:sp>
      <p:sp>
        <p:nvSpPr>
          <p:cNvPr id="20" name="Shape 18"/>
          <p:cNvSpPr/>
          <p:nvPr/>
        </p:nvSpPr>
        <p:spPr>
          <a:xfrm>
            <a:off x="6281928" y="2688336"/>
            <a:ext cx="5669280" cy="1463040"/>
          </a:xfrm>
          <a:prstGeom prst="rect">
            <a:avLst/>
          </a:prstGeom>
          <a:solidFill>
            <a:srgbClr val="0B1825"/>
          </a:solidFill>
          <a:ln w="25400">
            <a:solidFill>
              <a:srgbClr val="5B6EBF"/>
            </a:solidFill>
            <a:prstDash val="solid"/>
          </a:ln>
        </p:spPr>
      </p:sp>
      <p:sp>
        <p:nvSpPr>
          <p:cNvPr id="21" name="Shape 19"/>
          <p:cNvSpPr/>
          <p:nvPr/>
        </p:nvSpPr>
        <p:spPr>
          <a:xfrm>
            <a:off x="6419088" y="3145536"/>
            <a:ext cx="512064" cy="512064"/>
          </a:xfrm>
          <a:prstGeom prst="ellipse">
            <a:avLst/>
          </a:prstGeom>
          <a:solidFill>
            <a:srgbClr val="5B6EBF"/>
          </a:solidFill>
          <a:ln w="12700">
            <a:solidFill>
              <a:srgbClr val="5B6EBF"/>
            </a:solidFill>
            <a:prstDash val="solid"/>
          </a:ln>
        </p:spPr>
      </p:sp>
      <p:sp>
        <p:nvSpPr>
          <p:cNvPr id="22" name="Text 20"/>
          <p:cNvSpPr/>
          <p:nvPr/>
        </p:nvSpPr>
        <p:spPr>
          <a:xfrm>
            <a:off x="6419088" y="3145536"/>
            <a:ext cx="512064" cy="512064"/>
          </a:xfrm>
          <a:prstGeom prst="rect">
            <a:avLst/>
          </a:prstGeom>
          <a:noFill/>
          <a:ln/>
        </p:spPr>
        <p:txBody>
          <a:bodyPr wrap="square" lIns="0" tIns="0" rIns="0" bIns="0" rtlCol="0" anchor="ctr"/>
          <a:lstStyle/>
          <a:p>
            <a:pPr marL="0" indent="0" algn="ctr">
              <a:buNone/>
            </a:pPr>
            <a:r>
              <a:rPr lang="en-US" sz="1200" b="1" dirty="0">
                <a:solidFill>
                  <a:srgbClr val="FFFFFF"/>
                </a:solidFill>
              </a:rPr>
              <a:t>04</a:t>
            </a:r>
            <a:endParaRPr lang="en-US" sz="1200" dirty="0"/>
          </a:p>
        </p:txBody>
      </p:sp>
      <p:sp>
        <p:nvSpPr>
          <p:cNvPr id="23" name="Text 21"/>
          <p:cNvSpPr/>
          <p:nvPr/>
        </p:nvSpPr>
        <p:spPr>
          <a:xfrm>
            <a:off x="7086600" y="2798064"/>
            <a:ext cx="4727448" cy="402336"/>
          </a:xfrm>
          <a:prstGeom prst="rect">
            <a:avLst/>
          </a:prstGeom>
          <a:noFill/>
          <a:ln/>
        </p:spPr>
        <p:txBody>
          <a:bodyPr wrap="square" rtlCol="0" anchor="ctr"/>
          <a:lstStyle/>
          <a:p>
            <a:pPr marL="0" indent="0">
              <a:buNone/>
            </a:pPr>
            <a:r>
              <a:rPr lang="en-US" sz="1300" b="1" dirty="0">
                <a:solidFill>
                  <a:srgbClr val="5B6EBF"/>
                </a:solidFill>
                <a:latin typeface="Calibri" pitchFamily="34" charset="0"/>
                <a:ea typeface="Calibri" pitchFamily="34" charset="-122"/>
                <a:cs typeface="Calibri" pitchFamily="34" charset="-120"/>
              </a:rPr>
              <a:t>KVA/FVA vs CVA Primacy</a:t>
            </a:r>
            <a:endParaRPr lang="en-US" sz="1300" dirty="0"/>
          </a:p>
        </p:txBody>
      </p:sp>
      <p:sp>
        <p:nvSpPr>
          <p:cNvPr id="24" name="Text 22"/>
          <p:cNvSpPr/>
          <p:nvPr/>
        </p:nvSpPr>
        <p:spPr>
          <a:xfrm>
            <a:off x="7086600" y="3255264"/>
            <a:ext cx="4727448" cy="777240"/>
          </a:xfrm>
          <a:prstGeom prst="rect">
            <a:avLst/>
          </a:prstGeom>
          <a:noFill/>
          <a:ln/>
        </p:spPr>
        <p:txBody>
          <a:bodyPr wrap="square" rtlCol="0" anchor="ctr"/>
          <a:lstStyle/>
          <a:p>
            <a:pPr marL="0" indent="0">
              <a:buNone/>
            </a:pPr>
            <a:r>
              <a:rPr lang="en-US" sz="1150" dirty="0">
                <a:solidFill>
                  <a:srgbClr val="BBCCDD"/>
                </a:solidFill>
                <a:latin typeface="Calibri" pitchFamily="34" charset="0"/>
                <a:ea typeface="Calibri" pitchFamily="34" charset="-122"/>
                <a:cs typeface="Calibri" pitchFamily="34" charset="-120"/>
              </a:rPr>
              <a:t>Under Basel IV, KVA now rivals CVA for some portfolios. FVA dominates for uncollateralised exotics. Pricing from CVA alone is no longer sufficient — the full XVA stack is required.</a:t>
            </a:r>
            <a:endParaRPr lang="en-US" sz="1150" dirty="0"/>
          </a:p>
        </p:txBody>
      </p:sp>
      <p:sp>
        <p:nvSpPr>
          <p:cNvPr id="25" name="Shape 23"/>
          <p:cNvSpPr/>
          <p:nvPr/>
        </p:nvSpPr>
        <p:spPr>
          <a:xfrm>
            <a:off x="320040" y="4315968"/>
            <a:ext cx="11521440" cy="347472"/>
          </a:xfrm>
          <a:prstGeom prst="rect">
            <a:avLst/>
          </a:prstGeom>
          <a:solidFill>
            <a:srgbClr val="0D7377"/>
          </a:solidFill>
          <a:ln w="12700">
            <a:solidFill>
              <a:srgbClr val="0D7377"/>
            </a:solidFill>
            <a:prstDash val="solid"/>
          </a:ln>
        </p:spPr>
      </p:sp>
      <p:sp>
        <p:nvSpPr>
          <p:cNvPr id="26" name="Text 24"/>
          <p:cNvSpPr/>
          <p:nvPr/>
        </p:nvSpPr>
        <p:spPr>
          <a:xfrm>
            <a:off x="475488" y="4315968"/>
            <a:ext cx="1124712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Module Takeaways</a:t>
            </a:r>
            <a:endParaRPr lang="en-US" sz="1300" dirty="0"/>
          </a:p>
        </p:txBody>
      </p:sp>
      <p:sp>
        <p:nvSpPr>
          <p:cNvPr id="27" name="Text 25"/>
          <p:cNvSpPr/>
          <p:nvPr/>
        </p:nvSpPr>
        <p:spPr>
          <a:xfrm>
            <a:off x="411480" y="4736592"/>
            <a:ext cx="2331720" cy="365760"/>
          </a:xfrm>
          <a:prstGeom prst="rect">
            <a:avLst/>
          </a:prstGeom>
          <a:noFill/>
          <a:ln/>
        </p:spPr>
        <p:txBody>
          <a:bodyPr wrap="square" rtlCol="0" anchor="ctr"/>
          <a:lstStyle/>
          <a:p>
            <a:pPr marL="0" indent="0">
              <a:buNone/>
            </a:pPr>
            <a:r>
              <a:rPr lang="en-US" sz="1150" b="1" dirty="0">
                <a:solidFill>
                  <a:srgbClr val="0D7377"/>
                </a:solidFill>
                <a:latin typeface="Calibri" pitchFamily="34" charset="0"/>
                <a:ea typeface="Calibri" pitchFamily="34" charset="-122"/>
                <a:cs typeface="Calibri" pitchFamily="34" charset="-120"/>
              </a:rPr>
              <a:t>CVA in one sentence:</a:t>
            </a:r>
            <a:endParaRPr lang="en-US" sz="1150" dirty="0"/>
          </a:p>
        </p:txBody>
      </p:sp>
      <p:sp>
        <p:nvSpPr>
          <p:cNvPr id="28" name="Text 26"/>
          <p:cNvSpPr/>
          <p:nvPr/>
        </p:nvSpPr>
        <p:spPr>
          <a:xfrm>
            <a:off x="2788920" y="4736592"/>
            <a:ext cx="9006840" cy="365760"/>
          </a:xfrm>
          <a:prstGeom prst="rect">
            <a:avLst/>
          </a:prstGeom>
          <a:noFill/>
          <a:ln/>
        </p:spPr>
        <p:txBody>
          <a:bodyPr wrap="square" rtlCol="0" anchor="ctr"/>
          <a:lstStyle/>
          <a:p>
            <a:pPr marL="0" indent="0">
              <a:buNone/>
            </a:pPr>
            <a:r>
              <a:rPr lang="en-US" sz="1150" dirty="0">
                <a:solidFill>
                  <a:srgbClr val="CCDDEE"/>
                </a:solidFill>
                <a:latin typeface="Calibri" pitchFamily="34" charset="0"/>
                <a:ea typeface="Calibri" pitchFamily="34" charset="-122"/>
                <a:cs typeface="Calibri" pitchFamily="34" charset="-120"/>
              </a:rPr>
              <a:t>Present value of expected losses from counterparty default — the price of credit risk on derivatives.</a:t>
            </a:r>
            <a:endParaRPr lang="en-US" sz="1150" dirty="0"/>
          </a:p>
        </p:txBody>
      </p:sp>
      <p:sp>
        <p:nvSpPr>
          <p:cNvPr id="29" name="Shape 27"/>
          <p:cNvSpPr/>
          <p:nvPr/>
        </p:nvSpPr>
        <p:spPr>
          <a:xfrm>
            <a:off x="411480" y="5102352"/>
            <a:ext cx="11338560" cy="9144"/>
          </a:xfrm>
          <a:prstGeom prst="rect">
            <a:avLst/>
          </a:prstGeom>
          <a:solidFill>
            <a:srgbClr val="223344"/>
          </a:solidFill>
          <a:ln w="12700">
            <a:solidFill>
              <a:srgbClr val="223344"/>
            </a:solidFill>
            <a:prstDash val="solid"/>
          </a:ln>
        </p:spPr>
      </p:sp>
      <p:sp>
        <p:nvSpPr>
          <p:cNvPr id="30" name="Text 28"/>
          <p:cNvSpPr/>
          <p:nvPr/>
        </p:nvSpPr>
        <p:spPr>
          <a:xfrm>
            <a:off x="411480" y="5157216"/>
            <a:ext cx="2331720" cy="365760"/>
          </a:xfrm>
          <a:prstGeom prst="rect">
            <a:avLst/>
          </a:prstGeom>
          <a:noFill/>
          <a:ln/>
        </p:spPr>
        <p:txBody>
          <a:bodyPr wrap="square" rtlCol="0" anchor="ctr"/>
          <a:lstStyle/>
          <a:p>
            <a:pPr marL="0" indent="0">
              <a:buNone/>
            </a:pPr>
            <a:r>
              <a:rPr lang="en-US" sz="1150" b="1" dirty="0">
                <a:solidFill>
                  <a:srgbClr val="0D7377"/>
                </a:solidFill>
                <a:latin typeface="Calibri" pitchFamily="34" charset="0"/>
                <a:ea typeface="Calibri" pitchFamily="34" charset="-122"/>
                <a:cs typeface="Calibri" pitchFamily="34" charset="-120"/>
              </a:rPr>
              <a:t>DVA in one sentence:</a:t>
            </a:r>
            <a:endParaRPr lang="en-US" sz="1150" dirty="0"/>
          </a:p>
        </p:txBody>
      </p:sp>
      <p:sp>
        <p:nvSpPr>
          <p:cNvPr id="31" name="Text 29"/>
          <p:cNvSpPr/>
          <p:nvPr/>
        </p:nvSpPr>
        <p:spPr>
          <a:xfrm>
            <a:off x="2788920" y="5157216"/>
            <a:ext cx="9006840" cy="365760"/>
          </a:xfrm>
          <a:prstGeom prst="rect">
            <a:avLst/>
          </a:prstGeom>
          <a:noFill/>
          <a:ln/>
        </p:spPr>
        <p:txBody>
          <a:bodyPr wrap="square" rtlCol="0" anchor="ctr"/>
          <a:lstStyle/>
          <a:p>
            <a:pPr marL="0" indent="0">
              <a:buNone/>
            </a:pPr>
            <a:r>
              <a:rPr lang="en-US" sz="1150" dirty="0">
                <a:solidFill>
                  <a:srgbClr val="CCDDEE"/>
                </a:solidFill>
                <a:latin typeface="Calibri" pitchFamily="34" charset="0"/>
                <a:ea typeface="Calibri" pitchFamily="34" charset="-122"/>
                <a:cs typeface="Calibri" pitchFamily="34" charset="-120"/>
              </a:rPr>
              <a:t>Own-credit mirror of CVA. Gains on deteriorating credit. Real but unhedgeable, stripped from regulatory capital.</a:t>
            </a:r>
            <a:endParaRPr lang="en-US" sz="1150" dirty="0"/>
          </a:p>
        </p:txBody>
      </p:sp>
      <p:sp>
        <p:nvSpPr>
          <p:cNvPr id="32" name="Shape 30"/>
          <p:cNvSpPr/>
          <p:nvPr/>
        </p:nvSpPr>
        <p:spPr>
          <a:xfrm>
            <a:off x="411480" y="5522976"/>
            <a:ext cx="11338560" cy="9144"/>
          </a:xfrm>
          <a:prstGeom prst="rect">
            <a:avLst/>
          </a:prstGeom>
          <a:solidFill>
            <a:srgbClr val="223344"/>
          </a:solidFill>
          <a:ln w="12700">
            <a:solidFill>
              <a:srgbClr val="223344"/>
            </a:solidFill>
            <a:prstDash val="solid"/>
          </a:ln>
        </p:spPr>
      </p:sp>
      <p:sp>
        <p:nvSpPr>
          <p:cNvPr id="33" name="Text 31"/>
          <p:cNvSpPr/>
          <p:nvPr/>
        </p:nvSpPr>
        <p:spPr>
          <a:xfrm>
            <a:off x="411480" y="5577840"/>
            <a:ext cx="2331720" cy="365760"/>
          </a:xfrm>
          <a:prstGeom prst="rect">
            <a:avLst/>
          </a:prstGeom>
          <a:noFill/>
          <a:ln/>
        </p:spPr>
        <p:txBody>
          <a:bodyPr wrap="square" rtlCol="0" anchor="ctr"/>
          <a:lstStyle/>
          <a:p>
            <a:pPr marL="0" indent="0">
              <a:buNone/>
            </a:pPr>
            <a:r>
              <a:rPr lang="en-US" sz="1150" b="1" dirty="0">
                <a:solidFill>
                  <a:srgbClr val="0D7377"/>
                </a:solidFill>
                <a:latin typeface="Calibri" pitchFamily="34" charset="0"/>
                <a:ea typeface="Calibri" pitchFamily="34" charset="-122"/>
                <a:cs typeface="Calibri" pitchFamily="34" charset="-120"/>
              </a:rPr>
              <a:t>The formula:</a:t>
            </a:r>
            <a:endParaRPr lang="en-US" sz="1150" dirty="0"/>
          </a:p>
        </p:txBody>
      </p:sp>
      <p:sp>
        <p:nvSpPr>
          <p:cNvPr id="34" name="Text 32"/>
          <p:cNvSpPr/>
          <p:nvPr/>
        </p:nvSpPr>
        <p:spPr>
          <a:xfrm>
            <a:off x="2788920" y="5577840"/>
            <a:ext cx="9006840" cy="365760"/>
          </a:xfrm>
          <a:prstGeom prst="rect">
            <a:avLst/>
          </a:prstGeom>
          <a:noFill/>
          <a:ln/>
        </p:spPr>
        <p:txBody>
          <a:bodyPr wrap="square" rtlCol="0" anchor="ctr"/>
          <a:lstStyle/>
          <a:p>
            <a:pPr marL="0" indent="0">
              <a:buNone/>
            </a:pPr>
            <a:r>
              <a:rPr lang="en-US" sz="1150" dirty="0">
                <a:solidFill>
                  <a:srgbClr val="CCDDEE"/>
                </a:solidFill>
                <a:latin typeface="Calibri" pitchFamily="34" charset="0"/>
                <a:ea typeface="Calibri" pitchFamily="34" charset="-122"/>
                <a:cs typeface="Calibri" pitchFamily="34" charset="-120"/>
              </a:rPr>
              <a:t>CVA ≈ LGD × Σ[EE(tᵢ) × PD(tᵢ) × D(tᵢ)]   —   Exposure × Default Probability × Loss Given Default.</a:t>
            </a:r>
            <a:endParaRPr lang="en-US" sz="1150" dirty="0"/>
          </a:p>
        </p:txBody>
      </p:sp>
      <p:sp>
        <p:nvSpPr>
          <p:cNvPr id="35" name="Shape 33"/>
          <p:cNvSpPr/>
          <p:nvPr/>
        </p:nvSpPr>
        <p:spPr>
          <a:xfrm>
            <a:off x="411480" y="5943600"/>
            <a:ext cx="11338560" cy="9144"/>
          </a:xfrm>
          <a:prstGeom prst="rect">
            <a:avLst/>
          </a:prstGeom>
          <a:solidFill>
            <a:srgbClr val="223344"/>
          </a:solidFill>
          <a:ln w="12700">
            <a:solidFill>
              <a:srgbClr val="223344"/>
            </a:solidFill>
            <a:prstDash val="solid"/>
          </a:ln>
        </p:spPr>
      </p:sp>
      <p:sp>
        <p:nvSpPr>
          <p:cNvPr id="36" name="Text 34"/>
          <p:cNvSpPr/>
          <p:nvPr/>
        </p:nvSpPr>
        <p:spPr>
          <a:xfrm>
            <a:off x="411480" y="5998464"/>
            <a:ext cx="2331720" cy="365760"/>
          </a:xfrm>
          <a:prstGeom prst="rect">
            <a:avLst/>
          </a:prstGeom>
          <a:noFill/>
          <a:ln/>
        </p:spPr>
        <p:txBody>
          <a:bodyPr wrap="square" rtlCol="0" anchor="ctr"/>
          <a:lstStyle/>
          <a:p>
            <a:pPr marL="0" indent="0">
              <a:buNone/>
            </a:pPr>
            <a:r>
              <a:rPr lang="en-US" sz="1150" b="1" dirty="0">
                <a:solidFill>
                  <a:srgbClr val="0D7377"/>
                </a:solidFill>
                <a:latin typeface="Calibri" pitchFamily="34" charset="0"/>
                <a:ea typeface="Calibri" pitchFamily="34" charset="-122"/>
                <a:cs typeface="Calibri" pitchFamily="34" charset="-120"/>
              </a:rPr>
              <a:t>Crisis lesson:</a:t>
            </a:r>
            <a:endParaRPr lang="en-US" sz="1150" dirty="0"/>
          </a:p>
        </p:txBody>
      </p:sp>
      <p:sp>
        <p:nvSpPr>
          <p:cNvPr id="37" name="Text 35"/>
          <p:cNvSpPr/>
          <p:nvPr/>
        </p:nvSpPr>
        <p:spPr>
          <a:xfrm>
            <a:off x="2788920" y="5998464"/>
            <a:ext cx="9006840" cy="365760"/>
          </a:xfrm>
          <a:prstGeom prst="rect">
            <a:avLst/>
          </a:prstGeom>
          <a:noFill/>
          <a:ln/>
        </p:spPr>
        <p:txBody>
          <a:bodyPr wrap="square" rtlCol="0" anchor="ctr"/>
          <a:lstStyle/>
          <a:p>
            <a:pPr marL="0" indent="0">
              <a:buNone/>
            </a:pPr>
            <a:r>
              <a:rPr lang="en-US" sz="1150" dirty="0">
                <a:solidFill>
                  <a:srgbClr val="CCDDEE"/>
                </a:solidFill>
                <a:latin typeface="Calibri" pitchFamily="34" charset="0"/>
                <a:ea typeface="Calibri" pitchFamily="34" charset="-122"/>
                <a:cs typeface="Calibri" pitchFamily="34" charset="-120"/>
              </a:rPr>
              <a:t>Two-thirds of CCR losses in 2008–09 were CVA spread volatility — not default. Spread risk is the dominant channel.</a:t>
            </a:r>
            <a:endParaRPr lang="en-US" sz="1150" dirty="0"/>
          </a:p>
        </p:txBody>
      </p:sp>
      <p:sp>
        <p:nvSpPr>
          <p:cNvPr id="38" name="Shape 36"/>
          <p:cNvSpPr/>
          <p:nvPr/>
        </p:nvSpPr>
        <p:spPr>
          <a:xfrm>
            <a:off x="411480" y="6364224"/>
            <a:ext cx="11338560" cy="9144"/>
          </a:xfrm>
          <a:prstGeom prst="rect">
            <a:avLst/>
          </a:prstGeom>
          <a:solidFill>
            <a:srgbClr val="223344"/>
          </a:solidFill>
          <a:ln w="12700">
            <a:solidFill>
              <a:srgbClr val="223344"/>
            </a:solidFill>
            <a:prstDash val="solid"/>
          </a:ln>
        </p:spPr>
      </p:sp>
      <p:sp>
        <p:nvSpPr>
          <p:cNvPr id="39" name="Text 37"/>
          <p:cNvSpPr/>
          <p:nvPr/>
        </p:nvSpPr>
        <p:spPr>
          <a:xfrm>
            <a:off x="411480" y="6419088"/>
            <a:ext cx="2331720" cy="365760"/>
          </a:xfrm>
          <a:prstGeom prst="rect">
            <a:avLst/>
          </a:prstGeom>
          <a:noFill/>
          <a:ln/>
        </p:spPr>
        <p:txBody>
          <a:bodyPr wrap="square" rtlCol="0" anchor="ctr"/>
          <a:lstStyle/>
          <a:p>
            <a:pPr marL="0" indent="0">
              <a:buNone/>
            </a:pPr>
            <a:r>
              <a:rPr lang="en-US" sz="1150" b="1" dirty="0">
                <a:solidFill>
                  <a:srgbClr val="0D7377"/>
                </a:solidFill>
                <a:latin typeface="Calibri" pitchFamily="34" charset="0"/>
                <a:ea typeface="Calibri" pitchFamily="34" charset="-122"/>
                <a:cs typeface="Calibri" pitchFamily="34" charset="-120"/>
              </a:rPr>
              <a:t>Where CVA fits:</a:t>
            </a:r>
            <a:endParaRPr lang="en-US" sz="1150" dirty="0"/>
          </a:p>
        </p:txBody>
      </p:sp>
      <p:sp>
        <p:nvSpPr>
          <p:cNvPr id="40" name="Text 38"/>
          <p:cNvSpPr/>
          <p:nvPr/>
        </p:nvSpPr>
        <p:spPr>
          <a:xfrm>
            <a:off x="2788920" y="6419088"/>
            <a:ext cx="9006840" cy="365760"/>
          </a:xfrm>
          <a:prstGeom prst="rect">
            <a:avLst/>
          </a:prstGeom>
          <a:noFill/>
          <a:ln/>
        </p:spPr>
        <p:txBody>
          <a:bodyPr wrap="square" rtlCol="0" anchor="ctr"/>
          <a:lstStyle/>
          <a:p>
            <a:pPr marL="0" indent="0">
              <a:buNone/>
            </a:pPr>
            <a:r>
              <a:rPr lang="en-US" sz="1150" dirty="0">
                <a:solidFill>
                  <a:srgbClr val="CCDDEE"/>
                </a:solidFill>
                <a:latin typeface="Calibri" pitchFamily="34" charset="0"/>
                <a:ea typeface="Calibri" pitchFamily="34" charset="-122"/>
                <a:cs typeface="Calibri" pitchFamily="34" charset="-120"/>
              </a:rPr>
              <a:t>First of six xVA adjustments. FVA, MVA, KVA and ColVA each have dedicated modules later in this series.</a:t>
            </a:r>
            <a:endParaRPr lang="en-US" sz="1150" dirty="0"/>
          </a:p>
        </p:txBody>
      </p:sp>
      <p:sp>
        <p:nvSpPr>
          <p:cNvPr id="41" name="Shape 39"/>
          <p:cNvSpPr/>
          <p:nvPr/>
        </p:nvSpPr>
        <p:spPr>
          <a:xfrm>
            <a:off x="0" y="6510528"/>
            <a:ext cx="12161520" cy="347472"/>
          </a:xfrm>
          <a:prstGeom prst="rect">
            <a:avLst/>
          </a:prstGeom>
          <a:solidFill>
            <a:srgbClr val="0D7377"/>
          </a:solidFill>
          <a:ln w="12700">
            <a:solidFill>
              <a:srgbClr val="0D7377"/>
            </a:solidFill>
            <a:prstDash val="solid"/>
          </a:ln>
        </p:spPr>
      </p:sp>
      <p:sp>
        <p:nvSpPr>
          <p:cNvPr id="42" name="Text 40"/>
          <p:cNvSpPr/>
          <p:nvPr/>
        </p:nvSpPr>
        <p:spPr>
          <a:xfrm>
            <a:off x="274320" y="6510528"/>
            <a:ext cx="11612880" cy="347472"/>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Practitioner Knowledge Repository  |  Module 3: CVA &amp; Counterparty Credit Risk  |  Sarthaka Nanda  |  March 2026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3809</Words>
  <Application>Microsoft Office PowerPoint</Application>
  <PresentationFormat>Widescreen</PresentationFormat>
  <Paragraphs>353</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CVA &amp; Counterparty Credit Risk — Module 3</dc:title>
  <dc:subject>PptxGenJS Presentation</dc:subject>
  <dc:creator>Sarthaka Nanda</dc:creator>
  <cp:lastModifiedBy>Vicky Nanda</cp:lastModifiedBy>
  <cp:revision>4</cp:revision>
  <dcterms:created xsi:type="dcterms:W3CDTF">2026-03-25T23:46:46Z</dcterms:created>
  <dcterms:modified xsi:type="dcterms:W3CDTF">2026-03-26T12:59:39Z</dcterms:modified>
</cp:coreProperties>
</file>