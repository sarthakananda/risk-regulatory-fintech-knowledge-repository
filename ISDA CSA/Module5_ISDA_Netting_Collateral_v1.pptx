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389120"/>
            <a:ext cx="8686800" cy="914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KNOWLEDGE REPOSITORY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ISDA, Netting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Collateral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Architecture of Derivative Markets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8046720" cy="7772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375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Analogy: A derivative contract without an ISDA Master is like a building without foundations. The Master is the foundation; the Schedule, the walls; the CSA, the roof — load-bearing only if the layer beneath exists.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CC BY-NC 4.0  |  ©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Trail — 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8872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252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&amp; Sensitivities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618488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18488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65506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Accord Evolution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48256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48256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478024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478024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514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/ DVA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07792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07792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944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/ MVA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337560"/>
            <a:ext cx="50292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375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3741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ISDA, Netting &amp; Collateral  ◀ THIS 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767328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67328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8039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KVA, ColVA &amp; Capital Costs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197096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197096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4233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Practitioner's Dictionary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What We Cover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" y="1234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ISDA Exists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" y="1435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Pre-netting world, 1987 catalyst, founding mandate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938528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" y="19385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ISDA Document Hierarchy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" y="21396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Schedule + CSA — dependency rules &amp; annotated architecture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" y="2642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 Evolution: 1992 → 2002 → Current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" y="28437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 stress test, Close-out Amount redesign, protocols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46704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" y="3346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Mechanics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" y="35478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close-out, portfolio netting — enforceability &amp; capital impact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4050792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" y="4050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Margin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" y="42519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MtM settlement, eligible assets, haircuts, disputes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1234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 &amp; UMR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57216" y="1435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MPoR buffer, SIMM v2.8, segregation, UMR phase-in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938528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19385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Rehypothecation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57216" y="21396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IM — rights, risks, UMR prohibition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642616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42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2642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Securities Lending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57216" y="28437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treatment — GC, special, haircuts, transformation, FVA link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346704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57216" y="3346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57216" y="35478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EMIR, Dodd-Frank, MAS/HKMA, Hammersmith, Lehman, Archegos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1 — WHY ISDA EXISTS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Pre-Netting World — What ISDA Solved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743200" cy="21031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Cherry-Picking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Defaulting administrators selectively enforced profitable contracts, disclaimed losing ones. No mechanism to stop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234440"/>
            <a:ext cx="2743200" cy="21031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2344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61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Gross Capital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Offsetting positions counted independently. Capital requirements massively overstated vs net economic risk.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234440"/>
            <a:ext cx="2743200" cy="21031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2344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61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Bespoke Docs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bilateral trade separately documented. Inconsistent, slow, expensive, legally uncertain in stress.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474720"/>
            <a:ext cx="86868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6118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 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88620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1363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Close-out netting eliminates cherry-picking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88620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391363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 exposure for capital via SA-CCR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388620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391363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Standardised docs reduce cost &amp; uncertainty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2 — DOCUMENT HIERARCHY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ISDA Three-Layer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86868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ISDA Master Agreement + Schedule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Inseparable — the Schedule is legally part of the Master Agreement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stand alone 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08483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optional dependency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78638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Credit Support Annex (CSA)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VM and IM posting — CANNOT exist without a Master Agreement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stand alone 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32461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governed by layers above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3456432"/>
            <a:ext cx="6949440" cy="749808"/>
          </a:xfrm>
          <a:prstGeom prst="rect">
            <a:avLst/>
          </a:prstGeom>
          <a:solidFill>
            <a:srgbClr val="F4F6F8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483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—  Trade Confirmations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74904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terms of each trade — governed by whichever Master and CSA applies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2 — CLAUSE 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Clauses by Layer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686800" cy="35661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4937760"/>
              </a:tblGrid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Substance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 — Events of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enumerated triggers: Failure to Pay, Breach, Cross Default, Bankruptcy, Merger... Entitles non-defaulting party to terminate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6 — Close-out Netting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trades terminate simultaneously → single net Close-out Amount. Eliminates cherry-picking.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13 — Governing 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law vs New York law — material consequences for insolvency set-off and close-out mechanics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&amp; MTA Elections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Threshold: exposure before VM required. MTA: minimum call size. Both create residual uncollateralised exposure.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ATEs &amp; Specified Entities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Termination Events (e.g. rating downgrade, NAV decline). Cross-default extension to affiliates.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5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 Collateral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types, eligible issuers, haircuts per asset. Cash, G10 govvies, agency — each tier with explicit haircut.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5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Rehypothecation Rights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receiver may reuse posted collateral. Permitted for VM; prohibited for UMR-segregated IM.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3 — ISDA EVOLUTION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→ 2002 → Current: What Changed and Why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686800" cy="352044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  <a:gridCol w="2651760"/>
              </a:tblGrid>
              <a:tr h="586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ISDA 1992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ISDA 2002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Close-out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Dual: Market Quotation OR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Single: Close-out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Quotation failed in illiquid post-Lehman markets — 2002 is self-contained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back to Loss if quotes unavailable — creates uncertainty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 fallback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66,000 Lehman trades exposed the MQ failure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Majeure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provided — significant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as Termination Event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impossibility of performance vs unwillingness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Set-off rights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provisions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 and clarified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Broader netting in close-out strengthens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in use — legacy 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for new dealer-to-dealer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versions coexist — key to know the differences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Lehman Stress Test — September 2008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0515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~66,000 OTC derivative contracts  |  ~8,000 counterparties  |  Multiple insolvency jurisdictions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1732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Quotation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013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refused to quote replacements in illiquid markets. Non-defaulting parties fell back to Loss — the 1992 weakness exposed.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1732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8013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bilateral valuation disputes. Complex structured products — model values diverged widely. Resolution took years.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97180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97180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3558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 administrators initially tested selective enforcement. Courts upheld netting in US, UK, Europe — but the process was slow and costly.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7180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3558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UK, Germany, Japan — each with separate administrators, different insolvency regimes, adversarial coordination.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outcome: Close-out netting held in all major jurisdictions. The 2002 Close-out Amount design was validated. The process was painful — but the framework survived.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 — NETTING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Netting: Three Types, One Legal Foundation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743200" cy="23774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Netting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Same-currency, same-date flows netted to a single payment. Section 2(c) ISDA. Reduces settlement risk and operational cost within a single transaction.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234440"/>
            <a:ext cx="2743200" cy="2377440"/>
          </a:xfrm>
          <a:prstGeom prst="rect">
            <a:avLst/>
          </a:prstGeom>
          <a:solidFill>
            <a:srgbClr val="E0F4F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23444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Netting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7190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default — all trades terminate simultaneously. Single net Close-out Amount replaces all gross obligations. Eliminates cherry-picking. The core ISDA benefit.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234440"/>
            <a:ext cx="2743200" cy="2377440"/>
          </a:xfrm>
          <a:prstGeom prst="rect">
            <a:avLst/>
          </a:prstGeom>
          <a:solidFill>
            <a:srgbClr val="E0F4F7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234440"/>
            <a:ext cx="2743200" cy="41148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Netting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7190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across all trades in a netting set. All transactions under one Master Agreement → one net exposure for capital (SA-CCR) and close-out.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749040"/>
            <a:ext cx="64008" cy="8412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3749040"/>
            <a:ext cx="8622792" cy="841248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94760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ENFORCEABILITY RULE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995928"/>
            <a:ext cx="8458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opinions (from local counsel) must confirm enforceability in the counterparty's insolvency jurisdiction. Without a valid opinion, gross exposure applies — dramatically increasing SA-CCR EAD and RWA.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 — NETTING BENEFIT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5-Trade Portfolio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6.4M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ITM Exposure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netting)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23444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3.0M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860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Exposure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Close-out Netting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234440"/>
            <a:ext cx="192024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434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Exposure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234440"/>
            <a:ext cx="1920240" cy="10058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SA-CCR 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77440"/>
          <a:ext cx="868680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011680"/>
                <a:gridCol w="2011680"/>
              </a:tblGrid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MtM (Dealer)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Netting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IRS-01 (pay fixed, 5Y)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4.2M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IRS-02 (recv fixed, 3Y)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−EUR 2.8M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IRS-03 (pay fixed, 7Y)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1.9M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CDS-01 (prot sold, 5Y)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25M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−EUR 0.6M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Forward (6M)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30M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0.3M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89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3.0M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close-out sum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5 — VARIATION MARGIN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Margin — Daily MtM Settlement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VM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Valuation Agent calculates net MtM of netting set each Valuation Date (daily)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9842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value moved in favour of Party A → Party B posts collateral equal to the change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84248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4597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Cash VM earns OIS rate (ESTR/SOFR/SONIA) per CSA terms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459736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9352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Threshold and MTA define the band of uncollateralised residual exposure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35224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4107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Disputes resolved via IVA polling within agreed tolerance band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10712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1887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Collateral &amp; Haircuts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08760"/>
          <a:ext cx="4297680" cy="27432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(base currency)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 Govvies ≤2Y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 Govvies 2–10Y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 Govvies &gt;10Y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Corporate Bonds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228600" y="4389120"/>
            <a:ext cx="64008" cy="59436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" y="4389120"/>
            <a:ext cx="8622792" cy="59436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434840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LINK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636008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VM collateralisation → near-zero CVA (daily credit exposure settled) and near-zero FVA (trade funded by VM flows, not dealer balance sheet).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6 — INITIAL MARGIN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 — Buffer Against MPoR Exposure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160520" cy="132588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Margin (VM)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8191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what HAS already happened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Daily MtM movement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Eliminates accumulated exposure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4343400" cy="1325880"/>
          </a:xfrm>
          <a:prstGeom prst="rect">
            <a:avLst/>
          </a:prstGeom>
          <a:solidFill>
            <a:srgbClr val="F5DFA8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188720"/>
            <a:ext cx="4343400" cy="347472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161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 (IM)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58191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against what MIGHT happen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Covers MPoR exposure (10 days bilateral)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Sized at 99th percentile over MPoR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86868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SIMM IM  =  √ [ Σᵢ(WSᵢ²) + Σᵢ≠ⱼ(ρᵢⱼ × WSᵢ × WSⱼ)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2944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WSᵢ = weighted sensitivity per risk bucket  |  ρᵢⱼ = intra-bucket correlation  |  6 risk classes: IR, CR-Q, CR-NQ, EQ, FX, CM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337560"/>
          <a:ext cx="8686800" cy="132588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3383280"/>
              </a:tblGrid>
              <a:tr h="3314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MPoR Floor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— daily margining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business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default → notify → regulatory approval → close-out → replace positions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Centrally cleared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business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 standardised close-out; position porting to another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business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Lehman-style extended close-out; used in internal stress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8 — REPO &amp; SECURITIES LENDING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— Structure, Mechanics &amp; Types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56032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Seller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(Cash Borrower)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25603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(Securities Buyer)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2070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Bonds → @ P₀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0" y="1481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Cash ← @ P₀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0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MATURITY: Cash → @ P₁ = P₀×(1+r×t/360)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34640" y="1325880"/>
            <a:ext cx="35204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600200"/>
            <a:ext cx="3520440" cy="0"/>
          </a:xfrm>
          <a:prstGeom prst="line">
            <a:avLst/>
          </a:prstGeom>
          <a:noFill/>
          <a:ln w="19050">
            <a:solidFill>
              <a:srgbClr val="C89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79222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Bonds ← @ same bond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0" y="20299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Cash → @ P₁ (P₀ + repo interest)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1920240"/>
            <a:ext cx="35204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148840"/>
            <a:ext cx="3520440" cy="0"/>
          </a:xfrm>
          <a:prstGeom prst="line">
            <a:avLst/>
          </a:prstGeom>
          <a:noFill/>
          <a:ln w="19050">
            <a:solidFill>
              <a:srgbClr val="C8953A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23160"/>
          <a:ext cx="8686800" cy="150876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474720"/>
              </a:tblGrid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Repo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Repo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eligible bond — lender indifferent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named security — lender requires this exact bond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OIS — pure funding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GC — specialness premium for scarcity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— securities holder needs liquidity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Short-covering — dealer needs specific bond to deliver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28600" y="4041648"/>
            <a:ext cx="64008" cy="59436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" y="4041648"/>
            <a:ext cx="8622792" cy="59436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087368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LINK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288536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repo rates form the lower bound of the dealer's secured funding curve. The spread between GC repo and unsecured CP/CD is the primary driver of FVA on uncollateralised derivative portfolios.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8 — COLLATERAL TRANSFORMATION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Transformation &amp; Haircut Procyclicality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Collateral Upgrade Trade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holds IG corporate bonds — ineligible as CCP margin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075688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75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approaches transformation provider (dealer/custodian)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lends eligible govt bonds in exchange for IG bonds + transformation fee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209544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209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369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posts govt bonds as CCP IM — margin obligation met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776472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803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maturity: trade unwinds, both sides reclaim original assets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343400"/>
            <a:ext cx="4114800" cy="457200"/>
          </a:xfrm>
          <a:prstGeom prst="rect">
            <a:avLst/>
          </a:prstGeom>
          <a:solidFill>
            <a:srgbClr val="F5DFA8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708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fee: 10–50 bps p.a. — enters MVA as all-in cost of eligible IM collateral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11887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Haircut Procyclicality — A Systemic Risk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508760"/>
            <a:ext cx="4343400" cy="822960"/>
          </a:xfrm>
          <a:prstGeom prst="rect">
            <a:avLst/>
          </a:prstGeom>
          <a:solidFill>
            <a:srgbClr val="E0F4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508760"/>
            <a:ext cx="73152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554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Times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Haircuts compress as competition drives margins down. Near-zero haircuts on IG bonds common.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468880"/>
            <a:ext cx="4343400" cy="822960"/>
          </a:xfrm>
          <a:prstGeom prst="rect">
            <a:avLst/>
          </a:prstGeom>
          <a:solidFill>
            <a:srgbClr val="E0F4F7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468880"/>
            <a:ext cx="73152" cy="82296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514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2761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Haircuts spike simultaneously. All participants margin-call at once — exactly when liquidity most scarce.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429000"/>
            <a:ext cx="4343400" cy="822960"/>
          </a:xfrm>
          <a:prstGeom prst="rect">
            <a:avLst/>
          </a:prstGeom>
          <a:solidFill>
            <a:srgbClr val="E0F4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3429000"/>
            <a:ext cx="7315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474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3721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haircuts force liquidations. Liquidation depresses prices. Prices trigger further haircut increases — collateral spiral.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5720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 minimum haircut floors (BCBS-IOSCO / SFTR) were designed to prevent compression in good times.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Archegos (2021) — A Modern Collateral Management Lesson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0515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 | Leveraged TRS exposure across multiple dealers | No cross-dealer netting | Limited or no 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99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Cross-Dealer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dealer saw only its own bilateral exposure. No visibility into Archegos's aggregate leverage across all counterparties simultaneously.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99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 / Insufficient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Archegos was below UMR thresholds (Phase 5/6 activating in 2021–22). Several dealers negotiated minimal or zero IM — leaving large uncollateralised exposures.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83464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62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Spiral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2186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decline → simultaneous margin calls from all dealers → Archegos forced to liquidate → further price decline → further calls. Classic collateral spiral.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862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186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bilateral framework has no mechanism for dealers to share aggregate exposure information. Each dealer optimised bilaterally; system-level concentration was invisible.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343400"/>
            <a:ext cx="27432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5.5B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28600" y="4937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Suisse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36392" y="4343400"/>
            <a:ext cx="27432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2.9B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136392" y="4937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Nomura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44184" y="4343400"/>
            <a:ext cx="27432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&gt;USD 10B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044184" y="4937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Total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9 — REGULATORY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Landscape — EMIR, Dodd-Frank, MAS, HKMA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68680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2103120"/>
                <a:gridCol w="210312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Clearing Obligation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EU/UK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IRS/CDS index — LCH, Eurex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UMR VM+IM — BCBS-IOSCO aligned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 to DTCC/REGIS-TR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Dodd-Frank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SEF trading + DCO clearing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CFTC/PR IM rules — SIMM accepted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to CFTC SDR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 SFA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IRS + USD/EUR IRS above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SFA 04-N12 — Phase 5/6 extended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SFA 04-N05 — MAS 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HKMA SPM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Kong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HKD + USD/EUR IRS; LCH recognised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CR-G-14 — international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HKTR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913632"/>
            <a:ext cx="64008" cy="6858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2608" y="3913632"/>
            <a:ext cx="8622792" cy="68580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959352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NOTE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4160520"/>
            <a:ext cx="8458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and HKMA have both confirmed cross-border equivalence with EMIR and CFTC frameworks, enabling entities to avoid duplicative compliance where bilateral recognition agreements are in place.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XVA Waterfall — Where Collateral Sits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34440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71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credit risk. Reduced by VM (daily settlement eliminates build-up). Residual driven by Threshold + MTA gap.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234440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271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credit adjustment — bilateral. Not affected directly by collateral regime.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234440"/>
            <a:ext cx="2743200" cy="347472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71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cost of uncollateralised exposures. VM-collateralised trades → near-zero FVA. Residual driven by Threshold/MTA uncollateralised band.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01752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54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cost of posting IM. Driven by SIMM IM amount × funding spread. Collateral transformation fee adds to all-in MVA.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01752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54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4612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Cheapest-to-deliver optionality in multi-currency CSAs. COVERED IN MODULE 6.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3017520"/>
            <a:ext cx="2743200" cy="34747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54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regulatory capital. COVERED IN MODULE 6.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3444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087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ISDA hierarchy: Master + Schedule (inseparable, can stand alone) → CSA (optional, cannot exist without Master) → Confirmations. Know the dependency logic.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42316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42316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netting is the core ISDA benefit — eliminating cherry-picking and enabling net SA-CCR EAD for capital. It only works if netting opinions confirm enforceability.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61188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61188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886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vs 2002: Market Quotation failed in illiquid Lehman markets. The 2002 single Close-out Amount is the correct framework — but both versions remain in use.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087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13258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eliminates current MtM exposure daily. IM buffers against MPoR exposure (10 days bilateral). UMR mandates segregation of IM — prohibiting rehypothecation.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42316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514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is the dealer's funding infrastructure. GC repo forms the secured funding curve lower bound. Special repo reflects bond scarcity. Both feed FVA and MVA.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61188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886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3703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transformation (IG bonds → govt bonds) enables CCP margin posting — at a transformation fee that enters MVA. Haircut procyclicality amplifies stress.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— Module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KVA, ColVA &amp; Capital Costs — Completing the XVA Waterfall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2423160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4231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— cheapest-to-deliver optionality in multi-currency CSAs. Worked example on EUR 100M IRS.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3200400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3200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327355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Valuation Adjustment — cost of regulatory capital. CET1 hurdle rate, SA-CCR EAD/RWA, stress capital buffer, G-SIB interaction.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977640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9776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Completion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40507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waterfall with all six adjustments. Desk-level case studies across three collateral regimes. P&amp;L attribution framework.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Basel I–IV  →  FRTB  →  CVA/DVA  →  FVA/MVA  →  ISDA, Netting &amp; Collateral  →  KVA, ColVA &amp; Capital Costs  →  Practitioner's Dictionary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ISDA, Netting &amp; Collateral</dc:title>
  <dc:subject>PptxGenJS Presentation</dc:subject>
  <dc:creator>Sarthaka Nanda</dc:creator>
  <cp:lastModifiedBy>Sarthaka Nanda</cp:lastModifiedBy>
  <cp:revision>1</cp:revision>
  <dcterms:created xsi:type="dcterms:W3CDTF">2026-04-26T12:44:20Z</dcterms:created>
  <dcterms:modified xsi:type="dcterms:W3CDTF">2026-04-26T12:44:20Z</dcterms:modified>
</cp:coreProperties>
</file>