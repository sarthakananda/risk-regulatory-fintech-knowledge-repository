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4" r:id="rId19"/>
    <p:sldId id="273"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60" d="100"/>
          <a:sy n="160" d="100"/>
        </p:scale>
        <p:origin x="514" y="1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89939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457200" cy="5143500"/>
          </a:xfrm>
          <a:prstGeom prst="rect">
            <a:avLst/>
          </a:prstGeom>
          <a:solidFill>
            <a:srgbClr val="028090"/>
          </a:solidFill>
          <a:ln w="12700">
            <a:solidFill>
              <a:srgbClr val="028090"/>
            </a:solidFill>
            <a:prstDash val="solid"/>
          </a:ln>
        </p:spPr>
      </p:sp>
      <p:sp>
        <p:nvSpPr>
          <p:cNvPr id="3" name="Shape 1"/>
          <p:cNvSpPr/>
          <p:nvPr/>
        </p:nvSpPr>
        <p:spPr>
          <a:xfrm>
            <a:off x="457200" y="4434840"/>
            <a:ext cx="8686800" cy="73152"/>
          </a:xfrm>
          <a:prstGeom prst="rect">
            <a:avLst/>
          </a:prstGeom>
          <a:solidFill>
            <a:srgbClr val="C8953A"/>
          </a:solidFill>
          <a:ln w="12700">
            <a:solidFill>
              <a:srgbClr val="C8953A"/>
            </a:solidFill>
            <a:prstDash val="solid"/>
          </a:ln>
        </p:spPr>
      </p:sp>
      <p:sp>
        <p:nvSpPr>
          <p:cNvPr id="4" name="Text 2"/>
          <p:cNvSpPr/>
          <p:nvPr/>
        </p:nvSpPr>
        <p:spPr>
          <a:xfrm>
            <a:off x="640080" y="347472"/>
            <a:ext cx="8046720" cy="256032"/>
          </a:xfrm>
          <a:prstGeom prst="rect">
            <a:avLst/>
          </a:prstGeom>
          <a:noFill/>
          <a:ln/>
        </p:spPr>
        <p:txBody>
          <a:bodyPr wrap="square" rtlCol="0" anchor="ctr"/>
          <a:lstStyle/>
          <a:p>
            <a:pPr marL="0" indent="0">
              <a:buNone/>
            </a:pPr>
            <a:r>
              <a:rPr lang="en-US" sz="1000" b="1" kern="0" spc="300" dirty="0">
                <a:solidFill>
                  <a:srgbClr val="8A9BB0"/>
                </a:solidFill>
                <a:latin typeface="Calibri" pitchFamily="34" charset="0"/>
                <a:ea typeface="Calibri" pitchFamily="34" charset="-122"/>
                <a:cs typeface="Calibri" pitchFamily="34" charset="-120"/>
              </a:rPr>
              <a:t>PRACTITIONER KNOWLEDGE REPOSITORY</a:t>
            </a:r>
            <a:endParaRPr lang="en-US" sz="1000" dirty="0"/>
          </a:p>
        </p:txBody>
      </p:sp>
      <p:sp>
        <p:nvSpPr>
          <p:cNvPr id="5" name="Text 3"/>
          <p:cNvSpPr/>
          <p:nvPr/>
        </p:nvSpPr>
        <p:spPr>
          <a:xfrm>
            <a:off x="640080" y="749808"/>
            <a:ext cx="3657600" cy="384048"/>
          </a:xfrm>
          <a:prstGeom prst="rect">
            <a:avLst/>
          </a:prstGeom>
          <a:noFill/>
          <a:ln/>
        </p:spPr>
        <p:txBody>
          <a:bodyPr wrap="square" rtlCol="0" anchor="ctr"/>
          <a:lstStyle/>
          <a:p>
            <a:pPr marL="0" indent="0">
              <a:buNone/>
            </a:pPr>
            <a:r>
              <a:rPr lang="en-US" sz="2200" b="1" dirty="0">
                <a:solidFill>
                  <a:srgbClr val="C8953A"/>
                </a:solidFill>
                <a:latin typeface="Calibri" pitchFamily="34" charset="0"/>
                <a:ea typeface="Calibri" pitchFamily="34" charset="-122"/>
                <a:cs typeface="Calibri" pitchFamily="34" charset="-120"/>
              </a:rPr>
              <a:t>MODULE 6</a:t>
            </a:r>
            <a:endParaRPr lang="en-US" sz="2200" dirty="0"/>
          </a:p>
        </p:txBody>
      </p:sp>
      <p:sp>
        <p:nvSpPr>
          <p:cNvPr id="6" name="Text 4"/>
          <p:cNvSpPr/>
          <p:nvPr/>
        </p:nvSpPr>
        <p:spPr>
          <a:xfrm>
            <a:off x="640080" y="1170432"/>
            <a:ext cx="8229600" cy="841248"/>
          </a:xfrm>
          <a:prstGeom prst="rect">
            <a:avLst/>
          </a:prstGeom>
          <a:noFill/>
          <a:ln/>
        </p:spPr>
        <p:txBody>
          <a:bodyPr wrap="square" rtlCol="0" anchor="ctr"/>
          <a:lstStyle/>
          <a:p>
            <a:pPr marL="0" indent="0">
              <a:buNone/>
            </a:pPr>
            <a:r>
              <a:rPr lang="en-US" sz="5200" b="1" dirty="0">
                <a:solidFill>
                  <a:srgbClr val="FFFFFF"/>
                </a:solidFill>
                <a:latin typeface="Calibri" pitchFamily="34" charset="0"/>
                <a:ea typeface="Calibri" pitchFamily="34" charset="-122"/>
                <a:cs typeface="Calibri" pitchFamily="34" charset="-120"/>
              </a:rPr>
              <a:t>KVA, ColVA</a:t>
            </a:r>
            <a:endParaRPr lang="en-US" sz="5200" dirty="0"/>
          </a:p>
        </p:txBody>
      </p:sp>
      <p:sp>
        <p:nvSpPr>
          <p:cNvPr id="7" name="Text 5"/>
          <p:cNvSpPr/>
          <p:nvPr/>
        </p:nvSpPr>
        <p:spPr>
          <a:xfrm>
            <a:off x="640080" y="1938528"/>
            <a:ext cx="8229600" cy="658368"/>
          </a:xfrm>
          <a:prstGeom prst="rect">
            <a:avLst/>
          </a:prstGeom>
          <a:noFill/>
          <a:ln/>
        </p:spPr>
        <p:txBody>
          <a:bodyPr wrap="square" rtlCol="0" anchor="ctr"/>
          <a:lstStyle/>
          <a:p>
            <a:pPr marL="0" indent="0">
              <a:buNone/>
            </a:pPr>
            <a:r>
              <a:rPr lang="en-US" sz="5200" b="1" dirty="0">
                <a:solidFill>
                  <a:srgbClr val="028090"/>
                </a:solidFill>
                <a:latin typeface="Calibri" pitchFamily="34" charset="0"/>
                <a:ea typeface="Calibri" pitchFamily="34" charset="-122"/>
                <a:cs typeface="Calibri" pitchFamily="34" charset="-120"/>
              </a:rPr>
              <a:t>&amp; Capital Costs</a:t>
            </a:r>
            <a:endParaRPr lang="en-US" sz="5200" dirty="0"/>
          </a:p>
        </p:txBody>
      </p:sp>
      <p:sp>
        <p:nvSpPr>
          <p:cNvPr id="8" name="Text 6"/>
          <p:cNvSpPr/>
          <p:nvPr/>
        </p:nvSpPr>
        <p:spPr>
          <a:xfrm>
            <a:off x="640080" y="2697480"/>
            <a:ext cx="7772400" cy="292608"/>
          </a:xfrm>
          <a:prstGeom prst="rect">
            <a:avLst/>
          </a:prstGeom>
          <a:noFill/>
          <a:ln/>
        </p:spPr>
        <p:txBody>
          <a:bodyPr wrap="square" rtlCol="0" anchor="ctr"/>
          <a:lstStyle/>
          <a:p>
            <a:pPr marL="0" indent="0">
              <a:buNone/>
            </a:pPr>
            <a:r>
              <a:rPr lang="en-US" sz="1600" i="1" dirty="0">
                <a:solidFill>
                  <a:srgbClr val="F4F6F8"/>
                </a:solidFill>
                <a:latin typeface="Calibri" pitchFamily="34" charset="0"/>
                <a:ea typeface="Calibri" pitchFamily="34" charset="-122"/>
                <a:cs typeface="Calibri" pitchFamily="34" charset="-120"/>
              </a:rPr>
              <a:t>Completing the XVA Waterfall</a:t>
            </a:r>
            <a:endParaRPr lang="en-US" sz="1600" dirty="0"/>
          </a:p>
        </p:txBody>
      </p:sp>
      <p:sp>
        <p:nvSpPr>
          <p:cNvPr id="9" name="Shape 7"/>
          <p:cNvSpPr/>
          <p:nvPr/>
        </p:nvSpPr>
        <p:spPr>
          <a:xfrm>
            <a:off x="640080" y="3182112"/>
            <a:ext cx="8046720" cy="804672"/>
          </a:xfrm>
          <a:prstGeom prst="rect">
            <a:avLst/>
          </a:prstGeom>
          <a:solidFill>
            <a:srgbClr val="152235"/>
          </a:solidFill>
          <a:ln w="12700">
            <a:solidFill>
              <a:srgbClr val="028090"/>
            </a:solidFill>
            <a:prstDash val="solid"/>
          </a:ln>
        </p:spPr>
      </p:sp>
      <p:sp>
        <p:nvSpPr>
          <p:cNvPr id="10" name="Text 8"/>
          <p:cNvSpPr/>
          <p:nvPr/>
        </p:nvSpPr>
        <p:spPr>
          <a:xfrm>
            <a:off x="777240" y="3227832"/>
            <a:ext cx="7680960" cy="713232"/>
          </a:xfrm>
          <a:prstGeom prst="rect">
            <a:avLst/>
          </a:prstGeom>
          <a:noFill/>
          <a:ln/>
        </p:spPr>
        <p:txBody>
          <a:bodyPr wrap="square" rtlCol="0" anchor="ctr"/>
          <a:lstStyle/>
          <a:p>
            <a:pPr marL="0" indent="0">
              <a:buNone/>
            </a:pPr>
            <a:r>
              <a:rPr lang="en-US" sz="1000" i="1" dirty="0">
                <a:solidFill>
                  <a:srgbClr val="F4F6F8"/>
                </a:solidFill>
                <a:latin typeface="Calibri" pitchFamily="34" charset="0"/>
                <a:ea typeface="Calibri" pitchFamily="34" charset="-122"/>
                <a:cs typeface="Calibri" pitchFamily="34" charset="-120"/>
              </a:rPr>
              <a:t>The Final Two Floors: The XVA waterfall was structurally complete after CVA, DVA, FVA, and MVA — but two costs were missing. KVA is the rent on regulatory capital. ColVA is the value of your right to post the cheapest collateral. Without them, you don't know the true cost of the building.</a:t>
            </a:r>
            <a:endParaRPr lang="en-US" sz="1000" dirty="0"/>
          </a:p>
        </p:txBody>
      </p:sp>
      <p:sp>
        <p:nvSpPr>
          <p:cNvPr id="11" name="Text 9"/>
          <p:cNvSpPr/>
          <p:nvPr/>
        </p:nvSpPr>
        <p:spPr>
          <a:xfrm>
            <a:off x="640080" y="4526280"/>
            <a:ext cx="7772400" cy="182880"/>
          </a:xfrm>
          <a:prstGeom prst="rect">
            <a:avLst/>
          </a:prstGeom>
          <a:noFill/>
          <a:ln/>
        </p:spPr>
        <p:txBody>
          <a:bodyPr wrap="square" rtlCol="0" anchor="ctr"/>
          <a:lstStyle/>
          <a:p>
            <a:pPr marL="0" indent="0">
              <a:buNone/>
            </a:pPr>
            <a:r>
              <a:rPr lang="en-US" sz="850" dirty="0">
                <a:solidFill>
                  <a:srgbClr val="8A9BB0"/>
                </a:solidFill>
                <a:latin typeface="Calibri" pitchFamily="34" charset="0"/>
                <a:ea typeface="Calibri" pitchFamily="34" charset="-122"/>
                <a:cs typeface="Calibri" pitchFamily="34" charset="-120"/>
              </a:rPr>
              <a:t>Sarthaka Nanda (with Anthropic Claude)  |  CC BY-NC 4.0  |  © 2026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8953A"/>
          </a:solidFill>
          <a:ln w="12700">
            <a:solidFill>
              <a:srgbClr val="C8953A"/>
            </a:solidFill>
            <a:prstDash val="solid"/>
          </a:ln>
        </p:spPr>
      </p:sp>
      <p:sp>
        <p:nvSpPr>
          <p:cNvPr id="3" name="Text 1"/>
          <p:cNvSpPr/>
          <p:nvPr/>
        </p:nvSpPr>
        <p:spPr>
          <a:xfrm>
            <a:off x="228600" y="457200"/>
            <a:ext cx="8686800" cy="64008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Series Trail — Final Module</a:t>
            </a:r>
            <a:endParaRPr lang="en-US" sz="2800" dirty="0"/>
          </a:p>
        </p:txBody>
      </p:sp>
      <p:sp>
        <p:nvSpPr>
          <p:cNvPr id="4" name="Shape 2"/>
          <p:cNvSpPr/>
          <p:nvPr/>
        </p:nvSpPr>
        <p:spPr>
          <a:xfrm>
            <a:off x="228600" y="1170432"/>
            <a:ext cx="502920" cy="338328"/>
          </a:xfrm>
          <a:prstGeom prst="rect">
            <a:avLst/>
          </a:prstGeom>
          <a:solidFill>
            <a:srgbClr val="1E3050"/>
          </a:solidFill>
          <a:ln w="12700">
            <a:solidFill>
              <a:srgbClr val="1E3050"/>
            </a:solidFill>
            <a:prstDash val="solid"/>
          </a:ln>
        </p:spPr>
      </p:sp>
      <p:sp>
        <p:nvSpPr>
          <p:cNvPr id="5" name="Text 3"/>
          <p:cNvSpPr/>
          <p:nvPr/>
        </p:nvSpPr>
        <p:spPr>
          <a:xfrm>
            <a:off x="228600" y="1170432"/>
            <a:ext cx="502920" cy="338328"/>
          </a:xfrm>
          <a:prstGeom prst="rect">
            <a:avLst/>
          </a:prstGeom>
          <a:noFill/>
          <a:ln/>
        </p:spPr>
        <p:txBody>
          <a:bodyPr wrap="square" rtlCol="0" anchor="ctr"/>
          <a:lstStyle/>
          <a:p>
            <a:pPr marL="0" indent="0" algn="ctr">
              <a:buNone/>
            </a:pPr>
            <a:r>
              <a:rPr lang="en-US" sz="900" b="1" dirty="0">
                <a:solidFill>
                  <a:srgbClr val="8A9BB0"/>
                </a:solidFill>
                <a:latin typeface="Calibri" pitchFamily="34" charset="0"/>
                <a:ea typeface="Calibri" pitchFamily="34" charset="-122"/>
                <a:cs typeface="Calibri" pitchFamily="34" charset="-120"/>
              </a:rPr>
              <a:t>M0</a:t>
            </a:r>
            <a:endParaRPr lang="en-US" sz="900" dirty="0"/>
          </a:p>
        </p:txBody>
      </p:sp>
      <p:sp>
        <p:nvSpPr>
          <p:cNvPr id="6" name="Text 4"/>
          <p:cNvSpPr/>
          <p:nvPr/>
        </p:nvSpPr>
        <p:spPr>
          <a:xfrm>
            <a:off x="822960" y="1207008"/>
            <a:ext cx="8046720" cy="274320"/>
          </a:xfrm>
          <a:prstGeom prst="rect">
            <a:avLst/>
          </a:prstGeom>
          <a:noFill/>
          <a:ln/>
        </p:spPr>
        <p:txBody>
          <a:bodyPr wrap="square" rtlCol="0" anchor="ctr"/>
          <a:lstStyle/>
          <a:p>
            <a:pPr marL="0" indent="0">
              <a:buNone/>
            </a:pPr>
            <a:r>
              <a:rPr lang="en-US" sz="1100" dirty="0">
                <a:solidFill>
                  <a:srgbClr val="8A9BB0"/>
                </a:solidFill>
                <a:latin typeface="Calibri" pitchFamily="34" charset="0"/>
                <a:ea typeface="Calibri" pitchFamily="34" charset="-122"/>
                <a:cs typeface="Calibri" pitchFamily="34" charset="-120"/>
              </a:rPr>
              <a:t>Greeks &amp; Sensitivities</a:t>
            </a:r>
            <a:endParaRPr lang="en-US" sz="1100" dirty="0"/>
          </a:p>
        </p:txBody>
      </p:sp>
      <p:sp>
        <p:nvSpPr>
          <p:cNvPr id="7" name="Shape 5"/>
          <p:cNvSpPr/>
          <p:nvPr/>
        </p:nvSpPr>
        <p:spPr>
          <a:xfrm>
            <a:off x="228600" y="1600200"/>
            <a:ext cx="502920" cy="338328"/>
          </a:xfrm>
          <a:prstGeom prst="rect">
            <a:avLst/>
          </a:prstGeom>
          <a:solidFill>
            <a:srgbClr val="1E3050"/>
          </a:solidFill>
          <a:ln w="12700">
            <a:solidFill>
              <a:srgbClr val="1E3050"/>
            </a:solidFill>
            <a:prstDash val="solid"/>
          </a:ln>
        </p:spPr>
      </p:sp>
      <p:sp>
        <p:nvSpPr>
          <p:cNvPr id="8" name="Text 6"/>
          <p:cNvSpPr/>
          <p:nvPr/>
        </p:nvSpPr>
        <p:spPr>
          <a:xfrm>
            <a:off x="228600" y="1600200"/>
            <a:ext cx="502920" cy="338328"/>
          </a:xfrm>
          <a:prstGeom prst="rect">
            <a:avLst/>
          </a:prstGeom>
          <a:noFill/>
          <a:ln/>
        </p:spPr>
        <p:txBody>
          <a:bodyPr wrap="square" rtlCol="0" anchor="ctr"/>
          <a:lstStyle/>
          <a:p>
            <a:pPr marL="0" indent="0" algn="ctr">
              <a:buNone/>
            </a:pPr>
            <a:r>
              <a:rPr lang="en-US" sz="900" b="1" dirty="0">
                <a:solidFill>
                  <a:srgbClr val="8A9BB0"/>
                </a:solidFill>
                <a:latin typeface="Calibri" pitchFamily="34" charset="0"/>
                <a:ea typeface="Calibri" pitchFamily="34" charset="-122"/>
                <a:cs typeface="Calibri" pitchFamily="34" charset="-120"/>
              </a:rPr>
              <a:t>M1</a:t>
            </a:r>
            <a:endParaRPr lang="en-US" sz="900" dirty="0"/>
          </a:p>
        </p:txBody>
      </p:sp>
      <p:sp>
        <p:nvSpPr>
          <p:cNvPr id="9" name="Text 7"/>
          <p:cNvSpPr/>
          <p:nvPr/>
        </p:nvSpPr>
        <p:spPr>
          <a:xfrm>
            <a:off x="822960" y="1636776"/>
            <a:ext cx="8046720" cy="274320"/>
          </a:xfrm>
          <a:prstGeom prst="rect">
            <a:avLst/>
          </a:prstGeom>
          <a:noFill/>
          <a:ln/>
        </p:spPr>
        <p:txBody>
          <a:bodyPr wrap="square" rtlCol="0" anchor="ctr"/>
          <a:lstStyle/>
          <a:p>
            <a:pPr marL="0" indent="0">
              <a:buNone/>
            </a:pPr>
            <a:r>
              <a:rPr lang="en-US" sz="1100" dirty="0">
                <a:solidFill>
                  <a:srgbClr val="8A9BB0"/>
                </a:solidFill>
                <a:latin typeface="Calibri" pitchFamily="34" charset="0"/>
                <a:ea typeface="Calibri" pitchFamily="34" charset="-122"/>
                <a:cs typeface="Calibri" pitchFamily="34" charset="-120"/>
              </a:rPr>
              <a:t>Basel Accord Evolution</a:t>
            </a:r>
            <a:endParaRPr lang="en-US" sz="1100" dirty="0"/>
          </a:p>
        </p:txBody>
      </p:sp>
      <p:sp>
        <p:nvSpPr>
          <p:cNvPr id="10" name="Shape 8"/>
          <p:cNvSpPr/>
          <p:nvPr/>
        </p:nvSpPr>
        <p:spPr>
          <a:xfrm>
            <a:off x="228600" y="2029968"/>
            <a:ext cx="502920" cy="338328"/>
          </a:xfrm>
          <a:prstGeom prst="rect">
            <a:avLst/>
          </a:prstGeom>
          <a:solidFill>
            <a:srgbClr val="1E3050"/>
          </a:solidFill>
          <a:ln w="12700">
            <a:solidFill>
              <a:srgbClr val="1E3050"/>
            </a:solidFill>
            <a:prstDash val="solid"/>
          </a:ln>
        </p:spPr>
      </p:sp>
      <p:sp>
        <p:nvSpPr>
          <p:cNvPr id="11" name="Text 9"/>
          <p:cNvSpPr/>
          <p:nvPr/>
        </p:nvSpPr>
        <p:spPr>
          <a:xfrm>
            <a:off x="228600" y="2029968"/>
            <a:ext cx="502920" cy="338328"/>
          </a:xfrm>
          <a:prstGeom prst="rect">
            <a:avLst/>
          </a:prstGeom>
          <a:noFill/>
          <a:ln/>
        </p:spPr>
        <p:txBody>
          <a:bodyPr wrap="square" rtlCol="0" anchor="ctr"/>
          <a:lstStyle/>
          <a:p>
            <a:pPr marL="0" indent="0" algn="ctr">
              <a:buNone/>
            </a:pPr>
            <a:r>
              <a:rPr lang="en-US" sz="900" b="1" dirty="0">
                <a:solidFill>
                  <a:srgbClr val="8A9BB0"/>
                </a:solidFill>
                <a:latin typeface="Calibri" pitchFamily="34" charset="0"/>
                <a:ea typeface="Calibri" pitchFamily="34" charset="-122"/>
                <a:cs typeface="Calibri" pitchFamily="34" charset="-120"/>
              </a:rPr>
              <a:t>M2</a:t>
            </a:r>
            <a:endParaRPr lang="en-US" sz="900" dirty="0"/>
          </a:p>
        </p:txBody>
      </p:sp>
      <p:sp>
        <p:nvSpPr>
          <p:cNvPr id="12" name="Text 10"/>
          <p:cNvSpPr/>
          <p:nvPr/>
        </p:nvSpPr>
        <p:spPr>
          <a:xfrm>
            <a:off x="822960" y="2066544"/>
            <a:ext cx="8046720" cy="274320"/>
          </a:xfrm>
          <a:prstGeom prst="rect">
            <a:avLst/>
          </a:prstGeom>
          <a:noFill/>
          <a:ln/>
        </p:spPr>
        <p:txBody>
          <a:bodyPr wrap="square" rtlCol="0" anchor="ctr"/>
          <a:lstStyle/>
          <a:p>
            <a:pPr marL="0" indent="0">
              <a:buNone/>
            </a:pPr>
            <a:r>
              <a:rPr lang="en-US" sz="1100" dirty="0">
                <a:solidFill>
                  <a:srgbClr val="8A9BB0"/>
                </a:solidFill>
                <a:latin typeface="Calibri" pitchFamily="34" charset="0"/>
                <a:ea typeface="Calibri" pitchFamily="34" charset="-122"/>
                <a:cs typeface="Calibri" pitchFamily="34" charset="-120"/>
              </a:rPr>
              <a:t>FRTB</a:t>
            </a:r>
            <a:endParaRPr lang="en-US" sz="1100" dirty="0"/>
          </a:p>
        </p:txBody>
      </p:sp>
      <p:sp>
        <p:nvSpPr>
          <p:cNvPr id="13" name="Shape 11"/>
          <p:cNvSpPr/>
          <p:nvPr/>
        </p:nvSpPr>
        <p:spPr>
          <a:xfrm>
            <a:off x="228600" y="2459736"/>
            <a:ext cx="502920" cy="338328"/>
          </a:xfrm>
          <a:prstGeom prst="rect">
            <a:avLst/>
          </a:prstGeom>
          <a:solidFill>
            <a:srgbClr val="1E3050"/>
          </a:solidFill>
          <a:ln w="12700">
            <a:solidFill>
              <a:srgbClr val="1E3050"/>
            </a:solidFill>
            <a:prstDash val="solid"/>
          </a:ln>
        </p:spPr>
      </p:sp>
      <p:sp>
        <p:nvSpPr>
          <p:cNvPr id="14" name="Text 12"/>
          <p:cNvSpPr/>
          <p:nvPr/>
        </p:nvSpPr>
        <p:spPr>
          <a:xfrm>
            <a:off x="228600" y="2459736"/>
            <a:ext cx="502920" cy="338328"/>
          </a:xfrm>
          <a:prstGeom prst="rect">
            <a:avLst/>
          </a:prstGeom>
          <a:noFill/>
          <a:ln/>
        </p:spPr>
        <p:txBody>
          <a:bodyPr wrap="square" rtlCol="0" anchor="ctr"/>
          <a:lstStyle/>
          <a:p>
            <a:pPr marL="0" indent="0" algn="ctr">
              <a:buNone/>
            </a:pPr>
            <a:r>
              <a:rPr lang="en-US" sz="900" b="1" dirty="0">
                <a:solidFill>
                  <a:srgbClr val="8A9BB0"/>
                </a:solidFill>
                <a:latin typeface="Calibri" pitchFamily="34" charset="0"/>
                <a:ea typeface="Calibri" pitchFamily="34" charset="-122"/>
                <a:cs typeface="Calibri" pitchFamily="34" charset="-120"/>
              </a:rPr>
              <a:t>M3</a:t>
            </a:r>
            <a:endParaRPr lang="en-US" sz="900" dirty="0"/>
          </a:p>
        </p:txBody>
      </p:sp>
      <p:sp>
        <p:nvSpPr>
          <p:cNvPr id="15" name="Text 13"/>
          <p:cNvSpPr/>
          <p:nvPr/>
        </p:nvSpPr>
        <p:spPr>
          <a:xfrm>
            <a:off x="822960" y="2496312"/>
            <a:ext cx="8046720" cy="274320"/>
          </a:xfrm>
          <a:prstGeom prst="rect">
            <a:avLst/>
          </a:prstGeom>
          <a:noFill/>
          <a:ln/>
        </p:spPr>
        <p:txBody>
          <a:bodyPr wrap="square" rtlCol="0" anchor="ctr"/>
          <a:lstStyle/>
          <a:p>
            <a:pPr marL="0" indent="0">
              <a:buNone/>
            </a:pPr>
            <a:r>
              <a:rPr lang="en-US" sz="1100" dirty="0">
                <a:solidFill>
                  <a:srgbClr val="8A9BB0"/>
                </a:solidFill>
                <a:latin typeface="Calibri" pitchFamily="34" charset="0"/>
                <a:ea typeface="Calibri" pitchFamily="34" charset="-122"/>
                <a:cs typeface="Calibri" pitchFamily="34" charset="-120"/>
              </a:rPr>
              <a:t>CVA / DVA</a:t>
            </a:r>
            <a:endParaRPr lang="en-US" sz="1100" dirty="0"/>
          </a:p>
        </p:txBody>
      </p:sp>
      <p:sp>
        <p:nvSpPr>
          <p:cNvPr id="16" name="Shape 14"/>
          <p:cNvSpPr/>
          <p:nvPr/>
        </p:nvSpPr>
        <p:spPr>
          <a:xfrm>
            <a:off x="228600" y="2889504"/>
            <a:ext cx="502920" cy="338328"/>
          </a:xfrm>
          <a:prstGeom prst="rect">
            <a:avLst/>
          </a:prstGeom>
          <a:solidFill>
            <a:srgbClr val="1E3050"/>
          </a:solidFill>
          <a:ln w="12700">
            <a:solidFill>
              <a:srgbClr val="1E3050"/>
            </a:solidFill>
            <a:prstDash val="solid"/>
          </a:ln>
        </p:spPr>
      </p:sp>
      <p:sp>
        <p:nvSpPr>
          <p:cNvPr id="17" name="Text 15"/>
          <p:cNvSpPr/>
          <p:nvPr/>
        </p:nvSpPr>
        <p:spPr>
          <a:xfrm>
            <a:off x="228600" y="2889504"/>
            <a:ext cx="502920" cy="338328"/>
          </a:xfrm>
          <a:prstGeom prst="rect">
            <a:avLst/>
          </a:prstGeom>
          <a:noFill/>
          <a:ln/>
        </p:spPr>
        <p:txBody>
          <a:bodyPr wrap="square" rtlCol="0" anchor="ctr"/>
          <a:lstStyle/>
          <a:p>
            <a:pPr marL="0" indent="0" algn="ctr">
              <a:buNone/>
            </a:pPr>
            <a:r>
              <a:rPr lang="en-US" sz="900" b="1" dirty="0">
                <a:solidFill>
                  <a:srgbClr val="8A9BB0"/>
                </a:solidFill>
                <a:latin typeface="Calibri" pitchFamily="34" charset="0"/>
                <a:ea typeface="Calibri" pitchFamily="34" charset="-122"/>
                <a:cs typeface="Calibri" pitchFamily="34" charset="-120"/>
              </a:rPr>
              <a:t>M4</a:t>
            </a:r>
            <a:endParaRPr lang="en-US" sz="900" dirty="0"/>
          </a:p>
        </p:txBody>
      </p:sp>
      <p:sp>
        <p:nvSpPr>
          <p:cNvPr id="18" name="Text 16"/>
          <p:cNvSpPr/>
          <p:nvPr/>
        </p:nvSpPr>
        <p:spPr>
          <a:xfrm>
            <a:off x="822960" y="2926080"/>
            <a:ext cx="8046720" cy="274320"/>
          </a:xfrm>
          <a:prstGeom prst="rect">
            <a:avLst/>
          </a:prstGeom>
          <a:noFill/>
          <a:ln/>
        </p:spPr>
        <p:txBody>
          <a:bodyPr wrap="square" rtlCol="0" anchor="ctr"/>
          <a:lstStyle/>
          <a:p>
            <a:pPr marL="0" indent="0">
              <a:buNone/>
            </a:pPr>
            <a:r>
              <a:rPr lang="en-US" sz="1100" dirty="0">
                <a:solidFill>
                  <a:srgbClr val="8A9BB0"/>
                </a:solidFill>
                <a:latin typeface="Calibri" pitchFamily="34" charset="0"/>
                <a:ea typeface="Calibri" pitchFamily="34" charset="-122"/>
                <a:cs typeface="Calibri" pitchFamily="34" charset="-120"/>
              </a:rPr>
              <a:t>FVA / MVA</a:t>
            </a:r>
            <a:endParaRPr lang="en-US" sz="1100" dirty="0"/>
          </a:p>
        </p:txBody>
      </p:sp>
      <p:sp>
        <p:nvSpPr>
          <p:cNvPr id="19" name="Shape 17"/>
          <p:cNvSpPr/>
          <p:nvPr/>
        </p:nvSpPr>
        <p:spPr>
          <a:xfrm>
            <a:off x="228600" y="3319272"/>
            <a:ext cx="502920" cy="338328"/>
          </a:xfrm>
          <a:prstGeom prst="rect">
            <a:avLst/>
          </a:prstGeom>
          <a:solidFill>
            <a:srgbClr val="1E3050"/>
          </a:solidFill>
          <a:ln w="12700">
            <a:solidFill>
              <a:srgbClr val="1E3050"/>
            </a:solidFill>
            <a:prstDash val="solid"/>
          </a:ln>
        </p:spPr>
      </p:sp>
      <p:sp>
        <p:nvSpPr>
          <p:cNvPr id="20" name="Text 18"/>
          <p:cNvSpPr/>
          <p:nvPr/>
        </p:nvSpPr>
        <p:spPr>
          <a:xfrm>
            <a:off x="228600" y="3319272"/>
            <a:ext cx="502920" cy="338328"/>
          </a:xfrm>
          <a:prstGeom prst="rect">
            <a:avLst/>
          </a:prstGeom>
          <a:noFill/>
          <a:ln/>
        </p:spPr>
        <p:txBody>
          <a:bodyPr wrap="square" rtlCol="0" anchor="ctr"/>
          <a:lstStyle/>
          <a:p>
            <a:pPr marL="0" indent="0" algn="ctr">
              <a:buNone/>
            </a:pPr>
            <a:r>
              <a:rPr lang="en-US" sz="900" b="1" dirty="0">
                <a:solidFill>
                  <a:srgbClr val="8A9BB0"/>
                </a:solidFill>
                <a:latin typeface="Calibri" pitchFamily="34" charset="0"/>
                <a:ea typeface="Calibri" pitchFamily="34" charset="-122"/>
                <a:cs typeface="Calibri" pitchFamily="34" charset="-120"/>
              </a:rPr>
              <a:t>M5</a:t>
            </a:r>
            <a:endParaRPr lang="en-US" sz="900" dirty="0"/>
          </a:p>
        </p:txBody>
      </p:sp>
      <p:sp>
        <p:nvSpPr>
          <p:cNvPr id="21" name="Text 19"/>
          <p:cNvSpPr/>
          <p:nvPr/>
        </p:nvSpPr>
        <p:spPr>
          <a:xfrm>
            <a:off x="822960" y="3355848"/>
            <a:ext cx="8046720" cy="274320"/>
          </a:xfrm>
          <a:prstGeom prst="rect">
            <a:avLst/>
          </a:prstGeom>
          <a:noFill/>
          <a:ln/>
        </p:spPr>
        <p:txBody>
          <a:bodyPr wrap="square" rtlCol="0" anchor="ctr"/>
          <a:lstStyle/>
          <a:p>
            <a:pPr marL="0" indent="0">
              <a:buNone/>
            </a:pPr>
            <a:r>
              <a:rPr lang="en-US" sz="1100" dirty="0">
                <a:solidFill>
                  <a:srgbClr val="8A9BB0"/>
                </a:solidFill>
                <a:latin typeface="Calibri" pitchFamily="34" charset="0"/>
                <a:ea typeface="Calibri" pitchFamily="34" charset="-122"/>
                <a:cs typeface="Calibri" pitchFamily="34" charset="-120"/>
              </a:rPr>
              <a:t>ISDA, Netting &amp; Collateral</a:t>
            </a:r>
            <a:endParaRPr lang="en-US" sz="1100" dirty="0"/>
          </a:p>
        </p:txBody>
      </p:sp>
      <p:sp>
        <p:nvSpPr>
          <p:cNvPr id="22" name="Shape 20"/>
          <p:cNvSpPr/>
          <p:nvPr/>
        </p:nvSpPr>
        <p:spPr>
          <a:xfrm>
            <a:off x="228600" y="3749040"/>
            <a:ext cx="502920" cy="338328"/>
          </a:xfrm>
          <a:prstGeom prst="rect">
            <a:avLst/>
          </a:prstGeom>
          <a:solidFill>
            <a:srgbClr val="028090"/>
          </a:solidFill>
          <a:ln w="12700">
            <a:solidFill>
              <a:srgbClr val="028090"/>
            </a:solidFill>
            <a:prstDash val="solid"/>
          </a:ln>
        </p:spPr>
      </p:sp>
      <p:sp>
        <p:nvSpPr>
          <p:cNvPr id="23" name="Text 21"/>
          <p:cNvSpPr/>
          <p:nvPr/>
        </p:nvSpPr>
        <p:spPr>
          <a:xfrm>
            <a:off x="228600" y="3749040"/>
            <a:ext cx="502920" cy="338328"/>
          </a:xfrm>
          <a:prstGeom prst="rect">
            <a:avLst/>
          </a:prstGeom>
          <a:noFill/>
          <a:ln/>
        </p:spPr>
        <p:txBody>
          <a:bodyPr wrap="square" rtlCol="0" anchor="ctr"/>
          <a:lstStyle/>
          <a:p>
            <a:pPr marL="0" indent="0" algn="ctr">
              <a:buNone/>
            </a:pPr>
            <a:r>
              <a:rPr lang="en-US" sz="900" b="1" dirty="0">
                <a:solidFill>
                  <a:srgbClr val="C8953A"/>
                </a:solidFill>
                <a:latin typeface="Calibri" pitchFamily="34" charset="0"/>
                <a:ea typeface="Calibri" pitchFamily="34" charset="-122"/>
                <a:cs typeface="Calibri" pitchFamily="34" charset="-120"/>
              </a:rPr>
              <a:t>M6</a:t>
            </a:r>
            <a:endParaRPr lang="en-US" sz="900" dirty="0"/>
          </a:p>
        </p:txBody>
      </p:sp>
      <p:sp>
        <p:nvSpPr>
          <p:cNvPr id="24" name="Text 22"/>
          <p:cNvSpPr/>
          <p:nvPr/>
        </p:nvSpPr>
        <p:spPr>
          <a:xfrm>
            <a:off x="822960" y="3785616"/>
            <a:ext cx="804672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KVA, ColVA &amp; Capital Costs  ◀ THIS MODULE  ◀ SERIES COMPLETE</a:t>
            </a:r>
            <a:endParaRPr lang="en-US" sz="1100" dirty="0"/>
          </a:p>
        </p:txBody>
      </p:sp>
      <p:sp>
        <p:nvSpPr>
          <p:cNvPr id="25" name="Shape 23"/>
          <p:cNvSpPr/>
          <p:nvPr/>
        </p:nvSpPr>
        <p:spPr>
          <a:xfrm>
            <a:off x="228600" y="4178808"/>
            <a:ext cx="502920" cy="338328"/>
          </a:xfrm>
          <a:prstGeom prst="rect">
            <a:avLst/>
          </a:prstGeom>
          <a:solidFill>
            <a:srgbClr val="1E3050"/>
          </a:solidFill>
          <a:ln w="12700">
            <a:solidFill>
              <a:srgbClr val="1E3050"/>
            </a:solidFill>
            <a:prstDash val="solid"/>
          </a:ln>
        </p:spPr>
      </p:sp>
      <p:sp>
        <p:nvSpPr>
          <p:cNvPr id="26" name="Text 24"/>
          <p:cNvSpPr/>
          <p:nvPr/>
        </p:nvSpPr>
        <p:spPr>
          <a:xfrm>
            <a:off x="228600" y="4178808"/>
            <a:ext cx="502920" cy="338328"/>
          </a:xfrm>
          <a:prstGeom prst="rect">
            <a:avLst/>
          </a:prstGeom>
          <a:noFill/>
          <a:ln/>
        </p:spPr>
        <p:txBody>
          <a:bodyPr wrap="square" rtlCol="0" anchor="ctr"/>
          <a:lstStyle/>
          <a:p>
            <a:pPr marL="0" indent="0" algn="ctr">
              <a:buNone/>
            </a:pPr>
            <a:r>
              <a:rPr lang="en-US" sz="900" b="1" dirty="0">
                <a:solidFill>
                  <a:srgbClr val="8A9BB0"/>
                </a:solidFill>
                <a:latin typeface="Calibri" pitchFamily="34" charset="0"/>
                <a:ea typeface="Calibri" pitchFamily="34" charset="-122"/>
                <a:cs typeface="Calibri" pitchFamily="34" charset="-120"/>
              </a:rPr>
              <a:t>MD</a:t>
            </a:r>
            <a:endParaRPr lang="en-US" sz="900" dirty="0"/>
          </a:p>
        </p:txBody>
      </p:sp>
      <p:sp>
        <p:nvSpPr>
          <p:cNvPr id="27" name="Text 25"/>
          <p:cNvSpPr/>
          <p:nvPr/>
        </p:nvSpPr>
        <p:spPr>
          <a:xfrm>
            <a:off x="822960" y="4215384"/>
            <a:ext cx="8046720" cy="274320"/>
          </a:xfrm>
          <a:prstGeom prst="rect">
            <a:avLst/>
          </a:prstGeom>
          <a:noFill/>
          <a:ln/>
        </p:spPr>
        <p:txBody>
          <a:bodyPr wrap="square" rtlCol="0" anchor="ctr"/>
          <a:lstStyle/>
          <a:p>
            <a:pPr marL="0" indent="0">
              <a:buNone/>
            </a:pPr>
            <a:r>
              <a:rPr lang="en-US" sz="1100" dirty="0">
                <a:solidFill>
                  <a:srgbClr val="8A9BB0"/>
                </a:solidFill>
                <a:latin typeface="Calibri" pitchFamily="34" charset="0"/>
                <a:ea typeface="Calibri" pitchFamily="34" charset="-122"/>
                <a:cs typeface="Calibri" pitchFamily="34" charset="-120"/>
              </a:rPr>
              <a:t>Practitioner's Dictionary — forthcoming</a:t>
            </a:r>
            <a:endParaRPr lang="en-US" sz="1100" dirty="0"/>
          </a:p>
        </p:txBody>
      </p:sp>
      <p:sp>
        <p:nvSpPr>
          <p:cNvPr id="28" name="Text 26"/>
          <p:cNvSpPr/>
          <p:nvPr/>
        </p:nvSpPr>
        <p:spPr>
          <a:xfrm>
            <a:off x="228600" y="4846320"/>
            <a:ext cx="7772400" cy="201168"/>
          </a:xfrm>
          <a:prstGeom prst="rect">
            <a:avLst/>
          </a:prstGeom>
          <a:noFill/>
          <a:ln/>
        </p:spPr>
        <p:txBody>
          <a:bodyPr wrap="square" rtlCol="0" anchor="ctr"/>
          <a:lstStyle/>
          <a:p>
            <a:pPr marL="0" indent="0">
              <a:buNone/>
            </a:pPr>
            <a:r>
              <a:rPr lang="en-US" sz="800" dirty="0">
                <a:solidFill>
                  <a:srgbClr val="8A9BB0"/>
                </a:solidFill>
                <a:latin typeface="Calibri" pitchFamily="34" charset="0"/>
                <a:ea typeface="Calibri" pitchFamily="34" charset="-122"/>
                <a:cs typeface="Calibri" pitchFamily="34" charset="-120"/>
              </a:rPr>
              <a:t>Module 6: KVA, ColVA &amp; Capital Costs  |  Sarthaka Nanda  |  © 2026  CC BY-NC 4.0</a:t>
            </a:r>
            <a:endParaRPr lang="en-US" sz="800" dirty="0"/>
          </a:p>
        </p:txBody>
      </p:sp>
      <p:sp>
        <p:nvSpPr>
          <p:cNvPr id="29" name="Text 27"/>
          <p:cNvSpPr/>
          <p:nvPr/>
        </p:nvSpPr>
        <p:spPr>
          <a:xfrm>
            <a:off x="8686800" y="4846320"/>
            <a:ext cx="365760" cy="201168"/>
          </a:xfrm>
          <a:prstGeom prst="rect">
            <a:avLst/>
          </a:prstGeom>
          <a:noFill/>
          <a:ln/>
        </p:spPr>
        <p:txBody>
          <a:bodyPr wrap="square" rtlCol="0" anchor="ctr"/>
          <a:lstStyle/>
          <a:p>
            <a:pPr marL="0" indent="0" algn="r">
              <a:buNone/>
            </a:pPr>
            <a:r>
              <a:rPr lang="en-US" sz="800" dirty="0">
                <a:solidFill>
                  <a:srgbClr val="8A9BB0"/>
                </a:solidFill>
                <a:latin typeface="Calibri" pitchFamily="34" charset="0"/>
                <a:ea typeface="Calibri" pitchFamily="34" charset="-122"/>
                <a:cs typeface="Calibri"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28090"/>
          </a:solidFill>
          <a:ln w="12700">
            <a:solidFill>
              <a:srgbClr val="028090"/>
            </a:solidFill>
            <a:prstDash val="solid"/>
          </a:ln>
        </p:spPr>
      </p:sp>
      <p:sp>
        <p:nvSpPr>
          <p:cNvPr id="3" name="Shape 1"/>
          <p:cNvSpPr/>
          <p:nvPr/>
        </p:nvSpPr>
        <p:spPr>
          <a:xfrm>
            <a:off x="228600" y="164592"/>
            <a:ext cx="2377440" cy="292608"/>
          </a:xfrm>
          <a:prstGeom prst="rect">
            <a:avLst/>
          </a:prstGeom>
          <a:solidFill>
            <a:srgbClr val="028090"/>
          </a:solidFill>
          <a:ln w="12700">
            <a:solidFill>
              <a:srgbClr val="028090"/>
            </a:solidFill>
            <a:prstDash val="solid"/>
          </a:ln>
        </p:spPr>
      </p:sp>
      <p:sp>
        <p:nvSpPr>
          <p:cNvPr id="4" name="Text 2"/>
          <p:cNvSpPr/>
          <p:nvPr/>
        </p:nvSpPr>
        <p:spPr>
          <a:xfrm>
            <a:off x="228600" y="164592"/>
            <a:ext cx="2377440" cy="292608"/>
          </a:xfrm>
          <a:prstGeom prst="rect">
            <a:avLst/>
          </a:prstGeom>
          <a:noFill/>
          <a:ln/>
        </p:spPr>
        <p:txBody>
          <a:bodyPr wrap="square" rtlCol="0" anchor="ctr"/>
          <a:lstStyle/>
          <a:p>
            <a:pPr marL="0" indent="0" algn="ctr">
              <a:buNone/>
            </a:pPr>
            <a:r>
              <a:rPr lang="en-US" sz="900" b="1" dirty="0">
                <a:solidFill>
                  <a:srgbClr val="FFFFFF"/>
                </a:solidFill>
              </a:rPr>
              <a:t>OVERVIEW</a:t>
            </a:r>
            <a:endParaRPr lang="en-US" sz="900" dirty="0"/>
          </a:p>
        </p:txBody>
      </p:sp>
      <p:sp>
        <p:nvSpPr>
          <p:cNvPr id="5" name="Text 3"/>
          <p:cNvSpPr/>
          <p:nvPr/>
        </p:nvSpPr>
        <p:spPr>
          <a:xfrm>
            <a:off x="228600" y="548640"/>
            <a:ext cx="8686800" cy="548640"/>
          </a:xfrm>
          <a:prstGeom prst="rect">
            <a:avLst/>
          </a:prstGeom>
          <a:noFill/>
          <a:ln/>
        </p:spPr>
        <p:txBody>
          <a:bodyPr wrap="square" rtlCol="0" anchor="ctr"/>
          <a:lstStyle/>
          <a:p>
            <a:pPr marL="0" indent="0">
              <a:buNone/>
            </a:pPr>
            <a:r>
              <a:rPr lang="en-US" sz="2600" b="1" dirty="0">
                <a:solidFill>
                  <a:srgbClr val="0D1B2A"/>
                </a:solidFill>
                <a:latin typeface="Calibri" pitchFamily="34" charset="0"/>
                <a:ea typeface="Calibri" pitchFamily="34" charset="-122"/>
                <a:cs typeface="Calibri" pitchFamily="34" charset="-120"/>
              </a:rPr>
              <a:t>Module 6 — What We Cover</a:t>
            </a:r>
            <a:endParaRPr lang="en-US" sz="2600" dirty="0"/>
          </a:p>
        </p:txBody>
      </p:sp>
      <p:sp>
        <p:nvSpPr>
          <p:cNvPr id="6" name="Shape 4"/>
          <p:cNvSpPr/>
          <p:nvPr/>
        </p:nvSpPr>
        <p:spPr>
          <a:xfrm>
            <a:off x="228600" y="1234440"/>
            <a:ext cx="320040" cy="320040"/>
          </a:xfrm>
          <a:prstGeom prst="rect">
            <a:avLst/>
          </a:prstGeom>
          <a:solidFill>
            <a:srgbClr val="028090"/>
          </a:solidFill>
          <a:ln w="12700">
            <a:solidFill>
              <a:srgbClr val="028090"/>
            </a:solidFill>
            <a:prstDash val="solid"/>
          </a:ln>
        </p:spPr>
      </p:sp>
      <p:sp>
        <p:nvSpPr>
          <p:cNvPr id="7" name="Text 5"/>
          <p:cNvSpPr/>
          <p:nvPr/>
        </p:nvSpPr>
        <p:spPr>
          <a:xfrm>
            <a:off x="228600" y="1234440"/>
            <a:ext cx="3200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630936" y="1234440"/>
            <a:ext cx="4114800" cy="201168"/>
          </a:xfrm>
          <a:prstGeom prst="rect">
            <a:avLst/>
          </a:prstGeom>
          <a:noFill/>
          <a:ln/>
        </p:spPr>
        <p:txBody>
          <a:bodyPr wrap="square"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Setting the Scene</a:t>
            </a:r>
            <a:endParaRPr lang="en-US" sz="1100" dirty="0"/>
          </a:p>
        </p:txBody>
      </p:sp>
      <p:sp>
        <p:nvSpPr>
          <p:cNvPr id="9" name="Text 7"/>
          <p:cNvSpPr/>
          <p:nvPr/>
        </p:nvSpPr>
        <p:spPr>
          <a:xfrm>
            <a:off x="630936" y="1444752"/>
            <a:ext cx="4114800" cy="201168"/>
          </a:xfrm>
          <a:prstGeom prst="rect">
            <a:avLst/>
          </a:prstGeom>
          <a:noFill/>
          <a:ln/>
        </p:spPr>
        <p:txBody>
          <a:bodyPr wrap="square" rtlCol="0" anchor="ctr"/>
          <a:lstStyle/>
          <a:p>
            <a:pPr marL="0" indent="0">
              <a:buNone/>
            </a:pPr>
            <a:r>
              <a:rPr lang="en-US" sz="900" dirty="0">
                <a:solidFill>
                  <a:srgbClr val="8A9BB0"/>
                </a:solidFill>
                <a:latin typeface="Calibri" pitchFamily="34" charset="0"/>
                <a:ea typeface="Calibri" pitchFamily="34" charset="-122"/>
                <a:cs typeface="Calibri" pitchFamily="34" charset="-120"/>
              </a:rPr>
              <a:t>XVA waterfall recap — what was still missing and why</a:t>
            </a:r>
            <a:endParaRPr lang="en-US" sz="900" dirty="0"/>
          </a:p>
        </p:txBody>
      </p:sp>
      <p:sp>
        <p:nvSpPr>
          <p:cNvPr id="10" name="Shape 8"/>
          <p:cNvSpPr/>
          <p:nvPr/>
        </p:nvSpPr>
        <p:spPr>
          <a:xfrm>
            <a:off x="228600" y="1938528"/>
            <a:ext cx="320040" cy="320040"/>
          </a:xfrm>
          <a:prstGeom prst="rect">
            <a:avLst/>
          </a:prstGeom>
          <a:solidFill>
            <a:srgbClr val="028090"/>
          </a:solidFill>
          <a:ln w="12700">
            <a:solidFill>
              <a:srgbClr val="028090"/>
            </a:solidFill>
            <a:prstDash val="solid"/>
          </a:ln>
        </p:spPr>
      </p:sp>
      <p:sp>
        <p:nvSpPr>
          <p:cNvPr id="11" name="Text 9"/>
          <p:cNvSpPr/>
          <p:nvPr/>
        </p:nvSpPr>
        <p:spPr>
          <a:xfrm>
            <a:off x="228600" y="1938528"/>
            <a:ext cx="3200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10"/>
          <p:cNvSpPr/>
          <p:nvPr/>
        </p:nvSpPr>
        <p:spPr>
          <a:xfrm>
            <a:off x="630936" y="1938528"/>
            <a:ext cx="4114800" cy="201168"/>
          </a:xfrm>
          <a:prstGeom prst="rect">
            <a:avLst/>
          </a:prstGeom>
          <a:noFill/>
          <a:ln/>
        </p:spPr>
        <p:txBody>
          <a:bodyPr wrap="square"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ColVA: Plain English</a:t>
            </a:r>
            <a:endParaRPr lang="en-US" sz="1100" dirty="0"/>
          </a:p>
        </p:txBody>
      </p:sp>
      <p:sp>
        <p:nvSpPr>
          <p:cNvPr id="13" name="Text 11"/>
          <p:cNvSpPr/>
          <p:nvPr/>
        </p:nvSpPr>
        <p:spPr>
          <a:xfrm>
            <a:off x="630936" y="2148840"/>
            <a:ext cx="4114800" cy="201168"/>
          </a:xfrm>
          <a:prstGeom prst="rect">
            <a:avLst/>
          </a:prstGeom>
          <a:noFill/>
          <a:ln/>
        </p:spPr>
        <p:txBody>
          <a:bodyPr wrap="square" rtlCol="0" anchor="ctr"/>
          <a:lstStyle/>
          <a:p>
            <a:pPr marL="0" indent="0">
              <a:buNone/>
            </a:pPr>
            <a:r>
              <a:rPr lang="en-US" sz="900" dirty="0">
                <a:solidFill>
                  <a:srgbClr val="8A9BB0"/>
                </a:solidFill>
                <a:latin typeface="Calibri" pitchFamily="34" charset="0"/>
                <a:ea typeface="Calibri" pitchFamily="34" charset="-122"/>
                <a:cs typeface="Calibri" pitchFamily="34" charset="-120"/>
              </a:rPr>
              <a:t>CTD intuition, who pays, vs FVA distinction</a:t>
            </a:r>
            <a:endParaRPr lang="en-US" sz="900" dirty="0"/>
          </a:p>
        </p:txBody>
      </p:sp>
      <p:sp>
        <p:nvSpPr>
          <p:cNvPr id="14" name="Shape 12"/>
          <p:cNvSpPr/>
          <p:nvPr/>
        </p:nvSpPr>
        <p:spPr>
          <a:xfrm>
            <a:off x="228600" y="2642616"/>
            <a:ext cx="320040" cy="320040"/>
          </a:xfrm>
          <a:prstGeom prst="rect">
            <a:avLst/>
          </a:prstGeom>
          <a:solidFill>
            <a:srgbClr val="028090"/>
          </a:solidFill>
          <a:ln w="12700">
            <a:solidFill>
              <a:srgbClr val="028090"/>
            </a:solidFill>
            <a:prstDash val="solid"/>
          </a:ln>
        </p:spPr>
      </p:sp>
      <p:sp>
        <p:nvSpPr>
          <p:cNvPr id="15" name="Text 13"/>
          <p:cNvSpPr/>
          <p:nvPr/>
        </p:nvSpPr>
        <p:spPr>
          <a:xfrm>
            <a:off x="228600" y="2642616"/>
            <a:ext cx="3200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p:nvPr/>
        </p:nvSpPr>
        <p:spPr>
          <a:xfrm>
            <a:off x="630936" y="2642616"/>
            <a:ext cx="4114800" cy="201168"/>
          </a:xfrm>
          <a:prstGeom prst="rect">
            <a:avLst/>
          </a:prstGeom>
          <a:noFill/>
          <a:ln/>
        </p:spPr>
        <p:txBody>
          <a:bodyPr wrap="square"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ColVA: Full Derivation</a:t>
            </a:r>
            <a:endParaRPr lang="en-US" sz="1100" dirty="0"/>
          </a:p>
        </p:txBody>
      </p:sp>
      <p:sp>
        <p:nvSpPr>
          <p:cNvPr id="17" name="Text 15"/>
          <p:cNvSpPr/>
          <p:nvPr/>
        </p:nvSpPr>
        <p:spPr>
          <a:xfrm>
            <a:off x="630936" y="2852928"/>
            <a:ext cx="4114800" cy="201168"/>
          </a:xfrm>
          <a:prstGeom prst="rect">
            <a:avLst/>
          </a:prstGeom>
          <a:noFill/>
          <a:ln/>
        </p:spPr>
        <p:txBody>
          <a:bodyPr wrap="square" rtlCol="0" anchor="ctr"/>
          <a:lstStyle/>
          <a:p>
            <a:pPr marL="0" indent="0">
              <a:buNone/>
            </a:pPr>
            <a:r>
              <a:rPr lang="en-US" sz="900" dirty="0">
                <a:solidFill>
                  <a:srgbClr val="8A9BB0"/>
                </a:solidFill>
                <a:latin typeface="Calibri" pitchFamily="34" charset="0"/>
                <a:ea typeface="Calibri" pitchFamily="34" charset="-122"/>
                <a:cs typeface="Calibri" pitchFamily="34" charset="-120"/>
              </a:rPr>
              <a:t>Formula, single-CCY example, multi-CCY worked example (EUR/USD/GBP)</a:t>
            </a:r>
            <a:endParaRPr lang="en-US" sz="900" dirty="0"/>
          </a:p>
        </p:txBody>
      </p:sp>
      <p:sp>
        <p:nvSpPr>
          <p:cNvPr id="18" name="Shape 16"/>
          <p:cNvSpPr/>
          <p:nvPr/>
        </p:nvSpPr>
        <p:spPr>
          <a:xfrm>
            <a:off x="228600" y="3346704"/>
            <a:ext cx="320040" cy="320040"/>
          </a:xfrm>
          <a:prstGeom prst="rect">
            <a:avLst/>
          </a:prstGeom>
          <a:solidFill>
            <a:srgbClr val="028090"/>
          </a:solidFill>
          <a:ln w="12700">
            <a:solidFill>
              <a:srgbClr val="028090"/>
            </a:solidFill>
            <a:prstDash val="solid"/>
          </a:ln>
        </p:spPr>
      </p:sp>
      <p:sp>
        <p:nvSpPr>
          <p:cNvPr id="19" name="Text 17"/>
          <p:cNvSpPr/>
          <p:nvPr/>
        </p:nvSpPr>
        <p:spPr>
          <a:xfrm>
            <a:off x="228600" y="3346704"/>
            <a:ext cx="3200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0" name="Text 18"/>
          <p:cNvSpPr/>
          <p:nvPr/>
        </p:nvSpPr>
        <p:spPr>
          <a:xfrm>
            <a:off x="630936" y="3346704"/>
            <a:ext cx="4114800" cy="201168"/>
          </a:xfrm>
          <a:prstGeom prst="rect">
            <a:avLst/>
          </a:prstGeom>
          <a:noFill/>
          <a:ln/>
        </p:spPr>
        <p:txBody>
          <a:bodyPr wrap="square"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KVA: Plain English</a:t>
            </a:r>
            <a:endParaRPr lang="en-US" sz="1100" dirty="0"/>
          </a:p>
        </p:txBody>
      </p:sp>
      <p:sp>
        <p:nvSpPr>
          <p:cNvPr id="21" name="Text 19"/>
          <p:cNvSpPr/>
          <p:nvPr/>
        </p:nvSpPr>
        <p:spPr>
          <a:xfrm>
            <a:off x="630936" y="3557016"/>
            <a:ext cx="4114800" cy="201168"/>
          </a:xfrm>
          <a:prstGeom prst="rect">
            <a:avLst/>
          </a:prstGeom>
          <a:noFill/>
          <a:ln/>
        </p:spPr>
        <p:txBody>
          <a:bodyPr wrap="square" rtlCol="0" anchor="ctr"/>
          <a:lstStyle/>
          <a:p>
            <a:pPr marL="0" indent="0">
              <a:buNone/>
            </a:pPr>
            <a:r>
              <a:rPr lang="en-US" sz="900" dirty="0">
                <a:solidFill>
                  <a:srgbClr val="8A9BB0"/>
                </a:solidFill>
                <a:latin typeface="Calibri" pitchFamily="34" charset="0"/>
                <a:ea typeface="Calibri" pitchFamily="34" charset="-122"/>
                <a:cs typeface="Calibri" pitchFamily="34" charset="-120"/>
              </a:rPr>
              <a:t>Rent on capital — intuition, pre/post Basel III contrast</a:t>
            </a:r>
            <a:endParaRPr lang="en-US" sz="900" dirty="0"/>
          </a:p>
        </p:txBody>
      </p:sp>
      <p:sp>
        <p:nvSpPr>
          <p:cNvPr id="22" name="Shape 20"/>
          <p:cNvSpPr/>
          <p:nvPr/>
        </p:nvSpPr>
        <p:spPr>
          <a:xfrm>
            <a:off x="228600" y="4050792"/>
            <a:ext cx="320040" cy="320040"/>
          </a:xfrm>
          <a:prstGeom prst="rect">
            <a:avLst/>
          </a:prstGeom>
          <a:solidFill>
            <a:srgbClr val="028090"/>
          </a:solidFill>
          <a:ln w="12700">
            <a:solidFill>
              <a:srgbClr val="028090"/>
            </a:solidFill>
            <a:prstDash val="solid"/>
          </a:ln>
        </p:spPr>
      </p:sp>
      <p:sp>
        <p:nvSpPr>
          <p:cNvPr id="23" name="Text 21"/>
          <p:cNvSpPr/>
          <p:nvPr/>
        </p:nvSpPr>
        <p:spPr>
          <a:xfrm>
            <a:off x="228600" y="4050792"/>
            <a:ext cx="3200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4" name="Text 22"/>
          <p:cNvSpPr/>
          <p:nvPr/>
        </p:nvSpPr>
        <p:spPr>
          <a:xfrm>
            <a:off x="630936" y="4050792"/>
            <a:ext cx="4114800" cy="201168"/>
          </a:xfrm>
          <a:prstGeom prst="rect">
            <a:avLst/>
          </a:prstGeom>
          <a:noFill/>
          <a:ln/>
        </p:spPr>
        <p:txBody>
          <a:bodyPr wrap="square"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KVA: Conceptual Framework</a:t>
            </a:r>
            <a:endParaRPr lang="en-US" sz="1100" dirty="0"/>
          </a:p>
        </p:txBody>
      </p:sp>
      <p:sp>
        <p:nvSpPr>
          <p:cNvPr id="25" name="Text 23"/>
          <p:cNvSpPr/>
          <p:nvPr/>
        </p:nvSpPr>
        <p:spPr>
          <a:xfrm>
            <a:off x="630936" y="4261104"/>
            <a:ext cx="4114800" cy="201168"/>
          </a:xfrm>
          <a:prstGeom prst="rect">
            <a:avLst/>
          </a:prstGeom>
          <a:noFill/>
          <a:ln/>
        </p:spPr>
        <p:txBody>
          <a:bodyPr wrap="square" rtlCol="0" anchor="ctr"/>
          <a:lstStyle/>
          <a:p>
            <a:pPr marL="0" indent="0">
              <a:buNone/>
            </a:pPr>
            <a:r>
              <a:rPr lang="en-US" sz="900" dirty="0">
                <a:solidFill>
                  <a:srgbClr val="8A9BB0"/>
                </a:solidFill>
                <a:latin typeface="Calibri" pitchFamily="34" charset="0"/>
                <a:ea typeface="Calibri" pitchFamily="34" charset="-122"/>
                <a:cs typeface="Calibri" pitchFamily="34" charset="-120"/>
              </a:rPr>
              <a:t>Building blocks, formula term-by-term, hurdle rate</a:t>
            </a:r>
            <a:endParaRPr lang="en-US" sz="900" dirty="0"/>
          </a:p>
        </p:txBody>
      </p:sp>
      <p:sp>
        <p:nvSpPr>
          <p:cNvPr id="26" name="Shape 24"/>
          <p:cNvSpPr/>
          <p:nvPr/>
        </p:nvSpPr>
        <p:spPr>
          <a:xfrm>
            <a:off x="4754880" y="1234440"/>
            <a:ext cx="320040" cy="320040"/>
          </a:xfrm>
          <a:prstGeom prst="rect">
            <a:avLst/>
          </a:prstGeom>
          <a:solidFill>
            <a:srgbClr val="028090"/>
          </a:solidFill>
          <a:ln w="12700">
            <a:solidFill>
              <a:srgbClr val="028090"/>
            </a:solidFill>
            <a:prstDash val="solid"/>
          </a:ln>
        </p:spPr>
      </p:sp>
      <p:sp>
        <p:nvSpPr>
          <p:cNvPr id="27" name="Text 25"/>
          <p:cNvSpPr/>
          <p:nvPr/>
        </p:nvSpPr>
        <p:spPr>
          <a:xfrm>
            <a:off x="4754880" y="1234440"/>
            <a:ext cx="3200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8" name="Text 26"/>
          <p:cNvSpPr/>
          <p:nvPr/>
        </p:nvSpPr>
        <p:spPr>
          <a:xfrm>
            <a:off x="5157216" y="1234440"/>
            <a:ext cx="4114800" cy="201168"/>
          </a:xfrm>
          <a:prstGeom prst="rect">
            <a:avLst/>
          </a:prstGeom>
          <a:noFill/>
          <a:ln/>
        </p:spPr>
        <p:txBody>
          <a:bodyPr wrap="square"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KVA: Full Derivation</a:t>
            </a:r>
            <a:endParaRPr lang="en-US" sz="1100" dirty="0"/>
          </a:p>
        </p:txBody>
      </p:sp>
      <p:sp>
        <p:nvSpPr>
          <p:cNvPr id="29" name="Text 27"/>
          <p:cNvSpPr/>
          <p:nvPr/>
        </p:nvSpPr>
        <p:spPr>
          <a:xfrm>
            <a:off x="5157216" y="1444752"/>
            <a:ext cx="4114800" cy="201168"/>
          </a:xfrm>
          <a:prstGeom prst="rect">
            <a:avLst/>
          </a:prstGeom>
          <a:noFill/>
          <a:ln/>
        </p:spPr>
        <p:txBody>
          <a:bodyPr wrap="square" rtlCol="0" anchor="ctr"/>
          <a:lstStyle/>
          <a:p>
            <a:pPr marL="0" indent="0">
              <a:buNone/>
            </a:pPr>
            <a:r>
              <a:rPr lang="en-US" sz="900" dirty="0">
                <a:solidFill>
                  <a:srgbClr val="8A9BB0"/>
                </a:solidFill>
                <a:latin typeface="Calibri" pitchFamily="34" charset="0"/>
                <a:ea typeface="Calibri" pitchFamily="34" charset="-122"/>
                <a:cs typeface="Calibri" pitchFamily="34" charset="-120"/>
              </a:rPr>
              <a:t>SA-CCR inputs, G-SIB surcharge, full worked example</a:t>
            </a:r>
            <a:endParaRPr lang="en-US" sz="900" dirty="0"/>
          </a:p>
        </p:txBody>
      </p:sp>
      <p:sp>
        <p:nvSpPr>
          <p:cNvPr id="30" name="Shape 28"/>
          <p:cNvSpPr/>
          <p:nvPr/>
        </p:nvSpPr>
        <p:spPr>
          <a:xfrm>
            <a:off x="4754880" y="1938528"/>
            <a:ext cx="320040" cy="320040"/>
          </a:xfrm>
          <a:prstGeom prst="rect">
            <a:avLst/>
          </a:prstGeom>
          <a:solidFill>
            <a:srgbClr val="028090"/>
          </a:solidFill>
          <a:ln w="12700">
            <a:solidFill>
              <a:srgbClr val="028090"/>
            </a:solidFill>
            <a:prstDash val="solid"/>
          </a:ln>
        </p:spPr>
      </p:sp>
      <p:sp>
        <p:nvSpPr>
          <p:cNvPr id="31" name="Text 29"/>
          <p:cNvSpPr/>
          <p:nvPr/>
        </p:nvSpPr>
        <p:spPr>
          <a:xfrm>
            <a:off x="4754880" y="1938528"/>
            <a:ext cx="3200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2" name="Text 30"/>
          <p:cNvSpPr/>
          <p:nvPr/>
        </p:nvSpPr>
        <p:spPr>
          <a:xfrm>
            <a:off x="5157216" y="1938528"/>
            <a:ext cx="4114800" cy="201168"/>
          </a:xfrm>
          <a:prstGeom prst="rect">
            <a:avLst/>
          </a:prstGeom>
          <a:noFill/>
          <a:ln/>
        </p:spPr>
        <p:txBody>
          <a:bodyPr wrap="square"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Complete XVA Waterfall</a:t>
            </a:r>
            <a:endParaRPr lang="en-US" sz="1100" dirty="0"/>
          </a:p>
        </p:txBody>
      </p:sp>
      <p:sp>
        <p:nvSpPr>
          <p:cNvPr id="33" name="Text 31"/>
          <p:cNvSpPr/>
          <p:nvPr/>
        </p:nvSpPr>
        <p:spPr>
          <a:xfrm>
            <a:off x="5157216" y="2148840"/>
            <a:ext cx="4114800" cy="201168"/>
          </a:xfrm>
          <a:prstGeom prst="rect">
            <a:avLst/>
          </a:prstGeom>
          <a:noFill/>
          <a:ln/>
        </p:spPr>
        <p:txBody>
          <a:bodyPr wrap="square" rtlCol="0" anchor="ctr"/>
          <a:lstStyle/>
          <a:p>
            <a:pPr marL="0" indent="0">
              <a:buNone/>
            </a:pPr>
            <a:r>
              <a:rPr lang="en-US" sz="900" dirty="0">
                <a:solidFill>
                  <a:srgbClr val="8A9BB0"/>
                </a:solidFill>
                <a:latin typeface="Calibri" pitchFamily="34" charset="0"/>
                <a:ea typeface="Calibri" pitchFamily="34" charset="-122"/>
                <a:cs typeface="Calibri" pitchFamily="34" charset="-120"/>
              </a:rPr>
              <a:t>All six components, interactions, three collateral regimes</a:t>
            </a:r>
            <a:endParaRPr lang="en-US" sz="900" dirty="0"/>
          </a:p>
        </p:txBody>
      </p:sp>
      <p:sp>
        <p:nvSpPr>
          <p:cNvPr id="34" name="Shape 32"/>
          <p:cNvSpPr/>
          <p:nvPr/>
        </p:nvSpPr>
        <p:spPr>
          <a:xfrm>
            <a:off x="4754880" y="2642616"/>
            <a:ext cx="320040" cy="320040"/>
          </a:xfrm>
          <a:prstGeom prst="rect">
            <a:avLst/>
          </a:prstGeom>
          <a:solidFill>
            <a:srgbClr val="028090"/>
          </a:solidFill>
          <a:ln w="12700">
            <a:solidFill>
              <a:srgbClr val="028090"/>
            </a:solidFill>
            <a:prstDash val="solid"/>
          </a:ln>
        </p:spPr>
      </p:sp>
      <p:sp>
        <p:nvSpPr>
          <p:cNvPr id="35" name="Text 33"/>
          <p:cNvSpPr/>
          <p:nvPr/>
        </p:nvSpPr>
        <p:spPr>
          <a:xfrm>
            <a:off x="4754880" y="2642616"/>
            <a:ext cx="3200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36" name="Text 34"/>
          <p:cNvSpPr/>
          <p:nvPr/>
        </p:nvSpPr>
        <p:spPr>
          <a:xfrm>
            <a:off x="5157216" y="2642616"/>
            <a:ext cx="4114800" cy="201168"/>
          </a:xfrm>
          <a:prstGeom prst="rect">
            <a:avLst/>
          </a:prstGeom>
          <a:noFill/>
          <a:ln/>
        </p:spPr>
        <p:txBody>
          <a:bodyPr wrap="square"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XVA Desk P&amp;L Attribution</a:t>
            </a:r>
            <a:endParaRPr lang="en-US" sz="1100" dirty="0"/>
          </a:p>
        </p:txBody>
      </p:sp>
      <p:sp>
        <p:nvSpPr>
          <p:cNvPr id="37" name="Text 35"/>
          <p:cNvSpPr/>
          <p:nvPr/>
        </p:nvSpPr>
        <p:spPr>
          <a:xfrm>
            <a:off x="5157216" y="2852928"/>
            <a:ext cx="4114800" cy="201168"/>
          </a:xfrm>
          <a:prstGeom prst="rect">
            <a:avLst/>
          </a:prstGeom>
          <a:noFill/>
          <a:ln/>
        </p:spPr>
        <p:txBody>
          <a:bodyPr wrap="square" rtlCol="0" anchor="ctr"/>
          <a:lstStyle/>
          <a:p>
            <a:pPr marL="0" indent="0">
              <a:buNone/>
            </a:pPr>
            <a:r>
              <a:rPr lang="en-US" sz="900" dirty="0">
                <a:solidFill>
                  <a:srgbClr val="8A9BB0"/>
                </a:solidFill>
                <a:latin typeface="Calibri" pitchFamily="34" charset="0"/>
                <a:ea typeface="Calibri" pitchFamily="34" charset="-122"/>
                <a:cs typeface="Calibri" pitchFamily="34" charset="-120"/>
              </a:rPr>
              <a:t>P&amp;L sources, hedgeability, IFRS 13, inception-to-maturity case</a:t>
            </a:r>
            <a:endParaRPr lang="en-US" sz="900" dirty="0"/>
          </a:p>
        </p:txBody>
      </p:sp>
      <p:sp>
        <p:nvSpPr>
          <p:cNvPr id="38" name="Shape 36"/>
          <p:cNvSpPr/>
          <p:nvPr/>
        </p:nvSpPr>
        <p:spPr>
          <a:xfrm>
            <a:off x="4754880" y="3346704"/>
            <a:ext cx="320040" cy="320040"/>
          </a:xfrm>
          <a:prstGeom prst="rect">
            <a:avLst/>
          </a:prstGeom>
          <a:solidFill>
            <a:srgbClr val="028090"/>
          </a:solidFill>
          <a:ln w="12700">
            <a:solidFill>
              <a:srgbClr val="028090"/>
            </a:solidFill>
            <a:prstDash val="solid"/>
          </a:ln>
        </p:spPr>
      </p:sp>
      <p:sp>
        <p:nvSpPr>
          <p:cNvPr id="39" name="Text 37"/>
          <p:cNvSpPr/>
          <p:nvPr/>
        </p:nvSpPr>
        <p:spPr>
          <a:xfrm>
            <a:off x="4754880" y="3346704"/>
            <a:ext cx="3200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40" name="Text 38"/>
          <p:cNvSpPr/>
          <p:nvPr/>
        </p:nvSpPr>
        <p:spPr>
          <a:xfrm>
            <a:off x="5157216" y="3346704"/>
            <a:ext cx="4114800" cy="201168"/>
          </a:xfrm>
          <a:prstGeom prst="rect">
            <a:avLst/>
          </a:prstGeom>
          <a:noFill/>
          <a:ln/>
        </p:spPr>
        <p:txBody>
          <a:bodyPr wrap="square"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Regulatory &amp; Strategic</a:t>
            </a:r>
            <a:endParaRPr lang="en-US" sz="1100" dirty="0"/>
          </a:p>
        </p:txBody>
      </p:sp>
      <p:sp>
        <p:nvSpPr>
          <p:cNvPr id="41" name="Text 39"/>
          <p:cNvSpPr/>
          <p:nvPr/>
        </p:nvSpPr>
        <p:spPr>
          <a:xfrm>
            <a:off x="5157216" y="3557016"/>
            <a:ext cx="4114800" cy="201168"/>
          </a:xfrm>
          <a:prstGeom prst="rect">
            <a:avLst/>
          </a:prstGeom>
          <a:noFill/>
          <a:ln/>
        </p:spPr>
        <p:txBody>
          <a:bodyPr wrap="square" rtlCol="0" anchor="ctr"/>
          <a:lstStyle/>
          <a:p>
            <a:pPr marL="0" indent="0">
              <a:buNone/>
            </a:pPr>
            <a:r>
              <a:rPr lang="en-US" sz="900" dirty="0">
                <a:solidFill>
                  <a:srgbClr val="8A9BB0"/>
                </a:solidFill>
                <a:latin typeface="Calibri" pitchFamily="34" charset="0"/>
                <a:ea typeface="Calibri" pitchFamily="34" charset="-122"/>
                <a:cs typeface="Calibri" pitchFamily="34" charset="-120"/>
              </a:rPr>
              <a:t>Basel IV output floor, FRTB CVA, client selection, future of XVA</a:t>
            </a:r>
            <a:endParaRPr lang="en-US" sz="900" dirty="0"/>
          </a:p>
        </p:txBody>
      </p:sp>
      <p:sp>
        <p:nvSpPr>
          <p:cNvPr id="42" name="Text 40"/>
          <p:cNvSpPr/>
          <p:nvPr/>
        </p:nvSpPr>
        <p:spPr>
          <a:xfrm>
            <a:off x="228600" y="4846320"/>
            <a:ext cx="7772400" cy="201168"/>
          </a:xfrm>
          <a:prstGeom prst="rect">
            <a:avLst/>
          </a:prstGeom>
          <a:noFill/>
          <a:ln/>
        </p:spPr>
        <p:txBody>
          <a:bodyPr wrap="square" rtlCol="0" anchor="ctr"/>
          <a:lstStyle/>
          <a:p>
            <a:pPr marL="0" indent="0">
              <a:buNone/>
            </a:pPr>
            <a:r>
              <a:rPr lang="en-US" sz="800" dirty="0">
                <a:solidFill>
                  <a:srgbClr val="8A9BB0"/>
                </a:solidFill>
                <a:latin typeface="Calibri" pitchFamily="34" charset="0"/>
                <a:ea typeface="Calibri" pitchFamily="34" charset="-122"/>
                <a:cs typeface="Calibri" pitchFamily="34" charset="-120"/>
              </a:rPr>
              <a:t>Module 6: KVA, ColVA &amp; Capital Costs  |  Sarthaka Nanda  |  © 2026  CC BY-NC 4.0</a:t>
            </a:r>
            <a:endParaRPr lang="en-US" sz="800" dirty="0"/>
          </a:p>
        </p:txBody>
      </p:sp>
      <p:sp>
        <p:nvSpPr>
          <p:cNvPr id="43" name="Text 41"/>
          <p:cNvSpPr/>
          <p:nvPr/>
        </p:nvSpPr>
        <p:spPr>
          <a:xfrm>
            <a:off x="8686800" y="4846320"/>
            <a:ext cx="365760" cy="201168"/>
          </a:xfrm>
          <a:prstGeom prst="rect">
            <a:avLst/>
          </a:prstGeom>
          <a:noFill/>
          <a:ln/>
        </p:spPr>
        <p:txBody>
          <a:bodyPr wrap="square" rtlCol="0" anchor="ctr"/>
          <a:lstStyle/>
          <a:p>
            <a:pPr marL="0" indent="0" algn="r">
              <a:buNone/>
            </a:pPr>
            <a:r>
              <a:rPr lang="en-US" sz="800" dirty="0">
                <a:solidFill>
                  <a:srgbClr val="8A9BB0"/>
                </a:solidFill>
                <a:latin typeface="Calibri" pitchFamily="34" charset="0"/>
                <a:ea typeface="Calibri" pitchFamily="34" charset="-122"/>
                <a:cs typeface="Calibri"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28090"/>
          </a:solidFill>
          <a:ln w="12700">
            <a:solidFill>
              <a:srgbClr val="028090"/>
            </a:solidFill>
            <a:prstDash val="solid"/>
          </a:ln>
        </p:spPr>
      </p:sp>
      <p:sp>
        <p:nvSpPr>
          <p:cNvPr id="3" name="Text 1"/>
          <p:cNvSpPr/>
          <p:nvPr/>
        </p:nvSpPr>
        <p:spPr>
          <a:xfrm>
            <a:off x="228600" y="457200"/>
            <a:ext cx="8686800" cy="64008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The XVA Waterfall — What Was Still Missing</a:t>
            </a:r>
            <a:endParaRPr lang="en-US" sz="2800" dirty="0"/>
          </a:p>
        </p:txBody>
      </p:sp>
      <p:sp>
        <p:nvSpPr>
          <p:cNvPr id="4" name="Shape 2"/>
          <p:cNvSpPr/>
          <p:nvPr/>
        </p:nvSpPr>
        <p:spPr>
          <a:xfrm>
            <a:off x="228600" y="1234440"/>
            <a:ext cx="2743200" cy="1600200"/>
          </a:xfrm>
          <a:prstGeom prst="rect">
            <a:avLst/>
          </a:prstGeom>
          <a:solidFill>
            <a:srgbClr val="152235"/>
          </a:solidFill>
          <a:ln w="12700">
            <a:solidFill>
              <a:srgbClr val="C0392B"/>
            </a:solidFill>
            <a:prstDash val="solid"/>
          </a:ln>
        </p:spPr>
      </p:sp>
      <p:sp>
        <p:nvSpPr>
          <p:cNvPr id="5" name="Shape 3"/>
          <p:cNvSpPr/>
          <p:nvPr/>
        </p:nvSpPr>
        <p:spPr>
          <a:xfrm>
            <a:off x="228600" y="1234440"/>
            <a:ext cx="2743200" cy="347472"/>
          </a:xfrm>
          <a:prstGeom prst="rect">
            <a:avLst/>
          </a:prstGeom>
          <a:solidFill>
            <a:srgbClr val="C0392B"/>
          </a:solidFill>
          <a:ln w="12700">
            <a:solidFill>
              <a:srgbClr val="C0392B"/>
            </a:solidFill>
            <a:prstDash val="solid"/>
          </a:ln>
        </p:spPr>
      </p:sp>
      <p:sp>
        <p:nvSpPr>
          <p:cNvPr id="6" name="Text 4"/>
          <p:cNvSpPr/>
          <p:nvPr/>
        </p:nvSpPr>
        <p:spPr>
          <a:xfrm>
            <a:off x="320040" y="1271016"/>
            <a:ext cx="2560320" cy="27432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CVA</a:t>
            </a:r>
            <a:endParaRPr lang="en-US" sz="1600" dirty="0"/>
          </a:p>
        </p:txBody>
      </p:sp>
      <p:sp>
        <p:nvSpPr>
          <p:cNvPr id="7" name="Text 5"/>
          <p:cNvSpPr/>
          <p:nvPr/>
        </p:nvSpPr>
        <p:spPr>
          <a:xfrm>
            <a:off x="320040" y="1581912"/>
            <a:ext cx="2560320" cy="228600"/>
          </a:xfrm>
          <a:prstGeom prst="rect">
            <a:avLst/>
          </a:prstGeom>
          <a:noFill/>
          <a:ln/>
        </p:spPr>
        <p:txBody>
          <a:bodyPr wrap="square" rtlCol="0" anchor="ctr"/>
          <a:lstStyle/>
          <a:p>
            <a:pPr marL="0" indent="0">
              <a:buNone/>
            </a:pPr>
            <a:r>
              <a:rPr lang="en-US" sz="900" b="1" dirty="0">
                <a:solidFill>
                  <a:srgbClr val="8A9BB0"/>
                </a:solidFill>
                <a:latin typeface="Calibri" pitchFamily="34" charset="0"/>
                <a:ea typeface="Calibri" pitchFamily="34" charset="-122"/>
                <a:cs typeface="Calibri" pitchFamily="34" charset="-120"/>
              </a:rPr>
              <a:t>✔ Covered M3–M5</a:t>
            </a:r>
            <a:endParaRPr lang="en-US" sz="900" dirty="0"/>
          </a:p>
        </p:txBody>
      </p:sp>
      <p:sp>
        <p:nvSpPr>
          <p:cNvPr id="8" name="Text 6"/>
          <p:cNvSpPr/>
          <p:nvPr/>
        </p:nvSpPr>
        <p:spPr>
          <a:xfrm>
            <a:off x="320040" y="1828800"/>
            <a:ext cx="2560320" cy="914400"/>
          </a:xfrm>
          <a:prstGeom prst="rect">
            <a:avLst/>
          </a:prstGeom>
          <a:noFill/>
          <a:ln/>
        </p:spPr>
        <p:txBody>
          <a:bodyPr wrap="square" rtlCol="0" anchor="ctr"/>
          <a:lstStyle/>
          <a:p>
            <a:pPr marL="0" indent="0">
              <a:buNone/>
            </a:pPr>
            <a:r>
              <a:rPr lang="en-US" sz="1000" dirty="0">
                <a:solidFill>
                  <a:srgbClr val="F4F6F8"/>
                </a:solidFill>
                <a:latin typeface="Calibri" pitchFamily="34" charset="0"/>
                <a:ea typeface="Calibri" pitchFamily="34" charset="-122"/>
                <a:cs typeface="Calibri" pitchFamily="34" charset="-120"/>
              </a:rPr>
              <a:t>Counterparty default risk</a:t>
            </a:r>
            <a:endParaRPr lang="en-US" sz="1000" dirty="0"/>
          </a:p>
        </p:txBody>
      </p:sp>
      <p:sp>
        <p:nvSpPr>
          <p:cNvPr id="9" name="Shape 7"/>
          <p:cNvSpPr/>
          <p:nvPr/>
        </p:nvSpPr>
        <p:spPr>
          <a:xfrm>
            <a:off x="3154680" y="1234440"/>
            <a:ext cx="2743200" cy="1600200"/>
          </a:xfrm>
          <a:prstGeom prst="rect">
            <a:avLst/>
          </a:prstGeom>
          <a:solidFill>
            <a:srgbClr val="152235"/>
          </a:solidFill>
          <a:ln w="12700">
            <a:solidFill>
              <a:srgbClr val="E67E22"/>
            </a:solidFill>
            <a:prstDash val="solid"/>
          </a:ln>
        </p:spPr>
      </p:sp>
      <p:sp>
        <p:nvSpPr>
          <p:cNvPr id="10" name="Shape 8"/>
          <p:cNvSpPr/>
          <p:nvPr/>
        </p:nvSpPr>
        <p:spPr>
          <a:xfrm>
            <a:off x="3154680" y="1234440"/>
            <a:ext cx="2743200" cy="347472"/>
          </a:xfrm>
          <a:prstGeom prst="rect">
            <a:avLst/>
          </a:prstGeom>
          <a:solidFill>
            <a:srgbClr val="E67E22"/>
          </a:solidFill>
          <a:ln w="12700">
            <a:solidFill>
              <a:srgbClr val="E67E22"/>
            </a:solidFill>
            <a:prstDash val="solid"/>
          </a:ln>
        </p:spPr>
      </p:sp>
      <p:sp>
        <p:nvSpPr>
          <p:cNvPr id="11" name="Text 9"/>
          <p:cNvSpPr/>
          <p:nvPr/>
        </p:nvSpPr>
        <p:spPr>
          <a:xfrm>
            <a:off x="3246120" y="1271016"/>
            <a:ext cx="2560320" cy="27432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DVA</a:t>
            </a:r>
            <a:endParaRPr lang="en-US" sz="1600" dirty="0"/>
          </a:p>
        </p:txBody>
      </p:sp>
      <p:sp>
        <p:nvSpPr>
          <p:cNvPr id="12" name="Text 10"/>
          <p:cNvSpPr/>
          <p:nvPr/>
        </p:nvSpPr>
        <p:spPr>
          <a:xfrm>
            <a:off x="3246120" y="1581912"/>
            <a:ext cx="2560320" cy="228600"/>
          </a:xfrm>
          <a:prstGeom prst="rect">
            <a:avLst/>
          </a:prstGeom>
          <a:noFill/>
          <a:ln/>
        </p:spPr>
        <p:txBody>
          <a:bodyPr wrap="square" rtlCol="0" anchor="ctr"/>
          <a:lstStyle/>
          <a:p>
            <a:pPr marL="0" indent="0">
              <a:buNone/>
            </a:pPr>
            <a:r>
              <a:rPr lang="en-US" sz="900" b="1" dirty="0">
                <a:solidFill>
                  <a:srgbClr val="8A9BB0"/>
                </a:solidFill>
                <a:latin typeface="Calibri" pitchFamily="34" charset="0"/>
                <a:ea typeface="Calibri" pitchFamily="34" charset="-122"/>
                <a:cs typeface="Calibri" pitchFamily="34" charset="-120"/>
              </a:rPr>
              <a:t>✔ Covered M3–M5</a:t>
            </a:r>
            <a:endParaRPr lang="en-US" sz="900" dirty="0"/>
          </a:p>
        </p:txBody>
      </p:sp>
      <p:sp>
        <p:nvSpPr>
          <p:cNvPr id="13" name="Text 11"/>
          <p:cNvSpPr/>
          <p:nvPr/>
        </p:nvSpPr>
        <p:spPr>
          <a:xfrm>
            <a:off x="3246120" y="1828800"/>
            <a:ext cx="2560320" cy="914400"/>
          </a:xfrm>
          <a:prstGeom prst="rect">
            <a:avLst/>
          </a:prstGeom>
          <a:noFill/>
          <a:ln/>
        </p:spPr>
        <p:txBody>
          <a:bodyPr wrap="square" rtlCol="0" anchor="ctr"/>
          <a:lstStyle/>
          <a:p>
            <a:pPr marL="0" indent="0">
              <a:buNone/>
            </a:pPr>
            <a:r>
              <a:rPr lang="en-US" sz="1000" dirty="0">
                <a:solidFill>
                  <a:srgbClr val="F4F6F8"/>
                </a:solidFill>
                <a:latin typeface="Calibri" pitchFamily="34" charset="0"/>
                <a:ea typeface="Calibri" pitchFamily="34" charset="-122"/>
                <a:cs typeface="Calibri" pitchFamily="34" charset="-120"/>
              </a:rPr>
              <a:t>Own default benefit</a:t>
            </a:r>
            <a:endParaRPr lang="en-US" sz="1000" dirty="0"/>
          </a:p>
        </p:txBody>
      </p:sp>
      <p:sp>
        <p:nvSpPr>
          <p:cNvPr id="14" name="Shape 12"/>
          <p:cNvSpPr/>
          <p:nvPr/>
        </p:nvSpPr>
        <p:spPr>
          <a:xfrm>
            <a:off x="6080760" y="1234440"/>
            <a:ext cx="2743200" cy="1600200"/>
          </a:xfrm>
          <a:prstGeom prst="rect">
            <a:avLst/>
          </a:prstGeom>
          <a:solidFill>
            <a:srgbClr val="152235"/>
          </a:solidFill>
          <a:ln w="12700">
            <a:solidFill>
              <a:srgbClr val="C8953A"/>
            </a:solidFill>
            <a:prstDash val="solid"/>
          </a:ln>
        </p:spPr>
      </p:sp>
      <p:sp>
        <p:nvSpPr>
          <p:cNvPr id="15" name="Shape 13"/>
          <p:cNvSpPr/>
          <p:nvPr/>
        </p:nvSpPr>
        <p:spPr>
          <a:xfrm>
            <a:off x="6080760" y="1234440"/>
            <a:ext cx="2743200" cy="347472"/>
          </a:xfrm>
          <a:prstGeom prst="rect">
            <a:avLst/>
          </a:prstGeom>
          <a:solidFill>
            <a:srgbClr val="C8953A"/>
          </a:solidFill>
          <a:ln w="12700">
            <a:solidFill>
              <a:srgbClr val="C8953A"/>
            </a:solidFill>
            <a:prstDash val="solid"/>
          </a:ln>
        </p:spPr>
      </p:sp>
      <p:sp>
        <p:nvSpPr>
          <p:cNvPr id="16" name="Text 14"/>
          <p:cNvSpPr/>
          <p:nvPr/>
        </p:nvSpPr>
        <p:spPr>
          <a:xfrm>
            <a:off x="6172200" y="1271016"/>
            <a:ext cx="2560320" cy="27432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FVA</a:t>
            </a:r>
            <a:endParaRPr lang="en-US" sz="1600" dirty="0"/>
          </a:p>
        </p:txBody>
      </p:sp>
      <p:sp>
        <p:nvSpPr>
          <p:cNvPr id="17" name="Text 15"/>
          <p:cNvSpPr/>
          <p:nvPr/>
        </p:nvSpPr>
        <p:spPr>
          <a:xfrm>
            <a:off x="6172200" y="1581912"/>
            <a:ext cx="2560320" cy="228600"/>
          </a:xfrm>
          <a:prstGeom prst="rect">
            <a:avLst/>
          </a:prstGeom>
          <a:noFill/>
          <a:ln/>
        </p:spPr>
        <p:txBody>
          <a:bodyPr wrap="square" rtlCol="0" anchor="ctr"/>
          <a:lstStyle/>
          <a:p>
            <a:pPr marL="0" indent="0">
              <a:buNone/>
            </a:pPr>
            <a:r>
              <a:rPr lang="en-US" sz="900" b="1" dirty="0">
                <a:solidFill>
                  <a:srgbClr val="8A9BB0"/>
                </a:solidFill>
                <a:latin typeface="Calibri" pitchFamily="34" charset="0"/>
                <a:ea typeface="Calibri" pitchFamily="34" charset="-122"/>
                <a:cs typeface="Calibri" pitchFamily="34" charset="-120"/>
              </a:rPr>
              <a:t>✔ Covered M3–M5</a:t>
            </a:r>
            <a:endParaRPr lang="en-US" sz="900" dirty="0"/>
          </a:p>
        </p:txBody>
      </p:sp>
      <p:sp>
        <p:nvSpPr>
          <p:cNvPr id="18" name="Text 16"/>
          <p:cNvSpPr/>
          <p:nvPr/>
        </p:nvSpPr>
        <p:spPr>
          <a:xfrm>
            <a:off x="6172200" y="1828800"/>
            <a:ext cx="2560320" cy="914400"/>
          </a:xfrm>
          <a:prstGeom prst="rect">
            <a:avLst/>
          </a:prstGeom>
          <a:noFill/>
          <a:ln/>
        </p:spPr>
        <p:txBody>
          <a:bodyPr wrap="square" rtlCol="0" anchor="ctr"/>
          <a:lstStyle/>
          <a:p>
            <a:pPr marL="0" indent="0">
              <a:buNone/>
            </a:pPr>
            <a:r>
              <a:rPr lang="en-US" sz="1000" dirty="0">
                <a:solidFill>
                  <a:srgbClr val="F4F6F8"/>
                </a:solidFill>
                <a:latin typeface="Calibri" pitchFamily="34" charset="0"/>
                <a:ea typeface="Calibri" pitchFamily="34" charset="-122"/>
                <a:cs typeface="Calibri" pitchFamily="34" charset="-120"/>
              </a:rPr>
              <a:t>Funding cost of uncollateralised exposure</a:t>
            </a:r>
            <a:endParaRPr lang="en-US" sz="1000" dirty="0"/>
          </a:p>
        </p:txBody>
      </p:sp>
      <p:sp>
        <p:nvSpPr>
          <p:cNvPr id="19" name="Shape 17"/>
          <p:cNvSpPr/>
          <p:nvPr/>
        </p:nvSpPr>
        <p:spPr>
          <a:xfrm>
            <a:off x="228600" y="3017520"/>
            <a:ext cx="2743200" cy="1600200"/>
          </a:xfrm>
          <a:prstGeom prst="rect">
            <a:avLst/>
          </a:prstGeom>
          <a:solidFill>
            <a:srgbClr val="152235"/>
          </a:solidFill>
          <a:ln w="12700">
            <a:solidFill>
              <a:srgbClr val="028090"/>
            </a:solidFill>
            <a:prstDash val="solid"/>
          </a:ln>
        </p:spPr>
      </p:sp>
      <p:sp>
        <p:nvSpPr>
          <p:cNvPr id="20" name="Shape 18"/>
          <p:cNvSpPr/>
          <p:nvPr/>
        </p:nvSpPr>
        <p:spPr>
          <a:xfrm>
            <a:off x="228600" y="3017520"/>
            <a:ext cx="2743200" cy="347472"/>
          </a:xfrm>
          <a:prstGeom prst="rect">
            <a:avLst/>
          </a:prstGeom>
          <a:solidFill>
            <a:srgbClr val="028090"/>
          </a:solidFill>
          <a:ln w="12700">
            <a:solidFill>
              <a:srgbClr val="028090"/>
            </a:solidFill>
            <a:prstDash val="solid"/>
          </a:ln>
        </p:spPr>
      </p:sp>
      <p:sp>
        <p:nvSpPr>
          <p:cNvPr id="21" name="Text 19"/>
          <p:cNvSpPr/>
          <p:nvPr/>
        </p:nvSpPr>
        <p:spPr>
          <a:xfrm>
            <a:off x="320040" y="3054096"/>
            <a:ext cx="2560320" cy="27432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MVA</a:t>
            </a:r>
            <a:endParaRPr lang="en-US" sz="1600" dirty="0"/>
          </a:p>
        </p:txBody>
      </p:sp>
      <p:sp>
        <p:nvSpPr>
          <p:cNvPr id="22" name="Text 20"/>
          <p:cNvSpPr/>
          <p:nvPr/>
        </p:nvSpPr>
        <p:spPr>
          <a:xfrm>
            <a:off x="320040" y="3364992"/>
            <a:ext cx="2560320" cy="228600"/>
          </a:xfrm>
          <a:prstGeom prst="rect">
            <a:avLst/>
          </a:prstGeom>
          <a:noFill/>
          <a:ln/>
        </p:spPr>
        <p:txBody>
          <a:bodyPr wrap="square" rtlCol="0" anchor="ctr"/>
          <a:lstStyle/>
          <a:p>
            <a:pPr marL="0" indent="0">
              <a:buNone/>
            </a:pPr>
            <a:r>
              <a:rPr lang="en-US" sz="900" b="1" dirty="0">
                <a:solidFill>
                  <a:srgbClr val="8A9BB0"/>
                </a:solidFill>
                <a:latin typeface="Calibri" pitchFamily="34" charset="0"/>
                <a:ea typeface="Calibri" pitchFamily="34" charset="-122"/>
                <a:cs typeface="Calibri" pitchFamily="34" charset="-120"/>
              </a:rPr>
              <a:t>✔ Covered M3–M5</a:t>
            </a:r>
            <a:endParaRPr lang="en-US" sz="900" dirty="0"/>
          </a:p>
        </p:txBody>
      </p:sp>
      <p:sp>
        <p:nvSpPr>
          <p:cNvPr id="23" name="Text 21"/>
          <p:cNvSpPr/>
          <p:nvPr/>
        </p:nvSpPr>
        <p:spPr>
          <a:xfrm>
            <a:off x="320040" y="3611880"/>
            <a:ext cx="2560320" cy="914400"/>
          </a:xfrm>
          <a:prstGeom prst="rect">
            <a:avLst/>
          </a:prstGeom>
          <a:noFill/>
          <a:ln/>
        </p:spPr>
        <p:txBody>
          <a:bodyPr wrap="square" rtlCol="0" anchor="ctr"/>
          <a:lstStyle/>
          <a:p>
            <a:pPr marL="0" indent="0">
              <a:buNone/>
            </a:pPr>
            <a:r>
              <a:rPr lang="en-US" sz="1000" dirty="0">
                <a:solidFill>
                  <a:srgbClr val="F4F6F8"/>
                </a:solidFill>
                <a:latin typeface="Calibri" pitchFamily="34" charset="0"/>
                <a:ea typeface="Calibri" pitchFamily="34" charset="-122"/>
                <a:cs typeface="Calibri" pitchFamily="34" charset="-120"/>
              </a:rPr>
              <a:t>IM posting funding cost</a:t>
            </a:r>
            <a:endParaRPr lang="en-US" sz="1000" dirty="0"/>
          </a:p>
        </p:txBody>
      </p:sp>
      <p:sp>
        <p:nvSpPr>
          <p:cNvPr id="24" name="Shape 22"/>
          <p:cNvSpPr/>
          <p:nvPr/>
        </p:nvSpPr>
        <p:spPr>
          <a:xfrm>
            <a:off x="3154680" y="3017520"/>
            <a:ext cx="2743200" cy="1600200"/>
          </a:xfrm>
          <a:prstGeom prst="rect">
            <a:avLst/>
          </a:prstGeom>
          <a:solidFill>
            <a:srgbClr val="1A2E1A"/>
          </a:solidFill>
          <a:ln w="12700">
            <a:solidFill>
              <a:srgbClr val="00A896"/>
            </a:solidFill>
            <a:prstDash val="solid"/>
          </a:ln>
        </p:spPr>
      </p:sp>
      <p:sp>
        <p:nvSpPr>
          <p:cNvPr id="25" name="Shape 23"/>
          <p:cNvSpPr/>
          <p:nvPr/>
        </p:nvSpPr>
        <p:spPr>
          <a:xfrm>
            <a:off x="3154680" y="3017520"/>
            <a:ext cx="2743200" cy="347472"/>
          </a:xfrm>
          <a:prstGeom prst="rect">
            <a:avLst/>
          </a:prstGeom>
          <a:solidFill>
            <a:srgbClr val="00A896"/>
          </a:solidFill>
          <a:ln w="12700">
            <a:solidFill>
              <a:srgbClr val="00A896"/>
            </a:solidFill>
            <a:prstDash val="solid"/>
          </a:ln>
        </p:spPr>
      </p:sp>
      <p:sp>
        <p:nvSpPr>
          <p:cNvPr id="26" name="Text 24"/>
          <p:cNvSpPr/>
          <p:nvPr/>
        </p:nvSpPr>
        <p:spPr>
          <a:xfrm>
            <a:off x="3246120" y="3054096"/>
            <a:ext cx="2560320" cy="27432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ColVA</a:t>
            </a:r>
            <a:endParaRPr lang="en-US" sz="1600" dirty="0"/>
          </a:p>
        </p:txBody>
      </p:sp>
      <p:sp>
        <p:nvSpPr>
          <p:cNvPr id="27" name="Text 25"/>
          <p:cNvSpPr/>
          <p:nvPr/>
        </p:nvSpPr>
        <p:spPr>
          <a:xfrm>
            <a:off x="3246120" y="3364992"/>
            <a:ext cx="2560320" cy="228600"/>
          </a:xfrm>
          <a:prstGeom prst="rect">
            <a:avLst/>
          </a:prstGeom>
          <a:noFill/>
          <a:ln/>
        </p:spPr>
        <p:txBody>
          <a:bodyPr wrap="square" rtlCol="0" anchor="ctr"/>
          <a:lstStyle/>
          <a:p>
            <a:pPr marL="0" indent="0">
              <a:buNone/>
            </a:pPr>
            <a:r>
              <a:rPr lang="en-US" sz="900" b="1" dirty="0">
                <a:solidFill>
                  <a:srgbClr val="C8953A"/>
                </a:solidFill>
                <a:latin typeface="Calibri" pitchFamily="34" charset="0"/>
                <a:ea typeface="Calibri" pitchFamily="34" charset="-122"/>
                <a:cs typeface="Calibri" pitchFamily="34" charset="-120"/>
              </a:rPr>
              <a:t>◀ THIS MODULE</a:t>
            </a:r>
            <a:endParaRPr lang="en-US" sz="900" dirty="0"/>
          </a:p>
        </p:txBody>
      </p:sp>
      <p:sp>
        <p:nvSpPr>
          <p:cNvPr id="28" name="Text 26"/>
          <p:cNvSpPr/>
          <p:nvPr/>
        </p:nvSpPr>
        <p:spPr>
          <a:xfrm>
            <a:off x="3246120" y="3611880"/>
            <a:ext cx="2560320" cy="914400"/>
          </a:xfrm>
          <a:prstGeom prst="rect">
            <a:avLst/>
          </a:prstGeom>
          <a:noFill/>
          <a:ln/>
        </p:spPr>
        <p:txBody>
          <a:bodyPr wrap="square" rtlCol="0" anchor="ctr"/>
          <a:lstStyle/>
          <a:p>
            <a:pPr marL="0" indent="0">
              <a:buNone/>
            </a:pPr>
            <a:r>
              <a:rPr lang="en-US" sz="1000" dirty="0">
                <a:solidFill>
                  <a:srgbClr val="F4F6F8"/>
                </a:solidFill>
                <a:latin typeface="Calibri" pitchFamily="34" charset="0"/>
                <a:ea typeface="Calibri" pitchFamily="34" charset="-122"/>
                <a:cs typeface="Calibri" pitchFamily="34" charset="-120"/>
              </a:rPr>
              <a:t>CTD optionality — value of cheapest collateral choice</a:t>
            </a:r>
            <a:endParaRPr lang="en-US" sz="1000" dirty="0"/>
          </a:p>
        </p:txBody>
      </p:sp>
      <p:sp>
        <p:nvSpPr>
          <p:cNvPr id="29" name="Shape 27"/>
          <p:cNvSpPr/>
          <p:nvPr/>
        </p:nvSpPr>
        <p:spPr>
          <a:xfrm>
            <a:off x="6080760" y="3017520"/>
            <a:ext cx="2743200" cy="1600200"/>
          </a:xfrm>
          <a:prstGeom prst="rect">
            <a:avLst/>
          </a:prstGeom>
          <a:solidFill>
            <a:srgbClr val="1A2E1A"/>
          </a:solidFill>
          <a:ln w="12700">
            <a:solidFill>
              <a:srgbClr val="8A9BB0"/>
            </a:solidFill>
            <a:prstDash val="solid"/>
          </a:ln>
        </p:spPr>
      </p:sp>
      <p:sp>
        <p:nvSpPr>
          <p:cNvPr id="30" name="Shape 28"/>
          <p:cNvSpPr/>
          <p:nvPr/>
        </p:nvSpPr>
        <p:spPr>
          <a:xfrm>
            <a:off x="6080760" y="3017520"/>
            <a:ext cx="2743200" cy="347472"/>
          </a:xfrm>
          <a:prstGeom prst="rect">
            <a:avLst/>
          </a:prstGeom>
          <a:solidFill>
            <a:srgbClr val="8A9BB0"/>
          </a:solidFill>
          <a:ln w="12700">
            <a:solidFill>
              <a:srgbClr val="8A9BB0"/>
            </a:solidFill>
            <a:prstDash val="solid"/>
          </a:ln>
        </p:spPr>
      </p:sp>
      <p:sp>
        <p:nvSpPr>
          <p:cNvPr id="31" name="Text 29"/>
          <p:cNvSpPr/>
          <p:nvPr/>
        </p:nvSpPr>
        <p:spPr>
          <a:xfrm>
            <a:off x="6172200" y="3054096"/>
            <a:ext cx="2560320" cy="27432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KVA</a:t>
            </a:r>
            <a:endParaRPr lang="en-US" sz="1600" dirty="0"/>
          </a:p>
        </p:txBody>
      </p:sp>
      <p:sp>
        <p:nvSpPr>
          <p:cNvPr id="32" name="Text 30"/>
          <p:cNvSpPr/>
          <p:nvPr/>
        </p:nvSpPr>
        <p:spPr>
          <a:xfrm>
            <a:off x="6172200" y="3364992"/>
            <a:ext cx="2560320" cy="228600"/>
          </a:xfrm>
          <a:prstGeom prst="rect">
            <a:avLst/>
          </a:prstGeom>
          <a:noFill/>
          <a:ln/>
        </p:spPr>
        <p:txBody>
          <a:bodyPr wrap="square" rtlCol="0" anchor="ctr"/>
          <a:lstStyle/>
          <a:p>
            <a:pPr marL="0" indent="0">
              <a:buNone/>
            </a:pPr>
            <a:r>
              <a:rPr lang="en-US" sz="900" b="1" dirty="0">
                <a:solidFill>
                  <a:srgbClr val="C8953A"/>
                </a:solidFill>
                <a:latin typeface="Calibri" pitchFamily="34" charset="0"/>
                <a:ea typeface="Calibri" pitchFamily="34" charset="-122"/>
                <a:cs typeface="Calibri" pitchFamily="34" charset="-120"/>
              </a:rPr>
              <a:t>◀ THIS MODULE</a:t>
            </a:r>
            <a:endParaRPr lang="en-US" sz="900" dirty="0"/>
          </a:p>
        </p:txBody>
      </p:sp>
      <p:sp>
        <p:nvSpPr>
          <p:cNvPr id="33" name="Text 31"/>
          <p:cNvSpPr/>
          <p:nvPr/>
        </p:nvSpPr>
        <p:spPr>
          <a:xfrm>
            <a:off x="6172200" y="3611880"/>
            <a:ext cx="2560320" cy="914400"/>
          </a:xfrm>
          <a:prstGeom prst="rect">
            <a:avLst/>
          </a:prstGeom>
          <a:noFill/>
          <a:ln/>
        </p:spPr>
        <p:txBody>
          <a:bodyPr wrap="square" rtlCol="0" anchor="ctr"/>
          <a:lstStyle/>
          <a:p>
            <a:pPr marL="0" indent="0">
              <a:buNone/>
            </a:pPr>
            <a:r>
              <a:rPr lang="en-US" sz="1000" dirty="0">
                <a:solidFill>
                  <a:srgbClr val="F4F6F8"/>
                </a:solidFill>
                <a:latin typeface="Calibri" pitchFamily="34" charset="0"/>
                <a:ea typeface="Calibri" pitchFamily="34" charset="-122"/>
                <a:cs typeface="Calibri" pitchFamily="34" charset="-120"/>
              </a:rPr>
              <a:t>Rent on regulatory capital — THIS MODULE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28090"/>
          </a:solidFill>
          <a:ln w="12700">
            <a:solidFill>
              <a:srgbClr val="028090"/>
            </a:solidFill>
            <a:prstDash val="solid"/>
          </a:ln>
        </p:spPr>
      </p:sp>
      <p:sp>
        <p:nvSpPr>
          <p:cNvPr id="3" name="Shape 1"/>
          <p:cNvSpPr/>
          <p:nvPr/>
        </p:nvSpPr>
        <p:spPr>
          <a:xfrm>
            <a:off x="228600" y="164592"/>
            <a:ext cx="2377440" cy="292608"/>
          </a:xfrm>
          <a:prstGeom prst="rect">
            <a:avLst/>
          </a:prstGeom>
          <a:solidFill>
            <a:srgbClr val="028090"/>
          </a:solidFill>
          <a:ln w="12700">
            <a:solidFill>
              <a:srgbClr val="028090"/>
            </a:solidFill>
            <a:prstDash val="solid"/>
          </a:ln>
        </p:spPr>
      </p:sp>
      <p:sp>
        <p:nvSpPr>
          <p:cNvPr id="4" name="Text 2"/>
          <p:cNvSpPr/>
          <p:nvPr/>
        </p:nvSpPr>
        <p:spPr>
          <a:xfrm>
            <a:off x="228600" y="164592"/>
            <a:ext cx="2377440" cy="292608"/>
          </a:xfrm>
          <a:prstGeom prst="rect">
            <a:avLst/>
          </a:prstGeom>
          <a:noFill/>
          <a:ln/>
        </p:spPr>
        <p:txBody>
          <a:bodyPr wrap="square" rtlCol="0" anchor="ctr"/>
          <a:lstStyle/>
          <a:p>
            <a:pPr marL="0" indent="0" algn="ctr">
              <a:buNone/>
            </a:pPr>
            <a:r>
              <a:rPr lang="en-US" sz="900" b="1" dirty="0">
                <a:solidFill>
                  <a:srgbClr val="FFFFFF"/>
                </a:solidFill>
              </a:rPr>
              <a:t>SECTION 2 — COLVA: PLAIN ENGLISH</a:t>
            </a:r>
            <a:endParaRPr lang="en-US" sz="900" dirty="0"/>
          </a:p>
        </p:txBody>
      </p:sp>
      <p:sp>
        <p:nvSpPr>
          <p:cNvPr id="5" name="Text 3"/>
          <p:cNvSpPr/>
          <p:nvPr/>
        </p:nvSpPr>
        <p:spPr>
          <a:xfrm>
            <a:off x="228600" y="548640"/>
            <a:ext cx="8686800" cy="548640"/>
          </a:xfrm>
          <a:prstGeom prst="rect">
            <a:avLst/>
          </a:prstGeom>
          <a:noFill/>
          <a:ln/>
        </p:spPr>
        <p:txBody>
          <a:bodyPr wrap="square" rtlCol="0" anchor="ctr"/>
          <a:lstStyle/>
          <a:p>
            <a:pPr marL="0" indent="0">
              <a:buNone/>
            </a:pPr>
            <a:r>
              <a:rPr lang="en-US" sz="2600" b="1" dirty="0">
                <a:solidFill>
                  <a:srgbClr val="0D1B2A"/>
                </a:solidFill>
                <a:latin typeface="Calibri" pitchFamily="34" charset="0"/>
                <a:ea typeface="Calibri" pitchFamily="34" charset="-122"/>
                <a:cs typeface="Calibri" pitchFamily="34" charset="-120"/>
              </a:rPr>
              <a:t>ColVA — The Cost of Having a Choice</a:t>
            </a:r>
            <a:endParaRPr lang="en-US" sz="2600" dirty="0"/>
          </a:p>
        </p:txBody>
      </p:sp>
      <p:sp>
        <p:nvSpPr>
          <p:cNvPr id="6" name="Shape 4"/>
          <p:cNvSpPr/>
          <p:nvPr/>
        </p:nvSpPr>
        <p:spPr>
          <a:xfrm>
            <a:off x="228600" y="1234440"/>
            <a:ext cx="8686800" cy="658368"/>
          </a:xfrm>
          <a:prstGeom prst="rect">
            <a:avLst/>
          </a:prstGeom>
          <a:solidFill>
            <a:srgbClr val="1B2A4A"/>
          </a:solidFill>
          <a:ln w="12700">
            <a:solidFill>
              <a:srgbClr val="028090"/>
            </a:solidFill>
            <a:prstDash val="solid"/>
          </a:ln>
        </p:spPr>
      </p:sp>
      <p:sp>
        <p:nvSpPr>
          <p:cNvPr id="7" name="Text 5"/>
          <p:cNvSpPr/>
          <p:nvPr/>
        </p:nvSpPr>
        <p:spPr>
          <a:xfrm>
            <a:off x="365760" y="1261872"/>
            <a:ext cx="2743200" cy="228600"/>
          </a:xfrm>
          <a:prstGeom prst="rect">
            <a:avLst/>
          </a:prstGeom>
          <a:noFill/>
          <a:ln/>
        </p:spPr>
        <p:txBody>
          <a:bodyPr wrap="square" rtlCol="0" anchor="ctr"/>
          <a:lstStyle/>
          <a:p>
            <a:pPr marL="0" indent="0">
              <a:buNone/>
            </a:pPr>
            <a:r>
              <a:rPr lang="en-US" sz="1000" b="1" dirty="0">
                <a:solidFill>
                  <a:srgbClr val="C8953A"/>
                </a:solidFill>
                <a:latin typeface="Calibri" pitchFamily="34" charset="0"/>
                <a:ea typeface="Calibri" pitchFamily="34" charset="-122"/>
                <a:cs typeface="Calibri" pitchFamily="34" charset="-120"/>
              </a:rPr>
              <a:t>ColVA in one sentence:</a:t>
            </a:r>
            <a:endParaRPr lang="en-US" sz="1000" dirty="0"/>
          </a:p>
        </p:txBody>
      </p:sp>
      <p:sp>
        <p:nvSpPr>
          <p:cNvPr id="8" name="Text 6"/>
          <p:cNvSpPr/>
          <p:nvPr/>
        </p:nvSpPr>
        <p:spPr>
          <a:xfrm>
            <a:off x="365760" y="1490472"/>
            <a:ext cx="8321040" cy="32004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The value of the right to post whichever eligible collateral asset is cheapest on any given day under a multi-currency CSA.</a:t>
            </a:r>
            <a:endParaRPr lang="en-US" sz="1200" dirty="0"/>
          </a:p>
        </p:txBody>
      </p:sp>
      <p:sp>
        <p:nvSpPr>
          <p:cNvPr id="9" name="Shape 7"/>
          <p:cNvSpPr/>
          <p:nvPr/>
        </p:nvSpPr>
        <p:spPr>
          <a:xfrm>
            <a:off x="228600" y="2011680"/>
            <a:ext cx="2743200" cy="1920240"/>
          </a:xfrm>
          <a:prstGeom prst="rect">
            <a:avLst/>
          </a:prstGeom>
          <a:solidFill>
            <a:srgbClr val="E0F4F7"/>
          </a:solidFill>
          <a:ln w="12700">
            <a:solidFill>
              <a:srgbClr val="028090"/>
            </a:solidFill>
            <a:prstDash val="solid"/>
          </a:ln>
        </p:spPr>
      </p:sp>
      <p:sp>
        <p:nvSpPr>
          <p:cNvPr id="10" name="Shape 8"/>
          <p:cNvSpPr/>
          <p:nvPr/>
        </p:nvSpPr>
        <p:spPr>
          <a:xfrm>
            <a:off x="228600" y="2011680"/>
            <a:ext cx="2743200" cy="384048"/>
          </a:xfrm>
          <a:prstGeom prst="rect">
            <a:avLst/>
          </a:prstGeom>
          <a:solidFill>
            <a:srgbClr val="1B2A4A"/>
          </a:solidFill>
          <a:ln w="12700">
            <a:solidFill>
              <a:srgbClr val="1B2A4A"/>
            </a:solidFill>
            <a:prstDash val="solid"/>
          </a:ln>
        </p:spPr>
      </p:sp>
      <p:sp>
        <p:nvSpPr>
          <p:cNvPr id="11" name="Text 9"/>
          <p:cNvSpPr/>
          <p:nvPr/>
        </p:nvSpPr>
        <p:spPr>
          <a:xfrm>
            <a:off x="320040" y="2048256"/>
            <a:ext cx="2560320" cy="310896"/>
          </a:xfrm>
          <a:prstGeom prst="rect">
            <a:avLst/>
          </a:prstGeom>
          <a:noFill/>
          <a:ln/>
        </p:spPr>
        <p:txBody>
          <a:bodyPr wrap="square" rtlCol="0" anchor="ctr"/>
          <a:lstStyle/>
          <a:p>
            <a:pPr marL="0" indent="0">
              <a:buNone/>
            </a:pPr>
            <a:r>
              <a:rPr lang="en-US" sz="1200" b="1" dirty="0">
                <a:solidFill>
                  <a:srgbClr val="C8953A"/>
                </a:solidFill>
                <a:latin typeface="Calibri" pitchFamily="34" charset="0"/>
                <a:ea typeface="Calibri" pitchFamily="34" charset="-122"/>
                <a:cs typeface="Calibri" pitchFamily="34" charset="-120"/>
              </a:rPr>
              <a:t>01  Collateral Spread</a:t>
            </a:r>
            <a:endParaRPr lang="en-US" sz="1200" dirty="0"/>
          </a:p>
        </p:txBody>
      </p:sp>
      <p:sp>
        <p:nvSpPr>
          <p:cNvPr id="12" name="Text 10"/>
          <p:cNvSpPr/>
          <p:nvPr/>
        </p:nvSpPr>
        <p:spPr>
          <a:xfrm>
            <a:off x="320040" y="2468880"/>
            <a:ext cx="2560320" cy="13716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The difference between eligible collateral rates (EUR OIS vs USD OIS vs GBP OIS). Wider spread = more valuable option.</a:t>
            </a:r>
            <a:endParaRPr lang="en-US" sz="1050" dirty="0"/>
          </a:p>
        </p:txBody>
      </p:sp>
      <p:sp>
        <p:nvSpPr>
          <p:cNvPr id="13" name="Shape 11"/>
          <p:cNvSpPr/>
          <p:nvPr/>
        </p:nvSpPr>
        <p:spPr>
          <a:xfrm>
            <a:off x="3172968" y="2011680"/>
            <a:ext cx="2743200" cy="1920240"/>
          </a:xfrm>
          <a:prstGeom prst="rect">
            <a:avLst/>
          </a:prstGeom>
          <a:solidFill>
            <a:srgbClr val="E0F4F7"/>
          </a:solidFill>
          <a:ln w="12700">
            <a:solidFill>
              <a:srgbClr val="028090"/>
            </a:solidFill>
            <a:prstDash val="solid"/>
          </a:ln>
        </p:spPr>
      </p:sp>
      <p:sp>
        <p:nvSpPr>
          <p:cNvPr id="14" name="Shape 12"/>
          <p:cNvSpPr/>
          <p:nvPr/>
        </p:nvSpPr>
        <p:spPr>
          <a:xfrm>
            <a:off x="3172968" y="2011680"/>
            <a:ext cx="2743200" cy="384048"/>
          </a:xfrm>
          <a:prstGeom prst="rect">
            <a:avLst/>
          </a:prstGeom>
          <a:solidFill>
            <a:srgbClr val="1B2A4A"/>
          </a:solidFill>
          <a:ln w="12700">
            <a:solidFill>
              <a:srgbClr val="1B2A4A"/>
            </a:solidFill>
            <a:prstDash val="solid"/>
          </a:ln>
        </p:spPr>
      </p:sp>
      <p:sp>
        <p:nvSpPr>
          <p:cNvPr id="15" name="Text 13"/>
          <p:cNvSpPr/>
          <p:nvPr/>
        </p:nvSpPr>
        <p:spPr>
          <a:xfrm>
            <a:off x="3264408" y="2048256"/>
            <a:ext cx="2560320" cy="310896"/>
          </a:xfrm>
          <a:prstGeom prst="rect">
            <a:avLst/>
          </a:prstGeom>
          <a:noFill/>
          <a:ln/>
        </p:spPr>
        <p:txBody>
          <a:bodyPr wrap="square" rtlCol="0" anchor="ctr"/>
          <a:lstStyle/>
          <a:p>
            <a:pPr marL="0" indent="0">
              <a:buNone/>
            </a:pPr>
            <a:r>
              <a:rPr lang="en-US" sz="1200" b="1" dirty="0">
                <a:solidFill>
                  <a:srgbClr val="C8953A"/>
                </a:solidFill>
                <a:latin typeface="Calibri" pitchFamily="34" charset="0"/>
                <a:ea typeface="Calibri" pitchFamily="34" charset="-122"/>
                <a:cs typeface="Calibri" pitchFamily="34" charset="-120"/>
              </a:rPr>
              <a:t>02  Spread Volatility</a:t>
            </a:r>
            <a:endParaRPr lang="en-US" sz="1200" dirty="0"/>
          </a:p>
        </p:txBody>
      </p:sp>
      <p:sp>
        <p:nvSpPr>
          <p:cNvPr id="16" name="Text 14"/>
          <p:cNvSpPr/>
          <p:nvPr/>
        </p:nvSpPr>
        <p:spPr>
          <a:xfrm>
            <a:off x="3264408" y="2468880"/>
            <a:ext cx="2560320" cy="13716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Higher volatility of relative rates = more time value in the CTD option. Long-dated trades benefit most.</a:t>
            </a:r>
            <a:endParaRPr lang="en-US" sz="1050" dirty="0"/>
          </a:p>
        </p:txBody>
      </p:sp>
      <p:sp>
        <p:nvSpPr>
          <p:cNvPr id="17" name="Shape 15"/>
          <p:cNvSpPr/>
          <p:nvPr/>
        </p:nvSpPr>
        <p:spPr>
          <a:xfrm>
            <a:off x="6117336" y="2011680"/>
            <a:ext cx="2743200" cy="1920240"/>
          </a:xfrm>
          <a:prstGeom prst="rect">
            <a:avLst/>
          </a:prstGeom>
          <a:solidFill>
            <a:srgbClr val="E0F4F7"/>
          </a:solidFill>
          <a:ln w="12700">
            <a:solidFill>
              <a:srgbClr val="028090"/>
            </a:solidFill>
            <a:prstDash val="solid"/>
          </a:ln>
        </p:spPr>
      </p:sp>
      <p:sp>
        <p:nvSpPr>
          <p:cNvPr id="18" name="Shape 16"/>
          <p:cNvSpPr/>
          <p:nvPr/>
        </p:nvSpPr>
        <p:spPr>
          <a:xfrm>
            <a:off x="6117336" y="2011680"/>
            <a:ext cx="2743200" cy="384048"/>
          </a:xfrm>
          <a:prstGeom prst="rect">
            <a:avLst/>
          </a:prstGeom>
          <a:solidFill>
            <a:srgbClr val="1B2A4A"/>
          </a:solidFill>
          <a:ln w="12700">
            <a:solidFill>
              <a:srgbClr val="1B2A4A"/>
            </a:solidFill>
            <a:prstDash val="solid"/>
          </a:ln>
        </p:spPr>
      </p:sp>
      <p:sp>
        <p:nvSpPr>
          <p:cNvPr id="19" name="Text 17"/>
          <p:cNvSpPr/>
          <p:nvPr/>
        </p:nvSpPr>
        <p:spPr>
          <a:xfrm>
            <a:off x="6208776" y="2048256"/>
            <a:ext cx="2560320" cy="310896"/>
          </a:xfrm>
          <a:prstGeom prst="rect">
            <a:avLst/>
          </a:prstGeom>
          <a:noFill/>
          <a:ln/>
        </p:spPr>
        <p:txBody>
          <a:bodyPr wrap="square" rtlCol="0" anchor="ctr"/>
          <a:lstStyle/>
          <a:p>
            <a:pPr marL="0" indent="0">
              <a:buNone/>
            </a:pPr>
            <a:r>
              <a:rPr lang="en-US" sz="1200" b="1" dirty="0">
                <a:solidFill>
                  <a:srgbClr val="C8953A"/>
                </a:solidFill>
                <a:latin typeface="Calibri" pitchFamily="34" charset="0"/>
                <a:ea typeface="Calibri" pitchFamily="34" charset="-122"/>
                <a:cs typeface="Calibri" pitchFamily="34" charset="-120"/>
              </a:rPr>
              <a:t>03  Correlation</a:t>
            </a:r>
            <a:endParaRPr lang="en-US" sz="1200" dirty="0"/>
          </a:p>
        </p:txBody>
      </p:sp>
      <p:sp>
        <p:nvSpPr>
          <p:cNvPr id="20" name="Text 18"/>
          <p:cNvSpPr/>
          <p:nvPr/>
        </p:nvSpPr>
        <p:spPr>
          <a:xfrm>
            <a:off x="6208776" y="2468880"/>
            <a:ext cx="2560320" cy="13716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Correlation between trade value and collateral spread — wrong-way risk can amplify or reduce ColVA.</a:t>
            </a:r>
            <a:endParaRPr lang="en-US" sz="1050" dirty="0"/>
          </a:p>
        </p:txBody>
      </p:sp>
      <p:sp>
        <p:nvSpPr>
          <p:cNvPr id="21" name="Shape 19"/>
          <p:cNvSpPr/>
          <p:nvPr/>
        </p:nvSpPr>
        <p:spPr>
          <a:xfrm>
            <a:off x="228600" y="4041648"/>
            <a:ext cx="64008" cy="713232"/>
          </a:xfrm>
          <a:prstGeom prst="rect">
            <a:avLst/>
          </a:prstGeom>
          <a:solidFill>
            <a:srgbClr val="C8953A"/>
          </a:solidFill>
          <a:ln w="12700">
            <a:solidFill>
              <a:srgbClr val="C8953A"/>
            </a:solidFill>
            <a:prstDash val="solid"/>
          </a:ln>
        </p:spPr>
      </p:sp>
      <p:sp>
        <p:nvSpPr>
          <p:cNvPr id="22" name="Shape 20"/>
          <p:cNvSpPr/>
          <p:nvPr/>
        </p:nvSpPr>
        <p:spPr>
          <a:xfrm>
            <a:off x="292608" y="4041648"/>
            <a:ext cx="8622792" cy="713232"/>
          </a:xfrm>
          <a:prstGeom prst="rect">
            <a:avLst/>
          </a:prstGeom>
          <a:solidFill>
            <a:srgbClr val="E0F4F7"/>
          </a:solidFill>
          <a:ln w="12700">
            <a:solidFill>
              <a:srgbClr val="E0F4F7"/>
            </a:solidFill>
            <a:prstDash val="solid"/>
          </a:ln>
        </p:spPr>
      </p:sp>
      <p:sp>
        <p:nvSpPr>
          <p:cNvPr id="23" name="Text 21"/>
          <p:cNvSpPr/>
          <p:nvPr/>
        </p:nvSpPr>
        <p:spPr>
          <a:xfrm>
            <a:off x="365760" y="4087368"/>
            <a:ext cx="8458200" cy="201168"/>
          </a:xfrm>
          <a:prstGeom prst="rect">
            <a:avLst/>
          </a:prstGeom>
          <a:noFill/>
          <a:ln/>
        </p:spPr>
        <p:txBody>
          <a:bodyPr wrap="square" rtlCol="0" anchor="ctr"/>
          <a:lstStyle/>
          <a:p>
            <a:pPr marL="0" indent="0">
              <a:buNone/>
            </a:pPr>
            <a:r>
              <a:rPr lang="en-US" sz="900" b="1" dirty="0">
                <a:solidFill>
                  <a:srgbClr val="028090"/>
                </a:solidFill>
                <a:latin typeface="Calibri" pitchFamily="34" charset="0"/>
                <a:ea typeface="Calibri" pitchFamily="34" charset="-122"/>
                <a:cs typeface="Calibri" pitchFamily="34" charset="-120"/>
              </a:rPr>
              <a:t>BOND FUTURES ANALOGY</a:t>
            </a:r>
            <a:endParaRPr lang="en-US" sz="900" dirty="0"/>
          </a:p>
        </p:txBody>
      </p:sp>
      <p:sp>
        <p:nvSpPr>
          <p:cNvPr id="24" name="Text 22"/>
          <p:cNvSpPr/>
          <p:nvPr/>
        </p:nvSpPr>
        <p:spPr>
          <a:xfrm>
            <a:off x="365760" y="4288536"/>
            <a:ext cx="8458200" cy="393192"/>
          </a:xfrm>
          <a:prstGeom prst="rect">
            <a:avLst/>
          </a:prstGeom>
          <a:noFill/>
          <a:ln/>
        </p:spPr>
        <p:txBody>
          <a:bodyPr wrap="square" rtlCol="0" anchor="ctr"/>
          <a:lstStyle/>
          <a:p>
            <a:pPr marL="0" indent="0">
              <a:buNone/>
            </a:pPr>
            <a:r>
              <a:rPr lang="en-US" sz="1000" i="1" dirty="0">
                <a:solidFill>
                  <a:srgbClr val="1A1A2E"/>
                </a:solidFill>
                <a:latin typeface="Calibri" pitchFamily="34" charset="0"/>
                <a:ea typeface="Calibri" pitchFamily="34" charset="-122"/>
                <a:cs typeface="Calibri" pitchFamily="34" charset="-120"/>
              </a:rPr>
              <a:t>CTD in ColVA is identical to CTD in bond futures: the short party delivers the cheapest bond from the deliverable basket. The poster delivers the cheapest eligible collateral from the CSA basket. Both options have value.</a:t>
            </a:r>
            <a:endParaRPr lang="en-US" sz="1000" dirty="0"/>
          </a:p>
        </p:txBody>
      </p:sp>
      <p:sp>
        <p:nvSpPr>
          <p:cNvPr id="25" name="Text 23"/>
          <p:cNvSpPr/>
          <p:nvPr/>
        </p:nvSpPr>
        <p:spPr>
          <a:xfrm>
            <a:off x="228600" y="4846320"/>
            <a:ext cx="7772400" cy="201168"/>
          </a:xfrm>
          <a:prstGeom prst="rect">
            <a:avLst/>
          </a:prstGeom>
          <a:noFill/>
          <a:ln/>
        </p:spPr>
        <p:txBody>
          <a:bodyPr wrap="square" rtlCol="0" anchor="ctr"/>
          <a:lstStyle/>
          <a:p>
            <a:pPr marL="0" indent="0">
              <a:buNone/>
            </a:pPr>
            <a:r>
              <a:rPr lang="en-US" sz="800" dirty="0">
                <a:solidFill>
                  <a:srgbClr val="8A9BB0"/>
                </a:solidFill>
                <a:latin typeface="Calibri" pitchFamily="34" charset="0"/>
                <a:ea typeface="Calibri" pitchFamily="34" charset="-122"/>
                <a:cs typeface="Calibri" pitchFamily="34" charset="-120"/>
              </a:rPr>
              <a:t>Module 6: KVA, ColVA &amp; Capital Costs  |  Sarthaka Nanda  |  © 2026  CC BY-NC 4.0</a:t>
            </a:r>
            <a:endParaRPr lang="en-US" sz="800" dirty="0"/>
          </a:p>
        </p:txBody>
      </p:sp>
      <p:sp>
        <p:nvSpPr>
          <p:cNvPr id="26" name="Text 24"/>
          <p:cNvSpPr/>
          <p:nvPr/>
        </p:nvSpPr>
        <p:spPr>
          <a:xfrm>
            <a:off x="8686800" y="4846320"/>
            <a:ext cx="365760" cy="201168"/>
          </a:xfrm>
          <a:prstGeom prst="rect">
            <a:avLst/>
          </a:prstGeom>
          <a:noFill/>
          <a:ln/>
        </p:spPr>
        <p:txBody>
          <a:bodyPr wrap="square" rtlCol="0" anchor="ctr"/>
          <a:lstStyle/>
          <a:p>
            <a:pPr marL="0" indent="0" algn="r">
              <a:buNone/>
            </a:pPr>
            <a:r>
              <a:rPr lang="en-US" sz="800" dirty="0">
                <a:solidFill>
                  <a:srgbClr val="8A9BB0"/>
                </a:solidFill>
                <a:latin typeface="Calibri" pitchFamily="34" charset="0"/>
                <a:ea typeface="Calibri" pitchFamily="34" charset="-122"/>
                <a:cs typeface="Calibri"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28090"/>
          </a:solidFill>
          <a:ln w="12700">
            <a:solidFill>
              <a:srgbClr val="028090"/>
            </a:solidFill>
            <a:prstDash val="solid"/>
          </a:ln>
        </p:spPr>
      </p:sp>
      <p:sp>
        <p:nvSpPr>
          <p:cNvPr id="3" name="Shape 1"/>
          <p:cNvSpPr/>
          <p:nvPr/>
        </p:nvSpPr>
        <p:spPr>
          <a:xfrm>
            <a:off x="228600" y="164592"/>
            <a:ext cx="2377440" cy="292608"/>
          </a:xfrm>
          <a:prstGeom prst="rect">
            <a:avLst/>
          </a:prstGeom>
          <a:solidFill>
            <a:srgbClr val="028090"/>
          </a:solidFill>
          <a:ln w="12700">
            <a:solidFill>
              <a:srgbClr val="028090"/>
            </a:solidFill>
            <a:prstDash val="solid"/>
          </a:ln>
        </p:spPr>
      </p:sp>
      <p:sp>
        <p:nvSpPr>
          <p:cNvPr id="4" name="Text 2"/>
          <p:cNvSpPr/>
          <p:nvPr/>
        </p:nvSpPr>
        <p:spPr>
          <a:xfrm>
            <a:off x="228600" y="164592"/>
            <a:ext cx="2377440" cy="292608"/>
          </a:xfrm>
          <a:prstGeom prst="rect">
            <a:avLst/>
          </a:prstGeom>
          <a:noFill/>
          <a:ln/>
        </p:spPr>
        <p:txBody>
          <a:bodyPr wrap="square" rtlCol="0" anchor="ctr"/>
          <a:lstStyle/>
          <a:p>
            <a:pPr marL="0" indent="0" algn="ctr">
              <a:buNone/>
            </a:pPr>
            <a:r>
              <a:rPr lang="en-US" sz="900" b="1" dirty="0">
                <a:solidFill>
                  <a:srgbClr val="FFFFFF"/>
                </a:solidFill>
              </a:rPr>
              <a:t>SECTION 3 — COLVA: DERIVATION</a:t>
            </a:r>
            <a:endParaRPr lang="en-US" sz="900" dirty="0"/>
          </a:p>
        </p:txBody>
      </p:sp>
      <p:sp>
        <p:nvSpPr>
          <p:cNvPr id="5" name="Text 3"/>
          <p:cNvSpPr/>
          <p:nvPr/>
        </p:nvSpPr>
        <p:spPr>
          <a:xfrm>
            <a:off x="228600" y="548640"/>
            <a:ext cx="8686800" cy="548640"/>
          </a:xfrm>
          <a:prstGeom prst="rect">
            <a:avLst/>
          </a:prstGeom>
          <a:noFill/>
          <a:ln/>
        </p:spPr>
        <p:txBody>
          <a:bodyPr wrap="square" rtlCol="0" anchor="ctr"/>
          <a:lstStyle/>
          <a:p>
            <a:pPr marL="0" indent="0">
              <a:buNone/>
            </a:pPr>
            <a:r>
              <a:rPr lang="en-US" sz="2600" b="1" dirty="0">
                <a:solidFill>
                  <a:srgbClr val="0D1B2A"/>
                </a:solidFill>
                <a:latin typeface="Calibri" pitchFamily="34" charset="0"/>
                <a:ea typeface="Calibri" pitchFamily="34" charset="-122"/>
                <a:cs typeface="Calibri" pitchFamily="34" charset="-120"/>
              </a:rPr>
              <a:t>ColVA Formula — The Spread Option</a:t>
            </a:r>
            <a:endParaRPr lang="en-US" sz="2600" dirty="0"/>
          </a:p>
        </p:txBody>
      </p:sp>
      <p:sp>
        <p:nvSpPr>
          <p:cNvPr id="6" name="Text 4"/>
          <p:cNvSpPr/>
          <p:nvPr/>
        </p:nvSpPr>
        <p:spPr>
          <a:xfrm>
            <a:off x="228600" y="1207008"/>
            <a:ext cx="4114800" cy="256032"/>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Single Eligible Currency (Baseline)</a:t>
            </a:r>
            <a:endParaRPr lang="en-US" sz="1300" dirty="0"/>
          </a:p>
        </p:txBody>
      </p:sp>
      <p:sp>
        <p:nvSpPr>
          <p:cNvPr id="7" name="Shape 5"/>
          <p:cNvSpPr/>
          <p:nvPr/>
        </p:nvSpPr>
        <p:spPr>
          <a:xfrm>
            <a:off x="228600" y="1508760"/>
            <a:ext cx="4114800" cy="548640"/>
          </a:xfrm>
          <a:prstGeom prst="rect">
            <a:avLst/>
          </a:prstGeom>
          <a:solidFill>
            <a:srgbClr val="1B2A4A"/>
          </a:solidFill>
          <a:ln w="12700">
            <a:solidFill>
              <a:srgbClr val="028090"/>
            </a:solidFill>
            <a:prstDash val="solid"/>
          </a:ln>
        </p:spPr>
      </p:sp>
      <p:sp>
        <p:nvSpPr>
          <p:cNvPr id="8" name="Text 6"/>
          <p:cNvSpPr/>
          <p:nvPr/>
        </p:nvSpPr>
        <p:spPr>
          <a:xfrm>
            <a:off x="320040" y="1508760"/>
            <a:ext cx="3931920" cy="548640"/>
          </a:xfrm>
          <a:prstGeom prst="rect">
            <a:avLst/>
          </a:prstGeom>
          <a:noFill/>
          <a:ln/>
        </p:spPr>
        <p:txBody>
          <a:bodyPr wrap="square"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ColVA = 0  (no optionality)</a:t>
            </a:r>
            <a:endParaRPr lang="en-US" sz="1200" dirty="0"/>
          </a:p>
        </p:txBody>
      </p:sp>
      <p:sp>
        <p:nvSpPr>
          <p:cNvPr id="9" name="Text 7"/>
          <p:cNvSpPr/>
          <p:nvPr/>
        </p:nvSpPr>
        <p:spPr>
          <a:xfrm>
            <a:off x="228600" y="2103120"/>
            <a:ext cx="4114800" cy="274320"/>
          </a:xfrm>
          <a:prstGeom prst="rect">
            <a:avLst/>
          </a:prstGeom>
          <a:noFill/>
          <a:ln/>
        </p:spPr>
        <p:txBody>
          <a:bodyPr wrap="square" rtlCol="0" anchor="ctr"/>
          <a:lstStyle/>
          <a:p>
            <a:pPr marL="0" indent="0">
              <a:buNone/>
            </a:pPr>
            <a:r>
              <a:rPr lang="en-US" sz="950" i="1" dirty="0">
                <a:solidFill>
                  <a:srgbClr val="8A9BB0"/>
                </a:solidFill>
                <a:latin typeface="Calibri" pitchFamily="34" charset="0"/>
                <a:ea typeface="Calibri" pitchFamily="34" charset="-122"/>
                <a:cs typeface="Calibri" pitchFamily="34" charset="-120"/>
              </a:rPr>
              <a:t>No choice = no option value. ColVA is zero by construction.</a:t>
            </a:r>
            <a:endParaRPr lang="en-US" sz="950" dirty="0"/>
          </a:p>
        </p:txBody>
      </p:sp>
      <p:sp>
        <p:nvSpPr>
          <p:cNvPr id="10" name="Shape 8"/>
          <p:cNvSpPr/>
          <p:nvPr/>
        </p:nvSpPr>
        <p:spPr>
          <a:xfrm>
            <a:off x="4480560" y="1207008"/>
            <a:ext cx="4434840" cy="2926080"/>
          </a:xfrm>
          <a:prstGeom prst="rect">
            <a:avLst/>
          </a:prstGeom>
          <a:solidFill>
            <a:srgbClr val="E0F4F7"/>
          </a:solidFill>
          <a:ln w="12700">
            <a:solidFill>
              <a:srgbClr val="028090"/>
            </a:solidFill>
            <a:prstDash val="solid"/>
          </a:ln>
        </p:spPr>
      </p:sp>
      <p:sp>
        <p:nvSpPr>
          <p:cNvPr id="11" name="Text 9"/>
          <p:cNvSpPr/>
          <p:nvPr/>
        </p:nvSpPr>
        <p:spPr>
          <a:xfrm>
            <a:off x="4572000" y="1261872"/>
            <a:ext cx="4206240" cy="256032"/>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Two-Currency Case</a:t>
            </a:r>
            <a:endParaRPr lang="en-US" sz="1300" dirty="0"/>
          </a:p>
        </p:txBody>
      </p:sp>
      <p:sp>
        <p:nvSpPr>
          <p:cNvPr id="12" name="Shape 10"/>
          <p:cNvSpPr/>
          <p:nvPr/>
        </p:nvSpPr>
        <p:spPr>
          <a:xfrm>
            <a:off x="4572000" y="1572768"/>
            <a:ext cx="4206240" cy="594360"/>
          </a:xfrm>
          <a:prstGeom prst="rect">
            <a:avLst/>
          </a:prstGeom>
          <a:solidFill>
            <a:srgbClr val="1B2A4A"/>
          </a:solidFill>
          <a:ln w="12700">
            <a:solidFill>
              <a:srgbClr val="028090"/>
            </a:solidFill>
            <a:prstDash val="solid"/>
          </a:ln>
        </p:spPr>
      </p:sp>
      <p:sp>
        <p:nvSpPr>
          <p:cNvPr id="13" name="Text 11"/>
          <p:cNvSpPr/>
          <p:nvPr/>
        </p:nvSpPr>
        <p:spPr>
          <a:xfrm>
            <a:off x="4663440" y="1572768"/>
            <a:ext cx="4023360" cy="594360"/>
          </a:xfrm>
          <a:prstGeom prst="rect">
            <a:avLst/>
          </a:prstGeom>
          <a:noFill/>
          <a:ln/>
        </p:spPr>
        <p:txBody>
          <a:bodyPr wrap="square"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ColVA = -∫ EPE(t) × E[max(s_ij(t),0)] × df(t) dt</a:t>
            </a:r>
            <a:endParaRPr lang="en-US" sz="1200" dirty="0"/>
          </a:p>
        </p:txBody>
      </p:sp>
      <p:sp>
        <p:nvSpPr>
          <p:cNvPr id="14" name="Shape 12"/>
          <p:cNvSpPr/>
          <p:nvPr/>
        </p:nvSpPr>
        <p:spPr>
          <a:xfrm>
            <a:off x="4572000" y="2249424"/>
            <a:ext cx="822960" cy="292608"/>
          </a:xfrm>
          <a:prstGeom prst="rect">
            <a:avLst/>
          </a:prstGeom>
          <a:solidFill>
            <a:srgbClr val="1B2A4A"/>
          </a:solidFill>
          <a:ln w="12700">
            <a:solidFill>
              <a:srgbClr val="1B2A4A"/>
            </a:solidFill>
            <a:prstDash val="solid"/>
          </a:ln>
        </p:spPr>
      </p:sp>
      <p:sp>
        <p:nvSpPr>
          <p:cNvPr id="15" name="Text 13"/>
          <p:cNvSpPr/>
          <p:nvPr/>
        </p:nvSpPr>
        <p:spPr>
          <a:xfrm>
            <a:off x="4572000" y="2249424"/>
            <a:ext cx="822960" cy="292608"/>
          </a:xfrm>
          <a:prstGeom prst="rect">
            <a:avLst/>
          </a:prstGeom>
          <a:noFill/>
          <a:ln/>
        </p:spPr>
        <p:txBody>
          <a:bodyPr wrap="square" rtlCol="0" anchor="ctr"/>
          <a:lstStyle/>
          <a:p>
            <a:pPr marL="0" indent="0" algn="ctr">
              <a:buNone/>
            </a:pPr>
            <a:r>
              <a:rPr lang="en-US" sz="900" b="1" dirty="0">
                <a:solidFill>
                  <a:srgbClr val="C8953A"/>
                </a:solidFill>
                <a:latin typeface="Courier New" pitchFamily="34" charset="0"/>
                <a:ea typeface="Courier New" pitchFamily="34" charset="-122"/>
                <a:cs typeface="Courier New" pitchFamily="34" charset="-120"/>
              </a:rPr>
              <a:t>EPE(t)</a:t>
            </a:r>
            <a:endParaRPr lang="en-US" sz="900" dirty="0"/>
          </a:p>
        </p:txBody>
      </p:sp>
      <p:sp>
        <p:nvSpPr>
          <p:cNvPr id="16" name="Text 14"/>
          <p:cNvSpPr/>
          <p:nvPr/>
        </p:nvSpPr>
        <p:spPr>
          <a:xfrm>
            <a:off x="5486400" y="2286000"/>
            <a:ext cx="3291840" cy="256032"/>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Expected Positive Exposure — collateral amount outstanding</a:t>
            </a:r>
            <a:endParaRPr lang="en-US" sz="950" dirty="0"/>
          </a:p>
        </p:txBody>
      </p:sp>
      <p:sp>
        <p:nvSpPr>
          <p:cNvPr id="17" name="Shape 15"/>
          <p:cNvSpPr/>
          <p:nvPr/>
        </p:nvSpPr>
        <p:spPr>
          <a:xfrm>
            <a:off x="4572000" y="2596896"/>
            <a:ext cx="822960" cy="292608"/>
          </a:xfrm>
          <a:prstGeom prst="rect">
            <a:avLst/>
          </a:prstGeom>
          <a:solidFill>
            <a:srgbClr val="1B2A4A"/>
          </a:solidFill>
          <a:ln w="12700">
            <a:solidFill>
              <a:srgbClr val="1B2A4A"/>
            </a:solidFill>
            <a:prstDash val="solid"/>
          </a:ln>
        </p:spPr>
      </p:sp>
      <p:sp>
        <p:nvSpPr>
          <p:cNvPr id="18" name="Text 16"/>
          <p:cNvSpPr/>
          <p:nvPr/>
        </p:nvSpPr>
        <p:spPr>
          <a:xfrm>
            <a:off x="4572000" y="2596896"/>
            <a:ext cx="822960" cy="292608"/>
          </a:xfrm>
          <a:prstGeom prst="rect">
            <a:avLst/>
          </a:prstGeom>
          <a:noFill/>
          <a:ln/>
        </p:spPr>
        <p:txBody>
          <a:bodyPr wrap="square" rtlCol="0" anchor="ctr"/>
          <a:lstStyle/>
          <a:p>
            <a:pPr marL="0" indent="0" algn="ctr">
              <a:buNone/>
            </a:pPr>
            <a:r>
              <a:rPr lang="en-US" sz="900" b="1" dirty="0">
                <a:solidFill>
                  <a:srgbClr val="C8953A"/>
                </a:solidFill>
                <a:latin typeface="Courier New" pitchFamily="34" charset="0"/>
                <a:ea typeface="Courier New" pitchFamily="34" charset="-122"/>
                <a:cs typeface="Courier New" pitchFamily="34" charset="-120"/>
              </a:rPr>
              <a:t>s_ij(t)</a:t>
            </a:r>
            <a:endParaRPr lang="en-US" sz="900" dirty="0"/>
          </a:p>
        </p:txBody>
      </p:sp>
      <p:sp>
        <p:nvSpPr>
          <p:cNvPr id="19" name="Text 17"/>
          <p:cNvSpPr/>
          <p:nvPr/>
        </p:nvSpPr>
        <p:spPr>
          <a:xfrm>
            <a:off x="5486400" y="2633472"/>
            <a:ext cx="3291840" cy="256032"/>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Collateral spread: rate_i(t) − rate_j(t)</a:t>
            </a:r>
            <a:endParaRPr lang="en-US" sz="950" dirty="0"/>
          </a:p>
        </p:txBody>
      </p:sp>
      <p:sp>
        <p:nvSpPr>
          <p:cNvPr id="20" name="Shape 18"/>
          <p:cNvSpPr/>
          <p:nvPr/>
        </p:nvSpPr>
        <p:spPr>
          <a:xfrm>
            <a:off x="4572000" y="2944368"/>
            <a:ext cx="822960" cy="292608"/>
          </a:xfrm>
          <a:prstGeom prst="rect">
            <a:avLst/>
          </a:prstGeom>
          <a:solidFill>
            <a:srgbClr val="1B2A4A"/>
          </a:solidFill>
          <a:ln w="12700">
            <a:solidFill>
              <a:srgbClr val="1B2A4A"/>
            </a:solidFill>
            <a:prstDash val="solid"/>
          </a:ln>
        </p:spPr>
      </p:sp>
      <p:sp>
        <p:nvSpPr>
          <p:cNvPr id="21" name="Text 19"/>
          <p:cNvSpPr/>
          <p:nvPr/>
        </p:nvSpPr>
        <p:spPr>
          <a:xfrm>
            <a:off x="4572000" y="2944368"/>
            <a:ext cx="822960" cy="292608"/>
          </a:xfrm>
          <a:prstGeom prst="rect">
            <a:avLst/>
          </a:prstGeom>
          <a:noFill/>
          <a:ln/>
        </p:spPr>
        <p:txBody>
          <a:bodyPr wrap="square" rtlCol="0" anchor="ctr"/>
          <a:lstStyle/>
          <a:p>
            <a:pPr marL="0" indent="0" algn="ctr">
              <a:buNone/>
            </a:pPr>
            <a:r>
              <a:rPr lang="en-US" sz="900" b="1" dirty="0">
                <a:solidFill>
                  <a:srgbClr val="C8953A"/>
                </a:solidFill>
                <a:latin typeface="Courier New" pitchFamily="34" charset="0"/>
                <a:ea typeface="Courier New" pitchFamily="34" charset="-122"/>
                <a:cs typeface="Courier New" pitchFamily="34" charset="-120"/>
              </a:rPr>
              <a:t>E[max(s,0)]</a:t>
            </a:r>
            <a:endParaRPr lang="en-US" sz="900" dirty="0"/>
          </a:p>
        </p:txBody>
      </p:sp>
      <p:sp>
        <p:nvSpPr>
          <p:cNvPr id="22" name="Text 20"/>
          <p:cNvSpPr/>
          <p:nvPr/>
        </p:nvSpPr>
        <p:spPr>
          <a:xfrm>
            <a:off x="5486400" y="2980944"/>
            <a:ext cx="3291840" cy="256032"/>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Spread call option value (zero strike)</a:t>
            </a:r>
            <a:endParaRPr lang="en-US" sz="950" dirty="0"/>
          </a:p>
        </p:txBody>
      </p:sp>
      <p:sp>
        <p:nvSpPr>
          <p:cNvPr id="23" name="Shape 21"/>
          <p:cNvSpPr/>
          <p:nvPr/>
        </p:nvSpPr>
        <p:spPr>
          <a:xfrm>
            <a:off x="4572000" y="3291840"/>
            <a:ext cx="822960" cy="292608"/>
          </a:xfrm>
          <a:prstGeom prst="rect">
            <a:avLst/>
          </a:prstGeom>
          <a:solidFill>
            <a:srgbClr val="1B2A4A"/>
          </a:solidFill>
          <a:ln w="12700">
            <a:solidFill>
              <a:srgbClr val="1B2A4A"/>
            </a:solidFill>
            <a:prstDash val="solid"/>
          </a:ln>
        </p:spPr>
      </p:sp>
      <p:sp>
        <p:nvSpPr>
          <p:cNvPr id="24" name="Text 22"/>
          <p:cNvSpPr/>
          <p:nvPr/>
        </p:nvSpPr>
        <p:spPr>
          <a:xfrm>
            <a:off x="4572000" y="3291840"/>
            <a:ext cx="822960" cy="292608"/>
          </a:xfrm>
          <a:prstGeom prst="rect">
            <a:avLst/>
          </a:prstGeom>
          <a:noFill/>
          <a:ln/>
        </p:spPr>
        <p:txBody>
          <a:bodyPr wrap="square" rtlCol="0" anchor="ctr"/>
          <a:lstStyle/>
          <a:p>
            <a:pPr marL="0" indent="0" algn="ctr">
              <a:buNone/>
            </a:pPr>
            <a:r>
              <a:rPr lang="en-US" sz="900" b="1" dirty="0">
                <a:solidFill>
                  <a:srgbClr val="C8953A"/>
                </a:solidFill>
                <a:latin typeface="Courier New" pitchFamily="34" charset="0"/>
                <a:ea typeface="Courier New" pitchFamily="34" charset="-122"/>
                <a:cs typeface="Courier New" pitchFamily="34" charset="-120"/>
              </a:rPr>
              <a:t>df(t)</a:t>
            </a:r>
            <a:endParaRPr lang="en-US" sz="900" dirty="0"/>
          </a:p>
        </p:txBody>
      </p:sp>
      <p:sp>
        <p:nvSpPr>
          <p:cNvPr id="25" name="Text 23"/>
          <p:cNvSpPr/>
          <p:nvPr/>
        </p:nvSpPr>
        <p:spPr>
          <a:xfrm>
            <a:off x="5486400" y="3328416"/>
            <a:ext cx="3291840" cy="256032"/>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Discount factor to present value</a:t>
            </a:r>
            <a:endParaRPr lang="en-US" sz="950" dirty="0"/>
          </a:p>
        </p:txBody>
      </p:sp>
      <p:sp>
        <p:nvSpPr>
          <p:cNvPr id="26" name="Shape 24"/>
          <p:cNvSpPr/>
          <p:nvPr/>
        </p:nvSpPr>
        <p:spPr>
          <a:xfrm>
            <a:off x="4572000" y="3639312"/>
            <a:ext cx="822960" cy="292608"/>
          </a:xfrm>
          <a:prstGeom prst="rect">
            <a:avLst/>
          </a:prstGeom>
          <a:solidFill>
            <a:srgbClr val="1B2A4A"/>
          </a:solidFill>
          <a:ln w="12700">
            <a:solidFill>
              <a:srgbClr val="1B2A4A"/>
            </a:solidFill>
            <a:prstDash val="solid"/>
          </a:ln>
        </p:spPr>
      </p:sp>
      <p:sp>
        <p:nvSpPr>
          <p:cNvPr id="27" name="Text 25"/>
          <p:cNvSpPr/>
          <p:nvPr/>
        </p:nvSpPr>
        <p:spPr>
          <a:xfrm>
            <a:off x="4572000" y="3639312"/>
            <a:ext cx="822960" cy="292608"/>
          </a:xfrm>
          <a:prstGeom prst="rect">
            <a:avLst/>
          </a:prstGeom>
          <a:noFill/>
          <a:ln/>
        </p:spPr>
        <p:txBody>
          <a:bodyPr wrap="square" rtlCol="0" anchor="ctr"/>
          <a:lstStyle/>
          <a:p>
            <a:pPr marL="0" indent="0" algn="ctr">
              <a:buNone/>
            </a:pPr>
            <a:r>
              <a:rPr lang="en-US" sz="900" b="1" dirty="0">
                <a:solidFill>
                  <a:srgbClr val="C8953A"/>
                </a:solidFill>
                <a:latin typeface="Courier New" pitchFamily="34" charset="0"/>
                <a:ea typeface="Courier New" pitchFamily="34" charset="-122"/>
                <a:cs typeface="Courier New" pitchFamily="34" charset="-120"/>
              </a:rPr>
              <a:t>− sign</a:t>
            </a:r>
            <a:endParaRPr lang="en-US" sz="900" dirty="0"/>
          </a:p>
        </p:txBody>
      </p:sp>
      <p:sp>
        <p:nvSpPr>
          <p:cNvPr id="28" name="Text 26"/>
          <p:cNvSpPr/>
          <p:nvPr/>
        </p:nvSpPr>
        <p:spPr>
          <a:xfrm>
            <a:off x="5486400" y="3675888"/>
            <a:ext cx="3291840" cy="256032"/>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Cost to receiver; benefit to poster</a:t>
            </a:r>
            <a:endParaRPr lang="en-US" sz="950" dirty="0"/>
          </a:p>
        </p:txBody>
      </p:sp>
      <p:sp>
        <p:nvSpPr>
          <p:cNvPr id="29" name="Text 27"/>
          <p:cNvSpPr/>
          <p:nvPr/>
        </p:nvSpPr>
        <p:spPr>
          <a:xfrm>
            <a:off x="228600" y="2487168"/>
            <a:ext cx="4114800" cy="256032"/>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General Multi-Asset Case</a:t>
            </a:r>
            <a:endParaRPr lang="en-US" sz="1300" dirty="0"/>
          </a:p>
        </p:txBody>
      </p:sp>
      <p:sp>
        <p:nvSpPr>
          <p:cNvPr id="30" name="Shape 28"/>
          <p:cNvSpPr/>
          <p:nvPr/>
        </p:nvSpPr>
        <p:spPr>
          <a:xfrm>
            <a:off x="228600" y="2788920"/>
            <a:ext cx="4114800" cy="685800"/>
          </a:xfrm>
          <a:prstGeom prst="rect">
            <a:avLst/>
          </a:prstGeom>
          <a:solidFill>
            <a:srgbClr val="1B2A4A"/>
          </a:solidFill>
          <a:ln w="12700">
            <a:solidFill>
              <a:srgbClr val="028090"/>
            </a:solidFill>
            <a:prstDash val="solid"/>
          </a:ln>
        </p:spPr>
      </p:sp>
      <p:sp>
        <p:nvSpPr>
          <p:cNvPr id="31" name="Text 29"/>
          <p:cNvSpPr/>
          <p:nvPr/>
        </p:nvSpPr>
        <p:spPr>
          <a:xfrm>
            <a:off x="320040" y="2788920"/>
            <a:ext cx="3931920" cy="685800"/>
          </a:xfrm>
          <a:prstGeom prst="rect">
            <a:avLst/>
          </a:prstGeom>
          <a:noFill/>
          <a:ln/>
        </p:spPr>
        <p:txBody>
          <a:bodyPr wrap="square"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ColVA = -∫ EPE(t) × {E[min_i(r_i(t))] − r_base(t)} × df(t) dt</a:t>
            </a:r>
            <a:endParaRPr lang="en-US" sz="1200" dirty="0"/>
          </a:p>
        </p:txBody>
      </p:sp>
      <p:sp>
        <p:nvSpPr>
          <p:cNvPr id="32" name="Text 30"/>
          <p:cNvSpPr/>
          <p:nvPr/>
        </p:nvSpPr>
        <p:spPr>
          <a:xfrm>
            <a:off x="228600" y="3520440"/>
            <a:ext cx="4114800" cy="457200"/>
          </a:xfrm>
          <a:prstGeom prst="rect">
            <a:avLst/>
          </a:prstGeom>
          <a:noFill/>
          <a:ln/>
        </p:spPr>
        <p:txBody>
          <a:bodyPr wrap="square" rtlCol="0" anchor="ctr"/>
          <a:lstStyle/>
          <a:p>
            <a:pPr marL="0" indent="0">
              <a:buNone/>
            </a:pPr>
            <a:r>
              <a:rPr lang="en-US" sz="950" i="1" dirty="0">
                <a:solidFill>
                  <a:srgbClr val="8A9BB0"/>
                </a:solidFill>
                <a:latin typeface="Calibri" pitchFamily="34" charset="0"/>
                <a:ea typeface="Calibri" pitchFamily="34" charset="-122"/>
                <a:cs typeface="Calibri" pitchFamily="34" charset="-120"/>
              </a:rPr>
              <a:t>Requires multi-dimensional spread modelling (n×n correlation matrix across all eligible currencies). Computed via Monte Carlo in practice.</a:t>
            </a:r>
            <a:endParaRPr lang="en-US" sz="950" dirty="0"/>
          </a:p>
        </p:txBody>
      </p:sp>
      <p:sp>
        <p:nvSpPr>
          <p:cNvPr id="33" name="Text 31"/>
          <p:cNvSpPr/>
          <p:nvPr/>
        </p:nvSpPr>
        <p:spPr>
          <a:xfrm>
            <a:off x="228600" y="4846320"/>
            <a:ext cx="7772400" cy="201168"/>
          </a:xfrm>
          <a:prstGeom prst="rect">
            <a:avLst/>
          </a:prstGeom>
          <a:noFill/>
          <a:ln/>
        </p:spPr>
        <p:txBody>
          <a:bodyPr wrap="square" rtlCol="0" anchor="ctr"/>
          <a:lstStyle/>
          <a:p>
            <a:pPr marL="0" indent="0">
              <a:buNone/>
            </a:pPr>
            <a:r>
              <a:rPr lang="en-US" sz="800" dirty="0">
                <a:solidFill>
                  <a:srgbClr val="8A9BB0"/>
                </a:solidFill>
                <a:latin typeface="Calibri" pitchFamily="34" charset="0"/>
                <a:ea typeface="Calibri" pitchFamily="34" charset="-122"/>
                <a:cs typeface="Calibri" pitchFamily="34" charset="-120"/>
              </a:rPr>
              <a:t>Module 6: KVA, ColVA &amp; Capital Costs  |  Sarthaka Nanda  |  © 2026  CC BY-NC 4.0</a:t>
            </a:r>
            <a:endParaRPr lang="en-US" sz="800" dirty="0"/>
          </a:p>
        </p:txBody>
      </p:sp>
      <p:sp>
        <p:nvSpPr>
          <p:cNvPr id="34" name="Text 32"/>
          <p:cNvSpPr/>
          <p:nvPr/>
        </p:nvSpPr>
        <p:spPr>
          <a:xfrm>
            <a:off x="8686800" y="4846320"/>
            <a:ext cx="365760" cy="201168"/>
          </a:xfrm>
          <a:prstGeom prst="rect">
            <a:avLst/>
          </a:prstGeom>
          <a:noFill/>
          <a:ln/>
        </p:spPr>
        <p:txBody>
          <a:bodyPr wrap="square" rtlCol="0" anchor="ctr"/>
          <a:lstStyle/>
          <a:p>
            <a:pPr marL="0" indent="0" algn="r">
              <a:buNone/>
            </a:pPr>
            <a:r>
              <a:rPr lang="en-US" sz="800" dirty="0">
                <a:solidFill>
                  <a:srgbClr val="8A9BB0"/>
                </a:solidFill>
                <a:latin typeface="Calibri" pitchFamily="34" charset="0"/>
                <a:ea typeface="Calibri" pitchFamily="34" charset="-122"/>
                <a:cs typeface="Calibri"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28090"/>
          </a:solidFill>
          <a:ln w="12700">
            <a:solidFill>
              <a:srgbClr val="028090"/>
            </a:solidFill>
            <a:prstDash val="solid"/>
          </a:ln>
        </p:spPr>
      </p:sp>
      <p:sp>
        <p:nvSpPr>
          <p:cNvPr id="3" name="Shape 1"/>
          <p:cNvSpPr/>
          <p:nvPr/>
        </p:nvSpPr>
        <p:spPr>
          <a:xfrm>
            <a:off x="228600" y="164592"/>
            <a:ext cx="2377440" cy="292608"/>
          </a:xfrm>
          <a:prstGeom prst="rect">
            <a:avLst/>
          </a:prstGeom>
          <a:solidFill>
            <a:srgbClr val="028090"/>
          </a:solidFill>
          <a:ln w="12700">
            <a:solidFill>
              <a:srgbClr val="028090"/>
            </a:solidFill>
            <a:prstDash val="solid"/>
          </a:ln>
        </p:spPr>
      </p:sp>
      <p:sp>
        <p:nvSpPr>
          <p:cNvPr id="4" name="Text 2"/>
          <p:cNvSpPr/>
          <p:nvPr/>
        </p:nvSpPr>
        <p:spPr>
          <a:xfrm>
            <a:off x="228600" y="164592"/>
            <a:ext cx="2377440" cy="292608"/>
          </a:xfrm>
          <a:prstGeom prst="rect">
            <a:avLst/>
          </a:prstGeom>
          <a:noFill/>
          <a:ln/>
        </p:spPr>
        <p:txBody>
          <a:bodyPr wrap="square" rtlCol="0" anchor="ctr"/>
          <a:lstStyle/>
          <a:p>
            <a:pPr marL="0" indent="0" algn="ctr">
              <a:buNone/>
            </a:pPr>
            <a:r>
              <a:rPr lang="en-US" sz="900" b="1" dirty="0">
                <a:solidFill>
                  <a:srgbClr val="FFFFFF"/>
                </a:solidFill>
              </a:rPr>
              <a:t>SECTION 3 — COLVA WORKED EXAMPLE</a:t>
            </a:r>
            <a:endParaRPr lang="en-US" sz="900" dirty="0"/>
          </a:p>
        </p:txBody>
      </p:sp>
      <p:sp>
        <p:nvSpPr>
          <p:cNvPr id="5" name="Text 3"/>
          <p:cNvSpPr/>
          <p:nvPr/>
        </p:nvSpPr>
        <p:spPr>
          <a:xfrm>
            <a:off x="228600" y="548640"/>
            <a:ext cx="8686800" cy="548640"/>
          </a:xfrm>
          <a:prstGeom prst="rect">
            <a:avLst/>
          </a:prstGeom>
          <a:noFill/>
          <a:ln/>
        </p:spPr>
        <p:txBody>
          <a:bodyPr wrap="square" rtlCol="0" anchor="ctr"/>
          <a:lstStyle/>
          <a:p>
            <a:pPr marL="0" indent="0">
              <a:buNone/>
            </a:pPr>
            <a:r>
              <a:rPr lang="en-US" sz="2600" b="1" dirty="0">
                <a:solidFill>
                  <a:srgbClr val="0D1B2A"/>
                </a:solidFill>
                <a:latin typeface="Calibri" pitchFamily="34" charset="0"/>
                <a:ea typeface="Calibri" pitchFamily="34" charset="-122"/>
                <a:cs typeface="Calibri" pitchFamily="34" charset="-120"/>
              </a:rPr>
              <a:t>ColVA — Multi-Currency CSA: EUR + USD + GBP</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228600" y="1234440"/>
          <a:ext cx="4389120" cy="2719250"/>
        </p:xfrm>
        <a:graphic>
          <a:graphicData uri="http://schemas.openxmlformats.org/drawingml/2006/table">
            <a:tbl>
              <a:tblPr/>
              <a:tblGrid>
                <a:gridCol w="219456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tblGrid>
              <a:tr h="385354">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Parameter</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Value</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85354">
                <a:tc>
                  <a:txBody>
                    <a:bodyPr/>
                    <a:lstStyle/>
                    <a:p>
                      <a:pPr marL="0" indent="0" algn="l">
                        <a:buNone/>
                      </a:pPr>
                      <a:r>
                        <a:rPr lang="en-US" sz="1000" b="1" dirty="0">
                          <a:solidFill>
                            <a:srgbClr val="1A1A2E"/>
                          </a:solidFill>
                          <a:latin typeface="Calibri" pitchFamily="34" charset="0"/>
                          <a:ea typeface="Calibri" pitchFamily="34" charset="-122"/>
                          <a:cs typeface="Calibri" pitchFamily="34" charset="-120"/>
                        </a:rPr>
                        <a:t>Notional / Tenor</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EUR 100M  |  5Y IRS</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5354">
                <a:tc>
                  <a:txBody>
                    <a:bodyPr/>
                    <a:lstStyle/>
                    <a:p>
                      <a:pPr marL="0" indent="0" algn="l">
                        <a:buNone/>
                      </a:pPr>
                      <a:r>
                        <a:rPr lang="en-US" sz="1000" b="1" dirty="0">
                          <a:solidFill>
                            <a:srgbClr val="1A1A2E"/>
                          </a:solidFill>
                          <a:latin typeface="Calibri" pitchFamily="34" charset="0"/>
                          <a:ea typeface="Calibri" pitchFamily="34" charset="-122"/>
                          <a:cs typeface="Calibri" pitchFamily="34" charset="-120"/>
                        </a:rPr>
                        <a:t>EUR OIS (base)</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6F8"/>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3.20%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6F8"/>
                    </a:solidFill>
                  </a:tcPr>
                </a:tc>
                <a:extLst>
                  <a:ext uri="{0D108BD9-81ED-4DB2-BD59-A6C34878D82A}">
                    <a16:rowId xmlns:a16="http://schemas.microsoft.com/office/drawing/2014/main" val="10002"/>
                  </a:ext>
                </a:extLst>
              </a:tr>
              <a:tr h="385354">
                <a:tc>
                  <a:txBody>
                    <a:bodyPr/>
                    <a:lstStyle/>
                    <a:p>
                      <a:pPr marL="0" indent="0" algn="l">
                        <a:buNone/>
                      </a:pPr>
                      <a:r>
                        <a:rPr lang="en-US" sz="1000" b="1" dirty="0">
                          <a:solidFill>
                            <a:srgbClr val="1A1A2E"/>
                          </a:solidFill>
                          <a:latin typeface="Calibri" pitchFamily="34" charset="0"/>
                          <a:ea typeface="Calibri" pitchFamily="34" charset="-122"/>
                          <a:cs typeface="Calibri" pitchFamily="34" charset="-120"/>
                        </a:rPr>
                        <a:t>USD OIS + x-ccy basis</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5.30% − 0.25% basis = 5.05% EUR-equivalent</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5354">
                <a:tc>
                  <a:txBody>
                    <a:bodyPr/>
                    <a:lstStyle/>
                    <a:p>
                      <a:pPr marL="0" indent="0" algn="l">
                        <a:buNone/>
                      </a:pPr>
                      <a:r>
                        <a:rPr lang="en-US" sz="1000" b="1" dirty="0">
                          <a:solidFill>
                            <a:srgbClr val="1A1A2E"/>
                          </a:solidFill>
                          <a:latin typeface="Calibri" pitchFamily="34" charset="0"/>
                          <a:ea typeface="Calibri" pitchFamily="34" charset="-122"/>
                          <a:cs typeface="Calibri" pitchFamily="34" charset="-120"/>
                        </a:rPr>
                        <a:t>GBP OIS + x-ccy basis</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6F8"/>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5.10% − 0.35% basis = 4.75% EUR-equivalent</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6F8"/>
                    </a:solidFill>
                  </a:tcPr>
                </a:tc>
                <a:extLst>
                  <a:ext uri="{0D108BD9-81ED-4DB2-BD59-A6C34878D82A}">
                    <a16:rowId xmlns:a16="http://schemas.microsoft.com/office/drawing/2014/main" val="10004"/>
                  </a:ext>
                </a:extLst>
              </a:tr>
              <a:tr h="385354">
                <a:tc>
                  <a:txBody>
                    <a:bodyPr/>
                    <a:lstStyle/>
                    <a:p>
                      <a:pPr marL="0" indent="0" algn="l">
                        <a:buNone/>
                      </a:pPr>
                      <a:r>
                        <a:rPr lang="en-US" sz="1000" b="1" dirty="0">
                          <a:solidFill>
                            <a:srgbClr val="1A1A2E"/>
                          </a:solidFill>
                          <a:latin typeface="Calibri" pitchFamily="34" charset="0"/>
                          <a:ea typeface="Calibri" pitchFamily="34" charset="-122"/>
                          <a:cs typeface="Calibri" pitchFamily="34" charset="-120"/>
                        </a:rPr>
                        <a:t>Spread vol (EUR/USD)</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40 bps p.a.</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5354">
                <a:tc>
                  <a:txBody>
                    <a:bodyPr/>
                    <a:lstStyle/>
                    <a:p>
                      <a:pPr marL="0" indent="0" algn="l">
                        <a:buNone/>
                      </a:pPr>
                      <a:r>
                        <a:rPr lang="en-US" sz="1000" b="1" dirty="0">
                          <a:solidFill>
                            <a:srgbClr val="1A1A2E"/>
                          </a:solidFill>
                          <a:latin typeface="Calibri" pitchFamily="34" charset="0"/>
                          <a:ea typeface="Calibri" pitchFamily="34" charset="-122"/>
                          <a:cs typeface="Calibri" pitchFamily="34" charset="-120"/>
                        </a:rPr>
                        <a:t>Spread vol (EUR/GBP)</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6F8"/>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35 bps p.a.</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6F8"/>
                    </a:solidFill>
                  </a:tcPr>
                </a:tc>
                <a:extLst>
                  <a:ext uri="{0D108BD9-81ED-4DB2-BD59-A6C34878D82A}">
                    <a16:rowId xmlns:a16="http://schemas.microsoft.com/office/drawing/2014/main" val="10006"/>
                  </a:ext>
                </a:extLst>
              </a:tr>
            </a:tbl>
          </a:graphicData>
        </a:graphic>
      </p:graphicFrame>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4754880" y="1234440"/>
          <a:ext cx="4389120" cy="2834643"/>
        </p:xfrm>
        <a:graphic>
          <a:graphicData uri="http://schemas.openxmlformats.org/drawingml/2006/table">
            <a:tbl>
              <a:tblPr/>
              <a:tblGrid>
                <a:gridCol w="64008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404949">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Year</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EPE (EUR M)</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E[max(s,0)]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ColVA Contrib</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404949">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A1A2E"/>
                          </a:solidFill>
                          <a:latin typeface="Calibri" pitchFamily="34" charset="0"/>
                          <a:ea typeface="Calibri" pitchFamily="34" charset="-122"/>
                          <a:cs typeface="Calibri" pitchFamily="34" charset="-120"/>
                        </a:rPr>
                        <a:t>2.1</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0.9 bps</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A1A2E"/>
                          </a:solidFill>
                          <a:latin typeface="Calibri" pitchFamily="34" charset="0"/>
                          <a:ea typeface="Calibri" pitchFamily="34" charset="-122"/>
                          <a:cs typeface="Calibri" pitchFamily="34" charset="-120"/>
                        </a:rPr>
                        <a:t>−1,890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4949">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6F8"/>
                    </a:solidFill>
                  </a:tcPr>
                </a:tc>
                <a:tc>
                  <a:txBody>
                    <a:bodyPr/>
                    <a:lstStyle/>
                    <a:p>
                      <a:pPr marL="0" indent="0" algn="r">
                        <a:buNone/>
                      </a:pPr>
                      <a:r>
                        <a:rPr lang="en-US" sz="1000" dirty="0">
                          <a:solidFill>
                            <a:srgbClr val="1A1A2E"/>
                          </a:solidFill>
                          <a:latin typeface="Calibri" pitchFamily="34" charset="0"/>
                          <a:ea typeface="Calibri" pitchFamily="34" charset="-122"/>
                          <a:cs typeface="Calibri" pitchFamily="34" charset="-120"/>
                        </a:rPr>
                        <a:t>3.8</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6F8"/>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1.9 bps</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6F8"/>
                    </a:solidFill>
                  </a:tcPr>
                </a:tc>
                <a:tc>
                  <a:txBody>
                    <a:bodyPr/>
                    <a:lstStyle/>
                    <a:p>
                      <a:pPr marL="0" indent="0" algn="r">
                        <a:buNone/>
                      </a:pPr>
                      <a:r>
                        <a:rPr lang="en-US" sz="1000" dirty="0">
                          <a:solidFill>
                            <a:srgbClr val="1A1A2E"/>
                          </a:solidFill>
                          <a:latin typeface="Calibri" pitchFamily="34" charset="0"/>
                          <a:ea typeface="Calibri" pitchFamily="34" charset="-122"/>
                          <a:cs typeface="Calibri" pitchFamily="34" charset="-120"/>
                        </a:rPr>
                        <a:t>−7,220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6F8"/>
                    </a:solidFill>
                  </a:tcPr>
                </a:tc>
                <a:extLst>
                  <a:ext uri="{0D108BD9-81ED-4DB2-BD59-A6C34878D82A}">
                    <a16:rowId xmlns:a16="http://schemas.microsoft.com/office/drawing/2014/main" val="10002"/>
                  </a:ext>
                </a:extLst>
              </a:tr>
              <a:tr h="404949">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A1A2E"/>
                          </a:solidFill>
                          <a:latin typeface="Calibri" pitchFamily="34" charset="0"/>
                          <a:ea typeface="Calibri" pitchFamily="34" charset="-122"/>
                          <a:cs typeface="Calibri" pitchFamily="34" charset="-120"/>
                        </a:rPr>
                        <a:t>4.2</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3.2 bps</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A1A2E"/>
                          </a:solidFill>
                          <a:latin typeface="Calibri" pitchFamily="34" charset="0"/>
                          <a:ea typeface="Calibri" pitchFamily="34" charset="-122"/>
                          <a:cs typeface="Calibri" pitchFamily="34" charset="-120"/>
                        </a:rPr>
                        <a:t>−13,440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4949">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6F8"/>
                    </a:solidFill>
                  </a:tcPr>
                </a:tc>
                <a:tc>
                  <a:txBody>
                    <a:bodyPr/>
                    <a:lstStyle/>
                    <a:p>
                      <a:pPr marL="0" indent="0" algn="r">
                        <a:buNone/>
                      </a:pPr>
                      <a:r>
                        <a:rPr lang="en-US" sz="1000" dirty="0">
                          <a:solidFill>
                            <a:srgbClr val="1A1A2E"/>
                          </a:solidFill>
                          <a:latin typeface="Calibri" pitchFamily="34" charset="0"/>
                          <a:ea typeface="Calibri" pitchFamily="34" charset="-122"/>
                          <a:cs typeface="Calibri" pitchFamily="34" charset="-120"/>
                        </a:rPr>
                        <a:t>3.6</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6F8"/>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4.4 bps</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6F8"/>
                    </a:solidFill>
                  </a:tcPr>
                </a:tc>
                <a:tc>
                  <a:txBody>
                    <a:bodyPr/>
                    <a:lstStyle/>
                    <a:p>
                      <a:pPr marL="0" indent="0" algn="r">
                        <a:buNone/>
                      </a:pPr>
                      <a:r>
                        <a:rPr lang="en-US" sz="1000" dirty="0">
                          <a:solidFill>
                            <a:srgbClr val="1A1A2E"/>
                          </a:solidFill>
                          <a:latin typeface="Calibri" pitchFamily="34" charset="0"/>
                          <a:ea typeface="Calibri" pitchFamily="34" charset="-122"/>
                          <a:cs typeface="Calibri" pitchFamily="34" charset="-120"/>
                        </a:rPr>
                        <a:t>−15,840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6F8"/>
                    </a:solidFill>
                  </a:tcPr>
                </a:tc>
                <a:extLst>
                  <a:ext uri="{0D108BD9-81ED-4DB2-BD59-A6C34878D82A}">
                    <a16:rowId xmlns:a16="http://schemas.microsoft.com/office/drawing/2014/main" val="10004"/>
                  </a:ext>
                </a:extLst>
              </a:tr>
              <a:tr h="404949">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A1A2E"/>
                          </a:solidFill>
                          <a:latin typeface="Calibri" pitchFamily="34" charset="0"/>
                          <a:ea typeface="Calibri" pitchFamily="34" charset="-122"/>
                          <a:cs typeface="Calibri" pitchFamily="34" charset="-120"/>
                        </a:rPr>
                        <a:t>2.4</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5.4 bps</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A1A2E"/>
                          </a:solidFill>
                          <a:latin typeface="Calibri" pitchFamily="34" charset="0"/>
                          <a:ea typeface="Calibri" pitchFamily="34" charset="-122"/>
                          <a:cs typeface="Calibri" pitchFamily="34" charset="-120"/>
                        </a:rPr>
                        <a:t>−12,960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04949">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TOTAL ColVA</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2A4A"/>
                    </a:solidFill>
                  </a:tcPr>
                </a:tc>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2A4A"/>
                    </a:solidFill>
                  </a:tcPr>
                </a:tc>
                <a:tc>
                  <a:txBody>
                    <a:bodyPr/>
                    <a:lstStyle/>
                    <a:p>
                      <a:pPr marL="0" indent="0" algn="l">
                        <a:buNone/>
                      </a:pP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2A4A"/>
                    </a:solidFill>
                  </a:tcPr>
                </a:tc>
                <a:tc>
                  <a:txBody>
                    <a:bodyPr/>
                    <a:lstStyle/>
                    <a:p>
                      <a:pPr marL="0" indent="0" algn="r">
                        <a:buNone/>
                      </a:pPr>
                      <a:r>
                        <a:rPr lang="en-US" sz="1000" b="1" dirty="0">
                          <a:solidFill>
                            <a:srgbClr val="0D1B2A"/>
                          </a:solidFill>
                          <a:latin typeface="Calibri" pitchFamily="34" charset="0"/>
                          <a:ea typeface="Calibri" pitchFamily="34" charset="-122"/>
                          <a:cs typeface="Calibri" pitchFamily="34" charset="-120"/>
                        </a:rPr>
                        <a:t>−EUR 51,350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953A"/>
                    </a:solidFill>
                  </a:tcPr>
                </a:tc>
                <a:extLst>
                  <a:ext uri="{0D108BD9-81ED-4DB2-BD59-A6C34878D82A}">
                    <a16:rowId xmlns:a16="http://schemas.microsoft.com/office/drawing/2014/main" val="10006"/>
                  </a:ext>
                </a:extLst>
              </a:tr>
            </a:tbl>
          </a:graphicData>
        </a:graphic>
      </p:graphicFrame>
      <p:sp>
        <p:nvSpPr>
          <p:cNvPr id="6" name="Shape 4"/>
          <p:cNvSpPr/>
          <p:nvPr/>
        </p:nvSpPr>
        <p:spPr>
          <a:xfrm>
            <a:off x="228600" y="4041648"/>
            <a:ext cx="8686800" cy="658368"/>
          </a:xfrm>
          <a:prstGeom prst="rect">
            <a:avLst/>
          </a:prstGeom>
          <a:solidFill>
            <a:srgbClr val="F5DFA8"/>
          </a:solidFill>
          <a:ln w="12700">
            <a:solidFill>
              <a:srgbClr val="C8953A"/>
            </a:solidFill>
            <a:prstDash val="solid"/>
          </a:ln>
        </p:spPr>
      </p:sp>
      <p:sp>
        <p:nvSpPr>
          <p:cNvPr id="9" name="Text 5"/>
          <p:cNvSpPr/>
          <p:nvPr/>
        </p:nvSpPr>
        <p:spPr>
          <a:xfrm>
            <a:off x="320040" y="4114800"/>
            <a:ext cx="8412480" cy="502920"/>
          </a:xfrm>
          <a:prstGeom prst="rect">
            <a:avLst/>
          </a:prstGeom>
          <a:noFill/>
          <a:ln/>
        </p:spPr>
        <p:txBody>
          <a:bodyPr wrap="square" rtlCol="0" anchor="ctr"/>
          <a:lstStyle/>
          <a:p>
            <a:pPr marL="0" indent="0">
              <a:buNone/>
            </a:pPr>
            <a:r>
              <a:rPr lang="en-US" sz="1000" b="1" dirty="0">
                <a:solidFill>
                  <a:srgbClr val="1A1A2E"/>
                </a:solidFill>
                <a:latin typeface="Calibri" pitchFamily="34" charset="0"/>
                <a:ea typeface="Calibri" pitchFamily="34" charset="-122"/>
                <a:cs typeface="Calibri" pitchFamily="34" charset="-120"/>
              </a:rPr>
              <a:t>ColVA = −EUR 51,350  ≈  −0.5 bps of notional per year  |  EUR cash remains CTD today but spread volatility creates future switching value  |  ColVA grows with tenor, vol, and current spread proximity to zero</a:t>
            </a:r>
            <a:endParaRPr lang="en-US" sz="1000" dirty="0"/>
          </a:p>
        </p:txBody>
      </p:sp>
      <p:sp>
        <p:nvSpPr>
          <p:cNvPr id="10" name="Text 6"/>
          <p:cNvSpPr/>
          <p:nvPr/>
        </p:nvSpPr>
        <p:spPr>
          <a:xfrm>
            <a:off x="228600" y="4846320"/>
            <a:ext cx="7772400" cy="201168"/>
          </a:xfrm>
          <a:prstGeom prst="rect">
            <a:avLst/>
          </a:prstGeom>
          <a:noFill/>
          <a:ln/>
        </p:spPr>
        <p:txBody>
          <a:bodyPr wrap="square" rtlCol="0" anchor="ctr"/>
          <a:lstStyle/>
          <a:p>
            <a:pPr marL="0" indent="0">
              <a:buNone/>
            </a:pPr>
            <a:r>
              <a:rPr lang="en-US" sz="800" dirty="0">
                <a:solidFill>
                  <a:srgbClr val="8A9BB0"/>
                </a:solidFill>
                <a:latin typeface="Calibri" pitchFamily="34" charset="0"/>
                <a:ea typeface="Calibri" pitchFamily="34" charset="-122"/>
                <a:cs typeface="Calibri" pitchFamily="34" charset="-120"/>
              </a:rPr>
              <a:t>Module 6: KVA, ColVA &amp; Capital Costs  |  Sarthaka Nanda  |  © 2026  CC BY-NC 4.0</a:t>
            </a:r>
            <a:endParaRPr lang="en-US" sz="800" dirty="0"/>
          </a:p>
        </p:txBody>
      </p:sp>
      <p:sp>
        <p:nvSpPr>
          <p:cNvPr id="11" name="Text 7"/>
          <p:cNvSpPr/>
          <p:nvPr/>
        </p:nvSpPr>
        <p:spPr>
          <a:xfrm>
            <a:off x="8686800" y="4846320"/>
            <a:ext cx="365760" cy="201168"/>
          </a:xfrm>
          <a:prstGeom prst="rect">
            <a:avLst/>
          </a:prstGeom>
          <a:noFill/>
          <a:ln/>
        </p:spPr>
        <p:txBody>
          <a:bodyPr wrap="square" rtlCol="0" anchor="ctr"/>
          <a:lstStyle/>
          <a:p>
            <a:pPr marL="0" indent="0" algn="r">
              <a:buNone/>
            </a:pPr>
            <a:r>
              <a:rPr lang="en-US" sz="800" dirty="0">
                <a:solidFill>
                  <a:srgbClr val="8A9BB0"/>
                </a:solidFill>
                <a:latin typeface="Calibri" pitchFamily="34" charset="0"/>
                <a:ea typeface="Calibri" pitchFamily="34" charset="-122"/>
                <a:cs typeface="Calibri"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28090"/>
          </a:solidFill>
          <a:ln w="12700">
            <a:solidFill>
              <a:srgbClr val="028090"/>
            </a:solidFill>
            <a:prstDash val="solid"/>
          </a:ln>
        </p:spPr>
      </p:sp>
      <p:sp>
        <p:nvSpPr>
          <p:cNvPr id="3" name="Shape 1"/>
          <p:cNvSpPr/>
          <p:nvPr/>
        </p:nvSpPr>
        <p:spPr>
          <a:xfrm>
            <a:off x="228600" y="164592"/>
            <a:ext cx="2377440" cy="292608"/>
          </a:xfrm>
          <a:prstGeom prst="rect">
            <a:avLst/>
          </a:prstGeom>
          <a:solidFill>
            <a:srgbClr val="028090"/>
          </a:solidFill>
          <a:ln w="12700">
            <a:solidFill>
              <a:srgbClr val="028090"/>
            </a:solidFill>
            <a:prstDash val="solid"/>
          </a:ln>
        </p:spPr>
      </p:sp>
      <p:sp>
        <p:nvSpPr>
          <p:cNvPr id="4" name="Text 2"/>
          <p:cNvSpPr/>
          <p:nvPr/>
        </p:nvSpPr>
        <p:spPr>
          <a:xfrm>
            <a:off x="228600" y="164592"/>
            <a:ext cx="2377440" cy="292608"/>
          </a:xfrm>
          <a:prstGeom prst="rect">
            <a:avLst/>
          </a:prstGeom>
          <a:noFill/>
          <a:ln/>
        </p:spPr>
        <p:txBody>
          <a:bodyPr wrap="square" rtlCol="0" anchor="ctr"/>
          <a:lstStyle/>
          <a:p>
            <a:pPr marL="0" indent="0" algn="ctr">
              <a:buNone/>
            </a:pPr>
            <a:r>
              <a:rPr lang="en-US" sz="900" b="1" dirty="0">
                <a:solidFill>
                  <a:srgbClr val="FFFFFF"/>
                </a:solidFill>
              </a:rPr>
              <a:t>SECTION 4 — KVA: PLAIN ENGLISH</a:t>
            </a:r>
            <a:endParaRPr lang="en-US" sz="900" dirty="0"/>
          </a:p>
        </p:txBody>
      </p:sp>
      <p:sp>
        <p:nvSpPr>
          <p:cNvPr id="5" name="Text 3"/>
          <p:cNvSpPr/>
          <p:nvPr/>
        </p:nvSpPr>
        <p:spPr>
          <a:xfrm>
            <a:off x="228600" y="548640"/>
            <a:ext cx="8686800" cy="548640"/>
          </a:xfrm>
          <a:prstGeom prst="rect">
            <a:avLst/>
          </a:prstGeom>
          <a:noFill/>
          <a:ln/>
        </p:spPr>
        <p:txBody>
          <a:bodyPr wrap="square" rtlCol="0" anchor="ctr"/>
          <a:lstStyle/>
          <a:p>
            <a:pPr marL="0" indent="0">
              <a:buNone/>
            </a:pPr>
            <a:r>
              <a:rPr lang="en-US" sz="2600" b="1" dirty="0">
                <a:solidFill>
                  <a:srgbClr val="0D1B2A"/>
                </a:solidFill>
                <a:latin typeface="Calibri" pitchFamily="34" charset="0"/>
                <a:ea typeface="Calibri" pitchFamily="34" charset="-122"/>
                <a:cs typeface="Calibri" pitchFamily="34" charset="-120"/>
              </a:rPr>
              <a:t>KVA — The Rent on Regulatory Capital</a:t>
            </a:r>
            <a:endParaRPr lang="en-US" sz="2600" dirty="0"/>
          </a:p>
        </p:txBody>
      </p:sp>
      <p:sp>
        <p:nvSpPr>
          <p:cNvPr id="6" name="Shape 4"/>
          <p:cNvSpPr/>
          <p:nvPr/>
        </p:nvSpPr>
        <p:spPr>
          <a:xfrm>
            <a:off x="228600" y="1234440"/>
            <a:ext cx="8686800" cy="621792"/>
          </a:xfrm>
          <a:prstGeom prst="rect">
            <a:avLst/>
          </a:prstGeom>
          <a:solidFill>
            <a:srgbClr val="1B2A4A"/>
          </a:solidFill>
          <a:ln w="12700">
            <a:solidFill>
              <a:srgbClr val="028090"/>
            </a:solidFill>
            <a:prstDash val="solid"/>
          </a:ln>
        </p:spPr>
      </p:sp>
      <p:sp>
        <p:nvSpPr>
          <p:cNvPr id="7" name="Text 5"/>
          <p:cNvSpPr/>
          <p:nvPr/>
        </p:nvSpPr>
        <p:spPr>
          <a:xfrm>
            <a:off x="365760" y="1261872"/>
            <a:ext cx="2743200" cy="228600"/>
          </a:xfrm>
          <a:prstGeom prst="rect">
            <a:avLst/>
          </a:prstGeom>
          <a:noFill/>
          <a:ln/>
        </p:spPr>
        <p:txBody>
          <a:bodyPr wrap="square" rtlCol="0" anchor="ctr"/>
          <a:lstStyle/>
          <a:p>
            <a:pPr marL="0" indent="0">
              <a:buNone/>
            </a:pPr>
            <a:r>
              <a:rPr lang="en-US" sz="1000" b="1" dirty="0">
                <a:solidFill>
                  <a:srgbClr val="C8953A"/>
                </a:solidFill>
                <a:latin typeface="Calibri" pitchFamily="34" charset="0"/>
                <a:ea typeface="Calibri" pitchFamily="34" charset="-122"/>
                <a:cs typeface="Calibri" pitchFamily="34" charset="-120"/>
              </a:rPr>
              <a:t>KVA in one sentence:</a:t>
            </a:r>
            <a:endParaRPr lang="en-US" sz="1000" dirty="0"/>
          </a:p>
        </p:txBody>
      </p:sp>
      <p:sp>
        <p:nvSpPr>
          <p:cNvPr id="8" name="Text 6"/>
          <p:cNvSpPr/>
          <p:nvPr/>
        </p:nvSpPr>
        <p:spPr>
          <a:xfrm>
            <a:off x="365760" y="1490472"/>
            <a:ext cx="8321040"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The present value of the cost of holding regulatory capital against a derivative trade over its entire life.</a:t>
            </a:r>
            <a:endParaRPr lang="en-US" sz="1200" dirty="0"/>
          </a:p>
        </p:txBody>
      </p:sp>
      <p:sp>
        <p:nvSpPr>
          <p:cNvPr id="9" name="Text 7"/>
          <p:cNvSpPr/>
          <p:nvPr/>
        </p:nvSpPr>
        <p:spPr>
          <a:xfrm>
            <a:off x="228600" y="2011680"/>
            <a:ext cx="4160520" cy="256032"/>
          </a:xfrm>
          <a:prstGeom prst="rect">
            <a:avLst/>
          </a:prstGeom>
          <a:noFill/>
          <a:ln/>
        </p:spPr>
        <p:txBody>
          <a:bodyPr wrap="square"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Before Basel III</a:t>
            </a:r>
            <a:endParaRPr lang="en-US" sz="1300" dirty="0"/>
          </a:p>
        </p:txBody>
      </p:sp>
      <p:sp>
        <p:nvSpPr>
          <p:cNvPr id="10" name="Shape 8"/>
          <p:cNvSpPr/>
          <p:nvPr/>
        </p:nvSpPr>
        <p:spPr>
          <a:xfrm>
            <a:off x="228600" y="2331720"/>
            <a:ext cx="36576" cy="274320"/>
          </a:xfrm>
          <a:prstGeom prst="rect">
            <a:avLst/>
          </a:prstGeom>
          <a:solidFill>
            <a:srgbClr val="C0392B"/>
          </a:solidFill>
          <a:ln w="12700">
            <a:solidFill>
              <a:srgbClr val="C0392B"/>
            </a:solidFill>
            <a:prstDash val="solid"/>
          </a:ln>
        </p:spPr>
      </p:sp>
      <p:sp>
        <p:nvSpPr>
          <p:cNvPr id="11" name="Text 9"/>
          <p:cNvSpPr/>
          <p:nvPr/>
        </p:nvSpPr>
        <p:spPr>
          <a:xfrm>
            <a:off x="365760" y="2359152"/>
            <a:ext cx="3931920" cy="384048"/>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Low RWA: Basel II IMM produced thin capital charges for diversified books</a:t>
            </a:r>
            <a:endParaRPr lang="en-US" sz="1000" dirty="0"/>
          </a:p>
        </p:txBody>
      </p:sp>
      <p:sp>
        <p:nvSpPr>
          <p:cNvPr id="12" name="Shape 10"/>
          <p:cNvSpPr/>
          <p:nvPr/>
        </p:nvSpPr>
        <p:spPr>
          <a:xfrm>
            <a:off x="228600" y="2834640"/>
            <a:ext cx="36576" cy="274320"/>
          </a:xfrm>
          <a:prstGeom prst="rect">
            <a:avLst/>
          </a:prstGeom>
          <a:solidFill>
            <a:srgbClr val="C0392B"/>
          </a:solidFill>
          <a:ln w="12700">
            <a:solidFill>
              <a:srgbClr val="C0392B"/>
            </a:solidFill>
            <a:prstDash val="solid"/>
          </a:ln>
        </p:spPr>
      </p:sp>
      <p:sp>
        <p:nvSpPr>
          <p:cNvPr id="13" name="Text 11"/>
          <p:cNvSpPr/>
          <p:nvPr/>
        </p:nvSpPr>
        <p:spPr>
          <a:xfrm>
            <a:off x="365760" y="2862072"/>
            <a:ext cx="3931920" cy="384048"/>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Cheap equity: ROE targets 20%+, capital perceived as abundant</a:t>
            </a:r>
            <a:endParaRPr lang="en-US" sz="1000" dirty="0"/>
          </a:p>
        </p:txBody>
      </p:sp>
      <p:sp>
        <p:nvSpPr>
          <p:cNvPr id="14" name="Shape 12"/>
          <p:cNvSpPr/>
          <p:nvPr/>
        </p:nvSpPr>
        <p:spPr>
          <a:xfrm>
            <a:off x="228600" y="3337560"/>
            <a:ext cx="36576" cy="274320"/>
          </a:xfrm>
          <a:prstGeom prst="rect">
            <a:avLst/>
          </a:prstGeom>
          <a:solidFill>
            <a:srgbClr val="C0392B"/>
          </a:solidFill>
          <a:ln w="12700">
            <a:solidFill>
              <a:srgbClr val="C0392B"/>
            </a:solidFill>
            <a:prstDash val="solid"/>
          </a:ln>
        </p:spPr>
      </p:sp>
      <p:sp>
        <p:nvSpPr>
          <p:cNvPr id="15" name="Text 13"/>
          <p:cNvSpPr/>
          <p:nvPr/>
        </p:nvSpPr>
        <p:spPr>
          <a:xfrm>
            <a:off x="365760" y="3364992"/>
            <a:ext cx="3931920" cy="384048"/>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Competition: banks priced on spread — charging KVA meant losing trades</a:t>
            </a:r>
            <a:endParaRPr lang="en-US" sz="1000" dirty="0"/>
          </a:p>
        </p:txBody>
      </p:sp>
      <p:sp>
        <p:nvSpPr>
          <p:cNvPr id="16" name="Text 14"/>
          <p:cNvSpPr/>
          <p:nvPr/>
        </p:nvSpPr>
        <p:spPr>
          <a:xfrm>
            <a:off x="4754880" y="2011680"/>
            <a:ext cx="4160520" cy="256032"/>
          </a:xfrm>
          <a:prstGeom prst="rect">
            <a:avLst/>
          </a:prstGeom>
          <a:noFill/>
          <a:ln/>
        </p:spPr>
        <p:txBody>
          <a:bodyPr wrap="square" rtlCol="0" anchor="ctr"/>
          <a:lstStyle/>
          <a:p>
            <a:pPr marL="0" indent="0">
              <a:buNone/>
            </a:pPr>
            <a:r>
              <a:rPr lang="en-US" sz="1300" b="1" dirty="0">
                <a:solidFill>
                  <a:srgbClr val="00A896"/>
                </a:solidFill>
                <a:latin typeface="Calibri" pitchFamily="34" charset="0"/>
                <a:ea typeface="Calibri" pitchFamily="34" charset="-122"/>
                <a:cs typeface="Calibri" pitchFamily="34" charset="-120"/>
              </a:rPr>
              <a:t>After Basel III</a:t>
            </a:r>
            <a:endParaRPr lang="en-US" sz="1300" dirty="0"/>
          </a:p>
        </p:txBody>
      </p:sp>
      <p:sp>
        <p:nvSpPr>
          <p:cNvPr id="17" name="Shape 15"/>
          <p:cNvSpPr/>
          <p:nvPr/>
        </p:nvSpPr>
        <p:spPr>
          <a:xfrm>
            <a:off x="4754880" y="2331720"/>
            <a:ext cx="36576" cy="274320"/>
          </a:xfrm>
          <a:prstGeom prst="rect">
            <a:avLst/>
          </a:prstGeom>
          <a:solidFill>
            <a:srgbClr val="00A896"/>
          </a:solidFill>
          <a:ln w="12700">
            <a:solidFill>
              <a:srgbClr val="00A896"/>
            </a:solidFill>
            <a:prstDash val="solid"/>
          </a:ln>
        </p:spPr>
      </p:sp>
      <p:sp>
        <p:nvSpPr>
          <p:cNvPr id="18" name="Text 16"/>
          <p:cNvSpPr/>
          <p:nvPr/>
        </p:nvSpPr>
        <p:spPr>
          <a:xfrm>
            <a:off x="4892040" y="2359152"/>
            <a:ext cx="3931920" cy="384048"/>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CET1_req 13%+ for G-SIBs: min + CCB + G-SIB surcharge + SCB</a:t>
            </a:r>
            <a:endParaRPr lang="en-US" sz="1000" dirty="0"/>
          </a:p>
        </p:txBody>
      </p:sp>
      <p:sp>
        <p:nvSpPr>
          <p:cNvPr id="19" name="Shape 17"/>
          <p:cNvSpPr/>
          <p:nvPr/>
        </p:nvSpPr>
        <p:spPr>
          <a:xfrm>
            <a:off x="4754880" y="2834640"/>
            <a:ext cx="36576" cy="274320"/>
          </a:xfrm>
          <a:prstGeom prst="rect">
            <a:avLst/>
          </a:prstGeom>
          <a:solidFill>
            <a:srgbClr val="00A896"/>
          </a:solidFill>
          <a:ln w="12700">
            <a:solidFill>
              <a:srgbClr val="00A896"/>
            </a:solidFill>
            <a:prstDash val="solid"/>
          </a:ln>
        </p:spPr>
      </p:sp>
      <p:sp>
        <p:nvSpPr>
          <p:cNvPr id="20" name="Text 18"/>
          <p:cNvSpPr/>
          <p:nvPr/>
        </p:nvSpPr>
        <p:spPr>
          <a:xfrm>
            <a:off x="4892040" y="2862072"/>
            <a:ext cx="3931920" cy="384048"/>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SA-CCR: higher, more stable RWA — less model optimisation</a:t>
            </a:r>
            <a:endParaRPr lang="en-US" sz="1000" dirty="0"/>
          </a:p>
        </p:txBody>
      </p:sp>
      <p:sp>
        <p:nvSpPr>
          <p:cNvPr id="21" name="Shape 19"/>
          <p:cNvSpPr/>
          <p:nvPr/>
        </p:nvSpPr>
        <p:spPr>
          <a:xfrm>
            <a:off x="4754880" y="3337560"/>
            <a:ext cx="36576" cy="274320"/>
          </a:xfrm>
          <a:prstGeom prst="rect">
            <a:avLst/>
          </a:prstGeom>
          <a:solidFill>
            <a:srgbClr val="00A896"/>
          </a:solidFill>
          <a:ln w="12700">
            <a:solidFill>
              <a:srgbClr val="00A896"/>
            </a:solidFill>
            <a:prstDash val="solid"/>
          </a:ln>
        </p:spPr>
      </p:sp>
      <p:sp>
        <p:nvSpPr>
          <p:cNvPr id="22" name="Text 20"/>
          <p:cNvSpPr/>
          <p:nvPr/>
        </p:nvSpPr>
        <p:spPr>
          <a:xfrm>
            <a:off x="4892040" y="3364992"/>
            <a:ext cx="3931920" cy="384048"/>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Capital now scarce: 12% hurdle on EUR 100M trade = EUR 156K/yr cost</a:t>
            </a:r>
            <a:endParaRPr lang="en-US" sz="1000" dirty="0"/>
          </a:p>
        </p:txBody>
      </p:sp>
      <p:sp>
        <p:nvSpPr>
          <p:cNvPr id="23" name="Shape 21"/>
          <p:cNvSpPr/>
          <p:nvPr/>
        </p:nvSpPr>
        <p:spPr>
          <a:xfrm>
            <a:off x="228600" y="4005072"/>
            <a:ext cx="8686800" cy="109728"/>
          </a:xfrm>
          <a:prstGeom prst="rect">
            <a:avLst/>
          </a:prstGeom>
          <a:solidFill>
            <a:srgbClr val="028090"/>
          </a:solidFill>
          <a:ln w="12700">
            <a:solidFill>
              <a:srgbClr val="028090"/>
            </a:solidFill>
            <a:prstDash val="solid"/>
          </a:ln>
        </p:spPr>
      </p:sp>
      <p:sp>
        <p:nvSpPr>
          <p:cNvPr id="24" name="Shape 22"/>
          <p:cNvSpPr/>
          <p:nvPr/>
        </p:nvSpPr>
        <p:spPr>
          <a:xfrm>
            <a:off x="228600" y="4187952"/>
            <a:ext cx="64008" cy="658368"/>
          </a:xfrm>
          <a:prstGeom prst="rect">
            <a:avLst/>
          </a:prstGeom>
          <a:solidFill>
            <a:srgbClr val="C8953A"/>
          </a:solidFill>
          <a:ln w="12700">
            <a:solidFill>
              <a:srgbClr val="C8953A"/>
            </a:solidFill>
            <a:prstDash val="solid"/>
          </a:ln>
        </p:spPr>
      </p:sp>
      <p:sp>
        <p:nvSpPr>
          <p:cNvPr id="25" name="Shape 23"/>
          <p:cNvSpPr/>
          <p:nvPr/>
        </p:nvSpPr>
        <p:spPr>
          <a:xfrm>
            <a:off x="292608" y="4187952"/>
            <a:ext cx="8622792" cy="658368"/>
          </a:xfrm>
          <a:prstGeom prst="rect">
            <a:avLst/>
          </a:prstGeom>
          <a:solidFill>
            <a:srgbClr val="E0F4F7"/>
          </a:solidFill>
          <a:ln w="12700">
            <a:solidFill>
              <a:srgbClr val="E0F4F7"/>
            </a:solidFill>
            <a:prstDash val="solid"/>
          </a:ln>
        </p:spPr>
      </p:sp>
      <p:sp>
        <p:nvSpPr>
          <p:cNvPr id="26" name="Text 24"/>
          <p:cNvSpPr/>
          <p:nvPr/>
        </p:nvSpPr>
        <p:spPr>
          <a:xfrm>
            <a:off x="365760" y="4233672"/>
            <a:ext cx="8458200" cy="201168"/>
          </a:xfrm>
          <a:prstGeom prst="rect">
            <a:avLst/>
          </a:prstGeom>
          <a:noFill/>
          <a:ln/>
        </p:spPr>
        <p:txBody>
          <a:bodyPr wrap="square" rtlCol="0" anchor="ctr"/>
          <a:lstStyle/>
          <a:p>
            <a:pPr marL="0" indent="0">
              <a:buNone/>
            </a:pPr>
            <a:r>
              <a:rPr lang="en-US" sz="900" b="1" dirty="0">
                <a:solidFill>
                  <a:srgbClr val="028090"/>
                </a:solidFill>
                <a:latin typeface="Calibri" pitchFamily="34" charset="0"/>
                <a:ea typeface="Calibri" pitchFamily="34" charset="-122"/>
                <a:cs typeface="Calibri" pitchFamily="34" charset="-120"/>
              </a:rPr>
              <a:t>WAREHOUSE ANALOGY</a:t>
            </a:r>
            <a:endParaRPr lang="en-US" sz="900" dirty="0"/>
          </a:p>
        </p:txBody>
      </p:sp>
      <p:sp>
        <p:nvSpPr>
          <p:cNvPr id="27" name="Text 25"/>
          <p:cNvSpPr/>
          <p:nvPr/>
        </p:nvSpPr>
        <p:spPr>
          <a:xfrm>
            <a:off x="365760" y="4434840"/>
            <a:ext cx="8458200" cy="338328"/>
          </a:xfrm>
          <a:prstGeom prst="rect">
            <a:avLst/>
          </a:prstGeom>
          <a:noFill/>
          <a:ln/>
        </p:spPr>
        <p:txBody>
          <a:bodyPr wrap="square" rtlCol="0" anchor="ctr"/>
          <a:lstStyle/>
          <a:p>
            <a:pPr marL="0" indent="0">
              <a:buNone/>
            </a:pPr>
            <a:r>
              <a:rPr lang="en-US" sz="1000" i="1" dirty="0">
                <a:solidFill>
                  <a:srgbClr val="1A1A2E"/>
                </a:solidFill>
                <a:latin typeface="Calibri" pitchFamily="34" charset="0"/>
                <a:ea typeface="Calibri" pitchFamily="34" charset="-122"/>
                <a:cs typeface="Calibri" pitchFamily="34" charset="-120"/>
              </a:rPr>
              <a:t>Each trade occupies warehouse space (capital). The rent rate is the hurdle. Total rent = space × rate × time. KVA is the present value of all future rent payments.</a:t>
            </a:r>
            <a:endParaRPr lang="en-US" sz="1000" dirty="0"/>
          </a:p>
        </p:txBody>
      </p:sp>
      <p:sp>
        <p:nvSpPr>
          <p:cNvPr id="28" name="Text 26"/>
          <p:cNvSpPr/>
          <p:nvPr/>
        </p:nvSpPr>
        <p:spPr>
          <a:xfrm>
            <a:off x="228600" y="4846320"/>
            <a:ext cx="7772400" cy="201168"/>
          </a:xfrm>
          <a:prstGeom prst="rect">
            <a:avLst/>
          </a:prstGeom>
          <a:noFill/>
          <a:ln/>
        </p:spPr>
        <p:txBody>
          <a:bodyPr wrap="square" rtlCol="0" anchor="ctr"/>
          <a:lstStyle/>
          <a:p>
            <a:pPr marL="0" indent="0">
              <a:buNone/>
            </a:pPr>
            <a:r>
              <a:rPr lang="en-US" sz="800" dirty="0">
                <a:solidFill>
                  <a:srgbClr val="8A9BB0"/>
                </a:solidFill>
                <a:latin typeface="Calibri" pitchFamily="34" charset="0"/>
                <a:ea typeface="Calibri" pitchFamily="34" charset="-122"/>
                <a:cs typeface="Calibri" pitchFamily="34" charset="-120"/>
              </a:rPr>
              <a:t>Module 6: KVA, ColVA &amp; Capital Costs  |  Sarthaka Nanda  |  © 2026  CC BY-NC 4.0</a:t>
            </a:r>
            <a:endParaRPr lang="en-US" sz="800" dirty="0"/>
          </a:p>
        </p:txBody>
      </p:sp>
      <p:sp>
        <p:nvSpPr>
          <p:cNvPr id="29" name="Text 27"/>
          <p:cNvSpPr/>
          <p:nvPr/>
        </p:nvSpPr>
        <p:spPr>
          <a:xfrm>
            <a:off x="8686800" y="4846320"/>
            <a:ext cx="365760" cy="201168"/>
          </a:xfrm>
          <a:prstGeom prst="rect">
            <a:avLst/>
          </a:prstGeom>
          <a:noFill/>
          <a:ln/>
        </p:spPr>
        <p:txBody>
          <a:bodyPr wrap="square" rtlCol="0" anchor="ctr"/>
          <a:lstStyle/>
          <a:p>
            <a:pPr marL="0" indent="0" algn="r">
              <a:buNone/>
            </a:pPr>
            <a:r>
              <a:rPr lang="en-US" sz="800" dirty="0">
                <a:solidFill>
                  <a:srgbClr val="8A9BB0"/>
                </a:solidFill>
                <a:latin typeface="Calibri" pitchFamily="34" charset="0"/>
                <a:ea typeface="Calibri" pitchFamily="34" charset="-122"/>
                <a:cs typeface="Calibri"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28090"/>
          </a:solidFill>
          <a:ln w="12700">
            <a:solidFill>
              <a:srgbClr val="028090"/>
            </a:solidFill>
            <a:prstDash val="solid"/>
          </a:ln>
        </p:spPr>
      </p:sp>
      <p:sp>
        <p:nvSpPr>
          <p:cNvPr id="3" name="Shape 1"/>
          <p:cNvSpPr/>
          <p:nvPr/>
        </p:nvSpPr>
        <p:spPr>
          <a:xfrm>
            <a:off x="228600" y="164592"/>
            <a:ext cx="2377440" cy="292608"/>
          </a:xfrm>
          <a:prstGeom prst="rect">
            <a:avLst/>
          </a:prstGeom>
          <a:solidFill>
            <a:srgbClr val="028090"/>
          </a:solidFill>
          <a:ln w="12700">
            <a:solidFill>
              <a:srgbClr val="028090"/>
            </a:solidFill>
            <a:prstDash val="solid"/>
          </a:ln>
        </p:spPr>
      </p:sp>
      <p:sp>
        <p:nvSpPr>
          <p:cNvPr id="4" name="Text 2"/>
          <p:cNvSpPr/>
          <p:nvPr/>
        </p:nvSpPr>
        <p:spPr>
          <a:xfrm>
            <a:off x="228600" y="164592"/>
            <a:ext cx="2377440" cy="292608"/>
          </a:xfrm>
          <a:prstGeom prst="rect">
            <a:avLst/>
          </a:prstGeom>
          <a:noFill/>
          <a:ln/>
        </p:spPr>
        <p:txBody>
          <a:bodyPr wrap="square" rtlCol="0" anchor="ctr"/>
          <a:lstStyle/>
          <a:p>
            <a:pPr marL="0" indent="0" algn="ctr">
              <a:buNone/>
            </a:pPr>
            <a:r>
              <a:rPr lang="en-US" sz="900" b="1" dirty="0">
                <a:solidFill>
                  <a:srgbClr val="FFFFFF"/>
                </a:solidFill>
              </a:rPr>
              <a:t>SECTION 5 — KVA: FORMULA</a:t>
            </a:r>
            <a:endParaRPr lang="en-US" sz="900" dirty="0"/>
          </a:p>
        </p:txBody>
      </p:sp>
      <p:sp>
        <p:nvSpPr>
          <p:cNvPr id="5" name="Text 3"/>
          <p:cNvSpPr/>
          <p:nvPr/>
        </p:nvSpPr>
        <p:spPr>
          <a:xfrm>
            <a:off x="228600" y="548640"/>
            <a:ext cx="8686800" cy="548640"/>
          </a:xfrm>
          <a:prstGeom prst="rect">
            <a:avLst/>
          </a:prstGeom>
          <a:noFill/>
          <a:ln/>
        </p:spPr>
        <p:txBody>
          <a:bodyPr wrap="square" rtlCol="0" anchor="ctr"/>
          <a:lstStyle/>
          <a:p>
            <a:pPr marL="0" indent="0">
              <a:buNone/>
            </a:pPr>
            <a:r>
              <a:rPr lang="en-US" sz="2600" b="1" dirty="0">
                <a:solidFill>
                  <a:srgbClr val="0D1B2A"/>
                </a:solidFill>
                <a:latin typeface="Calibri" pitchFamily="34" charset="0"/>
                <a:ea typeface="Calibri" pitchFamily="34" charset="-122"/>
                <a:cs typeface="Calibri" pitchFamily="34" charset="-120"/>
              </a:rPr>
              <a:t>KVA Formula — Term by Term</a:t>
            </a:r>
            <a:endParaRPr lang="en-US" sz="2600" dirty="0"/>
          </a:p>
        </p:txBody>
      </p:sp>
      <p:sp>
        <p:nvSpPr>
          <p:cNvPr id="6" name="Shape 4"/>
          <p:cNvSpPr/>
          <p:nvPr/>
        </p:nvSpPr>
        <p:spPr>
          <a:xfrm>
            <a:off x="228600" y="1234440"/>
            <a:ext cx="8686800" cy="658368"/>
          </a:xfrm>
          <a:prstGeom prst="rect">
            <a:avLst/>
          </a:prstGeom>
          <a:solidFill>
            <a:srgbClr val="1B2A4A"/>
          </a:solidFill>
          <a:ln w="12700">
            <a:solidFill>
              <a:srgbClr val="028090"/>
            </a:solidFill>
            <a:prstDash val="solid"/>
          </a:ln>
        </p:spPr>
      </p:sp>
      <p:sp>
        <p:nvSpPr>
          <p:cNvPr id="7" name="Text 5"/>
          <p:cNvSpPr/>
          <p:nvPr/>
        </p:nvSpPr>
        <p:spPr>
          <a:xfrm>
            <a:off x="320040" y="1234440"/>
            <a:ext cx="8503920" cy="658368"/>
          </a:xfrm>
          <a:prstGeom prst="rect">
            <a:avLst/>
          </a:prstGeom>
          <a:noFill/>
          <a:ln/>
        </p:spPr>
        <p:txBody>
          <a:bodyPr wrap="square"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KVA  =  h  ×  ∫₀ᵀ  E[K(t)]  ×  df(t)  dt</a:t>
            </a:r>
            <a:endParaRPr lang="en-US" sz="1200" dirty="0"/>
          </a:p>
        </p:txBody>
      </p:sp>
      <p:sp>
        <p:nvSpPr>
          <p:cNvPr id="8" name="Shape 6"/>
          <p:cNvSpPr/>
          <p:nvPr/>
        </p:nvSpPr>
        <p:spPr>
          <a:xfrm>
            <a:off x="228600" y="2057400"/>
            <a:ext cx="4160520" cy="1143000"/>
          </a:xfrm>
          <a:prstGeom prst="rect">
            <a:avLst/>
          </a:prstGeom>
          <a:solidFill>
            <a:srgbClr val="E0F4F7"/>
          </a:solidFill>
          <a:ln w="12700">
            <a:solidFill>
              <a:srgbClr val="C8953A"/>
            </a:solidFill>
            <a:prstDash val="solid"/>
          </a:ln>
        </p:spPr>
      </p:sp>
      <p:sp>
        <p:nvSpPr>
          <p:cNvPr id="9" name="Shape 7"/>
          <p:cNvSpPr/>
          <p:nvPr/>
        </p:nvSpPr>
        <p:spPr>
          <a:xfrm>
            <a:off x="228600" y="2057400"/>
            <a:ext cx="914400" cy="1143000"/>
          </a:xfrm>
          <a:prstGeom prst="rect">
            <a:avLst/>
          </a:prstGeom>
          <a:solidFill>
            <a:srgbClr val="1B2A4A"/>
          </a:solidFill>
          <a:ln w="12700">
            <a:solidFill>
              <a:srgbClr val="1B2A4A"/>
            </a:solidFill>
            <a:prstDash val="solid"/>
          </a:ln>
        </p:spPr>
      </p:sp>
      <p:sp>
        <p:nvSpPr>
          <p:cNvPr id="10" name="Text 8"/>
          <p:cNvSpPr/>
          <p:nvPr/>
        </p:nvSpPr>
        <p:spPr>
          <a:xfrm>
            <a:off x="228600" y="2404872"/>
            <a:ext cx="914400" cy="457200"/>
          </a:xfrm>
          <a:prstGeom prst="rect">
            <a:avLst/>
          </a:prstGeom>
          <a:noFill/>
          <a:ln/>
        </p:spPr>
        <p:txBody>
          <a:bodyPr wrap="square" rtlCol="0" anchor="ctr"/>
          <a:lstStyle/>
          <a:p>
            <a:pPr marL="0" indent="0" algn="ctr">
              <a:buNone/>
            </a:pPr>
            <a:r>
              <a:rPr lang="en-US" sz="1300" b="1" dirty="0">
                <a:solidFill>
                  <a:srgbClr val="C8953A"/>
                </a:solidFill>
                <a:latin typeface="Courier New" pitchFamily="34" charset="0"/>
                <a:ea typeface="Courier New" pitchFamily="34" charset="-122"/>
                <a:cs typeface="Courier New" pitchFamily="34" charset="-120"/>
              </a:rPr>
              <a:t>h</a:t>
            </a:r>
            <a:endParaRPr lang="en-US" sz="1300" dirty="0"/>
          </a:p>
        </p:txBody>
      </p:sp>
      <p:sp>
        <p:nvSpPr>
          <p:cNvPr id="11" name="Text 9"/>
          <p:cNvSpPr/>
          <p:nvPr/>
        </p:nvSpPr>
        <p:spPr>
          <a:xfrm>
            <a:off x="1234440" y="2103120"/>
            <a:ext cx="3063240" cy="256032"/>
          </a:xfrm>
          <a:prstGeom prst="rect">
            <a:avLst/>
          </a:prstGeom>
          <a:noFill/>
          <a:ln/>
        </p:spPr>
        <p:txBody>
          <a:bodyPr wrap="square"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Hurdle Rate</a:t>
            </a:r>
            <a:endParaRPr lang="en-US" sz="1200" dirty="0"/>
          </a:p>
        </p:txBody>
      </p:sp>
      <p:sp>
        <p:nvSpPr>
          <p:cNvPr id="12" name="Text 10"/>
          <p:cNvSpPr/>
          <p:nvPr/>
        </p:nvSpPr>
        <p:spPr>
          <a:xfrm>
            <a:off x="1234440" y="2377440"/>
            <a:ext cx="3063240" cy="749808"/>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Required annual return on equity. Typically 10–15% for G-SIBs. Set by the board. The 'rent rate' per unit of capital.</a:t>
            </a:r>
            <a:endParaRPr lang="en-US" sz="1000" dirty="0"/>
          </a:p>
        </p:txBody>
      </p:sp>
      <p:sp>
        <p:nvSpPr>
          <p:cNvPr id="13" name="Shape 11"/>
          <p:cNvSpPr/>
          <p:nvPr/>
        </p:nvSpPr>
        <p:spPr>
          <a:xfrm>
            <a:off x="4663440" y="2057400"/>
            <a:ext cx="4160520" cy="1143000"/>
          </a:xfrm>
          <a:prstGeom prst="rect">
            <a:avLst/>
          </a:prstGeom>
          <a:solidFill>
            <a:srgbClr val="E0F4F7"/>
          </a:solidFill>
          <a:ln w="12700">
            <a:solidFill>
              <a:srgbClr val="028090"/>
            </a:solidFill>
            <a:prstDash val="solid"/>
          </a:ln>
        </p:spPr>
      </p:sp>
      <p:sp>
        <p:nvSpPr>
          <p:cNvPr id="14" name="Shape 12"/>
          <p:cNvSpPr/>
          <p:nvPr/>
        </p:nvSpPr>
        <p:spPr>
          <a:xfrm>
            <a:off x="4663440" y="2057400"/>
            <a:ext cx="914400" cy="1143000"/>
          </a:xfrm>
          <a:prstGeom prst="rect">
            <a:avLst/>
          </a:prstGeom>
          <a:solidFill>
            <a:srgbClr val="1B2A4A"/>
          </a:solidFill>
          <a:ln w="12700">
            <a:solidFill>
              <a:srgbClr val="1B2A4A"/>
            </a:solidFill>
            <a:prstDash val="solid"/>
          </a:ln>
        </p:spPr>
      </p:sp>
      <p:sp>
        <p:nvSpPr>
          <p:cNvPr id="15" name="Text 13"/>
          <p:cNvSpPr/>
          <p:nvPr/>
        </p:nvSpPr>
        <p:spPr>
          <a:xfrm>
            <a:off x="4663440" y="2404872"/>
            <a:ext cx="914400" cy="457200"/>
          </a:xfrm>
          <a:prstGeom prst="rect">
            <a:avLst/>
          </a:prstGeom>
          <a:noFill/>
          <a:ln/>
        </p:spPr>
        <p:txBody>
          <a:bodyPr wrap="square" rtlCol="0" anchor="ctr"/>
          <a:lstStyle/>
          <a:p>
            <a:pPr marL="0" indent="0" algn="ctr">
              <a:buNone/>
            </a:pPr>
            <a:r>
              <a:rPr lang="en-US" sz="1300" b="1" dirty="0">
                <a:solidFill>
                  <a:srgbClr val="028090"/>
                </a:solidFill>
                <a:latin typeface="Courier New" pitchFamily="34" charset="0"/>
                <a:ea typeface="Courier New" pitchFamily="34" charset="-122"/>
                <a:cs typeface="Courier New" pitchFamily="34" charset="-120"/>
              </a:rPr>
              <a:t>E[K(t)]</a:t>
            </a:r>
            <a:endParaRPr lang="en-US" sz="1300" dirty="0"/>
          </a:p>
        </p:txBody>
      </p:sp>
      <p:sp>
        <p:nvSpPr>
          <p:cNvPr id="16" name="Text 14"/>
          <p:cNvSpPr/>
          <p:nvPr/>
        </p:nvSpPr>
        <p:spPr>
          <a:xfrm>
            <a:off x="5669280" y="2103120"/>
            <a:ext cx="3063240" cy="256032"/>
          </a:xfrm>
          <a:prstGeom prst="rect">
            <a:avLst/>
          </a:prstGeom>
          <a:noFill/>
          <a:ln/>
        </p:spPr>
        <p:txBody>
          <a:bodyPr wrap="square"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Expected Capital</a:t>
            </a:r>
            <a:endParaRPr lang="en-US" sz="1200" dirty="0"/>
          </a:p>
        </p:txBody>
      </p:sp>
      <p:sp>
        <p:nvSpPr>
          <p:cNvPr id="17" name="Text 15"/>
          <p:cNvSpPr/>
          <p:nvPr/>
        </p:nvSpPr>
        <p:spPr>
          <a:xfrm>
            <a:off x="5669280" y="2377440"/>
            <a:ext cx="3063240" cy="749808"/>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Average regulatory capital consumed by the trade at each future date. E[K(t)] = E[RWA(t)] × CET1_req. Follows the EPE profile.</a:t>
            </a:r>
            <a:endParaRPr lang="en-US" sz="1000" dirty="0"/>
          </a:p>
        </p:txBody>
      </p:sp>
      <p:sp>
        <p:nvSpPr>
          <p:cNvPr id="18" name="Shape 16"/>
          <p:cNvSpPr/>
          <p:nvPr/>
        </p:nvSpPr>
        <p:spPr>
          <a:xfrm>
            <a:off x="228600" y="3383280"/>
            <a:ext cx="4160520" cy="1143000"/>
          </a:xfrm>
          <a:prstGeom prst="rect">
            <a:avLst/>
          </a:prstGeom>
          <a:solidFill>
            <a:srgbClr val="E0F4F7"/>
          </a:solidFill>
          <a:ln w="12700">
            <a:solidFill>
              <a:srgbClr val="00A896"/>
            </a:solidFill>
            <a:prstDash val="solid"/>
          </a:ln>
        </p:spPr>
      </p:sp>
      <p:sp>
        <p:nvSpPr>
          <p:cNvPr id="19" name="Shape 17"/>
          <p:cNvSpPr/>
          <p:nvPr/>
        </p:nvSpPr>
        <p:spPr>
          <a:xfrm>
            <a:off x="228600" y="3383280"/>
            <a:ext cx="914400" cy="1143000"/>
          </a:xfrm>
          <a:prstGeom prst="rect">
            <a:avLst/>
          </a:prstGeom>
          <a:solidFill>
            <a:srgbClr val="1B2A4A"/>
          </a:solidFill>
          <a:ln w="12700">
            <a:solidFill>
              <a:srgbClr val="1B2A4A"/>
            </a:solidFill>
            <a:prstDash val="solid"/>
          </a:ln>
        </p:spPr>
      </p:sp>
      <p:sp>
        <p:nvSpPr>
          <p:cNvPr id="20" name="Text 18"/>
          <p:cNvSpPr/>
          <p:nvPr/>
        </p:nvSpPr>
        <p:spPr>
          <a:xfrm>
            <a:off x="228600" y="3730752"/>
            <a:ext cx="914400" cy="457200"/>
          </a:xfrm>
          <a:prstGeom prst="rect">
            <a:avLst/>
          </a:prstGeom>
          <a:noFill/>
          <a:ln/>
        </p:spPr>
        <p:txBody>
          <a:bodyPr wrap="square" rtlCol="0" anchor="ctr"/>
          <a:lstStyle/>
          <a:p>
            <a:pPr marL="0" indent="0" algn="ctr">
              <a:buNone/>
            </a:pPr>
            <a:r>
              <a:rPr lang="en-US" sz="1300" b="1" dirty="0">
                <a:solidFill>
                  <a:srgbClr val="00A896"/>
                </a:solidFill>
                <a:latin typeface="Courier New" pitchFamily="34" charset="0"/>
                <a:ea typeface="Courier New" pitchFamily="34" charset="-122"/>
                <a:cs typeface="Courier New" pitchFamily="34" charset="-120"/>
              </a:rPr>
              <a:t>df(t)</a:t>
            </a:r>
            <a:endParaRPr lang="en-US" sz="1300" dirty="0"/>
          </a:p>
        </p:txBody>
      </p:sp>
      <p:sp>
        <p:nvSpPr>
          <p:cNvPr id="21" name="Text 19"/>
          <p:cNvSpPr/>
          <p:nvPr/>
        </p:nvSpPr>
        <p:spPr>
          <a:xfrm>
            <a:off x="1234440" y="3429000"/>
            <a:ext cx="3063240" cy="256032"/>
          </a:xfrm>
          <a:prstGeom prst="rect">
            <a:avLst/>
          </a:prstGeom>
          <a:noFill/>
          <a:ln/>
        </p:spPr>
        <p:txBody>
          <a:bodyPr wrap="square"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Discount Factor</a:t>
            </a:r>
            <a:endParaRPr lang="en-US" sz="1200" dirty="0"/>
          </a:p>
        </p:txBody>
      </p:sp>
      <p:sp>
        <p:nvSpPr>
          <p:cNvPr id="22" name="Text 20"/>
          <p:cNvSpPr/>
          <p:nvPr/>
        </p:nvSpPr>
        <p:spPr>
          <a:xfrm>
            <a:off x="1234440" y="3703320"/>
            <a:ext cx="3063240" cy="749808"/>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Converts future capital costs to present value. Future rent payments are worth less today — standard time value of money.</a:t>
            </a:r>
            <a:endParaRPr lang="en-US" sz="1000" dirty="0"/>
          </a:p>
        </p:txBody>
      </p:sp>
      <p:sp>
        <p:nvSpPr>
          <p:cNvPr id="23" name="Shape 21"/>
          <p:cNvSpPr/>
          <p:nvPr/>
        </p:nvSpPr>
        <p:spPr>
          <a:xfrm>
            <a:off x="4663440" y="3383280"/>
            <a:ext cx="4160520" cy="1143000"/>
          </a:xfrm>
          <a:prstGeom prst="rect">
            <a:avLst/>
          </a:prstGeom>
          <a:solidFill>
            <a:srgbClr val="E0F4F7"/>
          </a:solidFill>
          <a:ln w="12700">
            <a:solidFill>
              <a:srgbClr val="8A9BB0"/>
            </a:solidFill>
            <a:prstDash val="solid"/>
          </a:ln>
        </p:spPr>
      </p:sp>
      <p:sp>
        <p:nvSpPr>
          <p:cNvPr id="24" name="Shape 22"/>
          <p:cNvSpPr/>
          <p:nvPr/>
        </p:nvSpPr>
        <p:spPr>
          <a:xfrm>
            <a:off x="4663440" y="3383280"/>
            <a:ext cx="914400" cy="1143000"/>
          </a:xfrm>
          <a:prstGeom prst="rect">
            <a:avLst/>
          </a:prstGeom>
          <a:solidFill>
            <a:srgbClr val="1B2A4A"/>
          </a:solidFill>
          <a:ln w="12700">
            <a:solidFill>
              <a:srgbClr val="1B2A4A"/>
            </a:solidFill>
            <a:prstDash val="solid"/>
          </a:ln>
        </p:spPr>
      </p:sp>
      <p:sp>
        <p:nvSpPr>
          <p:cNvPr id="25" name="Text 23"/>
          <p:cNvSpPr/>
          <p:nvPr/>
        </p:nvSpPr>
        <p:spPr>
          <a:xfrm>
            <a:off x="4663440" y="3730752"/>
            <a:ext cx="914400" cy="457200"/>
          </a:xfrm>
          <a:prstGeom prst="rect">
            <a:avLst/>
          </a:prstGeom>
          <a:noFill/>
          <a:ln/>
        </p:spPr>
        <p:txBody>
          <a:bodyPr wrap="square" rtlCol="0" anchor="ctr"/>
          <a:lstStyle/>
          <a:p>
            <a:pPr marL="0" indent="0" algn="ctr">
              <a:buNone/>
            </a:pPr>
            <a:r>
              <a:rPr lang="en-US" sz="1300" b="1" dirty="0">
                <a:solidFill>
                  <a:srgbClr val="8A9BB0"/>
                </a:solidFill>
                <a:latin typeface="Courier New" pitchFamily="34" charset="0"/>
                <a:ea typeface="Courier New" pitchFamily="34" charset="-122"/>
                <a:cs typeface="Courier New" pitchFamily="34" charset="-120"/>
              </a:rPr>
              <a:t>∫₀ᵀ...dt</a:t>
            </a:r>
            <a:endParaRPr lang="en-US" sz="1300" dirty="0"/>
          </a:p>
        </p:txBody>
      </p:sp>
      <p:sp>
        <p:nvSpPr>
          <p:cNvPr id="26" name="Text 24"/>
          <p:cNvSpPr/>
          <p:nvPr/>
        </p:nvSpPr>
        <p:spPr>
          <a:xfrm>
            <a:off x="5669280" y="3429000"/>
            <a:ext cx="3063240" cy="256032"/>
          </a:xfrm>
          <a:prstGeom prst="rect">
            <a:avLst/>
          </a:prstGeom>
          <a:noFill/>
          <a:ln/>
        </p:spPr>
        <p:txBody>
          <a:bodyPr wrap="square"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Integration</a:t>
            </a:r>
            <a:endParaRPr lang="en-US" sz="1200" dirty="0"/>
          </a:p>
        </p:txBody>
      </p:sp>
      <p:sp>
        <p:nvSpPr>
          <p:cNvPr id="27" name="Text 25"/>
          <p:cNvSpPr/>
          <p:nvPr/>
        </p:nvSpPr>
        <p:spPr>
          <a:xfrm>
            <a:off x="5669280" y="3703320"/>
            <a:ext cx="3063240" cy="749808"/>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Sum all future capital costs across the trade's entire life. Captures the full time profile — not just today's capital charge.</a:t>
            </a:r>
            <a:endParaRPr lang="en-US" sz="1000" dirty="0"/>
          </a:p>
        </p:txBody>
      </p:sp>
      <p:sp>
        <p:nvSpPr>
          <p:cNvPr id="28" name="Text 26"/>
          <p:cNvSpPr/>
          <p:nvPr/>
        </p:nvSpPr>
        <p:spPr>
          <a:xfrm>
            <a:off x="228600" y="4846320"/>
            <a:ext cx="7772400" cy="201168"/>
          </a:xfrm>
          <a:prstGeom prst="rect">
            <a:avLst/>
          </a:prstGeom>
          <a:noFill/>
          <a:ln/>
        </p:spPr>
        <p:txBody>
          <a:bodyPr wrap="square" rtlCol="0" anchor="ctr"/>
          <a:lstStyle/>
          <a:p>
            <a:pPr marL="0" indent="0">
              <a:buNone/>
            </a:pPr>
            <a:r>
              <a:rPr lang="en-US" sz="800" dirty="0">
                <a:solidFill>
                  <a:srgbClr val="8A9BB0"/>
                </a:solidFill>
                <a:latin typeface="Calibri" pitchFamily="34" charset="0"/>
                <a:ea typeface="Calibri" pitchFamily="34" charset="-122"/>
                <a:cs typeface="Calibri" pitchFamily="34" charset="-120"/>
              </a:rPr>
              <a:t>Module 6: KVA, ColVA &amp; Capital Costs  |  Sarthaka Nanda  |  © 2026  CC BY-NC 4.0</a:t>
            </a:r>
            <a:endParaRPr lang="en-US" sz="800" dirty="0"/>
          </a:p>
        </p:txBody>
      </p:sp>
      <p:sp>
        <p:nvSpPr>
          <p:cNvPr id="29" name="Text 27"/>
          <p:cNvSpPr/>
          <p:nvPr/>
        </p:nvSpPr>
        <p:spPr>
          <a:xfrm>
            <a:off x="8686800" y="4846320"/>
            <a:ext cx="365760" cy="201168"/>
          </a:xfrm>
          <a:prstGeom prst="rect">
            <a:avLst/>
          </a:prstGeom>
          <a:noFill/>
          <a:ln/>
        </p:spPr>
        <p:txBody>
          <a:bodyPr wrap="square" rtlCol="0" anchor="ctr"/>
          <a:lstStyle/>
          <a:p>
            <a:pPr marL="0" indent="0" algn="r">
              <a:buNone/>
            </a:pPr>
            <a:r>
              <a:rPr lang="en-US" sz="800" dirty="0">
                <a:solidFill>
                  <a:srgbClr val="8A9BB0"/>
                </a:solidFill>
                <a:latin typeface="Calibri" pitchFamily="34" charset="0"/>
                <a:ea typeface="Calibri" pitchFamily="34" charset="-122"/>
                <a:cs typeface="Calibri"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28090"/>
          </a:solidFill>
          <a:ln w="12700">
            <a:solidFill>
              <a:srgbClr val="028090"/>
            </a:solidFill>
            <a:prstDash val="solid"/>
          </a:ln>
        </p:spPr>
      </p:sp>
      <p:sp>
        <p:nvSpPr>
          <p:cNvPr id="3" name="Shape 1"/>
          <p:cNvSpPr/>
          <p:nvPr/>
        </p:nvSpPr>
        <p:spPr>
          <a:xfrm>
            <a:off x="228600" y="164592"/>
            <a:ext cx="2377440" cy="292608"/>
          </a:xfrm>
          <a:prstGeom prst="rect">
            <a:avLst/>
          </a:prstGeom>
          <a:solidFill>
            <a:srgbClr val="028090"/>
          </a:solidFill>
          <a:ln w="12700">
            <a:solidFill>
              <a:srgbClr val="028090"/>
            </a:solidFill>
            <a:prstDash val="solid"/>
          </a:ln>
        </p:spPr>
      </p:sp>
      <p:sp>
        <p:nvSpPr>
          <p:cNvPr id="4" name="Text 2"/>
          <p:cNvSpPr/>
          <p:nvPr/>
        </p:nvSpPr>
        <p:spPr>
          <a:xfrm>
            <a:off x="228600" y="164592"/>
            <a:ext cx="2377440" cy="292608"/>
          </a:xfrm>
          <a:prstGeom prst="rect">
            <a:avLst/>
          </a:prstGeom>
          <a:noFill/>
          <a:ln/>
        </p:spPr>
        <p:txBody>
          <a:bodyPr wrap="square" rtlCol="0" anchor="ctr"/>
          <a:lstStyle/>
          <a:p>
            <a:pPr marL="0" indent="0" algn="ctr">
              <a:buNone/>
            </a:pPr>
            <a:r>
              <a:rPr lang="en-US" sz="900" b="1" dirty="0">
                <a:solidFill>
                  <a:srgbClr val="FFFFFF"/>
                </a:solidFill>
              </a:rPr>
              <a:t>SECTION 6 — G-SIB SURCHARGE</a:t>
            </a:r>
            <a:endParaRPr lang="en-US" sz="900" dirty="0"/>
          </a:p>
        </p:txBody>
      </p:sp>
      <p:sp>
        <p:nvSpPr>
          <p:cNvPr id="5" name="Text 3"/>
          <p:cNvSpPr/>
          <p:nvPr/>
        </p:nvSpPr>
        <p:spPr>
          <a:xfrm>
            <a:off x="228600" y="548640"/>
            <a:ext cx="8686800" cy="548640"/>
          </a:xfrm>
          <a:prstGeom prst="rect">
            <a:avLst/>
          </a:prstGeom>
          <a:noFill/>
          <a:ln/>
        </p:spPr>
        <p:txBody>
          <a:bodyPr wrap="square" rtlCol="0" anchor="ctr"/>
          <a:lstStyle/>
          <a:p>
            <a:pPr marL="0" indent="0">
              <a:buNone/>
            </a:pPr>
            <a:r>
              <a:rPr lang="en-US" sz="2600" b="1" dirty="0">
                <a:solidFill>
                  <a:srgbClr val="0D1B2A"/>
                </a:solidFill>
                <a:latin typeface="Calibri" pitchFamily="34" charset="0"/>
                <a:ea typeface="Calibri" pitchFamily="34" charset="-122"/>
                <a:cs typeface="Calibri" pitchFamily="34" charset="-120"/>
              </a:rPr>
              <a:t>G-SIB Surcharge — Structure &amp; KVA Impact</a:t>
            </a:r>
            <a:endParaRPr lang="en-US" sz="2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228600" y="1234440"/>
          <a:ext cx="7680960" cy="2560320"/>
        </p:xfrm>
        <a:graphic>
          <a:graphicData uri="http://schemas.openxmlformats.org/drawingml/2006/table">
            <a:tbl>
              <a:tblPr/>
              <a:tblGrid>
                <a:gridCol w="8229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426720">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Bucket</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CET1 Surcharge</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Representative Banks (2025)</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KVA vs Non-G-SIB</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426720">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StanChart, UniCredit, Barclays, BNP, Deutsche</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+14%</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6720">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6F8"/>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1.5%</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6F8"/>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BofA, Goldman, Morgan Stanley, UBS, Crédit Agricole</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6F8"/>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+21%</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6F8"/>
                    </a:solidFill>
                  </a:tcPr>
                </a:tc>
                <a:extLst>
                  <a:ext uri="{0D108BD9-81ED-4DB2-BD59-A6C34878D82A}">
                    <a16:rowId xmlns:a16="http://schemas.microsoft.com/office/drawing/2014/main" val="10002"/>
                  </a:ext>
                </a:extLst>
              </a:tr>
              <a:tr h="426720">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2.0%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Citi, HSBC</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+29%</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6720">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6F8"/>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2.5%</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6F8"/>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JPMorgan Chase</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6F8"/>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+36%</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6F8"/>
                    </a:solidFill>
                  </a:tcPr>
                </a:tc>
                <a:extLst>
                  <a:ext uri="{0D108BD9-81ED-4DB2-BD59-A6C34878D82A}">
                    <a16:rowId xmlns:a16="http://schemas.microsoft.com/office/drawing/2014/main" val="10004"/>
                  </a:ext>
                </a:extLst>
              </a:tr>
              <a:tr h="426720">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5 (vacant)</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3.5%</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Deterrent buffer — no bank currently assigned</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N/A</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Shape 4"/>
          <p:cNvSpPr/>
          <p:nvPr/>
        </p:nvSpPr>
        <p:spPr>
          <a:xfrm>
            <a:off x="228600" y="3886200"/>
            <a:ext cx="2011680" cy="1005840"/>
          </a:xfrm>
          <a:prstGeom prst="rect">
            <a:avLst/>
          </a:prstGeom>
          <a:solidFill>
            <a:srgbClr val="1B2A4A"/>
          </a:solidFill>
          <a:ln w="12700">
            <a:solidFill>
              <a:srgbClr val="1B2A4A"/>
            </a:solidFill>
            <a:prstDash val="solid"/>
          </a:ln>
        </p:spPr>
      </p:sp>
      <p:sp>
        <p:nvSpPr>
          <p:cNvPr id="8" name="Text 5"/>
          <p:cNvSpPr/>
          <p:nvPr/>
        </p:nvSpPr>
        <p:spPr>
          <a:xfrm>
            <a:off x="228600" y="3959352"/>
            <a:ext cx="2011680" cy="475488"/>
          </a:xfrm>
          <a:prstGeom prst="rect">
            <a:avLst/>
          </a:prstGeom>
          <a:noFill/>
          <a:ln/>
        </p:spPr>
        <p:txBody>
          <a:bodyPr wrap="square" rtlCol="0" anchor="ctr"/>
          <a:lstStyle/>
          <a:p>
            <a:pPr marL="0" indent="0" algn="ctr">
              <a:buNone/>
            </a:pPr>
            <a:r>
              <a:rPr lang="en-US" sz="2800" b="1" dirty="0">
                <a:solidFill>
                  <a:srgbClr val="C8953A"/>
                </a:solidFill>
                <a:latin typeface="Calibri" pitchFamily="34" charset="0"/>
                <a:ea typeface="Calibri" pitchFamily="34" charset="-122"/>
                <a:cs typeface="Calibri" pitchFamily="34" charset="-120"/>
              </a:rPr>
              <a:t>EUR 182K</a:t>
            </a:r>
            <a:endParaRPr lang="en-US" sz="2800" dirty="0"/>
          </a:p>
        </p:txBody>
      </p:sp>
      <p:sp>
        <p:nvSpPr>
          <p:cNvPr id="9" name="Text 6"/>
          <p:cNvSpPr/>
          <p:nvPr/>
        </p:nvSpPr>
        <p:spPr>
          <a:xfrm>
            <a:off x="228600" y="4434840"/>
            <a:ext cx="2011680" cy="320040"/>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Non-G-SIB</a:t>
            </a:r>
            <a:endParaRPr lang="en-US" sz="900" dirty="0"/>
          </a:p>
          <a:p>
            <a:pPr marL="0" indent="0" algn="ctr">
              <a:buNone/>
            </a:pPr>
            <a:r>
              <a:rPr lang="en-US" sz="900" dirty="0">
                <a:solidFill>
                  <a:srgbClr val="FFFFFF"/>
                </a:solidFill>
                <a:latin typeface="Calibri" pitchFamily="34" charset="0"/>
                <a:ea typeface="Calibri" pitchFamily="34" charset="-122"/>
                <a:cs typeface="Calibri" pitchFamily="34" charset="-120"/>
              </a:rPr>
              <a:t>baseline</a:t>
            </a:r>
            <a:endParaRPr lang="en-US" sz="900" dirty="0"/>
          </a:p>
        </p:txBody>
      </p:sp>
      <p:sp>
        <p:nvSpPr>
          <p:cNvPr id="10" name="Shape 7"/>
          <p:cNvSpPr/>
          <p:nvPr/>
        </p:nvSpPr>
        <p:spPr>
          <a:xfrm>
            <a:off x="2441448" y="3886200"/>
            <a:ext cx="2011680" cy="1005840"/>
          </a:xfrm>
          <a:prstGeom prst="rect">
            <a:avLst/>
          </a:prstGeom>
          <a:solidFill>
            <a:srgbClr val="028090"/>
          </a:solidFill>
          <a:ln w="12700">
            <a:solidFill>
              <a:srgbClr val="028090"/>
            </a:solidFill>
            <a:prstDash val="solid"/>
          </a:ln>
        </p:spPr>
      </p:sp>
      <p:sp>
        <p:nvSpPr>
          <p:cNvPr id="6" name="Text 8"/>
          <p:cNvSpPr/>
          <p:nvPr/>
        </p:nvSpPr>
        <p:spPr>
          <a:xfrm>
            <a:off x="2441448" y="3959352"/>
            <a:ext cx="2011680" cy="475488"/>
          </a:xfrm>
          <a:prstGeom prst="rect">
            <a:avLst/>
          </a:prstGeom>
          <a:noFill/>
          <a:ln/>
        </p:spPr>
        <p:txBody>
          <a:bodyPr wrap="square" rtlCol="0" anchor="ctr"/>
          <a:lstStyle/>
          <a:p>
            <a:pPr marL="0" indent="0" algn="ctr">
              <a:buNone/>
            </a:pPr>
            <a:r>
              <a:rPr lang="en-US" sz="2800" b="1" dirty="0">
                <a:solidFill>
                  <a:srgbClr val="C8953A"/>
                </a:solidFill>
                <a:latin typeface="Calibri" pitchFamily="34" charset="0"/>
                <a:ea typeface="Calibri" pitchFamily="34" charset="-122"/>
                <a:cs typeface="Calibri" pitchFamily="34" charset="-120"/>
              </a:rPr>
              <a:t>EUR 208K</a:t>
            </a:r>
            <a:endParaRPr lang="en-US" sz="2800" dirty="0"/>
          </a:p>
        </p:txBody>
      </p:sp>
      <p:sp>
        <p:nvSpPr>
          <p:cNvPr id="12" name="Text 9"/>
          <p:cNvSpPr/>
          <p:nvPr/>
        </p:nvSpPr>
        <p:spPr>
          <a:xfrm>
            <a:off x="2441448" y="4434840"/>
            <a:ext cx="2011680" cy="320040"/>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G-SIB Bucket 1</a:t>
            </a:r>
            <a:endParaRPr lang="en-US" sz="900" dirty="0"/>
          </a:p>
          <a:p>
            <a:pPr marL="0" indent="0" algn="ctr">
              <a:buNone/>
            </a:pPr>
            <a:r>
              <a:rPr lang="en-US" sz="900" dirty="0">
                <a:solidFill>
                  <a:srgbClr val="FFFFFF"/>
                </a:solidFill>
                <a:latin typeface="Calibri" pitchFamily="34" charset="0"/>
                <a:ea typeface="Calibri" pitchFamily="34" charset="-122"/>
                <a:cs typeface="Calibri" pitchFamily="34" charset="-120"/>
              </a:rPr>
              <a:t>+14%</a:t>
            </a:r>
            <a:endParaRPr lang="en-US" sz="900" dirty="0"/>
          </a:p>
        </p:txBody>
      </p:sp>
      <p:sp>
        <p:nvSpPr>
          <p:cNvPr id="13" name="Shape 10"/>
          <p:cNvSpPr/>
          <p:nvPr/>
        </p:nvSpPr>
        <p:spPr>
          <a:xfrm>
            <a:off x="4654296" y="3886200"/>
            <a:ext cx="2011680" cy="1005840"/>
          </a:xfrm>
          <a:prstGeom prst="rect">
            <a:avLst/>
          </a:prstGeom>
          <a:solidFill>
            <a:srgbClr val="C8953A"/>
          </a:solidFill>
          <a:ln w="12700">
            <a:solidFill>
              <a:srgbClr val="C8953A"/>
            </a:solidFill>
            <a:prstDash val="solid"/>
          </a:ln>
        </p:spPr>
      </p:sp>
      <p:sp>
        <p:nvSpPr>
          <p:cNvPr id="14" name="Text 11"/>
          <p:cNvSpPr/>
          <p:nvPr/>
        </p:nvSpPr>
        <p:spPr>
          <a:xfrm>
            <a:off x="4654296" y="3959352"/>
            <a:ext cx="2011680" cy="475488"/>
          </a:xfrm>
          <a:prstGeom prst="rect">
            <a:avLst/>
          </a:prstGeom>
          <a:noFill/>
          <a:ln/>
        </p:spPr>
        <p:txBody>
          <a:bodyPr wrap="square" rtlCol="0" anchor="ctr"/>
          <a:lstStyle/>
          <a:p>
            <a:pPr marL="0" indent="0" algn="ctr">
              <a:buNone/>
            </a:pPr>
            <a:r>
              <a:rPr lang="en-US" sz="2800" b="1" dirty="0">
                <a:solidFill>
                  <a:srgbClr val="C8953A"/>
                </a:solidFill>
                <a:latin typeface="Calibri" pitchFamily="34" charset="0"/>
                <a:ea typeface="Calibri" pitchFamily="34" charset="-122"/>
                <a:cs typeface="Calibri" pitchFamily="34" charset="-120"/>
              </a:rPr>
              <a:t>EUR 221K</a:t>
            </a:r>
            <a:endParaRPr lang="en-US" sz="2800" dirty="0"/>
          </a:p>
        </p:txBody>
      </p:sp>
      <p:sp>
        <p:nvSpPr>
          <p:cNvPr id="15" name="Text 12"/>
          <p:cNvSpPr/>
          <p:nvPr/>
        </p:nvSpPr>
        <p:spPr>
          <a:xfrm>
            <a:off x="4654296" y="4434840"/>
            <a:ext cx="2011680" cy="320040"/>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G-SIB Bucket 2</a:t>
            </a:r>
            <a:endParaRPr lang="en-US" sz="900" dirty="0"/>
          </a:p>
          <a:p>
            <a:pPr marL="0" indent="0" algn="ctr">
              <a:buNone/>
            </a:pPr>
            <a:r>
              <a:rPr lang="en-US" sz="900" dirty="0">
                <a:solidFill>
                  <a:srgbClr val="FFFFFF"/>
                </a:solidFill>
                <a:latin typeface="Calibri" pitchFamily="34" charset="0"/>
                <a:ea typeface="Calibri" pitchFamily="34" charset="-122"/>
                <a:cs typeface="Calibri" pitchFamily="34" charset="-120"/>
              </a:rPr>
              <a:t>+21%</a:t>
            </a:r>
            <a:endParaRPr lang="en-US" sz="900" dirty="0"/>
          </a:p>
        </p:txBody>
      </p:sp>
      <p:sp>
        <p:nvSpPr>
          <p:cNvPr id="16" name="Shape 13"/>
          <p:cNvSpPr/>
          <p:nvPr/>
        </p:nvSpPr>
        <p:spPr>
          <a:xfrm>
            <a:off x="6867144" y="3886200"/>
            <a:ext cx="2011680" cy="1005840"/>
          </a:xfrm>
          <a:prstGeom prst="rect">
            <a:avLst/>
          </a:prstGeom>
          <a:solidFill>
            <a:srgbClr val="C0392B"/>
          </a:solidFill>
          <a:ln w="12700">
            <a:solidFill>
              <a:srgbClr val="C0392B"/>
            </a:solidFill>
            <a:prstDash val="solid"/>
          </a:ln>
        </p:spPr>
      </p:sp>
      <p:sp>
        <p:nvSpPr>
          <p:cNvPr id="17" name="Text 14"/>
          <p:cNvSpPr/>
          <p:nvPr/>
        </p:nvSpPr>
        <p:spPr>
          <a:xfrm>
            <a:off x="6867144" y="3959352"/>
            <a:ext cx="2011680" cy="475488"/>
          </a:xfrm>
          <a:prstGeom prst="rect">
            <a:avLst/>
          </a:prstGeom>
          <a:noFill/>
          <a:ln/>
        </p:spPr>
        <p:txBody>
          <a:bodyPr wrap="square" rtlCol="0" anchor="ctr"/>
          <a:lstStyle/>
          <a:p>
            <a:pPr marL="0" indent="0" algn="ctr">
              <a:buNone/>
            </a:pPr>
            <a:r>
              <a:rPr lang="en-US" sz="2800" b="1" dirty="0">
                <a:solidFill>
                  <a:srgbClr val="C8953A"/>
                </a:solidFill>
                <a:latin typeface="Calibri" pitchFamily="34" charset="0"/>
                <a:ea typeface="Calibri" pitchFamily="34" charset="-122"/>
                <a:cs typeface="Calibri" pitchFamily="34" charset="-120"/>
              </a:rPr>
              <a:t>EUR 247K</a:t>
            </a:r>
            <a:endParaRPr lang="en-US" sz="2800" dirty="0"/>
          </a:p>
        </p:txBody>
      </p:sp>
      <p:sp>
        <p:nvSpPr>
          <p:cNvPr id="18" name="Text 15"/>
          <p:cNvSpPr/>
          <p:nvPr/>
        </p:nvSpPr>
        <p:spPr>
          <a:xfrm>
            <a:off x="6867144" y="4434840"/>
            <a:ext cx="2011680" cy="320040"/>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G-SIB Bucket 4</a:t>
            </a:r>
            <a:endParaRPr lang="en-US" sz="900" dirty="0"/>
          </a:p>
          <a:p>
            <a:pPr marL="0" indent="0" algn="ctr">
              <a:buNone/>
            </a:pPr>
            <a:r>
              <a:rPr lang="en-US" sz="900" dirty="0">
                <a:solidFill>
                  <a:srgbClr val="FFFFFF"/>
                </a:solidFill>
                <a:latin typeface="Calibri" pitchFamily="34" charset="0"/>
                <a:ea typeface="Calibri" pitchFamily="34" charset="-122"/>
                <a:cs typeface="Calibri" pitchFamily="34" charset="-120"/>
              </a:rPr>
              <a:t>+36%</a:t>
            </a:r>
            <a:endParaRPr lang="en-US" sz="900" dirty="0"/>
          </a:p>
        </p:txBody>
      </p:sp>
      <p:sp>
        <p:nvSpPr>
          <p:cNvPr id="19" name="Text 16"/>
          <p:cNvSpPr/>
          <p:nvPr/>
        </p:nvSpPr>
        <p:spPr>
          <a:xfrm>
            <a:off x="228600" y="4846320"/>
            <a:ext cx="7772400" cy="201168"/>
          </a:xfrm>
          <a:prstGeom prst="rect">
            <a:avLst/>
          </a:prstGeom>
          <a:noFill/>
          <a:ln/>
        </p:spPr>
        <p:txBody>
          <a:bodyPr wrap="square" rtlCol="0" anchor="ctr"/>
          <a:lstStyle/>
          <a:p>
            <a:pPr marL="0" indent="0">
              <a:buNone/>
            </a:pPr>
            <a:r>
              <a:rPr lang="en-US" sz="800" dirty="0">
                <a:solidFill>
                  <a:srgbClr val="8A9BB0"/>
                </a:solidFill>
                <a:latin typeface="Calibri" pitchFamily="34" charset="0"/>
                <a:ea typeface="Calibri" pitchFamily="34" charset="-122"/>
                <a:cs typeface="Calibri" pitchFamily="34" charset="-120"/>
              </a:rPr>
              <a:t>Module 6: KVA, ColVA &amp; Capital Costs  |  Sarthaka Nanda  |  © 2026  CC BY-NC 4.0</a:t>
            </a:r>
            <a:endParaRPr lang="en-US" sz="800" dirty="0"/>
          </a:p>
        </p:txBody>
      </p:sp>
      <p:sp>
        <p:nvSpPr>
          <p:cNvPr id="20" name="Text 17"/>
          <p:cNvSpPr/>
          <p:nvPr/>
        </p:nvSpPr>
        <p:spPr>
          <a:xfrm>
            <a:off x="8686800" y="4846320"/>
            <a:ext cx="365760" cy="201168"/>
          </a:xfrm>
          <a:prstGeom prst="rect">
            <a:avLst/>
          </a:prstGeom>
          <a:noFill/>
          <a:ln/>
        </p:spPr>
        <p:txBody>
          <a:bodyPr wrap="square" rtlCol="0" anchor="ctr"/>
          <a:lstStyle/>
          <a:p>
            <a:pPr marL="0" indent="0" algn="r">
              <a:buNone/>
            </a:pPr>
            <a:r>
              <a:rPr lang="en-US" sz="800" dirty="0">
                <a:solidFill>
                  <a:srgbClr val="8A9BB0"/>
                </a:solidFill>
                <a:latin typeface="Calibri" pitchFamily="34" charset="0"/>
                <a:ea typeface="Calibri" pitchFamily="34" charset="-122"/>
                <a:cs typeface="Calibri"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28090"/>
          </a:solidFill>
          <a:ln w="12700">
            <a:solidFill>
              <a:srgbClr val="028090"/>
            </a:solidFill>
            <a:prstDash val="solid"/>
          </a:ln>
        </p:spPr>
      </p:sp>
      <p:sp>
        <p:nvSpPr>
          <p:cNvPr id="3" name="Shape 1"/>
          <p:cNvSpPr/>
          <p:nvPr/>
        </p:nvSpPr>
        <p:spPr>
          <a:xfrm>
            <a:off x="228600" y="164592"/>
            <a:ext cx="2377440" cy="292608"/>
          </a:xfrm>
          <a:prstGeom prst="rect">
            <a:avLst/>
          </a:prstGeom>
          <a:solidFill>
            <a:srgbClr val="028090"/>
          </a:solidFill>
          <a:ln w="12700">
            <a:solidFill>
              <a:srgbClr val="028090"/>
            </a:solidFill>
            <a:prstDash val="solid"/>
          </a:ln>
        </p:spPr>
      </p:sp>
      <p:sp>
        <p:nvSpPr>
          <p:cNvPr id="4" name="Text 2"/>
          <p:cNvSpPr/>
          <p:nvPr/>
        </p:nvSpPr>
        <p:spPr>
          <a:xfrm>
            <a:off x="228600" y="164592"/>
            <a:ext cx="2377440" cy="292608"/>
          </a:xfrm>
          <a:prstGeom prst="rect">
            <a:avLst/>
          </a:prstGeom>
          <a:noFill/>
          <a:ln/>
        </p:spPr>
        <p:txBody>
          <a:bodyPr wrap="square" rtlCol="0" anchor="ctr"/>
          <a:lstStyle/>
          <a:p>
            <a:pPr marL="0" indent="0" algn="ctr">
              <a:buNone/>
            </a:pPr>
            <a:r>
              <a:rPr lang="en-US" sz="900" b="1" dirty="0">
                <a:solidFill>
                  <a:srgbClr val="FFFFFF"/>
                </a:solidFill>
              </a:rPr>
              <a:t>SECTION 6 — KVA WORKED EXAMPLE</a:t>
            </a:r>
            <a:endParaRPr lang="en-US" sz="900" dirty="0"/>
          </a:p>
        </p:txBody>
      </p:sp>
      <p:sp>
        <p:nvSpPr>
          <p:cNvPr id="5" name="Text 3"/>
          <p:cNvSpPr/>
          <p:nvPr/>
        </p:nvSpPr>
        <p:spPr>
          <a:xfrm>
            <a:off x="228600" y="548640"/>
            <a:ext cx="8686800" cy="548640"/>
          </a:xfrm>
          <a:prstGeom prst="rect">
            <a:avLst/>
          </a:prstGeom>
          <a:noFill/>
          <a:ln/>
        </p:spPr>
        <p:txBody>
          <a:bodyPr wrap="square" rtlCol="0" anchor="ctr"/>
          <a:lstStyle/>
          <a:p>
            <a:pPr marL="0" indent="0">
              <a:buNone/>
            </a:pPr>
            <a:r>
              <a:rPr lang="en-US" sz="2600" b="1" dirty="0">
                <a:solidFill>
                  <a:srgbClr val="0D1B2A"/>
                </a:solidFill>
                <a:latin typeface="Calibri" pitchFamily="34" charset="0"/>
                <a:ea typeface="Calibri" pitchFamily="34" charset="-122"/>
                <a:cs typeface="Calibri" pitchFamily="34" charset="-120"/>
              </a:rPr>
              <a:t>KVA — EUR 100M 5Y IRS, BBB, G-SIB Bucket 2</a:t>
            </a:r>
            <a:endParaRPr lang="en-US" sz="2600" dirty="0"/>
          </a:p>
        </p:txBody>
      </p:sp>
      <p:sp>
        <p:nvSpPr>
          <p:cNvPr id="6" name="Text 4"/>
          <p:cNvSpPr/>
          <p:nvPr/>
        </p:nvSpPr>
        <p:spPr>
          <a:xfrm>
            <a:off x="228600" y="1188720"/>
            <a:ext cx="4572000" cy="256032"/>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Step-by-Step Calculation</a:t>
            </a:r>
            <a:endParaRPr lang="en-US" sz="1300" dirty="0"/>
          </a:p>
        </p:txBody>
      </p:sp>
      <p:sp>
        <p:nvSpPr>
          <p:cNvPr id="7" name="Shape 5"/>
          <p:cNvSpPr/>
          <p:nvPr/>
        </p:nvSpPr>
        <p:spPr>
          <a:xfrm>
            <a:off x="228600" y="1508760"/>
            <a:ext cx="320040" cy="320040"/>
          </a:xfrm>
          <a:prstGeom prst="rect">
            <a:avLst/>
          </a:prstGeom>
          <a:solidFill>
            <a:srgbClr val="028090"/>
          </a:solidFill>
          <a:ln w="12700">
            <a:solidFill>
              <a:srgbClr val="028090"/>
            </a:solidFill>
            <a:prstDash val="solid"/>
          </a:ln>
        </p:spPr>
      </p:sp>
      <p:sp>
        <p:nvSpPr>
          <p:cNvPr id="8" name="Text 6"/>
          <p:cNvSpPr/>
          <p:nvPr/>
        </p:nvSpPr>
        <p:spPr>
          <a:xfrm>
            <a:off x="228600" y="1508760"/>
            <a:ext cx="3200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7"/>
          <p:cNvSpPr/>
          <p:nvPr/>
        </p:nvSpPr>
        <p:spPr>
          <a:xfrm>
            <a:off x="640080" y="1527048"/>
            <a:ext cx="4023360" cy="201168"/>
          </a:xfrm>
          <a:prstGeom prst="rect">
            <a:avLst/>
          </a:prstGeom>
          <a:noFill/>
          <a:ln/>
        </p:spPr>
        <p:txBody>
          <a:bodyPr wrap="square"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SA-CCR EAD</a:t>
            </a:r>
            <a:endParaRPr lang="en-US" sz="1100" dirty="0"/>
          </a:p>
        </p:txBody>
      </p:sp>
      <p:sp>
        <p:nvSpPr>
          <p:cNvPr id="10" name="Text 8"/>
          <p:cNvSpPr/>
          <p:nvPr/>
        </p:nvSpPr>
        <p:spPr>
          <a:xfrm>
            <a:off x="640080" y="1728216"/>
            <a:ext cx="4023360" cy="347472"/>
          </a:xfrm>
          <a:prstGeom prst="rect">
            <a:avLst/>
          </a:prstGeom>
          <a:noFill/>
          <a:ln/>
        </p:spPr>
        <p:txBody>
          <a:bodyPr wrap="square" rtlCol="0" anchor="ctr"/>
          <a:lstStyle/>
          <a:p>
            <a:pPr marL="0" indent="0">
              <a:buNone/>
            </a:pPr>
            <a:r>
              <a:rPr lang="en-US" sz="950" dirty="0">
                <a:solidFill>
                  <a:srgbClr val="8A9BB0"/>
                </a:solidFill>
                <a:latin typeface="Calibri" pitchFamily="34" charset="0"/>
                <a:ea typeface="Calibri" pitchFamily="34" charset="-122"/>
                <a:cs typeface="Calibri" pitchFamily="34" charset="-120"/>
              </a:rPr>
              <a:t>Eff.Notional = 100M × 4.42y × 0.50% = EUR 2.21M</a:t>
            </a:r>
            <a:endParaRPr lang="en-US" sz="950" dirty="0"/>
          </a:p>
          <a:p>
            <a:pPr marL="0" indent="0">
              <a:buNone/>
            </a:pPr>
            <a:r>
              <a:rPr lang="en-US" sz="950" dirty="0">
                <a:solidFill>
                  <a:srgbClr val="8A9BB0"/>
                </a:solidFill>
                <a:latin typeface="Calibri" pitchFamily="34" charset="0"/>
                <a:ea typeface="Calibri" pitchFamily="34" charset="-122"/>
                <a:cs typeface="Calibri" pitchFamily="34" charset="-120"/>
              </a:rPr>
              <a:t>EAD = 1.4 × (0 + 2.21M) = EUR 3.09M</a:t>
            </a:r>
            <a:endParaRPr lang="en-US" sz="950" dirty="0"/>
          </a:p>
        </p:txBody>
      </p:sp>
      <p:sp>
        <p:nvSpPr>
          <p:cNvPr id="11" name="Shape 9"/>
          <p:cNvSpPr/>
          <p:nvPr/>
        </p:nvSpPr>
        <p:spPr>
          <a:xfrm>
            <a:off x="228600" y="2130552"/>
            <a:ext cx="320040" cy="320040"/>
          </a:xfrm>
          <a:prstGeom prst="rect">
            <a:avLst/>
          </a:prstGeom>
          <a:solidFill>
            <a:srgbClr val="028090"/>
          </a:solidFill>
          <a:ln w="12700">
            <a:solidFill>
              <a:srgbClr val="028090"/>
            </a:solidFill>
            <a:prstDash val="solid"/>
          </a:ln>
        </p:spPr>
      </p:sp>
      <p:sp>
        <p:nvSpPr>
          <p:cNvPr id="12" name="Text 10"/>
          <p:cNvSpPr/>
          <p:nvPr/>
        </p:nvSpPr>
        <p:spPr>
          <a:xfrm>
            <a:off x="228600" y="2130552"/>
            <a:ext cx="3200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640080" y="2148840"/>
            <a:ext cx="4023360" cy="201168"/>
          </a:xfrm>
          <a:prstGeom prst="rect">
            <a:avLst/>
          </a:prstGeom>
          <a:noFill/>
          <a:ln/>
        </p:spPr>
        <p:txBody>
          <a:bodyPr wrap="square"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RWA</a:t>
            </a:r>
            <a:endParaRPr lang="en-US" sz="1100" dirty="0"/>
          </a:p>
        </p:txBody>
      </p:sp>
      <p:sp>
        <p:nvSpPr>
          <p:cNvPr id="14" name="Text 12"/>
          <p:cNvSpPr/>
          <p:nvPr/>
        </p:nvSpPr>
        <p:spPr>
          <a:xfrm>
            <a:off x="640080" y="2350008"/>
            <a:ext cx="4023360" cy="347472"/>
          </a:xfrm>
          <a:prstGeom prst="rect">
            <a:avLst/>
          </a:prstGeom>
          <a:noFill/>
          <a:ln/>
        </p:spPr>
        <p:txBody>
          <a:bodyPr wrap="square" rtlCol="0" anchor="ctr"/>
          <a:lstStyle/>
          <a:p>
            <a:pPr marL="0" indent="0">
              <a:buNone/>
            </a:pPr>
            <a:r>
              <a:rPr lang="en-US" sz="950" dirty="0">
                <a:solidFill>
                  <a:srgbClr val="8A9BB0"/>
                </a:solidFill>
                <a:latin typeface="Calibri" pitchFamily="34" charset="0"/>
                <a:ea typeface="Calibri" pitchFamily="34" charset="-122"/>
                <a:cs typeface="Calibri" pitchFamily="34" charset="-120"/>
              </a:rPr>
              <a:t>RWA = EAD × RW(BBB 100%) = EUR 3.09M</a:t>
            </a:r>
            <a:endParaRPr lang="en-US" sz="950" dirty="0"/>
          </a:p>
        </p:txBody>
      </p:sp>
      <p:sp>
        <p:nvSpPr>
          <p:cNvPr id="15" name="Shape 13"/>
          <p:cNvSpPr/>
          <p:nvPr/>
        </p:nvSpPr>
        <p:spPr>
          <a:xfrm>
            <a:off x="228600" y="2752344"/>
            <a:ext cx="320040" cy="320040"/>
          </a:xfrm>
          <a:prstGeom prst="rect">
            <a:avLst/>
          </a:prstGeom>
          <a:solidFill>
            <a:srgbClr val="028090"/>
          </a:solidFill>
          <a:ln w="12700">
            <a:solidFill>
              <a:srgbClr val="028090"/>
            </a:solidFill>
            <a:prstDash val="solid"/>
          </a:ln>
        </p:spPr>
      </p:sp>
      <p:sp>
        <p:nvSpPr>
          <p:cNvPr id="16" name="Text 14"/>
          <p:cNvSpPr/>
          <p:nvPr/>
        </p:nvSpPr>
        <p:spPr>
          <a:xfrm>
            <a:off x="228600" y="2752344"/>
            <a:ext cx="3200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5"/>
          <p:cNvSpPr/>
          <p:nvPr/>
        </p:nvSpPr>
        <p:spPr>
          <a:xfrm>
            <a:off x="640080" y="2770632"/>
            <a:ext cx="4023360" cy="201168"/>
          </a:xfrm>
          <a:prstGeom prst="rect">
            <a:avLst/>
          </a:prstGeom>
          <a:noFill/>
          <a:ln/>
        </p:spPr>
        <p:txBody>
          <a:bodyPr wrap="square"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Capital K₀</a:t>
            </a:r>
            <a:endParaRPr lang="en-US" sz="1100" dirty="0"/>
          </a:p>
        </p:txBody>
      </p:sp>
      <p:sp>
        <p:nvSpPr>
          <p:cNvPr id="18" name="Text 16"/>
          <p:cNvSpPr/>
          <p:nvPr/>
        </p:nvSpPr>
        <p:spPr>
          <a:xfrm>
            <a:off x="640080" y="2971800"/>
            <a:ext cx="4023360" cy="347472"/>
          </a:xfrm>
          <a:prstGeom prst="rect">
            <a:avLst/>
          </a:prstGeom>
          <a:noFill/>
          <a:ln/>
        </p:spPr>
        <p:txBody>
          <a:bodyPr wrap="square" rtlCol="0" anchor="ctr"/>
          <a:lstStyle/>
          <a:p>
            <a:pPr marL="0" indent="0">
              <a:buNone/>
            </a:pPr>
            <a:r>
              <a:rPr lang="en-US" sz="950" dirty="0">
                <a:solidFill>
                  <a:srgbClr val="8A9BB0"/>
                </a:solidFill>
                <a:latin typeface="Calibri" pitchFamily="34" charset="0"/>
                <a:ea typeface="Calibri" pitchFamily="34" charset="-122"/>
                <a:cs typeface="Calibri" pitchFamily="34" charset="-120"/>
              </a:rPr>
              <a:t>K₀ = 3.09M × 8.5% CET1_req = EUR 262,990</a:t>
            </a:r>
            <a:endParaRPr lang="en-US" sz="950" dirty="0"/>
          </a:p>
        </p:txBody>
      </p:sp>
      <p:sp>
        <p:nvSpPr>
          <p:cNvPr id="19" name="Shape 17"/>
          <p:cNvSpPr/>
          <p:nvPr/>
        </p:nvSpPr>
        <p:spPr>
          <a:xfrm>
            <a:off x="228600" y="3374136"/>
            <a:ext cx="320040" cy="320040"/>
          </a:xfrm>
          <a:prstGeom prst="rect">
            <a:avLst/>
          </a:prstGeom>
          <a:solidFill>
            <a:srgbClr val="028090"/>
          </a:solidFill>
          <a:ln w="12700">
            <a:solidFill>
              <a:srgbClr val="028090"/>
            </a:solidFill>
            <a:prstDash val="solid"/>
          </a:ln>
        </p:spPr>
      </p:sp>
      <p:sp>
        <p:nvSpPr>
          <p:cNvPr id="20" name="Text 18"/>
          <p:cNvSpPr/>
          <p:nvPr/>
        </p:nvSpPr>
        <p:spPr>
          <a:xfrm>
            <a:off x="228600" y="3374136"/>
            <a:ext cx="3200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1" name="Text 19"/>
          <p:cNvSpPr/>
          <p:nvPr/>
        </p:nvSpPr>
        <p:spPr>
          <a:xfrm>
            <a:off x="640080" y="3392424"/>
            <a:ext cx="4023360" cy="201168"/>
          </a:xfrm>
          <a:prstGeom prst="rect">
            <a:avLst/>
          </a:prstGeom>
          <a:noFill/>
          <a:ln/>
        </p:spPr>
        <p:txBody>
          <a:bodyPr wrap="square"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E[K(t)] Profile</a:t>
            </a:r>
            <a:endParaRPr lang="en-US" sz="1100" dirty="0"/>
          </a:p>
        </p:txBody>
      </p:sp>
      <p:sp>
        <p:nvSpPr>
          <p:cNvPr id="22" name="Text 20"/>
          <p:cNvSpPr/>
          <p:nvPr/>
        </p:nvSpPr>
        <p:spPr>
          <a:xfrm>
            <a:off x="640080" y="3593592"/>
            <a:ext cx="4023360" cy="347472"/>
          </a:xfrm>
          <a:prstGeom prst="rect">
            <a:avLst/>
          </a:prstGeom>
          <a:noFill/>
          <a:ln/>
        </p:spPr>
        <p:txBody>
          <a:bodyPr wrap="square" rtlCol="0" anchor="ctr"/>
          <a:lstStyle/>
          <a:p>
            <a:pPr marL="0" indent="0">
              <a:buNone/>
            </a:pPr>
            <a:r>
              <a:rPr lang="en-US" sz="950" dirty="0">
                <a:solidFill>
                  <a:srgbClr val="8A9BB0"/>
                </a:solidFill>
                <a:latin typeface="Calibri" pitchFamily="34" charset="0"/>
                <a:ea typeface="Calibri" pitchFamily="34" charset="-122"/>
                <a:cs typeface="Calibri" pitchFamily="34" charset="-120"/>
              </a:rPr>
              <a:t>Follows EPE — peaks year 2–3, declines to zero at maturity</a:t>
            </a:r>
            <a:endParaRPr lang="en-US" sz="950" dirty="0"/>
          </a:p>
        </p:txBody>
      </p:sp>
      <p:sp>
        <p:nvSpPr>
          <p:cNvPr id="23" name="Shape 21"/>
          <p:cNvSpPr/>
          <p:nvPr/>
        </p:nvSpPr>
        <p:spPr>
          <a:xfrm>
            <a:off x="228600" y="3995928"/>
            <a:ext cx="320040" cy="320040"/>
          </a:xfrm>
          <a:prstGeom prst="rect">
            <a:avLst/>
          </a:prstGeom>
          <a:solidFill>
            <a:srgbClr val="028090"/>
          </a:solidFill>
          <a:ln w="12700">
            <a:solidFill>
              <a:srgbClr val="028090"/>
            </a:solidFill>
            <a:prstDash val="solid"/>
          </a:ln>
        </p:spPr>
      </p:sp>
      <p:sp>
        <p:nvSpPr>
          <p:cNvPr id="24" name="Text 22"/>
          <p:cNvSpPr/>
          <p:nvPr/>
        </p:nvSpPr>
        <p:spPr>
          <a:xfrm>
            <a:off x="228600" y="3995928"/>
            <a:ext cx="3200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5" name="Text 23"/>
          <p:cNvSpPr/>
          <p:nvPr/>
        </p:nvSpPr>
        <p:spPr>
          <a:xfrm>
            <a:off x="640080" y="4014216"/>
            <a:ext cx="4023360" cy="201168"/>
          </a:xfrm>
          <a:prstGeom prst="rect">
            <a:avLst/>
          </a:prstGeom>
          <a:noFill/>
          <a:ln/>
        </p:spPr>
        <p:txBody>
          <a:bodyPr wrap="square"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KVA</a:t>
            </a:r>
            <a:endParaRPr lang="en-US" sz="1100" dirty="0"/>
          </a:p>
        </p:txBody>
      </p:sp>
      <p:sp>
        <p:nvSpPr>
          <p:cNvPr id="26" name="Text 24"/>
          <p:cNvSpPr/>
          <p:nvPr/>
        </p:nvSpPr>
        <p:spPr>
          <a:xfrm>
            <a:off x="640080" y="4215384"/>
            <a:ext cx="4023360" cy="347472"/>
          </a:xfrm>
          <a:prstGeom prst="rect">
            <a:avLst/>
          </a:prstGeom>
          <a:noFill/>
          <a:ln/>
        </p:spPr>
        <p:txBody>
          <a:bodyPr wrap="square" rtlCol="0" anchor="ctr"/>
          <a:lstStyle/>
          <a:p>
            <a:pPr marL="0" indent="0">
              <a:buNone/>
            </a:pPr>
            <a:r>
              <a:rPr lang="en-US" sz="950" dirty="0">
                <a:solidFill>
                  <a:srgbClr val="8A9BB0"/>
                </a:solidFill>
                <a:latin typeface="Calibri" pitchFamily="34" charset="0"/>
                <a:ea typeface="Calibri" pitchFamily="34" charset="-122"/>
                <a:cs typeface="Calibri" pitchFamily="34" charset="-120"/>
              </a:rPr>
              <a:t>h × Σ E[K(t)] × df(t) × Δt = 12% × EUR 411,300</a:t>
            </a:r>
            <a:endParaRPr lang="en-US" sz="950" dirty="0"/>
          </a:p>
        </p:txBody>
      </p:sp>
      <p:sp>
        <p:nvSpPr>
          <p:cNvPr id="27" name="Shape 25"/>
          <p:cNvSpPr/>
          <p:nvPr/>
        </p:nvSpPr>
        <p:spPr>
          <a:xfrm>
            <a:off x="4937760" y="1188720"/>
            <a:ext cx="3977640" cy="1005840"/>
          </a:xfrm>
          <a:prstGeom prst="rect">
            <a:avLst/>
          </a:prstGeom>
          <a:solidFill>
            <a:srgbClr val="1B2A4A"/>
          </a:solidFill>
          <a:ln w="12700">
            <a:solidFill>
              <a:srgbClr val="C8953A"/>
            </a:solidFill>
            <a:prstDash val="solid"/>
          </a:ln>
        </p:spPr>
      </p:sp>
      <p:sp>
        <p:nvSpPr>
          <p:cNvPr id="28" name="Text 26"/>
          <p:cNvSpPr/>
          <p:nvPr/>
        </p:nvSpPr>
        <p:spPr>
          <a:xfrm>
            <a:off x="5029200" y="1261872"/>
            <a:ext cx="3749040" cy="411480"/>
          </a:xfrm>
          <a:prstGeom prst="rect">
            <a:avLst/>
          </a:prstGeom>
          <a:noFill/>
          <a:ln/>
        </p:spPr>
        <p:txBody>
          <a:bodyPr wrap="square" rtlCol="0" anchor="ctr"/>
          <a:lstStyle/>
          <a:p>
            <a:pPr marL="0" indent="0" algn="ctr">
              <a:buNone/>
            </a:pPr>
            <a:r>
              <a:rPr lang="en-US" sz="2200" b="1" dirty="0">
                <a:solidFill>
                  <a:srgbClr val="C8953A"/>
                </a:solidFill>
                <a:latin typeface="Calibri" pitchFamily="34" charset="0"/>
                <a:ea typeface="Calibri" pitchFamily="34" charset="-122"/>
                <a:cs typeface="Calibri" pitchFamily="34" charset="-120"/>
              </a:rPr>
              <a:t>KVA = EUR 49,356</a:t>
            </a:r>
            <a:endParaRPr lang="en-US" sz="2200" dirty="0"/>
          </a:p>
        </p:txBody>
      </p:sp>
      <p:sp>
        <p:nvSpPr>
          <p:cNvPr id="29" name="Text 27"/>
          <p:cNvSpPr/>
          <p:nvPr/>
        </p:nvSpPr>
        <p:spPr>
          <a:xfrm>
            <a:off x="5029200" y="1664208"/>
            <a:ext cx="3749040" cy="256032"/>
          </a:xfrm>
          <a:prstGeom prst="rect">
            <a:avLst/>
          </a:prstGeom>
          <a:noFill/>
          <a:ln/>
        </p:spPr>
        <p:txBody>
          <a:bodyPr wrap="square" rtlCol="0" anchor="ctr"/>
          <a:lstStyle/>
          <a:p>
            <a:pPr marL="0" indent="0" algn="ctr">
              <a:buNone/>
            </a:pPr>
            <a:r>
              <a:rPr lang="en-US" sz="1100" dirty="0">
                <a:solidFill>
                  <a:srgbClr val="028090"/>
                </a:solidFill>
                <a:latin typeface="Calibri" pitchFamily="34" charset="0"/>
                <a:ea typeface="Calibri" pitchFamily="34" charset="-122"/>
                <a:cs typeface="Calibri" pitchFamily="34" charset="-120"/>
              </a:rPr>
              <a:t>≈ 0.5 bps/yr × EUR 100M notional</a:t>
            </a:r>
            <a:endParaRPr lang="en-US" sz="11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4937760" y="2304288"/>
          <a:ext cx="3840480" cy="2423160"/>
        </p:xfrm>
        <a:graphic>
          <a:graphicData uri="http://schemas.openxmlformats.org/drawingml/2006/table">
            <a:tbl>
              <a:tblPr/>
              <a:tblGrid>
                <a:gridCol w="256032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tblGrid>
              <a:tr h="403860">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Parameter Change</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KVA Impact</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403860">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Hurdle: 10% → 15%</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A1A2E"/>
                          </a:solidFill>
                          <a:latin typeface="Calibri" pitchFamily="34" charset="0"/>
                          <a:ea typeface="Calibri" pitchFamily="34" charset="-122"/>
                          <a:cs typeface="Calibri" pitchFamily="34" charset="-120"/>
                        </a:rPr>
                        <a:t>±EUR 20,565 per 1%</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3860">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BBB → AA (RW 20%)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6F8"/>
                    </a:solidFill>
                  </a:tcPr>
                </a:tc>
                <a:tc>
                  <a:txBody>
                    <a:bodyPr/>
                    <a:lstStyle/>
                    <a:p>
                      <a:pPr marL="0" indent="0" algn="r">
                        <a:buNone/>
                      </a:pPr>
                      <a:r>
                        <a:rPr lang="en-US" sz="1000" dirty="0">
                          <a:solidFill>
                            <a:srgbClr val="1A1A2E"/>
                          </a:solidFill>
                          <a:latin typeface="Calibri" pitchFamily="34" charset="0"/>
                          <a:ea typeface="Calibri" pitchFamily="34" charset="-122"/>
                          <a:cs typeface="Calibri" pitchFamily="34" charset="-120"/>
                        </a:rPr>
                        <a:t>−80%  → EUR 9,871</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6F8"/>
                    </a:solidFill>
                  </a:tcPr>
                </a:tc>
                <a:extLst>
                  <a:ext uri="{0D108BD9-81ED-4DB2-BD59-A6C34878D82A}">
                    <a16:rowId xmlns:a16="http://schemas.microsoft.com/office/drawing/2014/main" val="10002"/>
                  </a:ext>
                </a:extLst>
              </a:tr>
              <a:tr h="403860">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Bucket 2 → non-G-SIB</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A1A2E"/>
                          </a:solidFill>
                          <a:latin typeface="Calibri" pitchFamily="34" charset="0"/>
                          <a:ea typeface="Calibri" pitchFamily="34" charset="-122"/>
                          <a:cs typeface="Calibri" pitchFamily="34" charset="-120"/>
                        </a:rPr>
                        <a:t>−18%  → EUR 40,615</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3860">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5Y → 10Y tenor</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6F8"/>
                    </a:solidFill>
                  </a:tcPr>
                </a:tc>
                <a:tc>
                  <a:txBody>
                    <a:bodyPr/>
                    <a:lstStyle/>
                    <a:p>
                      <a:pPr marL="0" indent="0" algn="r">
                        <a:buNone/>
                      </a:pPr>
                      <a:r>
                        <a:rPr lang="en-US" sz="1000" dirty="0">
                          <a:solidFill>
                            <a:srgbClr val="1A1A2E"/>
                          </a:solidFill>
                          <a:latin typeface="Calibri" pitchFamily="34" charset="0"/>
                          <a:ea typeface="Calibri" pitchFamily="34" charset="-122"/>
                          <a:cs typeface="Calibri" pitchFamily="34" charset="-120"/>
                        </a:rPr>
                        <a:t>~×2 — more capital years</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6F8"/>
                    </a:solidFill>
                  </a:tcPr>
                </a:tc>
                <a:extLst>
                  <a:ext uri="{0D108BD9-81ED-4DB2-BD59-A6C34878D82A}">
                    <a16:rowId xmlns:a16="http://schemas.microsoft.com/office/drawing/2014/main" val="10004"/>
                  </a:ext>
                </a:extLst>
              </a:tr>
              <a:tr h="403860">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Bilateral → CCP</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A1A2E"/>
                          </a:solidFill>
                          <a:latin typeface="Calibri" pitchFamily="34" charset="0"/>
                          <a:ea typeface="Calibri" pitchFamily="34" charset="-122"/>
                          <a:cs typeface="Calibri" pitchFamily="34" charset="-120"/>
                        </a:rPr>
                        <a:t>~zero — no CCR RWA</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31" name="Text 28"/>
          <p:cNvSpPr/>
          <p:nvPr/>
        </p:nvSpPr>
        <p:spPr>
          <a:xfrm>
            <a:off x="228600" y="4846320"/>
            <a:ext cx="7772400" cy="201168"/>
          </a:xfrm>
          <a:prstGeom prst="rect">
            <a:avLst/>
          </a:prstGeom>
          <a:noFill/>
          <a:ln/>
        </p:spPr>
        <p:txBody>
          <a:bodyPr wrap="square" rtlCol="0" anchor="ctr"/>
          <a:lstStyle/>
          <a:p>
            <a:pPr marL="0" indent="0">
              <a:buNone/>
            </a:pPr>
            <a:r>
              <a:rPr lang="en-US" sz="800" dirty="0">
                <a:solidFill>
                  <a:srgbClr val="8A9BB0"/>
                </a:solidFill>
                <a:latin typeface="Calibri" pitchFamily="34" charset="0"/>
                <a:ea typeface="Calibri" pitchFamily="34" charset="-122"/>
                <a:cs typeface="Calibri" pitchFamily="34" charset="-120"/>
              </a:rPr>
              <a:t>Module 6: KVA, ColVA &amp; Capital Costs  |  Sarthaka Nanda  |  © 2026  CC BY-NC 4.0</a:t>
            </a:r>
            <a:endParaRPr lang="en-US" sz="800" dirty="0"/>
          </a:p>
        </p:txBody>
      </p:sp>
      <p:sp>
        <p:nvSpPr>
          <p:cNvPr id="32" name="Text 29"/>
          <p:cNvSpPr/>
          <p:nvPr/>
        </p:nvSpPr>
        <p:spPr>
          <a:xfrm>
            <a:off x="8686800" y="4846320"/>
            <a:ext cx="365760" cy="201168"/>
          </a:xfrm>
          <a:prstGeom prst="rect">
            <a:avLst/>
          </a:prstGeom>
          <a:noFill/>
          <a:ln/>
        </p:spPr>
        <p:txBody>
          <a:bodyPr wrap="square" rtlCol="0" anchor="ctr"/>
          <a:lstStyle/>
          <a:p>
            <a:pPr marL="0" indent="0" algn="r">
              <a:buNone/>
            </a:pPr>
            <a:r>
              <a:rPr lang="en-US" sz="800" dirty="0">
                <a:solidFill>
                  <a:srgbClr val="8A9BB0"/>
                </a:solidFill>
                <a:latin typeface="Calibri" pitchFamily="34" charset="0"/>
                <a:ea typeface="Calibri" pitchFamily="34" charset="-122"/>
                <a:cs typeface="Calibri"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28090"/>
          </a:solidFill>
          <a:ln w="12700">
            <a:solidFill>
              <a:srgbClr val="028090"/>
            </a:solidFill>
            <a:prstDash val="solid"/>
          </a:ln>
        </p:spPr>
      </p:sp>
      <p:sp>
        <p:nvSpPr>
          <p:cNvPr id="3" name="Shape 1"/>
          <p:cNvSpPr/>
          <p:nvPr/>
        </p:nvSpPr>
        <p:spPr>
          <a:xfrm>
            <a:off x="228600" y="164592"/>
            <a:ext cx="2377440" cy="292608"/>
          </a:xfrm>
          <a:prstGeom prst="rect">
            <a:avLst/>
          </a:prstGeom>
          <a:solidFill>
            <a:srgbClr val="028090"/>
          </a:solidFill>
          <a:ln w="12700">
            <a:solidFill>
              <a:srgbClr val="028090"/>
            </a:solidFill>
            <a:prstDash val="solid"/>
          </a:ln>
        </p:spPr>
      </p:sp>
      <p:sp>
        <p:nvSpPr>
          <p:cNvPr id="4" name="Text 2"/>
          <p:cNvSpPr/>
          <p:nvPr/>
        </p:nvSpPr>
        <p:spPr>
          <a:xfrm>
            <a:off x="228600" y="164592"/>
            <a:ext cx="2377440" cy="292608"/>
          </a:xfrm>
          <a:prstGeom prst="rect">
            <a:avLst/>
          </a:prstGeom>
          <a:noFill/>
          <a:ln/>
        </p:spPr>
        <p:txBody>
          <a:bodyPr wrap="square" rtlCol="0" anchor="ctr"/>
          <a:lstStyle/>
          <a:p>
            <a:pPr marL="0" indent="0" algn="ctr">
              <a:buNone/>
            </a:pPr>
            <a:r>
              <a:rPr lang="en-US" sz="900" b="1" dirty="0">
                <a:solidFill>
                  <a:srgbClr val="FFFFFF"/>
                </a:solidFill>
              </a:rPr>
              <a:t>SECTION 7 — THREE COLLATERAL REGIMES</a:t>
            </a:r>
            <a:endParaRPr lang="en-US" sz="900" dirty="0"/>
          </a:p>
        </p:txBody>
      </p:sp>
      <p:sp>
        <p:nvSpPr>
          <p:cNvPr id="5" name="Text 3"/>
          <p:cNvSpPr/>
          <p:nvPr/>
        </p:nvSpPr>
        <p:spPr>
          <a:xfrm>
            <a:off x="228600" y="548640"/>
            <a:ext cx="8686800" cy="548640"/>
          </a:xfrm>
          <a:prstGeom prst="rect">
            <a:avLst/>
          </a:prstGeom>
          <a:noFill/>
          <a:ln/>
        </p:spPr>
        <p:txBody>
          <a:bodyPr wrap="square" rtlCol="0" anchor="ctr"/>
          <a:lstStyle/>
          <a:p>
            <a:pPr marL="0" indent="0">
              <a:buNone/>
            </a:pPr>
            <a:r>
              <a:rPr lang="en-US" sz="2600" b="1" dirty="0">
                <a:solidFill>
                  <a:srgbClr val="0D1B2A"/>
                </a:solidFill>
                <a:latin typeface="Calibri" pitchFamily="34" charset="0"/>
                <a:ea typeface="Calibri" pitchFamily="34" charset="-122"/>
                <a:cs typeface="Calibri" pitchFamily="34" charset="-120"/>
              </a:rPr>
              <a:t>Full XVA Decomposition — Three Regimes</a:t>
            </a:r>
            <a:endParaRPr lang="en-US" sz="2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228600" y="1234440"/>
          <a:ext cx="8503920" cy="3246120"/>
        </p:xfrm>
        <a:graphic>
          <a:graphicData uri="http://schemas.openxmlformats.org/drawingml/2006/table">
            <a:tbl>
              <a:tblPr/>
              <a:tblGrid>
                <a:gridCol w="13716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tblGrid>
              <a:tr h="405765">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XVA</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No CSA</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Full VM (EUR Cash)</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Multi-CCY CSA (5% TH)</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405765">
                <a:tc>
                  <a:txBody>
                    <a:bodyPr/>
                    <a:lstStyle/>
                    <a:p>
                      <a:pPr marL="0" indent="0" algn="l">
                        <a:buNone/>
                      </a:pPr>
                      <a:r>
                        <a:rPr lang="en-US" sz="1000" b="1" dirty="0">
                          <a:solidFill>
                            <a:srgbClr val="1A1A2E"/>
                          </a:solidFill>
                          <a:latin typeface="Calibri" pitchFamily="34" charset="0"/>
                          <a:ea typeface="Calibri" pitchFamily="34" charset="-122"/>
                          <a:cs typeface="Calibri" pitchFamily="34" charset="-120"/>
                        </a:rPr>
                        <a:t>CVA</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0F4F7"/>
                    </a:solidFill>
                  </a:tcPr>
                </a:tc>
                <a:tc>
                  <a:txBody>
                    <a:bodyPr/>
                    <a:lstStyle/>
                    <a:p>
                      <a:pPr marL="0" indent="0" algn="r">
                        <a:buNone/>
                      </a:pPr>
                      <a:r>
                        <a:rPr lang="en-US" sz="1000" b="1" dirty="0">
                          <a:solidFill>
                            <a:srgbClr val="FFFFFF"/>
                          </a:solidFill>
                          <a:latin typeface="Calibri" pitchFamily="34" charset="0"/>
                          <a:ea typeface="Calibri" pitchFamily="34" charset="-122"/>
                          <a:cs typeface="Calibri" pitchFamily="34" charset="-120"/>
                        </a:rPr>
                        <a:t>−285,000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0392B"/>
                    </a:solidFill>
                  </a:tcPr>
                </a:tc>
                <a:tc>
                  <a:txBody>
                    <a:bodyPr/>
                    <a:lstStyle/>
                    <a:p>
                      <a:pPr marL="0" indent="0" algn="r">
                        <a:buNone/>
                      </a:pPr>
                      <a:r>
                        <a:rPr lang="en-US" sz="1000" b="1" dirty="0">
                          <a:solidFill>
                            <a:srgbClr val="1A1A2E"/>
                          </a:solidFill>
                          <a:latin typeface="Calibri" pitchFamily="34" charset="0"/>
                          <a:ea typeface="Calibri" pitchFamily="34" charset="-122"/>
                          <a:cs typeface="Calibri" pitchFamily="34" charset="-120"/>
                        </a:rPr>
                        <a:t>~zero</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A896"/>
                    </a:solidFill>
                  </a:tcPr>
                </a:tc>
                <a:tc>
                  <a:txBody>
                    <a:bodyPr/>
                    <a:lstStyle/>
                    <a:p>
                      <a:pPr marL="0" indent="0" algn="r">
                        <a:buNone/>
                      </a:pPr>
                      <a:r>
                        <a:rPr lang="en-US" sz="1000" dirty="0">
                          <a:solidFill>
                            <a:srgbClr val="1A1A2E"/>
                          </a:solidFill>
                          <a:latin typeface="Calibri" pitchFamily="34" charset="0"/>
                          <a:ea typeface="Calibri" pitchFamily="34" charset="-122"/>
                          <a:cs typeface="Calibri" pitchFamily="34" charset="-120"/>
                        </a:rPr>
                        <a:t>−58,000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DFA8"/>
                    </a:solidFill>
                  </a:tcPr>
                </a:tc>
                <a:extLst>
                  <a:ext uri="{0D108BD9-81ED-4DB2-BD59-A6C34878D82A}">
                    <a16:rowId xmlns:a16="http://schemas.microsoft.com/office/drawing/2014/main" val="10001"/>
                  </a:ext>
                </a:extLst>
              </a:tr>
              <a:tr h="405765">
                <a:tc>
                  <a:txBody>
                    <a:bodyPr/>
                    <a:lstStyle/>
                    <a:p>
                      <a:pPr marL="0" indent="0" algn="l">
                        <a:buNone/>
                      </a:pPr>
                      <a:r>
                        <a:rPr lang="en-US" sz="1000" b="1" dirty="0">
                          <a:solidFill>
                            <a:srgbClr val="1A1A2E"/>
                          </a:solidFill>
                          <a:latin typeface="Calibri" pitchFamily="34" charset="0"/>
                          <a:ea typeface="Calibri" pitchFamily="34" charset="-122"/>
                          <a:cs typeface="Calibri" pitchFamily="34" charset="-120"/>
                        </a:rPr>
                        <a:t>DVA</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A1A2E"/>
                          </a:solidFill>
                          <a:latin typeface="Calibri" pitchFamily="34" charset="0"/>
                          <a:ea typeface="Calibri" pitchFamily="34" charset="-122"/>
                          <a:cs typeface="Calibri" pitchFamily="34" charset="-120"/>
                        </a:rPr>
                        <a:t>+42,000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A1A2E"/>
                          </a:solidFill>
                          <a:latin typeface="Calibri" pitchFamily="34" charset="0"/>
                          <a:ea typeface="Calibri" pitchFamily="34" charset="-122"/>
                          <a:cs typeface="Calibri" pitchFamily="34" charset="-120"/>
                        </a:rPr>
                        <a:t>~zero</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A1A2E"/>
                          </a:solidFill>
                          <a:latin typeface="Calibri" pitchFamily="34" charset="0"/>
                          <a:ea typeface="Calibri" pitchFamily="34" charset="-122"/>
                          <a:cs typeface="Calibri" pitchFamily="34" charset="-120"/>
                        </a:rPr>
                        <a:t>+8,500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5765">
                <a:tc>
                  <a:txBody>
                    <a:bodyPr/>
                    <a:lstStyle/>
                    <a:p>
                      <a:pPr marL="0" indent="0" algn="l">
                        <a:buNone/>
                      </a:pPr>
                      <a:r>
                        <a:rPr lang="en-US" sz="1000" b="1" dirty="0">
                          <a:solidFill>
                            <a:srgbClr val="1A1A2E"/>
                          </a:solidFill>
                          <a:latin typeface="Calibri" pitchFamily="34" charset="0"/>
                          <a:ea typeface="Calibri" pitchFamily="34" charset="-122"/>
                          <a:cs typeface="Calibri" pitchFamily="34" charset="-120"/>
                        </a:rPr>
                        <a:t>FVA</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0F4F7"/>
                    </a:solidFill>
                  </a:tcPr>
                </a:tc>
                <a:tc>
                  <a:txBody>
                    <a:bodyPr/>
                    <a:lstStyle/>
                    <a:p>
                      <a:pPr marL="0" indent="0" algn="r">
                        <a:buNone/>
                      </a:pPr>
                      <a:r>
                        <a:rPr lang="en-US" sz="1000" b="1" dirty="0">
                          <a:solidFill>
                            <a:srgbClr val="FFFFFF"/>
                          </a:solidFill>
                          <a:latin typeface="Calibri" pitchFamily="34" charset="0"/>
                          <a:ea typeface="Calibri" pitchFamily="34" charset="-122"/>
                          <a:cs typeface="Calibri" pitchFamily="34" charset="-120"/>
                        </a:rPr>
                        <a:t>−195,000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0392B"/>
                    </a:solidFill>
                  </a:tcPr>
                </a:tc>
                <a:tc>
                  <a:txBody>
                    <a:bodyPr/>
                    <a:lstStyle/>
                    <a:p>
                      <a:pPr marL="0" indent="0" algn="r">
                        <a:buNone/>
                      </a:pPr>
                      <a:r>
                        <a:rPr lang="en-US" sz="1000" b="1" dirty="0">
                          <a:solidFill>
                            <a:srgbClr val="1A1A2E"/>
                          </a:solidFill>
                          <a:latin typeface="Calibri" pitchFamily="34" charset="0"/>
                          <a:ea typeface="Calibri" pitchFamily="34" charset="-122"/>
                          <a:cs typeface="Calibri" pitchFamily="34" charset="-120"/>
                        </a:rPr>
                        <a:t>~zero</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A896"/>
                    </a:solidFill>
                  </a:tcPr>
                </a:tc>
                <a:tc>
                  <a:txBody>
                    <a:bodyPr/>
                    <a:lstStyle/>
                    <a:p>
                      <a:pPr marL="0" indent="0" algn="r">
                        <a:buNone/>
                      </a:pPr>
                      <a:r>
                        <a:rPr lang="en-US" sz="1000" dirty="0">
                          <a:solidFill>
                            <a:srgbClr val="1A1A2E"/>
                          </a:solidFill>
                          <a:latin typeface="Calibri" pitchFamily="34" charset="0"/>
                          <a:ea typeface="Calibri" pitchFamily="34" charset="-122"/>
                          <a:cs typeface="Calibri" pitchFamily="34" charset="-120"/>
                        </a:rPr>
                        <a:t>−39,000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DFA8"/>
                    </a:solidFill>
                  </a:tcPr>
                </a:tc>
                <a:extLst>
                  <a:ext uri="{0D108BD9-81ED-4DB2-BD59-A6C34878D82A}">
                    <a16:rowId xmlns:a16="http://schemas.microsoft.com/office/drawing/2014/main" val="10003"/>
                  </a:ext>
                </a:extLst>
              </a:tr>
              <a:tr h="405765">
                <a:tc>
                  <a:txBody>
                    <a:bodyPr/>
                    <a:lstStyle/>
                    <a:p>
                      <a:pPr marL="0" indent="0" algn="l">
                        <a:buNone/>
                      </a:pPr>
                      <a:r>
                        <a:rPr lang="en-US" sz="1000" b="1" dirty="0">
                          <a:solidFill>
                            <a:srgbClr val="1A1A2E"/>
                          </a:solidFill>
                          <a:latin typeface="Calibri" pitchFamily="34" charset="0"/>
                          <a:ea typeface="Calibri" pitchFamily="34" charset="-122"/>
                          <a:cs typeface="Calibri" pitchFamily="34" charset="-120"/>
                        </a:rPr>
                        <a:t>MVA</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A1A2E"/>
                          </a:solidFill>
                          <a:latin typeface="Calibri" pitchFamily="34" charset="0"/>
                          <a:ea typeface="Calibri" pitchFamily="34" charset="-122"/>
                          <a:cs typeface="Calibri" pitchFamily="34" charset="-120"/>
                        </a:rPr>
                        <a:t>zero</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r">
                        <a:buNone/>
                      </a:pPr>
                      <a:r>
                        <a:rPr lang="en-US" sz="1000" b="1" dirty="0">
                          <a:solidFill>
                            <a:srgbClr val="FFFFFF"/>
                          </a:solidFill>
                          <a:latin typeface="Calibri" pitchFamily="34" charset="0"/>
                          <a:ea typeface="Calibri" pitchFamily="34" charset="-122"/>
                          <a:cs typeface="Calibri" pitchFamily="34" charset="-120"/>
                        </a:rPr>
                        <a:t>−28,400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0392B"/>
                    </a:solidFill>
                  </a:tcPr>
                </a:tc>
                <a:tc>
                  <a:txBody>
                    <a:bodyPr/>
                    <a:lstStyle/>
                    <a:p>
                      <a:pPr marL="0" indent="0" algn="r">
                        <a:buNone/>
                      </a:pPr>
                      <a:r>
                        <a:rPr lang="en-US" sz="1000" b="1" dirty="0">
                          <a:solidFill>
                            <a:srgbClr val="FFFFFF"/>
                          </a:solidFill>
                          <a:latin typeface="Calibri" pitchFamily="34" charset="0"/>
                          <a:ea typeface="Calibri" pitchFamily="34" charset="-122"/>
                          <a:cs typeface="Calibri" pitchFamily="34" charset="-120"/>
                        </a:rPr>
                        <a:t>−28,400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0392B"/>
                    </a:solidFill>
                  </a:tcPr>
                </a:tc>
                <a:extLst>
                  <a:ext uri="{0D108BD9-81ED-4DB2-BD59-A6C34878D82A}">
                    <a16:rowId xmlns:a16="http://schemas.microsoft.com/office/drawing/2014/main" val="10004"/>
                  </a:ext>
                </a:extLst>
              </a:tr>
              <a:tr h="405765">
                <a:tc>
                  <a:txBody>
                    <a:bodyPr/>
                    <a:lstStyle/>
                    <a:p>
                      <a:pPr marL="0" indent="0" algn="l">
                        <a:buNone/>
                      </a:pPr>
                      <a:r>
                        <a:rPr lang="en-US" sz="1000" b="1" dirty="0">
                          <a:solidFill>
                            <a:srgbClr val="1A1A2E"/>
                          </a:solidFill>
                          <a:latin typeface="Calibri" pitchFamily="34" charset="0"/>
                          <a:ea typeface="Calibri" pitchFamily="34" charset="-122"/>
                          <a:cs typeface="Calibri" pitchFamily="34" charset="-120"/>
                        </a:rPr>
                        <a:t>ColVA</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0F4F7"/>
                    </a:solidFill>
                  </a:tcPr>
                </a:tc>
                <a:tc>
                  <a:txBody>
                    <a:bodyPr/>
                    <a:lstStyle/>
                    <a:p>
                      <a:pPr marL="0" indent="0" algn="r">
                        <a:buNone/>
                      </a:pPr>
                      <a:r>
                        <a:rPr lang="en-US" sz="1000" dirty="0">
                          <a:solidFill>
                            <a:srgbClr val="1A1A2E"/>
                          </a:solidFill>
                          <a:latin typeface="Calibri" pitchFamily="34" charset="0"/>
                          <a:ea typeface="Calibri" pitchFamily="34" charset="-122"/>
                          <a:cs typeface="Calibri" pitchFamily="34" charset="-120"/>
                        </a:rPr>
                        <a:t>zero</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0F4F7"/>
                    </a:solidFill>
                  </a:tcPr>
                </a:tc>
                <a:tc>
                  <a:txBody>
                    <a:bodyPr/>
                    <a:lstStyle/>
                    <a:p>
                      <a:pPr marL="0" indent="0" algn="r">
                        <a:buNone/>
                      </a:pPr>
                      <a:r>
                        <a:rPr lang="en-US" sz="1000" dirty="0">
                          <a:solidFill>
                            <a:srgbClr val="1A1A2E"/>
                          </a:solidFill>
                          <a:latin typeface="Calibri" pitchFamily="34" charset="0"/>
                          <a:ea typeface="Calibri" pitchFamily="34" charset="-122"/>
                          <a:cs typeface="Calibri" pitchFamily="34" charset="-120"/>
                        </a:rPr>
                        <a:t>zero</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0F4F7"/>
                    </a:solidFill>
                  </a:tcPr>
                </a:tc>
                <a:tc>
                  <a:txBody>
                    <a:bodyPr/>
                    <a:lstStyle/>
                    <a:p>
                      <a:pPr marL="0" indent="0" algn="r">
                        <a:buNone/>
                      </a:pPr>
                      <a:r>
                        <a:rPr lang="en-US" sz="1000" b="1" dirty="0">
                          <a:solidFill>
                            <a:srgbClr val="1A1A2E"/>
                          </a:solidFill>
                          <a:latin typeface="Calibri" pitchFamily="34" charset="0"/>
                          <a:ea typeface="Calibri" pitchFamily="34" charset="-122"/>
                          <a:cs typeface="Calibri" pitchFamily="34" charset="-120"/>
                        </a:rPr>
                        <a:t>+51,350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A896"/>
                    </a:solidFill>
                  </a:tcPr>
                </a:tc>
                <a:extLst>
                  <a:ext uri="{0D108BD9-81ED-4DB2-BD59-A6C34878D82A}">
                    <a16:rowId xmlns:a16="http://schemas.microsoft.com/office/drawing/2014/main" val="10005"/>
                  </a:ext>
                </a:extLst>
              </a:tr>
              <a:tr h="405765">
                <a:tc>
                  <a:txBody>
                    <a:bodyPr/>
                    <a:lstStyle/>
                    <a:p>
                      <a:pPr marL="0" indent="0" algn="l">
                        <a:buNone/>
                      </a:pPr>
                      <a:r>
                        <a:rPr lang="en-US" sz="1000" b="1" dirty="0">
                          <a:solidFill>
                            <a:srgbClr val="1A1A2E"/>
                          </a:solidFill>
                          <a:latin typeface="Calibri" pitchFamily="34" charset="0"/>
                          <a:ea typeface="Calibri" pitchFamily="34" charset="-122"/>
                          <a:cs typeface="Calibri" pitchFamily="34" charset="-120"/>
                        </a:rPr>
                        <a:t>KVA</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A1A2E"/>
                          </a:solidFill>
                          <a:latin typeface="Calibri" pitchFamily="34" charset="0"/>
                          <a:ea typeface="Calibri" pitchFamily="34" charset="-122"/>
                          <a:cs typeface="Calibri" pitchFamily="34" charset="-120"/>
                        </a:rPr>
                        <a:t>−49,356</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A1A2E"/>
                          </a:solidFill>
                          <a:latin typeface="Calibri" pitchFamily="34" charset="0"/>
                          <a:ea typeface="Calibri" pitchFamily="34" charset="-122"/>
                          <a:cs typeface="Calibri" pitchFamily="34" charset="-120"/>
                        </a:rPr>
                        <a:t>−8,200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A1A2E"/>
                          </a:solidFill>
                          <a:latin typeface="Calibri" pitchFamily="34" charset="0"/>
                          <a:ea typeface="Calibri" pitchFamily="34" charset="-122"/>
                          <a:cs typeface="Calibri" pitchFamily="34" charset="-120"/>
                        </a:rPr>
                        <a:t>−22,000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05765">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TOTAL XVA</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2A4A"/>
                    </a:solidFill>
                  </a:tcPr>
                </a:tc>
                <a:tc>
                  <a:txBody>
                    <a:bodyPr/>
                    <a:lstStyle/>
                    <a:p>
                      <a:pPr marL="0" indent="0" algn="r">
                        <a:buNone/>
                      </a:pPr>
                      <a:r>
                        <a:rPr lang="en-US" sz="1000" b="1" dirty="0">
                          <a:solidFill>
                            <a:srgbClr val="C8953A"/>
                          </a:solidFill>
                          <a:latin typeface="Calibri" pitchFamily="34" charset="0"/>
                          <a:ea typeface="Calibri" pitchFamily="34" charset="-122"/>
                          <a:cs typeface="Calibri" pitchFamily="34" charset="-120"/>
                        </a:rPr>
                        <a:t>−487,356</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2A4A"/>
                    </a:solidFill>
                  </a:tcPr>
                </a:tc>
                <a:tc>
                  <a:txBody>
                    <a:bodyPr/>
                    <a:lstStyle/>
                    <a:p>
                      <a:pPr marL="0" indent="0" algn="r">
                        <a:buNone/>
                      </a:pPr>
                      <a:r>
                        <a:rPr lang="en-US" sz="1000" b="1" dirty="0">
                          <a:solidFill>
                            <a:srgbClr val="C8953A"/>
                          </a:solidFill>
                          <a:latin typeface="Calibri" pitchFamily="34" charset="0"/>
                          <a:ea typeface="Calibri" pitchFamily="34" charset="-122"/>
                          <a:cs typeface="Calibri" pitchFamily="34" charset="-120"/>
                        </a:rPr>
                        <a:t>−36,600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2A4A"/>
                    </a:solidFill>
                  </a:tcPr>
                </a:tc>
                <a:tc>
                  <a:txBody>
                    <a:bodyPr/>
                    <a:lstStyle/>
                    <a:p>
                      <a:pPr marL="0" indent="0" algn="r">
                        <a:buNone/>
                      </a:pPr>
                      <a:r>
                        <a:rPr lang="en-US" sz="1000" b="1" dirty="0">
                          <a:solidFill>
                            <a:srgbClr val="C8953A"/>
                          </a:solidFill>
                          <a:latin typeface="Calibri" pitchFamily="34" charset="0"/>
                          <a:ea typeface="Calibri" pitchFamily="34" charset="-122"/>
                          <a:cs typeface="Calibri" pitchFamily="34" charset="-120"/>
                        </a:rPr>
                        <a:t>−87,550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2A4A"/>
                    </a:solidFill>
                  </a:tcPr>
                </a:tc>
                <a:extLst>
                  <a:ext uri="{0D108BD9-81ED-4DB2-BD59-A6C34878D82A}">
                    <a16:rowId xmlns:a16="http://schemas.microsoft.com/office/drawing/2014/main" val="10007"/>
                  </a:ext>
                </a:extLst>
              </a:tr>
            </a:tbl>
          </a:graphicData>
        </a:graphic>
      </p:graphicFrame>
      <p:sp>
        <p:nvSpPr>
          <p:cNvPr id="7" name="Shape 4"/>
          <p:cNvSpPr/>
          <p:nvPr/>
        </p:nvSpPr>
        <p:spPr>
          <a:xfrm>
            <a:off x="228600" y="4590288"/>
            <a:ext cx="2743200" cy="438912"/>
          </a:xfrm>
          <a:prstGeom prst="rect">
            <a:avLst/>
          </a:prstGeom>
          <a:solidFill>
            <a:srgbClr val="C0392B"/>
          </a:solidFill>
          <a:ln w="12700">
            <a:solidFill>
              <a:srgbClr val="C0392B"/>
            </a:solidFill>
            <a:prstDash val="solid"/>
          </a:ln>
        </p:spPr>
      </p:sp>
      <p:sp>
        <p:nvSpPr>
          <p:cNvPr id="8" name="Text 5"/>
          <p:cNvSpPr/>
          <p:nvPr/>
        </p:nvSpPr>
        <p:spPr>
          <a:xfrm>
            <a:off x="301752" y="4617720"/>
            <a:ext cx="2596896" cy="20116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No CSA: −EUR 487K</a:t>
            </a:r>
            <a:endParaRPr lang="en-US" sz="1000" dirty="0"/>
          </a:p>
        </p:txBody>
      </p:sp>
      <p:sp>
        <p:nvSpPr>
          <p:cNvPr id="9" name="Text 6"/>
          <p:cNvSpPr/>
          <p:nvPr/>
        </p:nvSpPr>
        <p:spPr>
          <a:xfrm>
            <a:off x="301752" y="4809744"/>
            <a:ext cx="2596896" cy="182880"/>
          </a:xfrm>
          <a:prstGeom prst="rect">
            <a:avLst/>
          </a:prstGeom>
          <a:noFill/>
          <a:ln/>
        </p:spPr>
        <p:txBody>
          <a:bodyPr wrap="square" rtlCol="0" anchor="ctr"/>
          <a:lstStyle/>
          <a:p>
            <a:pPr marL="0" indent="0">
              <a:buNone/>
            </a:pPr>
            <a:r>
              <a:rPr lang="en-US" sz="850" dirty="0">
                <a:solidFill>
                  <a:srgbClr val="FFFFFF"/>
                </a:solidFill>
                <a:latin typeface="Calibri" pitchFamily="34" charset="0"/>
                <a:ea typeface="Calibri" pitchFamily="34" charset="-122"/>
                <a:cs typeface="Calibri" pitchFamily="34" charset="-120"/>
              </a:rPr>
              <a:t>CVA+FVA dominate. 10× more expensive than fully collateralised.</a:t>
            </a:r>
            <a:endParaRPr lang="en-US" sz="850" dirty="0"/>
          </a:p>
        </p:txBody>
      </p:sp>
      <p:sp>
        <p:nvSpPr>
          <p:cNvPr id="10" name="Shape 7"/>
          <p:cNvSpPr/>
          <p:nvPr/>
        </p:nvSpPr>
        <p:spPr>
          <a:xfrm>
            <a:off x="3136392" y="4590288"/>
            <a:ext cx="2743200" cy="438912"/>
          </a:xfrm>
          <a:prstGeom prst="rect">
            <a:avLst/>
          </a:prstGeom>
          <a:solidFill>
            <a:srgbClr val="00A896"/>
          </a:solidFill>
          <a:ln w="12700">
            <a:solidFill>
              <a:srgbClr val="00A896"/>
            </a:solidFill>
            <a:prstDash val="solid"/>
          </a:ln>
        </p:spPr>
      </p:sp>
      <p:sp>
        <p:nvSpPr>
          <p:cNvPr id="11" name="Text 8"/>
          <p:cNvSpPr/>
          <p:nvPr/>
        </p:nvSpPr>
        <p:spPr>
          <a:xfrm>
            <a:off x="3209544" y="4617720"/>
            <a:ext cx="2596896" cy="20116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Full VM: −EUR 37K</a:t>
            </a:r>
            <a:endParaRPr lang="en-US" sz="1000" dirty="0"/>
          </a:p>
        </p:txBody>
      </p:sp>
      <p:sp>
        <p:nvSpPr>
          <p:cNvPr id="12" name="Text 9"/>
          <p:cNvSpPr/>
          <p:nvPr/>
        </p:nvSpPr>
        <p:spPr>
          <a:xfrm>
            <a:off x="3209544" y="4809744"/>
            <a:ext cx="2596896" cy="182880"/>
          </a:xfrm>
          <a:prstGeom prst="rect">
            <a:avLst/>
          </a:prstGeom>
          <a:noFill/>
          <a:ln/>
        </p:spPr>
        <p:txBody>
          <a:bodyPr wrap="square" rtlCol="0" anchor="ctr"/>
          <a:lstStyle/>
          <a:p>
            <a:pPr marL="0" indent="0">
              <a:buNone/>
            </a:pPr>
            <a:r>
              <a:rPr lang="en-US" sz="850" dirty="0">
                <a:solidFill>
                  <a:srgbClr val="FFFFFF"/>
                </a:solidFill>
                <a:latin typeface="Calibri" pitchFamily="34" charset="0"/>
                <a:ea typeface="Calibri" pitchFamily="34" charset="-122"/>
                <a:cs typeface="Calibri" pitchFamily="34" charset="-120"/>
              </a:rPr>
              <a:t>MVA dominates. 92% total cost reduction.</a:t>
            </a:r>
            <a:endParaRPr lang="en-US" sz="850" dirty="0"/>
          </a:p>
        </p:txBody>
      </p:sp>
      <p:sp>
        <p:nvSpPr>
          <p:cNvPr id="6" name="Shape 10"/>
          <p:cNvSpPr/>
          <p:nvPr/>
        </p:nvSpPr>
        <p:spPr>
          <a:xfrm>
            <a:off x="6044184" y="4590288"/>
            <a:ext cx="2743200" cy="438912"/>
          </a:xfrm>
          <a:prstGeom prst="rect">
            <a:avLst/>
          </a:prstGeom>
          <a:solidFill>
            <a:srgbClr val="C8953A"/>
          </a:solidFill>
          <a:ln w="12700">
            <a:solidFill>
              <a:srgbClr val="C8953A"/>
            </a:solidFill>
            <a:prstDash val="solid"/>
          </a:ln>
        </p:spPr>
      </p:sp>
      <p:sp>
        <p:nvSpPr>
          <p:cNvPr id="14" name="Text 11"/>
          <p:cNvSpPr/>
          <p:nvPr/>
        </p:nvSpPr>
        <p:spPr>
          <a:xfrm>
            <a:off x="6117336" y="4617720"/>
            <a:ext cx="2596896" cy="201168"/>
          </a:xfrm>
          <a:prstGeom prst="rect">
            <a:avLst/>
          </a:prstGeom>
          <a:noFill/>
          <a:ln/>
        </p:spPr>
        <p:txBody>
          <a:bodyPr wrap="square" rtlCol="0" anchor="ctr"/>
          <a:lstStyle/>
          <a:p>
            <a:pPr marL="0" indent="0">
              <a:buNone/>
            </a:pPr>
            <a:r>
              <a:rPr lang="en-US" sz="1000" b="1" dirty="0">
                <a:solidFill>
                  <a:srgbClr val="1A1A2E"/>
                </a:solidFill>
                <a:latin typeface="Calibri" pitchFamily="34" charset="0"/>
                <a:ea typeface="Calibri" pitchFamily="34" charset="-122"/>
                <a:cs typeface="Calibri" pitchFamily="34" charset="-120"/>
              </a:rPr>
              <a:t>Multi-CCY: −EUR 88K</a:t>
            </a:r>
            <a:endParaRPr lang="en-US" sz="1000" dirty="0"/>
          </a:p>
        </p:txBody>
      </p:sp>
      <p:sp>
        <p:nvSpPr>
          <p:cNvPr id="15" name="Text 12"/>
          <p:cNvSpPr/>
          <p:nvPr/>
        </p:nvSpPr>
        <p:spPr>
          <a:xfrm>
            <a:off x="6117336" y="4809744"/>
            <a:ext cx="2596896" cy="182880"/>
          </a:xfrm>
          <a:prstGeom prst="rect">
            <a:avLst/>
          </a:prstGeom>
          <a:noFill/>
          <a:ln/>
        </p:spPr>
        <p:txBody>
          <a:bodyPr wrap="square" rtlCol="0" anchor="ctr"/>
          <a:lstStyle/>
          <a:p>
            <a:pPr marL="0" indent="0">
              <a:buNone/>
            </a:pPr>
            <a:r>
              <a:rPr lang="en-US" sz="850" dirty="0">
                <a:solidFill>
                  <a:srgbClr val="1A1A2E"/>
                </a:solidFill>
                <a:latin typeface="Calibri" pitchFamily="34" charset="0"/>
                <a:ea typeface="Calibri" pitchFamily="34" charset="-122"/>
                <a:cs typeface="Calibri" pitchFamily="34" charset="-120"/>
              </a:rPr>
              <a:t>ColVA offsets 37% of remaining cost.</a:t>
            </a:r>
            <a:endParaRPr lang="en-US" sz="850" dirty="0"/>
          </a:p>
        </p:txBody>
      </p:sp>
      <p:sp>
        <p:nvSpPr>
          <p:cNvPr id="16" name="Text 13"/>
          <p:cNvSpPr/>
          <p:nvPr/>
        </p:nvSpPr>
        <p:spPr>
          <a:xfrm>
            <a:off x="228600" y="4846320"/>
            <a:ext cx="7772400" cy="201168"/>
          </a:xfrm>
          <a:prstGeom prst="rect">
            <a:avLst/>
          </a:prstGeom>
          <a:noFill/>
          <a:ln/>
        </p:spPr>
        <p:txBody>
          <a:bodyPr wrap="square" rtlCol="0" anchor="ctr"/>
          <a:lstStyle/>
          <a:p>
            <a:pPr marL="0" indent="0">
              <a:buNone/>
            </a:pPr>
            <a:r>
              <a:rPr lang="en-US" sz="800" dirty="0">
                <a:solidFill>
                  <a:srgbClr val="8A9BB0"/>
                </a:solidFill>
                <a:latin typeface="Calibri" pitchFamily="34" charset="0"/>
                <a:ea typeface="Calibri" pitchFamily="34" charset="-122"/>
                <a:cs typeface="Calibri" pitchFamily="34" charset="-120"/>
              </a:rPr>
              <a:t>Module 6: KVA, ColVA &amp; Capital Costs  |  Sarthaka Nanda  |  © 2026  CC BY-NC 4.0</a:t>
            </a:r>
            <a:endParaRPr lang="en-US" sz="800" dirty="0"/>
          </a:p>
        </p:txBody>
      </p:sp>
      <p:sp>
        <p:nvSpPr>
          <p:cNvPr id="17" name="Text 14"/>
          <p:cNvSpPr/>
          <p:nvPr/>
        </p:nvSpPr>
        <p:spPr>
          <a:xfrm>
            <a:off x="8686800" y="4846320"/>
            <a:ext cx="365760" cy="201168"/>
          </a:xfrm>
          <a:prstGeom prst="rect">
            <a:avLst/>
          </a:prstGeom>
          <a:noFill/>
          <a:ln/>
        </p:spPr>
        <p:txBody>
          <a:bodyPr wrap="square" rtlCol="0" anchor="ctr"/>
          <a:lstStyle/>
          <a:p>
            <a:pPr marL="0" indent="0" algn="r">
              <a:buNone/>
            </a:pPr>
            <a:r>
              <a:rPr lang="en-US" sz="800" dirty="0">
                <a:solidFill>
                  <a:srgbClr val="8A9BB0"/>
                </a:solidFill>
                <a:latin typeface="Calibri" pitchFamily="34" charset="0"/>
                <a:ea typeface="Calibri" pitchFamily="34" charset="-122"/>
                <a:cs typeface="Calibri"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28090"/>
          </a:solidFill>
          <a:ln w="12700">
            <a:solidFill>
              <a:srgbClr val="028090"/>
            </a:solidFill>
            <a:prstDash val="solid"/>
          </a:ln>
        </p:spPr>
      </p:sp>
      <p:sp>
        <p:nvSpPr>
          <p:cNvPr id="3" name="Text 1"/>
          <p:cNvSpPr/>
          <p:nvPr/>
        </p:nvSpPr>
        <p:spPr>
          <a:xfrm>
            <a:off x="228600" y="457200"/>
            <a:ext cx="8686800" cy="64008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XVA Interactions — Double-Count Risks</a:t>
            </a:r>
            <a:endParaRPr lang="en-US" sz="2800" dirty="0"/>
          </a:p>
        </p:txBody>
      </p:sp>
      <p:sp>
        <p:nvSpPr>
          <p:cNvPr id="4" name="Shape 2"/>
          <p:cNvSpPr/>
          <p:nvPr/>
        </p:nvSpPr>
        <p:spPr>
          <a:xfrm>
            <a:off x="228600" y="1234440"/>
            <a:ext cx="2743200" cy="3474720"/>
          </a:xfrm>
          <a:prstGeom prst="rect">
            <a:avLst/>
          </a:prstGeom>
          <a:solidFill>
            <a:srgbClr val="152235"/>
          </a:solidFill>
          <a:ln w="12700">
            <a:solidFill>
              <a:srgbClr val="C0392B"/>
            </a:solidFill>
            <a:prstDash val="solid"/>
          </a:ln>
        </p:spPr>
      </p:sp>
      <p:sp>
        <p:nvSpPr>
          <p:cNvPr id="5" name="Shape 3"/>
          <p:cNvSpPr/>
          <p:nvPr/>
        </p:nvSpPr>
        <p:spPr>
          <a:xfrm>
            <a:off x="228600" y="1234440"/>
            <a:ext cx="2743200" cy="384048"/>
          </a:xfrm>
          <a:prstGeom prst="rect">
            <a:avLst/>
          </a:prstGeom>
          <a:solidFill>
            <a:srgbClr val="C0392B"/>
          </a:solidFill>
          <a:ln w="12700">
            <a:solidFill>
              <a:srgbClr val="C0392B"/>
            </a:solidFill>
            <a:prstDash val="solid"/>
          </a:ln>
        </p:spPr>
      </p:sp>
      <p:sp>
        <p:nvSpPr>
          <p:cNvPr id="6" name="Text 4"/>
          <p:cNvSpPr/>
          <p:nvPr/>
        </p:nvSpPr>
        <p:spPr>
          <a:xfrm>
            <a:off x="320040" y="1280160"/>
            <a:ext cx="2560320" cy="29260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CVA vs FVA</a:t>
            </a:r>
            <a:endParaRPr lang="en-US" sz="1300" dirty="0"/>
          </a:p>
        </p:txBody>
      </p:sp>
      <p:sp>
        <p:nvSpPr>
          <p:cNvPr id="7" name="Shape 5"/>
          <p:cNvSpPr/>
          <p:nvPr/>
        </p:nvSpPr>
        <p:spPr>
          <a:xfrm>
            <a:off x="320040" y="1737360"/>
            <a:ext cx="777240" cy="347472"/>
          </a:xfrm>
          <a:prstGeom prst="rect">
            <a:avLst/>
          </a:prstGeom>
          <a:solidFill>
            <a:srgbClr val="1B2A4A"/>
          </a:solidFill>
          <a:ln w="12700">
            <a:solidFill>
              <a:srgbClr val="1B2A4A"/>
            </a:solidFill>
            <a:prstDash val="solid"/>
          </a:ln>
        </p:spPr>
      </p:sp>
      <p:sp>
        <p:nvSpPr>
          <p:cNvPr id="8" name="Text 6"/>
          <p:cNvSpPr/>
          <p:nvPr/>
        </p:nvSpPr>
        <p:spPr>
          <a:xfrm>
            <a:off x="320040" y="1737360"/>
            <a:ext cx="777240" cy="347472"/>
          </a:xfrm>
          <a:prstGeom prst="rect">
            <a:avLst/>
          </a:prstGeom>
          <a:noFill/>
          <a:ln/>
        </p:spPr>
        <p:txBody>
          <a:bodyPr wrap="square" rtlCol="0" anchor="ctr"/>
          <a:lstStyle/>
          <a:p>
            <a:pPr marL="0" indent="0" algn="ctr">
              <a:buNone/>
            </a:pPr>
            <a:r>
              <a:rPr lang="en-US" sz="1200" b="1" dirty="0">
                <a:solidFill>
                  <a:srgbClr val="C0392B"/>
                </a:solidFill>
                <a:latin typeface="Calibri" pitchFamily="34" charset="0"/>
                <a:ea typeface="Calibri" pitchFamily="34" charset="-122"/>
                <a:cs typeface="Calibri" pitchFamily="34" charset="-120"/>
              </a:rPr>
              <a:t>CVA</a:t>
            </a:r>
            <a:endParaRPr lang="en-US" sz="1200" dirty="0"/>
          </a:p>
        </p:txBody>
      </p:sp>
      <p:sp>
        <p:nvSpPr>
          <p:cNvPr id="9" name="Shape 7"/>
          <p:cNvSpPr/>
          <p:nvPr/>
        </p:nvSpPr>
        <p:spPr>
          <a:xfrm>
            <a:off x="1325880" y="1737360"/>
            <a:ext cx="777240" cy="347472"/>
          </a:xfrm>
          <a:prstGeom prst="rect">
            <a:avLst/>
          </a:prstGeom>
          <a:solidFill>
            <a:srgbClr val="1B2A4A"/>
          </a:solidFill>
          <a:ln w="12700">
            <a:solidFill>
              <a:srgbClr val="1B2A4A"/>
            </a:solidFill>
            <a:prstDash val="solid"/>
          </a:ln>
        </p:spPr>
      </p:sp>
      <p:sp>
        <p:nvSpPr>
          <p:cNvPr id="10" name="Text 8"/>
          <p:cNvSpPr/>
          <p:nvPr/>
        </p:nvSpPr>
        <p:spPr>
          <a:xfrm>
            <a:off x="1325880" y="1737360"/>
            <a:ext cx="777240" cy="347472"/>
          </a:xfrm>
          <a:prstGeom prst="rect">
            <a:avLst/>
          </a:prstGeom>
          <a:noFill/>
          <a:ln/>
        </p:spPr>
        <p:txBody>
          <a:bodyPr wrap="square" rtlCol="0" anchor="ctr"/>
          <a:lstStyle/>
          <a:p>
            <a:pPr marL="0" indent="0" algn="ctr">
              <a:buNone/>
            </a:pPr>
            <a:r>
              <a:rPr lang="en-US" sz="1200" b="1" dirty="0">
                <a:solidFill>
                  <a:srgbClr val="C0392B"/>
                </a:solidFill>
                <a:latin typeface="Calibri" pitchFamily="34" charset="0"/>
                <a:ea typeface="Calibri" pitchFamily="34" charset="-122"/>
                <a:cs typeface="Calibri" pitchFamily="34" charset="-120"/>
              </a:rPr>
              <a:t>⟷</a:t>
            </a:r>
            <a:endParaRPr lang="en-US" sz="1200" dirty="0"/>
          </a:p>
        </p:txBody>
      </p:sp>
      <p:sp>
        <p:nvSpPr>
          <p:cNvPr id="11" name="Shape 9"/>
          <p:cNvSpPr/>
          <p:nvPr/>
        </p:nvSpPr>
        <p:spPr>
          <a:xfrm>
            <a:off x="1920240" y="1737360"/>
            <a:ext cx="777240" cy="347472"/>
          </a:xfrm>
          <a:prstGeom prst="rect">
            <a:avLst/>
          </a:prstGeom>
          <a:solidFill>
            <a:srgbClr val="1B2A4A"/>
          </a:solidFill>
          <a:ln w="12700">
            <a:solidFill>
              <a:srgbClr val="1B2A4A"/>
            </a:solidFill>
            <a:prstDash val="solid"/>
          </a:ln>
        </p:spPr>
      </p:sp>
      <p:sp>
        <p:nvSpPr>
          <p:cNvPr id="12" name="Text 10"/>
          <p:cNvSpPr/>
          <p:nvPr/>
        </p:nvSpPr>
        <p:spPr>
          <a:xfrm>
            <a:off x="1920240" y="1737360"/>
            <a:ext cx="777240" cy="347472"/>
          </a:xfrm>
          <a:prstGeom prst="rect">
            <a:avLst/>
          </a:prstGeom>
          <a:noFill/>
          <a:ln/>
        </p:spPr>
        <p:txBody>
          <a:bodyPr wrap="square" rtlCol="0" anchor="ctr"/>
          <a:lstStyle/>
          <a:p>
            <a:pPr marL="0" indent="0" algn="ctr">
              <a:buNone/>
            </a:pPr>
            <a:r>
              <a:rPr lang="en-US" sz="1200" b="1" dirty="0">
                <a:solidFill>
                  <a:srgbClr val="C0392B"/>
                </a:solidFill>
                <a:latin typeface="Calibri" pitchFamily="34" charset="0"/>
                <a:ea typeface="Calibri" pitchFamily="34" charset="-122"/>
                <a:cs typeface="Calibri" pitchFamily="34" charset="-120"/>
              </a:rPr>
              <a:t>FVA</a:t>
            </a:r>
            <a:endParaRPr lang="en-US" sz="1200" dirty="0"/>
          </a:p>
        </p:txBody>
      </p:sp>
      <p:sp>
        <p:nvSpPr>
          <p:cNvPr id="13" name="Text 11"/>
          <p:cNvSpPr/>
          <p:nvPr/>
        </p:nvSpPr>
        <p:spPr>
          <a:xfrm>
            <a:off x="320040" y="2194560"/>
            <a:ext cx="2560320" cy="2377440"/>
          </a:xfrm>
          <a:prstGeom prst="rect">
            <a:avLst/>
          </a:prstGeom>
          <a:noFill/>
          <a:ln/>
        </p:spPr>
        <p:txBody>
          <a:bodyPr wrap="square" rtlCol="0" anchor="ctr"/>
          <a:lstStyle/>
          <a:p>
            <a:pPr marL="0" indent="0">
              <a:buNone/>
            </a:pPr>
            <a:r>
              <a:rPr lang="en-US" sz="1050" dirty="0">
                <a:solidFill>
                  <a:srgbClr val="F4F6F8"/>
                </a:solidFill>
                <a:latin typeface="Calibri" pitchFamily="34" charset="0"/>
                <a:ea typeface="Calibri" pitchFamily="34" charset="-122"/>
                <a:cs typeface="Calibri" pitchFamily="34" charset="-120"/>
              </a:rPr>
              <a:t>A defaultable counterparty provides a funding benefit — if they default, you don't need to fund the exposure. Computing both independently double-counts this benefit. Solution: FCA/FBA split — FVA computed net of CVA.</a:t>
            </a:r>
            <a:endParaRPr lang="en-US" sz="1050" dirty="0"/>
          </a:p>
        </p:txBody>
      </p:sp>
      <p:sp>
        <p:nvSpPr>
          <p:cNvPr id="14" name="Shape 12"/>
          <p:cNvSpPr/>
          <p:nvPr/>
        </p:nvSpPr>
        <p:spPr>
          <a:xfrm>
            <a:off x="3172968" y="1234440"/>
            <a:ext cx="2743200" cy="3474720"/>
          </a:xfrm>
          <a:prstGeom prst="rect">
            <a:avLst/>
          </a:prstGeom>
          <a:solidFill>
            <a:srgbClr val="152235"/>
          </a:solidFill>
          <a:ln w="12700">
            <a:solidFill>
              <a:srgbClr val="C8953A"/>
            </a:solidFill>
            <a:prstDash val="solid"/>
          </a:ln>
        </p:spPr>
      </p:sp>
      <p:sp>
        <p:nvSpPr>
          <p:cNvPr id="15" name="Shape 13"/>
          <p:cNvSpPr/>
          <p:nvPr/>
        </p:nvSpPr>
        <p:spPr>
          <a:xfrm>
            <a:off x="3172968" y="1234440"/>
            <a:ext cx="2743200" cy="384048"/>
          </a:xfrm>
          <a:prstGeom prst="rect">
            <a:avLst/>
          </a:prstGeom>
          <a:solidFill>
            <a:srgbClr val="C8953A"/>
          </a:solidFill>
          <a:ln w="12700">
            <a:solidFill>
              <a:srgbClr val="C8953A"/>
            </a:solidFill>
            <a:prstDash val="solid"/>
          </a:ln>
        </p:spPr>
      </p:sp>
      <p:sp>
        <p:nvSpPr>
          <p:cNvPr id="16" name="Text 14"/>
          <p:cNvSpPr/>
          <p:nvPr/>
        </p:nvSpPr>
        <p:spPr>
          <a:xfrm>
            <a:off x="3264408" y="1280160"/>
            <a:ext cx="2560320" cy="29260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FVA vs ColVA</a:t>
            </a:r>
            <a:endParaRPr lang="en-US" sz="1300" dirty="0"/>
          </a:p>
        </p:txBody>
      </p:sp>
      <p:sp>
        <p:nvSpPr>
          <p:cNvPr id="17" name="Shape 15"/>
          <p:cNvSpPr/>
          <p:nvPr/>
        </p:nvSpPr>
        <p:spPr>
          <a:xfrm>
            <a:off x="3264408" y="1737360"/>
            <a:ext cx="777240" cy="347472"/>
          </a:xfrm>
          <a:prstGeom prst="rect">
            <a:avLst/>
          </a:prstGeom>
          <a:solidFill>
            <a:srgbClr val="1B2A4A"/>
          </a:solidFill>
          <a:ln w="12700">
            <a:solidFill>
              <a:srgbClr val="1B2A4A"/>
            </a:solidFill>
            <a:prstDash val="solid"/>
          </a:ln>
        </p:spPr>
      </p:sp>
      <p:sp>
        <p:nvSpPr>
          <p:cNvPr id="18" name="Text 16"/>
          <p:cNvSpPr/>
          <p:nvPr/>
        </p:nvSpPr>
        <p:spPr>
          <a:xfrm>
            <a:off x="3264408" y="1737360"/>
            <a:ext cx="777240" cy="347472"/>
          </a:xfrm>
          <a:prstGeom prst="rect">
            <a:avLst/>
          </a:prstGeom>
          <a:noFill/>
          <a:ln/>
        </p:spPr>
        <p:txBody>
          <a:bodyPr wrap="square" rtlCol="0" anchor="ctr"/>
          <a:lstStyle/>
          <a:p>
            <a:pPr marL="0" indent="0" algn="ctr">
              <a:buNone/>
            </a:pPr>
            <a:r>
              <a:rPr lang="en-US" sz="1200" b="1" dirty="0">
                <a:solidFill>
                  <a:srgbClr val="C8953A"/>
                </a:solidFill>
                <a:latin typeface="Calibri" pitchFamily="34" charset="0"/>
                <a:ea typeface="Calibri" pitchFamily="34" charset="-122"/>
                <a:cs typeface="Calibri" pitchFamily="34" charset="-120"/>
              </a:rPr>
              <a:t>FVA</a:t>
            </a:r>
            <a:endParaRPr lang="en-US" sz="1200" dirty="0"/>
          </a:p>
        </p:txBody>
      </p:sp>
      <p:sp>
        <p:nvSpPr>
          <p:cNvPr id="19" name="Shape 17"/>
          <p:cNvSpPr/>
          <p:nvPr/>
        </p:nvSpPr>
        <p:spPr>
          <a:xfrm>
            <a:off x="4270248" y="1737360"/>
            <a:ext cx="777240" cy="347472"/>
          </a:xfrm>
          <a:prstGeom prst="rect">
            <a:avLst/>
          </a:prstGeom>
          <a:solidFill>
            <a:srgbClr val="1B2A4A"/>
          </a:solidFill>
          <a:ln w="12700">
            <a:solidFill>
              <a:srgbClr val="1B2A4A"/>
            </a:solidFill>
            <a:prstDash val="solid"/>
          </a:ln>
        </p:spPr>
      </p:sp>
      <p:sp>
        <p:nvSpPr>
          <p:cNvPr id="20" name="Text 18"/>
          <p:cNvSpPr/>
          <p:nvPr/>
        </p:nvSpPr>
        <p:spPr>
          <a:xfrm>
            <a:off x="4270248" y="1737360"/>
            <a:ext cx="777240" cy="347472"/>
          </a:xfrm>
          <a:prstGeom prst="rect">
            <a:avLst/>
          </a:prstGeom>
          <a:noFill/>
          <a:ln/>
        </p:spPr>
        <p:txBody>
          <a:bodyPr wrap="square" rtlCol="0" anchor="ctr"/>
          <a:lstStyle/>
          <a:p>
            <a:pPr marL="0" indent="0" algn="ctr">
              <a:buNone/>
            </a:pPr>
            <a:r>
              <a:rPr lang="en-US" sz="1200" b="1" dirty="0">
                <a:solidFill>
                  <a:srgbClr val="C8953A"/>
                </a:solidFill>
                <a:latin typeface="Calibri" pitchFamily="34" charset="0"/>
                <a:ea typeface="Calibri" pitchFamily="34" charset="-122"/>
                <a:cs typeface="Calibri" pitchFamily="34" charset="-120"/>
              </a:rPr>
              <a:t>⟷</a:t>
            </a:r>
            <a:endParaRPr lang="en-US" sz="1200" dirty="0"/>
          </a:p>
        </p:txBody>
      </p:sp>
      <p:sp>
        <p:nvSpPr>
          <p:cNvPr id="21" name="Shape 19"/>
          <p:cNvSpPr/>
          <p:nvPr/>
        </p:nvSpPr>
        <p:spPr>
          <a:xfrm>
            <a:off x="4864608" y="1737360"/>
            <a:ext cx="777240" cy="347472"/>
          </a:xfrm>
          <a:prstGeom prst="rect">
            <a:avLst/>
          </a:prstGeom>
          <a:solidFill>
            <a:srgbClr val="1B2A4A"/>
          </a:solidFill>
          <a:ln w="12700">
            <a:solidFill>
              <a:srgbClr val="1B2A4A"/>
            </a:solidFill>
            <a:prstDash val="solid"/>
          </a:ln>
        </p:spPr>
      </p:sp>
      <p:sp>
        <p:nvSpPr>
          <p:cNvPr id="22" name="Text 20"/>
          <p:cNvSpPr/>
          <p:nvPr/>
        </p:nvSpPr>
        <p:spPr>
          <a:xfrm>
            <a:off x="4864608" y="1737360"/>
            <a:ext cx="777240" cy="347472"/>
          </a:xfrm>
          <a:prstGeom prst="rect">
            <a:avLst/>
          </a:prstGeom>
          <a:noFill/>
          <a:ln/>
        </p:spPr>
        <p:txBody>
          <a:bodyPr wrap="square" rtlCol="0" anchor="ctr"/>
          <a:lstStyle/>
          <a:p>
            <a:pPr marL="0" indent="0" algn="ctr">
              <a:buNone/>
            </a:pPr>
            <a:r>
              <a:rPr lang="en-US" sz="1200" b="1" dirty="0">
                <a:solidFill>
                  <a:srgbClr val="C8953A"/>
                </a:solidFill>
                <a:latin typeface="Calibri" pitchFamily="34" charset="0"/>
                <a:ea typeface="Calibri" pitchFamily="34" charset="-122"/>
                <a:cs typeface="Calibri" pitchFamily="34" charset="-120"/>
              </a:rPr>
              <a:t>ColVA</a:t>
            </a:r>
            <a:endParaRPr lang="en-US" sz="1200" dirty="0"/>
          </a:p>
        </p:txBody>
      </p:sp>
      <p:sp>
        <p:nvSpPr>
          <p:cNvPr id="23" name="Text 21"/>
          <p:cNvSpPr/>
          <p:nvPr/>
        </p:nvSpPr>
        <p:spPr>
          <a:xfrm>
            <a:off x="3264408" y="2194560"/>
            <a:ext cx="2560320" cy="2377440"/>
          </a:xfrm>
          <a:prstGeom prst="rect">
            <a:avLst/>
          </a:prstGeom>
          <a:noFill/>
          <a:ln/>
        </p:spPr>
        <p:txBody>
          <a:bodyPr wrap="square" rtlCol="0" anchor="ctr"/>
          <a:lstStyle/>
          <a:p>
            <a:pPr marL="0" indent="0">
              <a:buNone/>
            </a:pPr>
            <a:r>
              <a:rPr lang="en-US" sz="1050" dirty="0">
                <a:solidFill>
                  <a:srgbClr val="F4F6F8"/>
                </a:solidFill>
                <a:latin typeface="Calibri" pitchFamily="34" charset="0"/>
                <a:ea typeface="Calibri" pitchFamily="34" charset="-122"/>
                <a:cs typeface="Calibri" pitchFamily="34" charset="-120"/>
              </a:rPr>
              <a:t>The CTD asset chosen under ColVA affects the funding cost of the remaining uncollateralised exposure. Both must be modelled jointly in consistent simulation paths — not summed independently.</a:t>
            </a:r>
            <a:endParaRPr lang="en-US" sz="1050" dirty="0"/>
          </a:p>
        </p:txBody>
      </p:sp>
      <p:sp>
        <p:nvSpPr>
          <p:cNvPr id="24" name="Shape 22"/>
          <p:cNvSpPr/>
          <p:nvPr/>
        </p:nvSpPr>
        <p:spPr>
          <a:xfrm>
            <a:off x="6117336" y="1234440"/>
            <a:ext cx="2743200" cy="3474720"/>
          </a:xfrm>
          <a:prstGeom prst="rect">
            <a:avLst/>
          </a:prstGeom>
          <a:solidFill>
            <a:srgbClr val="152235"/>
          </a:solidFill>
          <a:ln w="12700">
            <a:solidFill>
              <a:srgbClr val="028090"/>
            </a:solidFill>
            <a:prstDash val="solid"/>
          </a:ln>
        </p:spPr>
      </p:sp>
      <p:sp>
        <p:nvSpPr>
          <p:cNvPr id="25" name="Shape 23"/>
          <p:cNvSpPr/>
          <p:nvPr/>
        </p:nvSpPr>
        <p:spPr>
          <a:xfrm>
            <a:off x="6117336" y="1234440"/>
            <a:ext cx="2743200" cy="384048"/>
          </a:xfrm>
          <a:prstGeom prst="rect">
            <a:avLst/>
          </a:prstGeom>
          <a:solidFill>
            <a:srgbClr val="028090"/>
          </a:solidFill>
          <a:ln w="12700">
            <a:solidFill>
              <a:srgbClr val="028090"/>
            </a:solidFill>
            <a:prstDash val="solid"/>
          </a:ln>
        </p:spPr>
      </p:sp>
      <p:sp>
        <p:nvSpPr>
          <p:cNvPr id="26" name="Text 24"/>
          <p:cNvSpPr/>
          <p:nvPr/>
        </p:nvSpPr>
        <p:spPr>
          <a:xfrm>
            <a:off x="6208776" y="1280160"/>
            <a:ext cx="2560320" cy="29260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MVA vs KVA</a:t>
            </a:r>
            <a:endParaRPr lang="en-US" sz="1300" dirty="0"/>
          </a:p>
        </p:txBody>
      </p:sp>
      <p:sp>
        <p:nvSpPr>
          <p:cNvPr id="27" name="Shape 25"/>
          <p:cNvSpPr/>
          <p:nvPr/>
        </p:nvSpPr>
        <p:spPr>
          <a:xfrm>
            <a:off x="6208776" y="1737360"/>
            <a:ext cx="777240" cy="347472"/>
          </a:xfrm>
          <a:prstGeom prst="rect">
            <a:avLst/>
          </a:prstGeom>
          <a:solidFill>
            <a:srgbClr val="1B2A4A"/>
          </a:solidFill>
          <a:ln w="12700">
            <a:solidFill>
              <a:srgbClr val="1B2A4A"/>
            </a:solidFill>
            <a:prstDash val="solid"/>
          </a:ln>
        </p:spPr>
      </p:sp>
      <p:sp>
        <p:nvSpPr>
          <p:cNvPr id="28" name="Text 26"/>
          <p:cNvSpPr/>
          <p:nvPr/>
        </p:nvSpPr>
        <p:spPr>
          <a:xfrm>
            <a:off x="6208776" y="1737360"/>
            <a:ext cx="777240" cy="347472"/>
          </a:xfrm>
          <a:prstGeom prst="rect">
            <a:avLst/>
          </a:prstGeom>
          <a:noFill/>
          <a:ln/>
        </p:spPr>
        <p:txBody>
          <a:bodyPr wrap="square" rtlCol="0" anchor="ctr"/>
          <a:lstStyle/>
          <a:p>
            <a:pPr marL="0" indent="0" algn="ctr">
              <a:buNone/>
            </a:pPr>
            <a:r>
              <a:rPr lang="en-US" sz="1200" b="1" dirty="0">
                <a:solidFill>
                  <a:srgbClr val="028090"/>
                </a:solidFill>
                <a:latin typeface="Calibri" pitchFamily="34" charset="0"/>
                <a:ea typeface="Calibri" pitchFamily="34" charset="-122"/>
                <a:cs typeface="Calibri" pitchFamily="34" charset="-120"/>
              </a:rPr>
              <a:t>MVA</a:t>
            </a:r>
            <a:endParaRPr lang="en-US" sz="1200" dirty="0"/>
          </a:p>
        </p:txBody>
      </p:sp>
      <p:sp>
        <p:nvSpPr>
          <p:cNvPr id="29" name="Shape 27"/>
          <p:cNvSpPr/>
          <p:nvPr/>
        </p:nvSpPr>
        <p:spPr>
          <a:xfrm>
            <a:off x="7214616" y="1737360"/>
            <a:ext cx="777240" cy="347472"/>
          </a:xfrm>
          <a:prstGeom prst="rect">
            <a:avLst/>
          </a:prstGeom>
          <a:solidFill>
            <a:srgbClr val="1B2A4A"/>
          </a:solidFill>
          <a:ln w="12700">
            <a:solidFill>
              <a:srgbClr val="1B2A4A"/>
            </a:solidFill>
            <a:prstDash val="solid"/>
          </a:ln>
        </p:spPr>
      </p:sp>
      <p:sp>
        <p:nvSpPr>
          <p:cNvPr id="30" name="Text 28"/>
          <p:cNvSpPr/>
          <p:nvPr/>
        </p:nvSpPr>
        <p:spPr>
          <a:xfrm>
            <a:off x="7214616" y="1737360"/>
            <a:ext cx="777240" cy="347472"/>
          </a:xfrm>
          <a:prstGeom prst="rect">
            <a:avLst/>
          </a:prstGeom>
          <a:noFill/>
          <a:ln/>
        </p:spPr>
        <p:txBody>
          <a:bodyPr wrap="square" rtlCol="0" anchor="ctr"/>
          <a:lstStyle/>
          <a:p>
            <a:pPr marL="0" indent="0" algn="ctr">
              <a:buNone/>
            </a:pPr>
            <a:r>
              <a:rPr lang="en-US" sz="1200" b="1" dirty="0">
                <a:solidFill>
                  <a:srgbClr val="028090"/>
                </a:solidFill>
                <a:latin typeface="Calibri" pitchFamily="34" charset="0"/>
                <a:ea typeface="Calibri" pitchFamily="34" charset="-122"/>
                <a:cs typeface="Calibri" pitchFamily="34" charset="-120"/>
              </a:rPr>
              <a:t>⟷</a:t>
            </a:r>
            <a:endParaRPr lang="en-US" sz="1200" dirty="0"/>
          </a:p>
        </p:txBody>
      </p:sp>
      <p:sp>
        <p:nvSpPr>
          <p:cNvPr id="31" name="Shape 29"/>
          <p:cNvSpPr/>
          <p:nvPr/>
        </p:nvSpPr>
        <p:spPr>
          <a:xfrm>
            <a:off x="7808976" y="1737360"/>
            <a:ext cx="777240" cy="347472"/>
          </a:xfrm>
          <a:prstGeom prst="rect">
            <a:avLst/>
          </a:prstGeom>
          <a:solidFill>
            <a:srgbClr val="1B2A4A"/>
          </a:solidFill>
          <a:ln w="12700">
            <a:solidFill>
              <a:srgbClr val="1B2A4A"/>
            </a:solidFill>
            <a:prstDash val="solid"/>
          </a:ln>
        </p:spPr>
      </p:sp>
      <p:sp>
        <p:nvSpPr>
          <p:cNvPr id="32" name="Text 30"/>
          <p:cNvSpPr/>
          <p:nvPr/>
        </p:nvSpPr>
        <p:spPr>
          <a:xfrm>
            <a:off x="7808976" y="1737360"/>
            <a:ext cx="777240" cy="347472"/>
          </a:xfrm>
          <a:prstGeom prst="rect">
            <a:avLst/>
          </a:prstGeom>
          <a:noFill/>
          <a:ln/>
        </p:spPr>
        <p:txBody>
          <a:bodyPr wrap="square" rtlCol="0" anchor="ctr"/>
          <a:lstStyle/>
          <a:p>
            <a:pPr marL="0" indent="0" algn="ctr">
              <a:buNone/>
            </a:pPr>
            <a:r>
              <a:rPr lang="en-US" sz="1200" b="1" dirty="0">
                <a:solidFill>
                  <a:srgbClr val="028090"/>
                </a:solidFill>
                <a:latin typeface="Calibri" pitchFamily="34" charset="0"/>
                <a:ea typeface="Calibri" pitchFamily="34" charset="-122"/>
                <a:cs typeface="Calibri" pitchFamily="34" charset="-120"/>
              </a:rPr>
              <a:t>KVA</a:t>
            </a:r>
            <a:endParaRPr lang="en-US" sz="1200" dirty="0"/>
          </a:p>
        </p:txBody>
      </p:sp>
      <p:sp>
        <p:nvSpPr>
          <p:cNvPr id="33" name="Text 31"/>
          <p:cNvSpPr/>
          <p:nvPr/>
        </p:nvSpPr>
        <p:spPr>
          <a:xfrm>
            <a:off x="6208776" y="2194560"/>
            <a:ext cx="2560320" cy="2377440"/>
          </a:xfrm>
          <a:prstGeom prst="rect">
            <a:avLst/>
          </a:prstGeom>
          <a:noFill/>
          <a:ln/>
        </p:spPr>
        <p:txBody>
          <a:bodyPr wrap="square" rtlCol="0" anchor="ctr"/>
          <a:lstStyle/>
          <a:p>
            <a:pPr marL="0" indent="0">
              <a:buNone/>
            </a:pPr>
            <a:r>
              <a:rPr lang="en-US" sz="1050" dirty="0">
                <a:solidFill>
                  <a:srgbClr val="F4F6F8"/>
                </a:solidFill>
                <a:latin typeface="Calibri" pitchFamily="34" charset="0"/>
                <a:ea typeface="Calibri" pitchFamily="34" charset="-122"/>
                <a:cs typeface="Calibri" pitchFamily="34" charset="-120"/>
              </a:rPr>
              <a:t>IM reduces SA-CCR EAD (PFE multiplier) → reduces RWA → reduces KVA. But IM must be funded → increases MVA. Net effect depends on relative sizes. Must be modelled together.</a:t>
            </a:r>
            <a:endParaRPr lang="en-US" sz="1050" dirty="0"/>
          </a:p>
        </p:txBody>
      </p:sp>
      <p:sp>
        <p:nvSpPr>
          <p:cNvPr id="34" name="Shape 32"/>
          <p:cNvSpPr/>
          <p:nvPr/>
        </p:nvSpPr>
        <p:spPr>
          <a:xfrm>
            <a:off x="228600" y="4800600"/>
            <a:ext cx="8686800" cy="256032"/>
          </a:xfrm>
          <a:prstGeom prst="rect">
            <a:avLst/>
          </a:prstGeom>
          <a:solidFill>
            <a:srgbClr val="152235"/>
          </a:solidFill>
          <a:ln w="12700">
            <a:solidFill>
              <a:srgbClr val="1B2A4A"/>
            </a:solidFill>
            <a:prstDash val="solid"/>
          </a:ln>
        </p:spPr>
      </p:sp>
      <p:sp>
        <p:nvSpPr>
          <p:cNvPr id="35" name="Text 33"/>
          <p:cNvSpPr/>
          <p:nvPr/>
        </p:nvSpPr>
        <p:spPr>
          <a:xfrm>
            <a:off x="320040" y="4818888"/>
            <a:ext cx="8412480" cy="201168"/>
          </a:xfrm>
          <a:prstGeom prst="rect">
            <a:avLst/>
          </a:prstGeom>
          <a:noFill/>
          <a:ln/>
        </p:spPr>
        <p:txBody>
          <a:bodyPr wrap="square" rtlCol="0" anchor="ctr"/>
          <a:lstStyle/>
          <a:p>
            <a:pPr marL="0" indent="0" algn="ctr">
              <a:buNone/>
            </a:pPr>
            <a:r>
              <a:rPr lang="en-US" sz="900" i="1" dirty="0">
                <a:solidFill>
                  <a:srgbClr val="8A9BB0"/>
                </a:solidFill>
                <a:latin typeface="Calibri" pitchFamily="34" charset="0"/>
                <a:ea typeface="Calibri" pitchFamily="34" charset="-122"/>
                <a:cs typeface="Calibri" pitchFamily="34" charset="-120"/>
              </a:rPr>
              <a:t>All six XVA components must be computed in a jointly consistent simulation framework — not independently summed. Ignoring interactions overstates total XVA and misprices trades.</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28090"/>
          </a:solidFill>
          <a:ln w="12700">
            <a:solidFill>
              <a:srgbClr val="028090"/>
            </a:solidFill>
            <a:prstDash val="solid"/>
          </a:ln>
        </p:spPr>
      </p:sp>
      <p:sp>
        <p:nvSpPr>
          <p:cNvPr id="3" name="Shape 1"/>
          <p:cNvSpPr/>
          <p:nvPr/>
        </p:nvSpPr>
        <p:spPr>
          <a:xfrm>
            <a:off x="228600" y="164592"/>
            <a:ext cx="2377440" cy="292608"/>
          </a:xfrm>
          <a:prstGeom prst="rect">
            <a:avLst/>
          </a:prstGeom>
          <a:solidFill>
            <a:srgbClr val="028090"/>
          </a:solidFill>
          <a:ln w="12700">
            <a:solidFill>
              <a:srgbClr val="028090"/>
            </a:solidFill>
            <a:prstDash val="solid"/>
          </a:ln>
        </p:spPr>
      </p:sp>
      <p:sp>
        <p:nvSpPr>
          <p:cNvPr id="4" name="Text 2"/>
          <p:cNvSpPr/>
          <p:nvPr/>
        </p:nvSpPr>
        <p:spPr>
          <a:xfrm>
            <a:off x="228600" y="164592"/>
            <a:ext cx="2377440" cy="292608"/>
          </a:xfrm>
          <a:prstGeom prst="rect">
            <a:avLst/>
          </a:prstGeom>
          <a:noFill/>
          <a:ln/>
        </p:spPr>
        <p:txBody>
          <a:bodyPr wrap="square" rtlCol="0" anchor="ctr"/>
          <a:lstStyle/>
          <a:p>
            <a:pPr marL="0" indent="0" algn="ctr">
              <a:buNone/>
            </a:pPr>
            <a:r>
              <a:rPr lang="en-US" sz="900" b="1" dirty="0">
                <a:solidFill>
                  <a:srgbClr val="FFFFFF"/>
                </a:solidFill>
              </a:rPr>
              <a:t>SECTION 8 — XVA P&amp;L ATTRIBUTION</a:t>
            </a:r>
            <a:endParaRPr lang="en-US" sz="900" dirty="0"/>
          </a:p>
        </p:txBody>
      </p:sp>
      <p:sp>
        <p:nvSpPr>
          <p:cNvPr id="5" name="Text 3"/>
          <p:cNvSpPr/>
          <p:nvPr/>
        </p:nvSpPr>
        <p:spPr>
          <a:xfrm>
            <a:off x="228600" y="548640"/>
            <a:ext cx="8686800" cy="548640"/>
          </a:xfrm>
          <a:prstGeom prst="rect">
            <a:avLst/>
          </a:prstGeom>
          <a:noFill/>
          <a:ln/>
        </p:spPr>
        <p:txBody>
          <a:bodyPr wrap="square" rtlCol="0" anchor="ctr"/>
          <a:lstStyle/>
          <a:p>
            <a:pPr marL="0" indent="0">
              <a:buNone/>
            </a:pPr>
            <a:r>
              <a:rPr lang="en-US" sz="2600" b="1" dirty="0">
                <a:solidFill>
                  <a:srgbClr val="0D1B2A"/>
                </a:solidFill>
                <a:latin typeface="Calibri" pitchFamily="34" charset="0"/>
                <a:ea typeface="Calibri" pitchFamily="34" charset="-122"/>
                <a:cs typeface="Calibri" pitchFamily="34" charset="-120"/>
              </a:rPr>
              <a:t>XVA P&amp;L — Sources, Hedgeability &amp; IFRS 13</a:t>
            </a:r>
            <a:endParaRPr lang="en-US" sz="2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228600" y="1234440"/>
          <a:ext cx="8595360" cy="3566157"/>
        </p:xfrm>
        <a:graphic>
          <a:graphicData uri="http://schemas.openxmlformats.org/drawingml/2006/table">
            <a:tbl>
              <a:tblPr/>
              <a:tblGrid>
                <a:gridCol w="82296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3474720">
                  <a:extLst>
                    <a:ext uri="{9D8B030D-6E8A-4147-A177-3AD203B41FA5}">
                      <a16:colId xmlns:a16="http://schemas.microsoft.com/office/drawing/2014/main" val="20003"/>
                    </a:ext>
                  </a:extLst>
                </a:gridCol>
              </a:tblGrid>
              <a:tr h="509451">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XVA</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Primary P&amp;L Driver</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Hedgeable?</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IFRS 13 Status</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509451">
                <a:tc>
                  <a:txBody>
                    <a:bodyPr/>
                    <a:lstStyle/>
                    <a:p>
                      <a:pPr marL="0" indent="0" algn="l">
                        <a:buNone/>
                      </a:pPr>
                      <a:r>
                        <a:rPr lang="en-US" sz="1000" b="1" dirty="0">
                          <a:solidFill>
                            <a:srgbClr val="1A1A2E"/>
                          </a:solidFill>
                          <a:latin typeface="Calibri" pitchFamily="34" charset="0"/>
                          <a:ea typeface="Calibri" pitchFamily="34" charset="-122"/>
                          <a:cs typeface="Calibri" pitchFamily="34" charset="-120"/>
                        </a:rPr>
                        <a:t>CVA</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0F4F7"/>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Credit spread moves (daily); default events (discrete)</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0F4F7"/>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Partially — CDS hedges delta</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DFA8"/>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Mandatory under IFRS 13</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A896"/>
                    </a:solidFill>
                  </a:tcPr>
                </a:tc>
                <a:extLst>
                  <a:ext uri="{0D108BD9-81ED-4DB2-BD59-A6C34878D82A}">
                    <a16:rowId xmlns:a16="http://schemas.microsoft.com/office/drawing/2014/main" val="10001"/>
                  </a:ext>
                </a:extLst>
              </a:tr>
              <a:tr h="509451">
                <a:tc>
                  <a:txBody>
                    <a:bodyPr/>
                    <a:lstStyle/>
                    <a:p>
                      <a:pPr marL="0" indent="0" algn="l">
                        <a:buNone/>
                      </a:pPr>
                      <a:r>
                        <a:rPr lang="en-US" sz="1000" b="1" dirty="0">
                          <a:solidFill>
                            <a:srgbClr val="1A1A2E"/>
                          </a:solidFill>
                          <a:latin typeface="Calibri" pitchFamily="34" charset="0"/>
                          <a:ea typeface="Calibri" pitchFamily="34" charset="-122"/>
                          <a:cs typeface="Calibri" pitchFamily="34" charset="-120"/>
                        </a:rPr>
                        <a:t>DVA</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Own CDS spread; own credit deterioration</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C0392B"/>
                          </a:solidFill>
                          <a:latin typeface="Calibri" pitchFamily="34" charset="0"/>
                          <a:ea typeface="Calibri" pitchFamily="34" charset="-122"/>
                          <a:cs typeface="Calibri" pitchFamily="34" charset="-120"/>
                        </a:rPr>
                        <a:t>Controversial — own-credit paradox</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ADBD8"/>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Mandatory under IFRS 13</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A896"/>
                    </a:solidFill>
                  </a:tcPr>
                </a:tc>
                <a:extLst>
                  <a:ext uri="{0D108BD9-81ED-4DB2-BD59-A6C34878D82A}">
                    <a16:rowId xmlns:a16="http://schemas.microsoft.com/office/drawing/2014/main" val="10002"/>
                  </a:ext>
                </a:extLst>
              </a:tr>
              <a:tr h="509451">
                <a:tc>
                  <a:txBody>
                    <a:bodyPr/>
                    <a:lstStyle/>
                    <a:p>
                      <a:pPr marL="0" indent="0" algn="l">
                        <a:buNone/>
                      </a:pPr>
                      <a:r>
                        <a:rPr lang="en-US" sz="1000" b="1" dirty="0">
                          <a:solidFill>
                            <a:srgbClr val="1A1A2E"/>
                          </a:solidFill>
                          <a:latin typeface="Calibri" pitchFamily="34" charset="0"/>
                          <a:ea typeface="Calibri" pitchFamily="34" charset="-122"/>
                          <a:cs typeface="Calibri" pitchFamily="34" charset="-120"/>
                        </a:rPr>
                        <a:t>FVA</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0F4F7"/>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Funding spread moves; CSA addition events</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0F4F7"/>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Partially — internal funding book</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DFA8"/>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Included by most dealers; IASB no guidance</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DFA8"/>
                    </a:solidFill>
                  </a:tcPr>
                </a:tc>
                <a:extLst>
                  <a:ext uri="{0D108BD9-81ED-4DB2-BD59-A6C34878D82A}">
                    <a16:rowId xmlns:a16="http://schemas.microsoft.com/office/drawing/2014/main" val="10003"/>
                  </a:ext>
                </a:extLst>
              </a:tr>
              <a:tr h="509451">
                <a:tc>
                  <a:txBody>
                    <a:bodyPr/>
                    <a:lstStyle/>
                    <a:p>
                      <a:pPr marL="0" indent="0" algn="l">
                        <a:buNone/>
                      </a:pPr>
                      <a:r>
                        <a:rPr lang="en-US" sz="1000" b="1" dirty="0">
                          <a:solidFill>
                            <a:srgbClr val="1A1A2E"/>
                          </a:solidFill>
                          <a:latin typeface="Calibri" pitchFamily="34" charset="0"/>
                          <a:ea typeface="Calibri" pitchFamily="34" charset="-122"/>
                          <a:cs typeface="Calibri" pitchFamily="34" charset="-120"/>
                        </a:rPr>
                        <a:t>MVA</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SIMM recalibration; market vol moves; netting changes</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Partially — swaption vol hedge</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DFA8"/>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Included; IFRS 13 Level 3</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DFA8"/>
                    </a:solidFill>
                  </a:tcPr>
                </a:tc>
                <a:extLst>
                  <a:ext uri="{0D108BD9-81ED-4DB2-BD59-A6C34878D82A}">
                    <a16:rowId xmlns:a16="http://schemas.microsoft.com/office/drawing/2014/main" val="10004"/>
                  </a:ext>
                </a:extLst>
              </a:tr>
              <a:tr h="509451">
                <a:tc>
                  <a:txBody>
                    <a:bodyPr/>
                    <a:lstStyle/>
                    <a:p>
                      <a:pPr marL="0" indent="0" algn="l">
                        <a:buNone/>
                      </a:pPr>
                      <a:r>
                        <a:rPr lang="en-US" sz="1000" b="1" dirty="0">
                          <a:solidFill>
                            <a:srgbClr val="1A1A2E"/>
                          </a:solidFill>
                          <a:latin typeface="Calibri" pitchFamily="34" charset="0"/>
                          <a:ea typeface="Calibri" pitchFamily="34" charset="-122"/>
                          <a:cs typeface="Calibri" pitchFamily="34" charset="-120"/>
                        </a:rPr>
                        <a:t>ColVA</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0F4F7"/>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Collateral spread moves; CTD switching events</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0F4F7"/>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Yes — x-ccy basis swaps</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A896"/>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Included; Level 2/3</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DFA8"/>
                    </a:solidFill>
                  </a:tcPr>
                </a:tc>
                <a:extLst>
                  <a:ext uri="{0D108BD9-81ED-4DB2-BD59-A6C34878D82A}">
                    <a16:rowId xmlns:a16="http://schemas.microsoft.com/office/drawing/2014/main" val="10005"/>
                  </a:ext>
                </a:extLst>
              </a:tr>
              <a:tr h="509451">
                <a:tc>
                  <a:txBody>
                    <a:bodyPr/>
                    <a:lstStyle/>
                    <a:p>
                      <a:pPr marL="0" indent="0" algn="l">
                        <a:buNone/>
                      </a:pPr>
                      <a:r>
                        <a:rPr lang="en-US" sz="1000" b="1" dirty="0">
                          <a:solidFill>
                            <a:srgbClr val="1A1A2E"/>
                          </a:solidFill>
                          <a:latin typeface="Calibri" pitchFamily="34" charset="0"/>
                          <a:ea typeface="Calibri" pitchFamily="34" charset="-122"/>
                          <a:cs typeface="Calibri" pitchFamily="34" charset="-120"/>
                        </a:rPr>
                        <a:t>KVA</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RWA changes; regulatory updates; hurdle revision</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C0392B"/>
                          </a:solidFill>
                          <a:latin typeface="Calibri" pitchFamily="34" charset="0"/>
                          <a:ea typeface="Calibri" pitchFamily="34" charset="-122"/>
                          <a:cs typeface="Calibri" pitchFamily="34" charset="-120"/>
                        </a:rPr>
                        <a:t>Very limited</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ADBD8"/>
                    </a:solidFill>
                  </a:tcPr>
                </a:tc>
                <a:tc>
                  <a:txBody>
                    <a:bodyPr/>
                    <a:lstStyle/>
                    <a:p>
                      <a:pPr marL="0" indent="0" algn="ctr">
                        <a:buNone/>
                      </a:pPr>
                      <a:r>
                        <a:rPr lang="en-US" sz="1000" dirty="0">
                          <a:solidFill>
                            <a:srgbClr val="C0392B"/>
                          </a:solidFill>
                          <a:latin typeface="Calibri" pitchFamily="34" charset="0"/>
                          <a:ea typeface="Calibri" pitchFamily="34" charset="-122"/>
                          <a:cs typeface="Calibri" pitchFamily="34" charset="-120"/>
                        </a:rPr>
                        <a:t>Most banks EXCLUDE — not fair value</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ADBD8"/>
                    </a:solidFill>
                  </a:tcPr>
                </a:tc>
                <a:extLst>
                  <a:ext uri="{0D108BD9-81ED-4DB2-BD59-A6C34878D82A}">
                    <a16:rowId xmlns:a16="http://schemas.microsoft.com/office/drawing/2014/main" val="10006"/>
                  </a:ext>
                </a:extLst>
              </a:tr>
            </a:tbl>
          </a:graphicData>
        </a:graphic>
      </p:graphicFrame>
      <p:sp>
        <p:nvSpPr>
          <p:cNvPr id="7" name="Shape 4"/>
          <p:cNvSpPr/>
          <p:nvPr/>
        </p:nvSpPr>
        <p:spPr>
          <a:xfrm>
            <a:off x="228600" y="4892040"/>
            <a:ext cx="64008" cy="658368"/>
          </a:xfrm>
          <a:prstGeom prst="rect">
            <a:avLst/>
          </a:prstGeom>
          <a:solidFill>
            <a:srgbClr val="C8953A"/>
          </a:solidFill>
          <a:ln w="12700">
            <a:solidFill>
              <a:srgbClr val="C8953A"/>
            </a:solidFill>
            <a:prstDash val="solid"/>
          </a:ln>
        </p:spPr>
      </p:sp>
      <p:sp>
        <p:nvSpPr>
          <p:cNvPr id="8" name="Shape 5"/>
          <p:cNvSpPr/>
          <p:nvPr/>
        </p:nvSpPr>
        <p:spPr>
          <a:xfrm>
            <a:off x="292608" y="4892040"/>
            <a:ext cx="8622792" cy="658368"/>
          </a:xfrm>
          <a:prstGeom prst="rect">
            <a:avLst/>
          </a:prstGeom>
          <a:solidFill>
            <a:srgbClr val="E0F4F7"/>
          </a:solidFill>
          <a:ln w="12700">
            <a:solidFill>
              <a:srgbClr val="E0F4F7"/>
            </a:solidFill>
            <a:prstDash val="solid"/>
          </a:ln>
        </p:spPr>
      </p:sp>
      <p:sp>
        <p:nvSpPr>
          <p:cNvPr id="9" name="Text 6"/>
          <p:cNvSpPr/>
          <p:nvPr/>
        </p:nvSpPr>
        <p:spPr>
          <a:xfrm>
            <a:off x="365760" y="4937760"/>
            <a:ext cx="8458200" cy="201168"/>
          </a:xfrm>
          <a:prstGeom prst="rect">
            <a:avLst/>
          </a:prstGeom>
          <a:noFill/>
          <a:ln/>
        </p:spPr>
        <p:txBody>
          <a:bodyPr wrap="square" rtlCol="0" anchor="ctr"/>
          <a:lstStyle/>
          <a:p>
            <a:pPr marL="0" indent="0">
              <a:buNone/>
            </a:pPr>
            <a:r>
              <a:rPr lang="en-US" sz="900" b="1" dirty="0">
                <a:solidFill>
                  <a:srgbClr val="028090"/>
                </a:solidFill>
                <a:latin typeface="Calibri" pitchFamily="34" charset="0"/>
                <a:ea typeface="Calibri" pitchFamily="34" charset="-122"/>
                <a:cs typeface="Calibri" pitchFamily="34" charset="-120"/>
              </a:rPr>
              <a:t>DAY-1 P&amp;L</a:t>
            </a:r>
            <a:endParaRPr lang="en-US" sz="900" dirty="0"/>
          </a:p>
        </p:txBody>
      </p:sp>
      <p:sp>
        <p:nvSpPr>
          <p:cNvPr id="10" name="Text 7"/>
          <p:cNvSpPr/>
          <p:nvPr/>
        </p:nvSpPr>
        <p:spPr>
          <a:xfrm>
            <a:off x="365760" y="5138928"/>
            <a:ext cx="8458200" cy="338328"/>
          </a:xfrm>
          <a:prstGeom prst="rect">
            <a:avLst/>
          </a:prstGeom>
          <a:noFill/>
          <a:ln/>
        </p:spPr>
        <p:txBody>
          <a:bodyPr wrap="square" rtlCol="0" anchor="ctr"/>
          <a:lstStyle/>
          <a:p>
            <a:pPr marL="0" indent="0">
              <a:buNone/>
            </a:pPr>
            <a:r>
              <a:rPr lang="en-US" sz="1000" i="1" dirty="0">
                <a:solidFill>
                  <a:srgbClr val="1A1A2E"/>
                </a:solidFill>
                <a:latin typeface="Calibri" pitchFamily="34" charset="0"/>
                <a:ea typeface="Calibri" pitchFamily="34" charset="-122"/>
                <a:cs typeface="Calibri" pitchFamily="34" charset="-120"/>
              </a:rPr>
              <a:t>Booking a large upfront CVA at inception creates a reserve that releases over the trade's life as P&amp;L — even if no default occurs. Managing this day-1 recognition is a central XVA desk challenge.</a:t>
            </a:r>
            <a:endParaRPr lang="en-US" sz="1000" dirty="0"/>
          </a:p>
        </p:txBody>
      </p:sp>
      <p:sp>
        <p:nvSpPr>
          <p:cNvPr id="11" name="Text 8"/>
          <p:cNvSpPr/>
          <p:nvPr/>
        </p:nvSpPr>
        <p:spPr>
          <a:xfrm>
            <a:off x="228600" y="4846320"/>
            <a:ext cx="7772400" cy="201168"/>
          </a:xfrm>
          <a:prstGeom prst="rect">
            <a:avLst/>
          </a:prstGeom>
          <a:noFill/>
          <a:ln/>
        </p:spPr>
        <p:txBody>
          <a:bodyPr wrap="square" rtlCol="0" anchor="ctr"/>
          <a:lstStyle/>
          <a:p>
            <a:pPr marL="0" indent="0">
              <a:buNone/>
            </a:pPr>
            <a:r>
              <a:rPr lang="en-US" sz="800" dirty="0">
                <a:solidFill>
                  <a:srgbClr val="8A9BB0"/>
                </a:solidFill>
                <a:latin typeface="Calibri" pitchFamily="34" charset="0"/>
                <a:ea typeface="Calibri" pitchFamily="34" charset="-122"/>
                <a:cs typeface="Calibri" pitchFamily="34" charset="-120"/>
              </a:rPr>
              <a:t>Module 6: KVA, ColVA &amp; Capital Costs  |  Sarthaka Nanda  |  © 2026  CC BY-NC 4.0</a:t>
            </a:r>
            <a:endParaRPr lang="en-US" sz="800" dirty="0"/>
          </a:p>
        </p:txBody>
      </p:sp>
      <p:sp>
        <p:nvSpPr>
          <p:cNvPr id="12" name="Text 9"/>
          <p:cNvSpPr/>
          <p:nvPr/>
        </p:nvSpPr>
        <p:spPr>
          <a:xfrm>
            <a:off x="8686800" y="4846320"/>
            <a:ext cx="365760" cy="201168"/>
          </a:xfrm>
          <a:prstGeom prst="rect">
            <a:avLst/>
          </a:prstGeom>
          <a:noFill/>
          <a:ln/>
        </p:spPr>
        <p:txBody>
          <a:bodyPr wrap="square" rtlCol="0" anchor="ctr"/>
          <a:lstStyle/>
          <a:p>
            <a:pPr marL="0" indent="0" algn="r">
              <a:buNone/>
            </a:pPr>
            <a:r>
              <a:rPr lang="en-US" sz="800" dirty="0">
                <a:solidFill>
                  <a:srgbClr val="8A9BB0"/>
                </a:solidFill>
                <a:latin typeface="Calibri" pitchFamily="34" charset="0"/>
                <a:ea typeface="Calibri" pitchFamily="34" charset="-122"/>
                <a:cs typeface="Calibri" pitchFamily="34" charset="-120"/>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28090"/>
          </a:solidFill>
          <a:ln w="12700">
            <a:solidFill>
              <a:srgbClr val="028090"/>
            </a:solidFill>
            <a:prstDash val="solid"/>
          </a:ln>
        </p:spPr>
      </p:sp>
      <p:sp>
        <p:nvSpPr>
          <p:cNvPr id="3" name="Shape 1"/>
          <p:cNvSpPr/>
          <p:nvPr/>
        </p:nvSpPr>
        <p:spPr>
          <a:xfrm>
            <a:off x="228600" y="164592"/>
            <a:ext cx="2377440" cy="292608"/>
          </a:xfrm>
          <a:prstGeom prst="rect">
            <a:avLst/>
          </a:prstGeom>
          <a:solidFill>
            <a:srgbClr val="028090"/>
          </a:solidFill>
          <a:ln w="12700">
            <a:solidFill>
              <a:srgbClr val="028090"/>
            </a:solidFill>
            <a:prstDash val="solid"/>
          </a:ln>
        </p:spPr>
      </p:sp>
      <p:sp>
        <p:nvSpPr>
          <p:cNvPr id="4" name="Text 2"/>
          <p:cNvSpPr/>
          <p:nvPr/>
        </p:nvSpPr>
        <p:spPr>
          <a:xfrm>
            <a:off x="228600" y="164592"/>
            <a:ext cx="2377440" cy="292608"/>
          </a:xfrm>
          <a:prstGeom prst="rect">
            <a:avLst/>
          </a:prstGeom>
          <a:noFill/>
          <a:ln/>
        </p:spPr>
        <p:txBody>
          <a:bodyPr wrap="square" rtlCol="0" anchor="ctr"/>
          <a:lstStyle/>
          <a:p>
            <a:pPr marL="0" indent="0" algn="ctr">
              <a:buNone/>
            </a:pPr>
            <a:r>
              <a:rPr lang="en-US" sz="900" b="1" dirty="0">
                <a:solidFill>
                  <a:srgbClr val="FFFFFF"/>
                </a:solidFill>
              </a:rPr>
              <a:t>SECTION 8 — LIFECYCLE P&amp;L</a:t>
            </a:r>
            <a:endParaRPr lang="en-US" sz="900" dirty="0"/>
          </a:p>
        </p:txBody>
      </p:sp>
      <p:sp>
        <p:nvSpPr>
          <p:cNvPr id="5" name="Text 3"/>
          <p:cNvSpPr/>
          <p:nvPr/>
        </p:nvSpPr>
        <p:spPr>
          <a:xfrm>
            <a:off x="228600" y="548640"/>
            <a:ext cx="8686800" cy="548640"/>
          </a:xfrm>
          <a:prstGeom prst="rect">
            <a:avLst/>
          </a:prstGeom>
          <a:noFill/>
          <a:ln/>
        </p:spPr>
        <p:txBody>
          <a:bodyPr wrap="square" rtlCol="0" anchor="ctr"/>
          <a:lstStyle/>
          <a:p>
            <a:pPr marL="0" indent="0">
              <a:buNone/>
            </a:pPr>
            <a:r>
              <a:rPr lang="en-US" sz="2600" b="1" dirty="0">
                <a:solidFill>
                  <a:srgbClr val="0D1B2A"/>
                </a:solidFill>
                <a:latin typeface="Calibri" pitchFamily="34" charset="0"/>
                <a:ea typeface="Calibri" pitchFamily="34" charset="-122"/>
                <a:cs typeface="Calibri" pitchFamily="34" charset="-120"/>
              </a:rPr>
              <a:t>Lifecycle P&amp;L — EUR 100M IRS, Inception to Maturity</a:t>
            </a:r>
            <a:endParaRPr lang="en-US" sz="2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228600" y="1234440"/>
          <a:ext cx="9098280" cy="3246117"/>
        </p:xfrm>
        <a:graphic>
          <a:graphicData uri="http://schemas.openxmlformats.org/drawingml/2006/table">
            <a:tbl>
              <a:tblPr/>
              <a:tblGrid>
                <a:gridCol w="201168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tblGrid>
              <a:tr h="463731">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Event</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CVA</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FVA</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MVA</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KVA</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Net XVA</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463731">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Day 1: booked, no CSA</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r">
                        <a:buNone/>
                      </a:pPr>
                      <a:r>
                        <a:rPr lang="en-US" sz="1000" dirty="0">
                          <a:solidFill>
                            <a:srgbClr val="C0392B"/>
                          </a:solidFill>
                          <a:latin typeface="Calibri" pitchFamily="34" charset="0"/>
                          <a:ea typeface="Calibri" pitchFamily="34" charset="-122"/>
                          <a:cs typeface="Calibri" pitchFamily="34" charset="-120"/>
                        </a:rPr>
                        <a:t>−285,000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ADBD8"/>
                    </a:solidFill>
                  </a:tcPr>
                </a:tc>
                <a:tc>
                  <a:txBody>
                    <a:bodyPr/>
                    <a:lstStyle/>
                    <a:p>
                      <a:pPr marL="0" indent="0" algn="r">
                        <a:buNone/>
                      </a:pPr>
                      <a:r>
                        <a:rPr lang="en-US" sz="1000" dirty="0">
                          <a:solidFill>
                            <a:srgbClr val="C0392B"/>
                          </a:solidFill>
                          <a:latin typeface="Calibri" pitchFamily="34" charset="0"/>
                          <a:ea typeface="Calibri" pitchFamily="34" charset="-122"/>
                          <a:cs typeface="Calibri" pitchFamily="34" charset="-120"/>
                        </a:rPr>
                        <a:t>−195,000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ADBD8"/>
                    </a:solidFill>
                  </a:tcPr>
                </a:tc>
                <a:tc>
                  <a:txBody>
                    <a:bodyPr/>
                    <a:lstStyle/>
                    <a:p>
                      <a:pPr marL="0" indent="0" algn="r">
                        <a:buNone/>
                      </a:pPr>
                      <a:r>
                        <a:rPr lang="en-US" sz="1000" dirty="0">
                          <a:solidFill>
                            <a:srgbClr val="1A1A2E"/>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0F4F7"/>
                    </a:solidFill>
                  </a:tcPr>
                </a:tc>
                <a:tc>
                  <a:txBody>
                    <a:bodyPr/>
                    <a:lstStyle/>
                    <a:p>
                      <a:pPr marL="0" indent="0" algn="r">
                        <a:buNone/>
                      </a:pPr>
                      <a:r>
                        <a:rPr lang="en-US" sz="1000" dirty="0">
                          <a:solidFill>
                            <a:srgbClr val="1A1A2E"/>
                          </a:solidFill>
                          <a:latin typeface="Calibri" pitchFamily="34" charset="0"/>
                          <a:ea typeface="Calibri" pitchFamily="34" charset="-122"/>
                          <a:cs typeface="Calibri" pitchFamily="34" charset="-120"/>
                        </a:rPr>
                        <a:t>−49,356</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0F4F7"/>
                    </a:solidFill>
                  </a:tcPr>
                </a:tc>
                <a:tc>
                  <a:txBody>
                    <a:bodyPr/>
                    <a:lstStyle/>
                    <a:p>
                      <a:pPr marL="0" indent="0" algn="r">
                        <a:buNone/>
                      </a:pPr>
                      <a:r>
                        <a:rPr lang="en-US" sz="1000" b="1" dirty="0">
                          <a:solidFill>
                            <a:srgbClr val="C0392B"/>
                          </a:solidFill>
                          <a:latin typeface="Calibri" pitchFamily="34" charset="0"/>
                          <a:ea typeface="Calibri" pitchFamily="34" charset="-122"/>
                          <a:cs typeface="Calibri" pitchFamily="34" charset="-120"/>
                        </a:rPr>
                        <a:t>−529,356</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ADBD8"/>
                    </a:solidFill>
                  </a:tcPr>
                </a:tc>
                <a:extLst>
                  <a:ext uri="{0D108BD9-81ED-4DB2-BD59-A6C34878D82A}">
                    <a16:rowId xmlns:a16="http://schemas.microsoft.com/office/drawing/2014/main" val="10001"/>
                  </a:ext>
                </a:extLst>
              </a:tr>
              <a:tr h="463731">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Yr 1: cpty spreads tighten 20bps</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6F8"/>
                    </a:solidFill>
                  </a:tcPr>
                </a:tc>
                <a:tc>
                  <a:txBody>
                    <a:bodyPr/>
                    <a:lstStyle/>
                    <a:p>
                      <a:pPr marL="0" indent="0" algn="r">
                        <a:buNone/>
                      </a:pPr>
                      <a:r>
                        <a:rPr lang="en-US" sz="1000" dirty="0">
                          <a:solidFill>
                            <a:srgbClr val="1A1A2E"/>
                          </a:solidFill>
                          <a:latin typeface="Calibri" pitchFamily="34" charset="0"/>
                          <a:ea typeface="Calibri" pitchFamily="34" charset="-122"/>
                          <a:cs typeface="Calibri" pitchFamily="34" charset="-120"/>
                        </a:rPr>
                        <a:t>+52,000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6F8"/>
                    </a:solidFill>
                  </a:tcPr>
                </a:tc>
                <a:tc>
                  <a:txBody>
                    <a:bodyPr/>
                    <a:lstStyle/>
                    <a:p>
                      <a:pPr marL="0" indent="0" algn="r">
                        <a:buNone/>
                      </a:pPr>
                      <a:r>
                        <a:rPr lang="en-US" sz="1000" dirty="0">
                          <a:solidFill>
                            <a:srgbClr val="1A1A2E"/>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6F8"/>
                    </a:solidFill>
                  </a:tcPr>
                </a:tc>
                <a:tc>
                  <a:txBody>
                    <a:bodyPr/>
                    <a:lstStyle/>
                    <a:p>
                      <a:pPr marL="0" indent="0" algn="r">
                        <a:buNone/>
                      </a:pPr>
                      <a:r>
                        <a:rPr lang="en-US" sz="1000" dirty="0">
                          <a:solidFill>
                            <a:srgbClr val="1A1A2E"/>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6F8"/>
                    </a:solidFill>
                  </a:tcPr>
                </a:tc>
                <a:tc>
                  <a:txBody>
                    <a:bodyPr/>
                    <a:lstStyle/>
                    <a:p>
                      <a:pPr marL="0" indent="0" algn="r">
                        <a:buNone/>
                      </a:pPr>
                      <a:r>
                        <a:rPr lang="en-US" sz="1000" dirty="0">
                          <a:solidFill>
                            <a:srgbClr val="1A1A2E"/>
                          </a:solidFill>
                          <a:latin typeface="Calibri" pitchFamily="34" charset="0"/>
                          <a:ea typeface="Calibri" pitchFamily="34" charset="-122"/>
                          <a:cs typeface="Calibri" pitchFamily="34" charset="-120"/>
                        </a:rPr>
                        <a:t>+4,200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6F8"/>
                    </a:solidFill>
                  </a:tcPr>
                </a:tc>
                <a:tc>
                  <a:txBody>
                    <a:bodyPr/>
                    <a:lstStyle/>
                    <a:p>
                      <a:pPr marL="0" indent="0" algn="r">
                        <a:buNone/>
                      </a:pPr>
                      <a:r>
                        <a:rPr lang="en-US" sz="1000" b="1" dirty="0">
                          <a:solidFill>
                            <a:srgbClr val="1A1A2E"/>
                          </a:solidFill>
                          <a:latin typeface="Calibri" pitchFamily="34" charset="0"/>
                          <a:ea typeface="Calibri" pitchFamily="34" charset="-122"/>
                          <a:cs typeface="Calibri" pitchFamily="34" charset="-120"/>
                        </a:rPr>
                        <a:t>+56,200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6F8"/>
                    </a:solidFill>
                  </a:tcPr>
                </a:tc>
                <a:extLst>
                  <a:ext uri="{0D108BD9-81ED-4DB2-BD59-A6C34878D82A}">
                    <a16:rowId xmlns:a16="http://schemas.microsoft.com/office/drawing/2014/main" val="10002"/>
                  </a:ext>
                </a:extLst>
              </a:tr>
              <a:tr h="463731">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Yr 2: CSA added (full VM)</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A1A2E"/>
                          </a:solidFill>
                          <a:latin typeface="Calibri" pitchFamily="34" charset="0"/>
                          <a:ea typeface="Calibri" pitchFamily="34" charset="-122"/>
                          <a:cs typeface="Calibri" pitchFamily="34" charset="-120"/>
                        </a:rPr>
                        <a:t>+260,000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A896"/>
                    </a:solidFill>
                  </a:tcPr>
                </a:tc>
                <a:tc>
                  <a:txBody>
                    <a:bodyPr/>
                    <a:lstStyle/>
                    <a:p>
                      <a:pPr marL="0" indent="0" algn="r">
                        <a:buNone/>
                      </a:pPr>
                      <a:r>
                        <a:rPr lang="en-US" sz="1000" dirty="0">
                          <a:solidFill>
                            <a:srgbClr val="1A1A2E"/>
                          </a:solidFill>
                          <a:latin typeface="Calibri" pitchFamily="34" charset="0"/>
                          <a:ea typeface="Calibri" pitchFamily="34" charset="-122"/>
                          <a:cs typeface="Calibri" pitchFamily="34" charset="-120"/>
                        </a:rPr>
                        <a:t>+190,000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A896"/>
                    </a:solidFill>
                  </a:tcPr>
                </a:tc>
                <a:tc>
                  <a:txBody>
                    <a:bodyPr/>
                    <a:lstStyle/>
                    <a:p>
                      <a:pPr marL="0" indent="0" algn="r">
                        <a:buNone/>
                      </a:pPr>
                      <a:r>
                        <a:rPr lang="en-US" sz="1000" dirty="0">
                          <a:solidFill>
                            <a:srgbClr val="1A1A2E"/>
                          </a:solidFill>
                          <a:latin typeface="Calibri" pitchFamily="34" charset="0"/>
                          <a:ea typeface="Calibri" pitchFamily="34" charset="-122"/>
                          <a:cs typeface="Calibri" pitchFamily="34" charset="-120"/>
                        </a:rPr>
                        <a:t>−28,400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0F4F7"/>
                    </a:solidFill>
                  </a:tcPr>
                </a:tc>
                <a:tc>
                  <a:txBody>
                    <a:bodyPr/>
                    <a:lstStyle/>
                    <a:p>
                      <a:pPr marL="0" indent="0" algn="r">
                        <a:buNone/>
                      </a:pPr>
                      <a:r>
                        <a:rPr lang="en-US" sz="1000" dirty="0">
                          <a:solidFill>
                            <a:srgbClr val="1A1A2E"/>
                          </a:solidFill>
                          <a:latin typeface="Calibri" pitchFamily="34" charset="0"/>
                          <a:ea typeface="Calibri" pitchFamily="34" charset="-122"/>
                          <a:cs typeface="Calibri" pitchFamily="34" charset="-120"/>
                        </a:rPr>
                        <a:t>+41,156</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0F4F7"/>
                    </a:solidFill>
                  </a:tcPr>
                </a:tc>
                <a:tc>
                  <a:txBody>
                    <a:bodyPr/>
                    <a:lstStyle/>
                    <a:p>
                      <a:pPr marL="0" indent="0" algn="r">
                        <a:buNone/>
                      </a:pPr>
                      <a:r>
                        <a:rPr lang="en-US" sz="1000" b="1" dirty="0">
                          <a:solidFill>
                            <a:srgbClr val="1A1A2E"/>
                          </a:solidFill>
                          <a:latin typeface="Calibri" pitchFamily="34" charset="0"/>
                          <a:ea typeface="Calibri" pitchFamily="34" charset="-122"/>
                          <a:cs typeface="Calibri" pitchFamily="34" charset="-120"/>
                        </a:rPr>
                        <a:t>+462,756</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A896"/>
                    </a:solidFill>
                  </a:tcPr>
                </a:tc>
                <a:extLst>
                  <a:ext uri="{0D108BD9-81ED-4DB2-BD59-A6C34878D82A}">
                    <a16:rowId xmlns:a16="http://schemas.microsoft.com/office/drawing/2014/main" val="10003"/>
                  </a:ext>
                </a:extLst>
              </a:tr>
              <a:tr h="463731">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Yr 3: SIMM recalib +10%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6F8"/>
                    </a:solidFill>
                  </a:tcPr>
                </a:tc>
                <a:tc>
                  <a:txBody>
                    <a:bodyPr/>
                    <a:lstStyle/>
                    <a:p>
                      <a:pPr marL="0" indent="0" algn="r">
                        <a:buNone/>
                      </a:pPr>
                      <a:r>
                        <a:rPr lang="en-US" sz="1000" dirty="0">
                          <a:solidFill>
                            <a:srgbClr val="1A1A2E"/>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6F8"/>
                    </a:solidFill>
                  </a:tcPr>
                </a:tc>
                <a:tc>
                  <a:txBody>
                    <a:bodyPr/>
                    <a:lstStyle/>
                    <a:p>
                      <a:pPr marL="0" indent="0" algn="r">
                        <a:buNone/>
                      </a:pPr>
                      <a:r>
                        <a:rPr lang="en-US" sz="1000" dirty="0">
                          <a:solidFill>
                            <a:srgbClr val="1A1A2E"/>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6F8"/>
                    </a:solidFill>
                  </a:tcPr>
                </a:tc>
                <a:tc>
                  <a:txBody>
                    <a:bodyPr/>
                    <a:lstStyle/>
                    <a:p>
                      <a:pPr marL="0" indent="0" algn="r">
                        <a:buNone/>
                      </a:pPr>
                      <a:r>
                        <a:rPr lang="en-US" sz="1000" dirty="0">
                          <a:solidFill>
                            <a:srgbClr val="C0392B"/>
                          </a:solidFill>
                          <a:latin typeface="Calibri" pitchFamily="34" charset="0"/>
                          <a:ea typeface="Calibri" pitchFamily="34" charset="-122"/>
                          <a:cs typeface="Calibri" pitchFamily="34" charset="-120"/>
                        </a:rPr>
                        <a:t>−2,840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6F8"/>
                    </a:solidFill>
                  </a:tcPr>
                </a:tc>
                <a:tc>
                  <a:txBody>
                    <a:bodyPr/>
                    <a:lstStyle/>
                    <a:p>
                      <a:pPr marL="0" indent="0" algn="r">
                        <a:buNone/>
                      </a:pPr>
                      <a:r>
                        <a:rPr lang="en-US" sz="1000" dirty="0">
                          <a:solidFill>
                            <a:srgbClr val="1A1A2E"/>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6F8"/>
                    </a:solidFill>
                  </a:tcPr>
                </a:tc>
                <a:tc>
                  <a:txBody>
                    <a:bodyPr/>
                    <a:lstStyle/>
                    <a:p>
                      <a:pPr marL="0" indent="0" algn="r">
                        <a:buNone/>
                      </a:pPr>
                      <a:r>
                        <a:rPr lang="en-US" sz="1000" b="1" dirty="0">
                          <a:solidFill>
                            <a:srgbClr val="C0392B"/>
                          </a:solidFill>
                          <a:latin typeface="Calibri" pitchFamily="34" charset="0"/>
                          <a:ea typeface="Calibri" pitchFamily="34" charset="-122"/>
                          <a:cs typeface="Calibri" pitchFamily="34" charset="-120"/>
                        </a:rPr>
                        <a:t>−2,840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6F8"/>
                    </a:solidFill>
                  </a:tcPr>
                </a:tc>
                <a:extLst>
                  <a:ext uri="{0D108BD9-81ED-4DB2-BD59-A6C34878D82A}">
                    <a16:rowId xmlns:a16="http://schemas.microsoft.com/office/drawing/2014/main" val="10004"/>
                  </a:ext>
                </a:extLst>
              </a:tr>
              <a:tr h="463731">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Yr 5: trade matures</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A1A2E"/>
                          </a:solidFill>
                          <a:latin typeface="Calibri" pitchFamily="34" charset="0"/>
                          <a:ea typeface="Calibri" pitchFamily="34" charset="-122"/>
                          <a:cs typeface="Calibri" pitchFamily="34" charset="-120"/>
                        </a:rPr>
                        <a:t>+8,600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0F4F7"/>
                    </a:solidFill>
                  </a:tcPr>
                </a:tc>
                <a:tc>
                  <a:txBody>
                    <a:bodyPr/>
                    <a:lstStyle/>
                    <a:p>
                      <a:pPr marL="0" indent="0" algn="r">
                        <a:buNone/>
                      </a:pPr>
                      <a:r>
                        <a:rPr lang="en-US" sz="1000" dirty="0">
                          <a:solidFill>
                            <a:srgbClr val="1A1A2E"/>
                          </a:solidFill>
                          <a:latin typeface="Calibri" pitchFamily="34" charset="0"/>
                          <a:ea typeface="Calibri" pitchFamily="34" charset="-122"/>
                          <a:cs typeface="Calibri" pitchFamily="34" charset="-120"/>
                        </a:rPr>
                        <a:t>+5,000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0F4F7"/>
                    </a:solidFill>
                  </a:tcPr>
                </a:tc>
                <a:tc>
                  <a:txBody>
                    <a:bodyPr/>
                    <a:lstStyle/>
                    <a:p>
                      <a:pPr marL="0" indent="0" algn="r">
                        <a:buNone/>
                      </a:pPr>
                      <a:r>
                        <a:rPr lang="en-US" sz="1000" dirty="0">
                          <a:solidFill>
                            <a:srgbClr val="1A1A2E"/>
                          </a:solidFill>
                          <a:latin typeface="Calibri" pitchFamily="34" charset="0"/>
                          <a:ea typeface="Calibri" pitchFamily="34" charset="-122"/>
                          <a:cs typeface="Calibri" pitchFamily="34" charset="-120"/>
                        </a:rPr>
                        <a:t>+31,240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0F4F7"/>
                    </a:solidFill>
                  </a:tcPr>
                </a:tc>
                <a:tc>
                  <a:txBody>
                    <a:bodyPr/>
                    <a:lstStyle/>
                    <a:p>
                      <a:pPr marL="0" indent="0" algn="r">
                        <a:buNone/>
                      </a:pPr>
                      <a:r>
                        <a:rPr lang="en-US" sz="1000" dirty="0">
                          <a:solidFill>
                            <a:srgbClr val="1A1A2E"/>
                          </a:solidFill>
                          <a:latin typeface="Calibri" pitchFamily="34" charset="0"/>
                          <a:ea typeface="Calibri" pitchFamily="34" charset="-122"/>
                          <a:cs typeface="Calibri" pitchFamily="34" charset="-120"/>
                        </a:rPr>
                        <a:t>+8,200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0F4F7"/>
                    </a:solidFill>
                  </a:tcPr>
                </a:tc>
                <a:tc>
                  <a:txBody>
                    <a:bodyPr/>
                    <a:lstStyle/>
                    <a:p>
                      <a:pPr marL="0" indent="0" algn="r">
                        <a:buNone/>
                      </a:pPr>
                      <a:r>
                        <a:rPr lang="en-US" sz="1000" b="1" dirty="0">
                          <a:solidFill>
                            <a:srgbClr val="1A1A2E"/>
                          </a:solidFill>
                          <a:latin typeface="Calibri" pitchFamily="34" charset="0"/>
                          <a:ea typeface="Calibri" pitchFamily="34" charset="-122"/>
                          <a:cs typeface="Calibri" pitchFamily="34" charset="-120"/>
                        </a:rPr>
                        <a:t>+53,040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0F4F7"/>
                    </a:solidFill>
                  </a:tcPr>
                </a:tc>
                <a:extLst>
                  <a:ext uri="{0D108BD9-81ED-4DB2-BD59-A6C34878D82A}">
                    <a16:rowId xmlns:a16="http://schemas.microsoft.com/office/drawing/2014/main" val="10005"/>
                  </a:ext>
                </a:extLst>
              </a:tr>
              <a:tr h="463731">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NET OVER LIFE</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2A4A"/>
                    </a:solidFill>
                  </a:tcPr>
                </a:tc>
                <a:tc>
                  <a:txBody>
                    <a:bodyPr/>
                    <a:lstStyle/>
                    <a:p>
                      <a:pPr marL="0" indent="0" algn="r">
                        <a:buNone/>
                      </a:pPr>
                      <a:r>
                        <a:rPr lang="en-US" sz="1000" dirty="0">
                          <a:solidFill>
                            <a:srgbClr val="FFFFFF"/>
                          </a:solidFill>
                          <a:latin typeface="Calibri" pitchFamily="34" charset="0"/>
                          <a:ea typeface="Calibri" pitchFamily="34" charset="-122"/>
                          <a:cs typeface="Calibri" pitchFamily="34" charset="-120"/>
                        </a:rPr>
                        <a:t>+35,600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2A4A"/>
                    </a:solidFill>
                  </a:tcPr>
                </a:tc>
                <a:tc>
                  <a:txBody>
                    <a:bodyPr/>
                    <a:lstStyle/>
                    <a:p>
                      <a:pPr marL="0" indent="0" algn="r">
                        <a:buNone/>
                      </a:pPr>
                      <a:r>
                        <a:rPr lang="en-US" sz="1000" dirty="0">
                          <a:solidFill>
                            <a:srgbClr val="FFFFFF"/>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2A4A"/>
                    </a:solidFill>
                  </a:tcPr>
                </a:tc>
                <a:tc>
                  <a:txBody>
                    <a:bodyPr/>
                    <a:lstStyle/>
                    <a:p>
                      <a:pPr marL="0" indent="0" algn="r">
                        <a:buNone/>
                      </a:pPr>
                      <a:r>
                        <a:rPr lang="en-US" sz="1000" dirty="0">
                          <a:solidFill>
                            <a:srgbClr val="FFFFFF"/>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2A4A"/>
                    </a:solidFill>
                  </a:tcPr>
                </a:tc>
                <a:tc>
                  <a:txBody>
                    <a:bodyPr/>
                    <a:lstStyle/>
                    <a:p>
                      <a:pPr marL="0" indent="0" algn="r">
                        <a:buNone/>
                      </a:pPr>
                      <a:r>
                        <a:rPr lang="en-US" sz="1000" dirty="0">
                          <a:solidFill>
                            <a:srgbClr val="FFFFFF"/>
                          </a:solidFill>
                          <a:latin typeface="Calibri" pitchFamily="34" charset="0"/>
                          <a:ea typeface="Calibri" pitchFamily="34" charset="-122"/>
                          <a:cs typeface="Calibri" pitchFamily="34" charset="-120"/>
                        </a:rPr>
                        <a:t>+4,200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2A4A"/>
                    </a:solidFill>
                  </a:tcPr>
                </a:tc>
                <a:tc>
                  <a:txBody>
                    <a:bodyPr/>
                    <a:lstStyle/>
                    <a:p>
                      <a:pPr marL="0" indent="0" algn="r">
                        <a:buNone/>
                      </a:pPr>
                      <a:r>
                        <a:rPr lang="en-US" sz="1000" b="1" dirty="0">
                          <a:solidFill>
                            <a:srgbClr val="0D1B2A"/>
                          </a:solidFill>
                          <a:latin typeface="Calibri" pitchFamily="34" charset="0"/>
                          <a:ea typeface="Calibri" pitchFamily="34" charset="-122"/>
                          <a:cs typeface="Calibri" pitchFamily="34" charset="-120"/>
                        </a:rPr>
                        <a:t>+39,800</a:t>
                      </a:r>
                      <a:endParaRPr lang="en-US" sz="10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953A"/>
                    </a:solidFill>
                  </a:tcPr>
                </a:tc>
                <a:extLst>
                  <a:ext uri="{0D108BD9-81ED-4DB2-BD59-A6C34878D82A}">
                    <a16:rowId xmlns:a16="http://schemas.microsoft.com/office/drawing/2014/main" val="10006"/>
                  </a:ext>
                </a:extLst>
              </a:tr>
            </a:tbl>
          </a:graphicData>
        </a:graphic>
      </p:graphicFrame>
      <p:sp>
        <p:nvSpPr>
          <p:cNvPr id="7" name="Shape 4"/>
          <p:cNvSpPr/>
          <p:nvPr/>
        </p:nvSpPr>
        <p:spPr>
          <a:xfrm>
            <a:off x="228600" y="4590288"/>
            <a:ext cx="8686800" cy="475488"/>
          </a:xfrm>
          <a:prstGeom prst="rect">
            <a:avLst/>
          </a:prstGeom>
          <a:solidFill>
            <a:srgbClr val="F5DFA8"/>
          </a:solidFill>
          <a:ln w="12700">
            <a:solidFill>
              <a:srgbClr val="C8953A"/>
            </a:solidFill>
            <a:prstDash val="solid"/>
          </a:ln>
        </p:spPr>
      </p:sp>
      <p:sp>
        <p:nvSpPr>
          <p:cNvPr id="8" name="Text 5"/>
          <p:cNvSpPr/>
          <p:nvPr/>
        </p:nvSpPr>
        <p:spPr>
          <a:xfrm>
            <a:off x="320040" y="4636008"/>
            <a:ext cx="8412480" cy="365760"/>
          </a:xfrm>
          <a:prstGeom prst="rect">
            <a:avLst/>
          </a:prstGeom>
          <a:noFill/>
          <a:ln/>
        </p:spPr>
        <p:txBody>
          <a:bodyPr wrap="square" rtlCol="0" anchor="ctr"/>
          <a:lstStyle/>
          <a:p>
            <a:pPr marL="0" indent="0">
              <a:buNone/>
            </a:pPr>
            <a:r>
              <a:rPr lang="en-US" sz="1000" b="1" dirty="0">
                <a:solidFill>
                  <a:srgbClr val="1A1A2E"/>
                </a:solidFill>
                <a:latin typeface="Calibri" pitchFamily="34" charset="0"/>
                <a:ea typeface="Calibri" pitchFamily="34" charset="-122"/>
                <a:cs typeface="Calibri" pitchFamily="34" charset="-120"/>
              </a:rPr>
              <a:t>CSA addition in Year 2 is the dominant P&amp;L event — releasing CVA and FVA reserves against the new collateralised valuation. CSA renegotiation events are the largest single XVA P&amp;L trigger in a derivatives book.</a:t>
            </a:r>
            <a:endParaRPr lang="en-US" sz="1000" dirty="0"/>
          </a:p>
        </p:txBody>
      </p:sp>
      <p:sp>
        <p:nvSpPr>
          <p:cNvPr id="9" name="Text 6"/>
          <p:cNvSpPr/>
          <p:nvPr/>
        </p:nvSpPr>
        <p:spPr>
          <a:xfrm>
            <a:off x="228600" y="4846320"/>
            <a:ext cx="7772400" cy="201168"/>
          </a:xfrm>
          <a:prstGeom prst="rect">
            <a:avLst/>
          </a:prstGeom>
          <a:noFill/>
          <a:ln/>
        </p:spPr>
        <p:txBody>
          <a:bodyPr wrap="square" rtlCol="0" anchor="ctr"/>
          <a:lstStyle/>
          <a:p>
            <a:pPr marL="0" indent="0">
              <a:buNone/>
            </a:pPr>
            <a:r>
              <a:rPr lang="en-US" sz="800" dirty="0">
                <a:solidFill>
                  <a:srgbClr val="8A9BB0"/>
                </a:solidFill>
                <a:latin typeface="Calibri" pitchFamily="34" charset="0"/>
                <a:ea typeface="Calibri" pitchFamily="34" charset="-122"/>
                <a:cs typeface="Calibri" pitchFamily="34" charset="-120"/>
              </a:rPr>
              <a:t>Module 6: KVA, ColVA &amp; Capital Costs  |  Sarthaka Nanda  |  © 2026  CC BY-NC 4.0</a:t>
            </a:r>
            <a:endParaRPr lang="en-US" sz="800" dirty="0"/>
          </a:p>
        </p:txBody>
      </p:sp>
      <p:sp>
        <p:nvSpPr>
          <p:cNvPr id="10" name="Text 7"/>
          <p:cNvSpPr/>
          <p:nvPr/>
        </p:nvSpPr>
        <p:spPr>
          <a:xfrm>
            <a:off x="8686800" y="4846320"/>
            <a:ext cx="365760" cy="201168"/>
          </a:xfrm>
          <a:prstGeom prst="rect">
            <a:avLst/>
          </a:prstGeom>
          <a:noFill/>
          <a:ln/>
        </p:spPr>
        <p:txBody>
          <a:bodyPr wrap="square" rtlCol="0" anchor="ctr"/>
          <a:lstStyle/>
          <a:p>
            <a:pPr marL="0" indent="0" algn="r">
              <a:buNone/>
            </a:pPr>
            <a:r>
              <a:rPr lang="en-US" sz="800" dirty="0">
                <a:solidFill>
                  <a:srgbClr val="8A9BB0"/>
                </a:solidFill>
                <a:latin typeface="Calibri" pitchFamily="34" charset="0"/>
                <a:ea typeface="Calibri" pitchFamily="34" charset="-122"/>
                <a:cs typeface="Calibri" pitchFamily="34" charset="-120"/>
              </a:rPr>
              <a:t>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28090"/>
          </a:solidFill>
          <a:ln w="12700">
            <a:solidFill>
              <a:srgbClr val="028090"/>
            </a:solidFill>
            <a:prstDash val="solid"/>
          </a:ln>
        </p:spPr>
      </p:sp>
      <p:sp>
        <p:nvSpPr>
          <p:cNvPr id="3" name="Shape 1"/>
          <p:cNvSpPr/>
          <p:nvPr/>
        </p:nvSpPr>
        <p:spPr>
          <a:xfrm>
            <a:off x="228600" y="164592"/>
            <a:ext cx="2377440" cy="292608"/>
          </a:xfrm>
          <a:prstGeom prst="rect">
            <a:avLst/>
          </a:prstGeom>
          <a:solidFill>
            <a:srgbClr val="028090"/>
          </a:solidFill>
          <a:ln w="12700">
            <a:solidFill>
              <a:srgbClr val="028090"/>
            </a:solidFill>
            <a:prstDash val="solid"/>
          </a:ln>
        </p:spPr>
      </p:sp>
      <p:sp>
        <p:nvSpPr>
          <p:cNvPr id="4" name="Text 2"/>
          <p:cNvSpPr/>
          <p:nvPr/>
        </p:nvSpPr>
        <p:spPr>
          <a:xfrm>
            <a:off x="228600" y="164592"/>
            <a:ext cx="2377440" cy="292608"/>
          </a:xfrm>
          <a:prstGeom prst="rect">
            <a:avLst/>
          </a:prstGeom>
          <a:noFill/>
          <a:ln/>
        </p:spPr>
        <p:txBody>
          <a:bodyPr wrap="square" rtlCol="0" anchor="ctr"/>
          <a:lstStyle/>
          <a:p>
            <a:pPr marL="0" indent="0" algn="ctr">
              <a:buNone/>
            </a:pPr>
            <a:r>
              <a:rPr lang="en-US" sz="900" b="1" dirty="0">
                <a:solidFill>
                  <a:srgbClr val="FFFFFF"/>
                </a:solidFill>
              </a:rPr>
              <a:t>SECTION 9 — REGULATORY &amp; STRATEGIC</a:t>
            </a:r>
            <a:endParaRPr lang="en-US" sz="900" dirty="0"/>
          </a:p>
        </p:txBody>
      </p:sp>
      <p:sp>
        <p:nvSpPr>
          <p:cNvPr id="5" name="Text 3"/>
          <p:cNvSpPr/>
          <p:nvPr/>
        </p:nvSpPr>
        <p:spPr>
          <a:xfrm>
            <a:off x="228600" y="548640"/>
            <a:ext cx="8686800" cy="548640"/>
          </a:xfrm>
          <a:prstGeom prst="rect">
            <a:avLst/>
          </a:prstGeom>
          <a:noFill/>
          <a:ln/>
        </p:spPr>
        <p:txBody>
          <a:bodyPr wrap="square" rtlCol="0" anchor="ctr"/>
          <a:lstStyle/>
          <a:p>
            <a:pPr marL="0" indent="0">
              <a:buNone/>
            </a:pPr>
            <a:r>
              <a:rPr lang="en-US" sz="2600" b="1" dirty="0">
                <a:solidFill>
                  <a:srgbClr val="0D1B2A"/>
                </a:solidFill>
                <a:latin typeface="Calibri" pitchFamily="34" charset="0"/>
                <a:ea typeface="Calibri" pitchFamily="34" charset="-122"/>
                <a:cs typeface="Calibri" pitchFamily="34" charset="-120"/>
              </a:rPr>
              <a:t>Basel IV, FRTB CVA &amp; Strategic Implications</a:t>
            </a:r>
            <a:endParaRPr lang="en-US" sz="2600" dirty="0"/>
          </a:p>
        </p:txBody>
      </p:sp>
      <p:sp>
        <p:nvSpPr>
          <p:cNvPr id="6" name="Text 4"/>
          <p:cNvSpPr/>
          <p:nvPr/>
        </p:nvSpPr>
        <p:spPr>
          <a:xfrm>
            <a:off x="228600" y="1207008"/>
            <a:ext cx="4114800" cy="256032"/>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Basel IV Output Floor</a:t>
            </a:r>
            <a:endParaRPr lang="en-US" sz="1300" dirty="0"/>
          </a:p>
        </p:txBody>
      </p:sp>
      <p:sp>
        <p:nvSpPr>
          <p:cNvPr id="7" name="Shape 5"/>
          <p:cNvSpPr/>
          <p:nvPr/>
        </p:nvSpPr>
        <p:spPr>
          <a:xfrm>
            <a:off x="228600" y="1536192"/>
            <a:ext cx="36576" cy="274320"/>
          </a:xfrm>
          <a:prstGeom prst="rect">
            <a:avLst/>
          </a:prstGeom>
          <a:solidFill>
            <a:srgbClr val="C0392B"/>
          </a:solidFill>
          <a:ln w="12700">
            <a:solidFill>
              <a:srgbClr val="C0392B"/>
            </a:solidFill>
            <a:prstDash val="solid"/>
          </a:ln>
        </p:spPr>
      </p:sp>
      <p:sp>
        <p:nvSpPr>
          <p:cNvPr id="8" name="Text 6"/>
          <p:cNvSpPr/>
          <p:nvPr/>
        </p:nvSpPr>
        <p:spPr>
          <a:xfrm>
            <a:off x="365760" y="1554480"/>
            <a:ext cx="3931920" cy="384048"/>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RWA floor = 72.5% of SA RWA — constrains IMM benefit for derivative books</a:t>
            </a:r>
            <a:endParaRPr lang="en-US" sz="1000" dirty="0"/>
          </a:p>
        </p:txBody>
      </p:sp>
      <p:sp>
        <p:nvSpPr>
          <p:cNvPr id="9" name="Shape 7"/>
          <p:cNvSpPr/>
          <p:nvPr/>
        </p:nvSpPr>
        <p:spPr>
          <a:xfrm>
            <a:off x="228600" y="1993392"/>
            <a:ext cx="36576" cy="274320"/>
          </a:xfrm>
          <a:prstGeom prst="rect">
            <a:avLst/>
          </a:prstGeom>
          <a:solidFill>
            <a:srgbClr val="C0392B"/>
          </a:solidFill>
          <a:ln w="12700">
            <a:solidFill>
              <a:srgbClr val="C0392B"/>
            </a:solidFill>
            <a:prstDash val="solid"/>
          </a:ln>
        </p:spPr>
      </p:sp>
      <p:sp>
        <p:nvSpPr>
          <p:cNvPr id="10" name="Text 8"/>
          <p:cNvSpPr/>
          <p:nvPr/>
        </p:nvSpPr>
        <p:spPr>
          <a:xfrm>
            <a:off x="365760" y="2011680"/>
            <a:ext cx="3931920" cy="384048"/>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SA-CCR already high vs IMM → floor binds less for SA users</a:t>
            </a:r>
            <a:endParaRPr lang="en-US" sz="1000" dirty="0"/>
          </a:p>
        </p:txBody>
      </p:sp>
      <p:sp>
        <p:nvSpPr>
          <p:cNvPr id="11" name="Shape 9"/>
          <p:cNvSpPr/>
          <p:nvPr/>
        </p:nvSpPr>
        <p:spPr>
          <a:xfrm>
            <a:off x="228600" y="2450592"/>
            <a:ext cx="36576" cy="274320"/>
          </a:xfrm>
          <a:prstGeom prst="rect">
            <a:avLst/>
          </a:prstGeom>
          <a:solidFill>
            <a:srgbClr val="C0392B"/>
          </a:solidFill>
          <a:ln w="12700">
            <a:solidFill>
              <a:srgbClr val="C0392B"/>
            </a:solidFill>
            <a:prstDash val="solid"/>
          </a:ln>
        </p:spPr>
      </p:sp>
      <p:sp>
        <p:nvSpPr>
          <p:cNvPr id="12" name="Text 10"/>
          <p:cNvSpPr/>
          <p:nvPr/>
        </p:nvSpPr>
        <p:spPr>
          <a:xfrm>
            <a:off x="365760" y="2468880"/>
            <a:ext cx="3931920" cy="384048"/>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KVA increases as floor raises effective RWA across the book</a:t>
            </a:r>
            <a:endParaRPr lang="en-US" sz="1000" dirty="0"/>
          </a:p>
        </p:txBody>
      </p:sp>
      <p:sp>
        <p:nvSpPr>
          <p:cNvPr id="13" name="Shape 11"/>
          <p:cNvSpPr/>
          <p:nvPr/>
        </p:nvSpPr>
        <p:spPr>
          <a:xfrm>
            <a:off x="228600" y="2907792"/>
            <a:ext cx="36576" cy="274320"/>
          </a:xfrm>
          <a:prstGeom prst="rect">
            <a:avLst/>
          </a:prstGeom>
          <a:solidFill>
            <a:srgbClr val="C0392B"/>
          </a:solidFill>
          <a:ln w="12700">
            <a:solidFill>
              <a:srgbClr val="C0392B"/>
            </a:solidFill>
            <a:prstDash val="solid"/>
          </a:ln>
        </p:spPr>
      </p:sp>
      <p:sp>
        <p:nvSpPr>
          <p:cNvPr id="14" name="Text 12"/>
          <p:cNvSpPr/>
          <p:nvPr/>
        </p:nvSpPr>
        <p:spPr>
          <a:xfrm>
            <a:off x="365760" y="2926080"/>
            <a:ext cx="3931920" cy="384048"/>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Accelerates shift to clearing — CCP trades get more favourable RWA treatment</a:t>
            </a:r>
            <a:endParaRPr lang="en-US" sz="1000" dirty="0"/>
          </a:p>
        </p:txBody>
      </p:sp>
      <p:sp>
        <p:nvSpPr>
          <p:cNvPr id="15" name="Text 13"/>
          <p:cNvSpPr/>
          <p:nvPr/>
        </p:nvSpPr>
        <p:spPr>
          <a:xfrm>
            <a:off x="4572000" y="1207008"/>
            <a:ext cx="4343400" cy="256032"/>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Strategic Implications of KVA Pricing</a:t>
            </a:r>
            <a:endParaRPr lang="en-US" sz="1300" dirty="0"/>
          </a:p>
        </p:txBody>
      </p:sp>
      <p:sp>
        <p:nvSpPr>
          <p:cNvPr id="16" name="Shape 14"/>
          <p:cNvSpPr/>
          <p:nvPr/>
        </p:nvSpPr>
        <p:spPr>
          <a:xfrm>
            <a:off x="4572000" y="1536192"/>
            <a:ext cx="4343400" cy="841248"/>
          </a:xfrm>
          <a:prstGeom prst="rect">
            <a:avLst/>
          </a:prstGeom>
          <a:solidFill>
            <a:srgbClr val="E0F4F7"/>
          </a:solidFill>
          <a:ln w="12700">
            <a:solidFill>
              <a:srgbClr val="028090"/>
            </a:solidFill>
            <a:prstDash val="solid"/>
          </a:ln>
        </p:spPr>
      </p:sp>
      <p:sp>
        <p:nvSpPr>
          <p:cNvPr id="17" name="Shape 15"/>
          <p:cNvSpPr/>
          <p:nvPr/>
        </p:nvSpPr>
        <p:spPr>
          <a:xfrm>
            <a:off x="4572000" y="1536192"/>
            <a:ext cx="64008" cy="841248"/>
          </a:xfrm>
          <a:prstGeom prst="rect">
            <a:avLst/>
          </a:prstGeom>
          <a:solidFill>
            <a:srgbClr val="028090"/>
          </a:solidFill>
          <a:ln w="12700">
            <a:solidFill>
              <a:srgbClr val="028090"/>
            </a:solidFill>
            <a:prstDash val="solid"/>
          </a:ln>
        </p:spPr>
      </p:sp>
      <p:sp>
        <p:nvSpPr>
          <p:cNvPr id="18" name="Text 16"/>
          <p:cNvSpPr/>
          <p:nvPr/>
        </p:nvSpPr>
        <p:spPr>
          <a:xfrm>
            <a:off x="4709160" y="1581912"/>
            <a:ext cx="4114800" cy="228600"/>
          </a:xfrm>
          <a:prstGeom prst="rect">
            <a:avLst/>
          </a:prstGeom>
          <a:noFill/>
          <a:ln/>
        </p:spPr>
        <p:txBody>
          <a:bodyPr wrap="square" rtlCol="0" anchor="ctr"/>
          <a:lstStyle/>
          <a:p>
            <a:pPr marL="0" indent="0">
              <a:buNone/>
            </a:pPr>
            <a:r>
              <a:rPr lang="en-US" sz="1100" b="1" dirty="0">
                <a:solidFill>
                  <a:srgbClr val="1A1A2E"/>
                </a:solidFill>
                <a:latin typeface="Calibri" pitchFamily="34" charset="0"/>
                <a:ea typeface="Calibri" pitchFamily="34" charset="-122"/>
                <a:cs typeface="Calibri" pitchFamily="34" charset="-120"/>
              </a:rPr>
              <a:t>Product Pricing</a:t>
            </a:r>
            <a:endParaRPr lang="en-US" sz="1100" dirty="0"/>
          </a:p>
        </p:txBody>
      </p:sp>
      <p:sp>
        <p:nvSpPr>
          <p:cNvPr id="19" name="Text 17"/>
          <p:cNvSpPr/>
          <p:nvPr/>
        </p:nvSpPr>
        <p:spPr>
          <a:xfrm>
            <a:off x="4709160" y="1837944"/>
            <a:ext cx="4114800" cy="45720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Long-dated uncollateralised + high-RW = structurally expensive. Capital-adjusted pricing hierarchy emerges.</a:t>
            </a:r>
            <a:endParaRPr lang="en-US" sz="1000" dirty="0"/>
          </a:p>
        </p:txBody>
      </p:sp>
      <p:sp>
        <p:nvSpPr>
          <p:cNvPr id="20" name="Shape 18"/>
          <p:cNvSpPr/>
          <p:nvPr/>
        </p:nvSpPr>
        <p:spPr>
          <a:xfrm>
            <a:off x="4572000" y="2496312"/>
            <a:ext cx="4343400" cy="841248"/>
          </a:xfrm>
          <a:prstGeom prst="rect">
            <a:avLst/>
          </a:prstGeom>
          <a:solidFill>
            <a:srgbClr val="E0F4F7"/>
          </a:solidFill>
          <a:ln w="12700">
            <a:solidFill>
              <a:srgbClr val="028090"/>
            </a:solidFill>
            <a:prstDash val="solid"/>
          </a:ln>
        </p:spPr>
      </p:sp>
      <p:sp>
        <p:nvSpPr>
          <p:cNvPr id="21" name="Shape 19"/>
          <p:cNvSpPr/>
          <p:nvPr/>
        </p:nvSpPr>
        <p:spPr>
          <a:xfrm>
            <a:off x="4572000" y="2496312"/>
            <a:ext cx="64008" cy="841248"/>
          </a:xfrm>
          <a:prstGeom prst="rect">
            <a:avLst/>
          </a:prstGeom>
          <a:solidFill>
            <a:srgbClr val="028090"/>
          </a:solidFill>
          <a:ln w="12700">
            <a:solidFill>
              <a:srgbClr val="028090"/>
            </a:solidFill>
            <a:prstDash val="solid"/>
          </a:ln>
        </p:spPr>
      </p:sp>
      <p:sp>
        <p:nvSpPr>
          <p:cNvPr id="22" name="Text 20"/>
          <p:cNvSpPr/>
          <p:nvPr/>
        </p:nvSpPr>
        <p:spPr>
          <a:xfrm>
            <a:off x="4709160" y="2542032"/>
            <a:ext cx="4114800" cy="228600"/>
          </a:xfrm>
          <a:prstGeom prst="rect">
            <a:avLst/>
          </a:prstGeom>
          <a:noFill/>
          <a:ln/>
        </p:spPr>
        <p:txBody>
          <a:bodyPr wrap="square" rtlCol="0" anchor="ctr"/>
          <a:lstStyle/>
          <a:p>
            <a:pPr marL="0" indent="0">
              <a:buNone/>
            </a:pPr>
            <a:r>
              <a:rPr lang="en-US" sz="1100" b="1" dirty="0">
                <a:solidFill>
                  <a:srgbClr val="1A1A2E"/>
                </a:solidFill>
                <a:latin typeface="Calibri" pitchFamily="34" charset="0"/>
                <a:ea typeface="Calibri" pitchFamily="34" charset="-122"/>
                <a:cs typeface="Calibri" pitchFamily="34" charset="-120"/>
              </a:rPr>
              <a:t>Client Selection</a:t>
            </a:r>
            <a:endParaRPr lang="en-US" sz="1100" dirty="0"/>
          </a:p>
        </p:txBody>
      </p:sp>
      <p:sp>
        <p:nvSpPr>
          <p:cNvPr id="23" name="Text 21"/>
          <p:cNvSpPr/>
          <p:nvPr/>
        </p:nvSpPr>
        <p:spPr>
          <a:xfrm>
            <a:off x="4709160" y="2798064"/>
            <a:ext cx="4114800" cy="45720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AA/AAA (RW 20%) structurally preferred to BBB (RW 100%). KVA shapes relationship banking strategy.</a:t>
            </a:r>
            <a:endParaRPr lang="en-US" sz="1000" dirty="0"/>
          </a:p>
        </p:txBody>
      </p:sp>
      <p:sp>
        <p:nvSpPr>
          <p:cNvPr id="24" name="Shape 22"/>
          <p:cNvSpPr/>
          <p:nvPr/>
        </p:nvSpPr>
        <p:spPr>
          <a:xfrm>
            <a:off x="4572000" y="3456432"/>
            <a:ext cx="4343400" cy="841248"/>
          </a:xfrm>
          <a:prstGeom prst="rect">
            <a:avLst/>
          </a:prstGeom>
          <a:solidFill>
            <a:srgbClr val="E0F4F7"/>
          </a:solidFill>
          <a:ln w="12700">
            <a:solidFill>
              <a:srgbClr val="028090"/>
            </a:solidFill>
            <a:prstDash val="solid"/>
          </a:ln>
        </p:spPr>
      </p:sp>
      <p:sp>
        <p:nvSpPr>
          <p:cNvPr id="25" name="Shape 23"/>
          <p:cNvSpPr/>
          <p:nvPr/>
        </p:nvSpPr>
        <p:spPr>
          <a:xfrm>
            <a:off x="4572000" y="3456432"/>
            <a:ext cx="64008" cy="841248"/>
          </a:xfrm>
          <a:prstGeom prst="rect">
            <a:avLst/>
          </a:prstGeom>
          <a:solidFill>
            <a:srgbClr val="028090"/>
          </a:solidFill>
          <a:ln w="12700">
            <a:solidFill>
              <a:srgbClr val="028090"/>
            </a:solidFill>
            <a:prstDash val="solid"/>
          </a:ln>
        </p:spPr>
      </p:sp>
      <p:sp>
        <p:nvSpPr>
          <p:cNvPr id="26" name="Text 24"/>
          <p:cNvSpPr/>
          <p:nvPr/>
        </p:nvSpPr>
        <p:spPr>
          <a:xfrm>
            <a:off x="4709160" y="3502152"/>
            <a:ext cx="4114800" cy="228600"/>
          </a:xfrm>
          <a:prstGeom prst="rect">
            <a:avLst/>
          </a:prstGeom>
          <a:noFill/>
          <a:ln/>
        </p:spPr>
        <p:txBody>
          <a:bodyPr wrap="square" rtlCol="0" anchor="ctr"/>
          <a:lstStyle/>
          <a:p>
            <a:pPr marL="0" indent="0">
              <a:buNone/>
            </a:pPr>
            <a:r>
              <a:rPr lang="en-US" sz="1100" b="1" dirty="0">
                <a:solidFill>
                  <a:srgbClr val="1A1A2E"/>
                </a:solidFill>
                <a:latin typeface="Calibri" pitchFamily="34" charset="0"/>
                <a:ea typeface="Calibri" pitchFamily="34" charset="-122"/>
                <a:cs typeface="Calibri" pitchFamily="34" charset="-120"/>
              </a:rPr>
              <a:t>Balance Sheet Opt.</a:t>
            </a:r>
            <a:endParaRPr lang="en-US" sz="1100" dirty="0"/>
          </a:p>
        </p:txBody>
      </p:sp>
      <p:sp>
        <p:nvSpPr>
          <p:cNvPr id="27" name="Text 25"/>
          <p:cNvSpPr/>
          <p:nvPr/>
        </p:nvSpPr>
        <p:spPr>
          <a:xfrm>
            <a:off x="4709160" y="3758184"/>
            <a:ext cx="4114800" cy="45720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Clearing, compression, netting, tenor reduction — all reduce RWA and therefore KVA. Direct economic incentive.</a:t>
            </a:r>
            <a:endParaRPr lang="en-US" sz="1000" dirty="0"/>
          </a:p>
        </p:txBody>
      </p:sp>
      <p:sp>
        <p:nvSpPr>
          <p:cNvPr id="28" name="Shape 26"/>
          <p:cNvSpPr/>
          <p:nvPr/>
        </p:nvSpPr>
        <p:spPr>
          <a:xfrm>
            <a:off x="228600" y="4407408"/>
            <a:ext cx="64008" cy="621792"/>
          </a:xfrm>
          <a:prstGeom prst="rect">
            <a:avLst/>
          </a:prstGeom>
          <a:solidFill>
            <a:srgbClr val="C8953A"/>
          </a:solidFill>
          <a:ln w="12700">
            <a:solidFill>
              <a:srgbClr val="C8953A"/>
            </a:solidFill>
            <a:prstDash val="solid"/>
          </a:ln>
        </p:spPr>
      </p:sp>
      <p:sp>
        <p:nvSpPr>
          <p:cNvPr id="29" name="Shape 27"/>
          <p:cNvSpPr/>
          <p:nvPr/>
        </p:nvSpPr>
        <p:spPr>
          <a:xfrm>
            <a:off x="292608" y="4407408"/>
            <a:ext cx="8622792" cy="621792"/>
          </a:xfrm>
          <a:prstGeom prst="rect">
            <a:avLst/>
          </a:prstGeom>
          <a:solidFill>
            <a:srgbClr val="E0F4F7"/>
          </a:solidFill>
          <a:ln w="12700">
            <a:solidFill>
              <a:srgbClr val="E0F4F7"/>
            </a:solidFill>
            <a:prstDash val="solid"/>
          </a:ln>
        </p:spPr>
      </p:sp>
      <p:sp>
        <p:nvSpPr>
          <p:cNvPr id="30" name="Text 28"/>
          <p:cNvSpPr/>
          <p:nvPr/>
        </p:nvSpPr>
        <p:spPr>
          <a:xfrm>
            <a:off x="365760" y="4453128"/>
            <a:ext cx="8458200" cy="201168"/>
          </a:xfrm>
          <a:prstGeom prst="rect">
            <a:avLst/>
          </a:prstGeom>
          <a:noFill/>
          <a:ln/>
        </p:spPr>
        <p:txBody>
          <a:bodyPr wrap="square" rtlCol="0" anchor="ctr"/>
          <a:lstStyle/>
          <a:p>
            <a:pPr marL="0" indent="0">
              <a:buNone/>
            </a:pPr>
            <a:r>
              <a:rPr lang="en-US" sz="900" b="1" dirty="0">
                <a:solidFill>
                  <a:srgbClr val="028090"/>
                </a:solidFill>
                <a:latin typeface="Calibri" pitchFamily="34" charset="0"/>
                <a:ea typeface="Calibri" pitchFamily="34" charset="-122"/>
                <a:cs typeface="Calibri" pitchFamily="34" charset="-120"/>
              </a:rPr>
              <a:t>FUTURE OF XVA</a:t>
            </a:r>
            <a:endParaRPr lang="en-US" sz="900" dirty="0"/>
          </a:p>
        </p:txBody>
      </p:sp>
      <p:sp>
        <p:nvSpPr>
          <p:cNvPr id="31" name="Text 29"/>
          <p:cNvSpPr/>
          <p:nvPr/>
        </p:nvSpPr>
        <p:spPr>
          <a:xfrm>
            <a:off x="365760" y="4654296"/>
            <a:ext cx="8458200" cy="301752"/>
          </a:xfrm>
          <a:prstGeom prst="rect">
            <a:avLst/>
          </a:prstGeom>
          <a:noFill/>
          <a:ln/>
        </p:spPr>
        <p:txBody>
          <a:bodyPr wrap="square" rtlCol="0" anchor="ctr"/>
          <a:lstStyle/>
          <a:p>
            <a:pPr marL="0" indent="0">
              <a:buNone/>
            </a:pPr>
            <a:r>
              <a:rPr lang="en-US" sz="1000" i="1" dirty="0">
                <a:solidFill>
                  <a:srgbClr val="1A1A2E"/>
                </a:solidFill>
                <a:latin typeface="Calibri" pitchFamily="34" charset="0"/>
                <a:ea typeface="Calibri" pitchFamily="34" charset="-122"/>
                <a:cs typeface="Calibri" pitchFamily="34" charset="-120"/>
              </a:rPr>
              <a:t>AI/ML for real-time XVA (sub-second at execution) | Digital asset ColVA (tokenised collateral CTD) | Climate capital add-ons (new KVA dimension for carbon-intensive counterparties)</a:t>
            </a:r>
            <a:endParaRPr lang="en-US" sz="1000" dirty="0"/>
          </a:p>
        </p:txBody>
      </p:sp>
      <p:sp>
        <p:nvSpPr>
          <p:cNvPr id="32" name="Text 30"/>
          <p:cNvSpPr/>
          <p:nvPr/>
        </p:nvSpPr>
        <p:spPr>
          <a:xfrm>
            <a:off x="228600" y="4846320"/>
            <a:ext cx="7772400" cy="201168"/>
          </a:xfrm>
          <a:prstGeom prst="rect">
            <a:avLst/>
          </a:prstGeom>
          <a:noFill/>
          <a:ln/>
        </p:spPr>
        <p:txBody>
          <a:bodyPr wrap="square" rtlCol="0" anchor="ctr"/>
          <a:lstStyle/>
          <a:p>
            <a:pPr marL="0" indent="0">
              <a:buNone/>
            </a:pPr>
            <a:r>
              <a:rPr lang="en-US" sz="800" dirty="0">
                <a:solidFill>
                  <a:srgbClr val="8A9BB0"/>
                </a:solidFill>
                <a:latin typeface="Calibri" pitchFamily="34" charset="0"/>
                <a:ea typeface="Calibri" pitchFamily="34" charset="-122"/>
                <a:cs typeface="Calibri" pitchFamily="34" charset="-120"/>
              </a:rPr>
              <a:t>Module 6: KVA, ColVA &amp; Capital Costs  |  Sarthaka Nanda  |  © 2026  CC BY-NC 4.0</a:t>
            </a:r>
            <a:endParaRPr lang="en-US" sz="800" dirty="0"/>
          </a:p>
        </p:txBody>
      </p:sp>
      <p:sp>
        <p:nvSpPr>
          <p:cNvPr id="33" name="Text 31"/>
          <p:cNvSpPr/>
          <p:nvPr/>
        </p:nvSpPr>
        <p:spPr>
          <a:xfrm>
            <a:off x="8686800" y="4846320"/>
            <a:ext cx="365760" cy="201168"/>
          </a:xfrm>
          <a:prstGeom prst="rect">
            <a:avLst/>
          </a:prstGeom>
          <a:noFill/>
          <a:ln/>
        </p:spPr>
        <p:txBody>
          <a:bodyPr wrap="square" rtlCol="0" anchor="ctr"/>
          <a:lstStyle/>
          <a:p>
            <a:pPr marL="0" indent="0" algn="r">
              <a:buNone/>
            </a:pPr>
            <a:r>
              <a:rPr lang="en-US" sz="800" dirty="0">
                <a:solidFill>
                  <a:srgbClr val="8A9BB0"/>
                </a:solidFill>
                <a:latin typeface="Calibri" pitchFamily="34" charset="0"/>
                <a:ea typeface="Calibri" pitchFamily="34" charset="-122"/>
                <a:cs typeface="Calibri" pitchFamily="34" charset="-120"/>
              </a:rPr>
              <a:t>16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8953A"/>
          </a:solidFill>
          <a:ln w="12700">
            <a:solidFill>
              <a:srgbClr val="C8953A"/>
            </a:solidFill>
            <a:prstDash val="solid"/>
          </a:ln>
        </p:spPr>
      </p:sp>
      <p:sp>
        <p:nvSpPr>
          <p:cNvPr id="3" name="Text 1"/>
          <p:cNvSpPr/>
          <p:nvPr/>
        </p:nvSpPr>
        <p:spPr>
          <a:xfrm>
            <a:off x="228600" y="457200"/>
            <a:ext cx="8686800" cy="64008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Module 6 — Key Takeaways</a:t>
            </a:r>
            <a:endParaRPr lang="en-US" sz="2800" dirty="0"/>
          </a:p>
        </p:txBody>
      </p:sp>
      <p:sp>
        <p:nvSpPr>
          <p:cNvPr id="4" name="Shape 2"/>
          <p:cNvSpPr/>
          <p:nvPr/>
        </p:nvSpPr>
        <p:spPr>
          <a:xfrm>
            <a:off x="228600" y="1234440"/>
            <a:ext cx="4297680" cy="1024128"/>
          </a:xfrm>
          <a:prstGeom prst="rect">
            <a:avLst/>
          </a:prstGeom>
          <a:solidFill>
            <a:srgbClr val="152235"/>
          </a:solidFill>
          <a:ln w="12700">
            <a:solidFill>
              <a:srgbClr val="028090"/>
            </a:solidFill>
            <a:prstDash val="solid"/>
          </a:ln>
        </p:spPr>
      </p:sp>
      <p:sp>
        <p:nvSpPr>
          <p:cNvPr id="5" name="Shape 3"/>
          <p:cNvSpPr/>
          <p:nvPr/>
        </p:nvSpPr>
        <p:spPr>
          <a:xfrm>
            <a:off x="228600" y="1234440"/>
            <a:ext cx="502920" cy="1024128"/>
          </a:xfrm>
          <a:prstGeom prst="rect">
            <a:avLst/>
          </a:prstGeom>
          <a:solidFill>
            <a:srgbClr val="1B2A4A"/>
          </a:solidFill>
          <a:ln w="12700">
            <a:solidFill>
              <a:srgbClr val="1B2A4A"/>
            </a:solidFill>
            <a:prstDash val="solid"/>
          </a:ln>
        </p:spPr>
      </p:sp>
      <p:sp>
        <p:nvSpPr>
          <p:cNvPr id="6" name="Text 4"/>
          <p:cNvSpPr/>
          <p:nvPr/>
        </p:nvSpPr>
        <p:spPr>
          <a:xfrm>
            <a:off x="228600" y="1508760"/>
            <a:ext cx="502920" cy="457200"/>
          </a:xfrm>
          <a:prstGeom prst="rect">
            <a:avLst/>
          </a:prstGeom>
          <a:noFill/>
          <a:ln/>
        </p:spPr>
        <p:txBody>
          <a:bodyPr wrap="square" rtlCol="0" anchor="ctr"/>
          <a:lstStyle/>
          <a:p>
            <a:pPr marL="0" indent="0" algn="ctr">
              <a:buNone/>
            </a:pPr>
            <a:r>
              <a:rPr lang="en-US" sz="1600" b="1" dirty="0">
                <a:solidFill>
                  <a:srgbClr val="C8953A"/>
                </a:solidFill>
                <a:latin typeface="Calibri" pitchFamily="34" charset="0"/>
                <a:ea typeface="Calibri" pitchFamily="34" charset="-122"/>
                <a:cs typeface="Calibri" pitchFamily="34" charset="-120"/>
              </a:rPr>
              <a:t>01</a:t>
            </a:r>
            <a:endParaRPr lang="en-US" sz="1600" dirty="0"/>
          </a:p>
        </p:txBody>
      </p:sp>
      <p:sp>
        <p:nvSpPr>
          <p:cNvPr id="7" name="Text 5"/>
          <p:cNvSpPr/>
          <p:nvPr/>
        </p:nvSpPr>
        <p:spPr>
          <a:xfrm>
            <a:off x="822960" y="1325880"/>
            <a:ext cx="3611880" cy="841248"/>
          </a:xfrm>
          <a:prstGeom prst="rect">
            <a:avLst/>
          </a:prstGeom>
          <a:noFill/>
          <a:ln/>
        </p:spPr>
        <p:txBody>
          <a:bodyPr wrap="square" rtlCol="0" anchor="ctr"/>
          <a:lstStyle/>
          <a:p>
            <a:pPr marL="0" indent="0">
              <a:buNone/>
            </a:pPr>
            <a:r>
              <a:rPr lang="en-US" sz="950" dirty="0">
                <a:solidFill>
                  <a:srgbClr val="F4F6F8"/>
                </a:solidFill>
                <a:latin typeface="Calibri" pitchFamily="34" charset="0"/>
                <a:ea typeface="Calibri" pitchFamily="34" charset="-122"/>
                <a:cs typeface="Calibri" pitchFamily="34" charset="-120"/>
              </a:rPr>
              <a:t>ColVA = value of the CTD option in a multi-currency CSA. Single-currency CSA → ColVA = 0. Multi-currency → spread option value, grows with volatility and tenor.</a:t>
            </a:r>
            <a:endParaRPr lang="en-US" sz="950" dirty="0"/>
          </a:p>
        </p:txBody>
      </p:sp>
      <p:sp>
        <p:nvSpPr>
          <p:cNvPr id="8" name="Shape 6"/>
          <p:cNvSpPr/>
          <p:nvPr/>
        </p:nvSpPr>
        <p:spPr>
          <a:xfrm>
            <a:off x="228600" y="2441448"/>
            <a:ext cx="4297680" cy="1024128"/>
          </a:xfrm>
          <a:prstGeom prst="rect">
            <a:avLst/>
          </a:prstGeom>
          <a:solidFill>
            <a:srgbClr val="152235"/>
          </a:solidFill>
          <a:ln w="12700">
            <a:solidFill>
              <a:srgbClr val="028090"/>
            </a:solidFill>
            <a:prstDash val="solid"/>
          </a:ln>
        </p:spPr>
      </p:sp>
      <p:sp>
        <p:nvSpPr>
          <p:cNvPr id="9" name="Shape 7"/>
          <p:cNvSpPr/>
          <p:nvPr/>
        </p:nvSpPr>
        <p:spPr>
          <a:xfrm>
            <a:off x="228600" y="2441448"/>
            <a:ext cx="502920" cy="1024128"/>
          </a:xfrm>
          <a:prstGeom prst="rect">
            <a:avLst/>
          </a:prstGeom>
          <a:solidFill>
            <a:srgbClr val="1B2A4A"/>
          </a:solidFill>
          <a:ln w="12700">
            <a:solidFill>
              <a:srgbClr val="1B2A4A"/>
            </a:solidFill>
            <a:prstDash val="solid"/>
          </a:ln>
        </p:spPr>
      </p:sp>
      <p:sp>
        <p:nvSpPr>
          <p:cNvPr id="10" name="Text 8"/>
          <p:cNvSpPr/>
          <p:nvPr/>
        </p:nvSpPr>
        <p:spPr>
          <a:xfrm>
            <a:off x="228600" y="2715768"/>
            <a:ext cx="502920" cy="457200"/>
          </a:xfrm>
          <a:prstGeom prst="rect">
            <a:avLst/>
          </a:prstGeom>
          <a:noFill/>
          <a:ln/>
        </p:spPr>
        <p:txBody>
          <a:bodyPr wrap="square" rtlCol="0" anchor="ctr"/>
          <a:lstStyle/>
          <a:p>
            <a:pPr marL="0" indent="0" algn="ctr">
              <a:buNone/>
            </a:pPr>
            <a:r>
              <a:rPr lang="en-US" sz="1600" b="1" dirty="0">
                <a:solidFill>
                  <a:srgbClr val="C8953A"/>
                </a:solidFill>
                <a:latin typeface="Calibri" pitchFamily="34" charset="0"/>
                <a:ea typeface="Calibri" pitchFamily="34" charset="-122"/>
                <a:cs typeface="Calibri" pitchFamily="34" charset="-120"/>
              </a:rPr>
              <a:t>02</a:t>
            </a:r>
            <a:endParaRPr lang="en-US" sz="1600" dirty="0"/>
          </a:p>
        </p:txBody>
      </p:sp>
      <p:sp>
        <p:nvSpPr>
          <p:cNvPr id="11" name="Text 9"/>
          <p:cNvSpPr/>
          <p:nvPr/>
        </p:nvSpPr>
        <p:spPr>
          <a:xfrm>
            <a:off x="822960" y="2532888"/>
            <a:ext cx="3611880" cy="841248"/>
          </a:xfrm>
          <a:prstGeom prst="rect">
            <a:avLst/>
          </a:prstGeom>
          <a:noFill/>
          <a:ln/>
        </p:spPr>
        <p:txBody>
          <a:bodyPr wrap="square" rtlCol="0" anchor="ctr"/>
          <a:lstStyle/>
          <a:p>
            <a:pPr marL="0" indent="0">
              <a:buNone/>
            </a:pPr>
            <a:r>
              <a:rPr lang="en-US" sz="950" dirty="0">
                <a:solidFill>
                  <a:srgbClr val="F4F6F8"/>
                </a:solidFill>
                <a:latin typeface="Calibri" pitchFamily="34" charset="0"/>
                <a:ea typeface="Calibri" pitchFamily="34" charset="-122"/>
                <a:cs typeface="Calibri" pitchFamily="34" charset="-120"/>
              </a:rPr>
              <a:t>ColVA formula: -∫ EPE(t) × E[max(s_ij,0)] × df(t) dt. The spread option is valued at zero strike — always positive expected value when vol &gt; 0.</a:t>
            </a:r>
            <a:endParaRPr lang="en-US" sz="950" dirty="0"/>
          </a:p>
        </p:txBody>
      </p:sp>
      <p:sp>
        <p:nvSpPr>
          <p:cNvPr id="12" name="Shape 10"/>
          <p:cNvSpPr/>
          <p:nvPr/>
        </p:nvSpPr>
        <p:spPr>
          <a:xfrm>
            <a:off x="228600" y="3648456"/>
            <a:ext cx="4297680" cy="1024128"/>
          </a:xfrm>
          <a:prstGeom prst="rect">
            <a:avLst/>
          </a:prstGeom>
          <a:solidFill>
            <a:srgbClr val="152235"/>
          </a:solidFill>
          <a:ln w="12700">
            <a:solidFill>
              <a:srgbClr val="028090"/>
            </a:solidFill>
            <a:prstDash val="solid"/>
          </a:ln>
        </p:spPr>
      </p:sp>
      <p:sp>
        <p:nvSpPr>
          <p:cNvPr id="13" name="Shape 11"/>
          <p:cNvSpPr/>
          <p:nvPr/>
        </p:nvSpPr>
        <p:spPr>
          <a:xfrm>
            <a:off x="228600" y="3648456"/>
            <a:ext cx="502920" cy="1024128"/>
          </a:xfrm>
          <a:prstGeom prst="rect">
            <a:avLst/>
          </a:prstGeom>
          <a:solidFill>
            <a:srgbClr val="1B2A4A"/>
          </a:solidFill>
          <a:ln w="12700">
            <a:solidFill>
              <a:srgbClr val="1B2A4A"/>
            </a:solidFill>
            <a:prstDash val="solid"/>
          </a:ln>
        </p:spPr>
      </p:sp>
      <p:sp>
        <p:nvSpPr>
          <p:cNvPr id="14" name="Text 12"/>
          <p:cNvSpPr/>
          <p:nvPr/>
        </p:nvSpPr>
        <p:spPr>
          <a:xfrm>
            <a:off x="228600" y="3922776"/>
            <a:ext cx="502920" cy="457200"/>
          </a:xfrm>
          <a:prstGeom prst="rect">
            <a:avLst/>
          </a:prstGeom>
          <a:noFill/>
          <a:ln/>
        </p:spPr>
        <p:txBody>
          <a:bodyPr wrap="square" rtlCol="0" anchor="ctr"/>
          <a:lstStyle/>
          <a:p>
            <a:pPr marL="0" indent="0" algn="ctr">
              <a:buNone/>
            </a:pPr>
            <a:r>
              <a:rPr lang="en-US" sz="1600" b="1" dirty="0">
                <a:solidFill>
                  <a:srgbClr val="C8953A"/>
                </a:solidFill>
                <a:latin typeface="Calibri" pitchFamily="34" charset="0"/>
                <a:ea typeface="Calibri" pitchFamily="34" charset="-122"/>
                <a:cs typeface="Calibri" pitchFamily="34" charset="-120"/>
              </a:rPr>
              <a:t>03</a:t>
            </a:r>
            <a:endParaRPr lang="en-US" sz="1600" dirty="0"/>
          </a:p>
        </p:txBody>
      </p:sp>
      <p:sp>
        <p:nvSpPr>
          <p:cNvPr id="15" name="Text 13"/>
          <p:cNvSpPr/>
          <p:nvPr/>
        </p:nvSpPr>
        <p:spPr>
          <a:xfrm>
            <a:off x="822960" y="3739896"/>
            <a:ext cx="3611880" cy="841248"/>
          </a:xfrm>
          <a:prstGeom prst="rect">
            <a:avLst/>
          </a:prstGeom>
          <a:noFill/>
          <a:ln/>
        </p:spPr>
        <p:txBody>
          <a:bodyPr wrap="square" rtlCol="0" anchor="ctr"/>
          <a:lstStyle/>
          <a:p>
            <a:pPr marL="0" indent="0">
              <a:buNone/>
            </a:pPr>
            <a:r>
              <a:rPr lang="en-US" sz="950" dirty="0">
                <a:solidFill>
                  <a:srgbClr val="F4F6F8"/>
                </a:solidFill>
                <a:latin typeface="Calibri" pitchFamily="34" charset="0"/>
                <a:ea typeface="Calibri" pitchFamily="34" charset="-122"/>
                <a:cs typeface="Calibri" pitchFamily="34" charset="-120"/>
              </a:rPr>
              <a:t>KVA = h × ∫ E[K(t)] × df(t) dt. The rent on regulatory capital. Driven by hurdle rate, RWA profile, G-SIB surcharge, and trade tenor.</a:t>
            </a:r>
            <a:endParaRPr lang="en-US" sz="950" dirty="0"/>
          </a:p>
        </p:txBody>
      </p:sp>
      <p:sp>
        <p:nvSpPr>
          <p:cNvPr id="16" name="Shape 14"/>
          <p:cNvSpPr/>
          <p:nvPr/>
        </p:nvSpPr>
        <p:spPr>
          <a:xfrm>
            <a:off x="4663440" y="1234440"/>
            <a:ext cx="4297680" cy="1024128"/>
          </a:xfrm>
          <a:prstGeom prst="rect">
            <a:avLst/>
          </a:prstGeom>
          <a:solidFill>
            <a:srgbClr val="152235"/>
          </a:solidFill>
          <a:ln w="12700">
            <a:solidFill>
              <a:srgbClr val="028090"/>
            </a:solidFill>
            <a:prstDash val="solid"/>
          </a:ln>
        </p:spPr>
      </p:sp>
      <p:sp>
        <p:nvSpPr>
          <p:cNvPr id="17" name="Shape 15"/>
          <p:cNvSpPr/>
          <p:nvPr/>
        </p:nvSpPr>
        <p:spPr>
          <a:xfrm>
            <a:off x="4663440" y="1234440"/>
            <a:ext cx="502920" cy="1024128"/>
          </a:xfrm>
          <a:prstGeom prst="rect">
            <a:avLst/>
          </a:prstGeom>
          <a:solidFill>
            <a:srgbClr val="1B2A4A"/>
          </a:solidFill>
          <a:ln w="12700">
            <a:solidFill>
              <a:srgbClr val="1B2A4A"/>
            </a:solidFill>
            <a:prstDash val="solid"/>
          </a:ln>
        </p:spPr>
      </p:sp>
      <p:sp>
        <p:nvSpPr>
          <p:cNvPr id="18" name="Text 16"/>
          <p:cNvSpPr/>
          <p:nvPr/>
        </p:nvSpPr>
        <p:spPr>
          <a:xfrm>
            <a:off x="4663440" y="1508760"/>
            <a:ext cx="502920" cy="457200"/>
          </a:xfrm>
          <a:prstGeom prst="rect">
            <a:avLst/>
          </a:prstGeom>
          <a:noFill/>
          <a:ln/>
        </p:spPr>
        <p:txBody>
          <a:bodyPr wrap="square" rtlCol="0" anchor="ctr"/>
          <a:lstStyle/>
          <a:p>
            <a:pPr marL="0" indent="0" algn="ctr">
              <a:buNone/>
            </a:pPr>
            <a:r>
              <a:rPr lang="en-US" sz="1600" b="1" dirty="0">
                <a:solidFill>
                  <a:srgbClr val="C8953A"/>
                </a:solidFill>
                <a:latin typeface="Calibri" pitchFamily="34" charset="0"/>
                <a:ea typeface="Calibri" pitchFamily="34" charset="-122"/>
                <a:cs typeface="Calibri" pitchFamily="34" charset="-120"/>
              </a:rPr>
              <a:t>04</a:t>
            </a:r>
            <a:endParaRPr lang="en-US" sz="1600" dirty="0"/>
          </a:p>
        </p:txBody>
      </p:sp>
      <p:sp>
        <p:nvSpPr>
          <p:cNvPr id="19" name="Text 17"/>
          <p:cNvSpPr/>
          <p:nvPr/>
        </p:nvSpPr>
        <p:spPr>
          <a:xfrm>
            <a:off x="5257800" y="1325880"/>
            <a:ext cx="3611880" cy="841248"/>
          </a:xfrm>
          <a:prstGeom prst="rect">
            <a:avLst/>
          </a:prstGeom>
          <a:noFill/>
          <a:ln/>
        </p:spPr>
        <p:txBody>
          <a:bodyPr wrap="square" rtlCol="0" anchor="ctr"/>
          <a:lstStyle/>
          <a:p>
            <a:pPr marL="0" indent="0">
              <a:buNone/>
            </a:pPr>
            <a:r>
              <a:rPr lang="en-US" sz="950" dirty="0">
                <a:solidFill>
                  <a:srgbClr val="F4F6F8"/>
                </a:solidFill>
                <a:latin typeface="Calibri" pitchFamily="34" charset="0"/>
                <a:ea typeface="Calibri" pitchFamily="34" charset="-122"/>
                <a:cs typeface="Calibri" pitchFamily="34" charset="-120"/>
              </a:rPr>
              <a:t>G-SIB surcharge creates a structural KVA disadvantage of 14–36% vs non-G-SIBs on the same trade. Explains systematic loss of capital-heavy business to regional banks.</a:t>
            </a:r>
            <a:endParaRPr lang="en-US" sz="950" dirty="0"/>
          </a:p>
        </p:txBody>
      </p:sp>
      <p:sp>
        <p:nvSpPr>
          <p:cNvPr id="20" name="Shape 18"/>
          <p:cNvSpPr/>
          <p:nvPr/>
        </p:nvSpPr>
        <p:spPr>
          <a:xfrm>
            <a:off x="4663440" y="2441448"/>
            <a:ext cx="4297680" cy="1024128"/>
          </a:xfrm>
          <a:prstGeom prst="rect">
            <a:avLst/>
          </a:prstGeom>
          <a:solidFill>
            <a:srgbClr val="152235"/>
          </a:solidFill>
          <a:ln w="12700">
            <a:solidFill>
              <a:srgbClr val="028090"/>
            </a:solidFill>
            <a:prstDash val="solid"/>
          </a:ln>
        </p:spPr>
      </p:sp>
      <p:sp>
        <p:nvSpPr>
          <p:cNvPr id="21" name="Shape 19"/>
          <p:cNvSpPr/>
          <p:nvPr/>
        </p:nvSpPr>
        <p:spPr>
          <a:xfrm>
            <a:off x="4663440" y="2441448"/>
            <a:ext cx="502920" cy="1024128"/>
          </a:xfrm>
          <a:prstGeom prst="rect">
            <a:avLst/>
          </a:prstGeom>
          <a:solidFill>
            <a:srgbClr val="1B2A4A"/>
          </a:solidFill>
          <a:ln w="12700">
            <a:solidFill>
              <a:srgbClr val="1B2A4A"/>
            </a:solidFill>
            <a:prstDash val="solid"/>
          </a:ln>
        </p:spPr>
      </p:sp>
      <p:sp>
        <p:nvSpPr>
          <p:cNvPr id="22" name="Text 20"/>
          <p:cNvSpPr/>
          <p:nvPr/>
        </p:nvSpPr>
        <p:spPr>
          <a:xfrm>
            <a:off x="4663440" y="2715768"/>
            <a:ext cx="502920" cy="457200"/>
          </a:xfrm>
          <a:prstGeom prst="rect">
            <a:avLst/>
          </a:prstGeom>
          <a:noFill/>
          <a:ln/>
        </p:spPr>
        <p:txBody>
          <a:bodyPr wrap="square" rtlCol="0" anchor="ctr"/>
          <a:lstStyle/>
          <a:p>
            <a:pPr marL="0" indent="0" algn="ctr">
              <a:buNone/>
            </a:pPr>
            <a:r>
              <a:rPr lang="en-US" sz="1600" b="1" dirty="0">
                <a:solidFill>
                  <a:srgbClr val="C8953A"/>
                </a:solidFill>
                <a:latin typeface="Calibri" pitchFamily="34" charset="0"/>
                <a:ea typeface="Calibri" pitchFamily="34" charset="-122"/>
                <a:cs typeface="Calibri" pitchFamily="34" charset="-120"/>
              </a:rPr>
              <a:t>05</a:t>
            </a:r>
            <a:endParaRPr lang="en-US" sz="1600" dirty="0"/>
          </a:p>
        </p:txBody>
      </p:sp>
      <p:sp>
        <p:nvSpPr>
          <p:cNvPr id="23" name="Text 21"/>
          <p:cNvSpPr/>
          <p:nvPr/>
        </p:nvSpPr>
        <p:spPr>
          <a:xfrm>
            <a:off x="5257800" y="2532888"/>
            <a:ext cx="3611880" cy="841248"/>
          </a:xfrm>
          <a:prstGeom prst="rect">
            <a:avLst/>
          </a:prstGeom>
          <a:noFill/>
          <a:ln/>
        </p:spPr>
        <p:txBody>
          <a:bodyPr wrap="square" rtlCol="0" anchor="ctr"/>
          <a:lstStyle/>
          <a:p>
            <a:pPr marL="0" indent="0">
              <a:buNone/>
            </a:pPr>
            <a:r>
              <a:rPr lang="en-US" sz="950" dirty="0">
                <a:solidFill>
                  <a:srgbClr val="F4F6F8"/>
                </a:solidFill>
                <a:latin typeface="Calibri" pitchFamily="34" charset="0"/>
                <a:ea typeface="Calibri" pitchFamily="34" charset="-122"/>
                <a:cs typeface="Calibri" pitchFamily="34" charset="-120"/>
              </a:rPr>
              <a:t>XVA interactions are real: CVA/FVA double-count; FVA/ColVA interact through collateral choice; MVA/KVA have offsetting effects. Must be modelled jointly.</a:t>
            </a:r>
            <a:endParaRPr lang="en-US" sz="950" dirty="0"/>
          </a:p>
        </p:txBody>
      </p:sp>
      <p:sp>
        <p:nvSpPr>
          <p:cNvPr id="24" name="Shape 22"/>
          <p:cNvSpPr/>
          <p:nvPr/>
        </p:nvSpPr>
        <p:spPr>
          <a:xfrm>
            <a:off x="4663440" y="3648456"/>
            <a:ext cx="4297680" cy="1024128"/>
          </a:xfrm>
          <a:prstGeom prst="rect">
            <a:avLst/>
          </a:prstGeom>
          <a:solidFill>
            <a:srgbClr val="152235"/>
          </a:solidFill>
          <a:ln w="12700">
            <a:solidFill>
              <a:srgbClr val="028090"/>
            </a:solidFill>
            <a:prstDash val="solid"/>
          </a:ln>
        </p:spPr>
      </p:sp>
      <p:sp>
        <p:nvSpPr>
          <p:cNvPr id="25" name="Shape 23"/>
          <p:cNvSpPr/>
          <p:nvPr/>
        </p:nvSpPr>
        <p:spPr>
          <a:xfrm>
            <a:off x="4663440" y="3648456"/>
            <a:ext cx="502920" cy="1024128"/>
          </a:xfrm>
          <a:prstGeom prst="rect">
            <a:avLst/>
          </a:prstGeom>
          <a:solidFill>
            <a:srgbClr val="1B2A4A"/>
          </a:solidFill>
          <a:ln w="12700">
            <a:solidFill>
              <a:srgbClr val="1B2A4A"/>
            </a:solidFill>
            <a:prstDash val="solid"/>
          </a:ln>
        </p:spPr>
      </p:sp>
      <p:sp>
        <p:nvSpPr>
          <p:cNvPr id="26" name="Text 24"/>
          <p:cNvSpPr/>
          <p:nvPr/>
        </p:nvSpPr>
        <p:spPr>
          <a:xfrm>
            <a:off x="4663440" y="3922776"/>
            <a:ext cx="502920" cy="457200"/>
          </a:xfrm>
          <a:prstGeom prst="rect">
            <a:avLst/>
          </a:prstGeom>
          <a:noFill/>
          <a:ln/>
        </p:spPr>
        <p:txBody>
          <a:bodyPr wrap="square" rtlCol="0" anchor="ctr"/>
          <a:lstStyle/>
          <a:p>
            <a:pPr marL="0" indent="0" algn="ctr">
              <a:buNone/>
            </a:pPr>
            <a:r>
              <a:rPr lang="en-US" sz="1600" b="1" dirty="0">
                <a:solidFill>
                  <a:srgbClr val="C8953A"/>
                </a:solidFill>
                <a:latin typeface="Calibri" pitchFamily="34" charset="0"/>
                <a:ea typeface="Calibri" pitchFamily="34" charset="-122"/>
                <a:cs typeface="Calibri" pitchFamily="34" charset="-120"/>
              </a:rPr>
              <a:t>06</a:t>
            </a:r>
            <a:endParaRPr lang="en-US" sz="1600" dirty="0"/>
          </a:p>
        </p:txBody>
      </p:sp>
      <p:sp>
        <p:nvSpPr>
          <p:cNvPr id="27" name="Text 25"/>
          <p:cNvSpPr/>
          <p:nvPr/>
        </p:nvSpPr>
        <p:spPr>
          <a:xfrm>
            <a:off x="5257800" y="3739896"/>
            <a:ext cx="3611880" cy="841248"/>
          </a:xfrm>
          <a:prstGeom prst="rect">
            <a:avLst/>
          </a:prstGeom>
          <a:noFill/>
          <a:ln/>
        </p:spPr>
        <p:txBody>
          <a:bodyPr wrap="square" rtlCol="0" anchor="ctr"/>
          <a:lstStyle/>
          <a:p>
            <a:pPr marL="0" indent="0">
              <a:buNone/>
            </a:pPr>
            <a:r>
              <a:rPr lang="en-US" sz="950" dirty="0">
                <a:solidFill>
                  <a:srgbClr val="F4F6F8"/>
                </a:solidFill>
                <a:latin typeface="Calibri" pitchFamily="34" charset="0"/>
                <a:ea typeface="Calibri" pitchFamily="34" charset="-122"/>
                <a:cs typeface="Calibri" pitchFamily="34" charset="-120"/>
              </a:rPr>
              <a:t>CSA addition is the largest single XVA P&amp;L event in a derivatives book — releasing CVA and FVA reserves simultaneously. XVA desks monitor collateral agreements closely.</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28090"/>
          </a:solidFill>
          <a:ln w="12700">
            <a:solidFill>
              <a:srgbClr val="028090"/>
            </a:solidFill>
            <a:prstDash val="solid"/>
          </a:ln>
        </p:spPr>
      </p:sp>
      <p:sp>
        <p:nvSpPr>
          <p:cNvPr id="3" name="Shape 1"/>
          <p:cNvSpPr/>
          <p:nvPr/>
        </p:nvSpPr>
        <p:spPr>
          <a:xfrm>
            <a:off x="228600" y="164592"/>
            <a:ext cx="2194560" cy="292608"/>
          </a:xfrm>
          <a:prstGeom prst="rect">
            <a:avLst/>
          </a:prstGeom>
          <a:solidFill>
            <a:srgbClr val="028090"/>
          </a:solidFill>
          <a:ln w="12700">
            <a:solidFill>
              <a:srgbClr val="028090"/>
            </a:solidFill>
            <a:prstDash val="solid"/>
          </a:ln>
        </p:spPr>
      </p:sp>
      <p:sp>
        <p:nvSpPr>
          <p:cNvPr id="4" name="Text 2"/>
          <p:cNvSpPr/>
          <p:nvPr/>
        </p:nvSpPr>
        <p:spPr>
          <a:xfrm>
            <a:off x="228600" y="164592"/>
            <a:ext cx="2194560" cy="29260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GLOSSARY OF TERMS</a:t>
            </a:r>
            <a:endParaRPr lang="en-US" sz="900" dirty="0"/>
          </a:p>
        </p:txBody>
      </p:sp>
      <p:sp>
        <p:nvSpPr>
          <p:cNvPr id="5" name="Text 3"/>
          <p:cNvSpPr/>
          <p:nvPr/>
        </p:nvSpPr>
        <p:spPr>
          <a:xfrm>
            <a:off x="228600" y="530352"/>
            <a:ext cx="8686800" cy="402336"/>
          </a:xfrm>
          <a:prstGeom prst="rect">
            <a:avLst/>
          </a:prstGeom>
          <a:noFill/>
          <a:ln/>
        </p:spPr>
        <p:txBody>
          <a:bodyPr wrap="square" rtlCol="0" anchor="ctr"/>
          <a:lstStyle/>
          <a:p>
            <a:pPr marL="0" indent="0">
              <a:buNone/>
            </a:pPr>
            <a:r>
              <a:rPr lang="en-US" sz="2200" b="1" dirty="0">
                <a:solidFill>
                  <a:srgbClr val="0D1B2A"/>
                </a:solidFill>
                <a:latin typeface="Calibri" pitchFamily="34" charset="0"/>
                <a:ea typeface="Calibri" pitchFamily="34" charset="-122"/>
                <a:cs typeface="Calibri" pitchFamily="34" charset="-120"/>
              </a:rPr>
              <a:t>Module 6 — Acronyms &amp; Short Forms</a:t>
            </a:r>
            <a:endParaRPr lang="en-US" sz="2200" dirty="0"/>
          </a:p>
        </p:txBody>
      </p:sp>
      <p:sp>
        <p:nvSpPr>
          <p:cNvPr id="6" name="Shape 4"/>
          <p:cNvSpPr/>
          <p:nvPr/>
        </p:nvSpPr>
        <p:spPr>
          <a:xfrm>
            <a:off x="228600" y="1005840"/>
            <a:ext cx="2834640" cy="237744"/>
          </a:xfrm>
          <a:prstGeom prst="rect">
            <a:avLst/>
          </a:prstGeom>
          <a:solidFill>
            <a:srgbClr val="1B2A4A"/>
          </a:solidFill>
          <a:ln w="12700">
            <a:solidFill>
              <a:srgbClr val="1B2A4A"/>
            </a:solidFill>
            <a:prstDash val="solid"/>
          </a:ln>
        </p:spPr>
      </p:sp>
      <p:sp>
        <p:nvSpPr>
          <p:cNvPr id="7" name="Text 5"/>
          <p:cNvSpPr/>
          <p:nvPr/>
        </p:nvSpPr>
        <p:spPr>
          <a:xfrm>
            <a:off x="228600" y="1005840"/>
            <a:ext cx="2834640" cy="237744"/>
          </a:xfrm>
          <a:prstGeom prst="rect">
            <a:avLst/>
          </a:prstGeom>
          <a:noFill/>
          <a:ln/>
        </p:spPr>
        <p:txBody>
          <a:bodyPr wrap="square" rtlCol="0" anchor="ctr"/>
          <a:lstStyle/>
          <a:p>
            <a:pPr marL="0" indent="0" algn="ctr">
              <a:buNone/>
            </a:pPr>
            <a:r>
              <a:rPr lang="en-US" sz="900" b="1" dirty="0">
                <a:solidFill>
                  <a:srgbClr val="C8953A"/>
                </a:solidFill>
                <a:latin typeface="Calibri" pitchFamily="34" charset="0"/>
                <a:ea typeface="Calibri" pitchFamily="34" charset="-122"/>
                <a:cs typeface="Calibri" pitchFamily="34" charset="-120"/>
              </a:rPr>
              <a:t>XVA &amp; Valuation Adjustments</a:t>
            </a:r>
            <a:endParaRPr lang="en-US" sz="900" dirty="0"/>
          </a:p>
        </p:txBody>
      </p:sp>
      <p:sp>
        <p:nvSpPr>
          <p:cNvPr id="8" name="Shape 6"/>
          <p:cNvSpPr/>
          <p:nvPr/>
        </p:nvSpPr>
        <p:spPr>
          <a:xfrm>
            <a:off x="3200400" y="1005840"/>
            <a:ext cx="2834640" cy="237744"/>
          </a:xfrm>
          <a:prstGeom prst="rect">
            <a:avLst/>
          </a:prstGeom>
          <a:solidFill>
            <a:srgbClr val="1B2A4A"/>
          </a:solidFill>
          <a:ln w="12700">
            <a:solidFill>
              <a:srgbClr val="1B2A4A"/>
            </a:solidFill>
            <a:prstDash val="solid"/>
          </a:ln>
        </p:spPr>
      </p:sp>
      <p:sp>
        <p:nvSpPr>
          <p:cNvPr id="9" name="Text 7"/>
          <p:cNvSpPr/>
          <p:nvPr/>
        </p:nvSpPr>
        <p:spPr>
          <a:xfrm>
            <a:off x="3200400" y="1005840"/>
            <a:ext cx="2834640" cy="237744"/>
          </a:xfrm>
          <a:prstGeom prst="rect">
            <a:avLst/>
          </a:prstGeom>
          <a:noFill/>
          <a:ln/>
        </p:spPr>
        <p:txBody>
          <a:bodyPr wrap="square" rtlCol="0" anchor="ctr"/>
          <a:lstStyle/>
          <a:p>
            <a:pPr marL="0" indent="0" algn="ctr">
              <a:buNone/>
            </a:pPr>
            <a:r>
              <a:rPr lang="en-US" sz="900" b="1" dirty="0">
                <a:solidFill>
                  <a:srgbClr val="C8953A"/>
                </a:solidFill>
                <a:latin typeface="Calibri" pitchFamily="34" charset="0"/>
                <a:ea typeface="Calibri" pitchFamily="34" charset="-122"/>
                <a:cs typeface="Calibri" pitchFamily="34" charset="-120"/>
              </a:rPr>
              <a:t>Capital &amp; Regulatory</a:t>
            </a:r>
            <a:endParaRPr lang="en-US" sz="900" dirty="0"/>
          </a:p>
        </p:txBody>
      </p:sp>
      <p:sp>
        <p:nvSpPr>
          <p:cNvPr id="10" name="Shape 8"/>
          <p:cNvSpPr/>
          <p:nvPr/>
        </p:nvSpPr>
        <p:spPr>
          <a:xfrm>
            <a:off x="6172200" y="1005840"/>
            <a:ext cx="2834640" cy="237744"/>
          </a:xfrm>
          <a:prstGeom prst="rect">
            <a:avLst/>
          </a:prstGeom>
          <a:solidFill>
            <a:srgbClr val="1B2A4A"/>
          </a:solidFill>
          <a:ln w="12700">
            <a:solidFill>
              <a:srgbClr val="1B2A4A"/>
            </a:solidFill>
            <a:prstDash val="solid"/>
          </a:ln>
        </p:spPr>
      </p:sp>
      <p:sp>
        <p:nvSpPr>
          <p:cNvPr id="11" name="Text 9"/>
          <p:cNvSpPr/>
          <p:nvPr/>
        </p:nvSpPr>
        <p:spPr>
          <a:xfrm>
            <a:off x="6172200" y="1005840"/>
            <a:ext cx="2834640" cy="237744"/>
          </a:xfrm>
          <a:prstGeom prst="rect">
            <a:avLst/>
          </a:prstGeom>
          <a:noFill/>
          <a:ln/>
        </p:spPr>
        <p:txBody>
          <a:bodyPr wrap="square" rtlCol="0" anchor="ctr"/>
          <a:lstStyle/>
          <a:p>
            <a:pPr marL="0" indent="0" algn="ctr">
              <a:buNone/>
            </a:pPr>
            <a:r>
              <a:rPr lang="en-US" sz="900" b="1" dirty="0">
                <a:solidFill>
                  <a:srgbClr val="C8953A"/>
                </a:solidFill>
                <a:latin typeface="Calibri" pitchFamily="34" charset="0"/>
                <a:ea typeface="Calibri" pitchFamily="34" charset="-122"/>
                <a:cs typeface="Calibri" pitchFamily="34" charset="-120"/>
              </a:rPr>
              <a:t>Collateral &amp; Market</a:t>
            </a:r>
            <a:endParaRPr lang="en-US" sz="900" dirty="0"/>
          </a:p>
        </p:txBody>
      </p:sp>
      <p:sp>
        <p:nvSpPr>
          <p:cNvPr id="12" name="Shape 10"/>
          <p:cNvSpPr/>
          <p:nvPr/>
        </p:nvSpPr>
        <p:spPr>
          <a:xfrm>
            <a:off x="228600" y="1280160"/>
            <a:ext cx="2834640" cy="301752"/>
          </a:xfrm>
          <a:prstGeom prst="rect">
            <a:avLst/>
          </a:prstGeom>
          <a:solidFill>
            <a:srgbClr val="FFFFFF"/>
          </a:solidFill>
          <a:ln w="12700">
            <a:solidFill>
              <a:srgbClr val="DDDDDD"/>
            </a:solidFill>
            <a:prstDash val="solid"/>
          </a:ln>
        </p:spPr>
      </p:sp>
      <p:sp>
        <p:nvSpPr>
          <p:cNvPr id="13" name="Shape 11"/>
          <p:cNvSpPr/>
          <p:nvPr/>
        </p:nvSpPr>
        <p:spPr>
          <a:xfrm>
            <a:off x="228600" y="1280160"/>
            <a:ext cx="685800" cy="301752"/>
          </a:xfrm>
          <a:prstGeom prst="rect">
            <a:avLst/>
          </a:prstGeom>
          <a:solidFill>
            <a:srgbClr val="1B2A4A"/>
          </a:solidFill>
          <a:ln w="12700">
            <a:solidFill>
              <a:srgbClr val="1B2A4A"/>
            </a:solidFill>
            <a:prstDash val="solid"/>
          </a:ln>
        </p:spPr>
      </p:sp>
      <p:sp>
        <p:nvSpPr>
          <p:cNvPr id="14" name="Text 12"/>
          <p:cNvSpPr/>
          <p:nvPr/>
        </p:nvSpPr>
        <p:spPr>
          <a:xfrm>
            <a:off x="228600" y="1280160"/>
            <a:ext cx="685800" cy="301752"/>
          </a:xfrm>
          <a:prstGeom prst="rect">
            <a:avLst/>
          </a:prstGeom>
          <a:noFill/>
          <a:ln/>
        </p:spPr>
        <p:txBody>
          <a:bodyPr wrap="square" rtlCol="0" anchor="ctr"/>
          <a:lstStyle/>
          <a:p>
            <a:pPr marL="0" indent="0" algn="ctr">
              <a:buNone/>
            </a:pPr>
            <a:r>
              <a:rPr lang="en-US" sz="850" b="1" dirty="0">
                <a:solidFill>
                  <a:srgbClr val="C8953A"/>
                </a:solidFill>
                <a:latin typeface="Calibri" pitchFamily="34" charset="0"/>
                <a:ea typeface="Calibri" pitchFamily="34" charset="-122"/>
                <a:cs typeface="Calibri" pitchFamily="34" charset="-120"/>
              </a:rPr>
              <a:t>XVA</a:t>
            </a:r>
            <a:endParaRPr lang="en-US" sz="850" dirty="0"/>
          </a:p>
        </p:txBody>
      </p:sp>
      <p:sp>
        <p:nvSpPr>
          <p:cNvPr id="15" name="Text 13"/>
          <p:cNvSpPr/>
          <p:nvPr/>
        </p:nvSpPr>
        <p:spPr>
          <a:xfrm>
            <a:off x="941832" y="1298448"/>
            <a:ext cx="2084832" cy="274320"/>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X-Valuation Adjustment — collective term for all valuation adjustments</a:t>
            </a:r>
            <a:endParaRPr lang="en-US" sz="800" dirty="0"/>
          </a:p>
        </p:txBody>
      </p:sp>
      <p:sp>
        <p:nvSpPr>
          <p:cNvPr id="16" name="Shape 14"/>
          <p:cNvSpPr/>
          <p:nvPr/>
        </p:nvSpPr>
        <p:spPr>
          <a:xfrm>
            <a:off x="228600" y="1577340"/>
            <a:ext cx="2834640" cy="301752"/>
          </a:xfrm>
          <a:prstGeom prst="rect">
            <a:avLst/>
          </a:prstGeom>
          <a:solidFill>
            <a:srgbClr val="F4F6F8"/>
          </a:solidFill>
          <a:ln w="12700">
            <a:solidFill>
              <a:srgbClr val="DDDDDD"/>
            </a:solidFill>
            <a:prstDash val="solid"/>
          </a:ln>
        </p:spPr>
      </p:sp>
      <p:sp>
        <p:nvSpPr>
          <p:cNvPr id="17" name="Shape 15"/>
          <p:cNvSpPr/>
          <p:nvPr/>
        </p:nvSpPr>
        <p:spPr>
          <a:xfrm>
            <a:off x="228600" y="1577340"/>
            <a:ext cx="685800" cy="301752"/>
          </a:xfrm>
          <a:prstGeom prst="rect">
            <a:avLst/>
          </a:prstGeom>
          <a:solidFill>
            <a:srgbClr val="1B2A4A"/>
          </a:solidFill>
          <a:ln w="12700">
            <a:solidFill>
              <a:srgbClr val="1B2A4A"/>
            </a:solidFill>
            <a:prstDash val="solid"/>
          </a:ln>
        </p:spPr>
      </p:sp>
      <p:sp>
        <p:nvSpPr>
          <p:cNvPr id="18" name="Text 16"/>
          <p:cNvSpPr/>
          <p:nvPr/>
        </p:nvSpPr>
        <p:spPr>
          <a:xfrm>
            <a:off x="228600" y="1577340"/>
            <a:ext cx="685800" cy="301752"/>
          </a:xfrm>
          <a:prstGeom prst="rect">
            <a:avLst/>
          </a:prstGeom>
          <a:noFill/>
          <a:ln/>
        </p:spPr>
        <p:txBody>
          <a:bodyPr wrap="square" rtlCol="0" anchor="ctr"/>
          <a:lstStyle/>
          <a:p>
            <a:pPr marL="0" indent="0" algn="ctr">
              <a:buNone/>
            </a:pPr>
            <a:r>
              <a:rPr lang="en-US" sz="850" b="1" dirty="0">
                <a:solidFill>
                  <a:srgbClr val="C8953A"/>
                </a:solidFill>
                <a:latin typeface="Calibri" pitchFamily="34" charset="0"/>
                <a:ea typeface="Calibri" pitchFamily="34" charset="-122"/>
                <a:cs typeface="Calibri" pitchFamily="34" charset="-120"/>
              </a:rPr>
              <a:t>CVA</a:t>
            </a:r>
            <a:endParaRPr lang="en-US" sz="850" dirty="0"/>
          </a:p>
        </p:txBody>
      </p:sp>
      <p:sp>
        <p:nvSpPr>
          <p:cNvPr id="19" name="Text 17"/>
          <p:cNvSpPr/>
          <p:nvPr/>
        </p:nvSpPr>
        <p:spPr>
          <a:xfrm>
            <a:off x="941832" y="1595628"/>
            <a:ext cx="2084832" cy="274320"/>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Credit Valuation Adjustment — cost of counterparty default risk</a:t>
            </a:r>
            <a:endParaRPr lang="en-US" sz="800" dirty="0"/>
          </a:p>
        </p:txBody>
      </p:sp>
      <p:sp>
        <p:nvSpPr>
          <p:cNvPr id="20" name="Shape 18"/>
          <p:cNvSpPr/>
          <p:nvPr/>
        </p:nvSpPr>
        <p:spPr>
          <a:xfrm>
            <a:off x="228600" y="1874520"/>
            <a:ext cx="2834640" cy="301752"/>
          </a:xfrm>
          <a:prstGeom prst="rect">
            <a:avLst/>
          </a:prstGeom>
          <a:solidFill>
            <a:srgbClr val="FFFFFF"/>
          </a:solidFill>
          <a:ln w="12700">
            <a:solidFill>
              <a:srgbClr val="DDDDDD"/>
            </a:solidFill>
            <a:prstDash val="solid"/>
          </a:ln>
        </p:spPr>
      </p:sp>
      <p:sp>
        <p:nvSpPr>
          <p:cNvPr id="21" name="Shape 19"/>
          <p:cNvSpPr/>
          <p:nvPr/>
        </p:nvSpPr>
        <p:spPr>
          <a:xfrm>
            <a:off x="228600" y="1874520"/>
            <a:ext cx="685800" cy="301752"/>
          </a:xfrm>
          <a:prstGeom prst="rect">
            <a:avLst/>
          </a:prstGeom>
          <a:solidFill>
            <a:srgbClr val="1B2A4A"/>
          </a:solidFill>
          <a:ln w="12700">
            <a:solidFill>
              <a:srgbClr val="1B2A4A"/>
            </a:solidFill>
            <a:prstDash val="solid"/>
          </a:ln>
        </p:spPr>
      </p:sp>
      <p:sp>
        <p:nvSpPr>
          <p:cNvPr id="22" name="Text 20"/>
          <p:cNvSpPr/>
          <p:nvPr/>
        </p:nvSpPr>
        <p:spPr>
          <a:xfrm>
            <a:off x="228600" y="1874520"/>
            <a:ext cx="685800" cy="301752"/>
          </a:xfrm>
          <a:prstGeom prst="rect">
            <a:avLst/>
          </a:prstGeom>
          <a:noFill/>
          <a:ln/>
        </p:spPr>
        <p:txBody>
          <a:bodyPr wrap="square" rtlCol="0" anchor="ctr"/>
          <a:lstStyle/>
          <a:p>
            <a:pPr marL="0" indent="0" algn="ctr">
              <a:buNone/>
            </a:pPr>
            <a:r>
              <a:rPr lang="en-US" sz="850" b="1" dirty="0">
                <a:solidFill>
                  <a:srgbClr val="C8953A"/>
                </a:solidFill>
                <a:latin typeface="Calibri" pitchFamily="34" charset="0"/>
                <a:ea typeface="Calibri" pitchFamily="34" charset="-122"/>
                <a:cs typeface="Calibri" pitchFamily="34" charset="-120"/>
              </a:rPr>
              <a:t>DVA</a:t>
            </a:r>
            <a:endParaRPr lang="en-US" sz="850" dirty="0"/>
          </a:p>
        </p:txBody>
      </p:sp>
      <p:sp>
        <p:nvSpPr>
          <p:cNvPr id="23" name="Text 21"/>
          <p:cNvSpPr/>
          <p:nvPr/>
        </p:nvSpPr>
        <p:spPr>
          <a:xfrm>
            <a:off x="941832" y="1892808"/>
            <a:ext cx="2084832" cy="274320"/>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Debit Valuation Adjustment — own default benefit</a:t>
            </a:r>
            <a:endParaRPr lang="en-US" sz="800" dirty="0"/>
          </a:p>
        </p:txBody>
      </p:sp>
      <p:sp>
        <p:nvSpPr>
          <p:cNvPr id="24" name="Shape 22"/>
          <p:cNvSpPr/>
          <p:nvPr/>
        </p:nvSpPr>
        <p:spPr>
          <a:xfrm>
            <a:off x="228600" y="2171700"/>
            <a:ext cx="2834640" cy="301752"/>
          </a:xfrm>
          <a:prstGeom prst="rect">
            <a:avLst/>
          </a:prstGeom>
          <a:solidFill>
            <a:srgbClr val="F4F6F8"/>
          </a:solidFill>
          <a:ln w="12700">
            <a:solidFill>
              <a:srgbClr val="DDDDDD"/>
            </a:solidFill>
            <a:prstDash val="solid"/>
          </a:ln>
        </p:spPr>
      </p:sp>
      <p:sp>
        <p:nvSpPr>
          <p:cNvPr id="25" name="Shape 23"/>
          <p:cNvSpPr/>
          <p:nvPr/>
        </p:nvSpPr>
        <p:spPr>
          <a:xfrm>
            <a:off x="228600" y="2171700"/>
            <a:ext cx="685800" cy="301752"/>
          </a:xfrm>
          <a:prstGeom prst="rect">
            <a:avLst/>
          </a:prstGeom>
          <a:solidFill>
            <a:srgbClr val="1B2A4A"/>
          </a:solidFill>
          <a:ln w="12700">
            <a:solidFill>
              <a:srgbClr val="1B2A4A"/>
            </a:solidFill>
            <a:prstDash val="solid"/>
          </a:ln>
        </p:spPr>
      </p:sp>
      <p:sp>
        <p:nvSpPr>
          <p:cNvPr id="26" name="Text 24"/>
          <p:cNvSpPr/>
          <p:nvPr/>
        </p:nvSpPr>
        <p:spPr>
          <a:xfrm>
            <a:off x="228600" y="2171700"/>
            <a:ext cx="685800" cy="301752"/>
          </a:xfrm>
          <a:prstGeom prst="rect">
            <a:avLst/>
          </a:prstGeom>
          <a:noFill/>
          <a:ln/>
        </p:spPr>
        <p:txBody>
          <a:bodyPr wrap="square" rtlCol="0" anchor="ctr"/>
          <a:lstStyle/>
          <a:p>
            <a:pPr marL="0" indent="0" algn="ctr">
              <a:buNone/>
            </a:pPr>
            <a:r>
              <a:rPr lang="en-US" sz="850" b="1" dirty="0">
                <a:solidFill>
                  <a:srgbClr val="C8953A"/>
                </a:solidFill>
                <a:latin typeface="Calibri" pitchFamily="34" charset="0"/>
                <a:ea typeface="Calibri" pitchFamily="34" charset="-122"/>
                <a:cs typeface="Calibri" pitchFamily="34" charset="-120"/>
              </a:rPr>
              <a:t>FVA</a:t>
            </a:r>
            <a:endParaRPr lang="en-US" sz="850" dirty="0"/>
          </a:p>
        </p:txBody>
      </p:sp>
      <p:sp>
        <p:nvSpPr>
          <p:cNvPr id="27" name="Text 25"/>
          <p:cNvSpPr/>
          <p:nvPr/>
        </p:nvSpPr>
        <p:spPr>
          <a:xfrm>
            <a:off x="941832" y="2189988"/>
            <a:ext cx="2084832" cy="274320"/>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Funding Valuation Adjustment — cost of funding uncollateralised exposure</a:t>
            </a:r>
            <a:endParaRPr lang="en-US" sz="800" dirty="0"/>
          </a:p>
        </p:txBody>
      </p:sp>
      <p:sp>
        <p:nvSpPr>
          <p:cNvPr id="28" name="Shape 26"/>
          <p:cNvSpPr/>
          <p:nvPr/>
        </p:nvSpPr>
        <p:spPr>
          <a:xfrm>
            <a:off x="228600" y="2468880"/>
            <a:ext cx="2834640" cy="301752"/>
          </a:xfrm>
          <a:prstGeom prst="rect">
            <a:avLst/>
          </a:prstGeom>
          <a:solidFill>
            <a:srgbClr val="FFFFFF"/>
          </a:solidFill>
          <a:ln w="12700">
            <a:solidFill>
              <a:srgbClr val="DDDDDD"/>
            </a:solidFill>
            <a:prstDash val="solid"/>
          </a:ln>
        </p:spPr>
      </p:sp>
      <p:sp>
        <p:nvSpPr>
          <p:cNvPr id="29" name="Shape 27"/>
          <p:cNvSpPr/>
          <p:nvPr/>
        </p:nvSpPr>
        <p:spPr>
          <a:xfrm>
            <a:off x="228600" y="2468880"/>
            <a:ext cx="685800" cy="301752"/>
          </a:xfrm>
          <a:prstGeom prst="rect">
            <a:avLst/>
          </a:prstGeom>
          <a:solidFill>
            <a:srgbClr val="1B2A4A"/>
          </a:solidFill>
          <a:ln w="12700">
            <a:solidFill>
              <a:srgbClr val="1B2A4A"/>
            </a:solidFill>
            <a:prstDash val="solid"/>
          </a:ln>
        </p:spPr>
      </p:sp>
      <p:sp>
        <p:nvSpPr>
          <p:cNvPr id="30" name="Text 28"/>
          <p:cNvSpPr/>
          <p:nvPr/>
        </p:nvSpPr>
        <p:spPr>
          <a:xfrm>
            <a:off x="228600" y="2468880"/>
            <a:ext cx="685800" cy="301752"/>
          </a:xfrm>
          <a:prstGeom prst="rect">
            <a:avLst/>
          </a:prstGeom>
          <a:noFill/>
          <a:ln/>
        </p:spPr>
        <p:txBody>
          <a:bodyPr wrap="square" rtlCol="0" anchor="ctr"/>
          <a:lstStyle/>
          <a:p>
            <a:pPr marL="0" indent="0" algn="ctr">
              <a:buNone/>
            </a:pPr>
            <a:r>
              <a:rPr lang="en-US" sz="850" b="1" dirty="0">
                <a:solidFill>
                  <a:srgbClr val="C8953A"/>
                </a:solidFill>
                <a:latin typeface="Calibri" pitchFamily="34" charset="0"/>
                <a:ea typeface="Calibri" pitchFamily="34" charset="-122"/>
                <a:cs typeface="Calibri" pitchFamily="34" charset="-120"/>
              </a:rPr>
              <a:t>MVA</a:t>
            </a:r>
            <a:endParaRPr lang="en-US" sz="850" dirty="0"/>
          </a:p>
        </p:txBody>
      </p:sp>
      <p:sp>
        <p:nvSpPr>
          <p:cNvPr id="31" name="Text 29"/>
          <p:cNvSpPr/>
          <p:nvPr/>
        </p:nvSpPr>
        <p:spPr>
          <a:xfrm>
            <a:off x="941832" y="2487168"/>
            <a:ext cx="2084832" cy="274320"/>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Margin Valuation Adjustment — cost of posting Initial Margin</a:t>
            </a:r>
            <a:endParaRPr lang="en-US" sz="800" dirty="0"/>
          </a:p>
        </p:txBody>
      </p:sp>
      <p:sp>
        <p:nvSpPr>
          <p:cNvPr id="32" name="Shape 30"/>
          <p:cNvSpPr/>
          <p:nvPr/>
        </p:nvSpPr>
        <p:spPr>
          <a:xfrm>
            <a:off x="228600" y="2766060"/>
            <a:ext cx="2834640" cy="301752"/>
          </a:xfrm>
          <a:prstGeom prst="rect">
            <a:avLst/>
          </a:prstGeom>
          <a:solidFill>
            <a:srgbClr val="F4F6F8"/>
          </a:solidFill>
          <a:ln w="12700">
            <a:solidFill>
              <a:srgbClr val="DDDDDD"/>
            </a:solidFill>
            <a:prstDash val="solid"/>
          </a:ln>
        </p:spPr>
      </p:sp>
      <p:sp>
        <p:nvSpPr>
          <p:cNvPr id="33" name="Shape 31"/>
          <p:cNvSpPr/>
          <p:nvPr/>
        </p:nvSpPr>
        <p:spPr>
          <a:xfrm>
            <a:off x="228600" y="2766060"/>
            <a:ext cx="685800" cy="301752"/>
          </a:xfrm>
          <a:prstGeom prst="rect">
            <a:avLst/>
          </a:prstGeom>
          <a:solidFill>
            <a:srgbClr val="1B2A4A"/>
          </a:solidFill>
          <a:ln w="12700">
            <a:solidFill>
              <a:srgbClr val="1B2A4A"/>
            </a:solidFill>
            <a:prstDash val="solid"/>
          </a:ln>
        </p:spPr>
      </p:sp>
      <p:sp>
        <p:nvSpPr>
          <p:cNvPr id="34" name="Text 32"/>
          <p:cNvSpPr/>
          <p:nvPr/>
        </p:nvSpPr>
        <p:spPr>
          <a:xfrm>
            <a:off x="228600" y="2766060"/>
            <a:ext cx="685800" cy="301752"/>
          </a:xfrm>
          <a:prstGeom prst="rect">
            <a:avLst/>
          </a:prstGeom>
          <a:noFill/>
          <a:ln/>
        </p:spPr>
        <p:txBody>
          <a:bodyPr wrap="square" rtlCol="0" anchor="ctr"/>
          <a:lstStyle/>
          <a:p>
            <a:pPr marL="0" indent="0" algn="ctr">
              <a:buNone/>
            </a:pPr>
            <a:r>
              <a:rPr lang="en-US" sz="850" b="1" dirty="0">
                <a:solidFill>
                  <a:srgbClr val="C8953A"/>
                </a:solidFill>
                <a:latin typeface="Calibri" pitchFamily="34" charset="0"/>
                <a:ea typeface="Calibri" pitchFamily="34" charset="-122"/>
                <a:cs typeface="Calibri" pitchFamily="34" charset="-120"/>
              </a:rPr>
              <a:t>ColVA</a:t>
            </a:r>
            <a:endParaRPr lang="en-US" sz="850" dirty="0"/>
          </a:p>
        </p:txBody>
      </p:sp>
      <p:sp>
        <p:nvSpPr>
          <p:cNvPr id="35" name="Text 33"/>
          <p:cNvSpPr/>
          <p:nvPr/>
        </p:nvSpPr>
        <p:spPr>
          <a:xfrm>
            <a:off x="941832" y="2784348"/>
            <a:ext cx="2084832" cy="274320"/>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Collateral Valuation Adjustment — value of CTD optionality in multi-CCY CSA</a:t>
            </a:r>
            <a:endParaRPr lang="en-US" sz="800" dirty="0"/>
          </a:p>
        </p:txBody>
      </p:sp>
      <p:sp>
        <p:nvSpPr>
          <p:cNvPr id="36" name="Shape 34"/>
          <p:cNvSpPr/>
          <p:nvPr/>
        </p:nvSpPr>
        <p:spPr>
          <a:xfrm>
            <a:off x="228600" y="3063240"/>
            <a:ext cx="2834640" cy="301752"/>
          </a:xfrm>
          <a:prstGeom prst="rect">
            <a:avLst/>
          </a:prstGeom>
          <a:solidFill>
            <a:srgbClr val="FFFFFF"/>
          </a:solidFill>
          <a:ln w="12700">
            <a:solidFill>
              <a:srgbClr val="DDDDDD"/>
            </a:solidFill>
            <a:prstDash val="solid"/>
          </a:ln>
        </p:spPr>
      </p:sp>
      <p:sp>
        <p:nvSpPr>
          <p:cNvPr id="37" name="Shape 35"/>
          <p:cNvSpPr/>
          <p:nvPr/>
        </p:nvSpPr>
        <p:spPr>
          <a:xfrm>
            <a:off x="228600" y="3063240"/>
            <a:ext cx="685800" cy="301752"/>
          </a:xfrm>
          <a:prstGeom prst="rect">
            <a:avLst/>
          </a:prstGeom>
          <a:solidFill>
            <a:srgbClr val="1B2A4A"/>
          </a:solidFill>
          <a:ln w="12700">
            <a:solidFill>
              <a:srgbClr val="1B2A4A"/>
            </a:solidFill>
            <a:prstDash val="solid"/>
          </a:ln>
        </p:spPr>
      </p:sp>
      <p:sp>
        <p:nvSpPr>
          <p:cNvPr id="38" name="Text 36"/>
          <p:cNvSpPr/>
          <p:nvPr/>
        </p:nvSpPr>
        <p:spPr>
          <a:xfrm>
            <a:off x="228600" y="3063240"/>
            <a:ext cx="685800" cy="301752"/>
          </a:xfrm>
          <a:prstGeom prst="rect">
            <a:avLst/>
          </a:prstGeom>
          <a:noFill/>
          <a:ln/>
        </p:spPr>
        <p:txBody>
          <a:bodyPr wrap="square" rtlCol="0" anchor="ctr"/>
          <a:lstStyle/>
          <a:p>
            <a:pPr marL="0" indent="0" algn="ctr">
              <a:buNone/>
            </a:pPr>
            <a:r>
              <a:rPr lang="en-US" sz="850" b="1" dirty="0">
                <a:solidFill>
                  <a:srgbClr val="C8953A"/>
                </a:solidFill>
                <a:latin typeface="Calibri" pitchFamily="34" charset="0"/>
                <a:ea typeface="Calibri" pitchFamily="34" charset="-122"/>
                <a:cs typeface="Calibri" pitchFamily="34" charset="-120"/>
              </a:rPr>
              <a:t>KVA</a:t>
            </a:r>
            <a:endParaRPr lang="en-US" sz="850" dirty="0"/>
          </a:p>
        </p:txBody>
      </p:sp>
      <p:sp>
        <p:nvSpPr>
          <p:cNvPr id="39" name="Text 37"/>
          <p:cNvSpPr/>
          <p:nvPr/>
        </p:nvSpPr>
        <p:spPr>
          <a:xfrm>
            <a:off x="941832" y="3081528"/>
            <a:ext cx="2084832" cy="274320"/>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Capital Valuation Adjustment — cost of regulatory capital over trade life</a:t>
            </a:r>
            <a:endParaRPr lang="en-US" sz="800" dirty="0"/>
          </a:p>
        </p:txBody>
      </p:sp>
      <p:sp>
        <p:nvSpPr>
          <p:cNvPr id="40" name="Shape 38"/>
          <p:cNvSpPr/>
          <p:nvPr/>
        </p:nvSpPr>
        <p:spPr>
          <a:xfrm>
            <a:off x="228600" y="3360420"/>
            <a:ext cx="2834640" cy="301752"/>
          </a:xfrm>
          <a:prstGeom prst="rect">
            <a:avLst/>
          </a:prstGeom>
          <a:solidFill>
            <a:srgbClr val="F4F6F8"/>
          </a:solidFill>
          <a:ln w="12700">
            <a:solidFill>
              <a:srgbClr val="DDDDDD"/>
            </a:solidFill>
            <a:prstDash val="solid"/>
          </a:ln>
        </p:spPr>
      </p:sp>
      <p:sp>
        <p:nvSpPr>
          <p:cNvPr id="41" name="Shape 39"/>
          <p:cNvSpPr/>
          <p:nvPr/>
        </p:nvSpPr>
        <p:spPr>
          <a:xfrm>
            <a:off x="228600" y="3360420"/>
            <a:ext cx="685800" cy="301752"/>
          </a:xfrm>
          <a:prstGeom prst="rect">
            <a:avLst/>
          </a:prstGeom>
          <a:solidFill>
            <a:srgbClr val="1B2A4A"/>
          </a:solidFill>
          <a:ln w="12700">
            <a:solidFill>
              <a:srgbClr val="1B2A4A"/>
            </a:solidFill>
            <a:prstDash val="solid"/>
          </a:ln>
        </p:spPr>
      </p:sp>
      <p:sp>
        <p:nvSpPr>
          <p:cNvPr id="42" name="Text 40"/>
          <p:cNvSpPr/>
          <p:nvPr/>
        </p:nvSpPr>
        <p:spPr>
          <a:xfrm>
            <a:off x="228600" y="3360420"/>
            <a:ext cx="685800" cy="301752"/>
          </a:xfrm>
          <a:prstGeom prst="rect">
            <a:avLst/>
          </a:prstGeom>
          <a:noFill/>
          <a:ln/>
        </p:spPr>
        <p:txBody>
          <a:bodyPr wrap="square" rtlCol="0" anchor="ctr"/>
          <a:lstStyle/>
          <a:p>
            <a:pPr marL="0" indent="0" algn="ctr">
              <a:buNone/>
            </a:pPr>
            <a:r>
              <a:rPr lang="en-US" sz="850" b="1" dirty="0">
                <a:solidFill>
                  <a:srgbClr val="C8953A"/>
                </a:solidFill>
                <a:latin typeface="Calibri" pitchFamily="34" charset="0"/>
                <a:ea typeface="Calibri" pitchFamily="34" charset="-122"/>
                <a:cs typeface="Calibri" pitchFamily="34" charset="-120"/>
              </a:rPr>
              <a:t>CTD</a:t>
            </a:r>
            <a:endParaRPr lang="en-US" sz="850" dirty="0"/>
          </a:p>
        </p:txBody>
      </p:sp>
      <p:sp>
        <p:nvSpPr>
          <p:cNvPr id="43" name="Text 41"/>
          <p:cNvSpPr/>
          <p:nvPr/>
        </p:nvSpPr>
        <p:spPr>
          <a:xfrm>
            <a:off x="941832" y="3378708"/>
            <a:ext cx="2084832" cy="274320"/>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Cheapest-to-Deliver — lowest-cost eligible collateral asset</a:t>
            </a:r>
            <a:endParaRPr lang="en-US" sz="800" dirty="0"/>
          </a:p>
        </p:txBody>
      </p:sp>
      <p:sp>
        <p:nvSpPr>
          <p:cNvPr id="44" name="Shape 42"/>
          <p:cNvSpPr/>
          <p:nvPr/>
        </p:nvSpPr>
        <p:spPr>
          <a:xfrm>
            <a:off x="228600" y="3657600"/>
            <a:ext cx="2834640" cy="301752"/>
          </a:xfrm>
          <a:prstGeom prst="rect">
            <a:avLst/>
          </a:prstGeom>
          <a:solidFill>
            <a:srgbClr val="FFFFFF"/>
          </a:solidFill>
          <a:ln w="12700">
            <a:solidFill>
              <a:srgbClr val="DDDDDD"/>
            </a:solidFill>
            <a:prstDash val="solid"/>
          </a:ln>
        </p:spPr>
      </p:sp>
      <p:sp>
        <p:nvSpPr>
          <p:cNvPr id="45" name="Shape 43"/>
          <p:cNvSpPr/>
          <p:nvPr/>
        </p:nvSpPr>
        <p:spPr>
          <a:xfrm>
            <a:off x="228600" y="3657600"/>
            <a:ext cx="685800" cy="301752"/>
          </a:xfrm>
          <a:prstGeom prst="rect">
            <a:avLst/>
          </a:prstGeom>
          <a:solidFill>
            <a:srgbClr val="1B2A4A"/>
          </a:solidFill>
          <a:ln w="12700">
            <a:solidFill>
              <a:srgbClr val="1B2A4A"/>
            </a:solidFill>
            <a:prstDash val="solid"/>
          </a:ln>
        </p:spPr>
      </p:sp>
      <p:sp>
        <p:nvSpPr>
          <p:cNvPr id="46" name="Text 44"/>
          <p:cNvSpPr/>
          <p:nvPr/>
        </p:nvSpPr>
        <p:spPr>
          <a:xfrm>
            <a:off x="228600" y="3657600"/>
            <a:ext cx="685800" cy="301752"/>
          </a:xfrm>
          <a:prstGeom prst="rect">
            <a:avLst/>
          </a:prstGeom>
          <a:noFill/>
          <a:ln/>
        </p:spPr>
        <p:txBody>
          <a:bodyPr wrap="square" rtlCol="0" anchor="ctr"/>
          <a:lstStyle/>
          <a:p>
            <a:pPr marL="0" indent="0" algn="ctr">
              <a:buNone/>
            </a:pPr>
            <a:r>
              <a:rPr lang="en-US" sz="850" b="1" dirty="0">
                <a:solidFill>
                  <a:srgbClr val="C8953A"/>
                </a:solidFill>
                <a:latin typeface="Calibri" pitchFamily="34" charset="0"/>
                <a:ea typeface="Calibri" pitchFamily="34" charset="-122"/>
                <a:cs typeface="Calibri" pitchFamily="34" charset="-120"/>
              </a:rPr>
              <a:t>EPE</a:t>
            </a:r>
            <a:endParaRPr lang="en-US" sz="850" dirty="0"/>
          </a:p>
        </p:txBody>
      </p:sp>
      <p:sp>
        <p:nvSpPr>
          <p:cNvPr id="47" name="Text 45"/>
          <p:cNvSpPr/>
          <p:nvPr/>
        </p:nvSpPr>
        <p:spPr>
          <a:xfrm>
            <a:off x="941832" y="3675888"/>
            <a:ext cx="2084832" cy="274320"/>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Expected Positive Exposure — average future exposure across scenarios</a:t>
            </a:r>
            <a:endParaRPr lang="en-US" sz="800" dirty="0"/>
          </a:p>
        </p:txBody>
      </p:sp>
      <p:sp>
        <p:nvSpPr>
          <p:cNvPr id="48" name="Shape 46"/>
          <p:cNvSpPr/>
          <p:nvPr/>
        </p:nvSpPr>
        <p:spPr>
          <a:xfrm>
            <a:off x="228600" y="3954780"/>
            <a:ext cx="2834640" cy="301752"/>
          </a:xfrm>
          <a:prstGeom prst="rect">
            <a:avLst/>
          </a:prstGeom>
          <a:solidFill>
            <a:srgbClr val="F4F6F8"/>
          </a:solidFill>
          <a:ln w="12700">
            <a:solidFill>
              <a:srgbClr val="DDDDDD"/>
            </a:solidFill>
            <a:prstDash val="solid"/>
          </a:ln>
        </p:spPr>
      </p:sp>
      <p:sp>
        <p:nvSpPr>
          <p:cNvPr id="49" name="Shape 47"/>
          <p:cNvSpPr/>
          <p:nvPr/>
        </p:nvSpPr>
        <p:spPr>
          <a:xfrm>
            <a:off x="228600" y="3954780"/>
            <a:ext cx="685800" cy="301752"/>
          </a:xfrm>
          <a:prstGeom prst="rect">
            <a:avLst/>
          </a:prstGeom>
          <a:solidFill>
            <a:srgbClr val="1B2A4A"/>
          </a:solidFill>
          <a:ln w="12700">
            <a:solidFill>
              <a:srgbClr val="1B2A4A"/>
            </a:solidFill>
            <a:prstDash val="solid"/>
          </a:ln>
        </p:spPr>
      </p:sp>
      <p:sp>
        <p:nvSpPr>
          <p:cNvPr id="50" name="Text 48"/>
          <p:cNvSpPr/>
          <p:nvPr/>
        </p:nvSpPr>
        <p:spPr>
          <a:xfrm>
            <a:off x="228600" y="3954780"/>
            <a:ext cx="685800" cy="301752"/>
          </a:xfrm>
          <a:prstGeom prst="rect">
            <a:avLst/>
          </a:prstGeom>
          <a:noFill/>
          <a:ln/>
        </p:spPr>
        <p:txBody>
          <a:bodyPr wrap="square" rtlCol="0" anchor="ctr"/>
          <a:lstStyle/>
          <a:p>
            <a:pPr marL="0" indent="0" algn="ctr">
              <a:buNone/>
            </a:pPr>
            <a:r>
              <a:rPr lang="en-US" sz="850" b="1" dirty="0">
                <a:solidFill>
                  <a:srgbClr val="C8953A"/>
                </a:solidFill>
                <a:latin typeface="Calibri" pitchFamily="34" charset="0"/>
                <a:ea typeface="Calibri" pitchFamily="34" charset="-122"/>
                <a:cs typeface="Calibri" pitchFamily="34" charset="-120"/>
              </a:rPr>
              <a:t>ENE</a:t>
            </a:r>
            <a:endParaRPr lang="en-US" sz="850" dirty="0"/>
          </a:p>
        </p:txBody>
      </p:sp>
      <p:sp>
        <p:nvSpPr>
          <p:cNvPr id="51" name="Text 49"/>
          <p:cNvSpPr/>
          <p:nvPr/>
        </p:nvSpPr>
        <p:spPr>
          <a:xfrm>
            <a:off x="941832" y="3973068"/>
            <a:ext cx="2084832" cy="274320"/>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Expected Negative Exposure — average future negative exposure</a:t>
            </a:r>
            <a:endParaRPr lang="en-US" sz="800" dirty="0"/>
          </a:p>
        </p:txBody>
      </p:sp>
      <p:sp>
        <p:nvSpPr>
          <p:cNvPr id="52" name="Shape 50"/>
          <p:cNvSpPr/>
          <p:nvPr/>
        </p:nvSpPr>
        <p:spPr>
          <a:xfrm>
            <a:off x="228600" y="4251960"/>
            <a:ext cx="2834640" cy="301752"/>
          </a:xfrm>
          <a:prstGeom prst="rect">
            <a:avLst/>
          </a:prstGeom>
          <a:solidFill>
            <a:srgbClr val="FFFFFF"/>
          </a:solidFill>
          <a:ln w="12700">
            <a:solidFill>
              <a:srgbClr val="DDDDDD"/>
            </a:solidFill>
            <a:prstDash val="solid"/>
          </a:ln>
        </p:spPr>
      </p:sp>
      <p:sp>
        <p:nvSpPr>
          <p:cNvPr id="53" name="Shape 51"/>
          <p:cNvSpPr/>
          <p:nvPr/>
        </p:nvSpPr>
        <p:spPr>
          <a:xfrm>
            <a:off x="228600" y="4251960"/>
            <a:ext cx="685800" cy="301752"/>
          </a:xfrm>
          <a:prstGeom prst="rect">
            <a:avLst/>
          </a:prstGeom>
          <a:solidFill>
            <a:srgbClr val="1B2A4A"/>
          </a:solidFill>
          <a:ln w="12700">
            <a:solidFill>
              <a:srgbClr val="1B2A4A"/>
            </a:solidFill>
            <a:prstDash val="solid"/>
          </a:ln>
        </p:spPr>
      </p:sp>
      <p:sp>
        <p:nvSpPr>
          <p:cNvPr id="54" name="Text 52"/>
          <p:cNvSpPr/>
          <p:nvPr/>
        </p:nvSpPr>
        <p:spPr>
          <a:xfrm>
            <a:off x="228600" y="4251960"/>
            <a:ext cx="685800" cy="301752"/>
          </a:xfrm>
          <a:prstGeom prst="rect">
            <a:avLst/>
          </a:prstGeom>
          <a:noFill/>
          <a:ln/>
        </p:spPr>
        <p:txBody>
          <a:bodyPr wrap="square" rtlCol="0" anchor="ctr"/>
          <a:lstStyle/>
          <a:p>
            <a:pPr marL="0" indent="0" algn="ctr">
              <a:buNone/>
            </a:pPr>
            <a:r>
              <a:rPr lang="en-US" sz="850" b="1" dirty="0">
                <a:solidFill>
                  <a:srgbClr val="C8953A"/>
                </a:solidFill>
                <a:latin typeface="Calibri" pitchFamily="34" charset="0"/>
                <a:ea typeface="Calibri" pitchFamily="34" charset="-122"/>
                <a:cs typeface="Calibri" pitchFamily="34" charset="-120"/>
              </a:rPr>
              <a:t>PFE</a:t>
            </a:r>
            <a:endParaRPr lang="en-US" sz="850" dirty="0"/>
          </a:p>
        </p:txBody>
      </p:sp>
      <p:sp>
        <p:nvSpPr>
          <p:cNvPr id="55" name="Text 53"/>
          <p:cNvSpPr/>
          <p:nvPr/>
        </p:nvSpPr>
        <p:spPr>
          <a:xfrm>
            <a:off x="941832" y="4270248"/>
            <a:ext cx="2084832" cy="274320"/>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Potential Future Exposure — SA-CCR add-on component</a:t>
            </a:r>
            <a:endParaRPr lang="en-US" sz="800" dirty="0"/>
          </a:p>
        </p:txBody>
      </p:sp>
      <p:sp>
        <p:nvSpPr>
          <p:cNvPr id="56" name="Shape 54"/>
          <p:cNvSpPr/>
          <p:nvPr/>
        </p:nvSpPr>
        <p:spPr>
          <a:xfrm>
            <a:off x="228600" y="4549140"/>
            <a:ext cx="2834640" cy="301752"/>
          </a:xfrm>
          <a:prstGeom prst="rect">
            <a:avLst/>
          </a:prstGeom>
          <a:solidFill>
            <a:srgbClr val="F4F6F8"/>
          </a:solidFill>
          <a:ln w="12700">
            <a:solidFill>
              <a:srgbClr val="DDDDDD"/>
            </a:solidFill>
            <a:prstDash val="solid"/>
          </a:ln>
        </p:spPr>
      </p:sp>
      <p:sp>
        <p:nvSpPr>
          <p:cNvPr id="57" name="Shape 55"/>
          <p:cNvSpPr/>
          <p:nvPr/>
        </p:nvSpPr>
        <p:spPr>
          <a:xfrm>
            <a:off x="228600" y="4549140"/>
            <a:ext cx="685800" cy="301752"/>
          </a:xfrm>
          <a:prstGeom prst="rect">
            <a:avLst/>
          </a:prstGeom>
          <a:solidFill>
            <a:srgbClr val="1B2A4A"/>
          </a:solidFill>
          <a:ln w="12700">
            <a:solidFill>
              <a:srgbClr val="1B2A4A"/>
            </a:solidFill>
            <a:prstDash val="solid"/>
          </a:ln>
        </p:spPr>
      </p:sp>
      <p:sp>
        <p:nvSpPr>
          <p:cNvPr id="58" name="Text 56"/>
          <p:cNvSpPr/>
          <p:nvPr/>
        </p:nvSpPr>
        <p:spPr>
          <a:xfrm>
            <a:off x="228600" y="4549140"/>
            <a:ext cx="685800" cy="301752"/>
          </a:xfrm>
          <a:prstGeom prst="rect">
            <a:avLst/>
          </a:prstGeom>
          <a:noFill/>
          <a:ln/>
        </p:spPr>
        <p:txBody>
          <a:bodyPr wrap="square" rtlCol="0" anchor="ctr"/>
          <a:lstStyle/>
          <a:p>
            <a:pPr marL="0" indent="0" algn="ctr">
              <a:buNone/>
            </a:pPr>
            <a:r>
              <a:rPr lang="en-US" sz="850" b="1" dirty="0">
                <a:solidFill>
                  <a:srgbClr val="C8953A"/>
                </a:solidFill>
                <a:latin typeface="Calibri" pitchFamily="34" charset="0"/>
                <a:ea typeface="Calibri" pitchFamily="34" charset="-122"/>
                <a:cs typeface="Calibri" pitchFamily="34" charset="-120"/>
              </a:rPr>
              <a:t>RC</a:t>
            </a:r>
            <a:endParaRPr lang="en-US" sz="850" dirty="0"/>
          </a:p>
        </p:txBody>
      </p:sp>
      <p:sp>
        <p:nvSpPr>
          <p:cNvPr id="59" name="Text 57"/>
          <p:cNvSpPr/>
          <p:nvPr/>
        </p:nvSpPr>
        <p:spPr>
          <a:xfrm>
            <a:off x="941832" y="4567428"/>
            <a:ext cx="2084832" cy="274320"/>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Replacement Cost — SA-CCR current exposure component</a:t>
            </a:r>
            <a:endParaRPr lang="en-US" sz="800" dirty="0"/>
          </a:p>
        </p:txBody>
      </p:sp>
      <p:sp>
        <p:nvSpPr>
          <p:cNvPr id="60" name="Shape 58"/>
          <p:cNvSpPr/>
          <p:nvPr/>
        </p:nvSpPr>
        <p:spPr>
          <a:xfrm>
            <a:off x="3200400" y="1280160"/>
            <a:ext cx="2834640" cy="301752"/>
          </a:xfrm>
          <a:prstGeom prst="rect">
            <a:avLst/>
          </a:prstGeom>
          <a:solidFill>
            <a:srgbClr val="FFFFFF"/>
          </a:solidFill>
          <a:ln w="12700">
            <a:solidFill>
              <a:srgbClr val="DDDDDD"/>
            </a:solidFill>
            <a:prstDash val="solid"/>
          </a:ln>
        </p:spPr>
      </p:sp>
      <p:sp>
        <p:nvSpPr>
          <p:cNvPr id="61" name="Shape 59"/>
          <p:cNvSpPr/>
          <p:nvPr/>
        </p:nvSpPr>
        <p:spPr>
          <a:xfrm>
            <a:off x="3200400" y="1280160"/>
            <a:ext cx="685800" cy="301752"/>
          </a:xfrm>
          <a:prstGeom prst="rect">
            <a:avLst/>
          </a:prstGeom>
          <a:solidFill>
            <a:srgbClr val="1B2A4A"/>
          </a:solidFill>
          <a:ln w="12700">
            <a:solidFill>
              <a:srgbClr val="1B2A4A"/>
            </a:solidFill>
            <a:prstDash val="solid"/>
          </a:ln>
        </p:spPr>
      </p:sp>
      <p:sp>
        <p:nvSpPr>
          <p:cNvPr id="62" name="Text 60"/>
          <p:cNvSpPr/>
          <p:nvPr/>
        </p:nvSpPr>
        <p:spPr>
          <a:xfrm>
            <a:off x="3200400" y="1280160"/>
            <a:ext cx="685800" cy="301752"/>
          </a:xfrm>
          <a:prstGeom prst="rect">
            <a:avLst/>
          </a:prstGeom>
          <a:noFill/>
          <a:ln/>
        </p:spPr>
        <p:txBody>
          <a:bodyPr wrap="square" rtlCol="0" anchor="ctr"/>
          <a:lstStyle/>
          <a:p>
            <a:pPr marL="0" indent="0" algn="ctr">
              <a:buNone/>
            </a:pPr>
            <a:r>
              <a:rPr lang="en-US" sz="850" b="1" dirty="0">
                <a:solidFill>
                  <a:srgbClr val="C8953A"/>
                </a:solidFill>
                <a:latin typeface="Calibri" pitchFamily="34" charset="0"/>
                <a:ea typeface="Calibri" pitchFamily="34" charset="-122"/>
                <a:cs typeface="Calibri" pitchFamily="34" charset="-120"/>
              </a:rPr>
              <a:t>CET1</a:t>
            </a:r>
            <a:endParaRPr lang="en-US" sz="850" dirty="0"/>
          </a:p>
        </p:txBody>
      </p:sp>
      <p:sp>
        <p:nvSpPr>
          <p:cNvPr id="63" name="Text 61"/>
          <p:cNvSpPr/>
          <p:nvPr/>
        </p:nvSpPr>
        <p:spPr>
          <a:xfrm>
            <a:off x="3913632" y="1298448"/>
            <a:ext cx="2084832" cy="274320"/>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Common Equity Tier 1 — highest quality regulatory capital</a:t>
            </a:r>
            <a:endParaRPr lang="en-US" sz="800" dirty="0"/>
          </a:p>
        </p:txBody>
      </p:sp>
      <p:sp>
        <p:nvSpPr>
          <p:cNvPr id="64" name="Shape 62"/>
          <p:cNvSpPr/>
          <p:nvPr/>
        </p:nvSpPr>
        <p:spPr>
          <a:xfrm>
            <a:off x="3200400" y="1577340"/>
            <a:ext cx="2834640" cy="301752"/>
          </a:xfrm>
          <a:prstGeom prst="rect">
            <a:avLst/>
          </a:prstGeom>
          <a:solidFill>
            <a:srgbClr val="F4F6F8"/>
          </a:solidFill>
          <a:ln w="12700">
            <a:solidFill>
              <a:srgbClr val="DDDDDD"/>
            </a:solidFill>
            <a:prstDash val="solid"/>
          </a:ln>
        </p:spPr>
      </p:sp>
      <p:sp>
        <p:nvSpPr>
          <p:cNvPr id="65" name="Shape 63"/>
          <p:cNvSpPr/>
          <p:nvPr/>
        </p:nvSpPr>
        <p:spPr>
          <a:xfrm>
            <a:off x="3200400" y="1577340"/>
            <a:ext cx="685800" cy="301752"/>
          </a:xfrm>
          <a:prstGeom prst="rect">
            <a:avLst/>
          </a:prstGeom>
          <a:solidFill>
            <a:srgbClr val="1B2A4A"/>
          </a:solidFill>
          <a:ln w="12700">
            <a:solidFill>
              <a:srgbClr val="1B2A4A"/>
            </a:solidFill>
            <a:prstDash val="solid"/>
          </a:ln>
        </p:spPr>
      </p:sp>
      <p:sp>
        <p:nvSpPr>
          <p:cNvPr id="66" name="Text 64"/>
          <p:cNvSpPr/>
          <p:nvPr/>
        </p:nvSpPr>
        <p:spPr>
          <a:xfrm>
            <a:off x="3200400" y="1577340"/>
            <a:ext cx="685800" cy="301752"/>
          </a:xfrm>
          <a:prstGeom prst="rect">
            <a:avLst/>
          </a:prstGeom>
          <a:noFill/>
          <a:ln/>
        </p:spPr>
        <p:txBody>
          <a:bodyPr wrap="square" rtlCol="0" anchor="ctr"/>
          <a:lstStyle/>
          <a:p>
            <a:pPr marL="0" indent="0" algn="ctr">
              <a:buNone/>
            </a:pPr>
            <a:r>
              <a:rPr lang="en-US" sz="850" b="1" dirty="0">
                <a:solidFill>
                  <a:srgbClr val="C8953A"/>
                </a:solidFill>
                <a:latin typeface="Calibri" pitchFamily="34" charset="0"/>
                <a:ea typeface="Calibri" pitchFamily="34" charset="-122"/>
                <a:cs typeface="Calibri" pitchFamily="34" charset="-120"/>
              </a:rPr>
              <a:t>RWA</a:t>
            </a:r>
            <a:endParaRPr lang="en-US" sz="850" dirty="0"/>
          </a:p>
        </p:txBody>
      </p:sp>
      <p:sp>
        <p:nvSpPr>
          <p:cNvPr id="67" name="Text 65"/>
          <p:cNvSpPr/>
          <p:nvPr/>
        </p:nvSpPr>
        <p:spPr>
          <a:xfrm>
            <a:off x="3913632" y="1595628"/>
            <a:ext cx="2084832" cy="274320"/>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Risk-Weighted Assets — capital base for minimum ratio calculation</a:t>
            </a:r>
            <a:endParaRPr lang="en-US" sz="800" dirty="0"/>
          </a:p>
        </p:txBody>
      </p:sp>
      <p:sp>
        <p:nvSpPr>
          <p:cNvPr id="68" name="Shape 66"/>
          <p:cNvSpPr/>
          <p:nvPr/>
        </p:nvSpPr>
        <p:spPr>
          <a:xfrm>
            <a:off x="3200400" y="1874520"/>
            <a:ext cx="2834640" cy="301752"/>
          </a:xfrm>
          <a:prstGeom prst="rect">
            <a:avLst/>
          </a:prstGeom>
          <a:solidFill>
            <a:srgbClr val="FFFFFF"/>
          </a:solidFill>
          <a:ln w="12700">
            <a:solidFill>
              <a:srgbClr val="DDDDDD"/>
            </a:solidFill>
            <a:prstDash val="solid"/>
          </a:ln>
        </p:spPr>
      </p:sp>
      <p:sp>
        <p:nvSpPr>
          <p:cNvPr id="69" name="Shape 67"/>
          <p:cNvSpPr/>
          <p:nvPr/>
        </p:nvSpPr>
        <p:spPr>
          <a:xfrm>
            <a:off x="3200400" y="1874520"/>
            <a:ext cx="685800" cy="301752"/>
          </a:xfrm>
          <a:prstGeom prst="rect">
            <a:avLst/>
          </a:prstGeom>
          <a:solidFill>
            <a:srgbClr val="1B2A4A"/>
          </a:solidFill>
          <a:ln w="12700">
            <a:solidFill>
              <a:srgbClr val="1B2A4A"/>
            </a:solidFill>
            <a:prstDash val="solid"/>
          </a:ln>
        </p:spPr>
      </p:sp>
      <p:sp>
        <p:nvSpPr>
          <p:cNvPr id="70" name="Text 68"/>
          <p:cNvSpPr/>
          <p:nvPr/>
        </p:nvSpPr>
        <p:spPr>
          <a:xfrm>
            <a:off x="3200400" y="1874520"/>
            <a:ext cx="685800" cy="301752"/>
          </a:xfrm>
          <a:prstGeom prst="rect">
            <a:avLst/>
          </a:prstGeom>
          <a:noFill/>
          <a:ln/>
        </p:spPr>
        <p:txBody>
          <a:bodyPr wrap="square" rtlCol="0" anchor="ctr"/>
          <a:lstStyle/>
          <a:p>
            <a:pPr marL="0" indent="0" algn="ctr">
              <a:buNone/>
            </a:pPr>
            <a:r>
              <a:rPr lang="en-US" sz="850" b="1" dirty="0">
                <a:solidFill>
                  <a:srgbClr val="C8953A"/>
                </a:solidFill>
                <a:latin typeface="Calibri" pitchFamily="34" charset="0"/>
                <a:ea typeface="Calibri" pitchFamily="34" charset="-122"/>
                <a:cs typeface="Calibri" pitchFamily="34" charset="-120"/>
              </a:rPr>
              <a:t>EAD</a:t>
            </a:r>
            <a:endParaRPr lang="en-US" sz="850" dirty="0"/>
          </a:p>
        </p:txBody>
      </p:sp>
      <p:sp>
        <p:nvSpPr>
          <p:cNvPr id="71" name="Text 69"/>
          <p:cNvSpPr/>
          <p:nvPr/>
        </p:nvSpPr>
        <p:spPr>
          <a:xfrm>
            <a:off x="3913632" y="1892808"/>
            <a:ext cx="2084832" cy="274320"/>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Exposure at Default — SA-CCR output; RWA = EAD × Risk Weight</a:t>
            </a:r>
            <a:endParaRPr lang="en-US" sz="800" dirty="0"/>
          </a:p>
        </p:txBody>
      </p:sp>
      <p:sp>
        <p:nvSpPr>
          <p:cNvPr id="72" name="Shape 70"/>
          <p:cNvSpPr/>
          <p:nvPr/>
        </p:nvSpPr>
        <p:spPr>
          <a:xfrm>
            <a:off x="3200400" y="2171700"/>
            <a:ext cx="2834640" cy="301752"/>
          </a:xfrm>
          <a:prstGeom prst="rect">
            <a:avLst/>
          </a:prstGeom>
          <a:solidFill>
            <a:srgbClr val="F4F6F8"/>
          </a:solidFill>
          <a:ln w="12700">
            <a:solidFill>
              <a:srgbClr val="DDDDDD"/>
            </a:solidFill>
            <a:prstDash val="solid"/>
          </a:ln>
        </p:spPr>
      </p:sp>
      <p:sp>
        <p:nvSpPr>
          <p:cNvPr id="73" name="Shape 71"/>
          <p:cNvSpPr/>
          <p:nvPr/>
        </p:nvSpPr>
        <p:spPr>
          <a:xfrm>
            <a:off x="3200400" y="2171700"/>
            <a:ext cx="685800" cy="301752"/>
          </a:xfrm>
          <a:prstGeom prst="rect">
            <a:avLst/>
          </a:prstGeom>
          <a:solidFill>
            <a:srgbClr val="1B2A4A"/>
          </a:solidFill>
          <a:ln w="12700">
            <a:solidFill>
              <a:srgbClr val="1B2A4A"/>
            </a:solidFill>
            <a:prstDash val="solid"/>
          </a:ln>
        </p:spPr>
      </p:sp>
      <p:sp>
        <p:nvSpPr>
          <p:cNvPr id="74" name="Text 72"/>
          <p:cNvSpPr/>
          <p:nvPr/>
        </p:nvSpPr>
        <p:spPr>
          <a:xfrm>
            <a:off x="3200400" y="2171700"/>
            <a:ext cx="685800" cy="301752"/>
          </a:xfrm>
          <a:prstGeom prst="rect">
            <a:avLst/>
          </a:prstGeom>
          <a:noFill/>
          <a:ln/>
        </p:spPr>
        <p:txBody>
          <a:bodyPr wrap="square" rtlCol="0" anchor="ctr"/>
          <a:lstStyle/>
          <a:p>
            <a:pPr marL="0" indent="0" algn="ctr">
              <a:buNone/>
            </a:pPr>
            <a:r>
              <a:rPr lang="en-US" sz="850" b="1" dirty="0">
                <a:solidFill>
                  <a:srgbClr val="C8953A"/>
                </a:solidFill>
                <a:latin typeface="Calibri" pitchFamily="34" charset="0"/>
                <a:ea typeface="Calibri" pitchFamily="34" charset="-122"/>
                <a:cs typeface="Calibri" pitchFamily="34" charset="-120"/>
              </a:rPr>
              <a:t>SA-CCR</a:t>
            </a:r>
            <a:endParaRPr lang="en-US" sz="850" dirty="0"/>
          </a:p>
        </p:txBody>
      </p:sp>
      <p:sp>
        <p:nvSpPr>
          <p:cNvPr id="75" name="Text 73"/>
          <p:cNvSpPr/>
          <p:nvPr/>
        </p:nvSpPr>
        <p:spPr>
          <a:xfrm>
            <a:off x="3913632" y="2189988"/>
            <a:ext cx="2084832" cy="274320"/>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Standardised Approach for Counterparty Credit Risk</a:t>
            </a:r>
            <a:endParaRPr lang="en-US" sz="800" dirty="0"/>
          </a:p>
        </p:txBody>
      </p:sp>
      <p:sp>
        <p:nvSpPr>
          <p:cNvPr id="76" name="Shape 74"/>
          <p:cNvSpPr/>
          <p:nvPr/>
        </p:nvSpPr>
        <p:spPr>
          <a:xfrm>
            <a:off x="3200400" y="2468880"/>
            <a:ext cx="2834640" cy="301752"/>
          </a:xfrm>
          <a:prstGeom prst="rect">
            <a:avLst/>
          </a:prstGeom>
          <a:solidFill>
            <a:srgbClr val="FFFFFF"/>
          </a:solidFill>
          <a:ln w="12700">
            <a:solidFill>
              <a:srgbClr val="DDDDDD"/>
            </a:solidFill>
            <a:prstDash val="solid"/>
          </a:ln>
        </p:spPr>
      </p:sp>
      <p:sp>
        <p:nvSpPr>
          <p:cNvPr id="77" name="Shape 75"/>
          <p:cNvSpPr/>
          <p:nvPr/>
        </p:nvSpPr>
        <p:spPr>
          <a:xfrm>
            <a:off x="3200400" y="2468880"/>
            <a:ext cx="685800" cy="301752"/>
          </a:xfrm>
          <a:prstGeom prst="rect">
            <a:avLst/>
          </a:prstGeom>
          <a:solidFill>
            <a:srgbClr val="1B2A4A"/>
          </a:solidFill>
          <a:ln w="12700">
            <a:solidFill>
              <a:srgbClr val="1B2A4A"/>
            </a:solidFill>
            <a:prstDash val="solid"/>
          </a:ln>
        </p:spPr>
      </p:sp>
      <p:sp>
        <p:nvSpPr>
          <p:cNvPr id="78" name="Text 76"/>
          <p:cNvSpPr/>
          <p:nvPr/>
        </p:nvSpPr>
        <p:spPr>
          <a:xfrm>
            <a:off x="3200400" y="2468880"/>
            <a:ext cx="685800" cy="301752"/>
          </a:xfrm>
          <a:prstGeom prst="rect">
            <a:avLst/>
          </a:prstGeom>
          <a:noFill/>
          <a:ln/>
        </p:spPr>
        <p:txBody>
          <a:bodyPr wrap="square" rtlCol="0" anchor="ctr"/>
          <a:lstStyle/>
          <a:p>
            <a:pPr marL="0" indent="0" algn="ctr">
              <a:buNone/>
            </a:pPr>
            <a:r>
              <a:rPr lang="en-US" sz="850" b="1" dirty="0">
                <a:solidFill>
                  <a:srgbClr val="C8953A"/>
                </a:solidFill>
                <a:latin typeface="Calibri" pitchFamily="34" charset="0"/>
                <a:ea typeface="Calibri" pitchFamily="34" charset="-122"/>
                <a:cs typeface="Calibri" pitchFamily="34" charset="-120"/>
              </a:rPr>
              <a:t>G-SIB</a:t>
            </a:r>
            <a:endParaRPr lang="en-US" sz="850" dirty="0"/>
          </a:p>
        </p:txBody>
      </p:sp>
      <p:sp>
        <p:nvSpPr>
          <p:cNvPr id="79" name="Text 77"/>
          <p:cNvSpPr/>
          <p:nvPr/>
        </p:nvSpPr>
        <p:spPr>
          <a:xfrm>
            <a:off x="3913632" y="2487168"/>
            <a:ext cx="2084832" cy="274320"/>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Global Systemically Important Bank — subject to capital surcharge 1–3.5%</a:t>
            </a:r>
            <a:endParaRPr lang="en-US" sz="800" dirty="0"/>
          </a:p>
        </p:txBody>
      </p:sp>
      <p:sp>
        <p:nvSpPr>
          <p:cNvPr id="80" name="Shape 78"/>
          <p:cNvSpPr/>
          <p:nvPr/>
        </p:nvSpPr>
        <p:spPr>
          <a:xfrm>
            <a:off x="3200400" y="2766060"/>
            <a:ext cx="2834640" cy="301752"/>
          </a:xfrm>
          <a:prstGeom prst="rect">
            <a:avLst/>
          </a:prstGeom>
          <a:solidFill>
            <a:srgbClr val="F4F6F8"/>
          </a:solidFill>
          <a:ln w="12700">
            <a:solidFill>
              <a:srgbClr val="DDDDDD"/>
            </a:solidFill>
            <a:prstDash val="solid"/>
          </a:ln>
        </p:spPr>
      </p:sp>
      <p:sp>
        <p:nvSpPr>
          <p:cNvPr id="81" name="Shape 79"/>
          <p:cNvSpPr/>
          <p:nvPr/>
        </p:nvSpPr>
        <p:spPr>
          <a:xfrm>
            <a:off x="3200400" y="2766060"/>
            <a:ext cx="685800" cy="301752"/>
          </a:xfrm>
          <a:prstGeom prst="rect">
            <a:avLst/>
          </a:prstGeom>
          <a:solidFill>
            <a:srgbClr val="1B2A4A"/>
          </a:solidFill>
          <a:ln w="12700">
            <a:solidFill>
              <a:srgbClr val="1B2A4A"/>
            </a:solidFill>
            <a:prstDash val="solid"/>
          </a:ln>
        </p:spPr>
      </p:sp>
      <p:sp>
        <p:nvSpPr>
          <p:cNvPr id="82" name="Text 80"/>
          <p:cNvSpPr/>
          <p:nvPr/>
        </p:nvSpPr>
        <p:spPr>
          <a:xfrm>
            <a:off x="3200400" y="2766060"/>
            <a:ext cx="685800" cy="301752"/>
          </a:xfrm>
          <a:prstGeom prst="rect">
            <a:avLst/>
          </a:prstGeom>
          <a:noFill/>
          <a:ln/>
        </p:spPr>
        <p:txBody>
          <a:bodyPr wrap="square" rtlCol="0" anchor="ctr"/>
          <a:lstStyle/>
          <a:p>
            <a:pPr marL="0" indent="0" algn="ctr">
              <a:buNone/>
            </a:pPr>
            <a:r>
              <a:rPr lang="en-US" sz="850" b="1" dirty="0">
                <a:solidFill>
                  <a:srgbClr val="C8953A"/>
                </a:solidFill>
                <a:latin typeface="Calibri" pitchFamily="34" charset="0"/>
                <a:ea typeface="Calibri" pitchFamily="34" charset="-122"/>
                <a:cs typeface="Calibri" pitchFamily="34" charset="-120"/>
              </a:rPr>
              <a:t>SCB</a:t>
            </a:r>
            <a:endParaRPr lang="en-US" sz="850" dirty="0"/>
          </a:p>
        </p:txBody>
      </p:sp>
      <p:sp>
        <p:nvSpPr>
          <p:cNvPr id="83" name="Text 81"/>
          <p:cNvSpPr/>
          <p:nvPr/>
        </p:nvSpPr>
        <p:spPr>
          <a:xfrm>
            <a:off x="3913632" y="2784348"/>
            <a:ext cx="2084832" cy="274320"/>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Stress Capital Buffer — US dynamic buffer derived from DFAST stress test</a:t>
            </a:r>
            <a:endParaRPr lang="en-US" sz="800" dirty="0"/>
          </a:p>
        </p:txBody>
      </p:sp>
      <p:sp>
        <p:nvSpPr>
          <p:cNvPr id="84" name="Shape 82"/>
          <p:cNvSpPr/>
          <p:nvPr/>
        </p:nvSpPr>
        <p:spPr>
          <a:xfrm>
            <a:off x="3200400" y="3063240"/>
            <a:ext cx="2834640" cy="301752"/>
          </a:xfrm>
          <a:prstGeom prst="rect">
            <a:avLst/>
          </a:prstGeom>
          <a:solidFill>
            <a:srgbClr val="FFFFFF"/>
          </a:solidFill>
          <a:ln w="12700">
            <a:solidFill>
              <a:srgbClr val="DDDDDD"/>
            </a:solidFill>
            <a:prstDash val="solid"/>
          </a:ln>
        </p:spPr>
      </p:sp>
      <p:sp>
        <p:nvSpPr>
          <p:cNvPr id="85" name="Shape 83"/>
          <p:cNvSpPr/>
          <p:nvPr/>
        </p:nvSpPr>
        <p:spPr>
          <a:xfrm>
            <a:off x="3200400" y="3063240"/>
            <a:ext cx="685800" cy="301752"/>
          </a:xfrm>
          <a:prstGeom prst="rect">
            <a:avLst/>
          </a:prstGeom>
          <a:solidFill>
            <a:srgbClr val="1B2A4A"/>
          </a:solidFill>
          <a:ln w="12700">
            <a:solidFill>
              <a:srgbClr val="1B2A4A"/>
            </a:solidFill>
            <a:prstDash val="solid"/>
          </a:ln>
        </p:spPr>
      </p:sp>
      <p:sp>
        <p:nvSpPr>
          <p:cNvPr id="86" name="Text 84"/>
          <p:cNvSpPr/>
          <p:nvPr/>
        </p:nvSpPr>
        <p:spPr>
          <a:xfrm>
            <a:off x="3200400" y="3063240"/>
            <a:ext cx="685800" cy="301752"/>
          </a:xfrm>
          <a:prstGeom prst="rect">
            <a:avLst/>
          </a:prstGeom>
          <a:noFill/>
          <a:ln/>
        </p:spPr>
        <p:txBody>
          <a:bodyPr wrap="square" rtlCol="0" anchor="ctr"/>
          <a:lstStyle/>
          <a:p>
            <a:pPr marL="0" indent="0" algn="ctr">
              <a:buNone/>
            </a:pPr>
            <a:r>
              <a:rPr lang="en-US" sz="850" b="1" dirty="0">
                <a:solidFill>
                  <a:srgbClr val="C8953A"/>
                </a:solidFill>
                <a:latin typeface="Calibri" pitchFamily="34" charset="0"/>
                <a:ea typeface="Calibri" pitchFamily="34" charset="-122"/>
                <a:cs typeface="Calibri" pitchFamily="34" charset="-120"/>
              </a:rPr>
              <a:t>CCB</a:t>
            </a:r>
            <a:endParaRPr lang="en-US" sz="850" dirty="0"/>
          </a:p>
        </p:txBody>
      </p:sp>
      <p:sp>
        <p:nvSpPr>
          <p:cNvPr id="87" name="Text 85"/>
          <p:cNvSpPr/>
          <p:nvPr/>
        </p:nvSpPr>
        <p:spPr>
          <a:xfrm>
            <a:off x="3913632" y="3081528"/>
            <a:ext cx="2084832" cy="274320"/>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Capital Conservation Buffer — fixed 2.5% CET1 add-on under Basel III</a:t>
            </a:r>
            <a:endParaRPr lang="en-US" sz="800" dirty="0"/>
          </a:p>
        </p:txBody>
      </p:sp>
      <p:sp>
        <p:nvSpPr>
          <p:cNvPr id="88" name="Shape 86"/>
          <p:cNvSpPr/>
          <p:nvPr/>
        </p:nvSpPr>
        <p:spPr>
          <a:xfrm>
            <a:off x="3200400" y="3360420"/>
            <a:ext cx="2834640" cy="301752"/>
          </a:xfrm>
          <a:prstGeom prst="rect">
            <a:avLst/>
          </a:prstGeom>
          <a:solidFill>
            <a:srgbClr val="F4F6F8"/>
          </a:solidFill>
          <a:ln w="12700">
            <a:solidFill>
              <a:srgbClr val="DDDDDD"/>
            </a:solidFill>
            <a:prstDash val="solid"/>
          </a:ln>
        </p:spPr>
      </p:sp>
      <p:sp>
        <p:nvSpPr>
          <p:cNvPr id="89" name="Shape 87"/>
          <p:cNvSpPr/>
          <p:nvPr/>
        </p:nvSpPr>
        <p:spPr>
          <a:xfrm>
            <a:off x="3200400" y="3360420"/>
            <a:ext cx="685800" cy="301752"/>
          </a:xfrm>
          <a:prstGeom prst="rect">
            <a:avLst/>
          </a:prstGeom>
          <a:solidFill>
            <a:srgbClr val="1B2A4A"/>
          </a:solidFill>
          <a:ln w="12700">
            <a:solidFill>
              <a:srgbClr val="1B2A4A"/>
            </a:solidFill>
            <a:prstDash val="solid"/>
          </a:ln>
        </p:spPr>
      </p:sp>
      <p:sp>
        <p:nvSpPr>
          <p:cNvPr id="90" name="Text 88"/>
          <p:cNvSpPr/>
          <p:nvPr/>
        </p:nvSpPr>
        <p:spPr>
          <a:xfrm>
            <a:off x="3200400" y="3360420"/>
            <a:ext cx="685800" cy="301752"/>
          </a:xfrm>
          <a:prstGeom prst="rect">
            <a:avLst/>
          </a:prstGeom>
          <a:noFill/>
          <a:ln/>
        </p:spPr>
        <p:txBody>
          <a:bodyPr wrap="square" rtlCol="0" anchor="ctr"/>
          <a:lstStyle/>
          <a:p>
            <a:pPr marL="0" indent="0" algn="ctr">
              <a:buNone/>
            </a:pPr>
            <a:r>
              <a:rPr lang="en-US" sz="850" b="1" dirty="0">
                <a:solidFill>
                  <a:srgbClr val="C8953A"/>
                </a:solidFill>
                <a:latin typeface="Calibri" pitchFamily="34" charset="0"/>
                <a:ea typeface="Calibri" pitchFamily="34" charset="-122"/>
                <a:cs typeface="Calibri" pitchFamily="34" charset="-120"/>
              </a:rPr>
              <a:t>FRTB</a:t>
            </a:r>
            <a:endParaRPr lang="en-US" sz="850" dirty="0"/>
          </a:p>
        </p:txBody>
      </p:sp>
      <p:sp>
        <p:nvSpPr>
          <p:cNvPr id="91" name="Text 89"/>
          <p:cNvSpPr/>
          <p:nvPr/>
        </p:nvSpPr>
        <p:spPr>
          <a:xfrm>
            <a:off x="3913632" y="3378708"/>
            <a:ext cx="2084832" cy="274320"/>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Fundamental Review of the Trading Book — Basel trading book capital reform</a:t>
            </a:r>
            <a:endParaRPr lang="en-US" sz="800" dirty="0"/>
          </a:p>
        </p:txBody>
      </p:sp>
      <p:sp>
        <p:nvSpPr>
          <p:cNvPr id="92" name="Shape 90"/>
          <p:cNvSpPr/>
          <p:nvPr/>
        </p:nvSpPr>
        <p:spPr>
          <a:xfrm>
            <a:off x="3200400" y="3657600"/>
            <a:ext cx="2834640" cy="301752"/>
          </a:xfrm>
          <a:prstGeom prst="rect">
            <a:avLst/>
          </a:prstGeom>
          <a:solidFill>
            <a:srgbClr val="FFFFFF"/>
          </a:solidFill>
          <a:ln w="12700">
            <a:solidFill>
              <a:srgbClr val="DDDDDD"/>
            </a:solidFill>
            <a:prstDash val="solid"/>
          </a:ln>
        </p:spPr>
      </p:sp>
      <p:sp>
        <p:nvSpPr>
          <p:cNvPr id="93" name="Shape 91"/>
          <p:cNvSpPr/>
          <p:nvPr/>
        </p:nvSpPr>
        <p:spPr>
          <a:xfrm>
            <a:off x="3200400" y="3657600"/>
            <a:ext cx="685800" cy="301752"/>
          </a:xfrm>
          <a:prstGeom prst="rect">
            <a:avLst/>
          </a:prstGeom>
          <a:solidFill>
            <a:srgbClr val="1B2A4A"/>
          </a:solidFill>
          <a:ln w="12700">
            <a:solidFill>
              <a:srgbClr val="1B2A4A"/>
            </a:solidFill>
            <a:prstDash val="solid"/>
          </a:ln>
        </p:spPr>
      </p:sp>
      <p:sp>
        <p:nvSpPr>
          <p:cNvPr id="94" name="Text 92"/>
          <p:cNvSpPr/>
          <p:nvPr/>
        </p:nvSpPr>
        <p:spPr>
          <a:xfrm>
            <a:off x="3200400" y="3657600"/>
            <a:ext cx="685800" cy="301752"/>
          </a:xfrm>
          <a:prstGeom prst="rect">
            <a:avLst/>
          </a:prstGeom>
          <a:noFill/>
          <a:ln/>
        </p:spPr>
        <p:txBody>
          <a:bodyPr wrap="square" rtlCol="0" anchor="ctr"/>
          <a:lstStyle/>
          <a:p>
            <a:pPr marL="0" indent="0" algn="ctr">
              <a:buNone/>
            </a:pPr>
            <a:r>
              <a:rPr lang="en-US" sz="850" b="1" dirty="0">
                <a:solidFill>
                  <a:srgbClr val="C8953A"/>
                </a:solidFill>
                <a:latin typeface="Calibri" pitchFamily="34" charset="0"/>
                <a:ea typeface="Calibri" pitchFamily="34" charset="-122"/>
                <a:cs typeface="Calibri" pitchFamily="34" charset="-120"/>
              </a:rPr>
              <a:t>IMM</a:t>
            </a:r>
            <a:endParaRPr lang="en-US" sz="850" dirty="0"/>
          </a:p>
        </p:txBody>
      </p:sp>
      <p:sp>
        <p:nvSpPr>
          <p:cNvPr id="95" name="Text 93"/>
          <p:cNvSpPr/>
          <p:nvPr/>
        </p:nvSpPr>
        <p:spPr>
          <a:xfrm>
            <a:off x="3913632" y="3675888"/>
            <a:ext cx="2084832" cy="274320"/>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Internal Model Method — CCR model approach, subject to Basel IV output floor</a:t>
            </a:r>
            <a:endParaRPr lang="en-US" sz="800" dirty="0"/>
          </a:p>
        </p:txBody>
      </p:sp>
      <p:sp>
        <p:nvSpPr>
          <p:cNvPr id="96" name="Shape 94"/>
          <p:cNvSpPr/>
          <p:nvPr/>
        </p:nvSpPr>
        <p:spPr>
          <a:xfrm>
            <a:off x="3200400" y="3954780"/>
            <a:ext cx="2834640" cy="301752"/>
          </a:xfrm>
          <a:prstGeom prst="rect">
            <a:avLst/>
          </a:prstGeom>
          <a:solidFill>
            <a:srgbClr val="F4F6F8"/>
          </a:solidFill>
          <a:ln w="12700">
            <a:solidFill>
              <a:srgbClr val="DDDDDD"/>
            </a:solidFill>
            <a:prstDash val="solid"/>
          </a:ln>
        </p:spPr>
      </p:sp>
      <p:sp>
        <p:nvSpPr>
          <p:cNvPr id="97" name="Shape 95"/>
          <p:cNvSpPr/>
          <p:nvPr/>
        </p:nvSpPr>
        <p:spPr>
          <a:xfrm>
            <a:off x="3200400" y="3954780"/>
            <a:ext cx="685800" cy="301752"/>
          </a:xfrm>
          <a:prstGeom prst="rect">
            <a:avLst/>
          </a:prstGeom>
          <a:solidFill>
            <a:srgbClr val="1B2A4A"/>
          </a:solidFill>
          <a:ln w="12700">
            <a:solidFill>
              <a:srgbClr val="1B2A4A"/>
            </a:solidFill>
            <a:prstDash val="solid"/>
          </a:ln>
        </p:spPr>
      </p:sp>
      <p:sp>
        <p:nvSpPr>
          <p:cNvPr id="98" name="Text 96"/>
          <p:cNvSpPr/>
          <p:nvPr/>
        </p:nvSpPr>
        <p:spPr>
          <a:xfrm>
            <a:off x="3200400" y="3954780"/>
            <a:ext cx="685800" cy="301752"/>
          </a:xfrm>
          <a:prstGeom prst="rect">
            <a:avLst/>
          </a:prstGeom>
          <a:noFill/>
          <a:ln/>
        </p:spPr>
        <p:txBody>
          <a:bodyPr wrap="square" rtlCol="0" anchor="ctr"/>
          <a:lstStyle/>
          <a:p>
            <a:pPr marL="0" indent="0" algn="ctr">
              <a:buNone/>
            </a:pPr>
            <a:r>
              <a:rPr lang="en-US" sz="850" b="1" dirty="0">
                <a:solidFill>
                  <a:srgbClr val="C8953A"/>
                </a:solidFill>
                <a:latin typeface="Calibri" pitchFamily="34" charset="0"/>
                <a:ea typeface="Calibri" pitchFamily="34" charset="-122"/>
                <a:cs typeface="Calibri" pitchFamily="34" charset="-120"/>
              </a:rPr>
              <a:t>AAD</a:t>
            </a:r>
            <a:endParaRPr lang="en-US" sz="850" dirty="0"/>
          </a:p>
        </p:txBody>
      </p:sp>
      <p:sp>
        <p:nvSpPr>
          <p:cNvPr id="99" name="Text 97"/>
          <p:cNvSpPr/>
          <p:nvPr/>
        </p:nvSpPr>
        <p:spPr>
          <a:xfrm>
            <a:off x="3913632" y="3973068"/>
            <a:ext cx="2084832" cy="274320"/>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Adjoint Algorithmic Differentiation — computes all Greeks in one backward pass</a:t>
            </a:r>
            <a:endParaRPr lang="en-US" sz="800" dirty="0"/>
          </a:p>
        </p:txBody>
      </p:sp>
      <p:sp>
        <p:nvSpPr>
          <p:cNvPr id="100" name="Shape 98"/>
          <p:cNvSpPr/>
          <p:nvPr/>
        </p:nvSpPr>
        <p:spPr>
          <a:xfrm>
            <a:off x="6172200" y="1280160"/>
            <a:ext cx="2834640" cy="301752"/>
          </a:xfrm>
          <a:prstGeom prst="rect">
            <a:avLst/>
          </a:prstGeom>
          <a:solidFill>
            <a:srgbClr val="FFFFFF"/>
          </a:solidFill>
          <a:ln w="12700">
            <a:solidFill>
              <a:srgbClr val="DDDDDD"/>
            </a:solidFill>
            <a:prstDash val="solid"/>
          </a:ln>
        </p:spPr>
      </p:sp>
      <p:sp>
        <p:nvSpPr>
          <p:cNvPr id="101" name="Shape 99"/>
          <p:cNvSpPr/>
          <p:nvPr/>
        </p:nvSpPr>
        <p:spPr>
          <a:xfrm>
            <a:off x="6172200" y="1280160"/>
            <a:ext cx="685800" cy="301752"/>
          </a:xfrm>
          <a:prstGeom prst="rect">
            <a:avLst/>
          </a:prstGeom>
          <a:solidFill>
            <a:srgbClr val="1B2A4A"/>
          </a:solidFill>
          <a:ln w="12700">
            <a:solidFill>
              <a:srgbClr val="1B2A4A"/>
            </a:solidFill>
            <a:prstDash val="solid"/>
          </a:ln>
        </p:spPr>
      </p:sp>
      <p:sp>
        <p:nvSpPr>
          <p:cNvPr id="102" name="Text 100"/>
          <p:cNvSpPr/>
          <p:nvPr/>
        </p:nvSpPr>
        <p:spPr>
          <a:xfrm>
            <a:off x="6172200" y="1280160"/>
            <a:ext cx="685800" cy="301752"/>
          </a:xfrm>
          <a:prstGeom prst="rect">
            <a:avLst/>
          </a:prstGeom>
          <a:noFill/>
          <a:ln/>
        </p:spPr>
        <p:txBody>
          <a:bodyPr wrap="square" rtlCol="0" anchor="ctr"/>
          <a:lstStyle/>
          <a:p>
            <a:pPr marL="0" indent="0" algn="ctr">
              <a:buNone/>
            </a:pPr>
            <a:r>
              <a:rPr lang="en-US" sz="850" b="1" dirty="0">
                <a:solidFill>
                  <a:srgbClr val="C8953A"/>
                </a:solidFill>
                <a:latin typeface="Calibri" pitchFamily="34" charset="0"/>
                <a:ea typeface="Calibri" pitchFamily="34" charset="-122"/>
                <a:cs typeface="Calibri" pitchFamily="34" charset="-120"/>
              </a:rPr>
              <a:t>CSA</a:t>
            </a:r>
            <a:endParaRPr lang="en-US" sz="850" dirty="0"/>
          </a:p>
        </p:txBody>
      </p:sp>
      <p:sp>
        <p:nvSpPr>
          <p:cNvPr id="103" name="Text 101"/>
          <p:cNvSpPr/>
          <p:nvPr/>
        </p:nvSpPr>
        <p:spPr>
          <a:xfrm>
            <a:off x="6885432" y="1298448"/>
            <a:ext cx="2084832" cy="274320"/>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Credit Support Annex — ISDA collateral agreement governing VM and IM</a:t>
            </a:r>
            <a:endParaRPr lang="en-US" sz="800" dirty="0"/>
          </a:p>
        </p:txBody>
      </p:sp>
      <p:sp>
        <p:nvSpPr>
          <p:cNvPr id="104" name="Shape 102"/>
          <p:cNvSpPr/>
          <p:nvPr/>
        </p:nvSpPr>
        <p:spPr>
          <a:xfrm>
            <a:off x="6172200" y="1577340"/>
            <a:ext cx="2834640" cy="301752"/>
          </a:xfrm>
          <a:prstGeom prst="rect">
            <a:avLst/>
          </a:prstGeom>
          <a:solidFill>
            <a:srgbClr val="F4F6F8"/>
          </a:solidFill>
          <a:ln w="12700">
            <a:solidFill>
              <a:srgbClr val="DDDDDD"/>
            </a:solidFill>
            <a:prstDash val="solid"/>
          </a:ln>
        </p:spPr>
      </p:sp>
      <p:sp>
        <p:nvSpPr>
          <p:cNvPr id="105" name="Shape 103"/>
          <p:cNvSpPr/>
          <p:nvPr/>
        </p:nvSpPr>
        <p:spPr>
          <a:xfrm>
            <a:off x="6172200" y="1577340"/>
            <a:ext cx="685800" cy="301752"/>
          </a:xfrm>
          <a:prstGeom prst="rect">
            <a:avLst/>
          </a:prstGeom>
          <a:solidFill>
            <a:srgbClr val="1B2A4A"/>
          </a:solidFill>
          <a:ln w="12700">
            <a:solidFill>
              <a:srgbClr val="1B2A4A"/>
            </a:solidFill>
            <a:prstDash val="solid"/>
          </a:ln>
        </p:spPr>
      </p:sp>
      <p:sp>
        <p:nvSpPr>
          <p:cNvPr id="106" name="Text 104"/>
          <p:cNvSpPr/>
          <p:nvPr/>
        </p:nvSpPr>
        <p:spPr>
          <a:xfrm>
            <a:off x="6172200" y="1577340"/>
            <a:ext cx="685800" cy="301752"/>
          </a:xfrm>
          <a:prstGeom prst="rect">
            <a:avLst/>
          </a:prstGeom>
          <a:noFill/>
          <a:ln/>
        </p:spPr>
        <p:txBody>
          <a:bodyPr wrap="square" rtlCol="0" anchor="ctr"/>
          <a:lstStyle/>
          <a:p>
            <a:pPr marL="0" indent="0" algn="ctr">
              <a:buNone/>
            </a:pPr>
            <a:r>
              <a:rPr lang="en-US" sz="850" b="1" dirty="0">
                <a:solidFill>
                  <a:srgbClr val="C8953A"/>
                </a:solidFill>
                <a:latin typeface="Calibri" pitchFamily="34" charset="0"/>
                <a:ea typeface="Calibri" pitchFamily="34" charset="-122"/>
                <a:cs typeface="Calibri" pitchFamily="34" charset="-120"/>
              </a:rPr>
              <a:t>VM</a:t>
            </a:r>
            <a:endParaRPr lang="en-US" sz="850" dirty="0"/>
          </a:p>
        </p:txBody>
      </p:sp>
      <p:sp>
        <p:nvSpPr>
          <p:cNvPr id="107" name="Text 105"/>
          <p:cNvSpPr/>
          <p:nvPr/>
        </p:nvSpPr>
        <p:spPr>
          <a:xfrm>
            <a:off x="6885432" y="1595628"/>
            <a:ext cx="2084832" cy="274320"/>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Variation Margin — daily MtM settlement collateral</a:t>
            </a:r>
            <a:endParaRPr lang="en-US" sz="800" dirty="0"/>
          </a:p>
        </p:txBody>
      </p:sp>
      <p:sp>
        <p:nvSpPr>
          <p:cNvPr id="108" name="Shape 106"/>
          <p:cNvSpPr/>
          <p:nvPr/>
        </p:nvSpPr>
        <p:spPr>
          <a:xfrm>
            <a:off x="6172200" y="1874520"/>
            <a:ext cx="2834640" cy="301752"/>
          </a:xfrm>
          <a:prstGeom prst="rect">
            <a:avLst/>
          </a:prstGeom>
          <a:solidFill>
            <a:srgbClr val="FFFFFF"/>
          </a:solidFill>
          <a:ln w="12700">
            <a:solidFill>
              <a:srgbClr val="DDDDDD"/>
            </a:solidFill>
            <a:prstDash val="solid"/>
          </a:ln>
        </p:spPr>
      </p:sp>
      <p:sp>
        <p:nvSpPr>
          <p:cNvPr id="109" name="Shape 107"/>
          <p:cNvSpPr/>
          <p:nvPr/>
        </p:nvSpPr>
        <p:spPr>
          <a:xfrm>
            <a:off x="6172200" y="1874520"/>
            <a:ext cx="685800" cy="301752"/>
          </a:xfrm>
          <a:prstGeom prst="rect">
            <a:avLst/>
          </a:prstGeom>
          <a:solidFill>
            <a:srgbClr val="1B2A4A"/>
          </a:solidFill>
          <a:ln w="12700">
            <a:solidFill>
              <a:srgbClr val="1B2A4A"/>
            </a:solidFill>
            <a:prstDash val="solid"/>
          </a:ln>
        </p:spPr>
      </p:sp>
      <p:sp>
        <p:nvSpPr>
          <p:cNvPr id="110" name="Text 108"/>
          <p:cNvSpPr/>
          <p:nvPr/>
        </p:nvSpPr>
        <p:spPr>
          <a:xfrm>
            <a:off x="6172200" y="1874520"/>
            <a:ext cx="685800" cy="301752"/>
          </a:xfrm>
          <a:prstGeom prst="rect">
            <a:avLst/>
          </a:prstGeom>
          <a:noFill/>
          <a:ln/>
        </p:spPr>
        <p:txBody>
          <a:bodyPr wrap="square" rtlCol="0" anchor="ctr"/>
          <a:lstStyle/>
          <a:p>
            <a:pPr marL="0" indent="0" algn="ctr">
              <a:buNone/>
            </a:pPr>
            <a:r>
              <a:rPr lang="en-US" sz="850" b="1" dirty="0">
                <a:solidFill>
                  <a:srgbClr val="C8953A"/>
                </a:solidFill>
                <a:latin typeface="Calibri" pitchFamily="34" charset="0"/>
                <a:ea typeface="Calibri" pitchFamily="34" charset="-122"/>
                <a:cs typeface="Calibri" pitchFamily="34" charset="-120"/>
              </a:rPr>
              <a:t>IM</a:t>
            </a:r>
            <a:endParaRPr lang="en-US" sz="850" dirty="0"/>
          </a:p>
        </p:txBody>
      </p:sp>
      <p:sp>
        <p:nvSpPr>
          <p:cNvPr id="111" name="Text 109"/>
          <p:cNvSpPr/>
          <p:nvPr/>
        </p:nvSpPr>
        <p:spPr>
          <a:xfrm>
            <a:off x="6885432" y="1892808"/>
            <a:ext cx="2084832" cy="274320"/>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Initial Margin — MPoR buffer; segregated under UMR</a:t>
            </a:r>
            <a:endParaRPr lang="en-US" sz="800" dirty="0"/>
          </a:p>
        </p:txBody>
      </p:sp>
      <p:sp>
        <p:nvSpPr>
          <p:cNvPr id="112" name="Shape 110"/>
          <p:cNvSpPr/>
          <p:nvPr/>
        </p:nvSpPr>
        <p:spPr>
          <a:xfrm>
            <a:off x="6172200" y="2171700"/>
            <a:ext cx="2834640" cy="301752"/>
          </a:xfrm>
          <a:prstGeom prst="rect">
            <a:avLst/>
          </a:prstGeom>
          <a:solidFill>
            <a:srgbClr val="F4F6F8"/>
          </a:solidFill>
          <a:ln w="12700">
            <a:solidFill>
              <a:srgbClr val="DDDDDD"/>
            </a:solidFill>
            <a:prstDash val="solid"/>
          </a:ln>
        </p:spPr>
      </p:sp>
      <p:sp>
        <p:nvSpPr>
          <p:cNvPr id="113" name="Shape 111"/>
          <p:cNvSpPr/>
          <p:nvPr/>
        </p:nvSpPr>
        <p:spPr>
          <a:xfrm>
            <a:off x="6172200" y="2171700"/>
            <a:ext cx="685800" cy="301752"/>
          </a:xfrm>
          <a:prstGeom prst="rect">
            <a:avLst/>
          </a:prstGeom>
          <a:solidFill>
            <a:srgbClr val="1B2A4A"/>
          </a:solidFill>
          <a:ln w="12700">
            <a:solidFill>
              <a:srgbClr val="1B2A4A"/>
            </a:solidFill>
            <a:prstDash val="solid"/>
          </a:ln>
        </p:spPr>
      </p:sp>
      <p:sp>
        <p:nvSpPr>
          <p:cNvPr id="114" name="Text 112"/>
          <p:cNvSpPr/>
          <p:nvPr/>
        </p:nvSpPr>
        <p:spPr>
          <a:xfrm>
            <a:off x="6172200" y="2171700"/>
            <a:ext cx="685800" cy="301752"/>
          </a:xfrm>
          <a:prstGeom prst="rect">
            <a:avLst/>
          </a:prstGeom>
          <a:noFill/>
          <a:ln/>
        </p:spPr>
        <p:txBody>
          <a:bodyPr wrap="square" rtlCol="0" anchor="ctr"/>
          <a:lstStyle/>
          <a:p>
            <a:pPr marL="0" indent="0" algn="ctr">
              <a:buNone/>
            </a:pPr>
            <a:r>
              <a:rPr lang="en-US" sz="850" b="1" dirty="0">
                <a:solidFill>
                  <a:srgbClr val="C8953A"/>
                </a:solidFill>
                <a:latin typeface="Calibri" pitchFamily="34" charset="0"/>
                <a:ea typeface="Calibri" pitchFamily="34" charset="-122"/>
                <a:cs typeface="Calibri" pitchFamily="34" charset="-120"/>
              </a:rPr>
              <a:t>MPoR</a:t>
            </a:r>
            <a:endParaRPr lang="en-US" sz="850" dirty="0"/>
          </a:p>
        </p:txBody>
      </p:sp>
      <p:sp>
        <p:nvSpPr>
          <p:cNvPr id="115" name="Text 113"/>
          <p:cNvSpPr/>
          <p:nvPr/>
        </p:nvSpPr>
        <p:spPr>
          <a:xfrm>
            <a:off x="6885432" y="2189988"/>
            <a:ext cx="2084832" cy="274320"/>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Margin Period of Risk — 10 days bilateral, 5 days cleared</a:t>
            </a:r>
            <a:endParaRPr lang="en-US" sz="800" dirty="0"/>
          </a:p>
        </p:txBody>
      </p:sp>
      <p:sp>
        <p:nvSpPr>
          <p:cNvPr id="116" name="Shape 114"/>
          <p:cNvSpPr/>
          <p:nvPr/>
        </p:nvSpPr>
        <p:spPr>
          <a:xfrm>
            <a:off x="6172200" y="2468880"/>
            <a:ext cx="2834640" cy="301752"/>
          </a:xfrm>
          <a:prstGeom prst="rect">
            <a:avLst/>
          </a:prstGeom>
          <a:solidFill>
            <a:srgbClr val="FFFFFF"/>
          </a:solidFill>
          <a:ln w="12700">
            <a:solidFill>
              <a:srgbClr val="DDDDDD"/>
            </a:solidFill>
            <a:prstDash val="solid"/>
          </a:ln>
        </p:spPr>
      </p:sp>
      <p:sp>
        <p:nvSpPr>
          <p:cNvPr id="117" name="Shape 115"/>
          <p:cNvSpPr/>
          <p:nvPr/>
        </p:nvSpPr>
        <p:spPr>
          <a:xfrm>
            <a:off x="6172200" y="2468880"/>
            <a:ext cx="685800" cy="301752"/>
          </a:xfrm>
          <a:prstGeom prst="rect">
            <a:avLst/>
          </a:prstGeom>
          <a:solidFill>
            <a:srgbClr val="1B2A4A"/>
          </a:solidFill>
          <a:ln w="12700">
            <a:solidFill>
              <a:srgbClr val="1B2A4A"/>
            </a:solidFill>
            <a:prstDash val="solid"/>
          </a:ln>
        </p:spPr>
      </p:sp>
      <p:sp>
        <p:nvSpPr>
          <p:cNvPr id="118" name="Text 116"/>
          <p:cNvSpPr/>
          <p:nvPr/>
        </p:nvSpPr>
        <p:spPr>
          <a:xfrm>
            <a:off x="6172200" y="2468880"/>
            <a:ext cx="685800" cy="301752"/>
          </a:xfrm>
          <a:prstGeom prst="rect">
            <a:avLst/>
          </a:prstGeom>
          <a:noFill/>
          <a:ln/>
        </p:spPr>
        <p:txBody>
          <a:bodyPr wrap="square" rtlCol="0" anchor="ctr"/>
          <a:lstStyle/>
          <a:p>
            <a:pPr marL="0" indent="0" algn="ctr">
              <a:buNone/>
            </a:pPr>
            <a:r>
              <a:rPr lang="en-US" sz="850" b="1" dirty="0">
                <a:solidFill>
                  <a:srgbClr val="C8953A"/>
                </a:solidFill>
                <a:latin typeface="Calibri" pitchFamily="34" charset="0"/>
                <a:ea typeface="Calibri" pitchFamily="34" charset="-122"/>
                <a:cs typeface="Calibri" pitchFamily="34" charset="-120"/>
              </a:rPr>
              <a:t>UMR</a:t>
            </a:r>
            <a:endParaRPr lang="en-US" sz="850" dirty="0"/>
          </a:p>
        </p:txBody>
      </p:sp>
      <p:sp>
        <p:nvSpPr>
          <p:cNvPr id="119" name="Text 117"/>
          <p:cNvSpPr/>
          <p:nvPr/>
        </p:nvSpPr>
        <p:spPr>
          <a:xfrm>
            <a:off x="6885432" y="2487168"/>
            <a:ext cx="2084832" cy="274320"/>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Uncleared Margin Rules — mandatory bilateral IM phased 2016–2022</a:t>
            </a:r>
            <a:endParaRPr lang="en-US" sz="800" dirty="0"/>
          </a:p>
        </p:txBody>
      </p:sp>
      <p:sp>
        <p:nvSpPr>
          <p:cNvPr id="120" name="Shape 118"/>
          <p:cNvSpPr/>
          <p:nvPr/>
        </p:nvSpPr>
        <p:spPr>
          <a:xfrm>
            <a:off x="6172200" y="2766060"/>
            <a:ext cx="2834640" cy="301752"/>
          </a:xfrm>
          <a:prstGeom prst="rect">
            <a:avLst/>
          </a:prstGeom>
          <a:solidFill>
            <a:srgbClr val="F4F6F8"/>
          </a:solidFill>
          <a:ln w="12700">
            <a:solidFill>
              <a:srgbClr val="DDDDDD"/>
            </a:solidFill>
            <a:prstDash val="solid"/>
          </a:ln>
        </p:spPr>
      </p:sp>
      <p:sp>
        <p:nvSpPr>
          <p:cNvPr id="121" name="Shape 119"/>
          <p:cNvSpPr/>
          <p:nvPr/>
        </p:nvSpPr>
        <p:spPr>
          <a:xfrm>
            <a:off x="6172200" y="2766060"/>
            <a:ext cx="685800" cy="301752"/>
          </a:xfrm>
          <a:prstGeom prst="rect">
            <a:avLst/>
          </a:prstGeom>
          <a:solidFill>
            <a:srgbClr val="1B2A4A"/>
          </a:solidFill>
          <a:ln w="12700">
            <a:solidFill>
              <a:srgbClr val="1B2A4A"/>
            </a:solidFill>
            <a:prstDash val="solid"/>
          </a:ln>
        </p:spPr>
      </p:sp>
      <p:sp>
        <p:nvSpPr>
          <p:cNvPr id="122" name="Text 120"/>
          <p:cNvSpPr/>
          <p:nvPr/>
        </p:nvSpPr>
        <p:spPr>
          <a:xfrm>
            <a:off x="6172200" y="2766060"/>
            <a:ext cx="685800" cy="301752"/>
          </a:xfrm>
          <a:prstGeom prst="rect">
            <a:avLst/>
          </a:prstGeom>
          <a:noFill/>
          <a:ln/>
        </p:spPr>
        <p:txBody>
          <a:bodyPr wrap="square" rtlCol="0" anchor="ctr"/>
          <a:lstStyle/>
          <a:p>
            <a:pPr marL="0" indent="0" algn="ctr">
              <a:buNone/>
            </a:pPr>
            <a:r>
              <a:rPr lang="en-US" sz="850" b="1" dirty="0">
                <a:solidFill>
                  <a:srgbClr val="C8953A"/>
                </a:solidFill>
                <a:latin typeface="Calibri" pitchFamily="34" charset="0"/>
                <a:ea typeface="Calibri" pitchFamily="34" charset="-122"/>
                <a:cs typeface="Calibri" pitchFamily="34" charset="-120"/>
              </a:rPr>
              <a:t>SIMM</a:t>
            </a:r>
            <a:endParaRPr lang="en-US" sz="850" dirty="0"/>
          </a:p>
        </p:txBody>
      </p:sp>
      <p:sp>
        <p:nvSpPr>
          <p:cNvPr id="123" name="Text 121"/>
          <p:cNvSpPr/>
          <p:nvPr/>
        </p:nvSpPr>
        <p:spPr>
          <a:xfrm>
            <a:off x="6885432" y="2784348"/>
            <a:ext cx="2084832" cy="274320"/>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Standard Initial Margin Model — ISDA sensitivity-based IM calculation</a:t>
            </a:r>
            <a:endParaRPr lang="en-US" sz="800" dirty="0"/>
          </a:p>
        </p:txBody>
      </p:sp>
      <p:sp>
        <p:nvSpPr>
          <p:cNvPr id="124" name="Shape 122"/>
          <p:cNvSpPr/>
          <p:nvPr/>
        </p:nvSpPr>
        <p:spPr>
          <a:xfrm>
            <a:off x="6172200" y="3063240"/>
            <a:ext cx="2834640" cy="301752"/>
          </a:xfrm>
          <a:prstGeom prst="rect">
            <a:avLst/>
          </a:prstGeom>
          <a:solidFill>
            <a:srgbClr val="FFFFFF"/>
          </a:solidFill>
          <a:ln w="12700">
            <a:solidFill>
              <a:srgbClr val="DDDDDD"/>
            </a:solidFill>
            <a:prstDash val="solid"/>
          </a:ln>
        </p:spPr>
      </p:sp>
      <p:sp>
        <p:nvSpPr>
          <p:cNvPr id="125" name="Shape 123"/>
          <p:cNvSpPr/>
          <p:nvPr/>
        </p:nvSpPr>
        <p:spPr>
          <a:xfrm>
            <a:off x="6172200" y="3063240"/>
            <a:ext cx="685800" cy="301752"/>
          </a:xfrm>
          <a:prstGeom prst="rect">
            <a:avLst/>
          </a:prstGeom>
          <a:solidFill>
            <a:srgbClr val="1B2A4A"/>
          </a:solidFill>
          <a:ln w="12700">
            <a:solidFill>
              <a:srgbClr val="1B2A4A"/>
            </a:solidFill>
            <a:prstDash val="solid"/>
          </a:ln>
        </p:spPr>
      </p:sp>
      <p:sp>
        <p:nvSpPr>
          <p:cNvPr id="126" name="Text 124"/>
          <p:cNvSpPr/>
          <p:nvPr/>
        </p:nvSpPr>
        <p:spPr>
          <a:xfrm>
            <a:off x="6172200" y="3063240"/>
            <a:ext cx="685800" cy="301752"/>
          </a:xfrm>
          <a:prstGeom prst="rect">
            <a:avLst/>
          </a:prstGeom>
          <a:noFill/>
          <a:ln/>
        </p:spPr>
        <p:txBody>
          <a:bodyPr wrap="square" rtlCol="0" anchor="ctr"/>
          <a:lstStyle/>
          <a:p>
            <a:pPr marL="0" indent="0" algn="ctr">
              <a:buNone/>
            </a:pPr>
            <a:r>
              <a:rPr lang="en-US" sz="850" b="1" dirty="0">
                <a:solidFill>
                  <a:srgbClr val="C8953A"/>
                </a:solidFill>
                <a:latin typeface="Calibri" pitchFamily="34" charset="0"/>
                <a:ea typeface="Calibri" pitchFamily="34" charset="-122"/>
                <a:cs typeface="Calibri" pitchFamily="34" charset="-120"/>
              </a:rPr>
              <a:t>OIS</a:t>
            </a:r>
            <a:endParaRPr lang="en-US" sz="850" dirty="0"/>
          </a:p>
        </p:txBody>
      </p:sp>
      <p:sp>
        <p:nvSpPr>
          <p:cNvPr id="127" name="Text 125"/>
          <p:cNvSpPr/>
          <p:nvPr/>
        </p:nvSpPr>
        <p:spPr>
          <a:xfrm>
            <a:off x="6885432" y="3081528"/>
            <a:ext cx="2084832" cy="274320"/>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Overnight Index Swap — risk-free rate used to discount collateralised trades</a:t>
            </a:r>
            <a:endParaRPr lang="en-US" sz="800" dirty="0"/>
          </a:p>
        </p:txBody>
      </p:sp>
      <p:sp>
        <p:nvSpPr>
          <p:cNvPr id="128" name="Shape 126"/>
          <p:cNvSpPr/>
          <p:nvPr/>
        </p:nvSpPr>
        <p:spPr>
          <a:xfrm>
            <a:off x="6172200" y="3360420"/>
            <a:ext cx="2834640" cy="301752"/>
          </a:xfrm>
          <a:prstGeom prst="rect">
            <a:avLst/>
          </a:prstGeom>
          <a:solidFill>
            <a:srgbClr val="F4F6F8"/>
          </a:solidFill>
          <a:ln w="12700">
            <a:solidFill>
              <a:srgbClr val="DDDDDD"/>
            </a:solidFill>
            <a:prstDash val="solid"/>
          </a:ln>
        </p:spPr>
      </p:sp>
      <p:sp>
        <p:nvSpPr>
          <p:cNvPr id="129" name="Shape 127"/>
          <p:cNvSpPr/>
          <p:nvPr/>
        </p:nvSpPr>
        <p:spPr>
          <a:xfrm>
            <a:off x="6172200" y="3360420"/>
            <a:ext cx="685800" cy="301752"/>
          </a:xfrm>
          <a:prstGeom prst="rect">
            <a:avLst/>
          </a:prstGeom>
          <a:solidFill>
            <a:srgbClr val="1B2A4A"/>
          </a:solidFill>
          <a:ln w="12700">
            <a:solidFill>
              <a:srgbClr val="1B2A4A"/>
            </a:solidFill>
            <a:prstDash val="solid"/>
          </a:ln>
        </p:spPr>
      </p:sp>
      <p:sp>
        <p:nvSpPr>
          <p:cNvPr id="130" name="Text 128"/>
          <p:cNvSpPr/>
          <p:nvPr/>
        </p:nvSpPr>
        <p:spPr>
          <a:xfrm>
            <a:off x="6172200" y="3360420"/>
            <a:ext cx="685800" cy="301752"/>
          </a:xfrm>
          <a:prstGeom prst="rect">
            <a:avLst/>
          </a:prstGeom>
          <a:noFill/>
          <a:ln/>
        </p:spPr>
        <p:txBody>
          <a:bodyPr wrap="square" rtlCol="0" anchor="ctr"/>
          <a:lstStyle/>
          <a:p>
            <a:pPr marL="0" indent="0" algn="ctr">
              <a:buNone/>
            </a:pPr>
            <a:r>
              <a:rPr lang="en-US" sz="850" b="1" dirty="0">
                <a:solidFill>
                  <a:srgbClr val="C8953A"/>
                </a:solidFill>
                <a:latin typeface="Calibri" pitchFamily="34" charset="0"/>
                <a:ea typeface="Calibri" pitchFamily="34" charset="-122"/>
                <a:cs typeface="Calibri" pitchFamily="34" charset="-120"/>
              </a:rPr>
              <a:t>IRS</a:t>
            </a:r>
            <a:endParaRPr lang="en-US" sz="850" dirty="0"/>
          </a:p>
        </p:txBody>
      </p:sp>
      <p:sp>
        <p:nvSpPr>
          <p:cNvPr id="131" name="Text 129"/>
          <p:cNvSpPr/>
          <p:nvPr/>
        </p:nvSpPr>
        <p:spPr>
          <a:xfrm>
            <a:off x="6885432" y="3378708"/>
            <a:ext cx="2084832" cy="274320"/>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Interest Rate Swap — vanilla fixed-for-floating derivative</a:t>
            </a:r>
            <a:endParaRPr lang="en-US" sz="800" dirty="0"/>
          </a:p>
        </p:txBody>
      </p:sp>
      <p:sp>
        <p:nvSpPr>
          <p:cNvPr id="132" name="Shape 130"/>
          <p:cNvSpPr/>
          <p:nvPr/>
        </p:nvSpPr>
        <p:spPr>
          <a:xfrm>
            <a:off x="6172200" y="3657600"/>
            <a:ext cx="2834640" cy="301752"/>
          </a:xfrm>
          <a:prstGeom prst="rect">
            <a:avLst/>
          </a:prstGeom>
          <a:solidFill>
            <a:srgbClr val="FFFFFF"/>
          </a:solidFill>
          <a:ln w="12700">
            <a:solidFill>
              <a:srgbClr val="DDDDDD"/>
            </a:solidFill>
            <a:prstDash val="solid"/>
          </a:ln>
        </p:spPr>
      </p:sp>
      <p:sp>
        <p:nvSpPr>
          <p:cNvPr id="133" name="Shape 131"/>
          <p:cNvSpPr/>
          <p:nvPr/>
        </p:nvSpPr>
        <p:spPr>
          <a:xfrm>
            <a:off x="6172200" y="3657600"/>
            <a:ext cx="685800" cy="301752"/>
          </a:xfrm>
          <a:prstGeom prst="rect">
            <a:avLst/>
          </a:prstGeom>
          <a:solidFill>
            <a:srgbClr val="1B2A4A"/>
          </a:solidFill>
          <a:ln w="12700">
            <a:solidFill>
              <a:srgbClr val="1B2A4A"/>
            </a:solidFill>
            <a:prstDash val="solid"/>
          </a:ln>
        </p:spPr>
      </p:sp>
      <p:sp>
        <p:nvSpPr>
          <p:cNvPr id="134" name="Text 132"/>
          <p:cNvSpPr/>
          <p:nvPr/>
        </p:nvSpPr>
        <p:spPr>
          <a:xfrm>
            <a:off x="6172200" y="3657600"/>
            <a:ext cx="685800" cy="301752"/>
          </a:xfrm>
          <a:prstGeom prst="rect">
            <a:avLst/>
          </a:prstGeom>
          <a:noFill/>
          <a:ln/>
        </p:spPr>
        <p:txBody>
          <a:bodyPr wrap="square" rtlCol="0" anchor="ctr"/>
          <a:lstStyle/>
          <a:p>
            <a:pPr marL="0" indent="0" algn="ctr">
              <a:buNone/>
            </a:pPr>
            <a:r>
              <a:rPr lang="en-US" sz="850" b="1" dirty="0">
                <a:solidFill>
                  <a:srgbClr val="C8953A"/>
                </a:solidFill>
                <a:latin typeface="Calibri" pitchFamily="34" charset="0"/>
                <a:ea typeface="Calibri" pitchFamily="34" charset="-122"/>
                <a:cs typeface="Calibri" pitchFamily="34" charset="-120"/>
              </a:rPr>
              <a:t>CCP</a:t>
            </a:r>
            <a:endParaRPr lang="en-US" sz="850" dirty="0"/>
          </a:p>
        </p:txBody>
      </p:sp>
      <p:sp>
        <p:nvSpPr>
          <p:cNvPr id="135" name="Text 133"/>
          <p:cNvSpPr/>
          <p:nvPr/>
        </p:nvSpPr>
        <p:spPr>
          <a:xfrm>
            <a:off x="6885432" y="3675888"/>
            <a:ext cx="2084832" cy="274320"/>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Central Counterparty — clearing house; reduces bilateral CCR</a:t>
            </a:r>
            <a:endParaRPr lang="en-US" sz="800" dirty="0"/>
          </a:p>
        </p:txBody>
      </p:sp>
      <p:sp>
        <p:nvSpPr>
          <p:cNvPr id="136" name="Shape 134"/>
          <p:cNvSpPr/>
          <p:nvPr/>
        </p:nvSpPr>
        <p:spPr>
          <a:xfrm>
            <a:off x="6172200" y="3954780"/>
            <a:ext cx="2834640" cy="301752"/>
          </a:xfrm>
          <a:prstGeom prst="rect">
            <a:avLst/>
          </a:prstGeom>
          <a:solidFill>
            <a:srgbClr val="F4F6F8"/>
          </a:solidFill>
          <a:ln w="12700">
            <a:solidFill>
              <a:srgbClr val="DDDDDD"/>
            </a:solidFill>
            <a:prstDash val="solid"/>
          </a:ln>
        </p:spPr>
      </p:sp>
      <p:sp>
        <p:nvSpPr>
          <p:cNvPr id="137" name="Shape 135"/>
          <p:cNvSpPr/>
          <p:nvPr/>
        </p:nvSpPr>
        <p:spPr>
          <a:xfrm>
            <a:off x="6172200" y="3954780"/>
            <a:ext cx="685800" cy="301752"/>
          </a:xfrm>
          <a:prstGeom prst="rect">
            <a:avLst/>
          </a:prstGeom>
          <a:solidFill>
            <a:srgbClr val="1B2A4A"/>
          </a:solidFill>
          <a:ln w="12700">
            <a:solidFill>
              <a:srgbClr val="1B2A4A"/>
            </a:solidFill>
            <a:prstDash val="solid"/>
          </a:ln>
        </p:spPr>
      </p:sp>
      <p:sp>
        <p:nvSpPr>
          <p:cNvPr id="138" name="Text 136"/>
          <p:cNvSpPr/>
          <p:nvPr/>
        </p:nvSpPr>
        <p:spPr>
          <a:xfrm>
            <a:off x="6172200" y="3954780"/>
            <a:ext cx="685800" cy="301752"/>
          </a:xfrm>
          <a:prstGeom prst="rect">
            <a:avLst/>
          </a:prstGeom>
          <a:noFill/>
          <a:ln/>
        </p:spPr>
        <p:txBody>
          <a:bodyPr wrap="square" rtlCol="0" anchor="ctr"/>
          <a:lstStyle/>
          <a:p>
            <a:pPr marL="0" indent="0" algn="ctr">
              <a:buNone/>
            </a:pPr>
            <a:r>
              <a:rPr lang="en-US" sz="850" b="1" dirty="0">
                <a:solidFill>
                  <a:srgbClr val="C8953A"/>
                </a:solidFill>
                <a:latin typeface="Calibri" pitchFamily="34" charset="0"/>
                <a:ea typeface="Calibri" pitchFamily="34" charset="-122"/>
                <a:cs typeface="Calibri" pitchFamily="34" charset="-120"/>
              </a:rPr>
              <a:t>x-ccy</a:t>
            </a:r>
            <a:endParaRPr lang="en-US" sz="850" dirty="0"/>
          </a:p>
        </p:txBody>
      </p:sp>
      <p:sp>
        <p:nvSpPr>
          <p:cNvPr id="139" name="Text 137"/>
          <p:cNvSpPr/>
          <p:nvPr/>
        </p:nvSpPr>
        <p:spPr>
          <a:xfrm>
            <a:off x="6885432" y="3973068"/>
            <a:ext cx="2084832" cy="274320"/>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Cross-currency — refers to cross-currency basis or swap</a:t>
            </a:r>
            <a:endParaRPr lang="en-US" sz="800" dirty="0"/>
          </a:p>
        </p:txBody>
      </p:sp>
      <p:sp>
        <p:nvSpPr>
          <p:cNvPr id="140" name="Shape 138"/>
          <p:cNvSpPr/>
          <p:nvPr/>
        </p:nvSpPr>
        <p:spPr>
          <a:xfrm>
            <a:off x="6172200" y="4251960"/>
            <a:ext cx="2834640" cy="301752"/>
          </a:xfrm>
          <a:prstGeom prst="rect">
            <a:avLst/>
          </a:prstGeom>
          <a:solidFill>
            <a:srgbClr val="FFFFFF"/>
          </a:solidFill>
          <a:ln w="12700">
            <a:solidFill>
              <a:srgbClr val="DDDDDD"/>
            </a:solidFill>
            <a:prstDash val="solid"/>
          </a:ln>
        </p:spPr>
      </p:sp>
      <p:sp>
        <p:nvSpPr>
          <p:cNvPr id="141" name="Shape 139"/>
          <p:cNvSpPr/>
          <p:nvPr/>
        </p:nvSpPr>
        <p:spPr>
          <a:xfrm>
            <a:off x="6172200" y="4251960"/>
            <a:ext cx="685800" cy="301752"/>
          </a:xfrm>
          <a:prstGeom prst="rect">
            <a:avLst/>
          </a:prstGeom>
          <a:solidFill>
            <a:srgbClr val="1B2A4A"/>
          </a:solidFill>
          <a:ln w="12700">
            <a:solidFill>
              <a:srgbClr val="1B2A4A"/>
            </a:solidFill>
            <a:prstDash val="solid"/>
          </a:ln>
        </p:spPr>
      </p:sp>
      <p:sp>
        <p:nvSpPr>
          <p:cNvPr id="142" name="Text 140"/>
          <p:cNvSpPr/>
          <p:nvPr/>
        </p:nvSpPr>
        <p:spPr>
          <a:xfrm>
            <a:off x="6172200" y="4251960"/>
            <a:ext cx="685800" cy="301752"/>
          </a:xfrm>
          <a:prstGeom prst="rect">
            <a:avLst/>
          </a:prstGeom>
          <a:noFill/>
          <a:ln/>
        </p:spPr>
        <p:txBody>
          <a:bodyPr wrap="square" rtlCol="0" anchor="ctr"/>
          <a:lstStyle/>
          <a:p>
            <a:pPr marL="0" indent="0" algn="ctr">
              <a:buNone/>
            </a:pPr>
            <a:r>
              <a:rPr lang="en-US" sz="850" b="1" dirty="0">
                <a:solidFill>
                  <a:srgbClr val="C8953A"/>
                </a:solidFill>
                <a:latin typeface="Calibri" pitchFamily="34" charset="0"/>
                <a:ea typeface="Calibri" pitchFamily="34" charset="-122"/>
                <a:cs typeface="Calibri" pitchFamily="34" charset="-120"/>
              </a:rPr>
              <a:t>ROE</a:t>
            </a:r>
            <a:endParaRPr lang="en-US" sz="850" dirty="0"/>
          </a:p>
        </p:txBody>
      </p:sp>
      <p:sp>
        <p:nvSpPr>
          <p:cNvPr id="143" name="Text 141"/>
          <p:cNvSpPr/>
          <p:nvPr/>
        </p:nvSpPr>
        <p:spPr>
          <a:xfrm>
            <a:off x="6885432" y="4270248"/>
            <a:ext cx="2084832" cy="274320"/>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Return on Equity — hurdle rate benchmark for KVA calculation</a:t>
            </a:r>
            <a:endParaRPr lang="en-US" sz="800" dirty="0"/>
          </a:p>
        </p:txBody>
      </p:sp>
      <p:sp>
        <p:nvSpPr>
          <p:cNvPr id="144" name="Text 142"/>
          <p:cNvSpPr/>
          <p:nvPr/>
        </p:nvSpPr>
        <p:spPr>
          <a:xfrm>
            <a:off x="228600" y="4919472"/>
            <a:ext cx="8686800" cy="182880"/>
          </a:xfrm>
          <a:prstGeom prst="rect">
            <a:avLst/>
          </a:prstGeom>
          <a:noFill/>
          <a:ln/>
        </p:spPr>
        <p:txBody>
          <a:bodyPr wrap="square" rtlCol="0" anchor="ctr"/>
          <a:lstStyle/>
          <a:p>
            <a:pPr marL="0" indent="0">
              <a:buNone/>
            </a:pPr>
            <a:r>
              <a:rPr lang="en-US" sz="800" dirty="0">
                <a:solidFill>
                  <a:srgbClr val="8A9BB0"/>
                </a:solidFill>
                <a:latin typeface="Calibri" pitchFamily="34" charset="0"/>
                <a:ea typeface="Calibri" pitchFamily="34" charset="-122"/>
                <a:cs typeface="Calibri" pitchFamily="34" charset="-120"/>
              </a:rPr>
              <a:t>Module 6: KVA, ColVA &amp; Capital Costs  |  Sarthaka Nanda  |  © 2026  CC BY-NC 4.0</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28090"/>
          </a:solidFill>
          <a:ln w="12700">
            <a:solidFill>
              <a:srgbClr val="028090"/>
            </a:solidFill>
            <a:prstDash val="solid"/>
          </a:ln>
        </p:spPr>
      </p:sp>
      <p:sp>
        <p:nvSpPr>
          <p:cNvPr id="3" name="Text 1"/>
          <p:cNvSpPr/>
          <p:nvPr/>
        </p:nvSpPr>
        <p:spPr>
          <a:xfrm>
            <a:off x="228600" y="457200"/>
            <a:ext cx="8686800" cy="64008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Series Complete — What Comes Next</a:t>
            </a:r>
            <a:endParaRPr lang="en-US" sz="2800" dirty="0"/>
          </a:p>
        </p:txBody>
      </p:sp>
      <p:sp>
        <p:nvSpPr>
          <p:cNvPr id="4" name="Shape 2"/>
          <p:cNvSpPr/>
          <p:nvPr/>
        </p:nvSpPr>
        <p:spPr>
          <a:xfrm>
            <a:off x="228600" y="1234440"/>
            <a:ext cx="8686800" cy="621792"/>
          </a:xfrm>
          <a:prstGeom prst="rect">
            <a:avLst/>
          </a:prstGeom>
          <a:solidFill>
            <a:srgbClr val="152235"/>
          </a:solidFill>
          <a:ln w="12700">
            <a:solidFill>
              <a:srgbClr val="C8953A"/>
            </a:solidFill>
            <a:prstDash val="solid"/>
          </a:ln>
        </p:spPr>
      </p:sp>
      <p:sp>
        <p:nvSpPr>
          <p:cNvPr id="5" name="Text 3"/>
          <p:cNvSpPr/>
          <p:nvPr/>
        </p:nvSpPr>
        <p:spPr>
          <a:xfrm>
            <a:off x="365760" y="1280160"/>
            <a:ext cx="3657600" cy="274320"/>
          </a:xfrm>
          <a:prstGeom prst="rect">
            <a:avLst/>
          </a:prstGeom>
          <a:noFill/>
          <a:ln/>
        </p:spPr>
        <p:txBody>
          <a:bodyPr wrap="square" rtlCol="0" anchor="ctr"/>
          <a:lstStyle/>
          <a:p>
            <a:pPr marL="0" indent="0">
              <a:buNone/>
            </a:pPr>
            <a:r>
              <a:rPr lang="en-US" sz="1400" b="1" dirty="0">
                <a:solidFill>
                  <a:srgbClr val="C8953A"/>
                </a:solidFill>
                <a:latin typeface="Calibri" pitchFamily="34" charset="0"/>
                <a:ea typeface="Calibri" pitchFamily="34" charset="-122"/>
                <a:cs typeface="Calibri" pitchFamily="34" charset="-120"/>
              </a:rPr>
              <a:t>✔  SERIES COMPLETE</a:t>
            </a:r>
            <a:endParaRPr lang="en-US" sz="1400" dirty="0"/>
          </a:p>
        </p:txBody>
      </p:sp>
      <p:sp>
        <p:nvSpPr>
          <p:cNvPr id="6" name="Text 4"/>
          <p:cNvSpPr/>
          <p:nvPr/>
        </p:nvSpPr>
        <p:spPr>
          <a:xfrm>
            <a:off x="365760" y="1554480"/>
            <a:ext cx="8321040" cy="246888"/>
          </a:xfrm>
          <a:prstGeom prst="rect">
            <a:avLst/>
          </a:prstGeom>
          <a:noFill/>
          <a:ln/>
        </p:spPr>
        <p:txBody>
          <a:bodyPr wrap="square" rtlCol="0" anchor="ctr"/>
          <a:lstStyle/>
          <a:p>
            <a:pPr marL="0" indent="0">
              <a:buNone/>
            </a:pPr>
            <a:r>
              <a:rPr lang="en-US" sz="1000" i="1" dirty="0">
                <a:solidFill>
                  <a:srgbClr val="F4F6F8"/>
                </a:solidFill>
                <a:latin typeface="Calibri" pitchFamily="34" charset="0"/>
                <a:ea typeface="Calibri" pitchFamily="34" charset="-122"/>
                <a:cs typeface="Calibri" pitchFamily="34" charset="-120"/>
              </a:rPr>
              <a:t>Basel I–IV  →  FRTB  →  CVA/DVA  →  FVA/MVA  →  ISDA, Netting &amp; Collateral  →  KVA, ColVA &amp; Capital Costs</a:t>
            </a:r>
            <a:endParaRPr lang="en-US" sz="1000" dirty="0"/>
          </a:p>
        </p:txBody>
      </p:sp>
      <p:sp>
        <p:nvSpPr>
          <p:cNvPr id="7" name="Text 5"/>
          <p:cNvSpPr/>
          <p:nvPr/>
        </p:nvSpPr>
        <p:spPr>
          <a:xfrm>
            <a:off x="228600" y="1993392"/>
            <a:ext cx="8686800" cy="292608"/>
          </a:xfrm>
          <a:prstGeom prst="rect">
            <a:avLst/>
          </a:prstGeom>
          <a:noFill/>
          <a:ln/>
        </p:spPr>
        <p:txBody>
          <a:bodyPr wrap="square" rtlCol="0" anchor="ctr"/>
          <a:lstStyle/>
          <a:p>
            <a:pPr marL="0" indent="0">
              <a:buNone/>
            </a:pPr>
            <a:r>
              <a:rPr lang="en-US" sz="1400" b="1" dirty="0">
                <a:solidFill>
                  <a:srgbClr val="028090"/>
                </a:solidFill>
                <a:latin typeface="Calibri" pitchFamily="34" charset="0"/>
                <a:ea typeface="Calibri" pitchFamily="34" charset="-122"/>
                <a:cs typeface="Calibri" pitchFamily="34" charset="-120"/>
              </a:rPr>
              <a:t>Coming Next — Module D: Practitioner's Dictionary</a:t>
            </a:r>
            <a:endParaRPr lang="en-US" sz="1400" dirty="0"/>
          </a:p>
        </p:txBody>
      </p:sp>
      <p:sp>
        <p:nvSpPr>
          <p:cNvPr id="8" name="Shape 6"/>
          <p:cNvSpPr/>
          <p:nvPr/>
        </p:nvSpPr>
        <p:spPr>
          <a:xfrm>
            <a:off x="228600" y="2423160"/>
            <a:ext cx="4160520" cy="960120"/>
          </a:xfrm>
          <a:prstGeom prst="rect">
            <a:avLst/>
          </a:prstGeom>
          <a:solidFill>
            <a:srgbClr val="152235"/>
          </a:solidFill>
          <a:ln w="12700">
            <a:solidFill>
              <a:srgbClr val="028090"/>
            </a:solidFill>
            <a:prstDash val="solid"/>
          </a:ln>
        </p:spPr>
      </p:sp>
      <p:sp>
        <p:nvSpPr>
          <p:cNvPr id="9" name="Text 7"/>
          <p:cNvSpPr/>
          <p:nvPr/>
        </p:nvSpPr>
        <p:spPr>
          <a:xfrm>
            <a:off x="365760" y="2496312"/>
            <a:ext cx="3840480"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Three-Layer Entries</a:t>
            </a:r>
            <a:endParaRPr lang="en-US" sz="1200" dirty="0"/>
          </a:p>
        </p:txBody>
      </p:sp>
      <p:sp>
        <p:nvSpPr>
          <p:cNvPr id="10" name="Text 8"/>
          <p:cNvSpPr/>
          <p:nvPr/>
        </p:nvSpPr>
        <p:spPr>
          <a:xfrm>
            <a:off x="365760" y="2807208"/>
            <a:ext cx="3840480" cy="475488"/>
          </a:xfrm>
          <a:prstGeom prst="rect">
            <a:avLst/>
          </a:prstGeom>
          <a:noFill/>
          <a:ln/>
        </p:spPr>
        <p:txBody>
          <a:bodyPr wrap="square" rtlCol="0" anchor="ctr"/>
          <a:lstStyle/>
          <a:p>
            <a:pPr marL="0" indent="0">
              <a:buNone/>
            </a:pPr>
            <a:r>
              <a:rPr lang="en-US" sz="1000" dirty="0">
                <a:solidFill>
                  <a:srgbClr val="F4F6F8"/>
                </a:solidFill>
                <a:latin typeface="Calibri" pitchFamily="34" charset="0"/>
                <a:ea typeface="Calibri" pitchFamily="34" charset="-122"/>
                <a:cs typeface="Calibri" pitchFamily="34" charset="-120"/>
              </a:rPr>
              <a:t>Every term: plain English definition + formula (where applicable) + practitioner usage note</a:t>
            </a:r>
            <a:endParaRPr lang="en-US" sz="1000" dirty="0"/>
          </a:p>
        </p:txBody>
      </p:sp>
      <p:sp>
        <p:nvSpPr>
          <p:cNvPr id="11" name="Shape 9"/>
          <p:cNvSpPr/>
          <p:nvPr/>
        </p:nvSpPr>
        <p:spPr>
          <a:xfrm>
            <a:off x="4663440" y="2423160"/>
            <a:ext cx="4160520" cy="960120"/>
          </a:xfrm>
          <a:prstGeom prst="rect">
            <a:avLst/>
          </a:prstGeom>
          <a:solidFill>
            <a:srgbClr val="152235"/>
          </a:solidFill>
          <a:ln w="12700">
            <a:solidFill>
              <a:srgbClr val="028090"/>
            </a:solidFill>
            <a:prstDash val="solid"/>
          </a:ln>
        </p:spPr>
      </p:sp>
      <p:sp>
        <p:nvSpPr>
          <p:cNvPr id="12" name="Text 10"/>
          <p:cNvSpPr/>
          <p:nvPr/>
        </p:nvSpPr>
        <p:spPr>
          <a:xfrm>
            <a:off x="4800600" y="2496312"/>
            <a:ext cx="3840480"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Illustrated</a:t>
            </a:r>
            <a:endParaRPr lang="en-US" sz="1200" dirty="0"/>
          </a:p>
        </p:txBody>
      </p:sp>
      <p:sp>
        <p:nvSpPr>
          <p:cNvPr id="13" name="Text 11"/>
          <p:cNvSpPr/>
          <p:nvPr/>
        </p:nvSpPr>
        <p:spPr>
          <a:xfrm>
            <a:off x="4800600" y="2807208"/>
            <a:ext cx="3840480" cy="475488"/>
          </a:xfrm>
          <a:prstGeom prst="rect">
            <a:avLst/>
          </a:prstGeom>
          <a:noFill/>
          <a:ln/>
        </p:spPr>
        <p:txBody>
          <a:bodyPr wrap="square" rtlCol="0" anchor="ctr"/>
          <a:lstStyle/>
          <a:p>
            <a:pPr marL="0" indent="0">
              <a:buNone/>
            </a:pPr>
            <a:r>
              <a:rPr lang="en-US" sz="1000" dirty="0">
                <a:solidFill>
                  <a:srgbClr val="F4F6F8"/>
                </a:solidFill>
                <a:latin typeface="Calibri" pitchFamily="34" charset="0"/>
                <a:ea typeface="Calibri" pitchFamily="34" charset="-122"/>
                <a:cs typeface="Calibri" pitchFamily="34" charset="-120"/>
              </a:rPr>
              <a:t>Key structural concepts rendered as visuals — netting sets, XVA waterfall, ISDA hierarchy, collateral flows</a:t>
            </a:r>
            <a:endParaRPr lang="en-US" sz="1000" dirty="0"/>
          </a:p>
        </p:txBody>
      </p:sp>
      <p:sp>
        <p:nvSpPr>
          <p:cNvPr id="14" name="Shape 12"/>
          <p:cNvSpPr/>
          <p:nvPr/>
        </p:nvSpPr>
        <p:spPr>
          <a:xfrm>
            <a:off x="228600" y="3566160"/>
            <a:ext cx="4160520" cy="960120"/>
          </a:xfrm>
          <a:prstGeom prst="rect">
            <a:avLst/>
          </a:prstGeom>
          <a:solidFill>
            <a:srgbClr val="152235"/>
          </a:solidFill>
          <a:ln w="12700">
            <a:solidFill>
              <a:srgbClr val="028090"/>
            </a:solidFill>
            <a:prstDash val="solid"/>
          </a:ln>
        </p:spPr>
      </p:sp>
      <p:sp>
        <p:nvSpPr>
          <p:cNvPr id="15" name="Text 13"/>
          <p:cNvSpPr/>
          <p:nvPr/>
        </p:nvSpPr>
        <p:spPr>
          <a:xfrm>
            <a:off x="365760" y="3639312"/>
            <a:ext cx="3840480"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Cross-Referenced</a:t>
            </a:r>
            <a:endParaRPr lang="en-US" sz="1200" dirty="0"/>
          </a:p>
        </p:txBody>
      </p:sp>
      <p:sp>
        <p:nvSpPr>
          <p:cNvPr id="16" name="Text 14"/>
          <p:cNvSpPr/>
          <p:nvPr/>
        </p:nvSpPr>
        <p:spPr>
          <a:xfrm>
            <a:off x="365760" y="3950208"/>
            <a:ext cx="3840480" cy="475488"/>
          </a:xfrm>
          <a:prstGeom prst="rect">
            <a:avLst/>
          </a:prstGeom>
          <a:noFill/>
          <a:ln/>
        </p:spPr>
        <p:txBody>
          <a:bodyPr wrap="square" rtlCol="0" anchor="ctr"/>
          <a:lstStyle/>
          <a:p>
            <a:pPr marL="0" indent="0">
              <a:buNone/>
            </a:pPr>
            <a:r>
              <a:rPr lang="en-US" sz="1000" dirty="0">
                <a:solidFill>
                  <a:srgbClr val="F4F6F8"/>
                </a:solidFill>
                <a:latin typeface="Calibri" pitchFamily="34" charset="0"/>
                <a:ea typeface="Calibri" pitchFamily="34" charset="-122"/>
                <a:cs typeface="Calibri" pitchFamily="34" charset="-120"/>
              </a:rPr>
              <a:t>Terms link to the module where they were introduced — acts as an index to the full series</a:t>
            </a:r>
            <a:endParaRPr lang="en-US" sz="1000" dirty="0"/>
          </a:p>
        </p:txBody>
      </p:sp>
      <p:sp>
        <p:nvSpPr>
          <p:cNvPr id="17" name="Shape 15"/>
          <p:cNvSpPr/>
          <p:nvPr/>
        </p:nvSpPr>
        <p:spPr>
          <a:xfrm>
            <a:off x="4663440" y="3566160"/>
            <a:ext cx="4160520" cy="960120"/>
          </a:xfrm>
          <a:prstGeom prst="rect">
            <a:avLst/>
          </a:prstGeom>
          <a:solidFill>
            <a:srgbClr val="152235"/>
          </a:solidFill>
          <a:ln w="12700">
            <a:solidFill>
              <a:srgbClr val="028090"/>
            </a:solidFill>
            <a:prstDash val="solid"/>
          </a:ln>
        </p:spPr>
      </p:sp>
      <p:sp>
        <p:nvSpPr>
          <p:cNvPr id="18" name="Text 16"/>
          <p:cNvSpPr/>
          <p:nvPr/>
        </p:nvSpPr>
        <p:spPr>
          <a:xfrm>
            <a:off x="4800600" y="3639312"/>
            <a:ext cx="3840480"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~80+ Terms</a:t>
            </a:r>
            <a:endParaRPr lang="en-US" sz="1200" dirty="0"/>
          </a:p>
        </p:txBody>
      </p:sp>
      <p:sp>
        <p:nvSpPr>
          <p:cNvPr id="19" name="Text 17"/>
          <p:cNvSpPr/>
          <p:nvPr/>
        </p:nvSpPr>
        <p:spPr>
          <a:xfrm>
            <a:off x="4800600" y="3950208"/>
            <a:ext cx="3840480" cy="475488"/>
          </a:xfrm>
          <a:prstGeom prst="rect">
            <a:avLst/>
          </a:prstGeom>
          <a:noFill/>
          <a:ln/>
        </p:spPr>
        <p:txBody>
          <a:bodyPr wrap="square" rtlCol="0" anchor="ctr"/>
          <a:lstStyle/>
          <a:p>
            <a:pPr marL="0" indent="0">
              <a:buNone/>
            </a:pPr>
            <a:r>
              <a:rPr lang="en-US" sz="1000" dirty="0">
                <a:solidFill>
                  <a:srgbClr val="F4F6F8"/>
                </a:solidFill>
                <a:latin typeface="Calibri" pitchFamily="34" charset="0"/>
                <a:ea typeface="Calibri" pitchFamily="34" charset="-122"/>
                <a:cs typeface="Calibri" pitchFamily="34" charset="-120"/>
              </a:rPr>
              <a:t>All terms seeded across M0–M6 plus cross-cutting regulatory and market structure entries</a:t>
            </a:r>
            <a:endParaRPr lang="en-US" sz="1000" dirty="0"/>
          </a:p>
        </p:txBody>
      </p:sp>
      <p:sp>
        <p:nvSpPr>
          <p:cNvPr id="20" name="Shape 18"/>
          <p:cNvSpPr/>
          <p:nvPr/>
        </p:nvSpPr>
        <p:spPr>
          <a:xfrm>
            <a:off x="228600" y="4773168"/>
            <a:ext cx="8686800" cy="292608"/>
          </a:xfrm>
          <a:prstGeom prst="rect">
            <a:avLst/>
          </a:prstGeom>
          <a:solidFill>
            <a:srgbClr val="1B2A4A"/>
          </a:solidFill>
          <a:ln w="12700">
            <a:solidFill>
              <a:srgbClr val="1B2A4A"/>
            </a:solidFill>
            <a:prstDash val="solid"/>
          </a:ln>
        </p:spPr>
      </p:sp>
      <p:sp>
        <p:nvSpPr>
          <p:cNvPr id="21" name="Text 19"/>
          <p:cNvSpPr/>
          <p:nvPr/>
        </p:nvSpPr>
        <p:spPr>
          <a:xfrm>
            <a:off x="320040" y="4818888"/>
            <a:ext cx="8412480" cy="201168"/>
          </a:xfrm>
          <a:prstGeom prst="rect">
            <a:avLst/>
          </a:prstGeom>
          <a:noFill/>
          <a:ln/>
        </p:spPr>
        <p:txBody>
          <a:bodyPr wrap="square" rtlCol="0" anchor="ctr"/>
          <a:lstStyle/>
          <a:p>
            <a:pPr marL="0" indent="0" algn="ctr">
              <a:buNone/>
            </a:pPr>
            <a:r>
              <a:rPr lang="en-US" sz="850" dirty="0">
                <a:solidFill>
                  <a:srgbClr val="8A9BB0"/>
                </a:solidFill>
                <a:latin typeface="Calibri" pitchFamily="34" charset="0"/>
                <a:ea typeface="Calibri" pitchFamily="34" charset="-122"/>
                <a:cs typeface="Calibri" pitchFamily="34" charset="-120"/>
              </a:rPr>
              <a:t>Sarthaka Nanda (with Anthropic Claude)  |  CC BY-NC 4.0  |  © 2026  |  Practitioner Knowledge Repository</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3307</Words>
  <Application>Microsoft Office PowerPoint</Application>
  <PresentationFormat>On-screen Show (16:9)</PresentationFormat>
  <Paragraphs>540</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6 — KVA, ColVA &amp; Capital Costs</dc:title>
  <dc:subject>PptxGenJS Presentation</dc:subject>
  <dc:creator>Sarthaka Nanda</dc:creator>
  <cp:lastModifiedBy>Vicky Nanda</cp:lastModifiedBy>
  <cp:revision>2</cp:revision>
  <dcterms:created xsi:type="dcterms:W3CDTF">2026-05-03T02:55:29Z</dcterms:created>
  <dcterms:modified xsi:type="dcterms:W3CDTF">2026-05-03T14:40:03Z</dcterms:modified>
</cp:coreProperties>
</file>